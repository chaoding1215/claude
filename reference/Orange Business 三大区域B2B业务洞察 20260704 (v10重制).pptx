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  <Relationship Id="rId23"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欢迎各位。这份材料是对Orange集团三大B2B区域业务——OB、OEU和OMEA——的横向对比洞察，核心目的是回答一个问题：华为在这三个区域中的参与空间到底有什么不同。接下来的十六页，会从收入结构、商业模式、六大产品维度、华为参与视角、以及最终的战略资源建议，逐层拆解这三种截然不同的现实。</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三个区域合计约一百一十三亿欧元的B2B收入，但体量与华为参与度呈明显反比。体量最大的OB财年收入七十三亿欧元，同比下滑百分之四点八，华为在这里基本缺席；OEU覆盖比利时、波兰、罗马尼亚等欧洲国家加西班牙，合计约二十七亿欧元，多为估算，华为在这里被法律排除；体量最小的OMEA只有十三亿欧元，二零三零年目标要翻到二十亿欧元，却是华为深度绑定的核心阵地。这就是接下来所有分析的起点。</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客户结构上，三个区域走的是完全不同的路。OB以大企业和跨国客户为主，占比超过一半；而OMEA最值得关注的问题是，SOHO客户数量在增长，但每户平均收入却下降了百分之十九——这是一个增量不增值的结构性矛盾，也是OMEA接下来必须解决的短板。</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行业打法上，OB深耕金融、国防、医疗这些成熟垂直行业，走的是存量深耕的逻辑；OEU的波兰通过并购构建IT集成能力，是能力建设逻辑；OMEA则完全不同，矿业和港口的基础设施项目是打开增长的钥匙，这也正是华为参与度最高的行业切入点。</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从产品组合看，OB已经是一个连接、安全、云、数字化办公、数据智能全谱系的服务商，十五项目录中十四项都已经成熟商用，只有工业专网这一项还是空白；OMEA则还处在以连接为基座的阶段，但在连接、云、集成、专网这四个维度上已经反超或追平OB。OEU除了波兰的IT集成之外，多数维度还停留在起步阶段，是三区域中产品结构最不均衡的市场。</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再看两种商业模式——管理服务和集成转售的收入结构。OB的管理服务占比约七成二，OMEA的管理服务占比更高，达到百分之九十一点七，但集成转售的目标是从百分之八点三提升到二零二八年的三亿零一百万欧元，这正是OMEA下一步要重点突破的方向。</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进入五个标准产品维度的第一个——WAN连接。这是三个区域共同的营收支柱，但华为的准入现实完全不同。OB的连接市场里，华为基本看不见踪影；OEU由于波兰和罗马尼亚的法律禁令，华为被完全排除；只有在OMEA，凭借企业路由交换设备的市场地位，华为才拿到大约百分之二十的份额。</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LAN管理服务是本次调研数据最薄弱的一个维度。除了OB有相对完整的信息之外，OEU和OMEA我们都诚实地标注为数据待补充，不做过度推断——这也提醒我们，这个维度值得后续做定向调研补齐。三区域华为格局的趋势是一致的：法国和欧洲缺席，非洲凭网络设备优势地位占到约百分之三十。</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云服务是华为在这份材料里最深的一个存量锚点。OB和OMEA共用同一套Flexible Engine云技术底座，但两者的呈现方式完全不同——在OB，它是一项看不见的底层技术；而在OMEA，华为的AUTIN智能运维系统直接部署在这套云平台之上，支撑达喀尔和阿比让的联合运维中心，从幕后走到了台前。</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安全托管服务上，三个区域各有各的打法。OB是Orange Cyberdefense的自营主场，年收入十三亿欧元；OEU通过罗马尼亚的SCUT合资公司切入；OMEA的安全能力还在G3加速计划里孵化，独立的收入数据目前还拿不到，但ICT整体百分之二十八的增速说明这个方向值得持续跟踪。</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项目集成与转售领域，OB的两千零八十万欧元收入按行业招标高度分散，国防和公共部门合计接近四成是最大单一板块；波兰走出了一条和OB相似的路，通过并购构建集成能力。而在OMEA，矿业和港口的移动专网集成项目里，华为再次和诺基亚并列成为主力供应商，这与OB和OEU完全排除华为的局面形成鲜明对比。</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一页是本次调研新增的维度，也是最重要的发现。移动专网在原始材料里并不存在，但OMEA的资料显示，这恰恰是华为参与度最高的场景——在矿业和港口的实际案例里，华为和诺基亚的供应商份额几乎并驾齐驱，达到百分之四十五。这个维度值得作为对OB和OEU寻找突破口的重要参考。</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现在从华为视角逐区域复盘。OB是一个生态位竞争排除区——法国的WAN、LAN、安全目录里基本看不到华为的身影，这是市场化竞争的结果，而不是行政禁令。华为唯一的存量锚点，是那套看不见的Flexible Engine云栈底层技术，参与度约三成。</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OEU是三个区域里对华为最不友好的法律环境。波兰在二零二四年十一月设立了高风险供应商认定机制，罗马尼亚早在二零二一年六月就通过法律正式禁止华为，目前正在把存量设备替换为爱立信。这是国家安全立法加对美协议共同作用的结果，六大维度上华为的参与度几乎全部归零。</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OMEA是华为在Orange集团B2B业务里真正的核心阵地。从RAN到云运维的全栈深度绑定——华为占据非洲百分之七十的四G骨干网份额，联合部署了两千个乡村基站，AUTIN运维系统直接跑在Orange自己的云平台上，双方还共建了达喀尔和阿比让的联合运维中心。这是本次调研里，华为叙事最强的一页。</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把三区域的战略定性放到同一张图上看，结论已经很清楚。OMEA是资源应该倾斜的肥肉区，尤其是移动专网和云运维协同这两个场景；OEU是法律强制退出的收缩区，几乎没有回旋余地；OB是生态位竞争排除区，唯一的立足点只剩下看不见的云栈存量。资源应该向OMEA倾斜，这是这份材料最终的战略建议。</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6.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Line 3"/>
          <p:cNvSpPr/>
          <p:nvPr/>
        </p:nvSpPr>
        <p:spPr>
          <a:xfrm>
            <a:off x="0" y="571500"/>
            <a:ext cx="12192000" cy="9525"/>
          </a:xfrm>
          <a:custGeom>
            <a:avLst/>
            <a:gdLst/>
            <a:ahLst/>
            <a:cxnLst/>
            <a:rect l="l" t="t" r="r" b="b"/>
            <a:pathLst>
              <a:path w="12192000" h="9525">
                <a:moveTo>
                  <a:pt x="0" y="0"/>
                </a:moveTo>
                <a:lnTo>
                  <a:pt x="12192000" y="0"/>
                </a:lnTo>
              </a:path>
            </a:pathLst>
          </a:custGeom>
          <a:noFill/>
          <a:ln w="9525">
            <a:solidFill>
              <a:srgbClr val="DDDBD6"/>
            </a:solidFill>
          </a:ln>
        </p:spPr>
      </p:sp>
      <p:grpSp>
        <p:nvGrpSpPr>
          <p:cNvPr id="5" name="Group 5"/>
          <p:cNvGrpSpPr/>
          <p:nvPr/>
        </p:nvGrpSpPr>
        <p:grpSpPr>
          <a:xfrm>
            <a:off x="755904" y="270510"/>
            <a:ext cx="4281526" cy="234696"/>
            <a:chOff x="755904" y="270510"/>
            <a:chExt cx="4281526" cy="234696"/>
          </a:xfrm>
        </p:grpSpPr>
        <p:sp>
          <p:nvSpPr>
            <p:cNvPr id="4" name="TextBox 4"/>
            <p:cNvSpPr txBox="1"/>
            <p:nvPr/>
          </p:nvSpPr>
          <p:spPr>
            <a:xfrm>
              <a:off x="755904" y="270510"/>
              <a:ext cx="4281526" cy="234696"/>
            </a:xfrm>
            <a:prstGeom prst="rect">
              <a:avLst/>
            </a:prstGeom>
            <a:noFill/>
            <a:ln>
              <a:noFill/>
            </a:ln>
          </p:spPr>
          <p:txBody>
            <a:bodyPr wrap="none" lIns="0" tIns="0" rIns="0" bIns="0" anchor="t" anchorCtr="0">
              <a:spAutoFit/>
            </a:bodyPr>
            <a:lstStyle/>
            <a:p>
              <a:pPr algn="l"/>
              <a:r>
                <a:rPr lang="zh-CN" sz="1200" b="1" spc="150" dirty="0">
                  <a:solidFill>
                    <a:srgbClr val="8A8880"/>
                  </a:solidFill>
                  <a:latin typeface="Arial"/>
                  <a:ea typeface="Microsoft YaHei"/>
                  <a:cs typeface="Arial"/>
                </a:rPr>
                <a:t>ORANGE BUSINESS · 华为内部战略分析 · 机密</a:t>
              </a:r>
            </a:p>
          </p:txBody>
        </p:sp>
      </p:grpSp>
      <p:grpSp>
        <p:nvGrpSpPr>
          <p:cNvPr id="9" name="Group 9"/>
          <p:cNvGrpSpPr/>
          <p:nvPr/>
        </p:nvGrpSpPr>
        <p:grpSpPr>
          <a:xfrm>
            <a:off x="723900" y="1179195"/>
            <a:ext cx="9280246" cy="2079117"/>
            <a:chOff x="723900" y="1179195"/>
            <a:chExt cx="9280246" cy="2079117"/>
          </a:xfrm>
        </p:grpSpPr>
        <p:sp>
          <p:nvSpPr>
            <p:cNvPr id="6" name="TextBox 6"/>
            <p:cNvSpPr txBox="1"/>
            <p:nvPr/>
          </p:nvSpPr>
          <p:spPr>
            <a:xfrm>
              <a:off x="723900" y="1179195"/>
              <a:ext cx="5611507" cy="1047750"/>
            </a:xfrm>
            <a:prstGeom prst="rect">
              <a:avLst/>
            </a:prstGeom>
            <a:noFill/>
            <a:ln>
              <a:noFill/>
            </a:ln>
          </p:spPr>
          <p:txBody>
            <a:bodyPr wrap="none" lIns="0" tIns="0" rIns="0" bIns="0" anchor="t" anchorCtr="0">
              <a:spAutoFit/>
            </a:bodyPr>
            <a:lstStyle/>
            <a:p>
              <a:pPr algn="l"/>
              <a:r>
                <a:rPr lang="zh-CN" sz="5400" b="1" dirty="0">
                  <a:solidFill>
                    <a:srgbClr val="1D1D1A"/>
                  </a:solidFill>
                  <a:latin typeface="Arial"/>
                  <a:ea typeface="Microsoft YaHei"/>
                  <a:cs typeface="Arial"/>
                </a:rPr>
                <a:t>Orange集团B2B</a:t>
              </a:r>
            </a:p>
          </p:txBody>
        </p:sp>
        <p:sp>
          <p:nvSpPr>
            <p:cNvPr id="7" name="TextBox 7"/>
            <p:cNvSpPr txBox="1"/>
            <p:nvPr/>
          </p:nvSpPr>
          <p:spPr>
            <a:xfrm>
              <a:off x="723900" y="1988820"/>
              <a:ext cx="6144463" cy="1047750"/>
            </a:xfrm>
            <a:prstGeom prst="rect">
              <a:avLst/>
            </a:prstGeom>
            <a:noFill/>
            <a:ln>
              <a:noFill/>
            </a:ln>
          </p:spPr>
          <p:txBody>
            <a:bodyPr wrap="none" lIns="0" tIns="0" rIns="0" bIns="0" anchor="t" anchorCtr="0">
              <a:spAutoFit/>
            </a:bodyPr>
            <a:lstStyle/>
            <a:p>
              <a:pPr algn="l"/>
              <a:r>
                <a:rPr lang="zh-CN" sz="5400" b="1" dirty="0">
                  <a:solidFill>
                    <a:srgbClr val="1D1D1A"/>
                  </a:solidFill>
                  <a:latin typeface="Arial"/>
                  <a:ea typeface="Microsoft YaHei"/>
                  <a:cs typeface="Arial"/>
                </a:rPr>
                <a:t>三大区域业务洞察</a:t>
              </a:r>
            </a:p>
          </p:txBody>
        </p:sp>
        <p:sp>
          <p:nvSpPr>
            <p:cNvPr id="8" name="TextBox 8"/>
            <p:cNvSpPr txBox="1"/>
            <p:nvPr/>
          </p:nvSpPr>
          <p:spPr>
            <a:xfrm>
              <a:off x="749808" y="2788920"/>
              <a:ext cx="9254338" cy="469392"/>
            </a:xfrm>
            <a:prstGeom prst="rect">
              <a:avLst/>
            </a:prstGeom>
            <a:noFill/>
            <a:ln>
              <a:noFill/>
            </a:ln>
          </p:spPr>
          <p:txBody>
            <a:bodyPr wrap="none" lIns="0" tIns="0" rIns="0" bIns="0" anchor="t" anchorCtr="0">
              <a:spAutoFit/>
            </a:bodyPr>
            <a:lstStyle/>
            <a:p>
              <a:pPr algn="l"/>
              <a:r>
                <a:rPr lang="zh-CN" sz="2400" b="1" dirty="0">
                  <a:solidFill>
                    <a:srgbClr val="5A5852"/>
                  </a:solidFill>
                  <a:latin typeface="Arial"/>
                  <a:ea typeface="Microsoft YaHei"/>
                  <a:cs typeface="Arial"/>
                </a:rPr>
                <a:t>OB · OEU · OMEA —— 华为参与空间的三种截然不同的现实</a:t>
              </a:r>
            </a:p>
          </p:txBody>
        </p:sp>
      </p:grpSp>
      <p:grpSp>
        <p:nvGrpSpPr>
          <p:cNvPr id="15" name="Group 15"/>
          <p:cNvGrpSpPr/>
          <p:nvPr/>
        </p:nvGrpSpPr>
        <p:grpSpPr>
          <a:xfrm>
            <a:off x="841375" y="3440430"/>
            <a:ext cx="3293542" cy="792671"/>
            <a:chOff x="841375" y="3440430"/>
            <a:chExt cx="3293542" cy="792671"/>
          </a:xfrm>
        </p:grpSpPr>
        <p:grpSp>
          <p:nvGrpSpPr>
            <p:cNvPr id="12" name="Group 12"/>
            <p:cNvGrpSpPr/>
            <p:nvPr/>
          </p:nvGrpSpPr>
          <p:grpSpPr>
            <a:xfrm>
              <a:off x="841375" y="3573580"/>
              <a:ext cx="193676" cy="244241"/>
              <a:chOff x="841375" y="3573580"/>
              <a:chExt cx="193676" cy="244241"/>
            </a:xfrm>
          </p:grpSpPr>
          <p:sp>
            <p:nvSpPr>
              <p:cNvPr id="10" name="Freeform 10"/>
              <p:cNvSpPr/>
              <p:nvPr/>
            </p:nvSpPr>
            <p:spPr>
              <a:xfrm>
                <a:off x="863916" y="3573580"/>
                <a:ext cx="171135" cy="244241"/>
              </a:xfrm>
              <a:custGeom>
                <a:avLst/>
                <a:gdLst/>
                <a:ahLst/>
                <a:cxnLst/>
                <a:rect l="l" t="t" r="r" b="b"/>
                <a:pathLst>
                  <a:path w="171135" h="244241">
                    <a:moveTo>
                      <a:pt x="171135" y="42746"/>
                    </a:moveTo>
                    <a:cubicBezTo>
                      <a:pt x="133740" y="0"/>
                      <a:pt x="73785" y="476"/>
                      <a:pt x="36893" y="43811"/>
                    </a:cubicBezTo>
                    <a:cubicBezTo>
                      <a:pt x="0" y="87146"/>
                      <a:pt x="0" y="157095"/>
                      <a:pt x="36893" y="200430"/>
                    </a:cubicBezTo>
                    <a:cubicBezTo>
                      <a:pt x="73785" y="243765"/>
                      <a:pt x="133740" y="244241"/>
                      <a:pt x="171135" y="201496"/>
                    </a:cubicBezTo>
                  </a:path>
                </a:pathLst>
              </a:custGeom>
              <a:noFill/>
              <a:ln w="19050">
                <a:solidFill>
                  <a:srgbClr val="C7000A"/>
                </a:solidFill>
              </a:ln>
            </p:spPr>
          </p:sp>
          <p:sp>
            <p:nvSpPr>
              <p:cNvPr id="11" name="Freeform 11"/>
              <p:cNvSpPr/>
              <p:nvPr/>
            </p:nvSpPr>
            <p:spPr>
              <a:xfrm>
                <a:off x="841375" y="3663950"/>
                <a:ext cx="127000" cy="63500"/>
              </a:xfrm>
              <a:custGeom>
                <a:avLst/>
                <a:gdLst/>
                <a:ahLst/>
                <a:cxnLst/>
                <a:rect l="l" t="t" r="r" b="b"/>
                <a:pathLst>
                  <a:path w="127000" h="63500">
                    <a:moveTo>
                      <a:pt x="127000" y="0"/>
                    </a:moveTo>
                    <a:lnTo>
                      <a:pt x="0" y="0"/>
                    </a:lnTo>
                    <a:moveTo>
                      <a:pt x="0" y="63500"/>
                    </a:moveTo>
                    <a:lnTo>
                      <a:pt x="127000" y="63500"/>
                    </a:lnTo>
                  </a:path>
                </a:pathLst>
              </a:custGeom>
              <a:noFill/>
              <a:ln w="19050">
                <a:solidFill>
                  <a:srgbClr val="C7000A"/>
                </a:solidFill>
              </a:ln>
            </p:spPr>
          </p:sp>
        </p:grpSp>
        <p:sp>
          <p:nvSpPr>
            <p:cNvPr id="13" name="TextBox 13"/>
            <p:cNvSpPr txBox="1"/>
            <p:nvPr/>
          </p:nvSpPr>
          <p:spPr>
            <a:xfrm>
              <a:off x="1239012" y="3440430"/>
              <a:ext cx="1336298" cy="704088"/>
            </a:xfrm>
            <a:prstGeom prst="rect">
              <a:avLst/>
            </a:prstGeom>
            <a:noFill/>
            <a:ln>
              <a:noFill/>
            </a:ln>
          </p:spPr>
          <p:txBody>
            <a:bodyPr wrap="none" lIns="0" tIns="0" rIns="0" bIns="0" anchor="t" anchorCtr="0">
              <a:spAutoFit/>
            </a:bodyPr>
            <a:lstStyle/>
            <a:p>
              <a:pPr algn="l"/>
              <a:r>
                <a:rPr lang="en-US" sz="3600" b="1" dirty="0">
                  <a:solidFill>
                    <a:srgbClr val="C7000A"/>
                  </a:solidFill>
                  <a:latin typeface="Arial"/>
                  <a:ea typeface="Arial"/>
                  <a:cs typeface="Arial"/>
                </a:rPr>
                <a:t>113</a:t>
              </a:r>
              <a:r>
                <a:rPr lang="zh-CN" sz="2100" b="1" dirty="0">
                  <a:solidFill>
                    <a:srgbClr val="C7000A"/>
                  </a:solidFill>
                  <a:latin typeface="Arial"/>
                  <a:ea typeface="Microsoft YaHei"/>
                  <a:cs typeface="Arial"/>
                </a:rPr>
                <a:t>亿€</a:t>
              </a:r>
            </a:p>
          </p:txBody>
        </p:sp>
        <p:sp>
          <p:nvSpPr>
            <p:cNvPr id="14" name="TextBox 14"/>
            <p:cNvSpPr txBox="1"/>
            <p:nvPr/>
          </p:nvSpPr>
          <p:spPr>
            <a:xfrm>
              <a:off x="1250442" y="3969068"/>
              <a:ext cx="2884475" cy="264033"/>
            </a:xfrm>
            <a:prstGeom prst="rect">
              <a:avLst/>
            </a:prstGeom>
            <a:noFill/>
            <a:ln>
              <a:noFill/>
            </a:ln>
          </p:spPr>
          <p:txBody>
            <a:bodyPr wrap="none" lIns="0" tIns="0" rIns="0" bIns="0" anchor="t" anchorCtr="0">
              <a:spAutoFit/>
            </a:bodyPr>
            <a:lstStyle/>
            <a:p>
              <a:pPr algn="l"/>
              <a:r>
                <a:rPr lang="zh-CN" sz="1350" dirty="0">
                  <a:solidFill>
                    <a:srgbClr val="5A5852"/>
                  </a:solidFill>
                  <a:latin typeface="Arial"/>
                  <a:ea typeface="Microsoft YaHei"/>
                  <a:cs typeface="Arial"/>
                </a:rPr>
                <a:t>三大区域B2B合计收入（FY2025）</a:t>
              </a:r>
            </a:p>
          </p:txBody>
        </p:sp>
      </p:grpSp>
      <p:grpSp>
        <p:nvGrpSpPr>
          <p:cNvPr id="20" name="Group 20"/>
          <p:cNvGrpSpPr/>
          <p:nvPr/>
        </p:nvGrpSpPr>
        <p:grpSpPr>
          <a:xfrm>
            <a:off x="8565642" y="3529862"/>
            <a:ext cx="2971228" cy="1065189"/>
            <a:chOff x="8565642" y="3529862"/>
            <a:chExt cx="2971228" cy="1065189"/>
          </a:xfrm>
        </p:grpSpPr>
        <p:grpSp>
          <p:nvGrpSpPr>
            <p:cNvPr id="18" name="Group 18"/>
            <p:cNvGrpSpPr/>
            <p:nvPr/>
          </p:nvGrpSpPr>
          <p:grpSpPr>
            <a:xfrm>
              <a:off x="8608270" y="3529862"/>
              <a:ext cx="195160" cy="216259"/>
              <a:chOff x="8608270" y="3529862"/>
              <a:chExt cx="195160" cy="216259"/>
            </a:xfrm>
          </p:grpSpPr>
          <p:sp>
            <p:nvSpPr>
              <p:cNvPr id="16" name="Freeform 16"/>
              <p:cNvSpPr/>
              <p:nvPr/>
            </p:nvSpPr>
            <p:spPr>
              <a:xfrm>
                <a:off x="8672513" y="3594100"/>
                <a:ext cx="66675" cy="66675"/>
              </a:xfrm>
              <a:custGeom>
                <a:avLst/>
                <a:gdLst/>
                <a:ahLst/>
                <a:cxnLst/>
                <a:rect l="l" t="t" r="r" b="b"/>
                <a:pathLst>
                  <a:path w="66675" h="66675">
                    <a:moveTo>
                      <a:pt x="0" y="33338"/>
                    </a:moveTo>
                    <a:cubicBezTo>
                      <a:pt x="0" y="51749"/>
                      <a:pt x="14926" y="66675"/>
                      <a:pt x="33338" y="66675"/>
                    </a:cubicBezTo>
                    <a:cubicBezTo>
                      <a:pt x="51749" y="66675"/>
                      <a:pt x="66675" y="51749"/>
                      <a:pt x="66675" y="33338"/>
                    </a:cubicBezTo>
                    <a:cubicBezTo>
                      <a:pt x="66675" y="14926"/>
                      <a:pt x="51749" y="0"/>
                      <a:pt x="33338" y="0"/>
                    </a:cubicBezTo>
                    <a:cubicBezTo>
                      <a:pt x="14926" y="0"/>
                      <a:pt x="0" y="14926"/>
                      <a:pt x="0" y="33338"/>
                    </a:cubicBezTo>
                  </a:path>
                </a:pathLst>
              </a:custGeom>
              <a:noFill/>
              <a:ln w="19050">
                <a:solidFill>
                  <a:srgbClr val="1D1D1A"/>
                </a:solidFill>
              </a:ln>
            </p:spPr>
          </p:sp>
          <p:sp>
            <p:nvSpPr>
              <p:cNvPr id="17" name="Freeform 17"/>
              <p:cNvSpPr/>
              <p:nvPr/>
            </p:nvSpPr>
            <p:spPr>
              <a:xfrm>
                <a:off x="8608270" y="3529862"/>
                <a:ext cx="195160" cy="216259"/>
              </a:xfrm>
              <a:custGeom>
                <a:avLst/>
                <a:gdLst/>
                <a:ahLst/>
                <a:cxnLst/>
                <a:rect l="l" t="t" r="r" b="b"/>
                <a:pathLst>
                  <a:path w="195160" h="216259">
                    <a:moveTo>
                      <a:pt x="160444" y="160440"/>
                    </a:moveTo>
                    <a:lnTo>
                      <a:pt x="113293" y="207590"/>
                    </a:lnTo>
                    <a:cubicBezTo>
                      <a:pt x="104615" y="216259"/>
                      <a:pt x="90556" y="216259"/>
                      <a:pt x="81878" y="207590"/>
                    </a:cubicBezTo>
                    <a:lnTo>
                      <a:pt x="34716" y="160440"/>
                    </a:lnTo>
                    <a:cubicBezTo>
                      <a:pt x="0" y="125722"/>
                      <a:pt x="1" y="69434"/>
                      <a:pt x="34719" y="34717"/>
                    </a:cubicBezTo>
                    <a:cubicBezTo>
                      <a:pt x="69436" y="0"/>
                      <a:pt x="125724" y="0"/>
                      <a:pt x="160441" y="34717"/>
                    </a:cubicBezTo>
                    <a:cubicBezTo>
                      <a:pt x="195159" y="69434"/>
                      <a:pt x="195160" y="125722"/>
                      <a:pt x="160444" y="160440"/>
                    </a:cubicBezTo>
                  </a:path>
                </a:pathLst>
              </a:custGeom>
              <a:noFill/>
              <a:ln w="19050">
                <a:solidFill>
                  <a:srgbClr val="1D1D1A"/>
                </a:solidFill>
              </a:ln>
            </p:spPr>
          </p:sp>
        </p:grpSp>
        <p:sp>
          <p:nvSpPr>
            <p:cNvPr id="19" name="TextBox 19"/>
            <p:cNvSpPr txBox="1"/>
            <p:nvPr/>
          </p:nvSpPr>
          <p:spPr>
            <a:xfrm>
              <a:off x="8565642" y="3835718"/>
              <a:ext cx="2971228" cy="759333"/>
            </a:xfrm>
            <a:prstGeom prst="rect">
              <a:avLst/>
            </a:prstGeom>
            <a:noFill/>
            <a:ln>
              <a:noFill/>
            </a:ln>
          </p:spPr>
          <p:txBody>
            <a:bodyPr wrap="square" lIns="0" tIns="0" rIns="0" bIns="0" anchor="t" anchorCtr="0"/>
            <a:lstStyle/>
            <a:p>
              <a:pPr algn="l">
                <a:lnSpc>
                  <a:spcPts val="1950"/>
                </a:lnSpc>
              </a:pPr>
              <a:r>
                <a:rPr lang="en-US" sz="1350" dirty="0">
                  <a:solidFill>
                    <a:srgbClr val="1D1D1A"/>
                  </a:solidFill>
                  <a:latin typeface="Arial"/>
                  <a:ea typeface="Arial"/>
                  <a:cs typeface="Arial"/>
                </a:rPr>
                <a:t xml:space="preserve">OB · Orange Business </a:t>
              </a:r>
              <a:r>
                <a:rPr lang="en-US" sz="1350" dirty="0">
                  <a:solidFill>
                    <a:srgbClr val="1D1D1A"/>
                  </a:solidFill>
                  <a:latin typeface="Arial"/>
                  <a:ea typeface="Arial"/>
                  <a:cs typeface="Arial"/>
                </a:rPr>
                <a:t xml:space="preserve">OEU · Orange Europe </a:t>
              </a:r>
              <a:r>
                <a:rPr lang="en-US" sz="1350" dirty="0">
                  <a:solidFill>
                    <a:srgbClr val="1D1D1A"/>
                  </a:solidFill>
                  <a:latin typeface="Arial"/>
                  <a:ea typeface="Arial"/>
                  <a:cs typeface="Arial"/>
                </a:rPr>
                <a:t>OMEA · Orange Middle East &amp; Africa</a:t>
              </a:r>
            </a:p>
          </p:txBody>
        </p:sp>
      </p:grpSp>
      <p:grpSp>
        <p:nvGrpSpPr>
          <p:cNvPr id="30" name="Group 30"/>
          <p:cNvGrpSpPr/>
          <p:nvPr/>
        </p:nvGrpSpPr>
        <p:grpSpPr>
          <a:xfrm>
            <a:off x="0" y="5715000"/>
            <a:ext cx="12757785" cy="838200"/>
            <a:chOff x="0" y="5715000"/>
            <a:chExt cx="12757785" cy="838200"/>
          </a:xfrm>
        </p:grpSpPr>
        <p:sp>
          <p:nvSpPr>
            <p:cNvPr id="21" name="Rectangle 21"/>
            <p:cNvSpPr/>
            <p:nvPr/>
          </p:nvSpPr>
          <p:spPr>
            <a:xfrm>
              <a:off x="0" y="5715000"/>
              <a:ext cx="7877175" cy="838200"/>
            </a:xfrm>
            <a:prstGeom prst="rect">
              <a:avLst/>
            </a:prstGeom>
            <a:solidFill>
              <a:srgbClr val="C7000A"/>
            </a:solidFill>
            <a:ln>
              <a:noFill/>
            </a:ln>
          </p:spPr>
        </p:sp>
        <p:sp>
          <p:nvSpPr>
            <p:cNvPr id="22" name="Rectangle 22"/>
            <p:cNvSpPr/>
            <p:nvPr/>
          </p:nvSpPr>
          <p:spPr>
            <a:xfrm>
              <a:off x="7877175" y="5715000"/>
              <a:ext cx="2914650" cy="838200"/>
            </a:xfrm>
            <a:prstGeom prst="rect">
              <a:avLst/>
            </a:prstGeom>
            <a:solidFill>
              <a:srgbClr val="E9002F"/>
            </a:solidFill>
            <a:ln>
              <a:noFill/>
            </a:ln>
          </p:spPr>
        </p:sp>
        <p:sp>
          <p:nvSpPr>
            <p:cNvPr id="23" name="Rectangle 23"/>
            <p:cNvSpPr/>
            <p:nvPr/>
          </p:nvSpPr>
          <p:spPr>
            <a:xfrm>
              <a:off x="10791825" y="5715000"/>
              <a:ext cx="1400175" cy="838200"/>
            </a:xfrm>
            <a:prstGeom prst="rect">
              <a:avLst/>
            </a:prstGeom>
            <a:solidFill>
              <a:srgbClr val="F4A100"/>
            </a:solidFill>
            <a:ln>
              <a:noFill/>
            </a:ln>
          </p:spPr>
        </p:sp>
        <p:sp>
          <p:nvSpPr>
            <p:cNvPr id="24" name="TextBox 24"/>
            <p:cNvSpPr txBox="1"/>
            <p:nvPr/>
          </p:nvSpPr>
          <p:spPr>
            <a:xfrm>
              <a:off x="373380" y="5915025"/>
              <a:ext cx="306476"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Arial"/>
                  <a:ea typeface="Arial"/>
                  <a:cs typeface="Arial"/>
                </a:rPr>
                <a:t>OB</a:t>
              </a:r>
            </a:p>
          </p:txBody>
        </p:sp>
        <p:sp>
          <p:nvSpPr>
            <p:cNvPr id="25" name="TextBox 25"/>
            <p:cNvSpPr txBox="1"/>
            <p:nvPr/>
          </p:nvSpPr>
          <p:spPr>
            <a:xfrm>
              <a:off x="374904" y="6195060"/>
              <a:ext cx="1470660" cy="234696"/>
            </a:xfrm>
            <a:prstGeom prst="rect">
              <a:avLst/>
            </a:prstGeom>
            <a:noFill/>
            <a:ln>
              <a:noFill/>
            </a:ln>
          </p:spPr>
          <p:txBody>
            <a:bodyPr wrap="none" lIns="0" tIns="0" rIns="0" bIns="0" anchor="t" anchorCtr="0">
              <a:spAutoFit/>
            </a:bodyPr>
            <a:lstStyle/>
            <a:p>
              <a:pPr algn="l"/>
              <a:r>
                <a:rPr lang="zh-CN" sz="1200" dirty="0">
                  <a:solidFill>
                    <a:srgbClr val="FFFFFF"/>
                  </a:solidFill>
                  <a:latin typeface="Arial"/>
                  <a:ea typeface="Microsoft YaHei"/>
                  <a:cs typeface="Arial"/>
                </a:rPr>
                <a:t>73亿€ · -4.8% YoY</a:t>
              </a:r>
            </a:p>
          </p:txBody>
        </p:sp>
        <p:sp>
          <p:nvSpPr>
            <p:cNvPr id="26" name="TextBox 26"/>
            <p:cNvSpPr txBox="1"/>
            <p:nvPr/>
          </p:nvSpPr>
          <p:spPr>
            <a:xfrm>
              <a:off x="8250555" y="5915025"/>
              <a:ext cx="429692"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Arial"/>
                  <a:ea typeface="Arial"/>
                  <a:cs typeface="Arial"/>
                </a:rPr>
                <a:t>OEU</a:t>
              </a:r>
            </a:p>
          </p:txBody>
        </p:sp>
        <p:sp>
          <p:nvSpPr>
            <p:cNvPr id="27" name="TextBox 27"/>
            <p:cNvSpPr txBox="1"/>
            <p:nvPr/>
          </p:nvSpPr>
          <p:spPr>
            <a:xfrm>
              <a:off x="8252079" y="6195060"/>
              <a:ext cx="1086460" cy="234696"/>
            </a:xfrm>
            <a:prstGeom prst="rect">
              <a:avLst/>
            </a:prstGeom>
            <a:noFill/>
            <a:ln>
              <a:noFill/>
            </a:ln>
          </p:spPr>
          <p:txBody>
            <a:bodyPr wrap="none" lIns="0" tIns="0" rIns="0" bIns="0" anchor="t" anchorCtr="0">
              <a:spAutoFit/>
            </a:bodyPr>
            <a:lstStyle/>
            <a:p>
              <a:pPr algn="l"/>
              <a:r>
                <a:rPr lang="zh-CN" sz="1200" dirty="0">
                  <a:solidFill>
                    <a:srgbClr val="FFFFFF"/>
                  </a:solidFill>
                  <a:latin typeface="Arial"/>
                  <a:ea typeface="Microsoft YaHei"/>
                  <a:cs typeface="Arial"/>
                </a:rPr>
                <a:t>约27亿€（估）</a:t>
              </a:r>
            </a:p>
          </p:txBody>
        </p:sp>
        <p:sp>
          <p:nvSpPr>
            <p:cNvPr id="28" name="TextBox 28"/>
            <p:cNvSpPr txBox="1"/>
            <p:nvPr/>
          </p:nvSpPr>
          <p:spPr>
            <a:xfrm>
              <a:off x="11165205" y="5915025"/>
              <a:ext cx="597713"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Arial"/>
                  <a:ea typeface="Arial"/>
                  <a:cs typeface="Arial"/>
                </a:rPr>
                <a:t>OMEA</a:t>
              </a:r>
            </a:p>
          </p:txBody>
        </p:sp>
        <p:sp>
          <p:nvSpPr>
            <p:cNvPr id="29" name="TextBox 29"/>
            <p:cNvSpPr txBox="1"/>
            <p:nvPr/>
          </p:nvSpPr>
          <p:spPr>
            <a:xfrm>
              <a:off x="11166729" y="6195060"/>
              <a:ext cx="1591056" cy="234696"/>
            </a:xfrm>
            <a:prstGeom prst="rect">
              <a:avLst/>
            </a:prstGeom>
            <a:noFill/>
            <a:ln>
              <a:noFill/>
            </a:ln>
          </p:spPr>
          <p:txBody>
            <a:bodyPr wrap="none" lIns="0" tIns="0" rIns="0" bIns="0" anchor="t" anchorCtr="0">
              <a:spAutoFit/>
            </a:bodyPr>
            <a:lstStyle/>
            <a:p>
              <a:pPr algn="l"/>
              <a:r>
                <a:rPr lang="zh-CN" sz="1200" dirty="0">
                  <a:solidFill>
                    <a:srgbClr val="FFFFFF"/>
                  </a:solidFill>
                  <a:latin typeface="Arial"/>
                  <a:ea typeface="Microsoft YaHei"/>
                  <a:cs typeface="Arial"/>
                </a:rPr>
                <a:t>13亿€ · +9.2% CAGR</a:t>
              </a:r>
            </a:p>
          </p:txBody>
        </p:sp>
      </p:grpSp>
      <p:grpSp>
        <p:nvGrpSpPr>
          <p:cNvPr id="33" name="Group 33"/>
          <p:cNvGrpSpPr/>
          <p:nvPr/>
        </p:nvGrpSpPr>
        <p:grpSpPr>
          <a:xfrm>
            <a:off x="755904" y="6614160"/>
            <a:ext cx="10680192" cy="234696"/>
            <a:chOff x="755904" y="6614160"/>
            <a:chExt cx="10680192" cy="234696"/>
          </a:xfrm>
        </p:grpSpPr>
        <p:sp>
          <p:nvSpPr>
            <p:cNvPr id="31" name="TextBox 31"/>
            <p:cNvSpPr txBox="1"/>
            <p:nvPr/>
          </p:nvSpPr>
          <p:spPr>
            <a:xfrm>
              <a:off x="755904" y="6614160"/>
              <a:ext cx="2811043" cy="234696"/>
            </a:xfrm>
            <a:prstGeom prst="rect">
              <a:avLst/>
            </a:prstGeom>
            <a:noFill/>
            <a:ln>
              <a:noFill/>
            </a:ln>
          </p:spPr>
          <p:txBody>
            <a:bodyPr wrap="none" lIns="0" tIns="0" rIns="0" bIns="0" anchor="t" anchorCtr="0">
              <a:spAutoFit/>
            </a:bodyPr>
            <a:lstStyle/>
            <a:p>
              <a:pPr algn="l"/>
              <a:r>
                <a:rPr lang="en-US" sz="1200" dirty="0">
                  <a:solidFill>
                    <a:srgbClr val="8A8880"/>
                  </a:solidFill>
                  <a:latin typeface="Arial"/>
                  <a:ea typeface="Arial"/>
                  <a:cs typeface="Arial"/>
                </a:rPr>
                <a:t>Security Level: Huawei Confidential</a:t>
              </a:r>
            </a:p>
          </p:txBody>
        </p:sp>
        <p:sp>
          <p:nvSpPr>
            <p:cNvPr id="32" name="TextBox 32"/>
            <p:cNvSpPr txBox="1"/>
            <p:nvPr/>
          </p:nvSpPr>
          <p:spPr>
            <a:xfrm>
              <a:off x="9083040" y="6614160"/>
              <a:ext cx="2353056" cy="234696"/>
            </a:xfrm>
            <a:prstGeom prst="rect">
              <a:avLst/>
            </a:prstGeom>
            <a:noFill/>
            <a:ln>
              <a:noFill/>
            </a:ln>
          </p:spPr>
          <p:txBody>
            <a:bodyPr wrap="none" lIns="0" tIns="0" rIns="0" bIns="0" anchor="t" anchorCtr="0">
              <a:spAutoFit/>
            </a:bodyPr>
            <a:lstStyle/>
            <a:p>
              <a:pPr algn="r"/>
              <a:r>
                <a:rPr lang="en-US" sz="1200" dirty="0">
                  <a:solidFill>
                    <a:srgbClr val="8A8880"/>
                  </a:solidFill>
                  <a:latin typeface="Arial"/>
                  <a:ea typeface="Arial"/>
                  <a:cs typeface="Arial"/>
                </a:rPr>
                <a:t>2026.07 · Huawei Confidential</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745998" y="212408"/>
            <a:ext cx="11181878" cy="616077"/>
            <a:chOff x="745998" y="212408"/>
            <a:chExt cx="11181878" cy="616077"/>
          </a:xfrm>
        </p:grpSpPr>
        <p:sp>
          <p:nvSpPr>
            <p:cNvPr id="3" name="TextBox 3"/>
            <p:cNvSpPr txBox="1"/>
            <p:nvPr/>
          </p:nvSpPr>
          <p:spPr>
            <a:xfrm>
              <a:off x="745998" y="212408"/>
              <a:ext cx="11181878" cy="616077"/>
            </a:xfrm>
            <a:prstGeom prst="rect">
              <a:avLst/>
            </a:prstGeom>
            <a:noFill/>
            <a:ln>
              <a:noFill/>
            </a:ln>
          </p:spPr>
          <p:txBody>
            <a:bodyPr wrap="none" lIns="0" tIns="0" rIns="0" bIns="0" anchor="t" anchorCtr="0">
              <a:spAutoFit/>
            </a:bodyPr>
            <a:lstStyle/>
            <a:p>
              <a:pPr algn="l"/>
              <a:r>
                <a:rPr lang="zh-CN" sz="3150" b="1" dirty="0">
                  <a:solidFill>
                    <a:srgbClr val="1D1D1A"/>
                  </a:solidFill>
                  <a:latin typeface="Arial"/>
                  <a:ea typeface="Microsoft YaHei"/>
                  <a:cs typeface="Arial"/>
                </a:rPr>
                <a:t>体量与参与度成反比——OMEA虽最小却是核心增长阵地</a:t>
              </a:r>
            </a:p>
          </p:txBody>
        </p:sp>
        <p:sp>
          <p:nvSpPr>
            <p:cNvPr id="4" name="Line 4"/>
            <p:cNvSpPr/>
            <p:nvPr/>
          </p:nvSpPr>
          <p:spPr>
            <a:xfrm>
              <a:off x="762000" y="781050"/>
              <a:ext cx="10668000" cy="9525"/>
            </a:xfrm>
            <a:custGeom>
              <a:avLst/>
              <a:gdLst/>
              <a:ahLst/>
              <a:cxnLst/>
              <a:rect l="l" t="t" r="r" b="b"/>
              <a:pathLst>
                <a:path w="10668000" h="9525">
                  <a:moveTo>
                    <a:pt x="0" y="0"/>
                  </a:moveTo>
                  <a:lnTo>
                    <a:pt x="10668000" y="0"/>
                  </a:lnTo>
                </a:path>
              </a:pathLst>
            </a:custGeom>
            <a:noFill/>
            <a:ln w="9525">
              <a:solidFill>
                <a:srgbClr val="DDDBD6"/>
              </a:solidFill>
            </a:ln>
          </p:spPr>
        </p:sp>
      </p:grpSp>
      <p:grpSp>
        <p:nvGrpSpPr>
          <p:cNvPr id="25" name="Group 25"/>
          <p:cNvGrpSpPr/>
          <p:nvPr/>
        </p:nvGrpSpPr>
        <p:grpSpPr>
          <a:xfrm>
            <a:off x="755904" y="1032510"/>
            <a:ext cx="6442863" cy="5454396"/>
            <a:chOff x="755904" y="1032510"/>
            <a:chExt cx="6442863" cy="5454396"/>
          </a:xfrm>
        </p:grpSpPr>
        <p:sp>
          <p:nvSpPr>
            <p:cNvPr id="6" name="TextBox 6"/>
            <p:cNvSpPr txBox="1"/>
            <p:nvPr/>
          </p:nvSpPr>
          <p:spPr>
            <a:xfrm>
              <a:off x="755904" y="1032510"/>
              <a:ext cx="3538179" cy="234696"/>
            </a:xfrm>
            <a:prstGeom prst="rect">
              <a:avLst/>
            </a:prstGeom>
            <a:noFill/>
            <a:ln>
              <a:noFill/>
            </a:ln>
          </p:spPr>
          <p:txBody>
            <a:bodyPr wrap="none" lIns="0" tIns="0" rIns="0" bIns="0" anchor="t" anchorCtr="0">
              <a:spAutoFit/>
            </a:bodyPr>
            <a:lstStyle/>
            <a:p>
              <a:pPr algn="l"/>
              <a:r>
                <a:rPr lang="en-US" sz="1200" b="1" spc="75" dirty="0">
                  <a:solidFill>
                    <a:srgbClr val="8A8880"/>
                  </a:solidFill>
                  <a:latin typeface="Arial"/>
                  <a:ea typeface="Arial"/>
                  <a:cs typeface="Arial"/>
                </a:rPr>
                <a:t>B2B REVENUE BY REGION · FY2025 · M€</a:t>
              </a:r>
            </a:p>
          </p:txBody>
        </p:sp>
        <p:grpSp>
          <p:nvGrpSpPr>
            <p:cNvPr id="24" name="Group 24"/>
            <p:cNvGrpSpPr/>
            <p:nvPr/>
          </p:nvGrpSpPr>
          <p:grpSpPr>
            <a:xfrm>
              <a:off x="1333500" y="1616392"/>
              <a:ext cx="5865267" cy="4870514"/>
              <a:chOff x="1333500" y="1616392"/>
              <a:chExt cx="5865267" cy="4870514"/>
            </a:xfrm>
          </p:grpSpPr>
          <p:sp>
            <p:nvSpPr>
              <p:cNvPr id="7" name="Line 7"/>
              <p:cNvSpPr/>
              <p:nvPr/>
            </p:nvSpPr>
            <p:spPr>
              <a:xfrm>
                <a:off x="1333500" y="1905000"/>
                <a:ext cx="9525" cy="4000500"/>
              </a:xfrm>
              <a:custGeom>
                <a:avLst/>
                <a:gdLst/>
                <a:ahLst/>
                <a:cxnLst/>
                <a:rect l="l" t="t" r="r" b="b"/>
                <a:pathLst>
                  <a:path w="9525" h="4000500">
                    <a:moveTo>
                      <a:pt x="0" y="0"/>
                    </a:moveTo>
                    <a:lnTo>
                      <a:pt x="0" y="4000500"/>
                    </a:lnTo>
                  </a:path>
                </a:pathLst>
              </a:custGeom>
              <a:noFill/>
              <a:ln w="14288">
                <a:solidFill>
                  <a:srgbClr val="DDDBD6"/>
                </a:solidFill>
              </a:ln>
            </p:spPr>
          </p:sp>
          <p:sp>
            <p:nvSpPr>
              <p:cNvPr id="8" name="Line 8"/>
              <p:cNvSpPr/>
              <p:nvPr/>
            </p:nvSpPr>
            <p:spPr>
              <a:xfrm>
                <a:off x="1333500" y="5905500"/>
                <a:ext cx="5334000" cy="9525"/>
              </a:xfrm>
              <a:custGeom>
                <a:avLst/>
                <a:gdLst/>
                <a:ahLst/>
                <a:cxnLst/>
                <a:rect l="l" t="t" r="r" b="b"/>
                <a:pathLst>
                  <a:path w="5334000" h="9525">
                    <a:moveTo>
                      <a:pt x="0" y="0"/>
                    </a:moveTo>
                    <a:lnTo>
                      <a:pt x="5334000" y="0"/>
                    </a:lnTo>
                  </a:path>
                </a:pathLst>
              </a:custGeom>
              <a:noFill/>
              <a:ln w="14288">
                <a:solidFill>
                  <a:srgbClr val="DDDBD6"/>
                </a:solidFill>
              </a:ln>
            </p:spPr>
          </p:sp>
          <p:grpSp>
            <p:nvGrpSpPr>
              <p:cNvPr id="13" name="Group 13"/>
              <p:cNvGrpSpPr/>
              <p:nvPr/>
            </p:nvGrpSpPr>
            <p:grpSpPr>
              <a:xfrm>
                <a:off x="1905000" y="1616392"/>
                <a:ext cx="1143000" cy="4870514"/>
                <a:chOff x="1905000" y="1616392"/>
                <a:chExt cx="1143000" cy="4870514"/>
              </a:xfrm>
            </p:grpSpPr>
            <p:sp>
              <p:nvSpPr>
                <p:cNvPr id="9" name="Rectangle 9"/>
                <p:cNvSpPr/>
                <p:nvPr/>
              </p:nvSpPr>
              <p:spPr>
                <a:xfrm>
                  <a:off x="1905000" y="1905000"/>
                  <a:ext cx="1143000" cy="4000500"/>
                </a:xfrm>
                <a:prstGeom prst="rect">
                  <a:avLst/>
                </a:prstGeom>
                <a:solidFill>
                  <a:srgbClr val="C7000A"/>
                </a:solidFill>
                <a:ln>
                  <a:noFill/>
                </a:ln>
              </p:spPr>
            </p:sp>
            <p:sp>
              <p:nvSpPr>
                <p:cNvPr id="10" name="TextBox 10"/>
                <p:cNvSpPr txBox="1"/>
                <p:nvPr/>
              </p:nvSpPr>
              <p:spPr>
                <a:xfrm>
                  <a:off x="2207259" y="1616392"/>
                  <a:ext cx="538482" cy="264033"/>
                </a:xfrm>
                <a:prstGeom prst="rect">
                  <a:avLst/>
                </a:prstGeom>
                <a:noFill/>
                <a:ln>
                  <a:noFill/>
                </a:ln>
              </p:spPr>
              <p:txBody>
                <a:bodyPr wrap="none" lIns="0" tIns="0" rIns="0" bIns="0" anchor="t" anchorCtr="0">
                  <a:spAutoFit/>
                </a:bodyPr>
                <a:lstStyle/>
                <a:p>
                  <a:pPr algn="ctr"/>
                  <a:r>
                    <a:rPr lang="en-US" sz="1350" b="1" dirty="0">
                      <a:solidFill>
                        <a:srgbClr val="1D1D1A"/>
                      </a:solidFill>
                      <a:latin typeface="Arial"/>
                      <a:ea typeface="Arial"/>
                      <a:cs typeface="Arial"/>
                    </a:rPr>
                    <a:t>7,325</a:t>
                  </a:r>
                </a:p>
              </p:txBody>
            </p:sp>
            <p:sp>
              <p:nvSpPr>
                <p:cNvPr id="11" name="TextBox 11"/>
                <p:cNvSpPr txBox="1"/>
                <p:nvPr/>
              </p:nvSpPr>
              <p:spPr>
                <a:xfrm>
                  <a:off x="2338586" y="6026468"/>
                  <a:ext cx="275829" cy="264033"/>
                </a:xfrm>
                <a:prstGeom prst="rect">
                  <a:avLst/>
                </a:prstGeom>
                <a:noFill/>
                <a:ln>
                  <a:noFill/>
                </a:ln>
              </p:spPr>
              <p:txBody>
                <a:bodyPr wrap="none" lIns="0" tIns="0" rIns="0" bIns="0" anchor="t" anchorCtr="0">
                  <a:spAutoFit/>
                </a:bodyPr>
                <a:lstStyle/>
                <a:p>
                  <a:pPr algn="ctr"/>
                  <a:r>
                    <a:rPr lang="en-US" sz="1350" b="1" dirty="0">
                      <a:solidFill>
                        <a:srgbClr val="1D1D1A"/>
                      </a:solidFill>
                      <a:latin typeface="Arial"/>
                      <a:ea typeface="Arial"/>
                      <a:cs typeface="Arial"/>
                    </a:rPr>
                    <a:t>OB</a:t>
                  </a:r>
                </a:p>
              </p:txBody>
            </p:sp>
            <p:sp>
              <p:nvSpPr>
                <p:cNvPr id="12" name="TextBox 12"/>
                <p:cNvSpPr txBox="1"/>
                <p:nvPr/>
              </p:nvSpPr>
              <p:spPr>
                <a:xfrm>
                  <a:off x="2059686" y="6252210"/>
                  <a:ext cx="833628" cy="234696"/>
                </a:xfrm>
                <a:prstGeom prst="rect">
                  <a:avLst/>
                </a:prstGeom>
                <a:noFill/>
                <a:ln>
                  <a:noFill/>
                </a:ln>
              </p:spPr>
              <p:txBody>
                <a:bodyPr wrap="none" lIns="0" tIns="0" rIns="0" bIns="0" anchor="t" anchorCtr="0">
                  <a:spAutoFit/>
                </a:bodyPr>
                <a:lstStyle/>
                <a:p>
                  <a:pPr algn="ctr"/>
                  <a:r>
                    <a:rPr lang="en-US" sz="1200" dirty="0">
                      <a:solidFill>
                        <a:srgbClr val="C62828"/>
                      </a:solidFill>
                      <a:latin typeface="Arial"/>
                      <a:ea typeface="Arial"/>
                      <a:cs typeface="Arial"/>
                    </a:rPr>
                    <a:t>-4.8% YoY</a:t>
                  </a:r>
                </a:p>
              </p:txBody>
            </p:sp>
          </p:grpSp>
          <p:grpSp>
            <p:nvGrpSpPr>
              <p:cNvPr id="18" name="Group 18"/>
              <p:cNvGrpSpPr/>
              <p:nvPr/>
            </p:nvGrpSpPr>
            <p:grpSpPr>
              <a:xfrm>
                <a:off x="3714750" y="4140518"/>
                <a:ext cx="1143000" cy="2346388"/>
                <a:chOff x="3714750" y="4140518"/>
                <a:chExt cx="1143000" cy="2346388"/>
              </a:xfrm>
            </p:grpSpPr>
            <p:sp>
              <p:nvSpPr>
                <p:cNvPr id="14" name="Rectangle 14"/>
                <p:cNvSpPr/>
                <p:nvPr/>
              </p:nvSpPr>
              <p:spPr>
                <a:xfrm>
                  <a:off x="3714750" y="4429125"/>
                  <a:ext cx="1143000" cy="1476375"/>
                </a:xfrm>
                <a:prstGeom prst="rect">
                  <a:avLst/>
                </a:prstGeom>
                <a:solidFill>
                  <a:srgbClr val="E9002F"/>
                </a:solidFill>
                <a:ln>
                  <a:noFill/>
                </a:ln>
              </p:spPr>
            </p:sp>
            <p:sp>
              <p:nvSpPr>
                <p:cNvPr id="15" name="TextBox 15"/>
                <p:cNvSpPr txBox="1"/>
                <p:nvPr/>
              </p:nvSpPr>
              <p:spPr>
                <a:xfrm>
                  <a:off x="3964533" y="4140518"/>
                  <a:ext cx="643435" cy="264033"/>
                </a:xfrm>
                <a:prstGeom prst="rect">
                  <a:avLst/>
                </a:prstGeom>
                <a:noFill/>
                <a:ln>
                  <a:noFill/>
                </a:ln>
              </p:spPr>
              <p:txBody>
                <a:bodyPr wrap="none" lIns="0" tIns="0" rIns="0" bIns="0" anchor="t" anchorCtr="0">
                  <a:spAutoFit/>
                </a:bodyPr>
                <a:lstStyle/>
                <a:p>
                  <a:pPr algn="ctr"/>
                  <a:r>
                    <a:rPr lang="en-US" sz="1350" b="1" dirty="0">
                      <a:solidFill>
                        <a:srgbClr val="1D1D1A"/>
                      </a:solidFill>
                      <a:latin typeface="Arial"/>
                      <a:ea typeface="Arial"/>
                      <a:cs typeface="Arial"/>
                    </a:rPr>
                    <a:t>~2,700</a:t>
                  </a:r>
                </a:p>
              </p:txBody>
            </p:sp>
            <p:sp>
              <p:nvSpPr>
                <p:cNvPr id="16" name="TextBox 16"/>
                <p:cNvSpPr txBox="1"/>
                <p:nvPr/>
              </p:nvSpPr>
              <p:spPr>
                <a:xfrm>
                  <a:off x="4092889" y="6026468"/>
                  <a:ext cx="386723" cy="264033"/>
                </a:xfrm>
                <a:prstGeom prst="rect">
                  <a:avLst/>
                </a:prstGeom>
                <a:noFill/>
                <a:ln>
                  <a:noFill/>
                </a:ln>
              </p:spPr>
              <p:txBody>
                <a:bodyPr wrap="none" lIns="0" tIns="0" rIns="0" bIns="0" anchor="t" anchorCtr="0">
                  <a:spAutoFit/>
                </a:bodyPr>
                <a:lstStyle/>
                <a:p>
                  <a:pPr algn="ctr"/>
                  <a:r>
                    <a:rPr lang="en-US" sz="1350" b="1" dirty="0">
                      <a:solidFill>
                        <a:srgbClr val="1D1D1A"/>
                      </a:solidFill>
                      <a:latin typeface="Arial"/>
                      <a:ea typeface="Arial"/>
                      <a:cs typeface="Arial"/>
                    </a:rPr>
                    <a:t>OEU</a:t>
                  </a:r>
                </a:p>
              </p:txBody>
            </p:sp>
            <p:sp>
              <p:nvSpPr>
                <p:cNvPr id="17" name="TextBox 17"/>
                <p:cNvSpPr txBox="1"/>
                <p:nvPr/>
              </p:nvSpPr>
              <p:spPr>
                <a:xfrm>
                  <a:off x="4037838" y="6252210"/>
                  <a:ext cx="496824" cy="234696"/>
                </a:xfrm>
                <a:prstGeom prst="rect">
                  <a:avLst/>
                </a:prstGeom>
                <a:noFill/>
                <a:ln>
                  <a:noFill/>
                </a:ln>
              </p:spPr>
              <p:txBody>
                <a:bodyPr wrap="none" lIns="0" tIns="0" rIns="0" bIns="0" anchor="t" anchorCtr="0">
                  <a:spAutoFit/>
                </a:bodyPr>
                <a:lstStyle/>
                <a:p>
                  <a:pPr algn="ctr"/>
                  <a:r>
                    <a:rPr lang="zh-CN" sz="1200" dirty="0">
                      <a:solidFill>
                        <a:srgbClr val="5A5852"/>
                      </a:solidFill>
                      <a:latin typeface="Arial"/>
                      <a:ea typeface="Microsoft YaHei"/>
                      <a:cs typeface="Arial"/>
                    </a:rPr>
                    <a:t>（估）</a:t>
                  </a:r>
                </a:p>
              </p:txBody>
            </p:sp>
          </p:grpSp>
          <p:grpSp>
            <p:nvGrpSpPr>
              <p:cNvPr id="23" name="Group 23"/>
              <p:cNvGrpSpPr/>
              <p:nvPr/>
            </p:nvGrpSpPr>
            <p:grpSpPr>
              <a:xfrm>
                <a:off x="4993234" y="4902518"/>
                <a:ext cx="2205533" cy="1584388"/>
                <a:chOff x="4993234" y="4902518"/>
                <a:chExt cx="2205533" cy="1584388"/>
              </a:xfrm>
            </p:grpSpPr>
            <p:sp>
              <p:nvSpPr>
                <p:cNvPr id="19" name="Rectangle 19"/>
                <p:cNvSpPr/>
                <p:nvPr/>
              </p:nvSpPr>
              <p:spPr>
                <a:xfrm>
                  <a:off x="5524500" y="5191125"/>
                  <a:ext cx="1143000" cy="714375"/>
                </a:xfrm>
                <a:prstGeom prst="rect">
                  <a:avLst/>
                </a:prstGeom>
                <a:solidFill>
                  <a:srgbClr val="F4A100"/>
                </a:solidFill>
                <a:ln>
                  <a:noFill/>
                </a:ln>
              </p:spPr>
            </p:sp>
            <p:sp>
              <p:nvSpPr>
                <p:cNvPr id="20" name="TextBox 20"/>
                <p:cNvSpPr txBox="1"/>
                <p:nvPr/>
              </p:nvSpPr>
              <p:spPr>
                <a:xfrm>
                  <a:off x="5826759" y="4902518"/>
                  <a:ext cx="538482" cy="264033"/>
                </a:xfrm>
                <a:prstGeom prst="rect">
                  <a:avLst/>
                </a:prstGeom>
                <a:noFill/>
                <a:ln>
                  <a:noFill/>
                </a:ln>
              </p:spPr>
              <p:txBody>
                <a:bodyPr wrap="none" lIns="0" tIns="0" rIns="0" bIns="0" anchor="t" anchorCtr="0">
                  <a:spAutoFit/>
                </a:bodyPr>
                <a:lstStyle/>
                <a:p>
                  <a:pPr algn="ctr"/>
                  <a:r>
                    <a:rPr lang="en-US" sz="1350" b="1" dirty="0">
                      <a:solidFill>
                        <a:srgbClr val="1D1D1A"/>
                      </a:solidFill>
                      <a:latin typeface="Arial"/>
                      <a:ea typeface="Arial"/>
                      <a:cs typeface="Arial"/>
                    </a:rPr>
                    <a:t>1,300</a:t>
                  </a:r>
                </a:p>
              </p:txBody>
            </p:sp>
            <p:sp>
              <p:nvSpPr>
                <p:cNvPr id="21" name="TextBox 21"/>
                <p:cNvSpPr txBox="1"/>
                <p:nvPr/>
              </p:nvSpPr>
              <p:spPr>
                <a:xfrm>
                  <a:off x="5827029" y="6026468"/>
                  <a:ext cx="537942" cy="264033"/>
                </a:xfrm>
                <a:prstGeom prst="rect">
                  <a:avLst/>
                </a:prstGeom>
                <a:noFill/>
                <a:ln>
                  <a:noFill/>
                </a:ln>
              </p:spPr>
              <p:txBody>
                <a:bodyPr wrap="none" lIns="0" tIns="0" rIns="0" bIns="0" anchor="t" anchorCtr="0">
                  <a:spAutoFit/>
                </a:bodyPr>
                <a:lstStyle/>
                <a:p>
                  <a:pPr algn="ctr"/>
                  <a:r>
                    <a:rPr lang="en-US" sz="1350" b="1" dirty="0">
                      <a:solidFill>
                        <a:srgbClr val="1D1D1A"/>
                      </a:solidFill>
                      <a:latin typeface="Arial"/>
                      <a:ea typeface="Arial"/>
                      <a:cs typeface="Arial"/>
                    </a:rPr>
                    <a:t>OMEA</a:t>
                  </a:r>
                </a:p>
              </p:txBody>
            </p:sp>
            <p:sp>
              <p:nvSpPr>
                <p:cNvPr id="22" name="TextBox 22"/>
                <p:cNvSpPr txBox="1"/>
                <p:nvPr/>
              </p:nvSpPr>
              <p:spPr>
                <a:xfrm>
                  <a:off x="4993234" y="6252210"/>
                  <a:ext cx="2205533" cy="234696"/>
                </a:xfrm>
                <a:prstGeom prst="rect">
                  <a:avLst/>
                </a:prstGeom>
                <a:noFill/>
                <a:ln>
                  <a:noFill/>
                </a:ln>
              </p:spPr>
              <p:txBody>
                <a:bodyPr wrap="none" lIns="0" tIns="0" rIns="0" bIns="0" anchor="t" anchorCtr="0">
                  <a:spAutoFit/>
                </a:bodyPr>
                <a:lstStyle/>
                <a:p>
                  <a:pPr algn="ctr"/>
                  <a:r>
                    <a:rPr lang="zh-CN" sz="1200" dirty="0">
                      <a:solidFill>
                        <a:srgbClr val="2E7D32"/>
                      </a:solidFill>
                      <a:latin typeface="Arial"/>
                      <a:ea typeface="Microsoft YaHei"/>
                      <a:cs typeface="Arial"/>
                    </a:rPr>
                    <a:t>+9.2% CAGR→2030目标20亿€</a:t>
                  </a:r>
                </a:p>
              </p:txBody>
            </p:sp>
          </p:grpSp>
        </p:grpSp>
      </p:grpSp>
      <p:grpSp>
        <p:nvGrpSpPr>
          <p:cNvPr id="31" name="Group 31"/>
          <p:cNvGrpSpPr/>
          <p:nvPr/>
        </p:nvGrpSpPr>
        <p:grpSpPr>
          <a:xfrm>
            <a:off x="7620000" y="1143000"/>
            <a:ext cx="3810000" cy="4762500"/>
            <a:chOff x="7620000" y="1143000"/>
            <a:chExt cx="3810000" cy="4762500"/>
          </a:xfrm>
        </p:grpSpPr>
        <p:sp>
          <p:nvSpPr>
            <p:cNvPr id="26" name="Rectangle 26"/>
            <p:cNvSpPr/>
            <p:nvPr/>
          </p:nvSpPr>
          <p:spPr>
            <a:xfrm>
              <a:off x="7620000" y="1143000"/>
              <a:ext cx="3810000" cy="4762500"/>
            </a:xfrm>
            <a:prstGeom prst="roundRect">
              <a:avLst>
                <a:gd name="adj" fmla="val 2000"/>
              </a:avLst>
            </a:prstGeom>
            <a:solidFill>
              <a:srgbClr val="F7F6F3"/>
            </a:solidFill>
            <a:ln>
              <a:noFill/>
            </a:ln>
          </p:spPr>
        </p:sp>
        <p:sp>
          <p:nvSpPr>
            <p:cNvPr id="27" name="TextBox 27"/>
            <p:cNvSpPr txBox="1"/>
            <p:nvPr/>
          </p:nvSpPr>
          <p:spPr>
            <a:xfrm>
              <a:off x="7879080" y="1314450"/>
              <a:ext cx="863346" cy="293370"/>
            </a:xfrm>
            <a:prstGeom prst="rect">
              <a:avLst/>
            </a:prstGeom>
            <a:noFill/>
            <a:ln>
              <a:noFill/>
            </a:ln>
          </p:spPr>
          <p:txBody>
            <a:bodyPr wrap="none" lIns="0" tIns="0" rIns="0" bIns="0" anchor="t" anchorCtr="0">
              <a:spAutoFit/>
            </a:bodyPr>
            <a:lstStyle/>
            <a:p>
              <a:pPr algn="l"/>
              <a:r>
                <a:rPr lang="zh-CN" sz="1500" b="1" dirty="0">
                  <a:solidFill>
                    <a:srgbClr val="1D1D1A"/>
                  </a:solidFill>
                  <a:latin typeface="Arial"/>
                  <a:ea typeface="Microsoft YaHei"/>
                  <a:cs typeface="Arial"/>
                </a:rPr>
                <a:t>核心结论</a:t>
              </a:r>
            </a:p>
          </p:txBody>
        </p:sp>
        <p:sp>
          <p:nvSpPr>
            <p:cNvPr id="28" name="TextBox 28"/>
            <p:cNvSpPr txBox="1"/>
            <p:nvPr/>
          </p:nvSpPr>
          <p:spPr>
            <a:xfrm>
              <a:off x="7879842" y="1616392"/>
              <a:ext cx="1976819" cy="1502283"/>
            </a:xfrm>
            <a:prstGeom prst="rect">
              <a:avLst/>
            </a:prstGeom>
            <a:noFill/>
            <a:ln>
              <a:noFill/>
            </a:ln>
          </p:spPr>
          <p:txBody>
            <a:bodyPr wrap="square" lIns="0" tIns="0" rIns="0" bIns="0" anchor="t" anchorCtr="0"/>
            <a:lstStyle/>
            <a:p>
              <a:pPr algn="l">
                <a:lnSpc>
                  <a:spcPts val="1950"/>
                </a:lnSpc>
              </a:pPr>
              <a:r>
                <a:rPr lang="zh-CN" sz="1350" dirty="0">
                  <a:solidFill>
                    <a:srgbClr val="1D1D1A"/>
                  </a:solidFill>
                  <a:latin typeface="Arial"/>
                  <a:ea typeface="Microsoft YaHei"/>
                  <a:cs typeface="Arial"/>
                </a:rPr>
                <a:t>三区域体量与华为参与度</a:t>
              </a:r>
              <a:r>
                <a:rPr lang="zh-CN" sz="1350" dirty="0">
                  <a:solidFill>
                    <a:srgbClr val="1D1D1A"/>
                  </a:solidFill>
                  <a:latin typeface="Arial"/>
                  <a:ea typeface="Microsoft YaHei"/>
                  <a:cs typeface="Arial"/>
                </a:rPr>
                <a:t>呈</a:t>
              </a:r>
              <a:r>
                <a:rPr lang="zh-CN" sz="1350" b="1" dirty="0">
                  <a:solidFill>
                    <a:srgbClr val="C7000A"/>
                  </a:solidFill>
                  <a:latin typeface="Arial"/>
                  <a:ea typeface="Microsoft YaHei"/>
                  <a:cs typeface="Arial"/>
                </a:rPr>
                <a:t>反比</a:t>
              </a:r>
              <a:r>
                <a:rPr lang="zh-CN" sz="1350" dirty="0">
                  <a:solidFill>
                    <a:srgbClr val="1D1D1A"/>
                  </a:solidFill>
                  <a:latin typeface="Arial"/>
                  <a:ea typeface="Microsoft YaHei"/>
                  <a:cs typeface="Arial"/>
                </a:rPr>
                <a:t>——OB华为缺席，</a:t>
              </a:r>
              <a:r>
                <a:rPr lang="zh-CN" sz="1350" dirty="0">
                  <a:solidFill>
                    <a:srgbClr val="1D1D1A"/>
                  </a:solidFill>
                  <a:latin typeface="Arial"/>
                  <a:ea typeface="Microsoft YaHei"/>
                  <a:cs typeface="Arial"/>
                </a:rPr>
                <a:t>OEU法律排除，OMEA深度</a:t>
              </a:r>
              <a:r>
                <a:rPr lang="zh-CN" sz="1350" dirty="0">
                  <a:solidFill>
                    <a:srgbClr val="1D1D1A"/>
                  </a:solidFill>
                  <a:latin typeface="Arial"/>
                  <a:ea typeface="Microsoft YaHei"/>
                  <a:cs typeface="Arial"/>
                </a:rPr>
                <a:t>绑定。体量最小的OMEA</a:t>
              </a:r>
              <a:r>
                <a:rPr lang="zh-CN" sz="1350" dirty="0">
                  <a:solidFill>
                    <a:srgbClr val="1D1D1A"/>
                  </a:solidFill>
                  <a:latin typeface="Arial"/>
                  <a:ea typeface="Microsoft YaHei"/>
                  <a:cs typeface="Arial"/>
                </a:rPr>
                <a:t>恰恰是华为最应聚焦的</a:t>
              </a:r>
              <a:r>
                <a:rPr lang="zh-CN" sz="1350" dirty="0">
                  <a:solidFill>
                    <a:srgbClr val="1D1D1A"/>
                  </a:solidFill>
                  <a:latin typeface="Arial"/>
                  <a:ea typeface="Microsoft YaHei"/>
                  <a:cs typeface="Arial"/>
                </a:rPr>
                <a:t>战略阵地。</a:t>
              </a:r>
            </a:p>
          </p:txBody>
        </p:sp>
        <p:sp>
          <p:nvSpPr>
            <p:cNvPr id="29" name="Line 29"/>
            <p:cNvSpPr/>
            <p:nvPr/>
          </p:nvSpPr>
          <p:spPr>
            <a:xfrm>
              <a:off x="7886700" y="3429000"/>
              <a:ext cx="3276600" cy="9525"/>
            </a:xfrm>
            <a:custGeom>
              <a:avLst/>
              <a:gdLst/>
              <a:ahLst/>
              <a:cxnLst/>
              <a:rect l="l" t="t" r="r" b="b"/>
              <a:pathLst>
                <a:path w="3276600" h="9525">
                  <a:moveTo>
                    <a:pt x="0" y="0"/>
                  </a:moveTo>
                  <a:lnTo>
                    <a:pt x="3276600" y="0"/>
                  </a:lnTo>
                </a:path>
              </a:pathLst>
            </a:custGeom>
            <a:noFill/>
            <a:ln w="9525">
              <a:solidFill>
                <a:srgbClr val="DDDBD6"/>
              </a:solidFill>
            </a:ln>
          </p:spPr>
        </p:sp>
        <p:sp>
          <p:nvSpPr>
            <p:cNvPr id="30" name="TextBox 30"/>
            <p:cNvSpPr txBox="1"/>
            <p:nvPr/>
          </p:nvSpPr>
          <p:spPr>
            <a:xfrm>
              <a:off x="7880604" y="3585210"/>
              <a:ext cx="2176272" cy="1568196"/>
            </a:xfrm>
            <a:prstGeom prst="rect">
              <a:avLst/>
            </a:prstGeom>
            <a:noFill/>
            <a:ln>
              <a:noFill/>
            </a:ln>
          </p:spPr>
          <p:txBody>
            <a:bodyPr wrap="square" lIns="0" tIns="0" rIns="0" bIns="0" anchor="t" anchorCtr="0"/>
            <a:lstStyle/>
            <a:p>
              <a:pPr algn="l">
                <a:lnSpc>
                  <a:spcPts val="1800"/>
                </a:lnSpc>
              </a:pPr>
              <a:r>
                <a:rPr lang="zh-CN" sz="1200" dirty="0">
                  <a:solidFill>
                    <a:srgbClr val="5A5852"/>
                  </a:solidFill>
                  <a:latin typeface="Arial"/>
                  <a:ea typeface="Microsoft YaHei"/>
                  <a:cs typeface="Arial"/>
                </a:rPr>
                <a:t>OB · 法国+全球大客户，占集</a:t>
              </a:r>
              <a:r>
                <a:rPr lang="zh-CN" sz="1200" dirty="0">
                  <a:solidFill>
                    <a:srgbClr val="5A5852"/>
                  </a:solidFill>
                  <a:latin typeface="Arial"/>
                  <a:ea typeface="Microsoft YaHei"/>
                  <a:cs typeface="Arial"/>
                </a:rPr>
                <a:t>团B2B约73%（估）</a:t>
              </a:r>
            </a:p>
            <a:p>
              <a:pPr algn="l">
                <a:lnSpc>
                  <a:spcPts val="1800"/>
                </a:lnSpc>
                <a:spcBef>
                  <a:spcPts val="750"/>
                </a:spcBef>
              </a:pPr>
              <a:r>
                <a:rPr lang="zh-CN" sz="1200" dirty="0">
                  <a:solidFill>
                    <a:srgbClr val="5A5852"/>
                  </a:solidFill>
                  <a:latin typeface="Arial"/>
                  <a:ea typeface="Microsoft YaHei"/>
                  <a:cs typeface="Arial"/>
                </a:rPr>
                <a:t>OEU · 欧洲其他国家+西班牙，</a:t>
              </a:r>
              <a:r>
                <a:rPr lang="zh-CN" sz="1200" dirty="0">
                  <a:solidFill>
                    <a:srgbClr val="5A5852"/>
                  </a:solidFill>
                  <a:latin typeface="Arial"/>
                  <a:ea typeface="Microsoft YaHei"/>
                  <a:cs typeface="Arial"/>
                </a:rPr>
                <a:t>19亿不含西班牙+8亿西班牙</a:t>
              </a:r>
            </a:p>
            <a:p>
              <a:pPr algn="l">
                <a:lnSpc>
                  <a:spcPts val="1800"/>
                </a:lnSpc>
                <a:spcBef>
                  <a:spcPts val="750"/>
                </a:spcBef>
              </a:pPr>
              <a:r>
                <a:rPr lang="zh-CN" sz="1200" dirty="0">
                  <a:solidFill>
                    <a:srgbClr val="5A5852"/>
                  </a:solidFill>
                  <a:latin typeface="Arial"/>
                  <a:ea typeface="Microsoft YaHei"/>
                  <a:cs typeface="Arial"/>
                </a:rPr>
                <a:t>OMEA · 2025基线13亿€，</a:t>
              </a:r>
              <a:r>
                <a:rPr lang="zh-CN" sz="1200" dirty="0">
                  <a:solidFill>
                    <a:srgbClr val="5A5852"/>
                  </a:solidFill>
                  <a:latin typeface="Arial"/>
                  <a:ea typeface="Microsoft YaHei"/>
                  <a:cs typeface="Arial"/>
                </a:rPr>
                <a:t>Q1'26季度3.27亿€/+8.6%验证</a:t>
              </a:r>
            </a:p>
          </p:txBody>
        </p:sp>
      </p:grpSp>
      <p:grpSp>
        <p:nvGrpSpPr>
          <p:cNvPr id="34" name="Group 34"/>
          <p:cNvGrpSpPr/>
          <p:nvPr/>
        </p:nvGrpSpPr>
        <p:grpSpPr>
          <a:xfrm>
            <a:off x="755904" y="6595110"/>
            <a:ext cx="10680192" cy="234696"/>
            <a:chOff x="755904" y="6595110"/>
            <a:chExt cx="10680192" cy="234696"/>
          </a:xfrm>
        </p:grpSpPr>
        <p:sp>
          <p:nvSpPr>
            <p:cNvPr id="32" name="TextBox 32"/>
            <p:cNvSpPr txBox="1"/>
            <p:nvPr/>
          </p:nvSpPr>
          <p:spPr>
            <a:xfrm>
              <a:off x="755904" y="6595110"/>
              <a:ext cx="8214246" cy="234696"/>
            </a:xfrm>
            <a:prstGeom prst="rect">
              <a:avLst/>
            </a:prstGeom>
            <a:noFill/>
            <a:ln>
              <a:noFill/>
            </a:ln>
          </p:spPr>
          <p:txBody>
            <a:bodyPr wrap="none" lIns="0" tIns="0" rIns="0" bIns="0" anchor="t" anchorCtr="0">
              <a:spAutoFit/>
            </a:bodyPr>
            <a:lstStyle/>
            <a:p>
              <a:pPr algn="l"/>
              <a:r>
                <a:rPr lang="zh-CN" sz="1200" dirty="0">
                  <a:solidFill>
                    <a:srgbClr val="8A8880"/>
                  </a:solidFill>
                  <a:latin typeface="Arial"/>
                  <a:ea typeface="Microsoft YaHei"/>
                  <a:cs typeface="Arial"/>
                </a:rPr>
                <a:t>数据来源：Orange FY2025财报(2026.2.18)、OMEA战略材料(2026.4)、公开市场调研；估算项已标注（估）</a:t>
              </a:r>
            </a:p>
          </p:txBody>
        </p:sp>
        <p:sp>
          <p:nvSpPr>
            <p:cNvPr id="33" name="TextBox 33"/>
            <p:cNvSpPr txBox="1"/>
            <p:nvPr/>
          </p:nvSpPr>
          <p:spPr>
            <a:xfrm>
              <a:off x="9530080" y="6595110"/>
              <a:ext cx="1906016" cy="234696"/>
            </a:xfrm>
            <a:prstGeom prst="rect">
              <a:avLst/>
            </a:prstGeom>
            <a:noFill/>
            <a:ln>
              <a:noFill/>
            </a:ln>
          </p:spPr>
          <p:txBody>
            <a:bodyPr wrap="none" lIns="0" tIns="0" rIns="0" bIns="0" anchor="t" anchorCtr="0">
              <a:spAutoFit/>
            </a:bodyPr>
            <a:lstStyle/>
            <a:p>
              <a:pPr algn="r"/>
              <a:r>
                <a:rPr lang="en-US" sz="1200" dirty="0">
                  <a:solidFill>
                    <a:srgbClr val="8A8880"/>
                  </a:solidFill>
                  <a:latin typeface="Arial"/>
                  <a:ea typeface="Arial"/>
                  <a:cs typeface="Arial"/>
                </a:rPr>
                <a:t>02 · Huawei Confidential</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745998" y="212408"/>
            <a:ext cx="10684002" cy="616077"/>
            <a:chOff x="745998" y="212408"/>
            <a:chExt cx="10684002" cy="616077"/>
          </a:xfrm>
        </p:grpSpPr>
        <p:sp>
          <p:nvSpPr>
            <p:cNvPr id="3" name="TextBox 3"/>
            <p:cNvSpPr txBox="1"/>
            <p:nvPr/>
          </p:nvSpPr>
          <p:spPr>
            <a:xfrm>
              <a:off x="745998" y="212408"/>
              <a:ext cx="10382098" cy="616077"/>
            </a:xfrm>
            <a:prstGeom prst="rect">
              <a:avLst/>
            </a:prstGeom>
            <a:noFill/>
            <a:ln>
              <a:noFill/>
            </a:ln>
          </p:spPr>
          <p:txBody>
            <a:bodyPr wrap="none" lIns="0" tIns="0" rIns="0" bIns="0" anchor="t" anchorCtr="0">
              <a:spAutoFit/>
            </a:bodyPr>
            <a:lstStyle/>
            <a:p>
              <a:pPr algn="l"/>
              <a:r>
                <a:rPr lang="zh-CN" sz="3150" b="1" dirty="0">
                  <a:solidFill>
                    <a:srgbClr val="1D1D1A"/>
                  </a:solidFill>
                  <a:latin typeface="Arial"/>
                  <a:ea typeface="Microsoft YaHei"/>
                  <a:cs typeface="Arial"/>
                </a:rPr>
                <a:t>客户结构分化——OB大企业主导，OMEA增量不增值</a:t>
              </a:r>
            </a:p>
          </p:txBody>
        </p:sp>
        <p:sp>
          <p:nvSpPr>
            <p:cNvPr id="4" name="Line 4"/>
            <p:cNvSpPr/>
            <p:nvPr/>
          </p:nvSpPr>
          <p:spPr>
            <a:xfrm>
              <a:off x="762000" y="781050"/>
              <a:ext cx="10668000" cy="9525"/>
            </a:xfrm>
            <a:custGeom>
              <a:avLst/>
              <a:gdLst/>
              <a:ahLst/>
              <a:cxnLst/>
              <a:rect l="l" t="t" r="r" b="b"/>
              <a:pathLst>
                <a:path w="10668000" h="9525">
                  <a:moveTo>
                    <a:pt x="0" y="0"/>
                  </a:moveTo>
                  <a:lnTo>
                    <a:pt x="10668000" y="0"/>
                  </a:lnTo>
                </a:path>
              </a:pathLst>
            </a:custGeom>
            <a:noFill/>
            <a:ln w="9525">
              <a:solidFill>
                <a:srgbClr val="DDDBD6"/>
              </a:solidFill>
            </a:ln>
          </p:spPr>
        </p:sp>
      </p:grpSp>
      <p:grpSp>
        <p:nvGrpSpPr>
          <p:cNvPr id="31" name="Group 31"/>
          <p:cNvGrpSpPr/>
          <p:nvPr/>
        </p:nvGrpSpPr>
        <p:grpSpPr>
          <a:xfrm>
            <a:off x="755904" y="1032510"/>
            <a:ext cx="9734580" cy="5168646"/>
            <a:chOff x="755904" y="1032510"/>
            <a:chExt cx="9734580" cy="5168646"/>
          </a:xfrm>
        </p:grpSpPr>
        <p:sp>
          <p:nvSpPr>
            <p:cNvPr id="6" name="TextBox 6"/>
            <p:cNvSpPr txBox="1"/>
            <p:nvPr/>
          </p:nvSpPr>
          <p:spPr>
            <a:xfrm>
              <a:off x="755904" y="1032510"/>
              <a:ext cx="9734580" cy="234696"/>
            </a:xfrm>
            <a:prstGeom prst="rect">
              <a:avLst/>
            </a:prstGeom>
            <a:noFill/>
            <a:ln>
              <a:noFill/>
            </a:ln>
          </p:spPr>
          <p:txBody>
            <a:bodyPr wrap="none" lIns="0" tIns="0" rIns="0" bIns="0" anchor="t" anchorCtr="0">
              <a:spAutoFit/>
            </a:bodyPr>
            <a:lstStyle/>
            <a:p>
              <a:pPr algn="l"/>
              <a:r>
                <a:rPr lang="zh-CN" sz="1200" b="1" spc="75" dirty="0">
                  <a:solidFill>
                    <a:srgbClr val="8A8880"/>
                  </a:solidFill>
                  <a:latin typeface="Arial"/>
                  <a:ea typeface="Microsoft YaHei"/>
                  <a:cs typeface="Arial"/>
                </a:rPr>
                <a:t>CUSTOMER MIX · DOMINANT SEGMENT VS. REST（源表格逐格数值提取存在歧义，仅呈现明确可溯源的主导占比）</a:t>
              </a:r>
            </a:p>
          </p:txBody>
        </p:sp>
        <p:grpSp>
          <p:nvGrpSpPr>
            <p:cNvPr id="30" name="Group 30"/>
            <p:cNvGrpSpPr/>
            <p:nvPr/>
          </p:nvGrpSpPr>
          <p:grpSpPr>
            <a:xfrm>
              <a:off x="1333500" y="1809750"/>
              <a:ext cx="5366004" cy="4391406"/>
              <a:chOff x="1333500" y="1809750"/>
              <a:chExt cx="5366004" cy="4391406"/>
            </a:xfrm>
          </p:grpSpPr>
          <p:sp>
            <p:nvSpPr>
              <p:cNvPr id="7" name="Line 7"/>
              <p:cNvSpPr/>
              <p:nvPr/>
            </p:nvSpPr>
            <p:spPr>
              <a:xfrm>
                <a:off x="1333500" y="1809750"/>
                <a:ext cx="9525" cy="3810000"/>
              </a:xfrm>
              <a:custGeom>
                <a:avLst/>
                <a:gdLst/>
                <a:ahLst/>
                <a:cxnLst/>
                <a:rect l="l" t="t" r="r" b="b"/>
                <a:pathLst>
                  <a:path w="9525" h="3810000">
                    <a:moveTo>
                      <a:pt x="0" y="0"/>
                    </a:moveTo>
                    <a:lnTo>
                      <a:pt x="0" y="3810000"/>
                    </a:lnTo>
                  </a:path>
                </a:pathLst>
              </a:custGeom>
              <a:noFill/>
              <a:ln w="14288">
                <a:solidFill>
                  <a:srgbClr val="DDDBD6"/>
                </a:solidFill>
              </a:ln>
            </p:spPr>
          </p:sp>
          <p:sp>
            <p:nvSpPr>
              <p:cNvPr id="8" name="Line 8"/>
              <p:cNvSpPr/>
              <p:nvPr/>
            </p:nvSpPr>
            <p:spPr>
              <a:xfrm>
                <a:off x="1333500" y="5619750"/>
                <a:ext cx="5334000" cy="9525"/>
              </a:xfrm>
              <a:custGeom>
                <a:avLst/>
                <a:gdLst/>
                <a:ahLst/>
                <a:cxnLst/>
                <a:rect l="l" t="t" r="r" b="b"/>
                <a:pathLst>
                  <a:path w="5334000" h="9525">
                    <a:moveTo>
                      <a:pt x="0" y="0"/>
                    </a:moveTo>
                    <a:lnTo>
                      <a:pt x="5334000" y="0"/>
                    </a:lnTo>
                  </a:path>
                </a:pathLst>
              </a:custGeom>
              <a:noFill/>
              <a:ln w="14288">
                <a:solidFill>
                  <a:srgbClr val="DDDBD6"/>
                </a:solidFill>
              </a:ln>
            </p:spPr>
          </p:sp>
          <p:grpSp>
            <p:nvGrpSpPr>
              <p:cNvPr id="15" name="Group 15"/>
              <p:cNvGrpSpPr/>
              <p:nvPr/>
            </p:nvGrpSpPr>
            <p:grpSpPr>
              <a:xfrm>
                <a:off x="1860575" y="1809750"/>
                <a:ext cx="1231849" cy="4391406"/>
                <a:chOff x="1860575" y="1809750"/>
                <a:chExt cx="1231849" cy="4391406"/>
              </a:xfrm>
            </p:grpSpPr>
            <p:sp>
              <p:nvSpPr>
                <p:cNvPr id="9" name="Rectangle 9"/>
                <p:cNvSpPr/>
                <p:nvPr/>
              </p:nvSpPr>
              <p:spPr>
                <a:xfrm>
                  <a:off x="1905000" y="3905250"/>
                  <a:ext cx="1143000" cy="1714500"/>
                </a:xfrm>
                <a:prstGeom prst="rect">
                  <a:avLst/>
                </a:prstGeom>
                <a:solidFill>
                  <a:srgbClr val="C7000A"/>
                </a:solidFill>
                <a:ln>
                  <a:noFill/>
                </a:ln>
              </p:spPr>
            </p:sp>
            <p:sp>
              <p:nvSpPr>
                <p:cNvPr id="10" name="Rectangle 10"/>
                <p:cNvSpPr/>
                <p:nvPr/>
              </p:nvSpPr>
              <p:spPr>
                <a:xfrm>
                  <a:off x="1905000" y="1809750"/>
                  <a:ext cx="1143000" cy="2095500"/>
                </a:xfrm>
                <a:prstGeom prst="rect">
                  <a:avLst/>
                </a:prstGeom>
                <a:solidFill>
                  <a:srgbClr val="F7F6F3"/>
                </a:solidFill>
                <a:ln w="9525">
                  <a:solidFill>
                    <a:srgbClr val="DDDBD6"/>
                  </a:solidFill>
                </a:ln>
              </p:spPr>
            </p:sp>
            <p:sp>
              <p:nvSpPr>
                <p:cNvPr id="11" name="TextBox 11"/>
                <p:cNvSpPr txBox="1"/>
                <p:nvPr/>
              </p:nvSpPr>
              <p:spPr>
                <a:xfrm>
                  <a:off x="2293130" y="3711892"/>
                  <a:ext cx="366740"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Arial"/>
                      <a:ea typeface="Arial"/>
                      <a:cs typeface="Arial"/>
                    </a:rPr>
                    <a:t>55%</a:t>
                  </a:r>
                </a:p>
              </p:txBody>
            </p:sp>
            <p:sp>
              <p:nvSpPr>
                <p:cNvPr id="12" name="TextBox 12"/>
                <p:cNvSpPr txBox="1"/>
                <p:nvPr/>
              </p:nvSpPr>
              <p:spPr>
                <a:xfrm>
                  <a:off x="2320976" y="2585085"/>
                  <a:ext cx="311048" cy="234696"/>
                </a:xfrm>
                <a:prstGeom prst="rect">
                  <a:avLst/>
                </a:prstGeom>
                <a:noFill/>
                <a:ln>
                  <a:noFill/>
                </a:ln>
              </p:spPr>
              <p:txBody>
                <a:bodyPr wrap="none" lIns="0" tIns="0" rIns="0" bIns="0" anchor="t" anchorCtr="0">
                  <a:spAutoFit/>
                </a:bodyPr>
                <a:lstStyle/>
                <a:p>
                  <a:pPr algn="ctr"/>
                  <a:r>
                    <a:rPr lang="en-US" sz="1200" dirty="0">
                      <a:solidFill>
                        <a:srgbClr val="5A5852"/>
                      </a:solidFill>
                      <a:latin typeface="Arial"/>
                      <a:ea typeface="Arial"/>
                      <a:cs typeface="Arial"/>
                    </a:rPr>
                    <a:t>45%</a:t>
                  </a:r>
                </a:p>
              </p:txBody>
            </p:sp>
            <p:sp>
              <p:nvSpPr>
                <p:cNvPr id="13" name="TextBox 13"/>
                <p:cNvSpPr txBox="1"/>
                <p:nvPr/>
              </p:nvSpPr>
              <p:spPr>
                <a:xfrm>
                  <a:off x="2338586" y="5740718"/>
                  <a:ext cx="275829" cy="264033"/>
                </a:xfrm>
                <a:prstGeom prst="rect">
                  <a:avLst/>
                </a:prstGeom>
                <a:noFill/>
                <a:ln>
                  <a:noFill/>
                </a:ln>
              </p:spPr>
              <p:txBody>
                <a:bodyPr wrap="none" lIns="0" tIns="0" rIns="0" bIns="0" anchor="t" anchorCtr="0">
                  <a:spAutoFit/>
                </a:bodyPr>
                <a:lstStyle/>
                <a:p>
                  <a:pPr algn="ctr"/>
                  <a:r>
                    <a:rPr lang="en-US" sz="1350" b="1" dirty="0">
                      <a:solidFill>
                        <a:srgbClr val="1D1D1A"/>
                      </a:solidFill>
                      <a:latin typeface="Arial"/>
                      <a:ea typeface="Arial"/>
                      <a:cs typeface="Arial"/>
                    </a:rPr>
                    <a:t>OB</a:t>
                  </a:r>
                </a:p>
              </p:txBody>
            </p:sp>
            <p:sp>
              <p:nvSpPr>
                <p:cNvPr id="14" name="TextBox 14"/>
                <p:cNvSpPr txBox="1"/>
                <p:nvPr/>
              </p:nvSpPr>
              <p:spPr>
                <a:xfrm>
                  <a:off x="1860575" y="5966460"/>
                  <a:ext cx="1231849" cy="234696"/>
                </a:xfrm>
                <a:prstGeom prst="rect">
                  <a:avLst/>
                </a:prstGeom>
                <a:noFill/>
                <a:ln>
                  <a:noFill/>
                </a:ln>
              </p:spPr>
              <p:txBody>
                <a:bodyPr wrap="none" lIns="0" tIns="0" rIns="0" bIns="0" anchor="t" anchorCtr="0">
                  <a:spAutoFit/>
                </a:bodyPr>
                <a:lstStyle/>
                <a:p>
                  <a:pPr algn="ctr"/>
                  <a:r>
                    <a:rPr lang="zh-CN" sz="1200" dirty="0">
                      <a:solidFill>
                        <a:srgbClr val="5A5852"/>
                      </a:solidFill>
                      <a:latin typeface="Arial"/>
                      <a:ea typeface="Microsoft YaHei"/>
                      <a:cs typeface="Arial"/>
                    </a:rPr>
                    <a:t>大企业/跨国主导</a:t>
                  </a:r>
                </a:p>
              </p:txBody>
            </p:sp>
          </p:grpSp>
          <p:grpSp>
            <p:nvGrpSpPr>
              <p:cNvPr id="22" name="Group 22"/>
              <p:cNvGrpSpPr/>
              <p:nvPr/>
            </p:nvGrpSpPr>
            <p:grpSpPr>
              <a:xfrm>
                <a:off x="3508781" y="1809750"/>
                <a:ext cx="1554937" cy="4391406"/>
                <a:chOff x="3508781" y="1809750"/>
                <a:chExt cx="1554937" cy="4391406"/>
              </a:xfrm>
            </p:grpSpPr>
            <p:sp>
              <p:nvSpPr>
                <p:cNvPr id="16" name="Rectangle 16"/>
                <p:cNvSpPr/>
                <p:nvPr/>
              </p:nvSpPr>
              <p:spPr>
                <a:xfrm>
                  <a:off x="3714750" y="2952750"/>
                  <a:ext cx="1143000" cy="2667000"/>
                </a:xfrm>
                <a:prstGeom prst="rect">
                  <a:avLst/>
                </a:prstGeom>
                <a:solidFill>
                  <a:srgbClr val="E9002F"/>
                </a:solidFill>
                <a:ln>
                  <a:noFill/>
                </a:ln>
              </p:spPr>
            </p:sp>
            <p:sp>
              <p:nvSpPr>
                <p:cNvPr id="17" name="Rectangle 17"/>
                <p:cNvSpPr/>
                <p:nvPr/>
              </p:nvSpPr>
              <p:spPr>
                <a:xfrm>
                  <a:off x="3714750" y="1809750"/>
                  <a:ext cx="1143000" cy="1143000"/>
                </a:xfrm>
                <a:prstGeom prst="rect">
                  <a:avLst/>
                </a:prstGeom>
                <a:solidFill>
                  <a:srgbClr val="F7F6F3"/>
                </a:solidFill>
                <a:ln w="9525">
                  <a:solidFill>
                    <a:srgbClr val="DDDBD6"/>
                  </a:solidFill>
                </a:ln>
              </p:spPr>
            </p:sp>
            <p:sp>
              <p:nvSpPr>
                <p:cNvPr id="18" name="TextBox 18"/>
                <p:cNvSpPr txBox="1"/>
                <p:nvPr/>
              </p:nvSpPr>
              <p:spPr>
                <a:xfrm>
                  <a:off x="4102880" y="2759392"/>
                  <a:ext cx="366740"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Arial"/>
                      <a:ea typeface="Arial"/>
                      <a:cs typeface="Arial"/>
                    </a:rPr>
                    <a:t>70%</a:t>
                  </a:r>
                </a:p>
              </p:txBody>
            </p:sp>
            <p:sp>
              <p:nvSpPr>
                <p:cNvPr id="19" name="TextBox 19"/>
                <p:cNvSpPr txBox="1"/>
                <p:nvPr/>
              </p:nvSpPr>
              <p:spPr>
                <a:xfrm>
                  <a:off x="4130726" y="2299335"/>
                  <a:ext cx="311048" cy="234696"/>
                </a:xfrm>
                <a:prstGeom prst="rect">
                  <a:avLst/>
                </a:prstGeom>
                <a:noFill/>
                <a:ln>
                  <a:noFill/>
                </a:ln>
              </p:spPr>
              <p:txBody>
                <a:bodyPr wrap="none" lIns="0" tIns="0" rIns="0" bIns="0" anchor="t" anchorCtr="0">
                  <a:spAutoFit/>
                </a:bodyPr>
                <a:lstStyle/>
                <a:p>
                  <a:pPr algn="ctr"/>
                  <a:r>
                    <a:rPr lang="en-US" sz="1200" dirty="0">
                      <a:solidFill>
                        <a:srgbClr val="5A5852"/>
                      </a:solidFill>
                      <a:latin typeface="Arial"/>
                      <a:ea typeface="Arial"/>
                      <a:cs typeface="Arial"/>
                    </a:rPr>
                    <a:t>30%</a:t>
                  </a:r>
                </a:p>
              </p:txBody>
            </p:sp>
            <p:sp>
              <p:nvSpPr>
                <p:cNvPr id="20" name="TextBox 20"/>
                <p:cNvSpPr txBox="1"/>
                <p:nvPr/>
              </p:nvSpPr>
              <p:spPr>
                <a:xfrm>
                  <a:off x="4092889" y="5740718"/>
                  <a:ext cx="386723" cy="264033"/>
                </a:xfrm>
                <a:prstGeom prst="rect">
                  <a:avLst/>
                </a:prstGeom>
                <a:noFill/>
                <a:ln>
                  <a:noFill/>
                </a:ln>
              </p:spPr>
              <p:txBody>
                <a:bodyPr wrap="none" lIns="0" tIns="0" rIns="0" bIns="0" anchor="t" anchorCtr="0">
                  <a:spAutoFit/>
                </a:bodyPr>
                <a:lstStyle/>
                <a:p>
                  <a:pPr algn="ctr"/>
                  <a:r>
                    <a:rPr lang="en-US" sz="1350" b="1" dirty="0">
                      <a:solidFill>
                        <a:srgbClr val="1D1D1A"/>
                      </a:solidFill>
                      <a:latin typeface="Arial"/>
                      <a:ea typeface="Arial"/>
                      <a:cs typeface="Arial"/>
                    </a:rPr>
                    <a:t>OEU</a:t>
                  </a:r>
                </a:p>
              </p:txBody>
            </p:sp>
            <p:sp>
              <p:nvSpPr>
                <p:cNvPr id="21" name="TextBox 21"/>
                <p:cNvSpPr txBox="1"/>
                <p:nvPr/>
              </p:nvSpPr>
              <p:spPr>
                <a:xfrm>
                  <a:off x="3508781" y="5966460"/>
                  <a:ext cx="1554937" cy="234696"/>
                </a:xfrm>
                <a:prstGeom prst="rect">
                  <a:avLst/>
                </a:prstGeom>
                <a:noFill/>
                <a:ln>
                  <a:noFill/>
                </a:ln>
              </p:spPr>
              <p:txBody>
                <a:bodyPr wrap="none" lIns="0" tIns="0" rIns="0" bIns="0" anchor="t" anchorCtr="0">
                  <a:spAutoFit/>
                </a:bodyPr>
                <a:lstStyle/>
                <a:p>
                  <a:pPr algn="ctr"/>
                  <a:r>
                    <a:rPr lang="zh-CN" sz="1200" dirty="0">
                      <a:solidFill>
                        <a:srgbClr val="5A5852"/>
                      </a:solidFill>
                      <a:latin typeface="Arial"/>
                      <a:ea typeface="Microsoft YaHei"/>
                      <a:cs typeface="Arial"/>
                    </a:rPr>
                    <a:t>大企业+公共部门主导</a:t>
                  </a:r>
                </a:p>
              </p:txBody>
            </p:sp>
          </p:grpSp>
          <p:grpSp>
            <p:nvGrpSpPr>
              <p:cNvPr id="29" name="Group 29"/>
              <p:cNvGrpSpPr/>
              <p:nvPr/>
            </p:nvGrpSpPr>
            <p:grpSpPr>
              <a:xfrm>
                <a:off x="5492496" y="1809750"/>
                <a:ext cx="1207008" cy="4391406"/>
                <a:chOff x="5492496" y="1809750"/>
                <a:chExt cx="1207008" cy="4391406"/>
              </a:xfrm>
            </p:grpSpPr>
            <p:sp>
              <p:nvSpPr>
                <p:cNvPr id="23" name="Rectangle 23"/>
                <p:cNvSpPr/>
                <p:nvPr/>
              </p:nvSpPr>
              <p:spPr>
                <a:xfrm>
                  <a:off x="5524500" y="4476750"/>
                  <a:ext cx="1143000" cy="1143000"/>
                </a:xfrm>
                <a:prstGeom prst="rect">
                  <a:avLst/>
                </a:prstGeom>
                <a:solidFill>
                  <a:srgbClr val="F4A100"/>
                </a:solidFill>
                <a:ln>
                  <a:noFill/>
                </a:ln>
              </p:spPr>
            </p:sp>
            <p:sp>
              <p:nvSpPr>
                <p:cNvPr id="24" name="Rectangle 24"/>
                <p:cNvSpPr/>
                <p:nvPr/>
              </p:nvSpPr>
              <p:spPr>
                <a:xfrm>
                  <a:off x="5524500" y="1809750"/>
                  <a:ext cx="1143000" cy="2667000"/>
                </a:xfrm>
                <a:prstGeom prst="rect">
                  <a:avLst/>
                </a:prstGeom>
                <a:solidFill>
                  <a:srgbClr val="F7F6F3"/>
                </a:solidFill>
                <a:ln w="9525">
                  <a:solidFill>
                    <a:srgbClr val="DDDBD6"/>
                  </a:solidFill>
                </a:ln>
              </p:spPr>
            </p:sp>
            <p:sp>
              <p:nvSpPr>
                <p:cNvPr id="25" name="TextBox 25"/>
                <p:cNvSpPr txBox="1"/>
                <p:nvPr/>
              </p:nvSpPr>
              <p:spPr>
                <a:xfrm>
                  <a:off x="5912630" y="4283392"/>
                  <a:ext cx="366740" cy="264033"/>
                </a:xfrm>
                <a:prstGeom prst="rect">
                  <a:avLst/>
                </a:prstGeom>
                <a:noFill/>
                <a:ln>
                  <a:noFill/>
                </a:ln>
              </p:spPr>
              <p:txBody>
                <a:bodyPr wrap="none" lIns="0" tIns="0" rIns="0" bIns="0" anchor="t" anchorCtr="0">
                  <a:spAutoFit/>
                </a:bodyPr>
                <a:lstStyle/>
                <a:p>
                  <a:pPr algn="ctr"/>
                  <a:r>
                    <a:rPr lang="en-US" sz="1350" b="1" dirty="0">
                      <a:solidFill>
                        <a:srgbClr val="1D1D1A"/>
                      </a:solidFill>
                      <a:latin typeface="Arial"/>
                      <a:ea typeface="Arial"/>
                      <a:cs typeface="Arial"/>
                    </a:rPr>
                    <a:t>30%</a:t>
                  </a:r>
                </a:p>
              </p:txBody>
            </p:sp>
            <p:sp>
              <p:nvSpPr>
                <p:cNvPr id="26" name="TextBox 26"/>
                <p:cNvSpPr txBox="1"/>
                <p:nvPr/>
              </p:nvSpPr>
              <p:spPr>
                <a:xfrm>
                  <a:off x="5940476" y="3061335"/>
                  <a:ext cx="311048" cy="234696"/>
                </a:xfrm>
                <a:prstGeom prst="rect">
                  <a:avLst/>
                </a:prstGeom>
                <a:noFill/>
                <a:ln>
                  <a:noFill/>
                </a:ln>
              </p:spPr>
              <p:txBody>
                <a:bodyPr wrap="none" lIns="0" tIns="0" rIns="0" bIns="0" anchor="t" anchorCtr="0">
                  <a:spAutoFit/>
                </a:bodyPr>
                <a:lstStyle/>
                <a:p>
                  <a:pPr algn="ctr"/>
                  <a:r>
                    <a:rPr lang="en-US" sz="1200" dirty="0">
                      <a:solidFill>
                        <a:srgbClr val="5A5852"/>
                      </a:solidFill>
                      <a:latin typeface="Arial"/>
                      <a:ea typeface="Arial"/>
                      <a:cs typeface="Arial"/>
                    </a:rPr>
                    <a:t>70%</a:t>
                  </a:r>
                </a:p>
              </p:txBody>
            </p:sp>
            <p:sp>
              <p:nvSpPr>
                <p:cNvPr id="27" name="TextBox 27"/>
                <p:cNvSpPr txBox="1"/>
                <p:nvPr/>
              </p:nvSpPr>
              <p:spPr>
                <a:xfrm>
                  <a:off x="5827029" y="5740718"/>
                  <a:ext cx="537942" cy="264033"/>
                </a:xfrm>
                <a:prstGeom prst="rect">
                  <a:avLst/>
                </a:prstGeom>
                <a:noFill/>
                <a:ln>
                  <a:noFill/>
                </a:ln>
              </p:spPr>
              <p:txBody>
                <a:bodyPr wrap="none" lIns="0" tIns="0" rIns="0" bIns="0" anchor="t" anchorCtr="0">
                  <a:spAutoFit/>
                </a:bodyPr>
                <a:lstStyle/>
                <a:p>
                  <a:pPr algn="ctr"/>
                  <a:r>
                    <a:rPr lang="en-US" sz="1350" b="1" dirty="0">
                      <a:solidFill>
                        <a:srgbClr val="1D1D1A"/>
                      </a:solidFill>
                      <a:latin typeface="Arial"/>
                      <a:ea typeface="Arial"/>
                      <a:cs typeface="Arial"/>
                    </a:rPr>
                    <a:t>OMEA</a:t>
                  </a:r>
                </a:p>
              </p:txBody>
            </p:sp>
            <p:sp>
              <p:nvSpPr>
                <p:cNvPr id="28" name="TextBox 28"/>
                <p:cNvSpPr txBox="1"/>
                <p:nvPr/>
              </p:nvSpPr>
              <p:spPr>
                <a:xfrm>
                  <a:off x="5492496" y="5966460"/>
                  <a:ext cx="1207008" cy="234696"/>
                </a:xfrm>
                <a:prstGeom prst="rect">
                  <a:avLst/>
                </a:prstGeom>
                <a:noFill/>
                <a:ln>
                  <a:noFill/>
                </a:ln>
              </p:spPr>
              <p:txBody>
                <a:bodyPr wrap="none" lIns="0" tIns="0" rIns="0" bIns="0" anchor="t" anchorCtr="0">
                  <a:spAutoFit/>
                </a:bodyPr>
                <a:lstStyle/>
                <a:p>
                  <a:pPr algn="ctr"/>
                  <a:r>
                    <a:rPr lang="zh-CN" sz="1200" dirty="0">
                      <a:solidFill>
                        <a:srgbClr val="5A5852"/>
                      </a:solidFill>
                      <a:latin typeface="Arial"/>
                      <a:ea typeface="Microsoft YaHei"/>
                      <a:cs typeface="Arial"/>
                    </a:rPr>
                    <a:t>SOHO/SME占比</a:t>
                  </a:r>
                </a:p>
              </p:txBody>
            </p:sp>
          </p:grpSp>
        </p:grpSp>
      </p:grpSp>
      <p:grpSp>
        <p:nvGrpSpPr>
          <p:cNvPr id="37" name="Group 37"/>
          <p:cNvGrpSpPr/>
          <p:nvPr/>
        </p:nvGrpSpPr>
        <p:grpSpPr>
          <a:xfrm>
            <a:off x="7620000" y="1143000"/>
            <a:ext cx="3810000" cy="4762500"/>
            <a:chOff x="7620000" y="1143000"/>
            <a:chExt cx="3810000" cy="4762500"/>
          </a:xfrm>
        </p:grpSpPr>
        <p:sp>
          <p:nvSpPr>
            <p:cNvPr id="32" name="Rectangle 32"/>
            <p:cNvSpPr/>
            <p:nvPr/>
          </p:nvSpPr>
          <p:spPr>
            <a:xfrm>
              <a:off x="7620000" y="1143000"/>
              <a:ext cx="3810000" cy="4762500"/>
            </a:xfrm>
            <a:prstGeom prst="roundRect">
              <a:avLst>
                <a:gd name="adj" fmla="val 2000"/>
              </a:avLst>
            </a:prstGeom>
            <a:solidFill>
              <a:srgbClr val="F7F6F3"/>
            </a:solidFill>
            <a:ln>
              <a:noFill/>
            </a:ln>
          </p:spPr>
        </p:sp>
        <p:sp>
          <p:nvSpPr>
            <p:cNvPr id="33" name="TextBox 33"/>
            <p:cNvSpPr txBox="1"/>
            <p:nvPr/>
          </p:nvSpPr>
          <p:spPr>
            <a:xfrm>
              <a:off x="7879080" y="1314450"/>
              <a:ext cx="863346" cy="293370"/>
            </a:xfrm>
            <a:prstGeom prst="rect">
              <a:avLst/>
            </a:prstGeom>
            <a:noFill/>
            <a:ln>
              <a:noFill/>
            </a:ln>
          </p:spPr>
          <p:txBody>
            <a:bodyPr wrap="none" lIns="0" tIns="0" rIns="0" bIns="0" anchor="t" anchorCtr="0">
              <a:spAutoFit/>
            </a:bodyPr>
            <a:lstStyle/>
            <a:p>
              <a:pPr algn="l"/>
              <a:r>
                <a:rPr lang="zh-CN" sz="1500" b="1" dirty="0">
                  <a:solidFill>
                    <a:srgbClr val="1D1D1A"/>
                  </a:solidFill>
                  <a:latin typeface="Arial"/>
                  <a:ea typeface="Microsoft YaHei"/>
                  <a:cs typeface="Arial"/>
                </a:rPr>
                <a:t>核心结论</a:t>
              </a:r>
            </a:p>
          </p:txBody>
        </p:sp>
        <p:sp>
          <p:nvSpPr>
            <p:cNvPr id="34" name="TextBox 34"/>
            <p:cNvSpPr txBox="1"/>
            <p:nvPr/>
          </p:nvSpPr>
          <p:spPr>
            <a:xfrm>
              <a:off x="7879842" y="1616392"/>
              <a:ext cx="2112693" cy="1254633"/>
            </a:xfrm>
            <a:prstGeom prst="rect">
              <a:avLst/>
            </a:prstGeom>
            <a:noFill/>
            <a:ln>
              <a:noFill/>
            </a:ln>
          </p:spPr>
          <p:txBody>
            <a:bodyPr wrap="square" lIns="0" tIns="0" rIns="0" bIns="0" anchor="t" anchorCtr="0"/>
            <a:lstStyle/>
            <a:p>
              <a:pPr algn="l">
                <a:lnSpc>
                  <a:spcPts val="1950"/>
                </a:lnSpc>
              </a:pPr>
              <a:r>
                <a:rPr lang="zh-CN" sz="1350" dirty="0">
                  <a:solidFill>
                    <a:srgbClr val="1D1D1A"/>
                  </a:solidFill>
                  <a:latin typeface="Arial"/>
                  <a:ea typeface="Microsoft YaHei"/>
                  <a:cs typeface="Arial"/>
                </a:rPr>
                <a:t>OMEA客户数量增长，但单</a:t>
              </a:r>
              <a:r>
                <a:rPr lang="zh-CN" sz="1350" dirty="0">
                  <a:solidFill>
                    <a:srgbClr val="1D1D1A"/>
                  </a:solidFill>
                  <a:latin typeface="Arial"/>
                  <a:ea typeface="Microsoft YaHei"/>
                  <a:cs typeface="Arial"/>
                </a:rPr>
                <a:t>户价值（ARPA）</a:t>
              </a:r>
              <a:r>
                <a:rPr lang="zh-CN" sz="1350" b="1" dirty="0">
                  <a:solidFill>
                    <a:srgbClr val="C7000A"/>
                  </a:solidFill>
                  <a:latin typeface="Arial"/>
                  <a:ea typeface="Microsoft YaHei"/>
                  <a:cs typeface="Arial"/>
                </a:rPr>
                <a:t>下滑19%</a:t>
              </a:r>
              <a:r>
                <a:rPr lang="zh-CN" sz="1350" dirty="0">
                  <a:solidFill>
                    <a:srgbClr val="1D1D1A"/>
                  </a:solidFill>
                  <a:latin typeface="Arial"/>
                  <a:ea typeface="Microsoft YaHei"/>
                  <a:cs typeface="Arial"/>
                </a:rPr>
                <a:t>，</a:t>
              </a:r>
              <a:r>
                <a:rPr lang="zh-CN" sz="1350" dirty="0">
                  <a:solidFill>
                    <a:srgbClr val="1D1D1A"/>
                  </a:solidFill>
                  <a:latin typeface="Arial"/>
                  <a:ea typeface="Microsoft YaHei"/>
                  <a:cs typeface="Arial"/>
                </a:rPr>
                <a:t>是三区域中唯一呈现"增</a:t>
              </a:r>
              <a:r>
                <a:rPr lang="zh-CN" sz="1350" dirty="0">
                  <a:solidFill>
                    <a:srgbClr val="1D1D1A"/>
                  </a:solidFill>
                  <a:latin typeface="Arial"/>
                  <a:ea typeface="Microsoft YaHei"/>
                  <a:cs typeface="Arial"/>
                </a:rPr>
                <a:t>量不增值"结构性矛盾的</a:t>
              </a:r>
              <a:r>
                <a:rPr lang="zh-CN" sz="1350" dirty="0">
                  <a:solidFill>
                    <a:srgbClr val="1D1D1A"/>
                  </a:solidFill>
                  <a:latin typeface="Arial"/>
                  <a:ea typeface="Microsoft YaHei"/>
                  <a:cs typeface="Arial"/>
                </a:rPr>
                <a:t>市场。</a:t>
              </a:r>
            </a:p>
          </p:txBody>
        </p:sp>
        <p:sp>
          <p:nvSpPr>
            <p:cNvPr id="35" name="Line 35"/>
            <p:cNvSpPr/>
            <p:nvPr/>
          </p:nvSpPr>
          <p:spPr>
            <a:xfrm>
              <a:off x="7886700" y="3143250"/>
              <a:ext cx="3276600" cy="9525"/>
            </a:xfrm>
            <a:custGeom>
              <a:avLst/>
              <a:gdLst/>
              <a:ahLst/>
              <a:cxnLst/>
              <a:rect l="l" t="t" r="r" b="b"/>
              <a:pathLst>
                <a:path w="3276600" h="9525">
                  <a:moveTo>
                    <a:pt x="0" y="0"/>
                  </a:moveTo>
                  <a:lnTo>
                    <a:pt x="3276600" y="0"/>
                  </a:lnTo>
                </a:path>
              </a:pathLst>
            </a:custGeom>
            <a:noFill/>
            <a:ln w="9525">
              <a:solidFill>
                <a:srgbClr val="DDDBD6"/>
              </a:solidFill>
            </a:ln>
          </p:spPr>
        </p:sp>
        <p:sp>
          <p:nvSpPr>
            <p:cNvPr id="36" name="TextBox 36"/>
            <p:cNvSpPr txBox="1"/>
            <p:nvPr/>
          </p:nvSpPr>
          <p:spPr>
            <a:xfrm>
              <a:off x="7880604" y="3299460"/>
              <a:ext cx="1780032" cy="1796796"/>
            </a:xfrm>
            <a:prstGeom prst="rect">
              <a:avLst/>
            </a:prstGeom>
            <a:noFill/>
            <a:ln>
              <a:noFill/>
            </a:ln>
          </p:spPr>
          <p:txBody>
            <a:bodyPr wrap="square" lIns="0" tIns="0" rIns="0" bIns="0" anchor="t" anchorCtr="0"/>
            <a:lstStyle/>
            <a:p>
              <a:pPr algn="l">
                <a:lnSpc>
                  <a:spcPts val="1800"/>
                </a:lnSpc>
              </a:pPr>
              <a:r>
                <a:rPr lang="zh-CN" sz="1200" dirty="0">
                  <a:solidFill>
                    <a:srgbClr val="5A5852"/>
                  </a:solidFill>
                  <a:latin typeface="Arial"/>
                  <a:ea typeface="Microsoft YaHei"/>
                  <a:cs typeface="Arial"/>
                </a:rPr>
                <a:t>OB · 法国+全球200+国家</a:t>
              </a:r>
              <a:r>
                <a:rPr lang="zh-CN" sz="1200" dirty="0">
                  <a:solidFill>
                    <a:srgbClr val="5A5852"/>
                  </a:solidFill>
                  <a:latin typeface="Arial"/>
                  <a:ea typeface="Microsoft YaHei"/>
                  <a:cs typeface="Arial"/>
                </a:rPr>
                <a:t>跨国客户覆盖</a:t>
              </a:r>
            </a:p>
            <a:p>
              <a:pPr algn="l">
                <a:lnSpc>
                  <a:spcPts val="1800"/>
                </a:lnSpc>
                <a:spcBef>
                  <a:spcPts val="750"/>
                </a:spcBef>
              </a:pPr>
              <a:r>
                <a:rPr lang="zh-CN" sz="1200" dirty="0">
                  <a:solidFill>
                    <a:srgbClr val="5A5852"/>
                  </a:solidFill>
                  <a:latin typeface="Arial"/>
                  <a:ea typeface="Microsoft YaHei"/>
                  <a:cs typeface="Arial"/>
                </a:rPr>
                <a:t>OEU · 波兰ICT占B2B36%</a:t>
              </a:r>
              <a:r>
                <a:rPr lang="zh-CN" sz="1200" dirty="0">
                  <a:solidFill>
                    <a:srgbClr val="5A5852"/>
                  </a:solidFill>
                  <a:latin typeface="Arial"/>
                  <a:ea typeface="Microsoft YaHei"/>
                  <a:cs typeface="Arial"/>
                </a:rPr>
                <a:t xml:space="preserve">（实证）；罗马尼亚B2B </a:t>
              </a:r>
              <a:r>
                <a:rPr lang="zh-CN" sz="1200" dirty="0">
                  <a:solidFill>
                    <a:srgbClr val="5A5852"/>
                  </a:solidFill>
                  <a:latin typeface="Arial"/>
                  <a:ea typeface="Microsoft YaHei"/>
                  <a:cs typeface="Arial"/>
                </a:rPr>
                <a:t>+14%增速跑赢集团均值</a:t>
              </a:r>
            </a:p>
            <a:p>
              <a:pPr algn="l">
                <a:lnSpc>
                  <a:spcPts val="1800"/>
                </a:lnSpc>
                <a:spcBef>
                  <a:spcPts val="750"/>
                </a:spcBef>
              </a:pPr>
              <a:r>
                <a:rPr lang="zh-CN" sz="1200" dirty="0">
                  <a:solidFill>
                    <a:srgbClr val="5A5852"/>
                  </a:solidFill>
                  <a:latin typeface="Arial"/>
                  <a:ea typeface="Microsoft YaHei"/>
                  <a:cs typeface="Arial"/>
                </a:rPr>
                <a:t>OMEA · SOHO/SME占30%</a:t>
              </a:r>
              <a:r>
                <a:rPr lang="zh-CN" sz="1200" dirty="0">
                  <a:solidFill>
                    <a:srgbClr val="5A5852"/>
                  </a:solidFill>
                  <a:latin typeface="Arial"/>
                  <a:ea typeface="Microsoft YaHei"/>
                  <a:cs typeface="Arial"/>
                </a:rPr>
                <a:t>但ARPA承压-19%</a:t>
              </a:r>
            </a:p>
          </p:txBody>
        </p:sp>
      </p:grpSp>
      <p:grpSp>
        <p:nvGrpSpPr>
          <p:cNvPr id="40" name="Group 40"/>
          <p:cNvGrpSpPr/>
          <p:nvPr/>
        </p:nvGrpSpPr>
        <p:grpSpPr>
          <a:xfrm>
            <a:off x="755904" y="6595110"/>
            <a:ext cx="10680192" cy="234696"/>
            <a:chOff x="755904" y="6595110"/>
            <a:chExt cx="10680192" cy="234696"/>
          </a:xfrm>
        </p:grpSpPr>
        <p:sp>
          <p:nvSpPr>
            <p:cNvPr id="38" name="TextBox 38"/>
            <p:cNvSpPr txBox="1"/>
            <p:nvPr/>
          </p:nvSpPr>
          <p:spPr>
            <a:xfrm>
              <a:off x="755904" y="6595110"/>
              <a:ext cx="5302225" cy="234696"/>
            </a:xfrm>
            <a:prstGeom prst="rect">
              <a:avLst/>
            </a:prstGeom>
            <a:noFill/>
            <a:ln>
              <a:noFill/>
            </a:ln>
          </p:spPr>
          <p:txBody>
            <a:bodyPr wrap="none" lIns="0" tIns="0" rIns="0" bIns="0" anchor="t" anchorCtr="0">
              <a:spAutoFit/>
            </a:bodyPr>
            <a:lstStyle/>
            <a:p>
              <a:pPr algn="l"/>
              <a:r>
                <a:rPr lang="zh-CN" sz="1200" dirty="0">
                  <a:solidFill>
                    <a:srgbClr val="8A8880"/>
                  </a:solidFill>
                  <a:latin typeface="Arial"/>
                  <a:ea typeface="Microsoft YaHei"/>
                  <a:cs typeface="Arial"/>
                </a:rPr>
                <a:t>数据来源：Orange FY2025财报、OMEA战略材料；估算项已标注（估）</a:t>
              </a:r>
            </a:p>
          </p:txBody>
        </p:sp>
        <p:sp>
          <p:nvSpPr>
            <p:cNvPr id="39" name="TextBox 39"/>
            <p:cNvSpPr txBox="1"/>
            <p:nvPr/>
          </p:nvSpPr>
          <p:spPr>
            <a:xfrm>
              <a:off x="9530080" y="6595110"/>
              <a:ext cx="1906016" cy="234696"/>
            </a:xfrm>
            <a:prstGeom prst="rect">
              <a:avLst/>
            </a:prstGeom>
            <a:noFill/>
            <a:ln>
              <a:noFill/>
            </a:ln>
          </p:spPr>
          <p:txBody>
            <a:bodyPr wrap="none" lIns="0" tIns="0" rIns="0" bIns="0" anchor="t" anchorCtr="0">
              <a:spAutoFit/>
            </a:bodyPr>
            <a:lstStyle/>
            <a:p>
              <a:pPr algn="r"/>
              <a:r>
                <a:rPr lang="en-US" sz="1200" dirty="0">
                  <a:solidFill>
                    <a:srgbClr val="8A8880"/>
                  </a:solidFill>
                  <a:latin typeface="Arial"/>
                  <a:ea typeface="Arial"/>
                  <a:cs typeface="Arial"/>
                </a:rPr>
                <a:t>03 · Huawei Confidential</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745998" y="212408"/>
            <a:ext cx="10684002" cy="616077"/>
            <a:chOff x="745998" y="212408"/>
            <a:chExt cx="10684002" cy="616077"/>
          </a:xfrm>
        </p:grpSpPr>
        <p:sp>
          <p:nvSpPr>
            <p:cNvPr id="3" name="TextBox 3"/>
            <p:cNvSpPr txBox="1"/>
            <p:nvPr/>
          </p:nvSpPr>
          <p:spPr>
            <a:xfrm>
              <a:off x="745998" y="212408"/>
              <a:ext cx="10317410" cy="616077"/>
            </a:xfrm>
            <a:prstGeom prst="rect">
              <a:avLst/>
            </a:prstGeom>
            <a:noFill/>
            <a:ln>
              <a:noFill/>
            </a:ln>
          </p:spPr>
          <p:txBody>
            <a:bodyPr wrap="none" lIns="0" tIns="0" rIns="0" bIns="0" anchor="t" anchorCtr="0">
              <a:spAutoFit/>
            </a:bodyPr>
            <a:lstStyle/>
            <a:p>
              <a:pPr algn="l"/>
              <a:r>
                <a:rPr lang="zh-CN" sz="3150" b="1" dirty="0">
                  <a:solidFill>
                    <a:srgbClr val="1D1D1A"/>
                  </a:solidFill>
                  <a:latin typeface="Arial"/>
                  <a:ea typeface="Microsoft YaHei"/>
                  <a:cs typeface="Arial"/>
                </a:rPr>
                <a:t>行业打法分化——存量深耕、集成建设、基础设施跃迁</a:t>
              </a:r>
            </a:p>
          </p:txBody>
        </p:sp>
        <p:sp>
          <p:nvSpPr>
            <p:cNvPr id="4" name="Line 4"/>
            <p:cNvSpPr/>
            <p:nvPr/>
          </p:nvSpPr>
          <p:spPr>
            <a:xfrm>
              <a:off x="762000" y="781050"/>
              <a:ext cx="10668000" cy="9525"/>
            </a:xfrm>
            <a:custGeom>
              <a:avLst/>
              <a:gdLst/>
              <a:ahLst/>
              <a:cxnLst/>
              <a:rect l="l" t="t" r="r" b="b"/>
              <a:pathLst>
                <a:path w="10668000" h="9525">
                  <a:moveTo>
                    <a:pt x="0" y="0"/>
                  </a:moveTo>
                  <a:lnTo>
                    <a:pt x="10668000" y="0"/>
                  </a:lnTo>
                </a:path>
              </a:pathLst>
            </a:custGeom>
            <a:noFill/>
            <a:ln w="9525">
              <a:solidFill>
                <a:srgbClr val="DDDBD6"/>
              </a:solidFill>
            </a:ln>
          </p:spPr>
        </p:sp>
      </p:grpSp>
      <p:grpSp>
        <p:nvGrpSpPr>
          <p:cNvPr id="31" name="Group 31"/>
          <p:cNvGrpSpPr/>
          <p:nvPr/>
        </p:nvGrpSpPr>
        <p:grpSpPr>
          <a:xfrm>
            <a:off x="619125" y="1238250"/>
            <a:ext cx="3476625" cy="4762500"/>
            <a:chOff x="619125" y="1238250"/>
            <a:chExt cx="3476625" cy="4762500"/>
          </a:xfrm>
        </p:grpSpPr>
        <p:sp>
          <p:nvSpPr>
            <p:cNvPr id="6" name="Rectangle 6"/>
            <p:cNvSpPr/>
            <p:nvPr/>
          </p:nvSpPr>
          <p:spPr>
            <a:xfrm>
              <a:off x="666750" y="1238250"/>
              <a:ext cx="3429000" cy="4762500"/>
            </a:xfrm>
            <a:prstGeom prst="roundRect">
              <a:avLst>
                <a:gd name="adj" fmla="val 3333"/>
              </a:avLst>
            </a:prstGeom>
            <a:solidFill>
              <a:srgbClr val="F7F6F3"/>
            </a:solidFill>
            <a:ln>
              <a:noFill/>
            </a:ln>
          </p:spPr>
        </p:sp>
        <p:sp>
          <p:nvSpPr>
            <p:cNvPr id="7" name="Freeform 7"/>
            <p:cNvSpPr/>
            <p:nvPr/>
          </p:nvSpPr>
          <p:spPr>
            <a:xfrm>
              <a:off x="619125" y="1238250"/>
              <a:ext cx="2286000" cy="762000"/>
            </a:xfrm>
            <a:custGeom>
              <a:avLst/>
              <a:gdLst/>
              <a:ahLst/>
              <a:cxnLst/>
              <a:rect l="l" t="t" r="r" b="b"/>
              <a:pathLst>
                <a:path w="2286000" h="762000">
                  <a:moveTo>
                    <a:pt x="1428750" y="0"/>
                  </a:moveTo>
                  <a:lnTo>
                    <a:pt x="2095500" y="0"/>
                  </a:lnTo>
                  <a:cubicBezTo>
                    <a:pt x="2200710" y="0"/>
                    <a:pt x="2286000" y="85290"/>
                    <a:pt x="2286000" y="190500"/>
                  </a:cubicBezTo>
                  <a:lnTo>
                    <a:pt x="2286000" y="762000"/>
                  </a:lnTo>
                  <a:lnTo>
                    <a:pt x="0" y="762000"/>
                  </a:lnTo>
                  <a:lnTo>
                    <a:pt x="0" y="190500"/>
                  </a:lnTo>
                  <a:cubicBezTo>
                    <a:pt x="0" y="85290"/>
                    <a:pt x="85290" y="0"/>
                    <a:pt x="190500" y="0"/>
                  </a:cubicBezTo>
                  <a:close/>
                </a:path>
              </a:pathLst>
            </a:custGeom>
            <a:solidFill>
              <a:srgbClr val="C7000A"/>
            </a:solidFill>
            <a:ln>
              <a:noFill/>
            </a:ln>
          </p:spPr>
        </p:sp>
        <p:grpSp>
          <p:nvGrpSpPr>
            <p:cNvPr id="16" name="Group 16"/>
            <p:cNvGrpSpPr/>
            <p:nvPr/>
          </p:nvGrpSpPr>
          <p:grpSpPr>
            <a:xfrm>
              <a:off x="2238375" y="1476375"/>
              <a:ext cx="285751" cy="295276"/>
              <a:chOff x="2238375" y="1476375"/>
              <a:chExt cx="285751" cy="295276"/>
            </a:xfrm>
          </p:grpSpPr>
          <p:sp>
            <p:nvSpPr>
              <p:cNvPr id="8" name="Freeform 8"/>
              <p:cNvSpPr/>
              <p:nvPr/>
            </p:nvSpPr>
            <p:spPr>
              <a:xfrm>
                <a:off x="2238375" y="1762126"/>
                <a:ext cx="285751" cy="9525"/>
              </a:xfrm>
              <a:custGeom>
                <a:avLst/>
                <a:gdLst/>
                <a:ahLst/>
                <a:cxnLst/>
                <a:rect l="l" t="t" r="r" b="b"/>
                <a:pathLst>
                  <a:path w="285751" h="9525">
                    <a:moveTo>
                      <a:pt x="0" y="0"/>
                    </a:moveTo>
                    <a:lnTo>
                      <a:pt x="285751" y="0"/>
                    </a:lnTo>
                  </a:path>
                </a:pathLst>
              </a:custGeom>
              <a:noFill/>
              <a:ln w="19050">
                <a:solidFill>
                  <a:srgbClr val="FFFFFF"/>
                </a:solidFill>
              </a:ln>
            </p:spPr>
          </p:sp>
          <p:sp>
            <p:nvSpPr>
              <p:cNvPr id="9" name="Freeform 9"/>
              <p:cNvSpPr/>
              <p:nvPr/>
            </p:nvSpPr>
            <p:spPr>
              <a:xfrm>
                <a:off x="2333625" y="1555750"/>
                <a:ext cx="15875" cy="9525"/>
              </a:xfrm>
              <a:custGeom>
                <a:avLst/>
                <a:gdLst/>
                <a:ahLst/>
                <a:cxnLst/>
                <a:rect l="l" t="t" r="r" b="b"/>
                <a:pathLst>
                  <a:path w="15875" h="9525">
                    <a:moveTo>
                      <a:pt x="0" y="0"/>
                    </a:moveTo>
                    <a:lnTo>
                      <a:pt x="15875" y="0"/>
                    </a:lnTo>
                  </a:path>
                </a:pathLst>
              </a:custGeom>
              <a:noFill/>
              <a:ln w="19050">
                <a:solidFill>
                  <a:srgbClr val="FFFFFF"/>
                </a:solidFill>
              </a:ln>
            </p:spPr>
          </p:sp>
          <p:sp>
            <p:nvSpPr>
              <p:cNvPr id="10" name="Freeform 10"/>
              <p:cNvSpPr/>
              <p:nvPr/>
            </p:nvSpPr>
            <p:spPr>
              <a:xfrm>
                <a:off x="2333625" y="1619250"/>
                <a:ext cx="15875" cy="9525"/>
              </a:xfrm>
              <a:custGeom>
                <a:avLst/>
                <a:gdLst/>
                <a:ahLst/>
                <a:cxnLst/>
                <a:rect l="l" t="t" r="r" b="b"/>
                <a:pathLst>
                  <a:path w="15875" h="9525">
                    <a:moveTo>
                      <a:pt x="0" y="0"/>
                    </a:moveTo>
                    <a:lnTo>
                      <a:pt x="15875" y="0"/>
                    </a:lnTo>
                  </a:path>
                </a:pathLst>
              </a:custGeom>
              <a:noFill/>
              <a:ln w="19050">
                <a:solidFill>
                  <a:srgbClr val="FFFFFF"/>
                </a:solidFill>
              </a:ln>
            </p:spPr>
          </p:sp>
          <p:sp>
            <p:nvSpPr>
              <p:cNvPr id="11" name="Freeform 11"/>
              <p:cNvSpPr/>
              <p:nvPr/>
            </p:nvSpPr>
            <p:spPr>
              <a:xfrm>
                <a:off x="2333625" y="1682751"/>
                <a:ext cx="15875" cy="9525"/>
              </a:xfrm>
              <a:custGeom>
                <a:avLst/>
                <a:gdLst/>
                <a:ahLst/>
                <a:cxnLst/>
                <a:rect l="l" t="t" r="r" b="b"/>
                <a:pathLst>
                  <a:path w="15875" h="9525">
                    <a:moveTo>
                      <a:pt x="0" y="0"/>
                    </a:moveTo>
                    <a:lnTo>
                      <a:pt x="15875" y="0"/>
                    </a:lnTo>
                  </a:path>
                </a:pathLst>
              </a:custGeom>
              <a:noFill/>
              <a:ln w="19050">
                <a:solidFill>
                  <a:srgbClr val="FFFFFF"/>
                </a:solidFill>
              </a:ln>
            </p:spPr>
          </p:sp>
          <p:sp>
            <p:nvSpPr>
              <p:cNvPr id="12" name="Freeform 12"/>
              <p:cNvSpPr/>
              <p:nvPr/>
            </p:nvSpPr>
            <p:spPr>
              <a:xfrm>
                <a:off x="2413000" y="1555750"/>
                <a:ext cx="15875" cy="9525"/>
              </a:xfrm>
              <a:custGeom>
                <a:avLst/>
                <a:gdLst/>
                <a:ahLst/>
                <a:cxnLst/>
                <a:rect l="l" t="t" r="r" b="b"/>
                <a:pathLst>
                  <a:path w="15875" h="9525">
                    <a:moveTo>
                      <a:pt x="0" y="0"/>
                    </a:moveTo>
                    <a:lnTo>
                      <a:pt x="15875" y="0"/>
                    </a:lnTo>
                  </a:path>
                </a:pathLst>
              </a:custGeom>
              <a:noFill/>
              <a:ln w="19050">
                <a:solidFill>
                  <a:srgbClr val="FFFFFF"/>
                </a:solidFill>
              </a:ln>
            </p:spPr>
          </p:sp>
          <p:sp>
            <p:nvSpPr>
              <p:cNvPr id="13" name="Freeform 13"/>
              <p:cNvSpPr/>
              <p:nvPr/>
            </p:nvSpPr>
            <p:spPr>
              <a:xfrm>
                <a:off x="2413000" y="1619250"/>
                <a:ext cx="15875" cy="9525"/>
              </a:xfrm>
              <a:custGeom>
                <a:avLst/>
                <a:gdLst/>
                <a:ahLst/>
                <a:cxnLst/>
                <a:rect l="l" t="t" r="r" b="b"/>
                <a:pathLst>
                  <a:path w="15875" h="9525">
                    <a:moveTo>
                      <a:pt x="0" y="0"/>
                    </a:moveTo>
                    <a:lnTo>
                      <a:pt x="15875" y="0"/>
                    </a:lnTo>
                  </a:path>
                </a:pathLst>
              </a:custGeom>
              <a:noFill/>
              <a:ln w="19050">
                <a:solidFill>
                  <a:srgbClr val="FFFFFF"/>
                </a:solidFill>
              </a:ln>
            </p:spPr>
          </p:sp>
          <p:sp>
            <p:nvSpPr>
              <p:cNvPr id="14" name="Freeform 14"/>
              <p:cNvSpPr/>
              <p:nvPr/>
            </p:nvSpPr>
            <p:spPr>
              <a:xfrm>
                <a:off x="2413000" y="1682751"/>
                <a:ext cx="15875" cy="9525"/>
              </a:xfrm>
              <a:custGeom>
                <a:avLst/>
                <a:gdLst/>
                <a:ahLst/>
                <a:cxnLst/>
                <a:rect l="l" t="t" r="r" b="b"/>
                <a:pathLst>
                  <a:path w="15875" h="9525">
                    <a:moveTo>
                      <a:pt x="0" y="0"/>
                    </a:moveTo>
                    <a:lnTo>
                      <a:pt x="15875" y="0"/>
                    </a:lnTo>
                  </a:path>
                </a:pathLst>
              </a:custGeom>
              <a:noFill/>
              <a:ln w="19050">
                <a:solidFill>
                  <a:srgbClr val="FFFFFF"/>
                </a:solidFill>
              </a:ln>
            </p:spPr>
          </p:sp>
          <p:sp>
            <p:nvSpPr>
              <p:cNvPr id="15" name="Freeform 15"/>
              <p:cNvSpPr/>
              <p:nvPr/>
            </p:nvSpPr>
            <p:spPr>
              <a:xfrm>
                <a:off x="2270125" y="1476375"/>
                <a:ext cx="222250" cy="285751"/>
              </a:xfrm>
              <a:custGeom>
                <a:avLst/>
                <a:gdLst/>
                <a:ahLst/>
                <a:cxnLst/>
                <a:rect l="l" t="t" r="r" b="b"/>
                <a:pathLst>
                  <a:path w="222250" h="285751">
                    <a:moveTo>
                      <a:pt x="0" y="285751"/>
                    </a:moveTo>
                    <a:lnTo>
                      <a:pt x="0" y="31750"/>
                    </a:lnTo>
                    <a:cubicBezTo>
                      <a:pt x="0" y="14215"/>
                      <a:pt x="14215" y="0"/>
                      <a:pt x="31750" y="0"/>
                    </a:cubicBezTo>
                    <a:lnTo>
                      <a:pt x="190500" y="0"/>
                    </a:lnTo>
                    <a:cubicBezTo>
                      <a:pt x="208035" y="0"/>
                      <a:pt x="222250" y="14215"/>
                      <a:pt x="222250" y="31750"/>
                    </a:cubicBezTo>
                    <a:lnTo>
                      <a:pt x="222250" y="285751"/>
                    </a:lnTo>
                  </a:path>
                </a:pathLst>
              </a:custGeom>
              <a:noFill/>
              <a:ln w="19050">
                <a:solidFill>
                  <a:srgbClr val="FFFFFF"/>
                </a:solidFill>
              </a:ln>
            </p:spPr>
          </p:sp>
        </p:grpSp>
        <p:sp>
          <p:nvSpPr>
            <p:cNvPr id="17" name="TextBox 17"/>
            <p:cNvSpPr txBox="1"/>
            <p:nvPr/>
          </p:nvSpPr>
          <p:spPr>
            <a:xfrm>
              <a:off x="1962276" y="1778318"/>
              <a:ext cx="1314199"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OB · 存量深耕</a:t>
              </a:r>
            </a:p>
          </p:txBody>
        </p:sp>
        <p:sp>
          <p:nvSpPr>
            <p:cNvPr id="18" name="Rectangle 18"/>
            <p:cNvSpPr/>
            <p:nvPr/>
          </p:nvSpPr>
          <p:spPr>
            <a:xfrm>
              <a:off x="857250" y="2190750"/>
              <a:ext cx="3048000" cy="3619500"/>
            </a:xfrm>
            <a:prstGeom prst="roundRect">
              <a:avLst>
                <a:gd name="adj" fmla="val 3125"/>
              </a:avLst>
            </a:prstGeom>
            <a:solidFill>
              <a:srgbClr val="FFFFFF"/>
            </a:solidFill>
            <a:ln>
              <a:noFill/>
            </a:ln>
          </p:spPr>
        </p:sp>
        <p:sp>
          <p:nvSpPr>
            <p:cNvPr id="19" name="TextBox 19"/>
            <p:cNvSpPr txBox="1"/>
            <p:nvPr/>
          </p:nvSpPr>
          <p:spPr>
            <a:xfrm>
              <a:off x="1041654" y="2394585"/>
              <a:ext cx="1643116" cy="234696"/>
            </a:xfrm>
            <a:prstGeom prst="rect">
              <a:avLst/>
            </a:prstGeom>
            <a:noFill/>
            <a:ln>
              <a:noFill/>
            </a:ln>
          </p:spPr>
          <p:txBody>
            <a:bodyPr wrap="none" lIns="0" tIns="0" rIns="0" bIns="0" anchor="t" anchorCtr="0">
              <a:spAutoFit/>
            </a:bodyPr>
            <a:lstStyle/>
            <a:p>
              <a:pPr algn="l"/>
              <a:r>
                <a:rPr lang="zh-CN" sz="1200" b="1" dirty="0">
                  <a:solidFill>
                    <a:srgbClr val="1D1D1A"/>
                  </a:solidFill>
                  <a:latin typeface="Arial"/>
                  <a:ea typeface="Microsoft YaHei"/>
                  <a:cs typeface="Arial"/>
                </a:rPr>
                <a:t>国防安全（新设BU）</a:t>
              </a:r>
            </a:p>
          </p:txBody>
        </p:sp>
        <p:sp>
          <p:nvSpPr>
            <p:cNvPr id="20" name="TextBox 20"/>
            <p:cNvSpPr txBox="1"/>
            <p:nvPr/>
          </p:nvSpPr>
          <p:spPr>
            <a:xfrm>
              <a:off x="1041654" y="2613660"/>
              <a:ext cx="2248205" cy="234696"/>
            </a:xfrm>
            <a:prstGeom prst="rect">
              <a:avLst/>
            </a:prstGeom>
            <a:noFill/>
            <a:ln>
              <a:noFill/>
            </a:ln>
          </p:spPr>
          <p:txBody>
            <a:bodyPr wrap="none" lIns="0" tIns="0" rIns="0" bIns="0" anchor="t" anchorCtr="0">
              <a:spAutoFit/>
            </a:bodyPr>
            <a:lstStyle/>
            <a:p>
              <a:pPr algn="l"/>
              <a:r>
                <a:rPr lang="zh-CN" sz="1200" dirty="0">
                  <a:solidFill>
                    <a:srgbClr val="5A5852"/>
                  </a:solidFill>
                  <a:latin typeface="Arial"/>
                  <a:ea typeface="Microsoft YaHei"/>
                  <a:cs typeface="Arial"/>
                </a:rPr>
                <a:t>20% · 416M€ · 法国军队部卫</a:t>
              </a:r>
            </a:p>
          </p:txBody>
        </p:sp>
        <p:sp>
          <p:nvSpPr>
            <p:cNvPr id="21" name="TextBox 21"/>
            <p:cNvSpPr txBox="1"/>
            <p:nvPr/>
          </p:nvSpPr>
          <p:spPr>
            <a:xfrm>
              <a:off x="1041654" y="2823210"/>
              <a:ext cx="1815480" cy="234696"/>
            </a:xfrm>
            <a:prstGeom prst="rect">
              <a:avLst/>
            </a:prstGeom>
            <a:noFill/>
            <a:ln>
              <a:noFill/>
            </a:ln>
          </p:spPr>
          <p:txBody>
            <a:bodyPr wrap="none" lIns="0" tIns="0" rIns="0" bIns="0" anchor="t" anchorCtr="0">
              <a:spAutoFit/>
            </a:bodyPr>
            <a:lstStyle/>
            <a:p>
              <a:pPr algn="l"/>
              <a:r>
                <a:rPr lang="zh-CN" sz="1200" dirty="0">
                  <a:solidFill>
                    <a:srgbClr val="5A5852"/>
                  </a:solidFill>
                  <a:latin typeface="Arial"/>
                  <a:ea typeface="Microsoft YaHei"/>
                  <a:cs typeface="Arial"/>
                </a:rPr>
                <a:t>星通信框架(Telespazio)</a:t>
              </a:r>
            </a:p>
          </p:txBody>
        </p:sp>
        <p:sp>
          <p:nvSpPr>
            <p:cNvPr id="22" name="Line 22"/>
            <p:cNvSpPr/>
            <p:nvPr/>
          </p:nvSpPr>
          <p:spPr>
            <a:xfrm>
              <a:off x="1047750" y="3143250"/>
              <a:ext cx="2667000" cy="9525"/>
            </a:xfrm>
            <a:custGeom>
              <a:avLst/>
              <a:gdLst/>
              <a:ahLst/>
              <a:cxnLst/>
              <a:rect l="l" t="t" r="r" b="b"/>
              <a:pathLst>
                <a:path w="2667000" h="9525">
                  <a:moveTo>
                    <a:pt x="0" y="0"/>
                  </a:moveTo>
                  <a:lnTo>
                    <a:pt x="2667000" y="0"/>
                  </a:lnTo>
                </a:path>
              </a:pathLst>
            </a:custGeom>
            <a:noFill/>
            <a:ln w="9525">
              <a:solidFill>
                <a:srgbClr val="DDDBD6"/>
              </a:solidFill>
            </a:ln>
          </p:spPr>
        </p:sp>
        <p:sp>
          <p:nvSpPr>
            <p:cNvPr id="23" name="TextBox 23"/>
            <p:cNvSpPr txBox="1"/>
            <p:nvPr/>
          </p:nvSpPr>
          <p:spPr>
            <a:xfrm>
              <a:off x="1041654" y="3280410"/>
              <a:ext cx="1029919" cy="234696"/>
            </a:xfrm>
            <a:prstGeom prst="rect">
              <a:avLst/>
            </a:prstGeom>
            <a:noFill/>
            <a:ln>
              <a:noFill/>
            </a:ln>
          </p:spPr>
          <p:txBody>
            <a:bodyPr wrap="none" lIns="0" tIns="0" rIns="0" bIns="0" anchor="t" anchorCtr="0">
              <a:spAutoFit/>
            </a:bodyPr>
            <a:lstStyle/>
            <a:p>
              <a:pPr algn="l"/>
              <a:r>
                <a:rPr lang="zh-CN" sz="1200" b="1" dirty="0">
                  <a:solidFill>
                    <a:srgbClr val="1D1D1A"/>
                  </a:solidFill>
                  <a:latin typeface="Arial"/>
                  <a:ea typeface="Microsoft YaHei"/>
                  <a:cs typeface="Arial"/>
                </a:rPr>
                <a:t>公共部门政务</a:t>
              </a:r>
            </a:p>
          </p:txBody>
        </p:sp>
        <p:sp>
          <p:nvSpPr>
            <p:cNvPr id="24" name="TextBox 24"/>
            <p:cNvSpPr txBox="1"/>
            <p:nvPr/>
          </p:nvSpPr>
          <p:spPr>
            <a:xfrm>
              <a:off x="1041654" y="3499485"/>
              <a:ext cx="2111654" cy="234696"/>
            </a:xfrm>
            <a:prstGeom prst="rect">
              <a:avLst/>
            </a:prstGeom>
            <a:noFill/>
            <a:ln>
              <a:noFill/>
            </a:ln>
          </p:spPr>
          <p:txBody>
            <a:bodyPr wrap="none" lIns="0" tIns="0" rIns="0" bIns="0" anchor="t" anchorCtr="0">
              <a:spAutoFit/>
            </a:bodyPr>
            <a:lstStyle/>
            <a:p>
              <a:pPr algn="l"/>
              <a:r>
                <a:rPr lang="zh-CN" sz="1200" dirty="0">
                  <a:solidFill>
                    <a:srgbClr val="5A5852"/>
                  </a:solidFill>
                  <a:latin typeface="Arial"/>
                  <a:ea typeface="Microsoft YaHei"/>
                  <a:cs typeface="Arial"/>
                </a:rPr>
                <a:t>18% · 374M€ · UGAP电信服</a:t>
              </a:r>
            </a:p>
          </p:txBody>
        </p:sp>
        <p:sp>
          <p:nvSpPr>
            <p:cNvPr id="25" name="TextBox 25"/>
            <p:cNvSpPr txBox="1"/>
            <p:nvPr/>
          </p:nvSpPr>
          <p:spPr>
            <a:xfrm>
              <a:off x="1041654" y="3709035"/>
              <a:ext cx="819912" cy="234696"/>
            </a:xfrm>
            <a:prstGeom prst="rect">
              <a:avLst/>
            </a:prstGeom>
            <a:noFill/>
            <a:ln>
              <a:noFill/>
            </a:ln>
          </p:spPr>
          <p:txBody>
            <a:bodyPr wrap="none" lIns="0" tIns="0" rIns="0" bIns="0" anchor="t" anchorCtr="0">
              <a:spAutoFit/>
            </a:bodyPr>
            <a:lstStyle/>
            <a:p>
              <a:pPr algn="l"/>
              <a:r>
                <a:rPr lang="zh-CN" sz="1200" dirty="0">
                  <a:solidFill>
                    <a:srgbClr val="5A5852"/>
                  </a:solidFill>
                  <a:latin typeface="Arial"/>
                  <a:ea typeface="Microsoft YaHei"/>
                  <a:cs typeface="Arial"/>
                </a:rPr>
                <a:t>务框架协议</a:t>
              </a:r>
            </a:p>
          </p:txBody>
        </p:sp>
        <p:sp>
          <p:nvSpPr>
            <p:cNvPr id="26" name="Line 26"/>
            <p:cNvSpPr/>
            <p:nvPr/>
          </p:nvSpPr>
          <p:spPr>
            <a:xfrm>
              <a:off x="1047750" y="4029075"/>
              <a:ext cx="2667000" cy="9525"/>
            </a:xfrm>
            <a:custGeom>
              <a:avLst/>
              <a:gdLst/>
              <a:ahLst/>
              <a:cxnLst/>
              <a:rect l="l" t="t" r="r" b="b"/>
              <a:pathLst>
                <a:path w="2667000" h="9525">
                  <a:moveTo>
                    <a:pt x="0" y="0"/>
                  </a:moveTo>
                  <a:lnTo>
                    <a:pt x="2667000" y="0"/>
                  </a:lnTo>
                </a:path>
              </a:pathLst>
            </a:custGeom>
            <a:noFill/>
            <a:ln w="9525">
              <a:solidFill>
                <a:srgbClr val="DDDBD6"/>
              </a:solidFill>
            </a:ln>
          </p:spPr>
        </p:sp>
        <p:sp>
          <p:nvSpPr>
            <p:cNvPr id="27" name="TextBox 27"/>
            <p:cNvSpPr txBox="1"/>
            <p:nvPr/>
          </p:nvSpPr>
          <p:spPr>
            <a:xfrm>
              <a:off x="1041654" y="4166235"/>
              <a:ext cx="1849222" cy="234696"/>
            </a:xfrm>
            <a:prstGeom prst="rect">
              <a:avLst/>
            </a:prstGeom>
            <a:noFill/>
            <a:ln>
              <a:noFill/>
            </a:ln>
          </p:spPr>
          <p:txBody>
            <a:bodyPr wrap="none" lIns="0" tIns="0" rIns="0" bIns="0" anchor="t" anchorCtr="0">
              <a:spAutoFit/>
            </a:bodyPr>
            <a:lstStyle/>
            <a:p>
              <a:pPr algn="l"/>
              <a:r>
                <a:rPr lang="zh-CN" sz="1200" b="1" dirty="0">
                  <a:solidFill>
                    <a:srgbClr val="1D1D1A"/>
                  </a:solidFill>
                  <a:latin typeface="Arial"/>
                  <a:ea typeface="Microsoft YaHei"/>
                  <a:cs typeface="Arial"/>
                </a:rPr>
                <a:t>医疗健康 12% · 250M€</a:t>
              </a:r>
            </a:p>
          </p:txBody>
        </p:sp>
        <p:sp>
          <p:nvSpPr>
            <p:cNvPr id="28" name="TextBox 28"/>
            <p:cNvSpPr txBox="1"/>
            <p:nvPr/>
          </p:nvSpPr>
          <p:spPr>
            <a:xfrm>
              <a:off x="1041654" y="4385310"/>
              <a:ext cx="1761744" cy="234696"/>
            </a:xfrm>
            <a:prstGeom prst="rect">
              <a:avLst/>
            </a:prstGeom>
            <a:noFill/>
            <a:ln>
              <a:noFill/>
            </a:ln>
          </p:spPr>
          <p:txBody>
            <a:bodyPr wrap="none" lIns="0" tIns="0" rIns="0" bIns="0" anchor="t" anchorCtr="0">
              <a:spAutoFit/>
            </a:bodyPr>
            <a:lstStyle/>
            <a:p>
              <a:pPr algn="l"/>
              <a:r>
                <a:rPr lang="zh-CN" sz="1200" dirty="0">
                  <a:solidFill>
                    <a:srgbClr val="5A5852"/>
                  </a:solidFill>
                  <a:latin typeface="Arial"/>
                  <a:ea typeface="Microsoft YaHei"/>
                  <a:cs typeface="Arial"/>
                </a:rPr>
                <a:t>金融保险 10% · 208M€</a:t>
              </a:r>
            </a:p>
          </p:txBody>
        </p:sp>
        <p:sp>
          <p:nvSpPr>
            <p:cNvPr id="29" name="Rectangle 29"/>
            <p:cNvSpPr/>
            <p:nvPr/>
          </p:nvSpPr>
          <p:spPr>
            <a:xfrm>
              <a:off x="857250" y="5143500"/>
              <a:ext cx="3048000" cy="495300"/>
            </a:xfrm>
            <a:prstGeom prst="roundRect">
              <a:avLst>
                <a:gd name="adj" fmla="val 15385"/>
              </a:avLst>
            </a:prstGeom>
            <a:solidFill>
              <a:srgbClr val="F7F6F3"/>
            </a:solidFill>
            <a:ln w="9525">
              <a:solidFill>
                <a:srgbClr val="C7000A"/>
              </a:solidFill>
            </a:ln>
          </p:spPr>
        </p:sp>
        <p:sp>
          <p:nvSpPr>
            <p:cNvPr id="30" name="TextBox 30"/>
            <p:cNvSpPr txBox="1"/>
            <p:nvPr/>
          </p:nvSpPr>
          <p:spPr>
            <a:xfrm>
              <a:off x="1041654" y="5318760"/>
              <a:ext cx="2514912" cy="234696"/>
            </a:xfrm>
            <a:prstGeom prst="rect">
              <a:avLst/>
            </a:prstGeom>
            <a:noFill/>
            <a:ln>
              <a:noFill/>
            </a:ln>
          </p:spPr>
          <p:txBody>
            <a:bodyPr wrap="none" lIns="0" tIns="0" rIns="0" bIns="0" anchor="t" anchorCtr="0">
              <a:spAutoFit/>
            </a:bodyPr>
            <a:lstStyle/>
            <a:p>
              <a:pPr algn="l"/>
              <a:r>
                <a:rPr lang="zh-CN" sz="1200" dirty="0">
                  <a:solidFill>
                    <a:srgbClr val="1D1D1A"/>
                  </a:solidFill>
                  <a:latin typeface="Arial"/>
                  <a:ea typeface="Microsoft YaHei"/>
                  <a:cs typeface="Arial"/>
                </a:rPr>
                <a:t>国防+公共合计</a:t>
              </a:r>
              <a:r>
                <a:rPr lang="en-US" sz="1200" b="1" dirty="0">
                  <a:solidFill>
                    <a:srgbClr val="C7000A"/>
                  </a:solidFill>
                  <a:latin typeface="Arial"/>
                  <a:ea typeface="Arial"/>
                  <a:cs typeface="Arial"/>
                </a:rPr>
                <a:t>38%</a:t>
              </a:r>
              <a:r>
                <a:rPr lang="zh-CN" sz="1200" dirty="0">
                  <a:solidFill>
                    <a:srgbClr val="1D1D1A"/>
                  </a:solidFill>
                  <a:latin typeface="Arial"/>
                  <a:ea typeface="Microsoft YaHei"/>
                  <a:cs typeface="Arial"/>
                </a:rPr>
                <a:t>为最大单一板块</a:t>
              </a:r>
            </a:p>
          </p:txBody>
        </p:sp>
      </p:grpSp>
      <p:grpSp>
        <p:nvGrpSpPr>
          <p:cNvPr id="53" name="Group 53"/>
          <p:cNvGrpSpPr/>
          <p:nvPr/>
        </p:nvGrpSpPr>
        <p:grpSpPr>
          <a:xfrm>
            <a:off x="4333875" y="1238250"/>
            <a:ext cx="3476625" cy="4762500"/>
            <a:chOff x="4333875" y="1238250"/>
            <a:chExt cx="3476625" cy="4762500"/>
          </a:xfrm>
        </p:grpSpPr>
        <p:sp>
          <p:nvSpPr>
            <p:cNvPr id="32" name="Rectangle 32"/>
            <p:cNvSpPr/>
            <p:nvPr/>
          </p:nvSpPr>
          <p:spPr>
            <a:xfrm>
              <a:off x="4381500" y="1238250"/>
              <a:ext cx="3429000" cy="4762500"/>
            </a:xfrm>
            <a:prstGeom prst="roundRect">
              <a:avLst>
                <a:gd name="adj" fmla="val 3333"/>
              </a:avLst>
            </a:prstGeom>
            <a:solidFill>
              <a:srgbClr val="F7F6F3"/>
            </a:solidFill>
            <a:ln>
              <a:noFill/>
            </a:ln>
          </p:spPr>
        </p:sp>
        <p:sp>
          <p:nvSpPr>
            <p:cNvPr id="33" name="Freeform 33"/>
            <p:cNvSpPr/>
            <p:nvPr/>
          </p:nvSpPr>
          <p:spPr>
            <a:xfrm>
              <a:off x="4333875" y="1238250"/>
              <a:ext cx="2286000" cy="762000"/>
            </a:xfrm>
            <a:custGeom>
              <a:avLst/>
              <a:gdLst/>
              <a:ahLst/>
              <a:cxnLst/>
              <a:rect l="l" t="t" r="r" b="b"/>
              <a:pathLst>
                <a:path w="2286000" h="762000">
                  <a:moveTo>
                    <a:pt x="1428750" y="0"/>
                  </a:moveTo>
                  <a:lnTo>
                    <a:pt x="2095500" y="0"/>
                  </a:lnTo>
                  <a:cubicBezTo>
                    <a:pt x="2200710" y="0"/>
                    <a:pt x="2286000" y="85290"/>
                    <a:pt x="2286000" y="190500"/>
                  </a:cubicBezTo>
                  <a:lnTo>
                    <a:pt x="2286000" y="762000"/>
                  </a:lnTo>
                  <a:lnTo>
                    <a:pt x="0" y="762000"/>
                  </a:lnTo>
                  <a:lnTo>
                    <a:pt x="0" y="190500"/>
                  </a:lnTo>
                  <a:cubicBezTo>
                    <a:pt x="0" y="85290"/>
                    <a:pt x="85290" y="0"/>
                    <a:pt x="190500" y="0"/>
                  </a:cubicBezTo>
                  <a:close/>
                </a:path>
              </a:pathLst>
            </a:custGeom>
            <a:solidFill>
              <a:srgbClr val="E9002F"/>
            </a:solidFill>
            <a:ln>
              <a:noFill/>
            </a:ln>
          </p:spPr>
        </p:sp>
        <p:grpSp>
          <p:nvGrpSpPr>
            <p:cNvPr id="38" name="Group 38"/>
            <p:cNvGrpSpPr/>
            <p:nvPr/>
          </p:nvGrpSpPr>
          <p:grpSpPr>
            <a:xfrm>
              <a:off x="5953125" y="1476375"/>
              <a:ext cx="285751" cy="269875"/>
              <a:chOff x="5953125" y="1476375"/>
              <a:chExt cx="285751" cy="269875"/>
            </a:xfrm>
          </p:grpSpPr>
          <p:sp>
            <p:nvSpPr>
              <p:cNvPr id="34" name="Freeform 34"/>
              <p:cNvSpPr/>
              <p:nvPr/>
            </p:nvSpPr>
            <p:spPr>
              <a:xfrm>
                <a:off x="5953125" y="1539875"/>
                <a:ext cx="285751" cy="206375"/>
              </a:xfrm>
              <a:custGeom>
                <a:avLst/>
                <a:gdLst/>
                <a:ahLst/>
                <a:cxnLst/>
                <a:rect l="l" t="t" r="r" b="b"/>
                <a:pathLst>
                  <a:path w="285751" h="206375">
                    <a:moveTo>
                      <a:pt x="0" y="31750"/>
                    </a:moveTo>
                    <a:cubicBezTo>
                      <a:pt x="0" y="14215"/>
                      <a:pt x="14215" y="0"/>
                      <a:pt x="31750" y="0"/>
                    </a:cubicBezTo>
                    <a:lnTo>
                      <a:pt x="254001" y="0"/>
                    </a:lnTo>
                    <a:cubicBezTo>
                      <a:pt x="271536" y="0"/>
                      <a:pt x="285751" y="14215"/>
                      <a:pt x="285751" y="31750"/>
                    </a:cubicBezTo>
                    <a:lnTo>
                      <a:pt x="285751" y="174625"/>
                    </a:lnTo>
                    <a:cubicBezTo>
                      <a:pt x="285751" y="192160"/>
                      <a:pt x="271536" y="206375"/>
                      <a:pt x="254001" y="206375"/>
                    </a:cubicBezTo>
                    <a:lnTo>
                      <a:pt x="31750" y="206375"/>
                    </a:lnTo>
                    <a:cubicBezTo>
                      <a:pt x="14215" y="206375"/>
                      <a:pt x="0" y="192160"/>
                      <a:pt x="0" y="174625"/>
                    </a:cubicBezTo>
                    <a:lnTo>
                      <a:pt x="0" y="31750"/>
                    </a:lnTo>
                  </a:path>
                </a:pathLst>
              </a:custGeom>
              <a:noFill/>
              <a:ln w="19050">
                <a:solidFill>
                  <a:srgbClr val="FFFFFF"/>
                </a:solidFill>
              </a:ln>
            </p:spPr>
          </p:sp>
          <p:sp>
            <p:nvSpPr>
              <p:cNvPr id="35" name="Freeform 35"/>
              <p:cNvSpPr/>
              <p:nvPr/>
            </p:nvSpPr>
            <p:spPr>
              <a:xfrm>
                <a:off x="6032500" y="1476375"/>
                <a:ext cx="127000" cy="63500"/>
              </a:xfrm>
              <a:custGeom>
                <a:avLst/>
                <a:gdLst/>
                <a:ahLst/>
                <a:cxnLst/>
                <a:rect l="l" t="t" r="r" b="b"/>
                <a:pathLst>
                  <a:path w="127000" h="63500">
                    <a:moveTo>
                      <a:pt x="0" y="63500"/>
                    </a:moveTo>
                    <a:lnTo>
                      <a:pt x="0" y="31750"/>
                    </a:lnTo>
                    <a:cubicBezTo>
                      <a:pt x="0" y="14215"/>
                      <a:pt x="14215" y="0"/>
                      <a:pt x="31750" y="0"/>
                    </a:cubicBezTo>
                    <a:lnTo>
                      <a:pt x="95250" y="0"/>
                    </a:lnTo>
                    <a:cubicBezTo>
                      <a:pt x="112785" y="0"/>
                      <a:pt x="127000" y="14215"/>
                      <a:pt x="127000" y="31750"/>
                    </a:cubicBezTo>
                    <a:lnTo>
                      <a:pt x="127000" y="63500"/>
                    </a:lnTo>
                  </a:path>
                </a:pathLst>
              </a:custGeom>
              <a:noFill/>
              <a:ln w="19050">
                <a:solidFill>
                  <a:srgbClr val="FFFFFF"/>
                </a:solidFill>
              </a:ln>
            </p:spPr>
          </p:sp>
          <p:sp>
            <p:nvSpPr>
              <p:cNvPr id="36" name="Freeform 36"/>
              <p:cNvSpPr/>
              <p:nvPr/>
            </p:nvSpPr>
            <p:spPr>
              <a:xfrm>
                <a:off x="6096000" y="1619250"/>
                <a:ext cx="9525" cy="9525"/>
              </a:xfrm>
              <a:custGeom>
                <a:avLst/>
                <a:gdLst/>
                <a:ahLst/>
                <a:cxnLst/>
                <a:rect l="l" t="t" r="r" b="b"/>
                <a:pathLst>
                  <a:path w="9525" h="9525">
                    <a:moveTo>
                      <a:pt x="0" y="0"/>
                    </a:moveTo>
                    <a:lnTo>
                      <a:pt x="0" y="159"/>
                    </a:lnTo>
                  </a:path>
                </a:pathLst>
              </a:custGeom>
              <a:noFill/>
              <a:ln w="19050">
                <a:solidFill>
                  <a:srgbClr val="FFFFFF"/>
                </a:solidFill>
              </a:ln>
            </p:spPr>
          </p:sp>
          <p:sp>
            <p:nvSpPr>
              <p:cNvPr id="37" name="Freeform 37"/>
              <p:cNvSpPr/>
              <p:nvPr/>
            </p:nvSpPr>
            <p:spPr>
              <a:xfrm>
                <a:off x="5953125" y="1635125"/>
                <a:ext cx="285751" cy="45285"/>
              </a:xfrm>
              <a:custGeom>
                <a:avLst/>
                <a:gdLst/>
                <a:ahLst/>
                <a:cxnLst/>
                <a:rect l="l" t="t" r="r" b="b"/>
                <a:pathLst>
                  <a:path w="285751" h="45285">
                    <a:moveTo>
                      <a:pt x="0" y="0"/>
                    </a:moveTo>
                    <a:cubicBezTo>
                      <a:pt x="89868" y="45285"/>
                      <a:pt x="195883" y="45285"/>
                      <a:pt x="285751" y="0"/>
                    </a:cubicBezTo>
                  </a:path>
                </a:pathLst>
              </a:custGeom>
              <a:noFill/>
              <a:ln w="19050">
                <a:solidFill>
                  <a:srgbClr val="FFFFFF"/>
                </a:solidFill>
              </a:ln>
            </p:spPr>
          </p:sp>
        </p:grpSp>
        <p:sp>
          <p:nvSpPr>
            <p:cNvPr id="39" name="TextBox 39"/>
            <p:cNvSpPr txBox="1"/>
            <p:nvPr/>
          </p:nvSpPr>
          <p:spPr>
            <a:xfrm>
              <a:off x="5419954" y="1778318"/>
              <a:ext cx="1828343"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OEU · 集成能力建设</a:t>
              </a:r>
            </a:p>
          </p:txBody>
        </p:sp>
        <p:sp>
          <p:nvSpPr>
            <p:cNvPr id="40" name="Rectangle 40"/>
            <p:cNvSpPr/>
            <p:nvPr/>
          </p:nvSpPr>
          <p:spPr>
            <a:xfrm>
              <a:off x="4572000" y="2190750"/>
              <a:ext cx="3048000" cy="3619500"/>
            </a:xfrm>
            <a:prstGeom prst="roundRect">
              <a:avLst>
                <a:gd name="adj" fmla="val 3125"/>
              </a:avLst>
            </a:prstGeom>
            <a:solidFill>
              <a:srgbClr val="FFFFFF"/>
            </a:solidFill>
            <a:ln>
              <a:noFill/>
            </a:ln>
          </p:spPr>
        </p:sp>
        <p:sp>
          <p:nvSpPr>
            <p:cNvPr id="41" name="TextBox 41"/>
            <p:cNvSpPr txBox="1"/>
            <p:nvPr/>
          </p:nvSpPr>
          <p:spPr>
            <a:xfrm>
              <a:off x="4756404" y="2394585"/>
              <a:ext cx="1708404" cy="234696"/>
            </a:xfrm>
            <a:prstGeom prst="rect">
              <a:avLst/>
            </a:prstGeom>
            <a:noFill/>
            <a:ln>
              <a:noFill/>
            </a:ln>
          </p:spPr>
          <p:txBody>
            <a:bodyPr wrap="none" lIns="0" tIns="0" rIns="0" bIns="0" anchor="t" anchorCtr="0">
              <a:spAutoFit/>
            </a:bodyPr>
            <a:lstStyle/>
            <a:p>
              <a:pPr algn="l"/>
              <a:r>
                <a:rPr lang="zh-CN" sz="1200" b="1" dirty="0">
                  <a:solidFill>
                    <a:srgbClr val="1D1D1A"/>
                  </a:solidFill>
                  <a:latin typeface="Arial"/>
                  <a:ea typeface="Microsoft YaHei"/>
                  <a:cs typeface="Arial"/>
                </a:rPr>
                <a:t>波兰并购构建集成能力</a:t>
              </a:r>
            </a:p>
          </p:txBody>
        </p:sp>
        <p:sp>
          <p:nvSpPr>
            <p:cNvPr id="42" name="TextBox 42"/>
            <p:cNvSpPr txBox="1"/>
            <p:nvPr/>
          </p:nvSpPr>
          <p:spPr>
            <a:xfrm>
              <a:off x="4756404" y="2613660"/>
              <a:ext cx="2108768" cy="234696"/>
            </a:xfrm>
            <a:prstGeom prst="rect">
              <a:avLst/>
            </a:prstGeom>
            <a:noFill/>
            <a:ln>
              <a:noFill/>
            </a:ln>
          </p:spPr>
          <p:txBody>
            <a:bodyPr wrap="none" lIns="0" tIns="0" rIns="0" bIns="0" anchor="t" anchorCtr="0">
              <a:spAutoFit/>
            </a:bodyPr>
            <a:lstStyle/>
            <a:p>
              <a:pPr algn="l"/>
              <a:r>
                <a:rPr lang="zh-CN" sz="1200" dirty="0">
                  <a:solidFill>
                    <a:srgbClr val="5A5852"/>
                  </a:solidFill>
                  <a:latin typeface="Arial"/>
                  <a:ea typeface="Microsoft YaHei"/>
                  <a:cs typeface="Arial"/>
                </a:rPr>
                <a:t>BlueSoft/Craftware并购，</a:t>
              </a:r>
            </a:p>
          </p:txBody>
        </p:sp>
        <p:sp>
          <p:nvSpPr>
            <p:cNvPr id="43" name="TextBox 43"/>
            <p:cNvSpPr txBox="1"/>
            <p:nvPr/>
          </p:nvSpPr>
          <p:spPr>
            <a:xfrm>
              <a:off x="4756404" y="2823210"/>
              <a:ext cx="1702003" cy="234696"/>
            </a:xfrm>
            <a:prstGeom prst="rect">
              <a:avLst/>
            </a:prstGeom>
            <a:noFill/>
            <a:ln>
              <a:noFill/>
            </a:ln>
          </p:spPr>
          <p:txBody>
            <a:bodyPr wrap="none" lIns="0" tIns="0" rIns="0" bIns="0" anchor="t" anchorCtr="0">
              <a:spAutoFit/>
            </a:bodyPr>
            <a:lstStyle/>
            <a:p>
              <a:pPr algn="l"/>
              <a:r>
                <a:rPr lang="zh-CN" sz="1200" dirty="0">
                  <a:solidFill>
                    <a:srgbClr val="5A5852"/>
                  </a:solidFill>
                  <a:latin typeface="Arial"/>
                  <a:ea typeface="Microsoft YaHei"/>
                  <a:cs typeface="Arial"/>
                </a:rPr>
                <a:t>ICT占B2B36%（实证）</a:t>
              </a:r>
            </a:p>
          </p:txBody>
        </p:sp>
        <p:sp>
          <p:nvSpPr>
            <p:cNvPr id="44" name="Line 44"/>
            <p:cNvSpPr/>
            <p:nvPr/>
          </p:nvSpPr>
          <p:spPr>
            <a:xfrm>
              <a:off x="4762500" y="3143250"/>
              <a:ext cx="2667000" cy="9525"/>
            </a:xfrm>
            <a:custGeom>
              <a:avLst/>
              <a:gdLst/>
              <a:ahLst/>
              <a:cxnLst/>
              <a:rect l="l" t="t" r="r" b="b"/>
              <a:pathLst>
                <a:path w="2667000" h="9525">
                  <a:moveTo>
                    <a:pt x="0" y="0"/>
                  </a:moveTo>
                  <a:lnTo>
                    <a:pt x="2667000" y="0"/>
                  </a:lnTo>
                </a:path>
              </a:pathLst>
            </a:custGeom>
            <a:noFill/>
            <a:ln w="9525">
              <a:solidFill>
                <a:srgbClr val="DDDBD6"/>
              </a:solidFill>
            </a:ln>
          </p:spPr>
        </p:sp>
        <p:sp>
          <p:nvSpPr>
            <p:cNvPr id="45" name="TextBox 45"/>
            <p:cNvSpPr txBox="1"/>
            <p:nvPr/>
          </p:nvSpPr>
          <p:spPr>
            <a:xfrm>
              <a:off x="4756404" y="3280410"/>
              <a:ext cx="1538783" cy="234696"/>
            </a:xfrm>
            <a:prstGeom prst="rect">
              <a:avLst/>
            </a:prstGeom>
            <a:noFill/>
            <a:ln>
              <a:noFill/>
            </a:ln>
          </p:spPr>
          <p:txBody>
            <a:bodyPr wrap="none" lIns="0" tIns="0" rIns="0" bIns="0" anchor="t" anchorCtr="0">
              <a:spAutoFit/>
            </a:bodyPr>
            <a:lstStyle/>
            <a:p>
              <a:pPr algn="l"/>
              <a:r>
                <a:rPr lang="zh-CN" sz="1200" b="1" dirty="0">
                  <a:solidFill>
                    <a:srgbClr val="1D1D1A"/>
                  </a:solidFill>
                  <a:latin typeface="Arial"/>
                  <a:ea typeface="Microsoft YaHei"/>
                  <a:cs typeface="Arial"/>
                </a:rPr>
                <a:t>西班牙大型项目案例</a:t>
              </a:r>
            </a:p>
          </p:txBody>
        </p:sp>
        <p:sp>
          <p:nvSpPr>
            <p:cNvPr id="46" name="TextBox 46"/>
            <p:cNvSpPr txBox="1"/>
            <p:nvPr/>
          </p:nvSpPr>
          <p:spPr>
            <a:xfrm>
              <a:off x="4756404" y="3499485"/>
              <a:ext cx="2121103" cy="234696"/>
            </a:xfrm>
            <a:prstGeom prst="rect">
              <a:avLst/>
            </a:prstGeom>
            <a:noFill/>
            <a:ln>
              <a:noFill/>
            </a:ln>
          </p:spPr>
          <p:txBody>
            <a:bodyPr wrap="none" lIns="0" tIns="0" rIns="0" bIns="0" anchor="t" anchorCtr="0">
              <a:spAutoFit/>
            </a:bodyPr>
            <a:lstStyle/>
            <a:p>
              <a:pPr algn="l"/>
              <a:r>
                <a:rPr lang="zh-CN" sz="1200" dirty="0">
                  <a:solidFill>
                    <a:srgbClr val="5A5852"/>
                  </a:solidFill>
                  <a:latin typeface="Arial"/>
                  <a:ea typeface="Microsoft YaHei"/>
                  <a:cs typeface="Arial"/>
                </a:rPr>
                <a:t>邮政(Correos)中标框架、地</a:t>
              </a:r>
            </a:p>
          </p:txBody>
        </p:sp>
        <p:sp>
          <p:nvSpPr>
            <p:cNvPr id="47" name="TextBox 47"/>
            <p:cNvSpPr txBox="1"/>
            <p:nvPr/>
          </p:nvSpPr>
          <p:spPr>
            <a:xfrm>
              <a:off x="4756404" y="3709035"/>
              <a:ext cx="1864385" cy="234696"/>
            </a:xfrm>
            <a:prstGeom prst="rect">
              <a:avLst/>
            </a:prstGeom>
            <a:noFill/>
            <a:ln>
              <a:noFill/>
            </a:ln>
          </p:spPr>
          <p:txBody>
            <a:bodyPr wrap="none" lIns="0" tIns="0" rIns="0" bIns="0" anchor="t" anchorCtr="0">
              <a:spAutoFit/>
            </a:bodyPr>
            <a:lstStyle/>
            <a:p>
              <a:pPr algn="l"/>
              <a:r>
                <a:rPr lang="zh-CN" sz="1200" dirty="0">
                  <a:solidFill>
                    <a:srgbClr val="5A5852"/>
                  </a:solidFill>
                  <a:latin typeface="Arial"/>
                  <a:ea typeface="Microsoft YaHei"/>
                  <a:cs typeface="Arial"/>
                </a:rPr>
                <a:t>产(Merlin)/建筑(OHLA)</a:t>
              </a:r>
            </a:p>
          </p:txBody>
        </p:sp>
        <p:sp>
          <p:nvSpPr>
            <p:cNvPr id="48" name="Line 48"/>
            <p:cNvSpPr/>
            <p:nvPr/>
          </p:nvSpPr>
          <p:spPr>
            <a:xfrm>
              <a:off x="4762500" y="4029075"/>
              <a:ext cx="2667000" cy="9525"/>
            </a:xfrm>
            <a:custGeom>
              <a:avLst/>
              <a:gdLst/>
              <a:ahLst/>
              <a:cxnLst/>
              <a:rect l="l" t="t" r="r" b="b"/>
              <a:pathLst>
                <a:path w="2667000" h="9525">
                  <a:moveTo>
                    <a:pt x="0" y="0"/>
                  </a:moveTo>
                  <a:lnTo>
                    <a:pt x="2667000" y="0"/>
                  </a:lnTo>
                </a:path>
              </a:pathLst>
            </a:custGeom>
            <a:noFill/>
            <a:ln w="9525">
              <a:solidFill>
                <a:srgbClr val="DDDBD6"/>
              </a:solidFill>
            </a:ln>
          </p:spPr>
        </p:sp>
        <p:sp>
          <p:nvSpPr>
            <p:cNvPr id="49" name="TextBox 49"/>
            <p:cNvSpPr txBox="1"/>
            <p:nvPr/>
          </p:nvSpPr>
          <p:spPr>
            <a:xfrm>
              <a:off x="4756404" y="4166235"/>
              <a:ext cx="1369162" cy="234696"/>
            </a:xfrm>
            <a:prstGeom prst="rect">
              <a:avLst/>
            </a:prstGeom>
            <a:noFill/>
            <a:ln>
              <a:noFill/>
            </a:ln>
          </p:spPr>
          <p:txBody>
            <a:bodyPr wrap="none" lIns="0" tIns="0" rIns="0" bIns="0" anchor="t" anchorCtr="0">
              <a:spAutoFit/>
            </a:bodyPr>
            <a:lstStyle/>
            <a:p>
              <a:pPr algn="l"/>
              <a:r>
                <a:rPr lang="zh-CN" sz="1200" b="1" dirty="0">
                  <a:solidFill>
                    <a:srgbClr val="1D1D1A"/>
                  </a:solidFill>
                  <a:latin typeface="Arial"/>
                  <a:ea typeface="Microsoft YaHei"/>
                  <a:cs typeface="Arial"/>
                </a:rPr>
                <a:t>罗马尼亚网络安全</a:t>
              </a:r>
            </a:p>
          </p:txBody>
        </p:sp>
        <p:sp>
          <p:nvSpPr>
            <p:cNvPr id="50" name="TextBox 50"/>
            <p:cNvSpPr txBox="1"/>
            <p:nvPr/>
          </p:nvSpPr>
          <p:spPr>
            <a:xfrm>
              <a:off x="4756404" y="4385310"/>
              <a:ext cx="1932432" cy="234696"/>
            </a:xfrm>
            <a:prstGeom prst="rect">
              <a:avLst/>
            </a:prstGeom>
            <a:noFill/>
            <a:ln>
              <a:noFill/>
            </a:ln>
          </p:spPr>
          <p:txBody>
            <a:bodyPr wrap="none" lIns="0" tIns="0" rIns="0" bIns="0" anchor="t" anchorCtr="0">
              <a:spAutoFit/>
            </a:bodyPr>
            <a:lstStyle/>
            <a:p>
              <a:pPr algn="l"/>
              <a:r>
                <a:rPr lang="zh-CN" sz="1200" dirty="0">
                  <a:solidFill>
                    <a:srgbClr val="5A5852"/>
                  </a:solidFill>
                  <a:latin typeface="Arial"/>
                  <a:ea typeface="Microsoft YaHei"/>
                  <a:cs typeface="Arial"/>
                </a:rPr>
                <a:t>SCUT合资，B2B收入+14%</a:t>
              </a:r>
            </a:p>
          </p:txBody>
        </p:sp>
        <p:sp>
          <p:nvSpPr>
            <p:cNvPr id="51" name="Rectangle 51"/>
            <p:cNvSpPr/>
            <p:nvPr/>
          </p:nvSpPr>
          <p:spPr>
            <a:xfrm>
              <a:off x="4572000" y="5143500"/>
              <a:ext cx="3048000" cy="495300"/>
            </a:xfrm>
            <a:prstGeom prst="roundRect">
              <a:avLst>
                <a:gd name="adj" fmla="val 15385"/>
              </a:avLst>
            </a:prstGeom>
            <a:solidFill>
              <a:srgbClr val="F7F6F3"/>
            </a:solidFill>
            <a:ln w="9525">
              <a:solidFill>
                <a:srgbClr val="E9002F"/>
              </a:solidFill>
            </a:ln>
          </p:spPr>
        </p:sp>
        <p:sp>
          <p:nvSpPr>
            <p:cNvPr id="52" name="TextBox 52"/>
            <p:cNvSpPr txBox="1"/>
            <p:nvPr/>
          </p:nvSpPr>
          <p:spPr>
            <a:xfrm>
              <a:off x="4756404" y="5318760"/>
              <a:ext cx="2674925" cy="234696"/>
            </a:xfrm>
            <a:prstGeom prst="rect">
              <a:avLst/>
            </a:prstGeom>
            <a:noFill/>
            <a:ln>
              <a:noFill/>
            </a:ln>
          </p:spPr>
          <p:txBody>
            <a:bodyPr wrap="none" lIns="0" tIns="0" rIns="0" bIns="0" anchor="t" anchorCtr="0">
              <a:spAutoFit/>
            </a:bodyPr>
            <a:lstStyle/>
            <a:p>
              <a:pPr algn="l"/>
              <a:r>
                <a:rPr lang="zh-CN" sz="1200" dirty="0">
                  <a:solidFill>
                    <a:srgbClr val="1D1D1A"/>
                  </a:solidFill>
                  <a:latin typeface="Arial"/>
                  <a:ea typeface="Microsoft YaHei"/>
                  <a:cs typeface="Arial"/>
                </a:rPr>
                <a:t>波兰模式是OMEA可借鉴的对标案例</a:t>
              </a:r>
            </a:p>
          </p:txBody>
        </p:sp>
      </p:grpSp>
      <p:grpSp>
        <p:nvGrpSpPr>
          <p:cNvPr id="77" name="Group 77"/>
          <p:cNvGrpSpPr/>
          <p:nvPr/>
        </p:nvGrpSpPr>
        <p:grpSpPr>
          <a:xfrm>
            <a:off x="8048625" y="1238250"/>
            <a:ext cx="3476625" cy="4762500"/>
            <a:chOff x="8048625" y="1238250"/>
            <a:chExt cx="3476625" cy="4762500"/>
          </a:xfrm>
        </p:grpSpPr>
        <p:sp>
          <p:nvSpPr>
            <p:cNvPr id="54" name="Rectangle 54"/>
            <p:cNvSpPr/>
            <p:nvPr/>
          </p:nvSpPr>
          <p:spPr>
            <a:xfrm>
              <a:off x="8096250" y="1238250"/>
              <a:ext cx="3429000" cy="4762500"/>
            </a:xfrm>
            <a:prstGeom prst="roundRect">
              <a:avLst>
                <a:gd name="adj" fmla="val 3333"/>
              </a:avLst>
            </a:prstGeom>
            <a:solidFill>
              <a:srgbClr val="F7F6F3"/>
            </a:solidFill>
            <a:ln>
              <a:noFill/>
            </a:ln>
          </p:spPr>
        </p:sp>
        <p:sp>
          <p:nvSpPr>
            <p:cNvPr id="55" name="Freeform 55"/>
            <p:cNvSpPr/>
            <p:nvPr/>
          </p:nvSpPr>
          <p:spPr>
            <a:xfrm>
              <a:off x="8048625" y="1238250"/>
              <a:ext cx="2286000" cy="762000"/>
            </a:xfrm>
            <a:custGeom>
              <a:avLst/>
              <a:gdLst/>
              <a:ahLst/>
              <a:cxnLst/>
              <a:rect l="l" t="t" r="r" b="b"/>
              <a:pathLst>
                <a:path w="2286000" h="762000">
                  <a:moveTo>
                    <a:pt x="1428750" y="0"/>
                  </a:moveTo>
                  <a:lnTo>
                    <a:pt x="2095500" y="0"/>
                  </a:lnTo>
                  <a:cubicBezTo>
                    <a:pt x="2200710" y="0"/>
                    <a:pt x="2286000" y="85290"/>
                    <a:pt x="2286000" y="190500"/>
                  </a:cubicBezTo>
                  <a:lnTo>
                    <a:pt x="2286000" y="762000"/>
                  </a:lnTo>
                  <a:lnTo>
                    <a:pt x="0" y="762000"/>
                  </a:lnTo>
                  <a:lnTo>
                    <a:pt x="0" y="190500"/>
                  </a:lnTo>
                  <a:cubicBezTo>
                    <a:pt x="0" y="85290"/>
                    <a:pt x="85290" y="0"/>
                    <a:pt x="190500" y="0"/>
                  </a:cubicBezTo>
                  <a:close/>
                </a:path>
              </a:pathLst>
            </a:custGeom>
            <a:solidFill>
              <a:srgbClr val="F4A100"/>
            </a:solidFill>
            <a:ln>
              <a:noFill/>
            </a:ln>
          </p:spPr>
        </p:sp>
        <p:grpSp>
          <p:nvGrpSpPr>
            <p:cNvPr id="62" name="Group 62"/>
            <p:cNvGrpSpPr/>
            <p:nvPr/>
          </p:nvGrpSpPr>
          <p:grpSpPr>
            <a:xfrm>
              <a:off x="9683750" y="1492250"/>
              <a:ext cx="263526" cy="269876"/>
              <a:chOff x="9683750" y="1492250"/>
              <a:chExt cx="263526" cy="269876"/>
            </a:xfrm>
          </p:grpSpPr>
          <p:sp>
            <p:nvSpPr>
              <p:cNvPr id="56" name="Freeform 56"/>
              <p:cNvSpPr/>
              <p:nvPr/>
            </p:nvSpPr>
            <p:spPr>
              <a:xfrm>
                <a:off x="9937751" y="1492250"/>
                <a:ext cx="9525" cy="127000"/>
              </a:xfrm>
              <a:custGeom>
                <a:avLst/>
                <a:gdLst/>
                <a:ahLst/>
                <a:cxnLst/>
                <a:rect l="l" t="t" r="r" b="b"/>
                <a:pathLst>
                  <a:path w="9525" h="127000">
                    <a:moveTo>
                      <a:pt x="0" y="0"/>
                    </a:moveTo>
                    <a:lnTo>
                      <a:pt x="0" y="127000"/>
                    </a:lnTo>
                  </a:path>
                </a:pathLst>
              </a:custGeom>
              <a:noFill/>
              <a:ln w="19050">
                <a:solidFill>
                  <a:srgbClr val="FFFFFF"/>
                </a:solidFill>
              </a:ln>
            </p:spPr>
          </p:sp>
          <p:sp>
            <p:nvSpPr>
              <p:cNvPr id="57" name="Freeform 57"/>
              <p:cNvSpPr/>
              <p:nvPr/>
            </p:nvSpPr>
            <p:spPr>
              <a:xfrm>
                <a:off x="9874251" y="1500188"/>
                <a:ext cx="9525" cy="111125"/>
              </a:xfrm>
              <a:custGeom>
                <a:avLst/>
                <a:gdLst/>
                <a:ahLst/>
                <a:cxnLst/>
                <a:rect l="l" t="t" r="r" b="b"/>
                <a:pathLst>
                  <a:path w="9525" h="111125">
                    <a:moveTo>
                      <a:pt x="0" y="0"/>
                    </a:moveTo>
                    <a:lnTo>
                      <a:pt x="0" y="111125"/>
                    </a:lnTo>
                  </a:path>
                </a:pathLst>
              </a:custGeom>
              <a:noFill/>
              <a:ln w="19050">
                <a:solidFill>
                  <a:srgbClr val="FFFFFF"/>
                </a:solidFill>
              </a:ln>
            </p:spPr>
          </p:sp>
          <p:sp>
            <p:nvSpPr>
              <p:cNvPr id="58" name="Freeform 58"/>
              <p:cNvSpPr/>
              <p:nvPr/>
            </p:nvSpPr>
            <p:spPr>
              <a:xfrm>
                <a:off x="9810750" y="1508125"/>
                <a:ext cx="9525" cy="254001"/>
              </a:xfrm>
              <a:custGeom>
                <a:avLst/>
                <a:gdLst/>
                <a:ahLst/>
                <a:cxnLst/>
                <a:rect l="l" t="t" r="r" b="b"/>
                <a:pathLst>
                  <a:path w="9525" h="254001">
                    <a:moveTo>
                      <a:pt x="0" y="0"/>
                    </a:moveTo>
                    <a:lnTo>
                      <a:pt x="0" y="254001"/>
                    </a:lnTo>
                  </a:path>
                </a:pathLst>
              </a:custGeom>
              <a:noFill/>
              <a:ln w="19050">
                <a:solidFill>
                  <a:srgbClr val="FFFFFF"/>
                </a:solidFill>
              </a:ln>
            </p:spPr>
          </p:sp>
          <p:sp>
            <p:nvSpPr>
              <p:cNvPr id="59" name="Freeform 59"/>
              <p:cNvSpPr/>
              <p:nvPr/>
            </p:nvSpPr>
            <p:spPr>
              <a:xfrm>
                <a:off x="9747250" y="1516063"/>
                <a:ext cx="9525" cy="79375"/>
              </a:xfrm>
              <a:custGeom>
                <a:avLst/>
                <a:gdLst/>
                <a:ahLst/>
                <a:cxnLst/>
                <a:rect l="l" t="t" r="r" b="b"/>
                <a:pathLst>
                  <a:path w="9525" h="79375">
                    <a:moveTo>
                      <a:pt x="0" y="0"/>
                    </a:moveTo>
                    <a:lnTo>
                      <a:pt x="0" y="79375"/>
                    </a:lnTo>
                  </a:path>
                </a:pathLst>
              </a:custGeom>
              <a:noFill/>
              <a:ln w="19050">
                <a:solidFill>
                  <a:srgbClr val="FFFFFF"/>
                </a:solidFill>
              </a:ln>
            </p:spPr>
          </p:sp>
          <p:sp>
            <p:nvSpPr>
              <p:cNvPr id="60" name="Freeform 60"/>
              <p:cNvSpPr/>
              <p:nvPr/>
            </p:nvSpPr>
            <p:spPr>
              <a:xfrm>
                <a:off x="9683750" y="1524000"/>
                <a:ext cx="9525" cy="63500"/>
              </a:xfrm>
              <a:custGeom>
                <a:avLst/>
                <a:gdLst/>
                <a:ahLst/>
                <a:cxnLst/>
                <a:rect l="l" t="t" r="r" b="b"/>
                <a:pathLst>
                  <a:path w="9525" h="63500">
                    <a:moveTo>
                      <a:pt x="0" y="0"/>
                    </a:moveTo>
                    <a:lnTo>
                      <a:pt x="0" y="63500"/>
                    </a:lnTo>
                  </a:path>
                </a:pathLst>
              </a:custGeom>
              <a:noFill/>
              <a:ln w="19050">
                <a:solidFill>
                  <a:srgbClr val="FFFFFF"/>
                </a:solidFill>
              </a:ln>
            </p:spPr>
          </p:sp>
          <p:sp>
            <p:nvSpPr>
              <p:cNvPr id="61" name="Freeform 61"/>
              <p:cNvSpPr/>
              <p:nvPr/>
            </p:nvSpPr>
            <p:spPr>
              <a:xfrm>
                <a:off x="9683750" y="1555750"/>
                <a:ext cx="254001" cy="9525"/>
              </a:xfrm>
              <a:custGeom>
                <a:avLst/>
                <a:gdLst/>
                <a:ahLst/>
                <a:cxnLst/>
                <a:rect l="l" t="t" r="r" b="b"/>
                <a:pathLst>
                  <a:path w="254001" h="9525">
                    <a:moveTo>
                      <a:pt x="254001" y="0"/>
                    </a:moveTo>
                    <a:lnTo>
                      <a:pt x="0" y="0"/>
                    </a:lnTo>
                  </a:path>
                </a:pathLst>
              </a:custGeom>
              <a:noFill/>
              <a:ln w="19050">
                <a:solidFill>
                  <a:srgbClr val="FFFFFF"/>
                </a:solidFill>
              </a:ln>
            </p:spPr>
          </p:sp>
        </p:grpSp>
        <p:sp>
          <p:nvSpPr>
            <p:cNvPr id="63" name="TextBox 63"/>
            <p:cNvSpPr txBox="1"/>
            <p:nvPr/>
          </p:nvSpPr>
          <p:spPr>
            <a:xfrm>
              <a:off x="9059094" y="1778318"/>
              <a:ext cx="1979562"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OMEA · 基础设施跃迁</a:t>
              </a:r>
            </a:p>
          </p:txBody>
        </p:sp>
        <p:sp>
          <p:nvSpPr>
            <p:cNvPr id="64" name="Rectangle 64"/>
            <p:cNvSpPr/>
            <p:nvPr/>
          </p:nvSpPr>
          <p:spPr>
            <a:xfrm>
              <a:off x="8286750" y="2190750"/>
              <a:ext cx="3048000" cy="3619500"/>
            </a:xfrm>
            <a:prstGeom prst="roundRect">
              <a:avLst>
                <a:gd name="adj" fmla="val 3125"/>
              </a:avLst>
            </a:prstGeom>
            <a:solidFill>
              <a:srgbClr val="FFFFFF"/>
            </a:solidFill>
            <a:ln>
              <a:noFill/>
            </a:ln>
          </p:spPr>
        </p:sp>
        <p:sp>
          <p:nvSpPr>
            <p:cNvPr id="65" name="TextBox 65"/>
            <p:cNvSpPr txBox="1"/>
            <p:nvPr/>
          </p:nvSpPr>
          <p:spPr>
            <a:xfrm>
              <a:off x="8471154" y="2394585"/>
              <a:ext cx="2058288" cy="234696"/>
            </a:xfrm>
            <a:prstGeom prst="rect">
              <a:avLst/>
            </a:prstGeom>
            <a:noFill/>
            <a:ln>
              <a:noFill/>
            </a:ln>
          </p:spPr>
          <p:txBody>
            <a:bodyPr wrap="none" lIns="0" tIns="0" rIns="0" bIns="0" anchor="t" anchorCtr="0">
              <a:spAutoFit/>
            </a:bodyPr>
            <a:lstStyle/>
            <a:p>
              <a:pPr algn="l"/>
              <a:r>
                <a:rPr lang="zh-CN" sz="1200" b="1" dirty="0">
                  <a:solidFill>
                    <a:srgbClr val="1D1D1A"/>
                  </a:solidFill>
                  <a:latin typeface="Arial"/>
                  <a:ea typeface="Microsoft YaHei"/>
                  <a:cs typeface="Arial"/>
                </a:rPr>
                <a:t>矿业(Essakane Mine马里)</a:t>
              </a:r>
            </a:p>
          </p:txBody>
        </p:sp>
        <p:sp>
          <p:nvSpPr>
            <p:cNvPr id="66" name="TextBox 66"/>
            <p:cNvSpPr txBox="1"/>
            <p:nvPr/>
          </p:nvSpPr>
          <p:spPr>
            <a:xfrm>
              <a:off x="8471154" y="2613660"/>
              <a:ext cx="1895043" cy="234696"/>
            </a:xfrm>
            <a:prstGeom prst="rect">
              <a:avLst/>
            </a:prstGeom>
            <a:noFill/>
            <a:ln>
              <a:noFill/>
            </a:ln>
          </p:spPr>
          <p:txBody>
            <a:bodyPr wrap="none" lIns="0" tIns="0" rIns="0" bIns="0" anchor="t" anchorCtr="0">
              <a:spAutoFit/>
            </a:bodyPr>
            <a:lstStyle/>
            <a:p>
              <a:pPr algn="l"/>
              <a:r>
                <a:rPr lang="zh-CN" sz="1200" dirty="0">
                  <a:solidFill>
                    <a:srgbClr val="5A5852"/>
                  </a:solidFill>
                  <a:latin typeface="Arial"/>
                  <a:ea typeface="Microsoft YaHei"/>
                  <a:cs typeface="Arial"/>
                </a:rPr>
                <a:t>华为/Nokia MPN，G3计划</a:t>
              </a:r>
            </a:p>
          </p:txBody>
        </p:sp>
        <p:sp>
          <p:nvSpPr>
            <p:cNvPr id="67" name="TextBox 67"/>
            <p:cNvSpPr txBox="1"/>
            <p:nvPr/>
          </p:nvSpPr>
          <p:spPr>
            <a:xfrm>
              <a:off x="8471154" y="2823210"/>
              <a:ext cx="1466088" cy="234696"/>
            </a:xfrm>
            <a:prstGeom prst="rect">
              <a:avLst/>
            </a:prstGeom>
            <a:noFill/>
            <a:ln>
              <a:noFill/>
            </a:ln>
          </p:spPr>
          <p:txBody>
            <a:bodyPr wrap="none" lIns="0" tIns="0" rIns="0" bIns="0" anchor="t" anchorCtr="0">
              <a:spAutoFit/>
            </a:bodyPr>
            <a:lstStyle/>
            <a:p>
              <a:pPr algn="l"/>
              <a:r>
                <a:rPr lang="zh-CN" sz="1200" dirty="0">
                  <a:solidFill>
                    <a:srgbClr val="5A5852"/>
                  </a:solidFill>
                  <a:latin typeface="Arial"/>
                  <a:ea typeface="Microsoft YaHei"/>
                  <a:cs typeface="Arial"/>
                </a:rPr>
                <a:t>推动矿业标准化打包</a:t>
              </a:r>
            </a:p>
          </p:txBody>
        </p:sp>
        <p:sp>
          <p:nvSpPr>
            <p:cNvPr id="68" name="Line 68"/>
            <p:cNvSpPr/>
            <p:nvPr/>
          </p:nvSpPr>
          <p:spPr>
            <a:xfrm>
              <a:off x="8477250" y="3143250"/>
              <a:ext cx="2667000" cy="9525"/>
            </a:xfrm>
            <a:custGeom>
              <a:avLst/>
              <a:gdLst/>
              <a:ahLst/>
              <a:cxnLst/>
              <a:rect l="l" t="t" r="r" b="b"/>
              <a:pathLst>
                <a:path w="2667000" h="9525">
                  <a:moveTo>
                    <a:pt x="0" y="0"/>
                  </a:moveTo>
                  <a:lnTo>
                    <a:pt x="2667000" y="0"/>
                  </a:lnTo>
                </a:path>
              </a:pathLst>
            </a:custGeom>
            <a:noFill/>
            <a:ln w="9525">
              <a:solidFill>
                <a:srgbClr val="DDDBD6"/>
              </a:solidFill>
            </a:ln>
          </p:spPr>
        </p:sp>
        <p:sp>
          <p:nvSpPr>
            <p:cNvPr id="69" name="TextBox 69"/>
            <p:cNvSpPr txBox="1"/>
            <p:nvPr/>
          </p:nvSpPr>
          <p:spPr>
            <a:xfrm>
              <a:off x="8471154" y="3280410"/>
              <a:ext cx="2053535" cy="234696"/>
            </a:xfrm>
            <a:prstGeom prst="rect">
              <a:avLst/>
            </a:prstGeom>
            <a:noFill/>
            <a:ln>
              <a:noFill/>
            </a:ln>
          </p:spPr>
          <p:txBody>
            <a:bodyPr wrap="none" lIns="0" tIns="0" rIns="0" bIns="0" anchor="t" anchorCtr="0">
              <a:spAutoFit/>
            </a:bodyPr>
            <a:lstStyle/>
            <a:p>
              <a:pPr algn="l"/>
              <a:r>
                <a:rPr lang="zh-CN" sz="1200" b="1" dirty="0">
                  <a:solidFill>
                    <a:srgbClr val="1D1D1A"/>
                  </a:solidFill>
                  <a:latin typeface="Arial"/>
                  <a:ea typeface="Microsoft YaHei"/>
                  <a:cs typeface="Arial"/>
                </a:rPr>
                <a:t>港口(Tanger Port马士基/</a:t>
              </a:r>
            </a:p>
          </p:txBody>
        </p:sp>
        <p:sp>
          <p:nvSpPr>
            <p:cNvPr id="70" name="TextBox 70"/>
            <p:cNvSpPr txBox="1"/>
            <p:nvPr/>
          </p:nvSpPr>
          <p:spPr>
            <a:xfrm>
              <a:off x="8471154" y="3499485"/>
              <a:ext cx="1120793" cy="234696"/>
            </a:xfrm>
            <a:prstGeom prst="rect">
              <a:avLst/>
            </a:prstGeom>
            <a:noFill/>
            <a:ln>
              <a:noFill/>
            </a:ln>
          </p:spPr>
          <p:txBody>
            <a:bodyPr wrap="none" lIns="0" tIns="0" rIns="0" bIns="0" anchor="t" anchorCtr="0">
              <a:spAutoFit/>
            </a:bodyPr>
            <a:lstStyle/>
            <a:p>
              <a:pPr algn="l"/>
              <a:r>
                <a:rPr lang="zh-CN" sz="1200" dirty="0">
                  <a:solidFill>
                    <a:srgbClr val="5A5852"/>
                  </a:solidFill>
                  <a:latin typeface="Arial"/>
                  <a:ea typeface="Microsoft YaHei"/>
                  <a:cs typeface="Arial"/>
                </a:rPr>
                <a:t>Aqaba CT约旦)</a:t>
              </a:r>
            </a:p>
          </p:txBody>
        </p:sp>
        <p:sp>
          <p:nvSpPr>
            <p:cNvPr id="71" name="TextBox 71"/>
            <p:cNvSpPr txBox="1"/>
            <p:nvPr/>
          </p:nvSpPr>
          <p:spPr>
            <a:xfrm>
              <a:off x="8471154" y="3709035"/>
              <a:ext cx="1304544" cy="234696"/>
            </a:xfrm>
            <a:prstGeom prst="rect">
              <a:avLst/>
            </a:prstGeom>
            <a:noFill/>
            <a:ln>
              <a:noFill/>
            </a:ln>
          </p:spPr>
          <p:txBody>
            <a:bodyPr wrap="none" lIns="0" tIns="0" rIns="0" bIns="0" anchor="t" anchorCtr="0">
              <a:spAutoFit/>
            </a:bodyPr>
            <a:lstStyle/>
            <a:p>
              <a:pPr algn="l"/>
              <a:r>
                <a:rPr lang="zh-CN" sz="1200" dirty="0">
                  <a:solidFill>
                    <a:srgbClr val="5A5852"/>
                  </a:solidFill>
                  <a:latin typeface="Arial"/>
                  <a:ea typeface="Microsoft YaHei"/>
                  <a:cs typeface="Arial"/>
                </a:rPr>
                <a:t>智慧港口专网连接</a:t>
              </a:r>
            </a:p>
          </p:txBody>
        </p:sp>
        <p:sp>
          <p:nvSpPr>
            <p:cNvPr id="72" name="Line 72"/>
            <p:cNvSpPr/>
            <p:nvPr/>
          </p:nvSpPr>
          <p:spPr>
            <a:xfrm>
              <a:off x="8477250" y="4029075"/>
              <a:ext cx="2667000" cy="9525"/>
            </a:xfrm>
            <a:custGeom>
              <a:avLst/>
              <a:gdLst/>
              <a:ahLst/>
              <a:cxnLst/>
              <a:rect l="l" t="t" r="r" b="b"/>
              <a:pathLst>
                <a:path w="2667000" h="9525">
                  <a:moveTo>
                    <a:pt x="0" y="0"/>
                  </a:moveTo>
                  <a:lnTo>
                    <a:pt x="2667000" y="0"/>
                  </a:lnTo>
                </a:path>
              </a:pathLst>
            </a:custGeom>
            <a:noFill/>
            <a:ln w="9525">
              <a:solidFill>
                <a:srgbClr val="DDDBD6"/>
              </a:solidFill>
            </a:ln>
          </p:spPr>
        </p:sp>
        <p:sp>
          <p:nvSpPr>
            <p:cNvPr id="73" name="TextBox 73"/>
            <p:cNvSpPr txBox="1"/>
            <p:nvPr/>
          </p:nvSpPr>
          <p:spPr>
            <a:xfrm>
              <a:off x="8471154" y="4166235"/>
              <a:ext cx="1555745" cy="234696"/>
            </a:xfrm>
            <a:prstGeom prst="rect">
              <a:avLst/>
            </a:prstGeom>
            <a:noFill/>
            <a:ln>
              <a:noFill/>
            </a:ln>
          </p:spPr>
          <p:txBody>
            <a:bodyPr wrap="none" lIns="0" tIns="0" rIns="0" bIns="0" anchor="t" anchorCtr="0">
              <a:spAutoFit/>
            </a:bodyPr>
            <a:lstStyle/>
            <a:p>
              <a:pPr algn="l"/>
              <a:r>
                <a:rPr lang="zh-CN" sz="1200" b="1" dirty="0">
                  <a:solidFill>
                    <a:srgbClr val="1D1D1A"/>
                  </a:solidFill>
                  <a:latin typeface="Arial"/>
                  <a:ea typeface="Microsoft YaHei"/>
                  <a:cs typeface="Arial"/>
                </a:rPr>
                <a:t>电子政务(塞内加尔)</a:t>
              </a:r>
            </a:p>
          </p:txBody>
        </p:sp>
        <p:sp>
          <p:nvSpPr>
            <p:cNvPr id="74" name="TextBox 74"/>
            <p:cNvSpPr txBox="1"/>
            <p:nvPr/>
          </p:nvSpPr>
          <p:spPr>
            <a:xfrm>
              <a:off x="8471154" y="4385310"/>
              <a:ext cx="1143000" cy="234696"/>
            </a:xfrm>
            <a:prstGeom prst="rect">
              <a:avLst/>
            </a:prstGeom>
            <a:noFill/>
            <a:ln>
              <a:noFill/>
            </a:ln>
          </p:spPr>
          <p:txBody>
            <a:bodyPr wrap="none" lIns="0" tIns="0" rIns="0" bIns="0" anchor="t" anchorCtr="0">
              <a:spAutoFit/>
            </a:bodyPr>
            <a:lstStyle/>
            <a:p>
              <a:pPr algn="l"/>
              <a:r>
                <a:rPr lang="zh-CN" sz="1200" dirty="0">
                  <a:solidFill>
                    <a:srgbClr val="5A5852"/>
                  </a:solidFill>
                  <a:latin typeface="Arial"/>
                  <a:ea typeface="Microsoft YaHei"/>
                  <a:cs typeface="Arial"/>
                </a:rPr>
                <a:t>新技术协议红利</a:t>
              </a:r>
            </a:p>
          </p:txBody>
        </p:sp>
        <p:sp>
          <p:nvSpPr>
            <p:cNvPr id="75" name="Rectangle 75"/>
            <p:cNvSpPr/>
            <p:nvPr/>
          </p:nvSpPr>
          <p:spPr>
            <a:xfrm>
              <a:off x="8286750" y="5143500"/>
              <a:ext cx="3048000" cy="495300"/>
            </a:xfrm>
            <a:prstGeom prst="roundRect">
              <a:avLst>
                <a:gd name="adj" fmla="val 15385"/>
              </a:avLst>
            </a:prstGeom>
            <a:solidFill>
              <a:srgbClr val="F7F6F3"/>
            </a:solidFill>
            <a:ln w="9525">
              <a:solidFill>
                <a:srgbClr val="F4A100"/>
              </a:solidFill>
            </a:ln>
          </p:spPr>
        </p:sp>
        <p:sp>
          <p:nvSpPr>
            <p:cNvPr id="76" name="TextBox 76"/>
            <p:cNvSpPr txBox="1"/>
            <p:nvPr/>
          </p:nvSpPr>
          <p:spPr>
            <a:xfrm>
              <a:off x="8471154" y="5318760"/>
              <a:ext cx="2596896" cy="234696"/>
            </a:xfrm>
            <a:prstGeom prst="rect">
              <a:avLst/>
            </a:prstGeom>
            <a:noFill/>
            <a:ln>
              <a:noFill/>
            </a:ln>
          </p:spPr>
          <p:txBody>
            <a:bodyPr wrap="none" lIns="0" tIns="0" rIns="0" bIns="0" anchor="t" anchorCtr="0">
              <a:spAutoFit/>
            </a:bodyPr>
            <a:lstStyle/>
            <a:p>
              <a:pPr algn="l"/>
              <a:r>
                <a:rPr lang="zh-CN" sz="1200" dirty="0">
                  <a:solidFill>
                    <a:srgbClr val="1D1D1A"/>
                  </a:solidFill>
                  <a:latin typeface="Arial"/>
                  <a:ea typeface="Microsoft YaHei"/>
                  <a:cs typeface="Arial"/>
                </a:rPr>
                <a:t>矿业港口是华为参与度最高的切入点</a:t>
              </a:r>
            </a:p>
          </p:txBody>
        </p:sp>
      </p:grpSp>
      <p:grpSp>
        <p:nvGrpSpPr>
          <p:cNvPr id="80" name="Group 80"/>
          <p:cNvGrpSpPr/>
          <p:nvPr/>
        </p:nvGrpSpPr>
        <p:grpSpPr>
          <a:xfrm>
            <a:off x="755904" y="6595110"/>
            <a:ext cx="10680192" cy="234696"/>
            <a:chOff x="755904" y="6595110"/>
            <a:chExt cx="10680192" cy="234696"/>
          </a:xfrm>
        </p:grpSpPr>
        <p:sp>
          <p:nvSpPr>
            <p:cNvPr id="78" name="TextBox 78"/>
            <p:cNvSpPr txBox="1"/>
            <p:nvPr/>
          </p:nvSpPr>
          <p:spPr>
            <a:xfrm>
              <a:off x="755904" y="6595110"/>
              <a:ext cx="6131357" cy="234696"/>
            </a:xfrm>
            <a:prstGeom prst="rect">
              <a:avLst/>
            </a:prstGeom>
            <a:noFill/>
            <a:ln>
              <a:noFill/>
            </a:ln>
          </p:spPr>
          <p:txBody>
            <a:bodyPr wrap="none" lIns="0" tIns="0" rIns="0" bIns="0" anchor="t" anchorCtr="0">
              <a:spAutoFit/>
            </a:bodyPr>
            <a:lstStyle/>
            <a:p>
              <a:pPr algn="l"/>
              <a:r>
                <a:rPr lang="zh-CN" sz="1200" dirty="0">
                  <a:solidFill>
                    <a:srgbClr val="8A8880"/>
                  </a:solidFill>
                  <a:latin typeface="Arial"/>
                  <a:ea typeface="Microsoft YaHei"/>
                  <a:cs typeface="Arial"/>
                </a:rPr>
                <a:t>三区域行业叙事逻辑不同——OB存量深耕，OEU集成能力建设，OMEA基础设施跃迁</a:t>
              </a:r>
            </a:p>
          </p:txBody>
        </p:sp>
        <p:sp>
          <p:nvSpPr>
            <p:cNvPr id="79" name="TextBox 79"/>
            <p:cNvSpPr txBox="1"/>
            <p:nvPr/>
          </p:nvSpPr>
          <p:spPr>
            <a:xfrm>
              <a:off x="9530080" y="6595110"/>
              <a:ext cx="1906016" cy="234696"/>
            </a:xfrm>
            <a:prstGeom prst="rect">
              <a:avLst/>
            </a:prstGeom>
            <a:noFill/>
            <a:ln>
              <a:noFill/>
            </a:ln>
          </p:spPr>
          <p:txBody>
            <a:bodyPr wrap="none" lIns="0" tIns="0" rIns="0" bIns="0" anchor="t" anchorCtr="0">
              <a:spAutoFit/>
            </a:bodyPr>
            <a:lstStyle/>
            <a:p>
              <a:pPr algn="r"/>
              <a:r>
                <a:rPr lang="en-US" sz="1200" dirty="0">
                  <a:solidFill>
                    <a:srgbClr val="8A8880"/>
                  </a:solidFill>
                  <a:latin typeface="Arial"/>
                  <a:ea typeface="Arial"/>
                  <a:cs typeface="Arial"/>
                </a:rPr>
                <a:t>04 · Huawei Confidential</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745998" y="212408"/>
            <a:ext cx="10684002" cy="921448"/>
            <a:chOff x="745998" y="212408"/>
            <a:chExt cx="10684002" cy="921448"/>
          </a:xfrm>
        </p:grpSpPr>
        <p:sp>
          <p:nvSpPr>
            <p:cNvPr id="3" name="TextBox 3"/>
            <p:cNvSpPr txBox="1"/>
            <p:nvPr/>
          </p:nvSpPr>
          <p:spPr>
            <a:xfrm>
              <a:off x="745998" y="212408"/>
              <a:ext cx="10265113" cy="616077"/>
            </a:xfrm>
            <a:prstGeom prst="rect">
              <a:avLst/>
            </a:prstGeom>
            <a:noFill/>
            <a:ln>
              <a:noFill/>
            </a:ln>
          </p:spPr>
          <p:txBody>
            <a:bodyPr wrap="none" lIns="0" tIns="0" rIns="0" bIns="0" anchor="t" anchorCtr="0">
              <a:spAutoFit/>
            </a:bodyPr>
            <a:lstStyle/>
            <a:p>
              <a:pPr algn="l"/>
              <a:r>
                <a:rPr lang="zh-CN" sz="3150" b="1" dirty="0">
                  <a:solidFill>
                    <a:srgbClr val="1D1D1A"/>
                  </a:solidFill>
                  <a:latin typeface="Arial"/>
                  <a:ea typeface="Microsoft YaHei"/>
                  <a:cs typeface="Arial"/>
                </a:rPr>
                <a:t>Offering目录——OB全品类领先，OMEA四维度反超</a:t>
              </a:r>
            </a:p>
          </p:txBody>
        </p:sp>
        <p:sp>
          <p:nvSpPr>
            <p:cNvPr id="4" name="Line 4"/>
            <p:cNvSpPr/>
            <p:nvPr/>
          </p:nvSpPr>
          <p:spPr>
            <a:xfrm>
              <a:off x="762000" y="781050"/>
              <a:ext cx="10668000" cy="9525"/>
            </a:xfrm>
            <a:custGeom>
              <a:avLst/>
              <a:gdLst/>
              <a:ahLst/>
              <a:cxnLst/>
              <a:rect l="l" t="t" r="r" b="b"/>
              <a:pathLst>
                <a:path w="10668000" h="9525">
                  <a:moveTo>
                    <a:pt x="0" y="0"/>
                  </a:moveTo>
                  <a:lnTo>
                    <a:pt x="10668000" y="0"/>
                  </a:lnTo>
                </a:path>
              </a:pathLst>
            </a:custGeom>
            <a:noFill/>
            <a:ln w="9525">
              <a:solidFill>
                <a:srgbClr val="DDDBD6"/>
              </a:solidFill>
            </a:ln>
          </p:spPr>
        </p:sp>
        <p:sp>
          <p:nvSpPr>
            <p:cNvPr id="5" name="TextBox 5"/>
            <p:cNvSpPr txBox="1"/>
            <p:nvPr/>
          </p:nvSpPr>
          <p:spPr>
            <a:xfrm>
              <a:off x="755904" y="899160"/>
              <a:ext cx="8230868" cy="234696"/>
            </a:xfrm>
            <a:prstGeom prst="rect">
              <a:avLst/>
            </a:prstGeom>
            <a:noFill/>
            <a:ln>
              <a:noFill/>
            </a:ln>
          </p:spPr>
          <p:txBody>
            <a:bodyPr wrap="none" lIns="0" tIns="0" rIns="0" bIns="0" anchor="t" anchorCtr="0">
              <a:spAutoFit/>
            </a:bodyPr>
            <a:lstStyle/>
            <a:p>
              <a:pPr algn="l"/>
              <a:r>
                <a:rPr lang="zh-CN" sz="1200" b="1" spc="75" dirty="0">
                  <a:solidFill>
                    <a:srgbClr val="8A8880"/>
                  </a:solidFill>
                  <a:latin typeface="Arial"/>
                  <a:ea typeface="Microsoft YaHei"/>
                  <a:cs typeface="Arial"/>
                </a:rPr>
                <a:t>L1-L3 OFFERING MATRIX · ✓成熟商用 △部分/新兴 ✗未开展（无色块，仅符号呈现，见v10惯例）</a:t>
              </a:r>
            </a:p>
          </p:txBody>
        </p:sp>
      </p:grpSp>
      <p:grpSp>
        <p:nvGrpSpPr>
          <p:cNvPr id="96" name="Group 96"/>
          <p:cNvGrpSpPr/>
          <p:nvPr/>
        </p:nvGrpSpPr>
        <p:grpSpPr>
          <a:xfrm>
            <a:off x="755904" y="1184910"/>
            <a:ext cx="10674096" cy="4781741"/>
            <a:chOff x="755904" y="1184910"/>
            <a:chExt cx="10674096" cy="4781741"/>
          </a:xfrm>
        </p:grpSpPr>
        <p:sp>
          <p:nvSpPr>
            <p:cNvPr id="7" name="TextBox 7"/>
            <p:cNvSpPr txBox="1"/>
            <p:nvPr/>
          </p:nvSpPr>
          <p:spPr>
            <a:xfrm>
              <a:off x="755904" y="1184910"/>
              <a:ext cx="1643116" cy="234696"/>
            </a:xfrm>
            <a:prstGeom prst="rect">
              <a:avLst/>
            </a:prstGeom>
            <a:noFill/>
            <a:ln>
              <a:noFill/>
            </a:ln>
          </p:spPr>
          <p:txBody>
            <a:bodyPr wrap="none" lIns="0" tIns="0" rIns="0" bIns="0" anchor="t" anchorCtr="0">
              <a:spAutoFit/>
            </a:bodyPr>
            <a:lstStyle/>
            <a:p>
              <a:pPr algn="l"/>
              <a:r>
                <a:rPr lang="zh-CN" sz="1200" b="1" dirty="0">
                  <a:solidFill>
                    <a:srgbClr val="8A8880"/>
                  </a:solidFill>
                  <a:latin typeface="Arial"/>
                  <a:ea typeface="Microsoft YaHei"/>
                  <a:cs typeface="Arial"/>
                </a:rPr>
                <a:t>OFFERING（L2/L3）</a:t>
              </a:r>
            </a:p>
          </p:txBody>
        </p:sp>
        <p:sp>
          <p:nvSpPr>
            <p:cNvPr id="8" name="TextBox 8"/>
            <p:cNvSpPr txBox="1"/>
            <p:nvPr/>
          </p:nvSpPr>
          <p:spPr>
            <a:xfrm>
              <a:off x="7973659" y="1184910"/>
              <a:ext cx="245181" cy="234696"/>
            </a:xfrm>
            <a:prstGeom prst="rect">
              <a:avLst/>
            </a:prstGeom>
            <a:noFill/>
            <a:ln>
              <a:noFill/>
            </a:ln>
          </p:spPr>
          <p:txBody>
            <a:bodyPr wrap="none" lIns="0" tIns="0" rIns="0" bIns="0" anchor="t" anchorCtr="0">
              <a:spAutoFit/>
            </a:bodyPr>
            <a:lstStyle/>
            <a:p>
              <a:pPr algn="ctr"/>
              <a:r>
                <a:rPr lang="en-US" sz="1200" b="1" dirty="0">
                  <a:solidFill>
                    <a:srgbClr val="1D1D1A"/>
                  </a:solidFill>
                  <a:latin typeface="Arial"/>
                  <a:ea typeface="Arial"/>
                  <a:cs typeface="Arial"/>
                </a:rPr>
                <a:t>OB</a:t>
              </a:r>
            </a:p>
          </p:txBody>
        </p:sp>
        <p:sp>
          <p:nvSpPr>
            <p:cNvPr id="9" name="TextBox 9"/>
            <p:cNvSpPr txBox="1"/>
            <p:nvPr/>
          </p:nvSpPr>
          <p:spPr>
            <a:xfrm>
              <a:off x="9162623" y="1184910"/>
              <a:ext cx="343753" cy="234696"/>
            </a:xfrm>
            <a:prstGeom prst="rect">
              <a:avLst/>
            </a:prstGeom>
            <a:noFill/>
            <a:ln>
              <a:noFill/>
            </a:ln>
          </p:spPr>
          <p:txBody>
            <a:bodyPr wrap="none" lIns="0" tIns="0" rIns="0" bIns="0" anchor="t" anchorCtr="0">
              <a:spAutoFit/>
            </a:bodyPr>
            <a:lstStyle/>
            <a:p>
              <a:pPr algn="ctr"/>
              <a:r>
                <a:rPr lang="en-US" sz="1200" b="1" dirty="0">
                  <a:solidFill>
                    <a:srgbClr val="1D1D1A"/>
                  </a:solidFill>
                  <a:latin typeface="Arial"/>
                  <a:ea typeface="Arial"/>
                  <a:cs typeface="Arial"/>
                </a:rPr>
                <a:t>OEU</a:t>
              </a:r>
            </a:p>
          </p:txBody>
        </p:sp>
        <p:sp>
          <p:nvSpPr>
            <p:cNvPr id="10" name="TextBox 10"/>
            <p:cNvSpPr txBox="1"/>
            <p:nvPr/>
          </p:nvSpPr>
          <p:spPr>
            <a:xfrm>
              <a:off x="10333665" y="1184910"/>
              <a:ext cx="478170" cy="234696"/>
            </a:xfrm>
            <a:prstGeom prst="rect">
              <a:avLst/>
            </a:prstGeom>
            <a:noFill/>
            <a:ln>
              <a:noFill/>
            </a:ln>
          </p:spPr>
          <p:txBody>
            <a:bodyPr wrap="none" lIns="0" tIns="0" rIns="0" bIns="0" anchor="t" anchorCtr="0">
              <a:spAutoFit/>
            </a:bodyPr>
            <a:lstStyle/>
            <a:p>
              <a:pPr algn="ctr"/>
              <a:r>
                <a:rPr lang="en-US" sz="1200" b="1" dirty="0">
                  <a:solidFill>
                    <a:srgbClr val="1D1D1A"/>
                  </a:solidFill>
                  <a:latin typeface="Arial"/>
                  <a:ea typeface="Arial"/>
                  <a:cs typeface="Arial"/>
                </a:rPr>
                <a:t>OMEA</a:t>
              </a:r>
            </a:p>
          </p:txBody>
        </p:sp>
        <p:sp>
          <p:nvSpPr>
            <p:cNvPr id="11" name="Line 11"/>
            <p:cNvSpPr/>
            <p:nvPr/>
          </p:nvSpPr>
          <p:spPr>
            <a:xfrm>
              <a:off x="762000" y="1409700"/>
              <a:ext cx="10668000" cy="9525"/>
            </a:xfrm>
            <a:custGeom>
              <a:avLst/>
              <a:gdLst/>
              <a:ahLst/>
              <a:cxnLst/>
              <a:rect l="l" t="t" r="r" b="b"/>
              <a:pathLst>
                <a:path w="10668000" h="9525">
                  <a:moveTo>
                    <a:pt x="0" y="0"/>
                  </a:moveTo>
                  <a:lnTo>
                    <a:pt x="10668000" y="0"/>
                  </a:lnTo>
                </a:path>
              </a:pathLst>
            </a:custGeom>
            <a:noFill/>
            <a:ln w="14288">
              <a:solidFill>
                <a:srgbClr val="1D1D1A"/>
              </a:solidFill>
            </a:ln>
          </p:spPr>
        </p:sp>
        <p:sp>
          <p:nvSpPr>
            <p:cNvPr id="12" name="TextBox 12"/>
            <p:cNvSpPr txBox="1"/>
            <p:nvPr/>
          </p:nvSpPr>
          <p:spPr>
            <a:xfrm>
              <a:off x="755904" y="1451610"/>
              <a:ext cx="1553505" cy="234696"/>
            </a:xfrm>
            <a:prstGeom prst="rect">
              <a:avLst/>
            </a:prstGeom>
            <a:noFill/>
            <a:ln>
              <a:noFill/>
            </a:ln>
          </p:spPr>
          <p:txBody>
            <a:bodyPr wrap="none" lIns="0" tIns="0" rIns="0" bIns="0" anchor="t" anchorCtr="0">
              <a:spAutoFit/>
            </a:bodyPr>
            <a:lstStyle/>
            <a:p>
              <a:pPr algn="l"/>
              <a:r>
                <a:rPr lang="zh-CN" sz="1200" b="1" dirty="0">
                  <a:solidFill>
                    <a:srgbClr val="5A5852"/>
                  </a:solidFill>
                  <a:latin typeface="Arial"/>
                  <a:ea typeface="Microsoft YaHei"/>
                  <a:cs typeface="Arial"/>
                </a:rPr>
                <a:t>连接 CONNECTIVITY</a:t>
              </a:r>
            </a:p>
          </p:txBody>
        </p:sp>
        <p:grpSp>
          <p:nvGrpSpPr>
            <p:cNvPr id="17" name="Group 17"/>
            <p:cNvGrpSpPr/>
            <p:nvPr/>
          </p:nvGrpSpPr>
          <p:grpSpPr>
            <a:xfrm>
              <a:off x="851154" y="1680210"/>
              <a:ext cx="9780930" cy="266891"/>
              <a:chOff x="851154" y="1680210"/>
              <a:chExt cx="9780930" cy="266891"/>
            </a:xfrm>
          </p:grpSpPr>
          <p:sp>
            <p:nvSpPr>
              <p:cNvPr id="13" name="TextBox 13"/>
              <p:cNvSpPr txBox="1"/>
              <p:nvPr/>
            </p:nvSpPr>
            <p:spPr>
              <a:xfrm>
                <a:off x="851154" y="1680210"/>
                <a:ext cx="2562511" cy="234696"/>
              </a:xfrm>
              <a:prstGeom prst="rect">
                <a:avLst/>
              </a:prstGeom>
              <a:noFill/>
              <a:ln>
                <a:noFill/>
              </a:ln>
            </p:spPr>
            <p:txBody>
              <a:bodyPr wrap="none" lIns="0" tIns="0" rIns="0" bIns="0" anchor="t" anchorCtr="0">
                <a:spAutoFit/>
              </a:bodyPr>
              <a:lstStyle/>
              <a:p>
                <a:pPr algn="l"/>
                <a:r>
                  <a:rPr lang="zh-CN" sz="1200" dirty="0">
                    <a:solidFill>
                      <a:srgbClr val="1D1D1A"/>
                    </a:solidFill>
                    <a:latin typeface="Arial"/>
                    <a:ea typeface="Microsoft YaHei"/>
                    <a:cs typeface="Arial"/>
                  </a:rPr>
                  <a:t>Business VPN / IP-VPN（专线级）</a:t>
                </a:r>
              </a:p>
            </p:txBody>
          </p:sp>
          <p:sp>
            <p:nvSpPr>
              <p:cNvPr id="14" name="TextBox 14"/>
              <p:cNvSpPr txBox="1"/>
              <p:nvPr/>
            </p:nvSpPr>
            <p:spPr>
              <a:xfrm>
                <a:off x="8036915" y="1683068"/>
                <a:ext cx="118669" cy="264033"/>
              </a:xfrm>
              <a:prstGeom prst="rect">
                <a:avLst/>
              </a:prstGeom>
              <a:noFill/>
              <a:ln>
                <a:noFill/>
              </a:ln>
            </p:spPr>
            <p:txBody>
              <a:bodyPr wrap="none" lIns="0" tIns="0" rIns="0" bIns="0" anchor="t" anchorCtr="0">
                <a:spAutoFit/>
              </a:bodyPr>
              <a:lstStyle/>
              <a:p>
                <a:pPr algn="ctr"/>
                <a:r>
                  <a:rPr lang="en-US" sz="1350" b="1" dirty="0">
                    <a:solidFill>
                      <a:srgbClr val="C7000A"/>
                    </a:solidFill>
                    <a:latin typeface="Segoe UI"/>
                    <a:ea typeface="Segoe UI"/>
                    <a:cs typeface="Segoe UI"/>
                  </a:rPr>
                  <a:t>✓</a:t>
                </a:r>
              </a:p>
            </p:txBody>
          </p:sp>
          <p:sp>
            <p:nvSpPr>
              <p:cNvPr id="15" name="TextBox 15"/>
              <p:cNvSpPr txBox="1"/>
              <p:nvPr/>
            </p:nvSpPr>
            <p:spPr>
              <a:xfrm>
                <a:off x="9275165" y="1683068"/>
                <a:ext cx="118669" cy="264033"/>
              </a:xfrm>
              <a:prstGeom prst="rect">
                <a:avLst/>
              </a:prstGeom>
              <a:noFill/>
              <a:ln>
                <a:noFill/>
              </a:ln>
            </p:spPr>
            <p:txBody>
              <a:bodyPr wrap="none" lIns="0" tIns="0" rIns="0" bIns="0" anchor="t" anchorCtr="0">
                <a:spAutoFit/>
              </a:bodyPr>
              <a:lstStyle/>
              <a:p>
                <a:pPr algn="ctr"/>
                <a:r>
                  <a:rPr lang="en-US" sz="1350" b="1" dirty="0">
                    <a:solidFill>
                      <a:srgbClr val="C7000A"/>
                    </a:solidFill>
                    <a:latin typeface="Segoe UI"/>
                    <a:ea typeface="Segoe UI"/>
                    <a:cs typeface="Segoe UI"/>
                  </a:rPr>
                  <a:t>✓</a:t>
                </a:r>
              </a:p>
            </p:txBody>
          </p:sp>
          <p:sp>
            <p:nvSpPr>
              <p:cNvPr id="16" name="TextBox 16"/>
              <p:cNvSpPr txBox="1"/>
              <p:nvPr/>
            </p:nvSpPr>
            <p:spPr>
              <a:xfrm>
                <a:off x="10513415" y="1683068"/>
                <a:ext cx="118669" cy="264033"/>
              </a:xfrm>
              <a:prstGeom prst="rect">
                <a:avLst/>
              </a:prstGeom>
              <a:noFill/>
              <a:ln>
                <a:noFill/>
              </a:ln>
            </p:spPr>
            <p:txBody>
              <a:bodyPr wrap="none" lIns="0" tIns="0" rIns="0" bIns="0" anchor="t" anchorCtr="0">
                <a:spAutoFit/>
              </a:bodyPr>
              <a:lstStyle/>
              <a:p>
                <a:pPr algn="ctr"/>
                <a:r>
                  <a:rPr lang="en-US" sz="1350" b="1" dirty="0">
                    <a:solidFill>
                      <a:srgbClr val="C7000A"/>
                    </a:solidFill>
                    <a:latin typeface="Segoe UI"/>
                    <a:ea typeface="Segoe UI"/>
                    <a:cs typeface="Segoe UI"/>
                  </a:rPr>
                  <a:t>✓</a:t>
                </a:r>
              </a:p>
            </p:txBody>
          </p:sp>
        </p:grpSp>
        <p:sp>
          <p:nvSpPr>
            <p:cNvPr id="18" name="Line 18"/>
            <p:cNvSpPr/>
            <p:nvPr/>
          </p:nvSpPr>
          <p:spPr>
            <a:xfrm>
              <a:off x="762000" y="1866900"/>
              <a:ext cx="10668000" cy="9525"/>
            </a:xfrm>
            <a:custGeom>
              <a:avLst/>
              <a:gdLst/>
              <a:ahLst/>
              <a:cxnLst/>
              <a:rect l="l" t="t" r="r" b="b"/>
              <a:pathLst>
                <a:path w="10668000" h="9525">
                  <a:moveTo>
                    <a:pt x="0" y="0"/>
                  </a:moveTo>
                  <a:lnTo>
                    <a:pt x="10668000" y="0"/>
                  </a:lnTo>
                </a:path>
              </a:pathLst>
            </a:custGeom>
            <a:noFill/>
            <a:ln w="9525">
              <a:solidFill>
                <a:srgbClr val="DDDBD6"/>
              </a:solidFill>
            </a:ln>
          </p:spPr>
        </p:sp>
        <p:grpSp>
          <p:nvGrpSpPr>
            <p:cNvPr id="23" name="Group 23"/>
            <p:cNvGrpSpPr/>
            <p:nvPr/>
          </p:nvGrpSpPr>
          <p:grpSpPr>
            <a:xfrm>
              <a:off x="851154" y="1908810"/>
              <a:ext cx="9778431" cy="266891"/>
              <a:chOff x="851154" y="1908810"/>
              <a:chExt cx="9778431" cy="266891"/>
            </a:xfrm>
          </p:grpSpPr>
          <p:sp>
            <p:nvSpPr>
              <p:cNvPr id="19" name="TextBox 19"/>
              <p:cNvSpPr txBox="1"/>
              <p:nvPr/>
            </p:nvSpPr>
            <p:spPr>
              <a:xfrm>
                <a:off x="851154" y="1908810"/>
                <a:ext cx="1804416" cy="234696"/>
              </a:xfrm>
              <a:prstGeom prst="rect">
                <a:avLst/>
              </a:prstGeom>
              <a:noFill/>
              <a:ln>
                <a:noFill/>
              </a:ln>
            </p:spPr>
            <p:txBody>
              <a:bodyPr wrap="none" lIns="0" tIns="0" rIns="0" bIns="0" anchor="t" anchorCtr="0">
                <a:spAutoFit/>
              </a:bodyPr>
              <a:lstStyle/>
              <a:p>
                <a:pPr algn="l"/>
                <a:r>
                  <a:rPr lang="zh-CN" sz="1200" dirty="0">
                    <a:solidFill>
                      <a:srgbClr val="1D1D1A"/>
                    </a:solidFill>
                    <a:latin typeface="Arial"/>
                    <a:ea typeface="Microsoft YaHei"/>
                    <a:cs typeface="Arial"/>
                  </a:rPr>
                  <a:t>SD-WAN（云化广域网）</a:t>
                </a:r>
              </a:p>
            </p:txBody>
          </p:sp>
          <p:sp>
            <p:nvSpPr>
              <p:cNvPr id="20" name="TextBox 20"/>
              <p:cNvSpPr txBox="1"/>
              <p:nvPr/>
            </p:nvSpPr>
            <p:spPr>
              <a:xfrm>
                <a:off x="8036915" y="1911668"/>
                <a:ext cx="118669" cy="264033"/>
              </a:xfrm>
              <a:prstGeom prst="rect">
                <a:avLst/>
              </a:prstGeom>
              <a:noFill/>
              <a:ln>
                <a:noFill/>
              </a:ln>
            </p:spPr>
            <p:txBody>
              <a:bodyPr wrap="none" lIns="0" tIns="0" rIns="0" bIns="0" anchor="t" anchorCtr="0">
                <a:spAutoFit/>
              </a:bodyPr>
              <a:lstStyle/>
              <a:p>
                <a:pPr algn="ctr"/>
                <a:r>
                  <a:rPr lang="en-US" sz="1350" b="1" dirty="0">
                    <a:solidFill>
                      <a:srgbClr val="C7000A"/>
                    </a:solidFill>
                    <a:latin typeface="Segoe UI"/>
                    <a:ea typeface="Segoe UI"/>
                    <a:cs typeface="Segoe UI"/>
                  </a:rPr>
                  <a:t>✓</a:t>
                </a:r>
              </a:p>
            </p:txBody>
          </p:sp>
          <p:sp>
            <p:nvSpPr>
              <p:cNvPr id="21" name="TextBox 21"/>
              <p:cNvSpPr txBox="1"/>
              <p:nvPr/>
            </p:nvSpPr>
            <p:spPr>
              <a:xfrm>
                <a:off x="9277664" y="1911668"/>
                <a:ext cx="113671" cy="264033"/>
              </a:xfrm>
              <a:prstGeom prst="rect">
                <a:avLst/>
              </a:prstGeom>
              <a:noFill/>
              <a:ln>
                <a:noFill/>
              </a:ln>
            </p:spPr>
            <p:txBody>
              <a:bodyPr wrap="none" lIns="0" tIns="0" rIns="0" bIns="0" anchor="t" anchorCtr="0">
                <a:spAutoFit/>
              </a:bodyPr>
              <a:lstStyle/>
              <a:p>
                <a:pPr algn="ctr"/>
                <a:r>
                  <a:rPr lang="en-US" sz="1350" dirty="0">
                    <a:solidFill>
                      <a:srgbClr val="5A5852"/>
                    </a:solidFill>
                    <a:latin typeface="Segoe UI"/>
                    <a:ea typeface="Segoe UI"/>
                    <a:cs typeface="Segoe UI"/>
                  </a:rPr>
                  <a:t>△</a:t>
                </a:r>
              </a:p>
            </p:txBody>
          </p:sp>
          <p:sp>
            <p:nvSpPr>
              <p:cNvPr id="22" name="TextBox 22"/>
              <p:cNvSpPr txBox="1"/>
              <p:nvPr/>
            </p:nvSpPr>
            <p:spPr>
              <a:xfrm>
                <a:off x="10515914" y="1911668"/>
                <a:ext cx="113671" cy="264033"/>
              </a:xfrm>
              <a:prstGeom prst="rect">
                <a:avLst/>
              </a:prstGeom>
              <a:noFill/>
              <a:ln>
                <a:noFill/>
              </a:ln>
            </p:spPr>
            <p:txBody>
              <a:bodyPr wrap="none" lIns="0" tIns="0" rIns="0" bIns="0" anchor="t" anchorCtr="0">
                <a:spAutoFit/>
              </a:bodyPr>
              <a:lstStyle/>
              <a:p>
                <a:pPr algn="ctr"/>
                <a:r>
                  <a:rPr lang="en-US" sz="1350" dirty="0">
                    <a:solidFill>
                      <a:srgbClr val="5A5852"/>
                    </a:solidFill>
                    <a:latin typeface="Segoe UI"/>
                    <a:ea typeface="Segoe UI"/>
                    <a:cs typeface="Segoe UI"/>
                  </a:rPr>
                  <a:t>△</a:t>
                </a:r>
              </a:p>
            </p:txBody>
          </p:sp>
        </p:grpSp>
        <p:sp>
          <p:nvSpPr>
            <p:cNvPr id="24" name="Line 24"/>
            <p:cNvSpPr/>
            <p:nvPr/>
          </p:nvSpPr>
          <p:spPr>
            <a:xfrm>
              <a:off x="762000" y="2095500"/>
              <a:ext cx="10668000" cy="9525"/>
            </a:xfrm>
            <a:custGeom>
              <a:avLst/>
              <a:gdLst/>
              <a:ahLst/>
              <a:cxnLst/>
              <a:rect l="l" t="t" r="r" b="b"/>
              <a:pathLst>
                <a:path w="10668000" h="9525">
                  <a:moveTo>
                    <a:pt x="0" y="0"/>
                  </a:moveTo>
                  <a:lnTo>
                    <a:pt x="10668000" y="0"/>
                  </a:lnTo>
                </a:path>
              </a:pathLst>
            </a:custGeom>
            <a:noFill/>
            <a:ln w="9525">
              <a:solidFill>
                <a:srgbClr val="DDDBD6"/>
              </a:solidFill>
            </a:ln>
          </p:spPr>
        </p:sp>
        <p:grpSp>
          <p:nvGrpSpPr>
            <p:cNvPr id="29" name="Group 29"/>
            <p:cNvGrpSpPr/>
            <p:nvPr/>
          </p:nvGrpSpPr>
          <p:grpSpPr>
            <a:xfrm>
              <a:off x="851154" y="2137410"/>
              <a:ext cx="9778431" cy="266891"/>
              <a:chOff x="851154" y="2137410"/>
              <a:chExt cx="9778431" cy="266891"/>
            </a:xfrm>
          </p:grpSpPr>
          <p:sp>
            <p:nvSpPr>
              <p:cNvPr id="25" name="TextBox 25"/>
              <p:cNvSpPr txBox="1"/>
              <p:nvPr/>
            </p:nvSpPr>
            <p:spPr>
              <a:xfrm>
                <a:off x="851154" y="2137410"/>
                <a:ext cx="2248205" cy="234696"/>
              </a:xfrm>
              <a:prstGeom prst="rect">
                <a:avLst/>
              </a:prstGeom>
              <a:noFill/>
              <a:ln>
                <a:noFill/>
              </a:ln>
            </p:spPr>
            <p:txBody>
              <a:bodyPr wrap="none" lIns="0" tIns="0" rIns="0" bIns="0" anchor="t" anchorCtr="0">
                <a:spAutoFit/>
              </a:bodyPr>
              <a:lstStyle/>
              <a:p>
                <a:pPr algn="l"/>
                <a:r>
                  <a:rPr lang="zh-CN" sz="1200" dirty="0">
                    <a:solidFill>
                      <a:srgbClr val="1D1D1A"/>
                    </a:solidFill>
                    <a:latin typeface="Arial"/>
                    <a:ea typeface="Microsoft YaHei"/>
                    <a:cs typeface="Arial"/>
                  </a:rPr>
                  <a:t>5G专网连接（企业移动专线）</a:t>
                </a:r>
              </a:p>
            </p:txBody>
          </p:sp>
          <p:sp>
            <p:nvSpPr>
              <p:cNvPr id="26" name="TextBox 26"/>
              <p:cNvSpPr txBox="1"/>
              <p:nvPr/>
            </p:nvSpPr>
            <p:spPr>
              <a:xfrm>
                <a:off x="8036915" y="2140268"/>
                <a:ext cx="118669" cy="264033"/>
              </a:xfrm>
              <a:prstGeom prst="rect">
                <a:avLst/>
              </a:prstGeom>
              <a:noFill/>
              <a:ln>
                <a:noFill/>
              </a:ln>
            </p:spPr>
            <p:txBody>
              <a:bodyPr wrap="none" lIns="0" tIns="0" rIns="0" bIns="0" anchor="t" anchorCtr="0">
                <a:spAutoFit/>
              </a:bodyPr>
              <a:lstStyle/>
              <a:p>
                <a:pPr algn="ctr"/>
                <a:r>
                  <a:rPr lang="en-US" sz="1350" b="1" dirty="0">
                    <a:solidFill>
                      <a:srgbClr val="C7000A"/>
                    </a:solidFill>
                    <a:latin typeface="Segoe UI"/>
                    <a:ea typeface="Segoe UI"/>
                    <a:cs typeface="Segoe UI"/>
                  </a:rPr>
                  <a:t>✓</a:t>
                </a:r>
              </a:p>
            </p:txBody>
          </p:sp>
          <p:sp>
            <p:nvSpPr>
              <p:cNvPr id="27" name="TextBox 27"/>
              <p:cNvSpPr txBox="1"/>
              <p:nvPr/>
            </p:nvSpPr>
            <p:spPr>
              <a:xfrm>
                <a:off x="9277664" y="2140268"/>
                <a:ext cx="113671" cy="264033"/>
              </a:xfrm>
              <a:prstGeom prst="rect">
                <a:avLst/>
              </a:prstGeom>
              <a:noFill/>
              <a:ln>
                <a:noFill/>
              </a:ln>
            </p:spPr>
            <p:txBody>
              <a:bodyPr wrap="none" lIns="0" tIns="0" rIns="0" bIns="0" anchor="t" anchorCtr="0">
                <a:spAutoFit/>
              </a:bodyPr>
              <a:lstStyle/>
              <a:p>
                <a:pPr algn="ctr"/>
                <a:r>
                  <a:rPr lang="en-US" sz="1350" dirty="0">
                    <a:solidFill>
                      <a:srgbClr val="5A5852"/>
                    </a:solidFill>
                    <a:latin typeface="Segoe UI"/>
                    <a:ea typeface="Segoe UI"/>
                    <a:cs typeface="Segoe UI"/>
                  </a:rPr>
                  <a:t>△</a:t>
                </a:r>
              </a:p>
            </p:txBody>
          </p:sp>
          <p:sp>
            <p:nvSpPr>
              <p:cNvPr id="28" name="TextBox 28"/>
              <p:cNvSpPr txBox="1"/>
              <p:nvPr/>
            </p:nvSpPr>
            <p:spPr>
              <a:xfrm>
                <a:off x="10515914" y="2140268"/>
                <a:ext cx="113671" cy="264033"/>
              </a:xfrm>
              <a:prstGeom prst="rect">
                <a:avLst/>
              </a:prstGeom>
              <a:noFill/>
              <a:ln>
                <a:noFill/>
              </a:ln>
            </p:spPr>
            <p:txBody>
              <a:bodyPr wrap="none" lIns="0" tIns="0" rIns="0" bIns="0" anchor="t" anchorCtr="0">
                <a:spAutoFit/>
              </a:bodyPr>
              <a:lstStyle/>
              <a:p>
                <a:pPr algn="ctr"/>
                <a:r>
                  <a:rPr lang="en-US" sz="1350" dirty="0">
                    <a:solidFill>
                      <a:srgbClr val="5A5852"/>
                    </a:solidFill>
                    <a:latin typeface="Segoe UI"/>
                    <a:ea typeface="Segoe UI"/>
                    <a:cs typeface="Segoe UI"/>
                  </a:rPr>
                  <a:t>△</a:t>
                </a:r>
              </a:p>
            </p:txBody>
          </p:sp>
        </p:grpSp>
        <p:sp>
          <p:nvSpPr>
            <p:cNvPr id="30" name="Line 30"/>
            <p:cNvSpPr/>
            <p:nvPr/>
          </p:nvSpPr>
          <p:spPr>
            <a:xfrm>
              <a:off x="762000" y="2324100"/>
              <a:ext cx="10668000" cy="9525"/>
            </a:xfrm>
            <a:custGeom>
              <a:avLst/>
              <a:gdLst/>
              <a:ahLst/>
              <a:cxnLst/>
              <a:rect l="l" t="t" r="r" b="b"/>
              <a:pathLst>
                <a:path w="10668000" h="9525">
                  <a:moveTo>
                    <a:pt x="0" y="0"/>
                  </a:moveTo>
                  <a:lnTo>
                    <a:pt x="10668000" y="0"/>
                  </a:lnTo>
                </a:path>
              </a:pathLst>
            </a:custGeom>
            <a:noFill/>
            <a:ln w="9525">
              <a:solidFill>
                <a:srgbClr val="DDDBD6"/>
              </a:solidFill>
            </a:ln>
          </p:spPr>
        </p:sp>
        <p:grpSp>
          <p:nvGrpSpPr>
            <p:cNvPr id="35" name="Group 35"/>
            <p:cNvGrpSpPr/>
            <p:nvPr/>
          </p:nvGrpSpPr>
          <p:grpSpPr>
            <a:xfrm>
              <a:off x="851154" y="2366010"/>
              <a:ext cx="9778431" cy="266891"/>
              <a:chOff x="851154" y="2366010"/>
              <a:chExt cx="9778431" cy="266891"/>
            </a:xfrm>
          </p:grpSpPr>
          <p:sp>
            <p:nvSpPr>
              <p:cNvPr id="31" name="TextBox 31"/>
              <p:cNvSpPr txBox="1"/>
              <p:nvPr/>
            </p:nvSpPr>
            <p:spPr>
              <a:xfrm>
                <a:off x="851154" y="2366010"/>
                <a:ext cx="2094586" cy="234696"/>
              </a:xfrm>
              <a:prstGeom prst="rect">
                <a:avLst/>
              </a:prstGeom>
              <a:noFill/>
              <a:ln>
                <a:noFill/>
              </a:ln>
            </p:spPr>
            <p:txBody>
              <a:bodyPr wrap="none" lIns="0" tIns="0" rIns="0" bIns="0" anchor="t" anchorCtr="0">
                <a:spAutoFit/>
              </a:bodyPr>
              <a:lstStyle/>
              <a:p>
                <a:pPr algn="l"/>
                <a:r>
                  <a:rPr lang="zh-CN" sz="1200" dirty="0">
                    <a:solidFill>
                      <a:srgbClr val="1D1D1A"/>
                    </a:solidFill>
                    <a:latin typeface="Arial"/>
                    <a:ea typeface="Microsoft YaHei"/>
                    <a:cs typeface="Arial"/>
                  </a:rPr>
                  <a:t>SASE（安全接入服务边缘）</a:t>
                </a:r>
              </a:p>
            </p:txBody>
          </p:sp>
          <p:sp>
            <p:nvSpPr>
              <p:cNvPr id="32" name="TextBox 32"/>
              <p:cNvSpPr txBox="1"/>
              <p:nvPr/>
            </p:nvSpPr>
            <p:spPr>
              <a:xfrm>
                <a:off x="8036915" y="2368868"/>
                <a:ext cx="118669" cy="264033"/>
              </a:xfrm>
              <a:prstGeom prst="rect">
                <a:avLst/>
              </a:prstGeom>
              <a:noFill/>
              <a:ln>
                <a:noFill/>
              </a:ln>
            </p:spPr>
            <p:txBody>
              <a:bodyPr wrap="none" lIns="0" tIns="0" rIns="0" bIns="0" anchor="t" anchorCtr="0">
                <a:spAutoFit/>
              </a:bodyPr>
              <a:lstStyle/>
              <a:p>
                <a:pPr algn="ctr"/>
                <a:r>
                  <a:rPr lang="en-US" sz="1350" b="1" dirty="0">
                    <a:solidFill>
                      <a:srgbClr val="C7000A"/>
                    </a:solidFill>
                    <a:latin typeface="Segoe UI"/>
                    <a:ea typeface="Segoe UI"/>
                    <a:cs typeface="Segoe UI"/>
                  </a:rPr>
                  <a:t>✓</a:t>
                </a:r>
              </a:p>
            </p:txBody>
          </p:sp>
          <p:sp>
            <p:nvSpPr>
              <p:cNvPr id="33" name="TextBox 33"/>
              <p:cNvSpPr txBox="1"/>
              <p:nvPr/>
            </p:nvSpPr>
            <p:spPr>
              <a:xfrm>
                <a:off x="9277664" y="2368868"/>
                <a:ext cx="113671" cy="264033"/>
              </a:xfrm>
              <a:prstGeom prst="rect">
                <a:avLst/>
              </a:prstGeom>
              <a:noFill/>
              <a:ln>
                <a:noFill/>
              </a:ln>
            </p:spPr>
            <p:txBody>
              <a:bodyPr wrap="none" lIns="0" tIns="0" rIns="0" bIns="0" anchor="t" anchorCtr="0">
                <a:spAutoFit/>
              </a:bodyPr>
              <a:lstStyle/>
              <a:p>
                <a:pPr algn="ctr"/>
                <a:r>
                  <a:rPr lang="en-US" sz="1350" dirty="0">
                    <a:solidFill>
                      <a:srgbClr val="5A5852"/>
                    </a:solidFill>
                    <a:latin typeface="Segoe UI"/>
                    <a:ea typeface="Segoe UI"/>
                    <a:cs typeface="Segoe UI"/>
                  </a:rPr>
                  <a:t>△</a:t>
                </a:r>
              </a:p>
            </p:txBody>
          </p:sp>
          <p:sp>
            <p:nvSpPr>
              <p:cNvPr id="34" name="TextBox 34"/>
              <p:cNvSpPr txBox="1"/>
              <p:nvPr/>
            </p:nvSpPr>
            <p:spPr>
              <a:xfrm>
                <a:off x="10515914" y="2368868"/>
                <a:ext cx="113671" cy="264033"/>
              </a:xfrm>
              <a:prstGeom prst="rect">
                <a:avLst/>
              </a:prstGeom>
              <a:noFill/>
              <a:ln>
                <a:noFill/>
              </a:ln>
            </p:spPr>
            <p:txBody>
              <a:bodyPr wrap="none" lIns="0" tIns="0" rIns="0" bIns="0" anchor="t" anchorCtr="0">
                <a:spAutoFit/>
              </a:bodyPr>
              <a:lstStyle/>
              <a:p>
                <a:pPr algn="ctr"/>
                <a:r>
                  <a:rPr lang="en-US" sz="1350" dirty="0">
                    <a:solidFill>
                      <a:srgbClr val="8A8880"/>
                    </a:solidFill>
                    <a:latin typeface="Segoe UI"/>
                    <a:ea typeface="Segoe UI"/>
                    <a:cs typeface="Segoe UI"/>
                  </a:rPr>
                  <a:t>✗</a:t>
                </a:r>
              </a:p>
            </p:txBody>
          </p:sp>
        </p:grpSp>
        <p:sp>
          <p:nvSpPr>
            <p:cNvPr id="36" name="TextBox 36"/>
            <p:cNvSpPr txBox="1"/>
            <p:nvPr/>
          </p:nvSpPr>
          <p:spPr>
            <a:xfrm>
              <a:off x="755904" y="2594610"/>
              <a:ext cx="666354" cy="234696"/>
            </a:xfrm>
            <a:prstGeom prst="rect">
              <a:avLst/>
            </a:prstGeom>
            <a:noFill/>
            <a:ln>
              <a:noFill/>
            </a:ln>
          </p:spPr>
          <p:txBody>
            <a:bodyPr wrap="none" lIns="0" tIns="0" rIns="0" bIns="0" anchor="t" anchorCtr="0">
              <a:spAutoFit/>
            </a:bodyPr>
            <a:lstStyle/>
            <a:p>
              <a:pPr algn="l"/>
              <a:r>
                <a:rPr lang="zh-CN" sz="1200" b="1" dirty="0">
                  <a:solidFill>
                    <a:srgbClr val="5A5852"/>
                  </a:solidFill>
                  <a:latin typeface="Arial"/>
                  <a:ea typeface="Microsoft YaHei"/>
                  <a:cs typeface="Arial"/>
                </a:rPr>
                <a:t>LAN管理</a:t>
              </a:r>
            </a:p>
          </p:txBody>
        </p:sp>
        <p:grpSp>
          <p:nvGrpSpPr>
            <p:cNvPr id="41" name="Group 41"/>
            <p:cNvGrpSpPr/>
            <p:nvPr/>
          </p:nvGrpSpPr>
          <p:grpSpPr>
            <a:xfrm>
              <a:off x="851154" y="2804160"/>
              <a:ext cx="9778431" cy="266891"/>
              <a:chOff x="851154" y="2804160"/>
              <a:chExt cx="9778431" cy="266891"/>
            </a:xfrm>
          </p:grpSpPr>
          <p:sp>
            <p:nvSpPr>
              <p:cNvPr id="37" name="TextBox 37"/>
              <p:cNvSpPr txBox="1"/>
              <p:nvPr/>
            </p:nvSpPr>
            <p:spPr>
              <a:xfrm>
                <a:off x="851154" y="2804160"/>
                <a:ext cx="2325014" cy="234696"/>
              </a:xfrm>
              <a:prstGeom prst="rect">
                <a:avLst/>
              </a:prstGeom>
              <a:noFill/>
              <a:ln>
                <a:noFill/>
              </a:ln>
            </p:spPr>
            <p:txBody>
              <a:bodyPr wrap="none" lIns="0" tIns="0" rIns="0" bIns="0" anchor="t" anchorCtr="0">
                <a:spAutoFit/>
              </a:bodyPr>
              <a:lstStyle/>
              <a:p>
                <a:pPr algn="l"/>
                <a:r>
                  <a:rPr lang="zh-CN" sz="1200" dirty="0">
                    <a:solidFill>
                      <a:srgbClr val="1D1D1A"/>
                    </a:solidFill>
                    <a:latin typeface="Arial"/>
                    <a:ea typeface="Microsoft YaHei"/>
                    <a:cs typeface="Arial"/>
                  </a:rPr>
                  <a:t>Managed LAN（园区网络托管）</a:t>
                </a:r>
              </a:p>
            </p:txBody>
          </p:sp>
          <p:sp>
            <p:nvSpPr>
              <p:cNvPr id="38" name="TextBox 38"/>
              <p:cNvSpPr txBox="1"/>
              <p:nvPr/>
            </p:nvSpPr>
            <p:spPr>
              <a:xfrm>
                <a:off x="8036915" y="2807018"/>
                <a:ext cx="118669" cy="264033"/>
              </a:xfrm>
              <a:prstGeom prst="rect">
                <a:avLst/>
              </a:prstGeom>
              <a:noFill/>
              <a:ln>
                <a:noFill/>
              </a:ln>
            </p:spPr>
            <p:txBody>
              <a:bodyPr wrap="none" lIns="0" tIns="0" rIns="0" bIns="0" anchor="t" anchorCtr="0">
                <a:spAutoFit/>
              </a:bodyPr>
              <a:lstStyle/>
              <a:p>
                <a:pPr algn="ctr"/>
                <a:r>
                  <a:rPr lang="en-US" sz="1350" b="1" dirty="0">
                    <a:solidFill>
                      <a:srgbClr val="C7000A"/>
                    </a:solidFill>
                    <a:latin typeface="Segoe UI"/>
                    <a:ea typeface="Segoe UI"/>
                    <a:cs typeface="Segoe UI"/>
                  </a:rPr>
                  <a:t>✓</a:t>
                </a:r>
              </a:p>
            </p:txBody>
          </p:sp>
          <p:sp>
            <p:nvSpPr>
              <p:cNvPr id="39" name="TextBox 39"/>
              <p:cNvSpPr txBox="1"/>
              <p:nvPr/>
            </p:nvSpPr>
            <p:spPr>
              <a:xfrm>
                <a:off x="9277664" y="2807018"/>
                <a:ext cx="113671" cy="264033"/>
              </a:xfrm>
              <a:prstGeom prst="rect">
                <a:avLst/>
              </a:prstGeom>
              <a:noFill/>
              <a:ln>
                <a:noFill/>
              </a:ln>
            </p:spPr>
            <p:txBody>
              <a:bodyPr wrap="none" lIns="0" tIns="0" rIns="0" bIns="0" anchor="t" anchorCtr="0">
                <a:spAutoFit/>
              </a:bodyPr>
              <a:lstStyle/>
              <a:p>
                <a:pPr algn="ctr"/>
                <a:r>
                  <a:rPr lang="en-US" sz="1350" dirty="0">
                    <a:solidFill>
                      <a:srgbClr val="5A5852"/>
                    </a:solidFill>
                    <a:latin typeface="Segoe UI"/>
                    <a:ea typeface="Segoe UI"/>
                    <a:cs typeface="Segoe UI"/>
                  </a:rPr>
                  <a:t>△</a:t>
                </a:r>
              </a:p>
            </p:txBody>
          </p:sp>
          <p:sp>
            <p:nvSpPr>
              <p:cNvPr id="40" name="TextBox 40"/>
              <p:cNvSpPr txBox="1"/>
              <p:nvPr/>
            </p:nvSpPr>
            <p:spPr>
              <a:xfrm>
                <a:off x="10515914" y="2807018"/>
                <a:ext cx="113671" cy="264033"/>
              </a:xfrm>
              <a:prstGeom prst="rect">
                <a:avLst/>
              </a:prstGeom>
              <a:noFill/>
              <a:ln>
                <a:noFill/>
              </a:ln>
            </p:spPr>
            <p:txBody>
              <a:bodyPr wrap="none" lIns="0" tIns="0" rIns="0" bIns="0" anchor="t" anchorCtr="0">
                <a:spAutoFit/>
              </a:bodyPr>
              <a:lstStyle/>
              <a:p>
                <a:pPr algn="ctr"/>
                <a:r>
                  <a:rPr lang="en-US" sz="1350" dirty="0">
                    <a:solidFill>
                      <a:srgbClr val="8A8880"/>
                    </a:solidFill>
                    <a:latin typeface="Segoe UI"/>
                    <a:ea typeface="Segoe UI"/>
                    <a:cs typeface="Segoe UI"/>
                  </a:rPr>
                  <a:t>✗</a:t>
                </a:r>
              </a:p>
            </p:txBody>
          </p:sp>
        </p:grpSp>
        <p:sp>
          <p:nvSpPr>
            <p:cNvPr id="42" name="Line 42"/>
            <p:cNvSpPr/>
            <p:nvPr/>
          </p:nvSpPr>
          <p:spPr>
            <a:xfrm>
              <a:off x="762000" y="2990850"/>
              <a:ext cx="10668000" cy="9525"/>
            </a:xfrm>
            <a:custGeom>
              <a:avLst/>
              <a:gdLst/>
              <a:ahLst/>
              <a:cxnLst/>
              <a:rect l="l" t="t" r="r" b="b"/>
              <a:pathLst>
                <a:path w="10668000" h="9525">
                  <a:moveTo>
                    <a:pt x="0" y="0"/>
                  </a:moveTo>
                  <a:lnTo>
                    <a:pt x="10668000" y="0"/>
                  </a:lnTo>
                </a:path>
              </a:pathLst>
            </a:custGeom>
            <a:noFill/>
            <a:ln w="9525">
              <a:solidFill>
                <a:srgbClr val="DDDBD6"/>
              </a:solidFill>
            </a:ln>
          </p:spPr>
        </p:sp>
        <p:grpSp>
          <p:nvGrpSpPr>
            <p:cNvPr id="47" name="Group 47"/>
            <p:cNvGrpSpPr/>
            <p:nvPr/>
          </p:nvGrpSpPr>
          <p:grpSpPr>
            <a:xfrm>
              <a:off x="851154" y="3032760"/>
              <a:ext cx="9778431" cy="266891"/>
              <a:chOff x="851154" y="3032760"/>
              <a:chExt cx="9778431" cy="266891"/>
            </a:xfrm>
          </p:grpSpPr>
          <p:sp>
            <p:nvSpPr>
              <p:cNvPr id="43" name="TextBox 43"/>
              <p:cNvSpPr txBox="1"/>
              <p:nvPr/>
            </p:nvSpPr>
            <p:spPr>
              <a:xfrm>
                <a:off x="851154" y="3032760"/>
                <a:ext cx="1629853" cy="234696"/>
              </a:xfrm>
              <a:prstGeom prst="rect">
                <a:avLst/>
              </a:prstGeom>
              <a:noFill/>
              <a:ln>
                <a:noFill/>
              </a:ln>
            </p:spPr>
            <p:txBody>
              <a:bodyPr wrap="none" lIns="0" tIns="0" rIns="0" bIns="0" anchor="t" anchorCtr="0">
                <a:spAutoFit/>
              </a:bodyPr>
              <a:lstStyle/>
              <a:p>
                <a:pPr algn="l"/>
                <a:r>
                  <a:rPr lang="en-US" sz="1200" dirty="0">
                    <a:solidFill>
                      <a:srgbClr val="1D1D1A"/>
                    </a:solidFill>
                    <a:latin typeface="Arial"/>
                    <a:ea typeface="Arial"/>
                    <a:cs typeface="Arial"/>
                  </a:rPr>
                  <a:t>SD-LAN / Cloud Wi-Fi</a:t>
                </a:r>
              </a:p>
            </p:txBody>
          </p:sp>
          <p:sp>
            <p:nvSpPr>
              <p:cNvPr id="44" name="TextBox 44"/>
              <p:cNvSpPr txBox="1"/>
              <p:nvPr/>
            </p:nvSpPr>
            <p:spPr>
              <a:xfrm>
                <a:off x="8036915" y="3035618"/>
                <a:ext cx="118669" cy="264033"/>
              </a:xfrm>
              <a:prstGeom prst="rect">
                <a:avLst/>
              </a:prstGeom>
              <a:noFill/>
              <a:ln>
                <a:noFill/>
              </a:ln>
            </p:spPr>
            <p:txBody>
              <a:bodyPr wrap="none" lIns="0" tIns="0" rIns="0" bIns="0" anchor="t" anchorCtr="0">
                <a:spAutoFit/>
              </a:bodyPr>
              <a:lstStyle/>
              <a:p>
                <a:pPr algn="ctr"/>
                <a:r>
                  <a:rPr lang="en-US" sz="1350" b="1" dirty="0">
                    <a:solidFill>
                      <a:srgbClr val="C7000A"/>
                    </a:solidFill>
                    <a:latin typeface="Segoe UI"/>
                    <a:ea typeface="Segoe UI"/>
                    <a:cs typeface="Segoe UI"/>
                  </a:rPr>
                  <a:t>✓</a:t>
                </a:r>
              </a:p>
            </p:txBody>
          </p:sp>
          <p:sp>
            <p:nvSpPr>
              <p:cNvPr id="45" name="TextBox 45"/>
              <p:cNvSpPr txBox="1"/>
              <p:nvPr/>
            </p:nvSpPr>
            <p:spPr>
              <a:xfrm>
                <a:off x="9277664" y="3035618"/>
                <a:ext cx="113671" cy="264033"/>
              </a:xfrm>
              <a:prstGeom prst="rect">
                <a:avLst/>
              </a:prstGeom>
              <a:noFill/>
              <a:ln>
                <a:noFill/>
              </a:ln>
            </p:spPr>
            <p:txBody>
              <a:bodyPr wrap="none" lIns="0" tIns="0" rIns="0" bIns="0" anchor="t" anchorCtr="0">
                <a:spAutoFit/>
              </a:bodyPr>
              <a:lstStyle/>
              <a:p>
                <a:pPr algn="ctr"/>
                <a:r>
                  <a:rPr lang="en-US" sz="1350" dirty="0">
                    <a:solidFill>
                      <a:srgbClr val="8A8880"/>
                    </a:solidFill>
                    <a:latin typeface="Segoe UI"/>
                    <a:ea typeface="Segoe UI"/>
                    <a:cs typeface="Segoe UI"/>
                  </a:rPr>
                  <a:t>✗</a:t>
                </a:r>
              </a:p>
            </p:txBody>
          </p:sp>
          <p:sp>
            <p:nvSpPr>
              <p:cNvPr id="46" name="TextBox 46"/>
              <p:cNvSpPr txBox="1"/>
              <p:nvPr/>
            </p:nvSpPr>
            <p:spPr>
              <a:xfrm>
                <a:off x="10515914" y="3035618"/>
                <a:ext cx="113671" cy="264033"/>
              </a:xfrm>
              <a:prstGeom prst="rect">
                <a:avLst/>
              </a:prstGeom>
              <a:noFill/>
              <a:ln>
                <a:noFill/>
              </a:ln>
            </p:spPr>
            <p:txBody>
              <a:bodyPr wrap="none" lIns="0" tIns="0" rIns="0" bIns="0" anchor="t" anchorCtr="0">
                <a:spAutoFit/>
              </a:bodyPr>
              <a:lstStyle/>
              <a:p>
                <a:pPr algn="ctr"/>
                <a:r>
                  <a:rPr lang="en-US" sz="1350" dirty="0">
                    <a:solidFill>
                      <a:srgbClr val="8A8880"/>
                    </a:solidFill>
                    <a:latin typeface="Segoe UI"/>
                    <a:ea typeface="Segoe UI"/>
                    <a:cs typeface="Segoe UI"/>
                  </a:rPr>
                  <a:t>✗</a:t>
                </a:r>
              </a:p>
            </p:txBody>
          </p:sp>
        </p:grpSp>
        <p:sp>
          <p:nvSpPr>
            <p:cNvPr id="48" name="TextBox 48"/>
            <p:cNvSpPr txBox="1"/>
            <p:nvPr/>
          </p:nvSpPr>
          <p:spPr>
            <a:xfrm>
              <a:off x="755904" y="3261360"/>
              <a:ext cx="540898" cy="234696"/>
            </a:xfrm>
            <a:prstGeom prst="rect">
              <a:avLst/>
            </a:prstGeom>
            <a:noFill/>
            <a:ln>
              <a:noFill/>
            </a:ln>
          </p:spPr>
          <p:txBody>
            <a:bodyPr wrap="none" lIns="0" tIns="0" rIns="0" bIns="0" anchor="t" anchorCtr="0">
              <a:spAutoFit/>
            </a:bodyPr>
            <a:lstStyle/>
            <a:p>
              <a:pPr algn="l"/>
              <a:r>
                <a:rPr lang="en-US" sz="1200" b="1" dirty="0">
                  <a:solidFill>
                    <a:srgbClr val="5A5852"/>
                  </a:solidFill>
                  <a:latin typeface="Arial"/>
                  <a:ea typeface="Arial"/>
                  <a:cs typeface="Arial"/>
                </a:rPr>
                <a:t>CLOUD</a:t>
              </a:r>
            </a:p>
          </p:txBody>
        </p:sp>
        <p:grpSp>
          <p:nvGrpSpPr>
            <p:cNvPr id="53" name="Group 53"/>
            <p:cNvGrpSpPr/>
            <p:nvPr/>
          </p:nvGrpSpPr>
          <p:grpSpPr>
            <a:xfrm>
              <a:off x="851154" y="3470910"/>
              <a:ext cx="9780930" cy="266891"/>
              <a:chOff x="851154" y="3470910"/>
              <a:chExt cx="9780930" cy="266891"/>
            </a:xfrm>
          </p:grpSpPr>
          <p:sp>
            <p:nvSpPr>
              <p:cNvPr id="49" name="TextBox 49"/>
              <p:cNvSpPr txBox="1"/>
              <p:nvPr/>
            </p:nvSpPr>
            <p:spPr>
              <a:xfrm>
                <a:off x="851154" y="3470910"/>
                <a:ext cx="2121865" cy="234696"/>
              </a:xfrm>
              <a:prstGeom prst="rect">
                <a:avLst/>
              </a:prstGeom>
              <a:noFill/>
              <a:ln>
                <a:noFill/>
              </a:ln>
            </p:spPr>
            <p:txBody>
              <a:bodyPr wrap="none" lIns="0" tIns="0" rIns="0" bIns="0" anchor="t" anchorCtr="0">
                <a:spAutoFit/>
              </a:bodyPr>
              <a:lstStyle/>
              <a:p>
                <a:pPr algn="l"/>
                <a:r>
                  <a:rPr lang="zh-CN" sz="1200" dirty="0">
                    <a:solidFill>
                      <a:srgbClr val="1D1D1A"/>
                    </a:solidFill>
                    <a:latin typeface="Arial"/>
                    <a:ea typeface="Microsoft YaHei"/>
                    <a:cs typeface="Arial"/>
                  </a:rPr>
                  <a:t>IaaS/PaaS转售（含主权云）</a:t>
                </a:r>
              </a:p>
            </p:txBody>
          </p:sp>
          <p:sp>
            <p:nvSpPr>
              <p:cNvPr id="50" name="TextBox 50"/>
              <p:cNvSpPr txBox="1"/>
              <p:nvPr/>
            </p:nvSpPr>
            <p:spPr>
              <a:xfrm>
                <a:off x="8036915" y="3473768"/>
                <a:ext cx="118669" cy="264033"/>
              </a:xfrm>
              <a:prstGeom prst="rect">
                <a:avLst/>
              </a:prstGeom>
              <a:noFill/>
              <a:ln>
                <a:noFill/>
              </a:ln>
            </p:spPr>
            <p:txBody>
              <a:bodyPr wrap="none" lIns="0" tIns="0" rIns="0" bIns="0" anchor="t" anchorCtr="0">
                <a:spAutoFit/>
              </a:bodyPr>
              <a:lstStyle/>
              <a:p>
                <a:pPr algn="ctr"/>
                <a:r>
                  <a:rPr lang="en-US" sz="1350" b="1" dirty="0">
                    <a:solidFill>
                      <a:srgbClr val="C7000A"/>
                    </a:solidFill>
                    <a:latin typeface="Segoe UI"/>
                    <a:ea typeface="Segoe UI"/>
                    <a:cs typeface="Segoe UI"/>
                  </a:rPr>
                  <a:t>✓</a:t>
                </a:r>
              </a:p>
            </p:txBody>
          </p:sp>
          <p:sp>
            <p:nvSpPr>
              <p:cNvPr id="51" name="TextBox 51"/>
              <p:cNvSpPr txBox="1"/>
              <p:nvPr/>
            </p:nvSpPr>
            <p:spPr>
              <a:xfrm>
                <a:off x="9277664" y="3473768"/>
                <a:ext cx="113671" cy="264033"/>
              </a:xfrm>
              <a:prstGeom prst="rect">
                <a:avLst/>
              </a:prstGeom>
              <a:noFill/>
              <a:ln>
                <a:noFill/>
              </a:ln>
            </p:spPr>
            <p:txBody>
              <a:bodyPr wrap="none" lIns="0" tIns="0" rIns="0" bIns="0" anchor="t" anchorCtr="0">
                <a:spAutoFit/>
              </a:bodyPr>
              <a:lstStyle/>
              <a:p>
                <a:pPr algn="ctr"/>
                <a:r>
                  <a:rPr lang="en-US" sz="1350" dirty="0">
                    <a:solidFill>
                      <a:srgbClr val="5A5852"/>
                    </a:solidFill>
                    <a:latin typeface="Segoe UI"/>
                    <a:ea typeface="Segoe UI"/>
                    <a:cs typeface="Segoe UI"/>
                  </a:rPr>
                  <a:t>△</a:t>
                </a:r>
              </a:p>
            </p:txBody>
          </p:sp>
          <p:sp>
            <p:nvSpPr>
              <p:cNvPr id="52" name="TextBox 52"/>
              <p:cNvSpPr txBox="1"/>
              <p:nvPr/>
            </p:nvSpPr>
            <p:spPr>
              <a:xfrm>
                <a:off x="10513415" y="3473768"/>
                <a:ext cx="118669" cy="264033"/>
              </a:xfrm>
              <a:prstGeom prst="rect">
                <a:avLst/>
              </a:prstGeom>
              <a:noFill/>
              <a:ln>
                <a:noFill/>
              </a:ln>
            </p:spPr>
            <p:txBody>
              <a:bodyPr wrap="none" lIns="0" tIns="0" rIns="0" bIns="0" anchor="t" anchorCtr="0">
                <a:spAutoFit/>
              </a:bodyPr>
              <a:lstStyle/>
              <a:p>
                <a:pPr algn="ctr"/>
                <a:r>
                  <a:rPr lang="en-US" sz="1350" b="1" dirty="0">
                    <a:solidFill>
                      <a:srgbClr val="C7000A"/>
                    </a:solidFill>
                    <a:latin typeface="Segoe UI"/>
                    <a:ea typeface="Segoe UI"/>
                    <a:cs typeface="Segoe UI"/>
                  </a:rPr>
                  <a:t>✓</a:t>
                </a:r>
              </a:p>
            </p:txBody>
          </p:sp>
        </p:grpSp>
        <p:sp>
          <p:nvSpPr>
            <p:cNvPr id="54" name="Line 54"/>
            <p:cNvSpPr/>
            <p:nvPr/>
          </p:nvSpPr>
          <p:spPr>
            <a:xfrm>
              <a:off x="762000" y="3657600"/>
              <a:ext cx="10668000" cy="9525"/>
            </a:xfrm>
            <a:custGeom>
              <a:avLst/>
              <a:gdLst/>
              <a:ahLst/>
              <a:cxnLst/>
              <a:rect l="l" t="t" r="r" b="b"/>
              <a:pathLst>
                <a:path w="10668000" h="9525">
                  <a:moveTo>
                    <a:pt x="0" y="0"/>
                  </a:moveTo>
                  <a:lnTo>
                    <a:pt x="10668000" y="0"/>
                  </a:lnTo>
                </a:path>
              </a:pathLst>
            </a:custGeom>
            <a:noFill/>
            <a:ln w="9525">
              <a:solidFill>
                <a:srgbClr val="DDDBD6"/>
              </a:solidFill>
            </a:ln>
          </p:spPr>
        </p:sp>
        <p:grpSp>
          <p:nvGrpSpPr>
            <p:cNvPr id="59" name="Group 59"/>
            <p:cNvGrpSpPr/>
            <p:nvPr/>
          </p:nvGrpSpPr>
          <p:grpSpPr>
            <a:xfrm>
              <a:off x="851154" y="3699510"/>
              <a:ext cx="9780930" cy="266891"/>
              <a:chOff x="851154" y="3699510"/>
              <a:chExt cx="9780930" cy="266891"/>
            </a:xfrm>
          </p:grpSpPr>
          <p:sp>
            <p:nvSpPr>
              <p:cNvPr id="55" name="TextBox 55"/>
              <p:cNvSpPr txBox="1"/>
              <p:nvPr/>
            </p:nvSpPr>
            <p:spPr>
              <a:xfrm>
                <a:off x="851154" y="3699510"/>
                <a:ext cx="1813408" cy="234696"/>
              </a:xfrm>
              <a:prstGeom prst="rect">
                <a:avLst/>
              </a:prstGeom>
              <a:noFill/>
              <a:ln>
                <a:noFill/>
              </a:ln>
            </p:spPr>
            <p:txBody>
              <a:bodyPr wrap="none" lIns="0" tIns="0" rIns="0" bIns="0" anchor="t" anchorCtr="0">
                <a:spAutoFit/>
              </a:bodyPr>
              <a:lstStyle/>
              <a:p>
                <a:pPr algn="l"/>
                <a:r>
                  <a:rPr lang="zh-CN" sz="1200" dirty="0">
                    <a:solidFill>
                      <a:srgbClr val="1D1D1A"/>
                    </a:solidFill>
                    <a:latin typeface="Arial"/>
                    <a:ea typeface="Microsoft YaHei"/>
                    <a:cs typeface="Arial"/>
                  </a:rPr>
                  <a:t>云迁移管理 / 混合云容器</a:t>
                </a:r>
              </a:p>
            </p:txBody>
          </p:sp>
          <p:sp>
            <p:nvSpPr>
              <p:cNvPr id="56" name="TextBox 56"/>
              <p:cNvSpPr txBox="1"/>
              <p:nvPr/>
            </p:nvSpPr>
            <p:spPr>
              <a:xfrm>
                <a:off x="8036915" y="3702368"/>
                <a:ext cx="118669" cy="264033"/>
              </a:xfrm>
              <a:prstGeom prst="rect">
                <a:avLst/>
              </a:prstGeom>
              <a:noFill/>
              <a:ln>
                <a:noFill/>
              </a:ln>
            </p:spPr>
            <p:txBody>
              <a:bodyPr wrap="none" lIns="0" tIns="0" rIns="0" bIns="0" anchor="t" anchorCtr="0">
                <a:spAutoFit/>
              </a:bodyPr>
              <a:lstStyle/>
              <a:p>
                <a:pPr algn="ctr"/>
                <a:r>
                  <a:rPr lang="en-US" sz="1350" b="1" dirty="0">
                    <a:solidFill>
                      <a:srgbClr val="C7000A"/>
                    </a:solidFill>
                    <a:latin typeface="Segoe UI"/>
                    <a:ea typeface="Segoe UI"/>
                    <a:cs typeface="Segoe UI"/>
                  </a:rPr>
                  <a:t>✓</a:t>
                </a:r>
              </a:p>
            </p:txBody>
          </p:sp>
          <p:sp>
            <p:nvSpPr>
              <p:cNvPr id="57" name="TextBox 57"/>
              <p:cNvSpPr txBox="1"/>
              <p:nvPr/>
            </p:nvSpPr>
            <p:spPr>
              <a:xfrm>
                <a:off x="9277664" y="3702368"/>
                <a:ext cx="113671" cy="264033"/>
              </a:xfrm>
              <a:prstGeom prst="rect">
                <a:avLst/>
              </a:prstGeom>
              <a:noFill/>
              <a:ln>
                <a:noFill/>
              </a:ln>
            </p:spPr>
            <p:txBody>
              <a:bodyPr wrap="none" lIns="0" tIns="0" rIns="0" bIns="0" anchor="t" anchorCtr="0">
                <a:spAutoFit/>
              </a:bodyPr>
              <a:lstStyle/>
              <a:p>
                <a:pPr algn="ctr"/>
                <a:r>
                  <a:rPr lang="en-US" sz="1350" dirty="0">
                    <a:solidFill>
                      <a:srgbClr val="5A5852"/>
                    </a:solidFill>
                    <a:latin typeface="Segoe UI"/>
                    <a:ea typeface="Segoe UI"/>
                    <a:cs typeface="Segoe UI"/>
                  </a:rPr>
                  <a:t>△</a:t>
                </a:r>
              </a:p>
            </p:txBody>
          </p:sp>
          <p:sp>
            <p:nvSpPr>
              <p:cNvPr id="58" name="TextBox 58"/>
              <p:cNvSpPr txBox="1"/>
              <p:nvPr/>
            </p:nvSpPr>
            <p:spPr>
              <a:xfrm>
                <a:off x="10513415" y="3702368"/>
                <a:ext cx="118669" cy="264033"/>
              </a:xfrm>
              <a:prstGeom prst="rect">
                <a:avLst/>
              </a:prstGeom>
              <a:noFill/>
              <a:ln>
                <a:noFill/>
              </a:ln>
            </p:spPr>
            <p:txBody>
              <a:bodyPr wrap="none" lIns="0" tIns="0" rIns="0" bIns="0" anchor="t" anchorCtr="0">
                <a:spAutoFit/>
              </a:bodyPr>
              <a:lstStyle/>
              <a:p>
                <a:pPr algn="ctr"/>
                <a:r>
                  <a:rPr lang="en-US" sz="1350" b="1" dirty="0">
                    <a:solidFill>
                      <a:srgbClr val="C7000A"/>
                    </a:solidFill>
                    <a:latin typeface="Segoe UI"/>
                    <a:ea typeface="Segoe UI"/>
                    <a:cs typeface="Segoe UI"/>
                  </a:rPr>
                  <a:t>✓</a:t>
                </a:r>
              </a:p>
            </p:txBody>
          </p:sp>
        </p:grpSp>
        <p:sp>
          <p:nvSpPr>
            <p:cNvPr id="60" name="TextBox 60"/>
            <p:cNvSpPr txBox="1"/>
            <p:nvPr/>
          </p:nvSpPr>
          <p:spPr>
            <a:xfrm>
              <a:off x="755904" y="3928110"/>
              <a:ext cx="755965" cy="234696"/>
            </a:xfrm>
            <a:prstGeom prst="rect">
              <a:avLst/>
            </a:prstGeom>
            <a:noFill/>
            <a:ln>
              <a:noFill/>
            </a:ln>
          </p:spPr>
          <p:txBody>
            <a:bodyPr wrap="none" lIns="0" tIns="0" rIns="0" bIns="0" anchor="t" anchorCtr="0">
              <a:spAutoFit/>
            </a:bodyPr>
            <a:lstStyle/>
            <a:p>
              <a:pPr algn="l"/>
              <a:r>
                <a:rPr lang="en-US" sz="1200" b="1" dirty="0">
                  <a:solidFill>
                    <a:srgbClr val="5A5852"/>
                  </a:solidFill>
                  <a:latin typeface="Arial"/>
                  <a:ea typeface="Arial"/>
                  <a:cs typeface="Arial"/>
                </a:rPr>
                <a:t>SECURITY</a:t>
              </a:r>
            </a:p>
          </p:txBody>
        </p:sp>
        <p:grpSp>
          <p:nvGrpSpPr>
            <p:cNvPr id="65" name="Group 65"/>
            <p:cNvGrpSpPr/>
            <p:nvPr/>
          </p:nvGrpSpPr>
          <p:grpSpPr>
            <a:xfrm>
              <a:off x="851154" y="4137660"/>
              <a:ext cx="9778431" cy="266891"/>
              <a:chOff x="851154" y="4137660"/>
              <a:chExt cx="9778431" cy="266891"/>
            </a:xfrm>
          </p:grpSpPr>
          <p:sp>
            <p:nvSpPr>
              <p:cNvPr id="61" name="TextBox 61"/>
              <p:cNvSpPr txBox="1"/>
              <p:nvPr/>
            </p:nvSpPr>
            <p:spPr>
              <a:xfrm>
                <a:off x="851154" y="4137660"/>
                <a:ext cx="2316480" cy="234696"/>
              </a:xfrm>
              <a:prstGeom prst="rect">
                <a:avLst/>
              </a:prstGeom>
              <a:noFill/>
              <a:ln>
                <a:noFill/>
              </a:ln>
            </p:spPr>
            <p:txBody>
              <a:bodyPr wrap="none" lIns="0" tIns="0" rIns="0" bIns="0" anchor="t" anchorCtr="0">
                <a:spAutoFit/>
              </a:bodyPr>
              <a:lstStyle/>
              <a:p>
                <a:pPr algn="l"/>
                <a:r>
                  <a:rPr lang="zh-CN" sz="1200" dirty="0">
                    <a:solidFill>
                      <a:srgbClr val="1D1D1A"/>
                    </a:solidFill>
                    <a:latin typeface="Arial"/>
                    <a:ea typeface="Microsoft YaHei"/>
                    <a:cs typeface="Arial"/>
                  </a:rPr>
                  <a:t>MSSP（SOC/SIEM/威胁情报）</a:t>
                </a:r>
              </a:p>
            </p:txBody>
          </p:sp>
          <p:sp>
            <p:nvSpPr>
              <p:cNvPr id="62" name="TextBox 62"/>
              <p:cNvSpPr txBox="1"/>
              <p:nvPr/>
            </p:nvSpPr>
            <p:spPr>
              <a:xfrm>
                <a:off x="8036915" y="4140518"/>
                <a:ext cx="118669" cy="264033"/>
              </a:xfrm>
              <a:prstGeom prst="rect">
                <a:avLst/>
              </a:prstGeom>
              <a:noFill/>
              <a:ln>
                <a:noFill/>
              </a:ln>
            </p:spPr>
            <p:txBody>
              <a:bodyPr wrap="none" lIns="0" tIns="0" rIns="0" bIns="0" anchor="t" anchorCtr="0">
                <a:spAutoFit/>
              </a:bodyPr>
              <a:lstStyle/>
              <a:p>
                <a:pPr algn="ctr"/>
                <a:r>
                  <a:rPr lang="en-US" sz="1350" b="1" dirty="0">
                    <a:solidFill>
                      <a:srgbClr val="C7000A"/>
                    </a:solidFill>
                    <a:latin typeface="Segoe UI"/>
                    <a:ea typeface="Segoe UI"/>
                    <a:cs typeface="Segoe UI"/>
                  </a:rPr>
                  <a:t>✓</a:t>
                </a:r>
              </a:p>
            </p:txBody>
          </p:sp>
          <p:sp>
            <p:nvSpPr>
              <p:cNvPr id="63" name="TextBox 63"/>
              <p:cNvSpPr txBox="1"/>
              <p:nvPr/>
            </p:nvSpPr>
            <p:spPr>
              <a:xfrm>
                <a:off x="9275165" y="4140518"/>
                <a:ext cx="118669" cy="264033"/>
              </a:xfrm>
              <a:prstGeom prst="rect">
                <a:avLst/>
              </a:prstGeom>
              <a:noFill/>
              <a:ln>
                <a:noFill/>
              </a:ln>
            </p:spPr>
            <p:txBody>
              <a:bodyPr wrap="none" lIns="0" tIns="0" rIns="0" bIns="0" anchor="t" anchorCtr="0">
                <a:spAutoFit/>
              </a:bodyPr>
              <a:lstStyle/>
              <a:p>
                <a:pPr algn="ctr"/>
                <a:r>
                  <a:rPr lang="en-US" sz="1350" b="1" dirty="0">
                    <a:solidFill>
                      <a:srgbClr val="C7000A"/>
                    </a:solidFill>
                    <a:latin typeface="Segoe UI"/>
                    <a:ea typeface="Segoe UI"/>
                    <a:cs typeface="Segoe UI"/>
                  </a:rPr>
                  <a:t>✓</a:t>
                </a:r>
              </a:p>
            </p:txBody>
          </p:sp>
          <p:sp>
            <p:nvSpPr>
              <p:cNvPr id="64" name="TextBox 64"/>
              <p:cNvSpPr txBox="1"/>
              <p:nvPr/>
            </p:nvSpPr>
            <p:spPr>
              <a:xfrm>
                <a:off x="10515914" y="4140518"/>
                <a:ext cx="113671" cy="264033"/>
              </a:xfrm>
              <a:prstGeom prst="rect">
                <a:avLst/>
              </a:prstGeom>
              <a:noFill/>
              <a:ln>
                <a:noFill/>
              </a:ln>
            </p:spPr>
            <p:txBody>
              <a:bodyPr wrap="none" lIns="0" tIns="0" rIns="0" bIns="0" anchor="t" anchorCtr="0">
                <a:spAutoFit/>
              </a:bodyPr>
              <a:lstStyle/>
              <a:p>
                <a:pPr algn="ctr"/>
                <a:r>
                  <a:rPr lang="en-US" sz="1350" dirty="0">
                    <a:solidFill>
                      <a:srgbClr val="5A5852"/>
                    </a:solidFill>
                    <a:latin typeface="Segoe UI"/>
                    <a:ea typeface="Segoe UI"/>
                    <a:cs typeface="Segoe UI"/>
                  </a:rPr>
                  <a:t>△</a:t>
                </a:r>
              </a:p>
            </p:txBody>
          </p:sp>
        </p:grpSp>
        <p:sp>
          <p:nvSpPr>
            <p:cNvPr id="66" name="Line 66"/>
            <p:cNvSpPr/>
            <p:nvPr/>
          </p:nvSpPr>
          <p:spPr>
            <a:xfrm>
              <a:off x="762000" y="4324350"/>
              <a:ext cx="10668000" cy="9525"/>
            </a:xfrm>
            <a:custGeom>
              <a:avLst/>
              <a:gdLst/>
              <a:ahLst/>
              <a:cxnLst/>
              <a:rect l="l" t="t" r="r" b="b"/>
              <a:pathLst>
                <a:path w="10668000" h="9525">
                  <a:moveTo>
                    <a:pt x="0" y="0"/>
                  </a:moveTo>
                  <a:lnTo>
                    <a:pt x="10668000" y="0"/>
                  </a:lnTo>
                </a:path>
              </a:pathLst>
            </a:custGeom>
            <a:noFill/>
            <a:ln w="9525">
              <a:solidFill>
                <a:srgbClr val="DDDBD6"/>
              </a:solidFill>
            </a:ln>
          </p:spPr>
        </p:sp>
        <p:grpSp>
          <p:nvGrpSpPr>
            <p:cNvPr id="71" name="Group 71"/>
            <p:cNvGrpSpPr/>
            <p:nvPr/>
          </p:nvGrpSpPr>
          <p:grpSpPr>
            <a:xfrm>
              <a:off x="851154" y="4366260"/>
              <a:ext cx="9778431" cy="266891"/>
              <a:chOff x="851154" y="4366260"/>
              <a:chExt cx="9778431" cy="266891"/>
            </a:xfrm>
          </p:grpSpPr>
          <p:sp>
            <p:nvSpPr>
              <p:cNvPr id="67" name="TextBox 67"/>
              <p:cNvSpPr txBox="1"/>
              <p:nvPr/>
            </p:nvSpPr>
            <p:spPr>
              <a:xfrm>
                <a:off x="851154" y="4366260"/>
                <a:ext cx="2637953" cy="234696"/>
              </a:xfrm>
              <a:prstGeom prst="rect">
                <a:avLst/>
              </a:prstGeom>
              <a:noFill/>
              <a:ln>
                <a:noFill/>
              </a:ln>
            </p:spPr>
            <p:txBody>
              <a:bodyPr wrap="none" lIns="0" tIns="0" rIns="0" bIns="0" anchor="t" anchorCtr="0">
                <a:spAutoFit/>
              </a:bodyPr>
              <a:lstStyle/>
              <a:p>
                <a:pPr algn="l"/>
                <a:r>
                  <a:rPr lang="zh-CN" sz="1200" dirty="0">
                    <a:solidFill>
                      <a:srgbClr val="1D1D1A"/>
                    </a:solidFill>
                    <a:latin typeface="Arial"/>
                    <a:ea typeface="Microsoft YaHei"/>
                    <a:cs typeface="Arial"/>
                  </a:rPr>
                  <a:t>终端安全 / 数据保护 / IoT-OT安全</a:t>
                </a:r>
              </a:p>
            </p:txBody>
          </p:sp>
          <p:sp>
            <p:nvSpPr>
              <p:cNvPr id="68" name="TextBox 68"/>
              <p:cNvSpPr txBox="1"/>
              <p:nvPr/>
            </p:nvSpPr>
            <p:spPr>
              <a:xfrm>
                <a:off x="8036915" y="4369118"/>
                <a:ext cx="118669" cy="264033"/>
              </a:xfrm>
              <a:prstGeom prst="rect">
                <a:avLst/>
              </a:prstGeom>
              <a:noFill/>
              <a:ln>
                <a:noFill/>
              </a:ln>
            </p:spPr>
            <p:txBody>
              <a:bodyPr wrap="none" lIns="0" tIns="0" rIns="0" bIns="0" anchor="t" anchorCtr="0">
                <a:spAutoFit/>
              </a:bodyPr>
              <a:lstStyle/>
              <a:p>
                <a:pPr algn="ctr"/>
                <a:r>
                  <a:rPr lang="en-US" sz="1350" b="1" dirty="0">
                    <a:solidFill>
                      <a:srgbClr val="C7000A"/>
                    </a:solidFill>
                    <a:latin typeface="Segoe UI"/>
                    <a:ea typeface="Segoe UI"/>
                    <a:cs typeface="Segoe UI"/>
                  </a:rPr>
                  <a:t>✓</a:t>
                </a:r>
              </a:p>
            </p:txBody>
          </p:sp>
          <p:sp>
            <p:nvSpPr>
              <p:cNvPr id="69" name="TextBox 69"/>
              <p:cNvSpPr txBox="1"/>
              <p:nvPr/>
            </p:nvSpPr>
            <p:spPr>
              <a:xfrm>
                <a:off x="9277664" y="4369118"/>
                <a:ext cx="113671" cy="264033"/>
              </a:xfrm>
              <a:prstGeom prst="rect">
                <a:avLst/>
              </a:prstGeom>
              <a:noFill/>
              <a:ln>
                <a:noFill/>
              </a:ln>
            </p:spPr>
            <p:txBody>
              <a:bodyPr wrap="none" lIns="0" tIns="0" rIns="0" bIns="0" anchor="t" anchorCtr="0">
                <a:spAutoFit/>
              </a:bodyPr>
              <a:lstStyle/>
              <a:p>
                <a:pPr algn="ctr"/>
                <a:r>
                  <a:rPr lang="en-US" sz="1350" dirty="0">
                    <a:solidFill>
                      <a:srgbClr val="5A5852"/>
                    </a:solidFill>
                    <a:latin typeface="Segoe UI"/>
                    <a:ea typeface="Segoe UI"/>
                    <a:cs typeface="Segoe UI"/>
                  </a:rPr>
                  <a:t>△</a:t>
                </a:r>
              </a:p>
            </p:txBody>
          </p:sp>
          <p:sp>
            <p:nvSpPr>
              <p:cNvPr id="70" name="TextBox 70"/>
              <p:cNvSpPr txBox="1"/>
              <p:nvPr/>
            </p:nvSpPr>
            <p:spPr>
              <a:xfrm>
                <a:off x="10515914" y="4369118"/>
                <a:ext cx="113671" cy="264033"/>
              </a:xfrm>
              <a:prstGeom prst="rect">
                <a:avLst/>
              </a:prstGeom>
              <a:noFill/>
              <a:ln>
                <a:noFill/>
              </a:ln>
            </p:spPr>
            <p:txBody>
              <a:bodyPr wrap="none" lIns="0" tIns="0" rIns="0" bIns="0" anchor="t" anchorCtr="0">
                <a:spAutoFit/>
              </a:bodyPr>
              <a:lstStyle/>
              <a:p>
                <a:pPr algn="ctr"/>
                <a:r>
                  <a:rPr lang="en-US" sz="1350" dirty="0">
                    <a:solidFill>
                      <a:srgbClr val="8A8880"/>
                    </a:solidFill>
                    <a:latin typeface="Segoe UI"/>
                    <a:ea typeface="Segoe UI"/>
                    <a:cs typeface="Segoe UI"/>
                  </a:rPr>
                  <a:t>✗</a:t>
                </a:r>
              </a:p>
            </p:txBody>
          </p:sp>
        </p:grpSp>
        <p:sp>
          <p:nvSpPr>
            <p:cNvPr id="72" name="TextBox 72"/>
            <p:cNvSpPr txBox="1"/>
            <p:nvPr/>
          </p:nvSpPr>
          <p:spPr>
            <a:xfrm>
              <a:off x="755904" y="4594860"/>
              <a:ext cx="783968" cy="234696"/>
            </a:xfrm>
            <a:prstGeom prst="rect">
              <a:avLst/>
            </a:prstGeom>
            <a:noFill/>
            <a:ln>
              <a:noFill/>
            </a:ln>
          </p:spPr>
          <p:txBody>
            <a:bodyPr wrap="none" lIns="0" tIns="0" rIns="0" bIns="0" anchor="t" anchorCtr="0">
              <a:spAutoFit/>
            </a:bodyPr>
            <a:lstStyle/>
            <a:p>
              <a:pPr algn="l"/>
              <a:r>
                <a:rPr lang="zh-CN" sz="1200" b="1" dirty="0">
                  <a:solidFill>
                    <a:srgbClr val="5A5852"/>
                  </a:solidFill>
                  <a:latin typeface="Arial"/>
                  <a:ea typeface="Microsoft YaHei"/>
                  <a:cs typeface="Arial"/>
                </a:rPr>
                <a:t>集成/转售</a:t>
              </a:r>
            </a:p>
          </p:txBody>
        </p:sp>
        <p:grpSp>
          <p:nvGrpSpPr>
            <p:cNvPr id="77" name="Group 77"/>
            <p:cNvGrpSpPr/>
            <p:nvPr/>
          </p:nvGrpSpPr>
          <p:grpSpPr>
            <a:xfrm>
              <a:off x="851154" y="4804410"/>
              <a:ext cx="9780930" cy="266891"/>
              <a:chOff x="851154" y="4804410"/>
              <a:chExt cx="9780930" cy="266891"/>
            </a:xfrm>
          </p:grpSpPr>
          <p:sp>
            <p:nvSpPr>
              <p:cNvPr id="73" name="TextBox 73"/>
              <p:cNvSpPr txBox="1"/>
              <p:nvPr/>
            </p:nvSpPr>
            <p:spPr>
              <a:xfrm>
                <a:off x="851154" y="4804410"/>
                <a:ext cx="1950720" cy="234696"/>
              </a:xfrm>
              <a:prstGeom prst="rect">
                <a:avLst/>
              </a:prstGeom>
              <a:noFill/>
              <a:ln>
                <a:noFill/>
              </a:ln>
            </p:spPr>
            <p:txBody>
              <a:bodyPr wrap="none" lIns="0" tIns="0" rIns="0" bIns="0" anchor="t" anchorCtr="0">
                <a:spAutoFit/>
              </a:bodyPr>
              <a:lstStyle/>
              <a:p>
                <a:pPr algn="l"/>
                <a:r>
                  <a:rPr lang="zh-CN" sz="1200" dirty="0">
                    <a:solidFill>
                      <a:srgbClr val="1D1D1A"/>
                    </a:solidFill>
                    <a:latin typeface="Arial"/>
                    <a:ea typeface="Microsoft YaHei"/>
                    <a:cs typeface="Arial"/>
                  </a:rPr>
                  <a:t>系统集成（项目招标交付）</a:t>
                </a:r>
              </a:p>
            </p:txBody>
          </p:sp>
          <p:sp>
            <p:nvSpPr>
              <p:cNvPr id="74" name="TextBox 74"/>
              <p:cNvSpPr txBox="1"/>
              <p:nvPr/>
            </p:nvSpPr>
            <p:spPr>
              <a:xfrm>
                <a:off x="8036915" y="4807268"/>
                <a:ext cx="118669" cy="264033"/>
              </a:xfrm>
              <a:prstGeom prst="rect">
                <a:avLst/>
              </a:prstGeom>
              <a:noFill/>
              <a:ln>
                <a:noFill/>
              </a:ln>
            </p:spPr>
            <p:txBody>
              <a:bodyPr wrap="none" lIns="0" tIns="0" rIns="0" bIns="0" anchor="t" anchorCtr="0">
                <a:spAutoFit/>
              </a:bodyPr>
              <a:lstStyle/>
              <a:p>
                <a:pPr algn="ctr"/>
                <a:r>
                  <a:rPr lang="en-US" sz="1350" b="1" dirty="0">
                    <a:solidFill>
                      <a:srgbClr val="C7000A"/>
                    </a:solidFill>
                    <a:latin typeface="Segoe UI"/>
                    <a:ea typeface="Segoe UI"/>
                    <a:cs typeface="Segoe UI"/>
                  </a:rPr>
                  <a:t>✓</a:t>
                </a:r>
              </a:p>
            </p:txBody>
          </p:sp>
          <p:sp>
            <p:nvSpPr>
              <p:cNvPr id="75" name="TextBox 75"/>
              <p:cNvSpPr txBox="1"/>
              <p:nvPr/>
            </p:nvSpPr>
            <p:spPr>
              <a:xfrm>
                <a:off x="9275165" y="4807268"/>
                <a:ext cx="118669" cy="264033"/>
              </a:xfrm>
              <a:prstGeom prst="rect">
                <a:avLst/>
              </a:prstGeom>
              <a:noFill/>
              <a:ln>
                <a:noFill/>
              </a:ln>
            </p:spPr>
            <p:txBody>
              <a:bodyPr wrap="none" lIns="0" tIns="0" rIns="0" bIns="0" anchor="t" anchorCtr="0">
                <a:spAutoFit/>
              </a:bodyPr>
              <a:lstStyle/>
              <a:p>
                <a:pPr algn="ctr"/>
                <a:r>
                  <a:rPr lang="en-US" sz="1350" b="1" dirty="0">
                    <a:solidFill>
                      <a:srgbClr val="C7000A"/>
                    </a:solidFill>
                    <a:latin typeface="Segoe UI"/>
                    <a:ea typeface="Segoe UI"/>
                    <a:cs typeface="Segoe UI"/>
                  </a:rPr>
                  <a:t>✓</a:t>
                </a:r>
              </a:p>
            </p:txBody>
          </p:sp>
          <p:sp>
            <p:nvSpPr>
              <p:cNvPr id="76" name="TextBox 76"/>
              <p:cNvSpPr txBox="1"/>
              <p:nvPr/>
            </p:nvSpPr>
            <p:spPr>
              <a:xfrm>
                <a:off x="10513415" y="4807268"/>
                <a:ext cx="118669" cy="264033"/>
              </a:xfrm>
              <a:prstGeom prst="rect">
                <a:avLst/>
              </a:prstGeom>
              <a:noFill/>
              <a:ln>
                <a:noFill/>
              </a:ln>
            </p:spPr>
            <p:txBody>
              <a:bodyPr wrap="none" lIns="0" tIns="0" rIns="0" bIns="0" anchor="t" anchorCtr="0">
                <a:spAutoFit/>
              </a:bodyPr>
              <a:lstStyle/>
              <a:p>
                <a:pPr algn="ctr"/>
                <a:r>
                  <a:rPr lang="en-US" sz="1350" b="1" dirty="0">
                    <a:solidFill>
                      <a:srgbClr val="C7000A"/>
                    </a:solidFill>
                    <a:latin typeface="Segoe UI"/>
                    <a:ea typeface="Segoe UI"/>
                    <a:cs typeface="Segoe UI"/>
                  </a:rPr>
                  <a:t>✓</a:t>
                </a:r>
              </a:p>
            </p:txBody>
          </p:sp>
        </p:grpSp>
        <p:sp>
          <p:nvSpPr>
            <p:cNvPr id="78" name="Line 78"/>
            <p:cNvSpPr/>
            <p:nvPr/>
          </p:nvSpPr>
          <p:spPr>
            <a:xfrm>
              <a:off x="762000" y="4991100"/>
              <a:ext cx="10668000" cy="9525"/>
            </a:xfrm>
            <a:custGeom>
              <a:avLst/>
              <a:gdLst/>
              <a:ahLst/>
              <a:cxnLst/>
              <a:rect l="l" t="t" r="r" b="b"/>
              <a:pathLst>
                <a:path w="10668000" h="9525">
                  <a:moveTo>
                    <a:pt x="0" y="0"/>
                  </a:moveTo>
                  <a:lnTo>
                    <a:pt x="10668000" y="0"/>
                  </a:lnTo>
                </a:path>
              </a:pathLst>
            </a:custGeom>
            <a:noFill/>
            <a:ln w="9525">
              <a:solidFill>
                <a:srgbClr val="DDDBD6"/>
              </a:solidFill>
            </a:ln>
          </p:spPr>
        </p:sp>
        <p:grpSp>
          <p:nvGrpSpPr>
            <p:cNvPr id="83" name="Group 83"/>
            <p:cNvGrpSpPr/>
            <p:nvPr/>
          </p:nvGrpSpPr>
          <p:grpSpPr>
            <a:xfrm>
              <a:off x="851154" y="5033010"/>
              <a:ext cx="9778431" cy="266891"/>
              <a:chOff x="851154" y="5033010"/>
              <a:chExt cx="9778431" cy="266891"/>
            </a:xfrm>
          </p:grpSpPr>
          <p:sp>
            <p:nvSpPr>
              <p:cNvPr id="79" name="TextBox 79"/>
              <p:cNvSpPr txBox="1"/>
              <p:nvPr/>
            </p:nvSpPr>
            <p:spPr>
              <a:xfrm>
                <a:off x="851154" y="5033010"/>
                <a:ext cx="2088533" cy="234696"/>
              </a:xfrm>
              <a:prstGeom prst="rect">
                <a:avLst/>
              </a:prstGeom>
              <a:noFill/>
              <a:ln>
                <a:noFill/>
              </a:ln>
            </p:spPr>
            <p:txBody>
              <a:bodyPr wrap="none" lIns="0" tIns="0" rIns="0" bIns="0" anchor="t" anchorCtr="0">
                <a:spAutoFit/>
              </a:bodyPr>
              <a:lstStyle/>
              <a:p>
                <a:pPr algn="l"/>
                <a:r>
                  <a:rPr lang="zh-CN" sz="1200" dirty="0">
                    <a:solidFill>
                      <a:srgbClr val="1D1D1A"/>
                    </a:solidFill>
                    <a:latin typeface="Arial"/>
                    <a:ea typeface="Microsoft YaHei"/>
                    <a:cs typeface="Arial"/>
                  </a:rPr>
                  <a:t>硬件转售 / 软件License转售</a:t>
                </a:r>
              </a:p>
            </p:txBody>
          </p:sp>
          <p:sp>
            <p:nvSpPr>
              <p:cNvPr id="80" name="TextBox 80"/>
              <p:cNvSpPr txBox="1"/>
              <p:nvPr/>
            </p:nvSpPr>
            <p:spPr>
              <a:xfrm>
                <a:off x="8036915" y="5035868"/>
                <a:ext cx="118669" cy="264033"/>
              </a:xfrm>
              <a:prstGeom prst="rect">
                <a:avLst/>
              </a:prstGeom>
              <a:noFill/>
              <a:ln>
                <a:noFill/>
              </a:ln>
            </p:spPr>
            <p:txBody>
              <a:bodyPr wrap="none" lIns="0" tIns="0" rIns="0" bIns="0" anchor="t" anchorCtr="0">
                <a:spAutoFit/>
              </a:bodyPr>
              <a:lstStyle/>
              <a:p>
                <a:pPr algn="ctr"/>
                <a:r>
                  <a:rPr lang="en-US" sz="1350" b="1" dirty="0">
                    <a:solidFill>
                      <a:srgbClr val="C7000A"/>
                    </a:solidFill>
                    <a:latin typeface="Segoe UI"/>
                    <a:ea typeface="Segoe UI"/>
                    <a:cs typeface="Segoe UI"/>
                  </a:rPr>
                  <a:t>✓</a:t>
                </a:r>
              </a:p>
            </p:txBody>
          </p:sp>
          <p:sp>
            <p:nvSpPr>
              <p:cNvPr id="81" name="TextBox 81"/>
              <p:cNvSpPr txBox="1"/>
              <p:nvPr/>
            </p:nvSpPr>
            <p:spPr>
              <a:xfrm>
                <a:off x="9277664" y="5035868"/>
                <a:ext cx="113671" cy="264033"/>
              </a:xfrm>
              <a:prstGeom prst="rect">
                <a:avLst/>
              </a:prstGeom>
              <a:noFill/>
              <a:ln>
                <a:noFill/>
              </a:ln>
            </p:spPr>
            <p:txBody>
              <a:bodyPr wrap="none" lIns="0" tIns="0" rIns="0" bIns="0" anchor="t" anchorCtr="0">
                <a:spAutoFit/>
              </a:bodyPr>
              <a:lstStyle/>
              <a:p>
                <a:pPr algn="ctr"/>
                <a:r>
                  <a:rPr lang="en-US" sz="1350" dirty="0">
                    <a:solidFill>
                      <a:srgbClr val="5A5852"/>
                    </a:solidFill>
                    <a:latin typeface="Segoe UI"/>
                    <a:ea typeface="Segoe UI"/>
                    <a:cs typeface="Segoe UI"/>
                  </a:rPr>
                  <a:t>△</a:t>
                </a:r>
              </a:p>
            </p:txBody>
          </p:sp>
          <p:sp>
            <p:nvSpPr>
              <p:cNvPr id="82" name="TextBox 82"/>
              <p:cNvSpPr txBox="1"/>
              <p:nvPr/>
            </p:nvSpPr>
            <p:spPr>
              <a:xfrm>
                <a:off x="10515914" y="5035868"/>
                <a:ext cx="113671" cy="264033"/>
              </a:xfrm>
              <a:prstGeom prst="rect">
                <a:avLst/>
              </a:prstGeom>
              <a:noFill/>
              <a:ln>
                <a:noFill/>
              </a:ln>
            </p:spPr>
            <p:txBody>
              <a:bodyPr wrap="none" lIns="0" tIns="0" rIns="0" bIns="0" anchor="t" anchorCtr="0">
                <a:spAutoFit/>
              </a:bodyPr>
              <a:lstStyle/>
              <a:p>
                <a:pPr algn="ctr"/>
                <a:r>
                  <a:rPr lang="en-US" sz="1350" dirty="0">
                    <a:solidFill>
                      <a:srgbClr val="5A5852"/>
                    </a:solidFill>
                    <a:latin typeface="Segoe UI"/>
                    <a:ea typeface="Segoe UI"/>
                    <a:cs typeface="Segoe UI"/>
                  </a:rPr>
                  <a:t>△</a:t>
                </a:r>
              </a:p>
            </p:txBody>
          </p:sp>
        </p:grpSp>
        <p:sp>
          <p:nvSpPr>
            <p:cNvPr id="84" name="TextBox 84"/>
            <p:cNvSpPr txBox="1"/>
            <p:nvPr/>
          </p:nvSpPr>
          <p:spPr>
            <a:xfrm>
              <a:off x="755904" y="5261610"/>
              <a:ext cx="1060643" cy="234696"/>
            </a:xfrm>
            <a:prstGeom prst="rect">
              <a:avLst/>
            </a:prstGeom>
            <a:noFill/>
            <a:ln>
              <a:noFill/>
            </a:ln>
          </p:spPr>
          <p:txBody>
            <a:bodyPr wrap="none" lIns="0" tIns="0" rIns="0" bIns="0" anchor="t" anchorCtr="0">
              <a:spAutoFit/>
            </a:bodyPr>
            <a:lstStyle/>
            <a:p>
              <a:pPr algn="l"/>
              <a:r>
                <a:rPr lang="zh-CN" sz="1200" b="1" dirty="0">
                  <a:solidFill>
                    <a:srgbClr val="5A5852"/>
                  </a:solidFill>
                  <a:latin typeface="Arial"/>
                  <a:ea typeface="Microsoft YaHei"/>
                  <a:cs typeface="Arial"/>
                </a:rPr>
                <a:t>MPN移动专网</a:t>
              </a:r>
            </a:p>
          </p:txBody>
        </p:sp>
        <p:grpSp>
          <p:nvGrpSpPr>
            <p:cNvPr id="89" name="Group 89"/>
            <p:cNvGrpSpPr/>
            <p:nvPr/>
          </p:nvGrpSpPr>
          <p:grpSpPr>
            <a:xfrm>
              <a:off x="851154" y="5471160"/>
              <a:ext cx="9780930" cy="266891"/>
              <a:chOff x="851154" y="5471160"/>
              <a:chExt cx="9780930" cy="266891"/>
            </a:xfrm>
          </p:grpSpPr>
          <p:sp>
            <p:nvSpPr>
              <p:cNvPr id="85" name="TextBox 85"/>
              <p:cNvSpPr txBox="1"/>
              <p:nvPr/>
            </p:nvSpPr>
            <p:spPr>
              <a:xfrm>
                <a:off x="851154" y="5471160"/>
                <a:ext cx="2128723" cy="234696"/>
              </a:xfrm>
              <a:prstGeom prst="rect">
                <a:avLst/>
              </a:prstGeom>
              <a:noFill/>
              <a:ln>
                <a:noFill/>
              </a:ln>
            </p:spPr>
            <p:txBody>
              <a:bodyPr wrap="none" lIns="0" tIns="0" rIns="0" bIns="0" anchor="t" anchorCtr="0">
                <a:spAutoFit/>
              </a:bodyPr>
              <a:lstStyle/>
              <a:p>
                <a:pPr algn="l"/>
                <a:r>
                  <a:rPr lang="zh-CN" sz="1200" dirty="0">
                    <a:solidFill>
                      <a:srgbClr val="1D1D1A"/>
                    </a:solidFill>
                    <a:latin typeface="Arial"/>
                    <a:ea typeface="Microsoft YaHei"/>
                    <a:cs typeface="Arial"/>
                  </a:rPr>
                  <a:t>工业专网MPN（矿业/港口）</a:t>
                </a:r>
              </a:p>
            </p:txBody>
          </p:sp>
          <p:sp>
            <p:nvSpPr>
              <p:cNvPr id="86" name="TextBox 86"/>
              <p:cNvSpPr txBox="1"/>
              <p:nvPr/>
            </p:nvSpPr>
            <p:spPr>
              <a:xfrm>
                <a:off x="8039414" y="5474018"/>
                <a:ext cx="113671" cy="264033"/>
              </a:xfrm>
              <a:prstGeom prst="rect">
                <a:avLst/>
              </a:prstGeom>
              <a:noFill/>
              <a:ln>
                <a:noFill/>
              </a:ln>
            </p:spPr>
            <p:txBody>
              <a:bodyPr wrap="none" lIns="0" tIns="0" rIns="0" bIns="0" anchor="t" anchorCtr="0">
                <a:spAutoFit/>
              </a:bodyPr>
              <a:lstStyle/>
              <a:p>
                <a:pPr algn="ctr"/>
                <a:r>
                  <a:rPr lang="en-US" sz="1350" dirty="0">
                    <a:solidFill>
                      <a:srgbClr val="8A8880"/>
                    </a:solidFill>
                    <a:latin typeface="Segoe UI"/>
                    <a:ea typeface="Segoe UI"/>
                    <a:cs typeface="Segoe UI"/>
                  </a:rPr>
                  <a:t>✗</a:t>
                </a:r>
              </a:p>
            </p:txBody>
          </p:sp>
          <p:sp>
            <p:nvSpPr>
              <p:cNvPr id="87" name="TextBox 87"/>
              <p:cNvSpPr txBox="1"/>
              <p:nvPr/>
            </p:nvSpPr>
            <p:spPr>
              <a:xfrm>
                <a:off x="9277664" y="5474018"/>
                <a:ext cx="113671" cy="264033"/>
              </a:xfrm>
              <a:prstGeom prst="rect">
                <a:avLst/>
              </a:prstGeom>
              <a:noFill/>
              <a:ln>
                <a:noFill/>
              </a:ln>
            </p:spPr>
            <p:txBody>
              <a:bodyPr wrap="none" lIns="0" tIns="0" rIns="0" bIns="0" anchor="t" anchorCtr="0">
                <a:spAutoFit/>
              </a:bodyPr>
              <a:lstStyle/>
              <a:p>
                <a:pPr algn="ctr"/>
                <a:r>
                  <a:rPr lang="en-US" sz="1350" dirty="0">
                    <a:solidFill>
                      <a:srgbClr val="5A5852"/>
                    </a:solidFill>
                    <a:latin typeface="Segoe UI"/>
                    <a:ea typeface="Segoe UI"/>
                    <a:cs typeface="Segoe UI"/>
                  </a:rPr>
                  <a:t>△</a:t>
                </a:r>
              </a:p>
            </p:txBody>
          </p:sp>
          <p:sp>
            <p:nvSpPr>
              <p:cNvPr id="88" name="TextBox 88"/>
              <p:cNvSpPr txBox="1"/>
              <p:nvPr/>
            </p:nvSpPr>
            <p:spPr>
              <a:xfrm>
                <a:off x="10513415" y="5474018"/>
                <a:ext cx="118669" cy="264033"/>
              </a:xfrm>
              <a:prstGeom prst="rect">
                <a:avLst/>
              </a:prstGeom>
              <a:noFill/>
              <a:ln>
                <a:noFill/>
              </a:ln>
            </p:spPr>
            <p:txBody>
              <a:bodyPr wrap="none" lIns="0" tIns="0" rIns="0" bIns="0" anchor="t" anchorCtr="0">
                <a:spAutoFit/>
              </a:bodyPr>
              <a:lstStyle/>
              <a:p>
                <a:pPr algn="ctr"/>
                <a:r>
                  <a:rPr lang="en-US" sz="1350" b="1" dirty="0">
                    <a:solidFill>
                      <a:srgbClr val="C7000A"/>
                    </a:solidFill>
                    <a:latin typeface="Segoe UI"/>
                    <a:ea typeface="Segoe UI"/>
                    <a:cs typeface="Segoe UI"/>
                  </a:rPr>
                  <a:t>✓</a:t>
                </a:r>
              </a:p>
            </p:txBody>
          </p:sp>
        </p:grpSp>
        <p:sp>
          <p:nvSpPr>
            <p:cNvPr id="90" name="Line 90"/>
            <p:cNvSpPr/>
            <p:nvPr/>
          </p:nvSpPr>
          <p:spPr>
            <a:xfrm>
              <a:off x="762000" y="5657850"/>
              <a:ext cx="10668000" cy="9525"/>
            </a:xfrm>
            <a:custGeom>
              <a:avLst/>
              <a:gdLst/>
              <a:ahLst/>
              <a:cxnLst/>
              <a:rect l="l" t="t" r="r" b="b"/>
              <a:pathLst>
                <a:path w="10668000" h="9525">
                  <a:moveTo>
                    <a:pt x="0" y="0"/>
                  </a:moveTo>
                  <a:lnTo>
                    <a:pt x="10668000" y="0"/>
                  </a:lnTo>
                </a:path>
              </a:pathLst>
            </a:custGeom>
            <a:noFill/>
            <a:ln w="9525">
              <a:solidFill>
                <a:srgbClr val="DDDBD6"/>
              </a:solidFill>
            </a:ln>
          </p:spPr>
        </p:sp>
        <p:grpSp>
          <p:nvGrpSpPr>
            <p:cNvPr id="95" name="Group 95"/>
            <p:cNvGrpSpPr/>
            <p:nvPr/>
          </p:nvGrpSpPr>
          <p:grpSpPr>
            <a:xfrm>
              <a:off x="851154" y="5699760"/>
              <a:ext cx="9778431" cy="266891"/>
              <a:chOff x="851154" y="5699760"/>
              <a:chExt cx="9778431" cy="266891"/>
            </a:xfrm>
          </p:grpSpPr>
          <p:sp>
            <p:nvSpPr>
              <p:cNvPr id="91" name="TextBox 91"/>
              <p:cNvSpPr txBox="1"/>
              <p:nvPr/>
            </p:nvSpPr>
            <p:spPr>
              <a:xfrm>
                <a:off x="851154" y="5699760"/>
                <a:ext cx="2198218" cy="234696"/>
              </a:xfrm>
              <a:prstGeom prst="rect">
                <a:avLst/>
              </a:prstGeom>
              <a:noFill/>
              <a:ln>
                <a:noFill/>
              </a:ln>
            </p:spPr>
            <p:txBody>
              <a:bodyPr wrap="none" lIns="0" tIns="0" rIns="0" bIns="0" anchor="t" anchorCtr="0">
                <a:spAutoFit/>
              </a:bodyPr>
              <a:lstStyle/>
              <a:p>
                <a:pPr algn="l"/>
                <a:r>
                  <a:rPr lang="zh-CN" sz="1200" dirty="0">
                    <a:solidFill>
                      <a:srgbClr val="1D1D1A"/>
                    </a:solidFill>
                    <a:latin typeface="Arial"/>
                    <a:ea typeface="Microsoft YaHei"/>
                    <a:cs typeface="Arial"/>
                  </a:rPr>
                  <a:t>Hybrid MPN（宏站复用试点）</a:t>
                </a:r>
              </a:p>
            </p:txBody>
          </p:sp>
          <p:sp>
            <p:nvSpPr>
              <p:cNvPr id="92" name="TextBox 92"/>
              <p:cNvSpPr txBox="1"/>
              <p:nvPr/>
            </p:nvSpPr>
            <p:spPr>
              <a:xfrm>
                <a:off x="8039414" y="5702618"/>
                <a:ext cx="113671" cy="264033"/>
              </a:xfrm>
              <a:prstGeom prst="rect">
                <a:avLst/>
              </a:prstGeom>
              <a:noFill/>
              <a:ln>
                <a:noFill/>
              </a:ln>
            </p:spPr>
            <p:txBody>
              <a:bodyPr wrap="none" lIns="0" tIns="0" rIns="0" bIns="0" anchor="t" anchorCtr="0">
                <a:spAutoFit/>
              </a:bodyPr>
              <a:lstStyle/>
              <a:p>
                <a:pPr algn="ctr"/>
                <a:r>
                  <a:rPr lang="en-US" sz="1350" dirty="0">
                    <a:solidFill>
                      <a:srgbClr val="5A5852"/>
                    </a:solidFill>
                    <a:latin typeface="Segoe UI"/>
                    <a:ea typeface="Segoe UI"/>
                    <a:cs typeface="Segoe UI"/>
                  </a:rPr>
                  <a:t>△</a:t>
                </a:r>
              </a:p>
            </p:txBody>
          </p:sp>
          <p:sp>
            <p:nvSpPr>
              <p:cNvPr id="93" name="TextBox 93"/>
              <p:cNvSpPr txBox="1"/>
              <p:nvPr/>
            </p:nvSpPr>
            <p:spPr>
              <a:xfrm>
                <a:off x="9277664" y="5702618"/>
                <a:ext cx="113671" cy="264033"/>
              </a:xfrm>
              <a:prstGeom prst="rect">
                <a:avLst/>
              </a:prstGeom>
              <a:noFill/>
              <a:ln>
                <a:noFill/>
              </a:ln>
            </p:spPr>
            <p:txBody>
              <a:bodyPr wrap="none" lIns="0" tIns="0" rIns="0" bIns="0" anchor="t" anchorCtr="0">
                <a:spAutoFit/>
              </a:bodyPr>
              <a:lstStyle/>
              <a:p>
                <a:pPr algn="ctr"/>
                <a:r>
                  <a:rPr lang="en-US" sz="1350" dirty="0">
                    <a:solidFill>
                      <a:srgbClr val="8A8880"/>
                    </a:solidFill>
                    <a:latin typeface="Segoe UI"/>
                    <a:ea typeface="Segoe UI"/>
                    <a:cs typeface="Segoe UI"/>
                  </a:rPr>
                  <a:t>✗</a:t>
                </a:r>
              </a:p>
            </p:txBody>
          </p:sp>
          <p:sp>
            <p:nvSpPr>
              <p:cNvPr id="94" name="TextBox 94"/>
              <p:cNvSpPr txBox="1"/>
              <p:nvPr/>
            </p:nvSpPr>
            <p:spPr>
              <a:xfrm>
                <a:off x="10515914" y="5702618"/>
                <a:ext cx="113671" cy="264033"/>
              </a:xfrm>
              <a:prstGeom prst="rect">
                <a:avLst/>
              </a:prstGeom>
              <a:noFill/>
              <a:ln>
                <a:noFill/>
              </a:ln>
            </p:spPr>
            <p:txBody>
              <a:bodyPr wrap="none" lIns="0" tIns="0" rIns="0" bIns="0" anchor="t" anchorCtr="0">
                <a:spAutoFit/>
              </a:bodyPr>
              <a:lstStyle/>
              <a:p>
                <a:pPr algn="ctr"/>
                <a:r>
                  <a:rPr lang="en-US" sz="1350" dirty="0">
                    <a:solidFill>
                      <a:srgbClr val="8A8880"/>
                    </a:solidFill>
                    <a:latin typeface="Segoe UI"/>
                    <a:ea typeface="Segoe UI"/>
                    <a:cs typeface="Segoe UI"/>
                  </a:rPr>
                  <a:t>✗</a:t>
                </a:r>
              </a:p>
            </p:txBody>
          </p:sp>
        </p:grpSp>
      </p:grpSp>
      <p:grpSp>
        <p:nvGrpSpPr>
          <p:cNvPr id="99" name="Group 99"/>
          <p:cNvGrpSpPr/>
          <p:nvPr/>
        </p:nvGrpSpPr>
        <p:grpSpPr>
          <a:xfrm>
            <a:off x="755904" y="6595110"/>
            <a:ext cx="10680192" cy="234696"/>
            <a:chOff x="755904" y="6595110"/>
            <a:chExt cx="10680192" cy="234696"/>
          </a:xfrm>
        </p:grpSpPr>
        <p:sp>
          <p:nvSpPr>
            <p:cNvPr id="97" name="TextBox 97"/>
            <p:cNvSpPr txBox="1"/>
            <p:nvPr/>
          </p:nvSpPr>
          <p:spPr>
            <a:xfrm>
              <a:off x="755904" y="6595110"/>
              <a:ext cx="8619490" cy="234696"/>
            </a:xfrm>
            <a:prstGeom prst="rect">
              <a:avLst/>
            </a:prstGeom>
            <a:noFill/>
            <a:ln>
              <a:noFill/>
            </a:ln>
          </p:spPr>
          <p:txBody>
            <a:bodyPr wrap="none" lIns="0" tIns="0" rIns="0" bIns="0" anchor="t" anchorCtr="0">
              <a:spAutoFit/>
            </a:bodyPr>
            <a:lstStyle/>
            <a:p>
              <a:pPr algn="l"/>
              <a:r>
                <a:rPr lang="zh-CN" sz="1200" dirty="0">
                  <a:solidFill>
                    <a:srgbClr val="8A8880"/>
                  </a:solidFill>
                  <a:latin typeface="Arial"/>
                  <a:ea typeface="Microsoft YaHei"/>
                  <a:cs typeface="Arial"/>
                </a:rPr>
                <a:t>OB在15项目录中14项已✓成熟商用；OEU除WAN与波兰IT集成外多数仍为△，是三区域中Offering结构最不均衡的市场</a:t>
              </a:r>
            </a:p>
          </p:txBody>
        </p:sp>
        <p:sp>
          <p:nvSpPr>
            <p:cNvPr id="98" name="TextBox 98"/>
            <p:cNvSpPr txBox="1"/>
            <p:nvPr/>
          </p:nvSpPr>
          <p:spPr>
            <a:xfrm>
              <a:off x="9530080" y="6595110"/>
              <a:ext cx="1906016" cy="234696"/>
            </a:xfrm>
            <a:prstGeom prst="rect">
              <a:avLst/>
            </a:prstGeom>
            <a:noFill/>
            <a:ln>
              <a:noFill/>
            </a:ln>
          </p:spPr>
          <p:txBody>
            <a:bodyPr wrap="none" lIns="0" tIns="0" rIns="0" bIns="0" anchor="t" anchorCtr="0">
              <a:spAutoFit/>
            </a:bodyPr>
            <a:lstStyle/>
            <a:p>
              <a:pPr algn="r"/>
              <a:r>
                <a:rPr lang="en-US" sz="1200" dirty="0">
                  <a:solidFill>
                    <a:srgbClr val="8A8880"/>
                  </a:solidFill>
                  <a:latin typeface="Arial"/>
                  <a:ea typeface="Arial"/>
                  <a:cs typeface="Arial"/>
                </a:rPr>
                <a:t>05 · Huawei Confidential</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745998" y="212408"/>
            <a:ext cx="10684002" cy="616077"/>
            <a:chOff x="745998" y="212408"/>
            <a:chExt cx="10684002" cy="616077"/>
          </a:xfrm>
        </p:grpSpPr>
        <p:sp>
          <p:nvSpPr>
            <p:cNvPr id="3" name="TextBox 3"/>
            <p:cNvSpPr txBox="1"/>
            <p:nvPr/>
          </p:nvSpPr>
          <p:spPr>
            <a:xfrm>
              <a:off x="745998" y="212408"/>
              <a:ext cx="9864593" cy="616077"/>
            </a:xfrm>
            <a:prstGeom prst="rect">
              <a:avLst/>
            </a:prstGeom>
            <a:noFill/>
            <a:ln>
              <a:noFill/>
            </a:ln>
          </p:spPr>
          <p:txBody>
            <a:bodyPr wrap="none" lIns="0" tIns="0" rIns="0" bIns="0" anchor="t" anchorCtr="0">
              <a:spAutoFit/>
            </a:bodyPr>
            <a:lstStyle/>
            <a:p>
              <a:pPr algn="l"/>
              <a:r>
                <a:rPr lang="zh-CN" sz="3150" b="1" dirty="0">
                  <a:solidFill>
                    <a:srgbClr val="1D1D1A"/>
                  </a:solidFill>
                  <a:latin typeface="Arial"/>
                  <a:ea typeface="Microsoft YaHei"/>
                  <a:cs typeface="Arial"/>
                </a:rPr>
                <a:t>OB管理服务流水为主，OMEA集成转售增速最快</a:t>
              </a:r>
            </a:p>
          </p:txBody>
        </p:sp>
        <p:sp>
          <p:nvSpPr>
            <p:cNvPr id="4" name="Line 4"/>
            <p:cNvSpPr/>
            <p:nvPr/>
          </p:nvSpPr>
          <p:spPr>
            <a:xfrm>
              <a:off x="762000" y="781050"/>
              <a:ext cx="10668000" cy="9525"/>
            </a:xfrm>
            <a:custGeom>
              <a:avLst/>
              <a:gdLst/>
              <a:ahLst/>
              <a:cxnLst/>
              <a:rect l="l" t="t" r="r" b="b"/>
              <a:pathLst>
                <a:path w="10668000" h="9525">
                  <a:moveTo>
                    <a:pt x="0" y="0"/>
                  </a:moveTo>
                  <a:lnTo>
                    <a:pt x="10668000" y="0"/>
                  </a:lnTo>
                </a:path>
              </a:pathLst>
            </a:custGeom>
            <a:noFill/>
            <a:ln w="9525">
              <a:solidFill>
                <a:srgbClr val="DDDBD6"/>
              </a:solidFill>
            </a:ln>
          </p:spPr>
        </p:sp>
      </p:grpSp>
      <p:grpSp>
        <p:nvGrpSpPr>
          <p:cNvPr id="36" name="Group 36"/>
          <p:cNvGrpSpPr/>
          <p:nvPr/>
        </p:nvGrpSpPr>
        <p:grpSpPr>
          <a:xfrm>
            <a:off x="755904" y="851535"/>
            <a:ext cx="6718524" cy="5616321"/>
            <a:chOff x="755904" y="851535"/>
            <a:chExt cx="6718524" cy="5616321"/>
          </a:xfrm>
        </p:grpSpPr>
        <p:sp>
          <p:nvSpPr>
            <p:cNvPr id="6" name="TextBox 6"/>
            <p:cNvSpPr txBox="1"/>
            <p:nvPr/>
          </p:nvSpPr>
          <p:spPr>
            <a:xfrm>
              <a:off x="755904" y="1032510"/>
              <a:ext cx="6718524" cy="234696"/>
            </a:xfrm>
            <a:prstGeom prst="rect">
              <a:avLst/>
            </a:prstGeom>
            <a:noFill/>
            <a:ln>
              <a:noFill/>
            </a:ln>
          </p:spPr>
          <p:txBody>
            <a:bodyPr wrap="none" lIns="0" tIns="0" rIns="0" bIns="0" anchor="t" anchorCtr="0">
              <a:spAutoFit/>
            </a:bodyPr>
            <a:lstStyle/>
            <a:p>
              <a:pPr algn="l"/>
              <a:r>
                <a:rPr lang="en-US" sz="1200" b="1" spc="75" dirty="0">
                  <a:solidFill>
                    <a:srgbClr val="8A8880"/>
                  </a:solidFill>
                  <a:latin typeface="Arial"/>
                  <a:ea typeface="Arial"/>
                  <a:cs typeface="Arial"/>
                </a:rPr>
                <a:t>MANAGED SERVICE VS. INTEGRATION &amp; RESALE · % OF REGION B2B REVENUE</a:t>
              </a:r>
            </a:p>
          </p:txBody>
        </p:sp>
        <p:grpSp>
          <p:nvGrpSpPr>
            <p:cNvPr id="30" name="Group 30"/>
            <p:cNvGrpSpPr/>
            <p:nvPr/>
          </p:nvGrpSpPr>
          <p:grpSpPr>
            <a:xfrm>
              <a:off x="1333500" y="1809750"/>
              <a:ext cx="5839663" cy="4658106"/>
              <a:chOff x="1333500" y="1809750"/>
              <a:chExt cx="5839663" cy="4658106"/>
            </a:xfrm>
          </p:grpSpPr>
          <p:sp>
            <p:nvSpPr>
              <p:cNvPr id="7" name="Line 7"/>
              <p:cNvSpPr/>
              <p:nvPr/>
            </p:nvSpPr>
            <p:spPr>
              <a:xfrm>
                <a:off x="1333500" y="1809750"/>
                <a:ext cx="9525" cy="4095750"/>
              </a:xfrm>
              <a:custGeom>
                <a:avLst/>
                <a:gdLst/>
                <a:ahLst/>
                <a:cxnLst/>
                <a:rect l="l" t="t" r="r" b="b"/>
                <a:pathLst>
                  <a:path w="9525" h="4095750">
                    <a:moveTo>
                      <a:pt x="0" y="0"/>
                    </a:moveTo>
                    <a:lnTo>
                      <a:pt x="0" y="4095750"/>
                    </a:lnTo>
                  </a:path>
                </a:pathLst>
              </a:custGeom>
              <a:noFill/>
              <a:ln w="14288">
                <a:solidFill>
                  <a:srgbClr val="DDDBD6"/>
                </a:solidFill>
              </a:ln>
            </p:spPr>
          </p:sp>
          <p:sp>
            <p:nvSpPr>
              <p:cNvPr id="8" name="Line 8"/>
              <p:cNvSpPr/>
              <p:nvPr/>
            </p:nvSpPr>
            <p:spPr>
              <a:xfrm>
                <a:off x="1333500" y="5905500"/>
                <a:ext cx="5334000" cy="9525"/>
              </a:xfrm>
              <a:custGeom>
                <a:avLst/>
                <a:gdLst/>
                <a:ahLst/>
                <a:cxnLst/>
                <a:rect l="l" t="t" r="r" b="b"/>
                <a:pathLst>
                  <a:path w="5334000" h="9525">
                    <a:moveTo>
                      <a:pt x="0" y="0"/>
                    </a:moveTo>
                    <a:lnTo>
                      <a:pt x="5334000" y="0"/>
                    </a:lnTo>
                  </a:path>
                </a:pathLst>
              </a:custGeom>
              <a:noFill/>
              <a:ln w="14288">
                <a:solidFill>
                  <a:srgbClr val="DDDBD6"/>
                </a:solidFill>
              </a:ln>
            </p:spPr>
          </p:sp>
          <p:grpSp>
            <p:nvGrpSpPr>
              <p:cNvPr id="15" name="Group 15"/>
              <p:cNvGrpSpPr/>
              <p:nvPr/>
            </p:nvGrpSpPr>
            <p:grpSpPr>
              <a:xfrm>
                <a:off x="1766316" y="1809750"/>
                <a:ext cx="1420368" cy="4658106"/>
                <a:chOff x="1766316" y="1809750"/>
                <a:chExt cx="1420368" cy="4658106"/>
              </a:xfrm>
            </p:grpSpPr>
            <p:sp>
              <p:nvSpPr>
                <p:cNvPr id="9" name="Rectangle 9"/>
                <p:cNvSpPr/>
                <p:nvPr/>
              </p:nvSpPr>
              <p:spPr>
                <a:xfrm>
                  <a:off x="1905000" y="1809750"/>
                  <a:ext cx="1143000" cy="1162050"/>
                </a:xfrm>
                <a:prstGeom prst="rect">
                  <a:avLst/>
                </a:prstGeom>
                <a:solidFill>
                  <a:srgbClr val="C7000A"/>
                </a:solidFill>
                <a:ln>
                  <a:noFill/>
                </a:ln>
              </p:spPr>
            </p:sp>
            <p:sp>
              <p:nvSpPr>
                <p:cNvPr id="10" name="Rectangle 10"/>
                <p:cNvSpPr/>
                <p:nvPr/>
              </p:nvSpPr>
              <p:spPr>
                <a:xfrm>
                  <a:off x="1905000" y="2971800"/>
                  <a:ext cx="1143000" cy="2933700"/>
                </a:xfrm>
                <a:prstGeom prst="rect">
                  <a:avLst/>
                </a:prstGeom>
                <a:solidFill>
                  <a:srgbClr val="1D1D1A"/>
                </a:solidFill>
                <a:ln>
                  <a:noFill/>
                </a:ln>
              </p:spPr>
            </p:sp>
            <p:sp>
              <p:nvSpPr>
                <p:cNvPr id="11" name="TextBox 11"/>
                <p:cNvSpPr txBox="1"/>
                <p:nvPr/>
              </p:nvSpPr>
              <p:spPr>
                <a:xfrm>
                  <a:off x="2220213" y="2308860"/>
                  <a:ext cx="512575"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Arial"/>
                      <a:ea typeface="Arial"/>
                      <a:cs typeface="Arial"/>
                    </a:rPr>
                    <a:t>28.4%</a:t>
                  </a:r>
                </a:p>
              </p:txBody>
            </p:sp>
            <p:sp>
              <p:nvSpPr>
                <p:cNvPr id="12" name="TextBox 12"/>
                <p:cNvSpPr txBox="1"/>
                <p:nvPr/>
              </p:nvSpPr>
              <p:spPr>
                <a:xfrm>
                  <a:off x="2220213" y="4347210"/>
                  <a:ext cx="512575"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Arial"/>
                      <a:ea typeface="Arial"/>
                      <a:cs typeface="Arial"/>
                    </a:rPr>
                    <a:t>71.6%</a:t>
                  </a:r>
                </a:p>
              </p:txBody>
            </p:sp>
            <p:sp>
              <p:nvSpPr>
                <p:cNvPr id="13" name="TextBox 13"/>
                <p:cNvSpPr txBox="1"/>
                <p:nvPr/>
              </p:nvSpPr>
              <p:spPr>
                <a:xfrm>
                  <a:off x="2338586" y="6026468"/>
                  <a:ext cx="275829" cy="264033"/>
                </a:xfrm>
                <a:prstGeom prst="rect">
                  <a:avLst/>
                </a:prstGeom>
                <a:noFill/>
                <a:ln>
                  <a:noFill/>
                </a:ln>
              </p:spPr>
              <p:txBody>
                <a:bodyPr wrap="none" lIns="0" tIns="0" rIns="0" bIns="0" anchor="t" anchorCtr="0">
                  <a:spAutoFit/>
                </a:bodyPr>
                <a:lstStyle/>
                <a:p>
                  <a:pPr algn="ctr"/>
                  <a:r>
                    <a:rPr lang="en-US" sz="1350" b="1" dirty="0">
                      <a:solidFill>
                        <a:srgbClr val="1D1D1A"/>
                      </a:solidFill>
                      <a:latin typeface="Arial"/>
                      <a:ea typeface="Arial"/>
                      <a:cs typeface="Arial"/>
                    </a:rPr>
                    <a:t>OB</a:t>
                  </a:r>
                </a:p>
              </p:txBody>
            </p:sp>
            <p:sp>
              <p:nvSpPr>
                <p:cNvPr id="14" name="TextBox 14"/>
                <p:cNvSpPr txBox="1"/>
                <p:nvPr/>
              </p:nvSpPr>
              <p:spPr>
                <a:xfrm>
                  <a:off x="1766316" y="6233160"/>
                  <a:ext cx="1420368" cy="234696"/>
                </a:xfrm>
                <a:prstGeom prst="rect">
                  <a:avLst/>
                </a:prstGeom>
                <a:noFill/>
                <a:ln>
                  <a:noFill/>
                </a:ln>
              </p:spPr>
              <p:txBody>
                <a:bodyPr wrap="none" lIns="0" tIns="0" rIns="0" bIns="0" anchor="t" anchorCtr="0">
                  <a:spAutoFit/>
                </a:bodyPr>
                <a:lstStyle/>
                <a:p>
                  <a:pPr algn="ctr"/>
                  <a:r>
                    <a:rPr lang="en-US" sz="1200" dirty="0">
                      <a:solidFill>
                        <a:srgbClr val="5A5852"/>
                      </a:solidFill>
                      <a:latin typeface="Arial"/>
                      <a:ea typeface="Arial"/>
                      <a:cs typeface="Arial"/>
                    </a:rPr>
                    <a:t>5,246 / 2,080 M€</a:t>
                  </a:r>
                </a:p>
              </p:txBody>
            </p:sp>
          </p:grpSp>
          <p:grpSp>
            <p:nvGrpSpPr>
              <p:cNvPr id="22" name="Group 22"/>
              <p:cNvGrpSpPr/>
              <p:nvPr/>
            </p:nvGrpSpPr>
            <p:grpSpPr>
              <a:xfrm>
                <a:off x="3366973" y="1809750"/>
                <a:ext cx="1838554" cy="4658106"/>
                <a:chOff x="3366973" y="1809750"/>
                <a:chExt cx="1838554" cy="4658106"/>
              </a:xfrm>
            </p:grpSpPr>
            <p:sp>
              <p:nvSpPr>
                <p:cNvPr id="16" name="Rectangle 16"/>
                <p:cNvSpPr/>
                <p:nvPr/>
              </p:nvSpPr>
              <p:spPr>
                <a:xfrm>
                  <a:off x="3714750" y="1809750"/>
                  <a:ext cx="1143000" cy="733425"/>
                </a:xfrm>
                <a:prstGeom prst="rect">
                  <a:avLst/>
                </a:prstGeom>
                <a:solidFill>
                  <a:srgbClr val="C7000A"/>
                </a:solidFill>
                <a:ln>
                  <a:noFill/>
                </a:ln>
              </p:spPr>
            </p:sp>
            <p:sp>
              <p:nvSpPr>
                <p:cNvPr id="17" name="Rectangle 17"/>
                <p:cNvSpPr/>
                <p:nvPr/>
              </p:nvSpPr>
              <p:spPr>
                <a:xfrm>
                  <a:off x="3714750" y="2543175"/>
                  <a:ext cx="1143000" cy="3362325"/>
                </a:xfrm>
                <a:prstGeom prst="rect">
                  <a:avLst/>
                </a:prstGeom>
                <a:solidFill>
                  <a:srgbClr val="1D1D1A"/>
                </a:solidFill>
                <a:ln>
                  <a:noFill/>
                </a:ln>
              </p:spPr>
            </p:sp>
            <p:sp>
              <p:nvSpPr>
                <p:cNvPr id="18" name="TextBox 18"/>
                <p:cNvSpPr txBox="1"/>
                <p:nvPr/>
              </p:nvSpPr>
              <p:spPr>
                <a:xfrm>
                  <a:off x="4123254" y="2080260"/>
                  <a:ext cx="325991"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Arial"/>
                      <a:ea typeface="Arial"/>
                      <a:cs typeface="Arial"/>
                    </a:rPr>
                    <a:t>18%</a:t>
                  </a:r>
                </a:p>
              </p:txBody>
            </p:sp>
            <p:sp>
              <p:nvSpPr>
                <p:cNvPr id="19" name="TextBox 19"/>
                <p:cNvSpPr txBox="1"/>
                <p:nvPr/>
              </p:nvSpPr>
              <p:spPr>
                <a:xfrm>
                  <a:off x="4123254" y="4156710"/>
                  <a:ext cx="325991"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Arial"/>
                      <a:ea typeface="Arial"/>
                      <a:cs typeface="Arial"/>
                    </a:rPr>
                    <a:t>82%</a:t>
                  </a:r>
                </a:p>
              </p:txBody>
            </p:sp>
            <p:sp>
              <p:nvSpPr>
                <p:cNvPr id="20" name="TextBox 20"/>
                <p:cNvSpPr txBox="1"/>
                <p:nvPr/>
              </p:nvSpPr>
              <p:spPr>
                <a:xfrm>
                  <a:off x="4092889" y="6026468"/>
                  <a:ext cx="386723" cy="264033"/>
                </a:xfrm>
                <a:prstGeom prst="rect">
                  <a:avLst/>
                </a:prstGeom>
                <a:noFill/>
                <a:ln>
                  <a:noFill/>
                </a:ln>
              </p:spPr>
              <p:txBody>
                <a:bodyPr wrap="none" lIns="0" tIns="0" rIns="0" bIns="0" anchor="t" anchorCtr="0">
                  <a:spAutoFit/>
                </a:bodyPr>
                <a:lstStyle/>
                <a:p>
                  <a:pPr algn="ctr"/>
                  <a:r>
                    <a:rPr lang="en-US" sz="1350" b="1" dirty="0">
                      <a:solidFill>
                        <a:srgbClr val="1D1D1A"/>
                      </a:solidFill>
                      <a:latin typeface="Arial"/>
                      <a:ea typeface="Arial"/>
                      <a:cs typeface="Arial"/>
                    </a:rPr>
                    <a:t>OEU</a:t>
                  </a:r>
                </a:p>
              </p:txBody>
            </p:sp>
            <p:sp>
              <p:nvSpPr>
                <p:cNvPr id="21" name="TextBox 21"/>
                <p:cNvSpPr txBox="1"/>
                <p:nvPr/>
              </p:nvSpPr>
              <p:spPr>
                <a:xfrm>
                  <a:off x="3366973" y="6233160"/>
                  <a:ext cx="1838554" cy="234696"/>
                </a:xfrm>
                <a:prstGeom prst="rect">
                  <a:avLst/>
                </a:prstGeom>
                <a:noFill/>
                <a:ln>
                  <a:noFill/>
                </a:ln>
              </p:spPr>
              <p:txBody>
                <a:bodyPr wrap="none" lIns="0" tIns="0" rIns="0" bIns="0" anchor="t" anchorCtr="0">
                  <a:spAutoFit/>
                </a:bodyPr>
                <a:lstStyle/>
                <a:p>
                  <a:pPr algn="ctr"/>
                  <a:r>
                    <a:rPr lang="zh-CN" sz="1200" dirty="0">
                      <a:solidFill>
                        <a:srgbClr val="5A5852"/>
                      </a:solidFill>
                      <a:latin typeface="Arial"/>
                      <a:ea typeface="Microsoft YaHei"/>
                      <a:cs typeface="Arial"/>
                    </a:rPr>
                    <a:t>~2,210 / 490 M€（估）</a:t>
                  </a:r>
                </a:p>
              </p:txBody>
            </p:sp>
          </p:grpSp>
          <p:grpSp>
            <p:nvGrpSpPr>
              <p:cNvPr id="29" name="Group 29"/>
              <p:cNvGrpSpPr/>
              <p:nvPr/>
            </p:nvGrpSpPr>
            <p:grpSpPr>
              <a:xfrm>
                <a:off x="5018837" y="1809750"/>
                <a:ext cx="2154326" cy="4658106"/>
                <a:chOff x="5018837" y="1809750"/>
                <a:chExt cx="2154326" cy="4658106"/>
              </a:xfrm>
            </p:grpSpPr>
            <p:sp>
              <p:nvSpPr>
                <p:cNvPr id="23" name="Rectangle 23"/>
                <p:cNvSpPr/>
                <p:nvPr/>
              </p:nvSpPr>
              <p:spPr>
                <a:xfrm>
                  <a:off x="5524500" y="1809750"/>
                  <a:ext cx="1143000" cy="342900"/>
                </a:xfrm>
                <a:prstGeom prst="rect">
                  <a:avLst/>
                </a:prstGeom>
                <a:solidFill>
                  <a:srgbClr val="C7000A"/>
                </a:solidFill>
                <a:ln>
                  <a:noFill/>
                </a:ln>
              </p:spPr>
            </p:sp>
            <p:sp>
              <p:nvSpPr>
                <p:cNvPr id="24" name="Rectangle 24"/>
                <p:cNvSpPr/>
                <p:nvPr/>
              </p:nvSpPr>
              <p:spPr>
                <a:xfrm>
                  <a:off x="5524500" y="2152650"/>
                  <a:ext cx="1143000" cy="3752850"/>
                </a:xfrm>
                <a:prstGeom prst="rect">
                  <a:avLst/>
                </a:prstGeom>
                <a:solidFill>
                  <a:srgbClr val="1D1D1A"/>
                </a:solidFill>
                <a:ln>
                  <a:noFill/>
                </a:ln>
              </p:spPr>
            </p:sp>
            <p:sp>
              <p:nvSpPr>
                <p:cNvPr id="25" name="TextBox 25"/>
                <p:cNvSpPr txBox="1"/>
                <p:nvPr/>
              </p:nvSpPr>
              <p:spPr>
                <a:xfrm>
                  <a:off x="5886359" y="1889760"/>
                  <a:ext cx="419283"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Arial"/>
                      <a:ea typeface="Arial"/>
                      <a:cs typeface="Arial"/>
                    </a:rPr>
                    <a:t>8.3%</a:t>
                  </a:r>
                </a:p>
              </p:txBody>
            </p:sp>
            <p:sp>
              <p:nvSpPr>
                <p:cNvPr id="26" name="TextBox 26"/>
                <p:cNvSpPr txBox="1"/>
                <p:nvPr/>
              </p:nvSpPr>
              <p:spPr>
                <a:xfrm>
                  <a:off x="5839713" y="3947160"/>
                  <a:ext cx="512575"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Arial"/>
                      <a:ea typeface="Arial"/>
                      <a:cs typeface="Arial"/>
                    </a:rPr>
                    <a:t>91.7%</a:t>
                  </a:r>
                </a:p>
              </p:txBody>
            </p:sp>
            <p:sp>
              <p:nvSpPr>
                <p:cNvPr id="27" name="TextBox 27"/>
                <p:cNvSpPr txBox="1"/>
                <p:nvPr/>
              </p:nvSpPr>
              <p:spPr>
                <a:xfrm>
                  <a:off x="5827029" y="6026468"/>
                  <a:ext cx="537942" cy="264033"/>
                </a:xfrm>
                <a:prstGeom prst="rect">
                  <a:avLst/>
                </a:prstGeom>
                <a:noFill/>
                <a:ln>
                  <a:noFill/>
                </a:ln>
              </p:spPr>
              <p:txBody>
                <a:bodyPr wrap="none" lIns="0" tIns="0" rIns="0" bIns="0" anchor="t" anchorCtr="0">
                  <a:spAutoFit/>
                </a:bodyPr>
                <a:lstStyle/>
                <a:p>
                  <a:pPr algn="ctr"/>
                  <a:r>
                    <a:rPr lang="en-US" sz="1350" b="1" dirty="0">
                      <a:solidFill>
                        <a:srgbClr val="1D1D1A"/>
                      </a:solidFill>
                      <a:latin typeface="Arial"/>
                      <a:ea typeface="Arial"/>
                      <a:cs typeface="Arial"/>
                    </a:rPr>
                    <a:t>OMEA</a:t>
                  </a:r>
                </a:p>
              </p:txBody>
            </p:sp>
            <p:sp>
              <p:nvSpPr>
                <p:cNvPr id="28" name="TextBox 28"/>
                <p:cNvSpPr txBox="1"/>
                <p:nvPr/>
              </p:nvSpPr>
              <p:spPr>
                <a:xfrm>
                  <a:off x="5018837" y="6233160"/>
                  <a:ext cx="2154326" cy="234696"/>
                </a:xfrm>
                <a:prstGeom prst="rect">
                  <a:avLst/>
                </a:prstGeom>
                <a:noFill/>
                <a:ln>
                  <a:noFill/>
                </a:ln>
              </p:spPr>
              <p:txBody>
                <a:bodyPr wrap="none" lIns="0" tIns="0" rIns="0" bIns="0" anchor="t" anchorCtr="0">
                  <a:spAutoFit/>
                </a:bodyPr>
                <a:lstStyle/>
                <a:p>
                  <a:pPr algn="ctr"/>
                  <a:r>
                    <a:rPr lang="zh-CN" sz="1200" dirty="0">
                      <a:solidFill>
                        <a:srgbClr val="2E7D32"/>
                      </a:solidFill>
                      <a:latin typeface="Arial"/>
                      <a:ea typeface="Microsoft YaHei"/>
                      <a:cs typeface="Arial"/>
                    </a:rPr>
                    <a:t>2028目标3.01亿€·CAGR35%</a:t>
                  </a:r>
                </a:p>
              </p:txBody>
            </p:sp>
          </p:grpSp>
        </p:grpSp>
        <p:grpSp>
          <p:nvGrpSpPr>
            <p:cNvPr id="35" name="Group 35"/>
            <p:cNvGrpSpPr/>
            <p:nvPr/>
          </p:nvGrpSpPr>
          <p:grpSpPr>
            <a:xfrm>
              <a:off x="1333500" y="851535"/>
              <a:ext cx="5085445" cy="234696"/>
              <a:chOff x="1333500" y="851535"/>
              <a:chExt cx="5085445" cy="234696"/>
            </a:xfrm>
          </p:grpSpPr>
          <p:sp>
            <p:nvSpPr>
              <p:cNvPr id="31" name="Rectangle 31"/>
              <p:cNvSpPr/>
              <p:nvPr/>
            </p:nvSpPr>
            <p:spPr>
              <a:xfrm>
                <a:off x="1333500" y="857250"/>
                <a:ext cx="152400" cy="152400"/>
              </a:xfrm>
              <a:prstGeom prst="rect">
                <a:avLst/>
              </a:prstGeom>
              <a:solidFill>
                <a:srgbClr val="1D1D1A"/>
              </a:solidFill>
              <a:ln>
                <a:noFill/>
              </a:ln>
            </p:spPr>
          </p:sp>
          <p:sp>
            <p:nvSpPr>
              <p:cNvPr id="32" name="TextBox 32"/>
              <p:cNvSpPr txBox="1"/>
              <p:nvPr/>
            </p:nvSpPr>
            <p:spPr>
              <a:xfrm>
                <a:off x="1556004" y="851535"/>
                <a:ext cx="2007108" cy="234696"/>
              </a:xfrm>
              <a:prstGeom prst="rect">
                <a:avLst/>
              </a:prstGeom>
              <a:noFill/>
              <a:ln>
                <a:noFill/>
              </a:ln>
            </p:spPr>
            <p:txBody>
              <a:bodyPr wrap="none" lIns="0" tIns="0" rIns="0" bIns="0" anchor="t" anchorCtr="0">
                <a:spAutoFit/>
              </a:bodyPr>
              <a:lstStyle/>
              <a:p>
                <a:pPr algn="l"/>
                <a:r>
                  <a:rPr lang="zh-CN" sz="1200" dirty="0">
                    <a:solidFill>
                      <a:srgbClr val="1D1D1A"/>
                    </a:solidFill>
                    <a:latin typeface="Arial"/>
                    <a:ea typeface="Microsoft YaHei"/>
                    <a:cs typeface="Arial"/>
                  </a:rPr>
                  <a:t>管理服务 Managed Service</a:t>
                </a:r>
              </a:p>
            </p:txBody>
          </p:sp>
          <p:sp>
            <p:nvSpPr>
              <p:cNvPr id="33" name="Rectangle 33"/>
              <p:cNvSpPr/>
              <p:nvPr/>
            </p:nvSpPr>
            <p:spPr>
              <a:xfrm>
                <a:off x="3810000" y="857250"/>
                <a:ext cx="152400" cy="152400"/>
              </a:xfrm>
              <a:prstGeom prst="rect">
                <a:avLst/>
              </a:prstGeom>
              <a:solidFill>
                <a:srgbClr val="C7000A"/>
              </a:solidFill>
              <a:ln>
                <a:noFill/>
              </a:ln>
            </p:spPr>
          </p:sp>
          <p:sp>
            <p:nvSpPr>
              <p:cNvPr id="34" name="TextBox 34"/>
              <p:cNvSpPr txBox="1"/>
              <p:nvPr/>
            </p:nvSpPr>
            <p:spPr>
              <a:xfrm>
                <a:off x="4032504" y="851535"/>
                <a:ext cx="2386441" cy="234696"/>
              </a:xfrm>
              <a:prstGeom prst="rect">
                <a:avLst/>
              </a:prstGeom>
              <a:noFill/>
              <a:ln>
                <a:noFill/>
              </a:ln>
            </p:spPr>
            <p:txBody>
              <a:bodyPr wrap="none" lIns="0" tIns="0" rIns="0" bIns="0" anchor="t" anchorCtr="0">
                <a:spAutoFit/>
              </a:bodyPr>
              <a:lstStyle/>
              <a:p>
                <a:pPr algn="l"/>
                <a:r>
                  <a:rPr lang="zh-CN" sz="1200" dirty="0">
                    <a:solidFill>
                      <a:srgbClr val="1D1D1A"/>
                    </a:solidFill>
                    <a:latin typeface="Arial"/>
                    <a:ea typeface="Microsoft YaHei"/>
                    <a:cs typeface="Arial"/>
                  </a:rPr>
                  <a:t>集成/转售 Integration &amp; Resale</a:t>
                </a:r>
              </a:p>
            </p:txBody>
          </p:sp>
        </p:grpSp>
      </p:grpSp>
      <p:grpSp>
        <p:nvGrpSpPr>
          <p:cNvPr id="42" name="Group 42"/>
          <p:cNvGrpSpPr/>
          <p:nvPr/>
        </p:nvGrpSpPr>
        <p:grpSpPr>
          <a:xfrm>
            <a:off x="7620000" y="1143000"/>
            <a:ext cx="3810000" cy="4762500"/>
            <a:chOff x="7620000" y="1143000"/>
            <a:chExt cx="3810000" cy="4762500"/>
          </a:xfrm>
        </p:grpSpPr>
        <p:sp>
          <p:nvSpPr>
            <p:cNvPr id="37" name="Rectangle 37"/>
            <p:cNvSpPr/>
            <p:nvPr/>
          </p:nvSpPr>
          <p:spPr>
            <a:xfrm>
              <a:off x="7620000" y="1143000"/>
              <a:ext cx="3810000" cy="4762500"/>
            </a:xfrm>
            <a:prstGeom prst="roundRect">
              <a:avLst>
                <a:gd name="adj" fmla="val 2000"/>
              </a:avLst>
            </a:prstGeom>
            <a:solidFill>
              <a:srgbClr val="F7F6F3"/>
            </a:solidFill>
            <a:ln>
              <a:noFill/>
            </a:ln>
          </p:spPr>
        </p:sp>
        <p:sp>
          <p:nvSpPr>
            <p:cNvPr id="38" name="TextBox 38"/>
            <p:cNvSpPr txBox="1"/>
            <p:nvPr/>
          </p:nvSpPr>
          <p:spPr>
            <a:xfrm>
              <a:off x="7879080" y="1314450"/>
              <a:ext cx="863346" cy="293370"/>
            </a:xfrm>
            <a:prstGeom prst="rect">
              <a:avLst/>
            </a:prstGeom>
            <a:noFill/>
            <a:ln>
              <a:noFill/>
            </a:ln>
          </p:spPr>
          <p:txBody>
            <a:bodyPr wrap="none" lIns="0" tIns="0" rIns="0" bIns="0" anchor="t" anchorCtr="0">
              <a:spAutoFit/>
            </a:bodyPr>
            <a:lstStyle/>
            <a:p>
              <a:pPr algn="l"/>
              <a:r>
                <a:rPr lang="zh-CN" sz="1500" b="1" dirty="0">
                  <a:solidFill>
                    <a:srgbClr val="1D1D1A"/>
                  </a:solidFill>
                  <a:latin typeface="Arial"/>
                  <a:ea typeface="Microsoft YaHei"/>
                  <a:cs typeface="Arial"/>
                </a:rPr>
                <a:t>核心结论</a:t>
              </a:r>
            </a:p>
          </p:txBody>
        </p:sp>
        <p:sp>
          <p:nvSpPr>
            <p:cNvPr id="39" name="TextBox 39"/>
            <p:cNvSpPr txBox="1"/>
            <p:nvPr/>
          </p:nvSpPr>
          <p:spPr>
            <a:xfrm>
              <a:off x="7879842" y="1616392"/>
              <a:ext cx="2139696" cy="759333"/>
            </a:xfrm>
            <a:prstGeom prst="rect">
              <a:avLst/>
            </a:prstGeom>
            <a:noFill/>
            <a:ln>
              <a:noFill/>
            </a:ln>
          </p:spPr>
          <p:txBody>
            <a:bodyPr wrap="square" lIns="0" tIns="0" rIns="0" bIns="0" anchor="t" anchorCtr="0"/>
            <a:lstStyle/>
            <a:p>
              <a:pPr algn="l">
                <a:lnSpc>
                  <a:spcPts val="1950"/>
                </a:lnSpc>
              </a:pPr>
              <a:r>
                <a:rPr lang="zh-CN" sz="1350" dirty="0">
                  <a:solidFill>
                    <a:srgbClr val="1D1D1A"/>
                  </a:solidFill>
                  <a:latin typeface="Arial"/>
                  <a:ea typeface="Microsoft YaHei"/>
                  <a:cs typeface="Arial"/>
                </a:rPr>
                <a:t>OMEA管理服务占比最</a:t>
              </a:r>
              <a:r>
                <a:rPr lang="zh-CN" sz="1350" dirty="0">
                  <a:solidFill>
                    <a:srgbClr val="1D1D1A"/>
                  </a:solidFill>
                  <a:latin typeface="Arial"/>
                  <a:ea typeface="Microsoft YaHei"/>
                  <a:cs typeface="Arial"/>
                </a:rPr>
                <a:t>高，但</a:t>
              </a:r>
              <a:r>
                <a:rPr lang="zh-CN" sz="1350" b="1" dirty="0">
                  <a:solidFill>
                    <a:srgbClr val="C7000A"/>
                  </a:solidFill>
                  <a:latin typeface="Arial"/>
                  <a:ea typeface="Microsoft YaHei"/>
                  <a:cs typeface="Arial"/>
                </a:rPr>
                <a:t>集成转售增速最快</a:t>
              </a:r>
              <a:r>
                <a:rPr lang="zh-CN" sz="1350" dirty="0">
                  <a:solidFill>
                    <a:srgbClr val="1D1D1A"/>
                  </a:solidFill>
                  <a:latin typeface="Arial"/>
                  <a:ea typeface="Microsoft YaHei"/>
                  <a:cs typeface="Arial"/>
                </a:rPr>
                <a:t>，</a:t>
              </a:r>
              <a:r>
                <a:rPr lang="zh-CN" sz="1350" dirty="0">
                  <a:solidFill>
                    <a:srgbClr val="1D1D1A"/>
                  </a:solidFill>
                  <a:latin typeface="Arial"/>
                  <a:ea typeface="Microsoft YaHei"/>
                  <a:cs typeface="Arial"/>
                </a:rPr>
                <a:t>是下一步重点突破方向。</a:t>
              </a:r>
            </a:p>
          </p:txBody>
        </p:sp>
        <p:sp>
          <p:nvSpPr>
            <p:cNvPr id="40" name="Line 40"/>
            <p:cNvSpPr/>
            <p:nvPr/>
          </p:nvSpPr>
          <p:spPr>
            <a:xfrm>
              <a:off x="7886700" y="2571750"/>
              <a:ext cx="3276600" cy="9525"/>
            </a:xfrm>
            <a:custGeom>
              <a:avLst/>
              <a:gdLst/>
              <a:ahLst/>
              <a:cxnLst/>
              <a:rect l="l" t="t" r="r" b="b"/>
              <a:pathLst>
                <a:path w="3276600" h="9525">
                  <a:moveTo>
                    <a:pt x="0" y="0"/>
                  </a:moveTo>
                  <a:lnTo>
                    <a:pt x="3276600" y="0"/>
                  </a:lnTo>
                </a:path>
              </a:pathLst>
            </a:custGeom>
            <a:noFill/>
            <a:ln w="9525">
              <a:solidFill>
                <a:srgbClr val="DDDBD6"/>
              </a:solidFill>
            </a:ln>
          </p:spPr>
        </p:sp>
        <p:sp>
          <p:nvSpPr>
            <p:cNvPr id="41" name="TextBox 41"/>
            <p:cNvSpPr txBox="1"/>
            <p:nvPr/>
          </p:nvSpPr>
          <p:spPr>
            <a:xfrm>
              <a:off x="7880604" y="2727960"/>
              <a:ext cx="1726692" cy="1568196"/>
            </a:xfrm>
            <a:prstGeom prst="rect">
              <a:avLst/>
            </a:prstGeom>
            <a:noFill/>
            <a:ln>
              <a:noFill/>
            </a:ln>
          </p:spPr>
          <p:txBody>
            <a:bodyPr wrap="square" lIns="0" tIns="0" rIns="0" bIns="0" anchor="t" anchorCtr="0"/>
            <a:lstStyle/>
            <a:p>
              <a:pPr algn="l">
                <a:lnSpc>
                  <a:spcPts val="1800"/>
                </a:lnSpc>
              </a:pPr>
              <a:r>
                <a:rPr lang="zh-CN" sz="1200" dirty="0">
                  <a:solidFill>
                    <a:srgbClr val="5A5852"/>
                  </a:solidFill>
                  <a:latin typeface="Arial"/>
                  <a:ea typeface="Microsoft YaHei"/>
                  <a:cs typeface="Arial"/>
                </a:rPr>
                <a:t>OB · 国防20%+公共18%+</a:t>
              </a:r>
              <a:r>
                <a:rPr lang="zh-CN" sz="1200" dirty="0">
                  <a:solidFill>
                    <a:srgbClr val="5A5852"/>
                  </a:solidFill>
                  <a:latin typeface="Arial"/>
                  <a:ea typeface="Microsoft YaHei"/>
                  <a:cs typeface="Arial"/>
                </a:rPr>
                <a:t>医疗12%+其他50%</a:t>
              </a:r>
            </a:p>
            <a:p>
              <a:pPr algn="l">
                <a:lnSpc>
                  <a:spcPts val="1800"/>
                </a:lnSpc>
                <a:spcBef>
                  <a:spcPts val="750"/>
                </a:spcBef>
              </a:pPr>
              <a:r>
                <a:rPr lang="zh-CN" sz="1200" dirty="0">
                  <a:solidFill>
                    <a:srgbClr val="5A5852"/>
                  </a:solidFill>
                  <a:latin typeface="Arial"/>
                  <a:ea typeface="Microsoft YaHei"/>
                  <a:cs typeface="Arial"/>
                </a:rPr>
                <a:t>OEU · 波兰IT集成+西班</a:t>
              </a:r>
              <a:r>
                <a:rPr lang="zh-CN" sz="1200" dirty="0">
                  <a:solidFill>
                    <a:srgbClr val="5A5852"/>
                  </a:solidFill>
                  <a:latin typeface="Arial"/>
                  <a:ea typeface="Microsoft YaHei"/>
                  <a:cs typeface="Arial"/>
                </a:rPr>
                <a:t>牙IoT/5G专网集成</a:t>
              </a:r>
            </a:p>
            <a:p>
              <a:pPr algn="l">
                <a:lnSpc>
                  <a:spcPts val="1800"/>
                </a:lnSpc>
                <a:spcBef>
                  <a:spcPts val="750"/>
                </a:spcBef>
              </a:pPr>
              <a:r>
                <a:rPr lang="zh-CN" sz="1200" dirty="0">
                  <a:solidFill>
                    <a:srgbClr val="5A5852"/>
                  </a:solidFill>
                  <a:latin typeface="Arial"/>
                  <a:ea typeface="Microsoft YaHei"/>
                  <a:cs typeface="Arial"/>
                </a:rPr>
                <a:t>OMEA · 云/安全/IoT标准</a:t>
              </a:r>
              <a:r>
                <a:rPr lang="zh-CN" sz="1200" dirty="0">
                  <a:solidFill>
                    <a:srgbClr val="5A5852"/>
                  </a:solidFill>
                  <a:latin typeface="Arial"/>
                  <a:ea typeface="Microsoft YaHei"/>
                  <a:cs typeface="Arial"/>
                </a:rPr>
                <a:t>化打包（G3计划）</a:t>
              </a:r>
            </a:p>
          </p:txBody>
        </p:sp>
      </p:grpSp>
      <p:grpSp>
        <p:nvGrpSpPr>
          <p:cNvPr id="45" name="Group 45"/>
          <p:cNvGrpSpPr/>
          <p:nvPr/>
        </p:nvGrpSpPr>
        <p:grpSpPr>
          <a:xfrm>
            <a:off x="755904" y="6595110"/>
            <a:ext cx="10680192" cy="234696"/>
            <a:chOff x="755904" y="6595110"/>
            <a:chExt cx="10680192" cy="234696"/>
          </a:xfrm>
        </p:grpSpPr>
        <p:sp>
          <p:nvSpPr>
            <p:cNvPr id="43" name="TextBox 43"/>
            <p:cNvSpPr txBox="1"/>
            <p:nvPr/>
          </p:nvSpPr>
          <p:spPr>
            <a:xfrm>
              <a:off x="755904" y="6595110"/>
              <a:ext cx="6150864" cy="234696"/>
            </a:xfrm>
            <a:prstGeom prst="rect">
              <a:avLst/>
            </a:prstGeom>
            <a:noFill/>
            <a:ln>
              <a:noFill/>
            </a:ln>
          </p:spPr>
          <p:txBody>
            <a:bodyPr wrap="none" lIns="0" tIns="0" rIns="0" bIns="0" anchor="t" anchorCtr="0">
              <a:spAutoFit/>
            </a:bodyPr>
            <a:lstStyle/>
            <a:p>
              <a:pPr algn="l"/>
              <a:r>
                <a:rPr lang="zh-CN" sz="1200" dirty="0">
                  <a:solidFill>
                    <a:srgbClr val="8A8880"/>
                  </a:solidFill>
                  <a:latin typeface="Arial"/>
                  <a:ea typeface="Microsoft YaHei"/>
                  <a:cs typeface="Arial"/>
                </a:rPr>
                <a:t>口径说明：官方未公开完整拆分，按各业务经常性收入占比估算；估算项已标注（估）</a:t>
              </a:r>
            </a:p>
          </p:txBody>
        </p:sp>
        <p:sp>
          <p:nvSpPr>
            <p:cNvPr id="44" name="TextBox 44"/>
            <p:cNvSpPr txBox="1"/>
            <p:nvPr/>
          </p:nvSpPr>
          <p:spPr>
            <a:xfrm>
              <a:off x="9530080" y="6595110"/>
              <a:ext cx="1906016" cy="234696"/>
            </a:xfrm>
            <a:prstGeom prst="rect">
              <a:avLst/>
            </a:prstGeom>
            <a:noFill/>
            <a:ln>
              <a:noFill/>
            </a:ln>
          </p:spPr>
          <p:txBody>
            <a:bodyPr wrap="none" lIns="0" tIns="0" rIns="0" bIns="0" anchor="t" anchorCtr="0">
              <a:spAutoFit/>
            </a:bodyPr>
            <a:lstStyle/>
            <a:p>
              <a:pPr algn="r"/>
              <a:r>
                <a:rPr lang="en-US" sz="1200" dirty="0">
                  <a:solidFill>
                    <a:srgbClr val="8A8880"/>
                  </a:solidFill>
                  <a:latin typeface="Arial"/>
                  <a:ea typeface="Arial"/>
                  <a:cs typeface="Arial"/>
                </a:rPr>
                <a:t>06 · Huawei Confidential</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745998" y="212408"/>
            <a:ext cx="10684002" cy="921448"/>
            <a:chOff x="745998" y="212408"/>
            <a:chExt cx="10684002" cy="921448"/>
          </a:xfrm>
        </p:grpSpPr>
        <p:sp>
          <p:nvSpPr>
            <p:cNvPr id="3" name="TextBox 3"/>
            <p:cNvSpPr txBox="1"/>
            <p:nvPr/>
          </p:nvSpPr>
          <p:spPr>
            <a:xfrm>
              <a:off x="745998" y="212408"/>
              <a:ext cx="10052776" cy="616077"/>
            </a:xfrm>
            <a:prstGeom prst="rect">
              <a:avLst/>
            </a:prstGeom>
            <a:noFill/>
            <a:ln>
              <a:noFill/>
            </a:ln>
          </p:spPr>
          <p:txBody>
            <a:bodyPr wrap="none" lIns="0" tIns="0" rIns="0" bIns="0" anchor="t" anchorCtr="0">
              <a:spAutoFit/>
            </a:bodyPr>
            <a:lstStyle/>
            <a:p>
              <a:pPr algn="l"/>
              <a:r>
                <a:rPr lang="zh-CN" sz="3150" b="1" dirty="0">
                  <a:solidFill>
                    <a:srgbClr val="1D1D1A"/>
                  </a:solidFill>
                  <a:latin typeface="Arial"/>
                  <a:ea typeface="Microsoft YaHei"/>
                  <a:cs typeface="Arial"/>
                </a:rPr>
                <a:t>WAN连接是营收支柱，华为仅在OMEA约20%份额</a:t>
              </a:r>
            </a:p>
          </p:txBody>
        </p:sp>
        <p:sp>
          <p:nvSpPr>
            <p:cNvPr id="4" name="Line 4"/>
            <p:cNvSpPr/>
            <p:nvPr/>
          </p:nvSpPr>
          <p:spPr>
            <a:xfrm>
              <a:off x="762000" y="781050"/>
              <a:ext cx="10668000" cy="9525"/>
            </a:xfrm>
            <a:custGeom>
              <a:avLst/>
              <a:gdLst/>
              <a:ahLst/>
              <a:cxnLst/>
              <a:rect l="l" t="t" r="r" b="b"/>
              <a:pathLst>
                <a:path w="10668000" h="9525">
                  <a:moveTo>
                    <a:pt x="0" y="0"/>
                  </a:moveTo>
                  <a:lnTo>
                    <a:pt x="10668000" y="0"/>
                  </a:lnTo>
                </a:path>
              </a:pathLst>
            </a:custGeom>
            <a:noFill/>
            <a:ln w="9525">
              <a:solidFill>
                <a:srgbClr val="DDDBD6"/>
              </a:solidFill>
            </a:ln>
          </p:spPr>
        </p:sp>
        <p:sp>
          <p:nvSpPr>
            <p:cNvPr id="5" name="TextBox 5"/>
            <p:cNvSpPr txBox="1"/>
            <p:nvPr/>
          </p:nvSpPr>
          <p:spPr>
            <a:xfrm>
              <a:off x="755904" y="899160"/>
              <a:ext cx="5955975" cy="234696"/>
            </a:xfrm>
            <a:prstGeom prst="rect">
              <a:avLst/>
            </a:prstGeom>
            <a:noFill/>
            <a:ln>
              <a:noFill/>
            </a:ln>
          </p:spPr>
          <p:txBody>
            <a:bodyPr wrap="none" lIns="0" tIns="0" rIns="0" bIns="0" anchor="t" anchorCtr="0">
              <a:spAutoFit/>
            </a:bodyPr>
            <a:lstStyle/>
            <a:p>
              <a:pPr algn="l"/>
              <a:r>
                <a:rPr lang="zh-CN" sz="1200" b="1" spc="75" dirty="0">
                  <a:solidFill>
                    <a:srgbClr val="8A8880"/>
                  </a:solidFill>
                  <a:latin typeface="Arial"/>
                  <a:ea typeface="Microsoft YaHei"/>
                  <a:cs typeface="Arial"/>
                </a:rPr>
                <a:t>CATALOGUE: BUSINESS VPN/IP-VPN · SD-WAN · 5G专网连接 · SASE</a:t>
              </a:r>
            </a:p>
          </p:txBody>
        </p:sp>
      </p:grpSp>
      <p:grpSp>
        <p:nvGrpSpPr>
          <p:cNvPr id="22" name="Group 22"/>
          <p:cNvGrpSpPr/>
          <p:nvPr/>
        </p:nvGrpSpPr>
        <p:grpSpPr>
          <a:xfrm>
            <a:off x="666750" y="1333500"/>
            <a:ext cx="3333750" cy="4191000"/>
            <a:chOff x="666750" y="1333500"/>
            <a:chExt cx="3333750" cy="4191000"/>
          </a:xfrm>
        </p:grpSpPr>
        <p:sp>
          <p:nvSpPr>
            <p:cNvPr id="7" name="Rectangle 7"/>
            <p:cNvSpPr/>
            <p:nvPr/>
          </p:nvSpPr>
          <p:spPr>
            <a:xfrm>
              <a:off x="666750" y="1333500"/>
              <a:ext cx="76200" cy="4191000"/>
            </a:xfrm>
            <a:prstGeom prst="rect">
              <a:avLst/>
            </a:prstGeom>
            <a:solidFill>
              <a:srgbClr val="C7000A"/>
            </a:solidFill>
            <a:ln>
              <a:noFill/>
            </a:ln>
          </p:spPr>
        </p:sp>
        <p:grpSp>
          <p:nvGrpSpPr>
            <p:cNvPr id="14" name="Group 14"/>
            <p:cNvGrpSpPr/>
            <p:nvPr/>
          </p:nvGrpSpPr>
          <p:grpSpPr>
            <a:xfrm>
              <a:off x="995362" y="1473951"/>
              <a:ext cx="264320" cy="254837"/>
              <a:chOff x="995362" y="1473951"/>
              <a:chExt cx="264320" cy="254837"/>
            </a:xfrm>
          </p:grpSpPr>
          <p:sp>
            <p:nvSpPr>
              <p:cNvPr id="8" name="Freeform 8"/>
              <p:cNvSpPr/>
              <p:nvPr/>
            </p:nvSpPr>
            <p:spPr>
              <a:xfrm>
                <a:off x="995362" y="1614488"/>
                <a:ext cx="257175" cy="114300"/>
              </a:xfrm>
              <a:custGeom>
                <a:avLst/>
                <a:gdLst/>
                <a:ahLst/>
                <a:cxnLst/>
                <a:rect l="l" t="t" r="r" b="b"/>
                <a:pathLst>
                  <a:path w="257175" h="114300">
                    <a:moveTo>
                      <a:pt x="0" y="28575"/>
                    </a:moveTo>
                    <a:cubicBezTo>
                      <a:pt x="0" y="12793"/>
                      <a:pt x="12793" y="0"/>
                      <a:pt x="28575" y="0"/>
                    </a:cubicBezTo>
                    <a:lnTo>
                      <a:pt x="228600" y="0"/>
                    </a:lnTo>
                    <a:cubicBezTo>
                      <a:pt x="244382" y="0"/>
                      <a:pt x="257175" y="12793"/>
                      <a:pt x="257175" y="28575"/>
                    </a:cubicBezTo>
                    <a:lnTo>
                      <a:pt x="257175" y="85725"/>
                    </a:lnTo>
                    <a:cubicBezTo>
                      <a:pt x="257175" y="101507"/>
                      <a:pt x="244382" y="114300"/>
                      <a:pt x="228600" y="114300"/>
                    </a:cubicBezTo>
                    <a:lnTo>
                      <a:pt x="28575" y="114300"/>
                    </a:lnTo>
                    <a:cubicBezTo>
                      <a:pt x="12793" y="114300"/>
                      <a:pt x="0" y="101507"/>
                      <a:pt x="0" y="85725"/>
                    </a:cubicBezTo>
                    <a:lnTo>
                      <a:pt x="0" y="28575"/>
                    </a:lnTo>
                  </a:path>
                </a:pathLst>
              </a:custGeom>
              <a:noFill/>
              <a:ln w="19050">
                <a:solidFill>
                  <a:srgbClr val="C7000A"/>
                </a:solidFill>
              </a:ln>
            </p:spPr>
          </p:sp>
          <p:sp>
            <p:nvSpPr>
              <p:cNvPr id="9" name="Freeform 9"/>
              <p:cNvSpPr/>
              <p:nvPr/>
            </p:nvSpPr>
            <p:spPr>
              <a:xfrm>
                <a:off x="1195388" y="1671638"/>
                <a:ext cx="9525" cy="9525"/>
              </a:xfrm>
              <a:custGeom>
                <a:avLst/>
                <a:gdLst/>
                <a:ahLst/>
                <a:cxnLst/>
                <a:rect l="l" t="t" r="r" b="b"/>
                <a:pathLst>
                  <a:path w="9525" h="9525">
                    <a:moveTo>
                      <a:pt x="0" y="0"/>
                    </a:moveTo>
                    <a:lnTo>
                      <a:pt x="0" y="143"/>
                    </a:lnTo>
                  </a:path>
                </a:pathLst>
              </a:custGeom>
              <a:noFill/>
              <a:ln w="19050">
                <a:solidFill>
                  <a:srgbClr val="C7000A"/>
                </a:solidFill>
              </a:ln>
            </p:spPr>
          </p:sp>
          <p:sp>
            <p:nvSpPr>
              <p:cNvPr id="10" name="Freeform 10"/>
              <p:cNvSpPr/>
              <p:nvPr/>
            </p:nvSpPr>
            <p:spPr>
              <a:xfrm>
                <a:off x="1138238" y="1671638"/>
                <a:ext cx="9525" cy="9525"/>
              </a:xfrm>
              <a:custGeom>
                <a:avLst/>
                <a:gdLst/>
                <a:ahLst/>
                <a:cxnLst/>
                <a:rect l="l" t="t" r="r" b="b"/>
                <a:pathLst>
                  <a:path w="9525" h="9525">
                    <a:moveTo>
                      <a:pt x="0" y="0"/>
                    </a:moveTo>
                    <a:lnTo>
                      <a:pt x="0" y="143"/>
                    </a:lnTo>
                  </a:path>
                </a:pathLst>
              </a:custGeom>
              <a:noFill/>
              <a:ln w="19050">
                <a:solidFill>
                  <a:srgbClr val="C7000A"/>
                </a:solidFill>
              </a:ln>
            </p:spPr>
          </p:sp>
          <p:sp>
            <p:nvSpPr>
              <p:cNvPr id="11" name="Freeform 11"/>
              <p:cNvSpPr/>
              <p:nvPr/>
            </p:nvSpPr>
            <p:spPr>
              <a:xfrm>
                <a:off x="1166812" y="1585912"/>
                <a:ext cx="9525" cy="28575"/>
              </a:xfrm>
              <a:custGeom>
                <a:avLst/>
                <a:gdLst/>
                <a:ahLst/>
                <a:cxnLst/>
                <a:rect l="l" t="t" r="r" b="b"/>
                <a:pathLst>
                  <a:path w="9525" h="28575">
                    <a:moveTo>
                      <a:pt x="0" y="28575"/>
                    </a:moveTo>
                    <a:lnTo>
                      <a:pt x="0" y="0"/>
                    </a:lnTo>
                  </a:path>
                </a:pathLst>
              </a:custGeom>
              <a:noFill/>
              <a:ln w="19050">
                <a:solidFill>
                  <a:srgbClr val="C7000A"/>
                </a:solidFill>
              </a:ln>
            </p:spPr>
          </p:sp>
          <p:sp>
            <p:nvSpPr>
              <p:cNvPr id="12" name="Freeform 12"/>
              <p:cNvSpPr/>
              <p:nvPr/>
            </p:nvSpPr>
            <p:spPr>
              <a:xfrm>
                <a:off x="1120378" y="1529932"/>
                <a:ext cx="92869" cy="23834"/>
              </a:xfrm>
              <a:custGeom>
                <a:avLst/>
                <a:gdLst/>
                <a:ahLst/>
                <a:cxnLst/>
                <a:rect l="l" t="t" r="r" b="b"/>
                <a:pathLst>
                  <a:path w="92869" h="23834">
                    <a:moveTo>
                      <a:pt x="0" y="23834"/>
                    </a:moveTo>
                    <a:cubicBezTo>
                      <a:pt x="10735" y="8872"/>
                      <a:pt x="28020" y="0"/>
                      <a:pt x="46434" y="0"/>
                    </a:cubicBezTo>
                    <a:cubicBezTo>
                      <a:pt x="64848" y="0"/>
                      <a:pt x="82134" y="8872"/>
                      <a:pt x="92869" y="23834"/>
                    </a:cubicBezTo>
                  </a:path>
                </a:pathLst>
              </a:custGeom>
              <a:noFill/>
              <a:ln w="19050">
                <a:solidFill>
                  <a:srgbClr val="C7000A"/>
                </a:solidFill>
              </a:ln>
            </p:spPr>
          </p:sp>
          <p:sp>
            <p:nvSpPr>
              <p:cNvPr id="13" name="Freeform 13"/>
              <p:cNvSpPr/>
              <p:nvPr/>
            </p:nvSpPr>
            <p:spPr>
              <a:xfrm>
                <a:off x="1073944" y="1473951"/>
                <a:ext cx="185738" cy="47668"/>
              </a:xfrm>
              <a:custGeom>
                <a:avLst/>
                <a:gdLst/>
                <a:ahLst/>
                <a:cxnLst/>
                <a:rect l="l" t="t" r="r" b="b"/>
                <a:pathLst>
                  <a:path w="185738" h="47668">
                    <a:moveTo>
                      <a:pt x="0" y="47668"/>
                    </a:moveTo>
                    <a:cubicBezTo>
                      <a:pt x="21469" y="17745"/>
                      <a:pt x="56041" y="0"/>
                      <a:pt x="92869" y="0"/>
                    </a:cubicBezTo>
                    <a:cubicBezTo>
                      <a:pt x="129697" y="0"/>
                      <a:pt x="164268" y="17745"/>
                      <a:pt x="185738" y="47668"/>
                    </a:cubicBezTo>
                  </a:path>
                </a:pathLst>
              </a:custGeom>
              <a:noFill/>
              <a:ln w="19050">
                <a:solidFill>
                  <a:srgbClr val="C7000A"/>
                </a:solidFill>
              </a:ln>
            </p:spPr>
          </p:sp>
        </p:grpSp>
        <p:sp>
          <p:nvSpPr>
            <p:cNvPr id="15" name="TextBox 15"/>
            <p:cNvSpPr txBox="1"/>
            <p:nvPr/>
          </p:nvSpPr>
          <p:spPr>
            <a:xfrm>
              <a:off x="1383030" y="1514475"/>
              <a:ext cx="306476" cy="293370"/>
            </a:xfrm>
            <a:prstGeom prst="rect">
              <a:avLst/>
            </a:prstGeom>
            <a:noFill/>
            <a:ln>
              <a:noFill/>
            </a:ln>
          </p:spPr>
          <p:txBody>
            <a:bodyPr wrap="none" lIns="0" tIns="0" rIns="0" bIns="0" anchor="t" anchorCtr="0">
              <a:spAutoFit/>
            </a:bodyPr>
            <a:lstStyle/>
            <a:p>
              <a:pPr algn="l"/>
              <a:r>
                <a:rPr lang="en-US" sz="1500" b="1" dirty="0">
                  <a:solidFill>
                    <a:srgbClr val="1D1D1A"/>
                  </a:solidFill>
                  <a:latin typeface="Arial"/>
                  <a:ea typeface="Arial"/>
                  <a:cs typeface="Arial"/>
                </a:rPr>
                <a:t>OB</a:t>
              </a:r>
            </a:p>
          </p:txBody>
        </p:sp>
        <p:sp>
          <p:nvSpPr>
            <p:cNvPr id="16" name="TextBox 16"/>
            <p:cNvSpPr txBox="1"/>
            <p:nvPr/>
          </p:nvSpPr>
          <p:spPr>
            <a:xfrm>
              <a:off x="941832" y="1925955"/>
              <a:ext cx="1313978" cy="410718"/>
            </a:xfrm>
            <a:prstGeom prst="rect">
              <a:avLst/>
            </a:prstGeom>
            <a:noFill/>
            <a:ln>
              <a:noFill/>
            </a:ln>
          </p:spPr>
          <p:txBody>
            <a:bodyPr wrap="none" lIns="0" tIns="0" rIns="0" bIns="0" anchor="t" anchorCtr="0">
              <a:spAutoFit/>
            </a:bodyPr>
            <a:lstStyle/>
            <a:p>
              <a:pPr algn="l"/>
              <a:r>
                <a:rPr lang="en-US" sz="2100" b="1" dirty="0">
                  <a:solidFill>
                    <a:srgbClr val="1D1D1A"/>
                  </a:solidFill>
                  <a:latin typeface="Arial"/>
                  <a:ea typeface="Arial"/>
                  <a:cs typeface="Arial"/>
                </a:rPr>
                <a:t>2,715</a:t>
              </a:r>
              <a:r>
                <a:rPr lang="en-US" sz="1200" b="1" dirty="0">
                  <a:solidFill>
                    <a:srgbClr val="1D1D1A"/>
                  </a:solidFill>
                  <a:latin typeface="Arial"/>
                  <a:ea typeface="Arial"/>
                  <a:cs typeface="Arial"/>
                </a:rPr>
                <a:t>M€/Y</a:t>
              </a:r>
            </a:p>
          </p:txBody>
        </p:sp>
        <p:sp>
          <p:nvSpPr>
            <p:cNvPr id="17" name="TextBox 17"/>
            <p:cNvSpPr txBox="1"/>
            <p:nvPr/>
          </p:nvSpPr>
          <p:spPr>
            <a:xfrm>
              <a:off x="946404" y="2270760"/>
              <a:ext cx="2538374" cy="234696"/>
            </a:xfrm>
            <a:prstGeom prst="rect">
              <a:avLst/>
            </a:prstGeom>
            <a:noFill/>
            <a:ln>
              <a:noFill/>
            </a:ln>
          </p:spPr>
          <p:txBody>
            <a:bodyPr wrap="none" lIns="0" tIns="0" rIns="0" bIns="0" anchor="t" anchorCtr="0">
              <a:spAutoFit/>
            </a:bodyPr>
            <a:lstStyle/>
            <a:p>
              <a:pPr algn="l"/>
              <a:r>
                <a:rPr lang="zh-CN" sz="1200" dirty="0">
                  <a:solidFill>
                    <a:srgbClr val="5A5852"/>
                  </a:solidFill>
                  <a:latin typeface="Arial"/>
                  <a:ea typeface="Microsoft YaHei"/>
                  <a:cs typeface="Arial"/>
                </a:rPr>
                <a:t>占OB收入37% · 法国份额60-65%</a:t>
              </a:r>
            </a:p>
          </p:txBody>
        </p:sp>
        <p:sp>
          <p:nvSpPr>
            <p:cNvPr id="18" name="Rectangle 18"/>
            <p:cNvSpPr/>
            <p:nvPr/>
          </p:nvSpPr>
          <p:spPr>
            <a:xfrm>
              <a:off x="952500" y="2762250"/>
              <a:ext cx="3048000" cy="133350"/>
            </a:xfrm>
            <a:prstGeom prst="roundRect">
              <a:avLst>
                <a:gd name="adj" fmla="val 50000"/>
              </a:avLst>
            </a:prstGeom>
            <a:solidFill>
              <a:srgbClr val="DDDBD6"/>
            </a:solidFill>
            <a:ln>
              <a:noFill/>
            </a:ln>
          </p:spPr>
        </p:sp>
        <p:sp>
          <p:nvSpPr>
            <p:cNvPr id="19" name="TextBox 19"/>
            <p:cNvSpPr txBox="1"/>
            <p:nvPr/>
          </p:nvSpPr>
          <p:spPr>
            <a:xfrm>
              <a:off x="946404" y="3070860"/>
              <a:ext cx="1199540" cy="234696"/>
            </a:xfrm>
            <a:prstGeom prst="rect">
              <a:avLst/>
            </a:prstGeom>
            <a:noFill/>
            <a:ln>
              <a:noFill/>
            </a:ln>
          </p:spPr>
          <p:txBody>
            <a:bodyPr wrap="none" lIns="0" tIns="0" rIns="0" bIns="0" anchor="t" anchorCtr="0">
              <a:spAutoFit/>
            </a:bodyPr>
            <a:lstStyle/>
            <a:p>
              <a:pPr algn="l"/>
              <a:r>
                <a:rPr lang="zh-CN" sz="1200" b="1" dirty="0">
                  <a:solidFill>
                    <a:srgbClr val="8A8880"/>
                  </a:solidFill>
                  <a:latin typeface="Arial"/>
                  <a:ea typeface="Microsoft YaHei"/>
                  <a:cs typeface="Arial"/>
                </a:rPr>
                <a:t>华为：基本缺席</a:t>
              </a:r>
            </a:p>
          </p:txBody>
        </p:sp>
        <p:sp>
          <p:nvSpPr>
            <p:cNvPr id="20" name="TextBox 20"/>
            <p:cNvSpPr txBox="1"/>
            <p:nvPr/>
          </p:nvSpPr>
          <p:spPr>
            <a:xfrm>
              <a:off x="946404" y="3489960"/>
              <a:ext cx="2092452" cy="444246"/>
            </a:xfrm>
            <a:prstGeom prst="rect">
              <a:avLst/>
            </a:prstGeom>
            <a:noFill/>
            <a:ln>
              <a:noFill/>
            </a:ln>
          </p:spPr>
          <p:txBody>
            <a:bodyPr wrap="square" lIns="0" tIns="0" rIns="0" bIns="0" anchor="t" anchorCtr="0"/>
            <a:lstStyle/>
            <a:p>
              <a:pPr algn="l">
                <a:lnSpc>
                  <a:spcPts val="1650"/>
                </a:lnSpc>
              </a:pPr>
              <a:r>
                <a:rPr lang="zh-CN" sz="1200" dirty="0">
                  <a:solidFill>
                    <a:srgbClr val="5A5852"/>
                  </a:solidFill>
                  <a:latin typeface="Arial"/>
                  <a:ea typeface="Microsoft YaHei"/>
                  <a:cs typeface="Arial"/>
                </a:rPr>
                <a:t xml:space="preserve">主要厂商：Cisco · Fortinet · </a:t>
              </a:r>
              <a:r>
                <a:rPr lang="en-US" sz="1200" dirty="0">
                  <a:solidFill>
                    <a:srgbClr val="5A5852"/>
                  </a:solidFill>
                  <a:latin typeface="Arial"/>
                  <a:ea typeface="Arial"/>
                  <a:cs typeface="Arial"/>
                </a:rPr>
                <a:t>VMware · OneAccess</a:t>
              </a:r>
            </a:p>
          </p:txBody>
        </p:sp>
        <p:sp>
          <p:nvSpPr>
            <p:cNvPr id="21" name="TextBox 21"/>
            <p:cNvSpPr txBox="1"/>
            <p:nvPr/>
          </p:nvSpPr>
          <p:spPr>
            <a:xfrm>
              <a:off x="946404" y="4061460"/>
              <a:ext cx="2145792" cy="234696"/>
            </a:xfrm>
            <a:prstGeom prst="rect">
              <a:avLst/>
            </a:prstGeom>
            <a:noFill/>
            <a:ln>
              <a:noFill/>
            </a:ln>
          </p:spPr>
          <p:txBody>
            <a:bodyPr wrap="none" lIns="0" tIns="0" rIns="0" bIns="0" anchor="t" anchorCtr="0">
              <a:spAutoFit/>
            </a:bodyPr>
            <a:lstStyle/>
            <a:p>
              <a:pPr algn="l"/>
              <a:r>
                <a:rPr lang="zh-CN" sz="1200" dirty="0">
                  <a:solidFill>
                    <a:srgbClr val="5A5852"/>
                  </a:solidFill>
                  <a:latin typeface="Arial"/>
                  <a:ea typeface="Microsoft YaHei"/>
                  <a:cs typeface="Arial"/>
                </a:rPr>
                <a:t>设备空间约180M$/年（估）</a:t>
              </a:r>
            </a:p>
          </p:txBody>
        </p:sp>
      </p:grpSp>
      <p:grpSp>
        <p:nvGrpSpPr>
          <p:cNvPr id="38" name="Group 38"/>
          <p:cNvGrpSpPr/>
          <p:nvPr/>
        </p:nvGrpSpPr>
        <p:grpSpPr>
          <a:xfrm>
            <a:off x="4381500" y="1333500"/>
            <a:ext cx="3333750" cy="4191000"/>
            <a:chOff x="4381500" y="1333500"/>
            <a:chExt cx="3333750" cy="4191000"/>
          </a:xfrm>
        </p:grpSpPr>
        <p:sp>
          <p:nvSpPr>
            <p:cNvPr id="23" name="Rectangle 23"/>
            <p:cNvSpPr/>
            <p:nvPr/>
          </p:nvSpPr>
          <p:spPr>
            <a:xfrm>
              <a:off x="4381500" y="1333500"/>
              <a:ext cx="76200" cy="4191000"/>
            </a:xfrm>
            <a:prstGeom prst="rect">
              <a:avLst/>
            </a:prstGeom>
            <a:solidFill>
              <a:srgbClr val="E9002F"/>
            </a:solidFill>
            <a:ln>
              <a:noFill/>
            </a:ln>
          </p:spPr>
        </p:sp>
        <p:grpSp>
          <p:nvGrpSpPr>
            <p:cNvPr id="30" name="Group 30"/>
            <p:cNvGrpSpPr/>
            <p:nvPr/>
          </p:nvGrpSpPr>
          <p:grpSpPr>
            <a:xfrm>
              <a:off x="4710112" y="1473951"/>
              <a:ext cx="264320" cy="254837"/>
              <a:chOff x="4710112" y="1473951"/>
              <a:chExt cx="264320" cy="254837"/>
            </a:xfrm>
          </p:grpSpPr>
          <p:sp>
            <p:nvSpPr>
              <p:cNvPr id="24" name="Freeform 24"/>
              <p:cNvSpPr/>
              <p:nvPr/>
            </p:nvSpPr>
            <p:spPr>
              <a:xfrm>
                <a:off x="4710112" y="1614488"/>
                <a:ext cx="257175" cy="114300"/>
              </a:xfrm>
              <a:custGeom>
                <a:avLst/>
                <a:gdLst/>
                <a:ahLst/>
                <a:cxnLst/>
                <a:rect l="l" t="t" r="r" b="b"/>
                <a:pathLst>
                  <a:path w="257175" h="114300">
                    <a:moveTo>
                      <a:pt x="0" y="28575"/>
                    </a:moveTo>
                    <a:cubicBezTo>
                      <a:pt x="0" y="12793"/>
                      <a:pt x="12793" y="0"/>
                      <a:pt x="28575" y="0"/>
                    </a:cubicBezTo>
                    <a:lnTo>
                      <a:pt x="228600" y="0"/>
                    </a:lnTo>
                    <a:cubicBezTo>
                      <a:pt x="244382" y="0"/>
                      <a:pt x="257175" y="12793"/>
                      <a:pt x="257175" y="28575"/>
                    </a:cubicBezTo>
                    <a:lnTo>
                      <a:pt x="257175" y="85725"/>
                    </a:lnTo>
                    <a:cubicBezTo>
                      <a:pt x="257175" y="101507"/>
                      <a:pt x="244382" y="114300"/>
                      <a:pt x="228600" y="114300"/>
                    </a:cubicBezTo>
                    <a:lnTo>
                      <a:pt x="28575" y="114300"/>
                    </a:lnTo>
                    <a:cubicBezTo>
                      <a:pt x="12793" y="114300"/>
                      <a:pt x="0" y="101507"/>
                      <a:pt x="0" y="85725"/>
                    </a:cubicBezTo>
                    <a:lnTo>
                      <a:pt x="0" y="28575"/>
                    </a:lnTo>
                  </a:path>
                </a:pathLst>
              </a:custGeom>
              <a:noFill/>
              <a:ln w="19050">
                <a:solidFill>
                  <a:srgbClr val="E9002F"/>
                </a:solidFill>
              </a:ln>
            </p:spPr>
          </p:sp>
          <p:sp>
            <p:nvSpPr>
              <p:cNvPr id="25" name="Freeform 25"/>
              <p:cNvSpPr/>
              <p:nvPr/>
            </p:nvSpPr>
            <p:spPr>
              <a:xfrm>
                <a:off x="4910138" y="1671638"/>
                <a:ext cx="9525" cy="9525"/>
              </a:xfrm>
              <a:custGeom>
                <a:avLst/>
                <a:gdLst/>
                <a:ahLst/>
                <a:cxnLst/>
                <a:rect l="l" t="t" r="r" b="b"/>
                <a:pathLst>
                  <a:path w="9525" h="9525">
                    <a:moveTo>
                      <a:pt x="0" y="0"/>
                    </a:moveTo>
                    <a:lnTo>
                      <a:pt x="0" y="143"/>
                    </a:lnTo>
                  </a:path>
                </a:pathLst>
              </a:custGeom>
              <a:noFill/>
              <a:ln w="19050">
                <a:solidFill>
                  <a:srgbClr val="E9002F"/>
                </a:solidFill>
              </a:ln>
            </p:spPr>
          </p:sp>
          <p:sp>
            <p:nvSpPr>
              <p:cNvPr id="26" name="Freeform 26"/>
              <p:cNvSpPr/>
              <p:nvPr/>
            </p:nvSpPr>
            <p:spPr>
              <a:xfrm>
                <a:off x="4852988" y="1671638"/>
                <a:ext cx="9525" cy="9525"/>
              </a:xfrm>
              <a:custGeom>
                <a:avLst/>
                <a:gdLst/>
                <a:ahLst/>
                <a:cxnLst/>
                <a:rect l="l" t="t" r="r" b="b"/>
                <a:pathLst>
                  <a:path w="9525" h="9525">
                    <a:moveTo>
                      <a:pt x="0" y="0"/>
                    </a:moveTo>
                    <a:lnTo>
                      <a:pt x="0" y="143"/>
                    </a:lnTo>
                  </a:path>
                </a:pathLst>
              </a:custGeom>
              <a:noFill/>
              <a:ln w="19050">
                <a:solidFill>
                  <a:srgbClr val="E9002F"/>
                </a:solidFill>
              </a:ln>
            </p:spPr>
          </p:sp>
          <p:sp>
            <p:nvSpPr>
              <p:cNvPr id="27" name="Freeform 27"/>
              <p:cNvSpPr/>
              <p:nvPr/>
            </p:nvSpPr>
            <p:spPr>
              <a:xfrm>
                <a:off x="4881562" y="1585912"/>
                <a:ext cx="9525" cy="28575"/>
              </a:xfrm>
              <a:custGeom>
                <a:avLst/>
                <a:gdLst/>
                <a:ahLst/>
                <a:cxnLst/>
                <a:rect l="l" t="t" r="r" b="b"/>
                <a:pathLst>
                  <a:path w="9525" h="28575">
                    <a:moveTo>
                      <a:pt x="0" y="28575"/>
                    </a:moveTo>
                    <a:lnTo>
                      <a:pt x="0" y="0"/>
                    </a:lnTo>
                  </a:path>
                </a:pathLst>
              </a:custGeom>
              <a:noFill/>
              <a:ln w="19050">
                <a:solidFill>
                  <a:srgbClr val="E9002F"/>
                </a:solidFill>
              </a:ln>
            </p:spPr>
          </p:sp>
          <p:sp>
            <p:nvSpPr>
              <p:cNvPr id="28" name="Freeform 28"/>
              <p:cNvSpPr/>
              <p:nvPr/>
            </p:nvSpPr>
            <p:spPr>
              <a:xfrm>
                <a:off x="4835128" y="1529932"/>
                <a:ext cx="92869" cy="23834"/>
              </a:xfrm>
              <a:custGeom>
                <a:avLst/>
                <a:gdLst/>
                <a:ahLst/>
                <a:cxnLst/>
                <a:rect l="l" t="t" r="r" b="b"/>
                <a:pathLst>
                  <a:path w="92869" h="23834">
                    <a:moveTo>
                      <a:pt x="0" y="23834"/>
                    </a:moveTo>
                    <a:cubicBezTo>
                      <a:pt x="10735" y="8872"/>
                      <a:pt x="28020" y="0"/>
                      <a:pt x="46434" y="0"/>
                    </a:cubicBezTo>
                    <a:cubicBezTo>
                      <a:pt x="64848" y="0"/>
                      <a:pt x="82134" y="8872"/>
                      <a:pt x="92869" y="23834"/>
                    </a:cubicBezTo>
                  </a:path>
                </a:pathLst>
              </a:custGeom>
              <a:noFill/>
              <a:ln w="19050">
                <a:solidFill>
                  <a:srgbClr val="E9002F"/>
                </a:solidFill>
              </a:ln>
            </p:spPr>
          </p:sp>
          <p:sp>
            <p:nvSpPr>
              <p:cNvPr id="29" name="Freeform 29"/>
              <p:cNvSpPr/>
              <p:nvPr/>
            </p:nvSpPr>
            <p:spPr>
              <a:xfrm>
                <a:off x="4788694" y="1473951"/>
                <a:ext cx="185738" cy="47668"/>
              </a:xfrm>
              <a:custGeom>
                <a:avLst/>
                <a:gdLst/>
                <a:ahLst/>
                <a:cxnLst/>
                <a:rect l="l" t="t" r="r" b="b"/>
                <a:pathLst>
                  <a:path w="185738" h="47668">
                    <a:moveTo>
                      <a:pt x="0" y="47668"/>
                    </a:moveTo>
                    <a:cubicBezTo>
                      <a:pt x="21469" y="17745"/>
                      <a:pt x="56041" y="0"/>
                      <a:pt x="92869" y="0"/>
                    </a:cubicBezTo>
                    <a:cubicBezTo>
                      <a:pt x="129697" y="0"/>
                      <a:pt x="164268" y="17745"/>
                      <a:pt x="185738" y="47668"/>
                    </a:cubicBezTo>
                  </a:path>
                </a:pathLst>
              </a:custGeom>
              <a:noFill/>
              <a:ln w="19050">
                <a:solidFill>
                  <a:srgbClr val="E9002F"/>
                </a:solidFill>
              </a:ln>
            </p:spPr>
          </p:sp>
        </p:grpSp>
        <p:sp>
          <p:nvSpPr>
            <p:cNvPr id="31" name="TextBox 31"/>
            <p:cNvSpPr txBox="1"/>
            <p:nvPr/>
          </p:nvSpPr>
          <p:spPr>
            <a:xfrm>
              <a:off x="5097780" y="1514475"/>
              <a:ext cx="429692" cy="293370"/>
            </a:xfrm>
            <a:prstGeom prst="rect">
              <a:avLst/>
            </a:prstGeom>
            <a:noFill/>
            <a:ln>
              <a:noFill/>
            </a:ln>
          </p:spPr>
          <p:txBody>
            <a:bodyPr wrap="none" lIns="0" tIns="0" rIns="0" bIns="0" anchor="t" anchorCtr="0">
              <a:spAutoFit/>
            </a:bodyPr>
            <a:lstStyle/>
            <a:p>
              <a:pPr algn="l"/>
              <a:r>
                <a:rPr lang="en-US" sz="1500" b="1" dirty="0">
                  <a:solidFill>
                    <a:srgbClr val="1D1D1A"/>
                  </a:solidFill>
                  <a:latin typeface="Arial"/>
                  <a:ea typeface="Arial"/>
                  <a:cs typeface="Arial"/>
                </a:rPr>
                <a:t>OEU</a:t>
              </a:r>
            </a:p>
          </p:txBody>
        </p:sp>
        <p:sp>
          <p:nvSpPr>
            <p:cNvPr id="32" name="TextBox 32"/>
            <p:cNvSpPr txBox="1"/>
            <p:nvPr/>
          </p:nvSpPr>
          <p:spPr>
            <a:xfrm>
              <a:off x="4656582" y="1925955"/>
              <a:ext cx="1999503" cy="410718"/>
            </a:xfrm>
            <a:prstGeom prst="rect">
              <a:avLst/>
            </a:prstGeom>
            <a:noFill/>
            <a:ln>
              <a:noFill/>
            </a:ln>
          </p:spPr>
          <p:txBody>
            <a:bodyPr wrap="none" lIns="0" tIns="0" rIns="0" bIns="0" anchor="t" anchorCtr="0">
              <a:spAutoFit/>
            </a:bodyPr>
            <a:lstStyle/>
            <a:p>
              <a:pPr algn="l"/>
              <a:r>
                <a:rPr lang="zh-CN" sz="2100" b="1" dirty="0">
                  <a:solidFill>
                    <a:srgbClr val="1D1D1A"/>
                  </a:solidFill>
                  <a:latin typeface="Arial"/>
                  <a:ea typeface="Microsoft YaHei"/>
                  <a:cs typeface="Arial"/>
                </a:rPr>
                <a:t>约8-9亿</a:t>
              </a:r>
              <a:r>
                <a:rPr lang="zh-CN" sz="1200" b="1" dirty="0">
                  <a:solidFill>
                    <a:srgbClr val="1D1D1A"/>
                  </a:solidFill>
                  <a:latin typeface="Arial"/>
                  <a:ea typeface="Microsoft YaHei"/>
                  <a:cs typeface="Arial"/>
                </a:rPr>
                <a:t>€/Y（估）</a:t>
              </a:r>
            </a:p>
          </p:txBody>
        </p:sp>
        <p:sp>
          <p:nvSpPr>
            <p:cNvPr id="33" name="TextBox 33"/>
            <p:cNvSpPr txBox="1"/>
            <p:nvPr/>
          </p:nvSpPr>
          <p:spPr>
            <a:xfrm>
              <a:off x="4661154" y="2270760"/>
              <a:ext cx="2043379" cy="234696"/>
            </a:xfrm>
            <a:prstGeom prst="rect">
              <a:avLst/>
            </a:prstGeom>
            <a:noFill/>
            <a:ln>
              <a:noFill/>
            </a:ln>
          </p:spPr>
          <p:txBody>
            <a:bodyPr wrap="none" lIns="0" tIns="0" rIns="0" bIns="0" anchor="t" anchorCtr="0">
              <a:spAutoFit/>
            </a:bodyPr>
            <a:lstStyle/>
            <a:p>
              <a:pPr algn="l"/>
              <a:r>
                <a:rPr lang="zh-CN" sz="1200" dirty="0">
                  <a:solidFill>
                    <a:srgbClr val="5A5852"/>
                  </a:solidFill>
                  <a:latin typeface="Arial"/>
                  <a:ea typeface="Microsoft YaHei"/>
                  <a:cs typeface="Arial"/>
                </a:rPr>
                <a:t>波兰ICT占B2B36%（实证）</a:t>
              </a:r>
            </a:p>
          </p:txBody>
        </p:sp>
        <p:sp>
          <p:nvSpPr>
            <p:cNvPr id="34" name="Rectangle 34"/>
            <p:cNvSpPr/>
            <p:nvPr/>
          </p:nvSpPr>
          <p:spPr>
            <a:xfrm>
              <a:off x="4667250" y="2762250"/>
              <a:ext cx="3048000" cy="133350"/>
            </a:xfrm>
            <a:prstGeom prst="roundRect">
              <a:avLst>
                <a:gd name="adj" fmla="val 50000"/>
              </a:avLst>
            </a:prstGeom>
            <a:solidFill>
              <a:srgbClr val="DDDBD6"/>
            </a:solidFill>
            <a:ln>
              <a:noFill/>
            </a:ln>
          </p:spPr>
        </p:sp>
        <p:sp>
          <p:nvSpPr>
            <p:cNvPr id="35" name="TextBox 35"/>
            <p:cNvSpPr txBox="1"/>
            <p:nvPr/>
          </p:nvSpPr>
          <p:spPr>
            <a:xfrm>
              <a:off x="4661154" y="3070860"/>
              <a:ext cx="2727411" cy="234696"/>
            </a:xfrm>
            <a:prstGeom prst="rect">
              <a:avLst/>
            </a:prstGeom>
            <a:noFill/>
            <a:ln>
              <a:noFill/>
            </a:ln>
          </p:spPr>
          <p:txBody>
            <a:bodyPr wrap="none" lIns="0" tIns="0" rIns="0" bIns="0" anchor="t" anchorCtr="0">
              <a:spAutoFit/>
            </a:bodyPr>
            <a:lstStyle/>
            <a:p>
              <a:pPr algn="l"/>
              <a:r>
                <a:rPr lang="zh-CN" sz="1200" b="1" dirty="0">
                  <a:solidFill>
                    <a:srgbClr val="8A8880"/>
                  </a:solidFill>
                  <a:latin typeface="Arial"/>
                  <a:ea typeface="Microsoft YaHei"/>
                  <a:cs typeface="Arial"/>
                </a:rPr>
                <a:t>华为：企业WAN目录未见（估0%）</a:t>
              </a:r>
            </a:p>
          </p:txBody>
        </p:sp>
        <p:sp>
          <p:nvSpPr>
            <p:cNvPr id="36" name="TextBox 36"/>
            <p:cNvSpPr txBox="1"/>
            <p:nvPr/>
          </p:nvSpPr>
          <p:spPr>
            <a:xfrm>
              <a:off x="4661154" y="3489960"/>
              <a:ext cx="1688592" cy="444246"/>
            </a:xfrm>
            <a:prstGeom prst="rect">
              <a:avLst/>
            </a:prstGeom>
            <a:noFill/>
            <a:ln>
              <a:noFill/>
            </a:ln>
          </p:spPr>
          <p:txBody>
            <a:bodyPr wrap="square" lIns="0" tIns="0" rIns="0" bIns="0" anchor="t" anchorCtr="0"/>
            <a:lstStyle/>
            <a:p>
              <a:pPr algn="l">
                <a:lnSpc>
                  <a:spcPts val="1650"/>
                </a:lnSpc>
              </a:pPr>
              <a:r>
                <a:rPr lang="zh-CN" sz="1200" dirty="0">
                  <a:solidFill>
                    <a:srgbClr val="5A5852"/>
                  </a:solidFill>
                  <a:latin typeface="Arial"/>
                  <a:ea typeface="Microsoft YaHei"/>
                  <a:cs typeface="Arial"/>
                </a:rPr>
                <a:t xml:space="preserve">主要厂商：OneAccess · </a:t>
              </a:r>
              <a:r>
                <a:rPr lang="en-US" sz="1200" dirty="0">
                  <a:solidFill>
                    <a:srgbClr val="5A5852"/>
                  </a:solidFill>
                  <a:latin typeface="Arial"/>
                  <a:ea typeface="Arial"/>
                  <a:cs typeface="Arial"/>
                </a:rPr>
                <a:t>Cisco · Fortinet</a:t>
              </a:r>
            </a:p>
          </p:txBody>
        </p:sp>
        <p:sp>
          <p:nvSpPr>
            <p:cNvPr id="37" name="TextBox 37"/>
            <p:cNvSpPr txBox="1"/>
            <p:nvPr/>
          </p:nvSpPr>
          <p:spPr>
            <a:xfrm>
              <a:off x="4661154" y="4061460"/>
              <a:ext cx="2046732" cy="444246"/>
            </a:xfrm>
            <a:prstGeom prst="rect">
              <a:avLst/>
            </a:prstGeom>
            <a:noFill/>
            <a:ln>
              <a:noFill/>
            </a:ln>
          </p:spPr>
          <p:txBody>
            <a:bodyPr wrap="square" lIns="0" tIns="0" rIns="0" bIns="0" anchor="t" anchorCtr="0"/>
            <a:lstStyle/>
            <a:p>
              <a:pPr algn="l">
                <a:lnSpc>
                  <a:spcPts val="1650"/>
                </a:lnSpc>
              </a:pPr>
              <a:r>
                <a:rPr lang="zh-CN" sz="1200" dirty="0">
                  <a:solidFill>
                    <a:srgbClr val="5A5852"/>
                  </a:solidFill>
                  <a:latin typeface="Arial"/>
                  <a:ea typeface="Microsoft YaHei"/>
                  <a:cs typeface="Arial"/>
                </a:rPr>
                <a:t>注：罗马尼亚Open RAN议题，</a:t>
              </a:r>
              <a:r>
                <a:rPr lang="zh-CN" sz="1200" dirty="0">
                  <a:solidFill>
                    <a:srgbClr val="5A5852"/>
                  </a:solidFill>
                  <a:latin typeface="Arial"/>
                  <a:ea typeface="Microsoft YaHei"/>
                  <a:cs typeface="Arial"/>
                </a:rPr>
                <a:t>非本图WAN市场</a:t>
              </a:r>
            </a:p>
          </p:txBody>
        </p:sp>
      </p:grpSp>
      <p:grpSp>
        <p:nvGrpSpPr>
          <p:cNvPr id="55" name="Group 55"/>
          <p:cNvGrpSpPr/>
          <p:nvPr/>
        </p:nvGrpSpPr>
        <p:grpSpPr>
          <a:xfrm>
            <a:off x="8096250" y="1333500"/>
            <a:ext cx="3333750" cy="4191000"/>
            <a:chOff x="8096250" y="1333500"/>
            <a:chExt cx="3333750" cy="4191000"/>
          </a:xfrm>
        </p:grpSpPr>
        <p:sp>
          <p:nvSpPr>
            <p:cNvPr id="39" name="Rectangle 39"/>
            <p:cNvSpPr/>
            <p:nvPr/>
          </p:nvSpPr>
          <p:spPr>
            <a:xfrm>
              <a:off x="8096250" y="1333500"/>
              <a:ext cx="76200" cy="4191000"/>
            </a:xfrm>
            <a:prstGeom prst="rect">
              <a:avLst/>
            </a:prstGeom>
            <a:solidFill>
              <a:srgbClr val="F4A100"/>
            </a:solidFill>
            <a:ln>
              <a:noFill/>
            </a:ln>
          </p:spPr>
        </p:sp>
        <p:grpSp>
          <p:nvGrpSpPr>
            <p:cNvPr id="46" name="Group 46"/>
            <p:cNvGrpSpPr/>
            <p:nvPr/>
          </p:nvGrpSpPr>
          <p:grpSpPr>
            <a:xfrm>
              <a:off x="8424862" y="1473951"/>
              <a:ext cx="264320" cy="254837"/>
              <a:chOff x="8424862" y="1473951"/>
              <a:chExt cx="264320" cy="254837"/>
            </a:xfrm>
          </p:grpSpPr>
          <p:sp>
            <p:nvSpPr>
              <p:cNvPr id="40" name="Freeform 40"/>
              <p:cNvSpPr/>
              <p:nvPr/>
            </p:nvSpPr>
            <p:spPr>
              <a:xfrm>
                <a:off x="8424862" y="1614488"/>
                <a:ext cx="257175" cy="114300"/>
              </a:xfrm>
              <a:custGeom>
                <a:avLst/>
                <a:gdLst/>
                <a:ahLst/>
                <a:cxnLst/>
                <a:rect l="l" t="t" r="r" b="b"/>
                <a:pathLst>
                  <a:path w="257175" h="114300">
                    <a:moveTo>
                      <a:pt x="0" y="28575"/>
                    </a:moveTo>
                    <a:cubicBezTo>
                      <a:pt x="0" y="12793"/>
                      <a:pt x="12793" y="0"/>
                      <a:pt x="28575" y="0"/>
                    </a:cubicBezTo>
                    <a:lnTo>
                      <a:pt x="228600" y="0"/>
                    </a:lnTo>
                    <a:cubicBezTo>
                      <a:pt x="244382" y="0"/>
                      <a:pt x="257175" y="12793"/>
                      <a:pt x="257175" y="28575"/>
                    </a:cubicBezTo>
                    <a:lnTo>
                      <a:pt x="257175" y="85725"/>
                    </a:lnTo>
                    <a:cubicBezTo>
                      <a:pt x="257175" y="101507"/>
                      <a:pt x="244382" y="114300"/>
                      <a:pt x="228600" y="114300"/>
                    </a:cubicBezTo>
                    <a:lnTo>
                      <a:pt x="28575" y="114300"/>
                    </a:lnTo>
                    <a:cubicBezTo>
                      <a:pt x="12793" y="114300"/>
                      <a:pt x="0" y="101507"/>
                      <a:pt x="0" y="85725"/>
                    </a:cubicBezTo>
                    <a:lnTo>
                      <a:pt x="0" y="28575"/>
                    </a:lnTo>
                  </a:path>
                </a:pathLst>
              </a:custGeom>
              <a:noFill/>
              <a:ln w="19050">
                <a:solidFill>
                  <a:srgbClr val="F4A100"/>
                </a:solidFill>
              </a:ln>
            </p:spPr>
          </p:sp>
          <p:sp>
            <p:nvSpPr>
              <p:cNvPr id="41" name="Freeform 41"/>
              <p:cNvSpPr/>
              <p:nvPr/>
            </p:nvSpPr>
            <p:spPr>
              <a:xfrm>
                <a:off x="8624888" y="1671638"/>
                <a:ext cx="9525" cy="9525"/>
              </a:xfrm>
              <a:custGeom>
                <a:avLst/>
                <a:gdLst/>
                <a:ahLst/>
                <a:cxnLst/>
                <a:rect l="l" t="t" r="r" b="b"/>
                <a:pathLst>
                  <a:path w="9525" h="9525">
                    <a:moveTo>
                      <a:pt x="0" y="0"/>
                    </a:moveTo>
                    <a:lnTo>
                      <a:pt x="0" y="143"/>
                    </a:lnTo>
                  </a:path>
                </a:pathLst>
              </a:custGeom>
              <a:noFill/>
              <a:ln w="19050">
                <a:solidFill>
                  <a:srgbClr val="F4A100"/>
                </a:solidFill>
              </a:ln>
            </p:spPr>
          </p:sp>
          <p:sp>
            <p:nvSpPr>
              <p:cNvPr id="42" name="Freeform 42"/>
              <p:cNvSpPr/>
              <p:nvPr/>
            </p:nvSpPr>
            <p:spPr>
              <a:xfrm>
                <a:off x="8567738" y="1671638"/>
                <a:ext cx="9525" cy="9525"/>
              </a:xfrm>
              <a:custGeom>
                <a:avLst/>
                <a:gdLst/>
                <a:ahLst/>
                <a:cxnLst/>
                <a:rect l="l" t="t" r="r" b="b"/>
                <a:pathLst>
                  <a:path w="9525" h="9525">
                    <a:moveTo>
                      <a:pt x="0" y="0"/>
                    </a:moveTo>
                    <a:lnTo>
                      <a:pt x="0" y="143"/>
                    </a:lnTo>
                  </a:path>
                </a:pathLst>
              </a:custGeom>
              <a:noFill/>
              <a:ln w="19050">
                <a:solidFill>
                  <a:srgbClr val="F4A100"/>
                </a:solidFill>
              </a:ln>
            </p:spPr>
          </p:sp>
          <p:sp>
            <p:nvSpPr>
              <p:cNvPr id="43" name="Freeform 43"/>
              <p:cNvSpPr/>
              <p:nvPr/>
            </p:nvSpPr>
            <p:spPr>
              <a:xfrm>
                <a:off x="8596312" y="1585912"/>
                <a:ext cx="9525" cy="28575"/>
              </a:xfrm>
              <a:custGeom>
                <a:avLst/>
                <a:gdLst/>
                <a:ahLst/>
                <a:cxnLst/>
                <a:rect l="l" t="t" r="r" b="b"/>
                <a:pathLst>
                  <a:path w="9525" h="28575">
                    <a:moveTo>
                      <a:pt x="0" y="28575"/>
                    </a:moveTo>
                    <a:lnTo>
                      <a:pt x="0" y="0"/>
                    </a:lnTo>
                  </a:path>
                </a:pathLst>
              </a:custGeom>
              <a:noFill/>
              <a:ln w="19050">
                <a:solidFill>
                  <a:srgbClr val="F4A100"/>
                </a:solidFill>
              </a:ln>
            </p:spPr>
          </p:sp>
          <p:sp>
            <p:nvSpPr>
              <p:cNvPr id="44" name="Freeform 44"/>
              <p:cNvSpPr/>
              <p:nvPr/>
            </p:nvSpPr>
            <p:spPr>
              <a:xfrm>
                <a:off x="8549878" y="1529932"/>
                <a:ext cx="92869" cy="23834"/>
              </a:xfrm>
              <a:custGeom>
                <a:avLst/>
                <a:gdLst/>
                <a:ahLst/>
                <a:cxnLst/>
                <a:rect l="l" t="t" r="r" b="b"/>
                <a:pathLst>
                  <a:path w="92869" h="23834">
                    <a:moveTo>
                      <a:pt x="0" y="23834"/>
                    </a:moveTo>
                    <a:cubicBezTo>
                      <a:pt x="10735" y="8872"/>
                      <a:pt x="28020" y="0"/>
                      <a:pt x="46434" y="0"/>
                    </a:cubicBezTo>
                    <a:cubicBezTo>
                      <a:pt x="64848" y="0"/>
                      <a:pt x="82134" y="8872"/>
                      <a:pt x="92869" y="23834"/>
                    </a:cubicBezTo>
                  </a:path>
                </a:pathLst>
              </a:custGeom>
              <a:noFill/>
              <a:ln w="19050">
                <a:solidFill>
                  <a:srgbClr val="F4A100"/>
                </a:solidFill>
              </a:ln>
            </p:spPr>
          </p:sp>
          <p:sp>
            <p:nvSpPr>
              <p:cNvPr id="45" name="Freeform 45"/>
              <p:cNvSpPr/>
              <p:nvPr/>
            </p:nvSpPr>
            <p:spPr>
              <a:xfrm>
                <a:off x="8503444" y="1473951"/>
                <a:ext cx="185738" cy="47668"/>
              </a:xfrm>
              <a:custGeom>
                <a:avLst/>
                <a:gdLst/>
                <a:ahLst/>
                <a:cxnLst/>
                <a:rect l="l" t="t" r="r" b="b"/>
                <a:pathLst>
                  <a:path w="185738" h="47668">
                    <a:moveTo>
                      <a:pt x="0" y="47668"/>
                    </a:moveTo>
                    <a:cubicBezTo>
                      <a:pt x="21469" y="17745"/>
                      <a:pt x="56041" y="0"/>
                      <a:pt x="92869" y="0"/>
                    </a:cubicBezTo>
                    <a:cubicBezTo>
                      <a:pt x="129697" y="0"/>
                      <a:pt x="164268" y="17745"/>
                      <a:pt x="185738" y="47668"/>
                    </a:cubicBezTo>
                  </a:path>
                </a:pathLst>
              </a:custGeom>
              <a:noFill/>
              <a:ln w="19050">
                <a:solidFill>
                  <a:srgbClr val="F4A100"/>
                </a:solidFill>
              </a:ln>
            </p:spPr>
          </p:sp>
        </p:grpSp>
        <p:sp>
          <p:nvSpPr>
            <p:cNvPr id="47" name="TextBox 47"/>
            <p:cNvSpPr txBox="1"/>
            <p:nvPr/>
          </p:nvSpPr>
          <p:spPr>
            <a:xfrm>
              <a:off x="8812530" y="1514475"/>
              <a:ext cx="597713" cy="293370"/>
            </a:xfrm>
            <a:prstGeom prst="rect">
              <a:avLst/>
            </a:prstGeom>
            <a:noFill/>
            <a:ln>
              <a:noFill/>
            </a:ln>
          </p:spPr>
          <p:txBody>
            <a:bodyPr wrap="none" lIns="0" tIns="0" rIns="0" bIns="0" anchor="t" anchorCtr="0">
              <a:spAutoFit/>
            </a:bodyPr>
            <a:lstStyle/>
            <a:p>
              <a:pPr algn="l"/>
              <a:r>
                <a:rPr lang="en-US" sz="1500" b="1" dirty="0">
                  <a:solidFill>
                    <a:srgbClr val="1D1D1A"/>
                  </a:solidFill>
                  <a:latin typeface="Arial"/>
                  <a:ea typeface="Arial"/>
                  <a:cs typeface="Arial"/>
                </a:rPr>
                <a:t>OMEA</a:t>
              </a:r>
            </a:p>
          </p:txBody>
        </p:sp>
        <p:sp>
          <p:nvSpPr>
            <p:cNvPr id="48" name="TextBox 48"/>
            <p:cNvSpPr txBox="1"/>
            <p:nvPr/>
          </p:nvSpPr>
          <p:spPr>
            <a:xfrm>
              <a:off x="8371332" y="1925955"/>
              <a:ext cx="1999503" cy="410718"/>
            </a:xfrm>
            <a:prstGeom prst="rect">
              <a:avLst/>
            </a:prstGeom>
            <a:noFill/>
            <a:ln>
              <a:noFill/>
            </a:ln>
          </p:spPr>
          <p:txBody>
            <a:bodyPr wrap="none" lIns="0" tIns="0" rIns="0" bIns="0" anchor="t" anchorCtr="0">
              <a:spAutoFit/>
            </a:bodyPr>
            <a:lstStyle/>
            <a:p>
              <a:pPr algn="l"/>
              <a:r>
                <a:rPr lang="zh-CN" sz="2100" b="1" dirty="0">
                  <a:solidFill>
                    <a:srgbClr val="1D1D1A"/>
                  </a:solidFill>
                  <a:latin typeface="Arial"/>
                  <a:ea typeface="Microsoft YaHei"/>
                  <a:cs typeface="Arial"/>
                </a:rPr>
                <a:t>约6-7亿</a:t>
              </a:r>
              <a:r>
                <a:rPr lang="zh-CN" sz="1200" b="1" dirty="0">
                  <a:solidFill>
                    <a:srgbClr val="1D1D1A"/>
                  </a:solidFill>
                  <a:latin typeface="Arial"/>
                  <a:ea typeface="Microsoft YaHei"/>
                  <a:cs typeface="Arial"/>
                </a:rPr>
                <a:t>€/Y（估）</a:t>
              </a:r>
            </a:p>
          </p:txBody>
        </p:sp>
        <p:sp>
          <p:nvSpPr>
            <p:cNvPr id="49" name="TextBox 49"/>
            <p:cNvSpPr txBox="1"/>
            <p:nvPr/>
          </p:nvSpPr>
          <p:spPr>
            <a:xfrm>
              <a:off x="8375904" y="2270760"/>
              <a:ext cx="2265274" cy="234696"/>
            </a:xfrm>
            <a:prstGeom prst="rect">
              <a:avLst/>
            </a:prstGeom>
            <a:noFill/>
            <a:ln>
              <a:noFill/>
            </a:ln>
          </p:spPr>
          <p:txBody>
            <a:bodyPr wrap="none" lIns="0" tIns="0" rIns="0" bIns="0" anchor="t" anchorCtr="0">
              <a:spAutoFit/>
            </a:bodyPr>
            <a:lstStyle/>
            <a:p>
              <a:pPr algn="l"/>
              <a:r>
                <a:rPr lang="zh-CN" sz="1200" dirty="0">
                  <a:solidFill>
                    <a:srgbClr val="5A5852"/>
                  </a:solidFill>
                  <a:latin typeface="Arial"/>
                  <a:ea typeface="Microsoft YaHei"/>
                  <a:cs typeface="Arial"/>
                </a:rPr>
                <a:t>核心连接以移动数据+FBB为主</a:t>
              </a:r>
            </a:p>
          </p:txBody>
        </p:sp>
        <p:sp>
          <p:nvSpPr>
            <p:cNvPr id="50" name="Rectangle 50"/>
            <p:cNvSpPr/>
            <p:nvPr/>
          </p:nvSpPr>
          <p:spPr>
            <a:xfrm>
              <a:off x="8382000" y="2762250"/>
              <a:ext cx="3048000" cy="133350"/>
            </a:xfrm>
            <a:prstGeom prst="roundRect">
              <a:avLst>
                <a:gd name="adj" fmla="val 50000"/>
              </a:avLst>
            </a:prstGeom>
            <a:solidFill>
              <a:srgbClr val="DDDBD6"/>
            </a:solidFill>
            <a:ln>
              <a:noFill/>
            </a:ln>
          </p:spPr>
        </p:sp>
        <p:sp>
          <p:nvSpPr>
            <p:cNvPr id="51" name="Rectangle 51"/>
            <p:cNvSpPr/>
            <p:nvPr/>
          </p:nvSpPr>
          <p:spPr>
            <a:xfrm>
              <a:off x="8382000" y="2762250"/>
              <a:ext cx="609600" cy="133350"/>
            </a:xfrm>
            <a:prstGeom prst="roundRect">
              <a:avLst>
                <a:gd name="adj" fmla="val 50000"/>
              </a:avLst>
            </a:prstGeom>
            <a:solidFill>
              <a:srgbClr val="C7000A"/>
            </a:solidFill>
            <a:ln>
              <a:noFill/>
            </a:ln>
          </p:spPr>
        </p:sp>
        <p:sp>
          <p:nvSpPr>
            <p:cNvPr id="52" name="TextBox 52"/>
            <p:cNvSpPr txBox="1"/>
            <p:nvPr/>
          </p:nvSpPr>
          <p:spPr>
            <a:xfrm>
              <a:off x="8375904" y="3070860"/>
              <a:ext cx="1513340" cy="234696"/>
            </a:xfrm>
            <a:prstGeom prst="rect">
              <a:avLst/>
            </a:prstGeom>
            <a:noFill/>
            <a:ln>
              <a:noFill/>
            </a:ln>
          </p:spPr>
          <p:txBody>
            <a:bodyPr wrap="none" lIns="0" tIns="0" rIns="0" bIns="0" anchor="t" anchorCtr="0">
              <a:spAutoFit/>
            </a:bodyPr>
            <a:lstStyle/>
            <a:p>
              <a:pPr algn="l"/>
              <a:r>
                <a:rPr lang="zh-CN" sz="1200" b="1" dirty="0">
                  <a:solidFill>
                    <a:srgbClr val="C7000A"/>
                  </a:solidFill>
                  <a:latin typeface="Arial"/>
                  <a:ea typeface="Microsoft YaHei"/>
                  <a:cs typeface="Arial"/>
                </a:rPr>
                <a:t>华为：约20%（估）</a:t>
              </a:r>
            </a:p>
          </p:txBody>
        </p:sp>
        <p:sp>
          <p:nvSpPr>
            <p:cNvPr id="53" name="TextBox 53"/>
            <p:cNvSpPr txBox="1"/>
            <p:nvPr/>
          </p:nvSpPr>
          <p:spPr>
            <a:xfrm>
              <a:off x="8375904" y="3489960"/>
              <a:ext cx="1393393" cy="234696"/>
            </a:xfrm>
            <a:prstGeom prst="rect">
              <a:avLst/>
            </a:prstGeom>
            <a:noFill/>
            <a:ln>
              <a:noFill/>
            </a:ln>
          </p:spPr>
          <p:txBody>
            <a:bodyPr wrap="none" lIns="0" tIns="0" rIns="0" bIns="0" anchor="t" anchorCtr="0">
              <a:spAutoFit/>
            </a:bodyPr>
            <a:lstStyle/>
            <a:p>
              <a:pPr algn="l"/>
              <a:r>
                <a:rPr lang="zh-CN" sz="1200" dirty="0">
                  <a:solidFill>
                    <a:srgbClr val="5A5852"/>
                  </a:solidFill>
                  <a:latin typeface="Arial"/>
                  <a:ea typeface="Microsoft YaHei"/>
                  <a:cs typeface="Arial"/>
                </a:rPr>
                <a:t>企业路由/交换设备</a:t>
              </a:r>
            </a:p>
          </p:txBody>
        </p:sp>
        <p:sp>
          <p:nvSpPr>
            <p:cNvPr id="54" name="TextBox 54"/>
            <p:cNvSpPr txBox="1"/>
            <p:nvPr/>
          </p:nvSpPr>
          <p:spPr>
            <a:xfrm>
              <a:off x="8375904" y="4061460"/>
              <a:ext cx="1940052" cy="444246"/>
            </a:xfrm>
            <a:prstGeom prst="rect">
              <a:avLst/>
            </a:prstGeom>
            <a:noFill/>
            <a:ln>
              <a:noFill/>
            </a:ln>
          </p:spPr>
          <p:txBody>
            <a:bodyPr wrap="square" lIns="0" tIns="0" rIns="0" bIns="0" anchor="t" anchorCtr="0"/>
            <a:lstStyle/>
            <a:p>
              <a:pPr algn="l">
                <a:lnSpc>
                  <a:spcPts val="1650"/>
                </a:lnSpc>
              </a:pPr>
              <a:r>
                <a:rPr lang="zh-CN" sz="1200" dirty="0">
                  <a:solidFill>
                    <a:srgbClr val="5A5852"/>
                  </a:solidFill>
                  <a:latin typeface="Arial"/>
                  <a:ea typeface="Microsoft YaHei"/>
                  <a:cs typeface="Arial"/>
                </a:rPr>
                <a:t>注：MPN专网45%份额</a:t>
              </a:r>
              <a:r>
                <a:rPr lang="zh-CN" sz="1200" dirty="0">
                  <a:solidFill>
                    <a:srgbClr val="5A5852"/>
                  </a:solidFill>
                  <a:latin typeface="Arial"/>
                  <a:ea typeface="Microsoft YaHei"/>
                  <a:cs typeface="Arial"/>
                </a:rPr>
                <a:t>另见P12，不与本图重复计算</a:t>
              </a:r>
            </a:p>
          </p:txBody>
        </p:sp>
      </p:grpSp>
      <p:grpSp>
        <p:nvGrpSpPr>
          <p:cNvPr id="58" name="Group 58"/>
          <p:cNvGrpSpPr/>
          <p:nvPr/>
        </p:nvGrpSpPr>
        <p:grpSpPr>
          <a:xfrm>
            <a:off x="666750" y="5715000"/>
            <a:ext cx="10858500" cy="495300"/>
            <a:chOff x="666750" y="5715000"/>
            <a:chExt cx="10858500" cy="495300"/>
          </a:xfrm>
        </p:grpSpPr>
        <p:sp>
          <p:nvSpPr>
            <p:cNvPr id="56" name="Rectangle 56"/>
            <p:cNvSpPr/>
            <p:nvPr/>
          </p:nvSpPr>
          <p:spPr>
            <a:xfrm>
              <a:off x="666750" y="5715000"/>
              <a:ext cx="10858500" cy="495300"/>
            </a:xfrm>
            <a:prstGeom prst="roundRect">
              <a:avLst>
                <a:gd name="adj" fmla="val 15385"/>
              </a:avLst>
            </a:prstGeom>
            <a:solidFill>
              <a:srgbClr val="F7F6F3"/>
            </a:solidFill>
            <a:ln>
              <a:noFill/>
            </a:ln>
          </p:spPr>
        </p:sp>
        <p:sp>
          <p:nvSpPr>
            <p:cNvPr id="57" name="TextBox 57"/>
            <p:cNvSpPr txBox="1"/>
            <p:nvPr/>
          </p:nvSpPr>
          <p:spPr>
            <a:xfrm>
              <a:off x="889254" y="5880735"/>
              <a:ext cx="9335094" cy="234696"/>
            </a:xfrm>
            <a:prstGeom prst="rect">
              <a:avLst/>
            </a:prstGeom>
            <a:noFill/>
            <a:ln>
              <a:noFill/>
            </a:ln>
          </p:spPr>
          <p:txBody>
            <a:bodyPr wrap="none" lIns="0" tIns="0" rIns="0" bIns="0" anchor="t" anchorCtr="0">
              <a:spAutoFit/>
            </a:bodyPr>
            <a:lstStyle/>
            <a:p>
              <a:pPr algn="l"/>
              <a:r>
                <a:rPr lang="zh-CN" sz="1200" dirty="0">
                  <a:solidFill>
                    <a:srgbClr val="1D1D1A"/>
                  </a:solidFill>
                  <a:latin typeface="Arial"/>
                  <a:ea typeface="Microsoft YaHei"/>
                  <a:cs typeface="Arial"/>
                </a:rPr>
                <a:t>Orange集团全球网络资产（三区域WAN交付的共同底座）：陆地光纤</a:t>
              </a:r>
              <a:r>
                <a:rPr lang="zh-CN" sz="1200" b="1" dirty="0">
                  <a:solidFill>
                    <a:srgbClr val="1D1D1A"/>
                  </a:solidFill>
                  <a:latin typeface="Arial"/>
                  <a:ea typeface="Microsoft YaHei"/>
                  <a:cs typeface="Arial"/>
                </a:rPr>
                <a:t>45,000公里</a:t>
              </a:r>
              <a:r>
                <a:rPr lang="zh-CN" sz="1200" dirty="0">
                  <a:solidFill>
                    <a:srgbClr val="1D1D1A"/>
                  </a:solidFill>
                  <a:latin typeface="Arial"/>
                  <a:ea typeface="Microsoft YaHei"/>
                  <a:cs typeface="Arial"/>
                </a:rPr>
                <a:t xml:space="preserve"> · 卫星天线</a:t>
              </a:r>
              <a:r>
                <a:rPr lang="zh-CN" sz="1200" b="1" dirty="0">
                  <a:solidFill>
                    <a:srgbClr val="1D1D1A"/>
                  </a:solidFill>
                  <a:latin typeface="Arial"/>
                  <a:ea typeface="Microsoft YaHei"/>
                  <a:cs typeface="Arial"/>
                </a:rPr>
                <a:t>2,500个</a:t>
              </a:r>
              <a:r>
                <a:rPr lang="zh-CN" sz="1200" dirty="0">
                  <a:solidFill>
                    <a:srgbClr val="1D1D1A"/>
                  </a:solidFill>
                  <a:latin typeface="Arial"/>
                  <a:ea typeface="Microsoft YaHei"/>
                  <a:cs typeface="Arial"/>
                </a:rPr>
                <a:t xml:space="preserve"> · 海底电缆</a:t>
              </a:r>
              <a:r>
                <a:rPr lang="zh-CN" sz="1200" b="1" dirty="0">
                  <a:solidFill>
                    <a:srgbClr val="1D1D1A"/>
                  </a:solidFill>
                  <a:latin typeface="Arial"/>
                  <a:ea typeface="Microsoft YaHei"/>
                  <a:cs typeface="Arial"/>
                </a:rPr>
                <a:t>450,000公里</a:t>
              </a:r>
            </a:p>
          </p:txBody>
        </p:sp>
      </p:grpSp>
      <p:grpSp>
        <p:nvGrpSpPr>
          <p:cNvPr id="61" name="Group 61"/>
          <p:cNvGrpSpPr/>
          <p:nvPr/>
        </p:nvGrpSpPr>
        <p:grpSpPr>
          <a:xfrm>
            <a:off x="755904" y="6442710"/>
            <a:ext cx="10680192" cy="234696"/>
            <a:chOff x="755904" y="6442710"/>
            <a:chExt cx="10680192" cy="234696"/>
          </a:xfrm>
        </p:grpSpPr>
        <p:sp>
          <p:nvSpPr>
            <p:cNvPr id="59" name="TextBox 59"/>
            <p:cNvSpPr txBox="1"/>
            <p:nvPr/>
          </p:nvSpPr>
          <p:spPr>
            <a:xfrm>
              <a:off x="755904" y="6442710"/>
              <a:ext cx="6864477" cy="234696"/>
            </a:xfrm>
            <a:prstGeom prst="rect">
              <a:avLst/>
            </a:prstGeom>
            <a:noFill/>
            <a:ln>
              <a:noFill/>
            </a:ln>
          </p:spPr>
          <p:txBody>
            <a:bodyPr wrap="none" lIns="0" tIns="0" rIns="0" bIns="0" anchor="t" anchorCtr="0">
              <a:spAutoFit/>
            </a:bodyPr>
            <a:lstStyle/>
            <a:p>
              <a:pPr algn="l"/>
              <a:r>
                <a:rPr lang="zh-CN" sz="1200" dirty="0">
                  <a:solidFill>
                    <a:srgbClr val="8A8880"/>
                  </a:solidFill>
                  <a:latin typeface="Arial"/>
                  <a:ea typeface="Microsoft YaHei"/>
                  <a:cs typeface="Arial"/>
                </a:rPr>
                <a:t>数据来源：Orange Business国防安全部门(DD&amp;S)公开披露；OEU/OMEA厂商份额为模拟估算</a:t>
              </a:r>
            </a:p>
          </p:txBody>
        </p:sp>
        <p:sp>
          <p:nvSpPr>
            <p:cNvPr id="60" name="TextBox 60"/>
            <p:cNvSpPr txBox="1"/>
            <p:nvPr/>
          </p:nvSpPr>
          <p:spPr>
            <a:xfrm>
              <a:off x="9530080" y="6442710"/>
              <a:ext cx="1906016" cy="234696"/>
            </a:xfrm>
            <a:prstGeom prst="rect">
              <a:avLst/>
            </a:prstGeom>
            <a:noFill/>
            <a:ln>
              <a:noFill/>
            </a:ln>
          </p:spPr>
          <p:txBody>
            <a:bodyPr wrap="none" lIns="0" tIns="0" rIns="0" bIns="0" anchor="t" anchorCtr="0">
              <a:spAutoFit/>
            </a:bodyPr>
            <a:lstStyle/>
            <a:p>
              <a:pPr algn="r"/>
              <a:r>
                <a:rPr lang="en-US" sz="1200" dirty="0">
                  <a:solidFill>
                    <a:srgbClr val="8A8880"/>
                  </a:solidFill>
                  <a:latin typeface="Arial"/>
                  <a:ea typeface="Arial"/>
                  <a:cs typeface="Arial"/>
                </a:rPr>
                <a:t>07 · Huawei Confidential</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745998" y="212408"/>
            <a:ext cx="10684002" cy="921448"/>
            <a:chOff x="745998" y="212408"/>
            <a:chExt cx="10684002" cy="921448"/>
          </a:xfrm>
        </p:grpSpPr>
        <p:sp>
          <p:nvSpPr>
            <p:cNvPr id="3" name="TextBox 3"/>
            <p:cNvSpPr txBox="1"/>
            <p:nvPr/>
          </p:nvSpPr>
          <p:spPr>
            <a:xfrm>
              <a:off x="745998" y="212408"/>
              <a:ext cx="9276519" cy="616077"/>
            </a:xfrm>
            <a:prstGeom prst="rect">
              <a:avLst/>
            </a:prstGeom>
            <a:noFill/>
            <a:ln>
              <a:noFill/>
            </a:ln>
          </p:spPr>
          <p:txBody>
            <a:bodyPr wrap="none" lIns="0" tIns="0" rIns="0" bIns="0" anchor="t" anchorCtr="0">
              <a:spAutoFit/>
            </a:bodyPr>
            <a:lstStyle/>
            <a:p>
              <a:pPr algn="l"/>
              <a:r>
                <a:rPr lang="zh-CN" sz="3150" b="1" dirty="0">
                  <a:solidFill>
                    <a:srgbClr val="1D1D1A"/>
                  </a:solidFill>
                  <a:latin typeface="Arial"/>
                  <a:ea typeface="Microsoft YaHei"/>
                  <a:cs typeface="Arial"/>
                </a:rPr>
                <a:t>LAN管理服务是数据洼地，格局同样排除华为</a:t>
              </a:r>
            </a:p>
          </p:txBody>
        </p:sp>
        <p:sp>
          <p:nvSpPr>
            <p:cNvPr id="4" name="Line 4"/>
            <p:cNvSpPr/>
            <p:nvPr/>
          </p:nvSpPr>
          <p:spPr>
            <a:xfrm>
              <a:off x="762000" y="781050"/>
              <a:ext cx="10668000" cy="9525"/>
            </a:xfrm>
            <a:custGeom>
              <a:avLst/>
              <a:gdLst/>
              <a:ahLst/>
              <a:cxnLst/>
              <a:rect l="l" t="t" r="r" b="b"/>
              <a:pathLst>
                <a:path w="10668000" h="9525">
                  <a:moveTo>
                    <a:pt x="0" y="0"/>
                  </a:moveTo>
                  <a:lnTo>
                    <a:pt x="10668000" y="0"/>
                  </a:lnTo>
                </a:path>
              </a:pathLst>
            </a:custGeom>
            <a:noFill/>
            <a:ln w="9525">
              <a:solidFill>
                <a:srgbClr val="DDDBD6"/>
              </a:solidFill>
            </a:ln>
          </p:spPr>
        </p:sp>
        <p:sp>
          <p:nvSpPr>
            <p:cNvPr id="5" name="TextBox 5"/>
            <p:cNvSpPr txBox="1"/>
            <p:nvPr/>
          </p:nvSpPr>
          <p:spPr>
            <a:xfrm>
              <a:off x="755904" y="899160"/>
              <a:ext cx="4657466" cy="234696"/>
            </a:xfrm>
            <a:prstGeom prst="rect">
              <a:avLst/>
            </a:prstGeom>
            <a:noFill/>
            <a:ln>
              <a:noFill/>
            </a:ln>
          </p:spPr>
          <p:txBody>
            <a:bodyPr wrap="none" lIns="0" tIns="0" rIns="0" bIns="0" anchor="t" anchorCtr="0">
              <a:spAutoFit/>
            </a:bodyPr>
            <a:lstStyle/>
            <a:p>
              <a:pPr algn="l"/>
              <a:r>
                <a:rPr lang="en-US" sz="1200" b="1" spc="75" dirty="0">
                  <a:solidFill>
                    <a:srgbClr val="8A8880"/>
                  </a:solidFill>
                  <a:latin typeface="Arial"/>
                  <a:ea typeface="Arial"/>
                  <a:cs typeface="Arial"/>
                </a:rPr>
                <a:t>CATALOGUE: MANAGED LAN · SD-LAN · CLOUD WI-FI</a:t>
              </a:r>
            </a:p>
          </p:txBody>
        </p:sp>
      </p:grpSp>
      <p:grpSp>
        <p:nvGrpSpPr>
          <p:cNvPr id="22" name="Group 22"/>
          <p:cNvGrpSpPr/>
          <p:nvPr/>
        </p:nvGrpSpPr>
        <p:grpSpPr>
          <a:xfrm>
            <a:off x="666750" y="1333500"/>
            <a:ext cx="3333750" cy="3810000"/>
            <a:chOff x="666750" y="1333500"/>
            <a:chExt cx="3333750" cy="3810000"/>
          </a:xfrm>
        </p:grpSpPr>
        <p:sp>
          <p:nvSpPr>
            <p:cNvPr id="7" name="Rectangle 7"/>
            <p:cNvSpPr/>
            <p:nvPr/>
          </p:nvSpPr>
          <p:spPr>
            <a:xfrm>
              <a:off x="666750" y="1333500"/>
              <a:ext cx="76200" cy="3810000"/>
            </a:xfrm>
            <a:prstGeom prst="rect">
              <a:avLst/>
            </a:prstGeom>
            <a:solidFill>
              <a:srgbClr val="C7000A"/>
            </a:solidFill>
            <a:ln>
              <a:noFill/>
            </a:ln>
          </p:spPr>
        </p:sp>
        <p:grpSp>
          <p:nvGrpSpPr>
            <p:cNvPr id="16" name="Group 16"/>
            <p:cNvGrpSpPr/>
            <p:nvPr/>
          </p:nvGrpSpPr>
          <p:grpSpPr>
            <a:xfrm>
              <a:off x="995362" y="1471612"/>
              <a:ext cx="257175" cy="271463"/>
              <a:chOff x="995362" y="1471612"/>
              <a:chExt cx="257175" cy="271463"/>
            </a:xfrm>
          </p:grpSpPr>
          <p:sp>
            <p:nvSpPr>
              <p:cNvPr id="8" name="Freeform 8"/>
              <p:cNvSpPr/>
              <p:nvPr/>
            </p:nvSpPr>
            <p:spPr>
              <a:xfrm>
                <a:off x="1038225" y="1471612"/>
                <a:ext cx="171450" cy="171450"/>
              </a:xfrm>
              <a:custGeom>
                <a:avLst/>
                <a:gdLst/>
                <a:ahLst/>
                <a:cxnLst/>
                <a:rect l="l" t="t" r="r" b="b"/>
                <a:pathLst>
                  <a:path w="171450" h="171450">
                    <a:moveTo>
                      <a:pt x="0" y="85725"/>
                    </a:moveTo>
                    <a:cubicBezTo>
                      <a:pt x="0" y="133070"/>
                      <a:pt x="38380" y="171450"/>
                      <a:pt x="85725" y="171450"/>
                    </a:cubicBezTo>
                    <a:cubicBezTo>
                      <a:pt x="133070" y="171450"/>
                      <a:pt x="171450" y="133070"/>
                      <a:pt x="171450" y="85725"/>
                    </a:cubicBezTo>
                    <a:cubicBezTo>
                      <a:pt x="171450" y="38380"/>
                      <a:pt x="133070" y="0"/>
                      <a:pt x="85725" y="0"/>
                    </a:cubicBezTo>
                    <a:cubicBezTo>
                      <a:pt x="38380" y="0"/>
                      <a:pt x="0" y="38380"/>
                      <a:pt x="0" y="85725"/>
                    </a:cubicBezTo>
                  </a:path>
                </a:pathLst>
              </a:custGeom>
              <a:noFill/>
              <a:ln w="19050">
                <a:solidFill>
                  <a:srgbClr val="C7000A"/>
                </a:solidFill>
              </a:ln>
            </p:spPr>
          </p:sp>
          <p:sp>
            <p:nvSpPr>
              <p:cNvPr id="9" name="Freeform 9"/>
              <p:cNvSpPr/>
              <p:nvPr/>
            </p:nvSpPr>
            <p:spPr>
              <a:xfrm>
                <a:off x="1123950" y="1471612"/>
                <a:ext cx="28575" cy="171450"/>
              </a:xfrm>
              <a:custGeom>
                <a:avLst/>
                <a:gdLst/>
                <a:ahLst/>
                <a:cxnLst/>
                <a:rect l="l" t="t" r="r" b="b"/>
                <a:pathLst>
                  <a:path w="28575" h="171450">
                    <a:moveTo>
                      <a:pt x="0" y="0"/>
                    </a:moveTo>
                    <a:cubicBezTo>
                      <a:pt x="19045" y="4758"/>
                      <a:pt x="28575" y="33333"/>
                      <a:pt x="28575" y="85725"/>
                    </a:cubicBezTo>
                    <a:cubicBezTo>
                      <a:pt x="28575" y="138117"/>
                      <a:pt x="19045" y="166692"/>
                      <a:pt x="0" y="171450"/>
                    </a:cubicBezTo>
                  </a:path>
                </a:pathLst>
              </a:custGeom>
              <a:noFill/>
              <a:ln w="19050">
                <a:solidFill>
                  <a:srgbClr val="C7000A"/>
                </a:solidFill>
              </a:ln>
            </p:spPr>
          </p:sp>
          <p:sp>
            <p:nvSpPr>
              <p:cNvPr id="10" name="Freeform 10"/>
              <p:cNvSpPr/>
              <p:nvPr/>
            </p:nvSpPr>
            <p:spPr>
              <a:xfrm>
                <a:off x="1095375" y="1471612"/>
                <a:ext cx="28575" cy="171450"/>
              </a:xfrm>
              <a:custGeom>
                <a:avLst/>
                <a:gdLst/>
                <a:ahLst/>
                <a:cxnLst/>
                <a:rect l="l" t="t" r="r" b="b"/>
                <a:pathLst>
                  <a:path w="28575" h="171450">
                    <a:moveTo>
                      <a:pt x="28575" y="0"/>
                    </a:moveTo>
                    <a:cubicBezTo>
                      <a:pt x="9530" y="4758"/>
                      <a:pt x="0" y="33333"/>
                      <a:pt x="0" y="85725"/>
                    </a:cubicBezTo>
                    <a:cubicBezTo>
                      <a:pt x="0" y="138117"/>
                      <a:pt x="9530" y="166692"/>
                      <a:pt x="28575" y="171450"/>
                    </a:cubicBezTo>
                  </a:path>
                </a:pathLst>
              </a:custGeom>
              <a:noFill/>
              <a:ln w="19050">
                <a:solidFill>
                  <a:srgbClr val="C7000A"/>
                </a:solidFill>
              </a:ln>
            </p:spPr>
          </p:sp>
          <p:sp>
            <p:nvSpPr>
              <p:cNvPr id="11" name="Freeform 11"/>
              <p:cNvSpPr/>
              <p:nvPr/>
            </p:nvSpPr>
            <p:spPr>
              <a:xfrm>
                <a:off x="1038225" y="1557338"/>
                <a:ext cx="171450" cy="9525"/>
              </a:xfrm>
              <a:custGeom>
                <a:avLst/>
                <a:gdLst/>
                <a:ahLst/>
                <a:cxnLst/>
                <a:rect l="l" t="t" r="r" b="b"/>
                <a:pathLst>
                  <a:path w="171450" h="9525">
                    <a:moveTo>
                      <a:pt x="0" y="0"/>
                    </a:moveTo>
                    <a:lnTo>
                      <a:pt x="171450" y="0"/>
                    </a:lnTo>
                  </a:path>
                </a:pathLst>
              </a:custGeom>
              <a:noFill/>
              <a:ln w="19050">
                <a:solidFill>
                  <a:srgbClr val="C7000A"/>
                </a:solidFill>
              </a:ln>
            </p:spPr>
          </p:sp>
          <p:sp>
            <p:nvSpPr>
              <p:cNvPr id="12" name="Freeform 12"/>
              <p:cNvSpPr/>
              <p:nvPr/>
            </p:nvSpPr>
            <p:spPr>
              <a:xfrm>
                <a:off x="995362" y="1714500"/>
                <a:ext cx="100012" cy="9525"/>
              </a:xfrm>
              <a:custGeom>
                <a:avLst/>
                <a:gdLst/>
                <a:ahLst/>
                <a:cxnLst/>
                <a:rect l="l" t="t" r="r" b="b"/>
                <a:pathLst>
                  <a:path w="100012" h="9525">
                    <a:moveTo>
                      <a:pt x="0" y="0"/>
                    </a:moveTo>
                    <a:lnTo>
                      <a:pt x="100012" y="0"/>
                    </a:lnTo>
                  </a:path>
                </a:pathLst>
              </a:custGeom>
              <a:noFill/>
              <a:ln w="19050">
                <a:solidFill>
                  <a:srgbClr val="C7000A"/>
                </a:solidFill>
              </a:ln>
            </p:spPr>
          </p:sp>
          <p:sp>
            <p:nvSpPr>
              <p:cNvPr id="13" name="Freeform 13"/>
              <p:cNvSpPr/>
              <p:nvPr/>
            </p:nvSpPr>
            <p:spPr>
              <a:xfrm>
                <a:off x="1152525" y="1714500"/>
                <a:ext cx="100012" cy="9525"/>
              </a:xfrm>
              <a:custGeom>
                <a:avLst/>
                <a:gdLst/>
                <a:ahLst/>
                <a:cxnLst/>
                <a:rect l="l" t="t" r="r" b="b"/>
                <a:pathLst>
                  <a:path w="100012" h="9525">
                    <a:moveTo>
                      <a:pt x="0" y="0"/>
                    </a:moveTo>
                    <a:lnTo>
                      <a:pt x="100012" y="0"/>
                    </a:lnTo>
                  </a:path>
                </a:pathLst>
              </a:custGeom>
              <a:noFill/>
              <a:ln w="19050">
                <a:solidFill>
                  <a:srgbClr val="C7000A"/>
                </a:solidFill>
              </a:ln>
            </p:spPr>
          </p:sp>
          <p:sp>
            <p:nvSpPr>
              <p:cNvPr id="14" name="Freeform 14"/>
              <p:cNvSpPr/>
              <p:nvPr/>
            </p:nvSpPr>
            <p:spPr>
              <a:xfrm>
                <a:off x="1095375" y="1685925"/>
                <a:ext cx="57150" cy="57150"/>
              </a:xfrm>
              <a:custGeom>
                <a:avLst/>
                <a:gdLst/>
                <a:ahLst/>
                <a:cxnLst/>
                <a:rect l="l" t="t" r="r" b="b"/>
                <a:pathLst>
                  <a:path w="57150" h="57150">
                    <a:moveTo>
                      <a:pt x="0" y="28575"/>
                    </a:moveTo>
                    <a:cubicBezTo>
                      <a:pt x="0" y="44357"/>
                      <a:pt x="12793" y="57150"/>
                      <a:pt x="28575" y="57150"/>
                    </a:cubicBezTo>
                    <a:cubicBezTo>
                      <a:pt x="44357" y="57150"/>
                      <a:pt x="57150" y="44357"/>
                      <a:pt x="57150" y="28575"/>
                    </a:cubicBezTo>
                    <a:cubicBezTo>
                      <a:pt x="57150" y="12793"/>
                      <a:pt x="44357" y="0"/>
                      <a:pt x="28575" y="0"/>
                    </a:cubicBezTo>
                    <a:cubicBezTo>
                      <a:pt x="12793" y="0"/>
                      <a:pt x="0" y="12793"/>
                      <a:pt x="0" y="28575"/>
                    </a:cubicBezTo>
                  </a:path>
                </a:pathLst>
              </a:custGeom>
              <a:noFill/>
              <a:ln w="19050">
                <a:solidFill>
                  <a:srgbClr val="C7000A"/>
                </a:solidFill>
              </a:ln>
            </p:spPr>
          </p:sp>
          <p:sp>
            <p:nvSpPr>
              <p:cNvPr id="15" name="Freeform 15"/>
              <p:cNvSpPr/>
              <p:nvPr/>
            </p:nvSpPr>
            <p:spPr>
              <a:xfrm>
                <a:off x="1123950" y="1643062"/>
                <a:ext cx="9525" cy="42862"/>
              </a:xfrm>
              <a:custGeom>
                <a:avLst/>
                <a:gdLst/>
                <a:ahLst/>
                <a:cxnLst/>
                <a:rect l="l" t="t" r="r" b="b"/>
                <a:pathLst>
                  <a:path w="9525" h="42862">
                    <a:moveTo>
                      <a:pt x="0" y="0"/>
                    </a:moveTo>
                    <a:lnTo>
                      <a:pt x="0" y="42862"/>
                    </a:lnTo>
                  </a:path>
                </a:pathLst>
              </a:custGeom>
              <a:noFill/>
              <a:ln w="19050">
                <a:solidFill>
                  <a:srgbClr val="C7000A"/>
                </a:solidFill>
              </a:ln>
            </p:spPr>
          </p:sp>
        </p:grpSp>
        <p:sp>
          <p:nvSpPr>
            <p:cNvPr id="17" name="TextBox 17"/>
            <p:cNvSpPr txBox="1"/>
            <p:nvPr/>
          </p:nvSpPr>
          <p:spPr>
            <a:xfrm>
              <a:off x="1383030" y="1514475"/>
              <a:ext cx="306476" cy="293370"/>
            </a:xfrm>
            <a:prstGeom prst="rect">
              <a:avLst/>
            </a:prstGeom>
            <a:noFill/>
            <a:ln>
              <a:noFill/>
            </a:ln>
          </p:spPr>
          <p:txBody>
            <a:bodyPr wrap="none" lIns="0" tIns="0" rIns="0" bIns="0" anchor="t" anchorCtr="0">
              <a:spAutoFit/>
            </a:bodyPr>
            <a:lstStyle/>
            <a:p>
              <a:pPr algn="l"/>
              <a:r>
                <a:rPr lang="en-US" sz="1500" b="1" dirty="0">
                  <a:solidFill>
                    <a:srgbClr val="1D1D1A"/>
                  </a:solidFill>
                  <a:latin typeface="Arial"/>
                  <a:ea typeface="Arial"/>
                  <a:cs typeface="Arial"/>
                </a:rPr>
                <a:t>OB</a:t>
              </a:r>
            </a:p>
          </p:txBody>
        </p:sp>
        <p:sp>
          <p:nvSpPr>
            <p:cNvPr id="18" name="TextBox 18"/>
            <p:cNvSpPr txBox="1"/>
            <p:nvPr/>
          </p:nvSpPr>
          <p:spPr>
            <a:xfrm>
              <a:off x="941832" y="1925955"/>
              <a:ext cx="1820281" cy="410718"/>
            </a:xfrm>
            <a:prstGeom prst="rect">
              <a:avLst/>
            </a:prstGeom>
            <a:noFill/>
            <a:ln>
              <a:noFill/>
            </a:ln>
          </p:spPr>
          <p:txBody>
            <a:bodyPr wrap="none" lIns="0" tIns="0" rIns="0" bIns="0" anchor="t" anchorCtr="0">
              <a:spAutoFit/>
            </a:bodyPr>
            <a:lstStyle/>
            <a:p>
              <a:pPr algn="l"/>
              <a:r>
                <a:rPr lang="zh-CN" sz="2100" b="1" dirty="0">
                  <a:solidFill>
                    <a:srgbClr val="1D1D1A"/>
                  </a:solidFill>
                  <a:latin typeface="Arial"/>
                  <a:ea typeface="Microsoft YaHei"/>
                  <a:cs typeface="Arial"/>
                </a:rPr>
                <a:t>约300</a:t>
              </a:r>
              <a:r>
                <a:rPr lang="zh-CN" sz="1200" b="1" dirty="0">
                  <a:solidFill>
                    <a:srgbClr val="1D1D1A"/>
                  </a:solidFill>
                  <a:latin typeface="Arial"/>
                  <a:ea typeface="Microsoft YaHei"/>
                  <a:cs typeface="Arial"/>
                </a:rPr>
                <a:t>M€/Y（估）</a:t>
              </a:r>
            </a:p>
          </p:txBody>
        </p:sp>
        <p:sp>
          <p:nvSpPr>
            <p:cNvPr id="19" name="Rectangle 19"/>
            <p:cNvSpPr/>
            <p:nvPr/>
          </p:nvSpPr>
          <p:spPr>
            <a:xfrm>
              <a:off x="952500" y="2762250"/>
              <a:ext cx="3048000" cy="133350"/>
            </a:xfrm>
            <a:prstGeom prst="roundRect">
              <a:avLst>
                <a:gd name="adj" fmla="val 50000"/>
              </a:avLst>
            </a:prstGeom>
            <a:solidFill>
              <a:srgbClr val="DDDBD6"/>
            </a:solidFill>
            <a:ln>
              <a:noFill/>
            </a:ln>
          </p:spPr>
        </p:sp>
        <p:sp>
          <p:nvSpPr>
            <p:cNvPr id="20" name="TextBox 20"/>
            <p:cNvSpPr txBox="1"/>
            <p:nvPr/>
          </p:nvSpPr>
          <p:spPr>
            <a:xfrm>
              <a:off x="946404" y="3070860"/>
              <a:ext cx="1029919" cy="234696"/>
            </a:xfrm>
            <a:prstGeom prst="rect">
              <a:avLst/>
            </a:prstGeom>
            <a:noFill/>
            <a:ln>
              <a:noFill/>
            </a:ln>
          </p:spPr>
          <p:txBody>
            <a:bodyPr wrap="none" lIns="0" tIns="0" rIns="0" bIns="0" anchor="t" anchorCtr="0">
              <a:spAutoFit/>
            </a:bodyPr>
            <a:lstStyle/>
            <a:p>
              <a:pPr algn="l"/>
              <a:r>
                <a:rPr lang="zh-CN" sz="1200" b="1" dirty="0">
                  <a:solidFill>
                    <a:srgbClr val="8A8880"/>
                  </a:solidFill>
                  <a:latin typeface="Arial"/>
                  <a:ea typeface="Microsoft YaHei"/>
                  <a:cs typeface="Arial"/>
                </a:rPr>
                <a:t>华为：不可见</a:t>
              </a:r>
            </a:p>
          </p:txBody>
        </p:sp>
        <p:sp>
          <p:nvSpPr>
            <p:cNvPr id="21" name="TextBox 21"/>
            <p:cNvSpPr txBox="1"/>
            <p:nvPr/>
          </p:nvSpPr>
          <p:spPr>
            <a:xfrm>
              <a:off x="946404" y="3489960"/>
              <a:ext cx="1711452" cy="444246"/>
            </a:xfrm>
            <a:prstGeom prst="rect">
              <a:avLst/>
            </a:prstGeom>
            <a:noFill/>
            <a:ln>
              <a:noFill/>
            </a:ln>
          </p:spPr>
          <p:txBody>
            <a:bodyPr wrap="square" lIns="0" tIns="0" rIns="0" bIns="0" anchor="t" anchorCtr="0"/>
            <a:lstStyle/>
            <a:p>
              <a:pPr algn="l">
                <a:lnSpc>
                  <a:spcPts val="1650"/>
                </a:lnSpc>
              </a:pPr>
              <a:r>
                <a:rPr lang="zh-CN" sz="1200" dirty="0">
                  <a:solidFill>
                    <a:srgbClr val="5A5852"/>
                  </a:solidFill>
                  <a:latin typeface="Arial"/>
                  <a:ea typeface="Microsoft YaHei"/>
                  <a:cs typeface="Arial"/>
                </a:rPr>
                <a:t xml:space="preserve">主要厂商：Cisco · HPE · </a:t>
              </a:r>
              <a:r>
                <a:rPr lang="en-US" sz="1200" dirty="0">
                  <a:solidFill>
                    <a:srgbClr val="5A5852"/>
                  </a:solidFill>
                  <a:latin typeface="Arial"/>
                  <a:ea typeface="Arial"/>
                  <a:cs typeface="Arial"/>
                </a:rPr>
                <a:t>Fortinet</a:t>
              </a:r>
            </a:p>
          </p:txBody>
        </p:sp>
      </p:grpSp>
      <p:grpSp>
        <p:nvGrpSpPr>
          <p:cNvPr id="39" name="Group 39"/>
          <p:cNvGrpSpPr/>
          <p:nvPr/>
        </p:nvGrpSpPr>
        <p:grpSpPr>
          <a:xfrm>
            <a:off x="4381500" y="1333500"/>
            <a:ext cx="3333750" cy="3810000"/>
            <a:chOff x="4381500" y="1333500"/>
            <a:chExt cx="3333750" cy="3810000"/>
          </a:xfrm>
        </p:grpSpPr>
        <p:sp>
          <p:nvSpPr>
            <p:cNvPr id="23" name="Rectangle 23"/>
            <p:cNvSpPr/>
            <p:nvPr/>
          </p:nvSpPr>
          <p:spPr>
            <a:xfrm>
              <a:off x="4381500" y="1333500"/>
              <a:ext cx="76200" cy="3810000"/>
            </a:xfrm>
            <a:prstGeom prst="rect">
              <a:avLst/>
            </a:prstGeom>
            <a:solidFill>
              <a:srgbClr val="E9002F"/>
            </a:solidFill>
            <a:ln>
              <a:noFill/>
            </a:ln>
          </p:spPr>
        </p:sp>
        <p:grpSp>
          <p:nvGrpSpPr>
            <p:cNvPr id="32" name="Group 32"/>
            <p:cNvGrpSpPr/>
            <p:nvPr/>
          </p:nvGrpSpPr>
          <p:grpSpPr>
            <a:xfrm>
              <a:off x="4710112" y="1471612"/>
              <a:ext cx="257175" cy="271463"/>
              <a:chOff x="4710112" y="1471612"/>
              <a:chExt cx="257175" cy="271463"/>
            </a:xfrm>
          </p:grpSpPr>
          <p:sp>
            <p:nvSpPr>
              <p:cNvPr id="24" name="Freeform 24"/>
              <p:cNvSpPr/>
              <p:nvPr/>
            </p:nvSpPr>
            <p:spPr>
              <a:xfrm>
                <a:off x="4752975" y="1471612"/>
                <a:ext cx="171450" cy="171450"/>
              </a:xfrm>
              <a:custGeom>
                <a:avLst/>
                <a:gdLst/>
                <a:ahLst/>
                <a:cxnLst/>
                <a:rect l="l" t="t" r="r" b="b"/>
                <a:pathLst>
                  <a:path w="171450" h="171450">
                    <a:moveTo>
                      <a:pt x="0" y="85725"/>
                    </a:moveTo>
                    <a:cubicBezTo>
                      <a:pt x="0" y="133070"/>
                      <a:pt x="38380" y="171450"/>
                      <a:pt x="85725" y="171450"/>
                    </a:cubicBezTo>
                    <a:cubicBezTo>
                      <a:pt x="133070" y="171450"/>
                      <a:pt x="171450" y="133070"/>
                      <a:pt x="171450" y="85725"/>
                    </a:cubicBezTo>
                    <a:cubicBezTo>
                      <a:pt x="171450" y="38380"/>
                      <a:pt x="133070" y="0"/>
                      <a:pt x="85725" y="0"/>
                    </a:cubicBezTo>
                    <a:cubicBezTo>
                      <a:pt x="38380" y="0"/>
                      <a:pt x="0" y="38380"/>
                      <a:pt x="0" y="85725"/>
                    </a:cubicBezTo>
                  </a:path>
                </a:pathLst>
              </a:custGeom>
              <a:noFill/>
              <a:ln w="19050">
                <a:solidFill>
                  <a:srgbClr val="E9002F"/>
                </a:solidFill>
              </a:ln>
            </p:spPr>
          </p:sp>
          <p:sp>
            <p:nvSpPr>
              <p:cNvPr id="25" name="Freeform 25"/>
              <p:cNvSpPr/>
              <p:nvPr/>
            </p:nvSpPr>
            <p:spPr>
              <a:xfrm>
                <a:off x="4838700" y="1471612"/>
                <a:ext cx="28575" cy="171450"/>
              </a:xfrm>
              <a:custGeom>
                <a:avLst/>
                <a:gdLst/>
                <a:ahLst/>
                <a:cxnLst/>
                <a:rect l="l" t="t" r="r" b="b"/>
                <a:pathLst>
                  <a:path w="28575" h="171450">
                    <a:moveTo>
                      <a:pt x="0" y="0"/>
                    </a:moveTo>
                    <a:cubicBezTo>
                      <a:pt x="19045" y="4758"/>
                      <a:pt x="28575" y="33333"/>
                      <a:pt x="28575" y="85725"/>
                    </a:cubicBezTo>
                    <a:cubicBezTo>
                      <a:pt x="28575" y="138117"/>
                      <a:pt x="19045" y="166692"/>
                      <a:pt x="0" y="171450"/>
                    </a:cubicBezTo>
                  </a:path>
                </a:pathLst>
              </a:custGeom>
              <a:noFill/>
              <a:ln w="19050">
                <a:solidFill>
                  <a:srgbClr val="E9002F"/>
                </a:solidFill>
              </a:ln>
            </p:spPr>
          </p:sp>
          <p:sp>
            <p:nvSpPr>
              <p:cNvPr id="26" name="Freeform 26"/>
              <p:cNvSpPr/>
              <p:nvPr/>
            </p:nvSpPr>
            <p:spPr>
              <a:xfrm>
                <a:off x="4810125" y="1471612"/>
                <a:ext cx="28575" cy="171450"/>
              </a:xfrm>
              <a:custGeom>
                <a:avLst/>
                <a:gdLst/>
                <a:ahLst/>
                <a:cxnLst/>
                <a:rect l="l" t="t" r="r" b="b"/>
                <a:pathLst>
                  <a:path w="28575" h="171450">
                    <a:moveTo>
                      <a:pt x="28575" y="0"/>
                    </a:moveTo>
                    <a:cubicBezTo>
                      <a:pt x="9530" y="4758"/>
                      <a:pt x="0" y="33333"/>
                      <a:pt x="0" y="85725"/>
                    </a:cubicBezTo>
                    <a:cubicBezTo>
                      <a:pt x="0" y="138117"/>
                      <a:pt x="9530" y="166692"/>
                      <a:pt x="28575" y="171450"/>
                    </a:cubicBezTo>
                  </a:path>
                </a:pathLst>
              </a:custGeom>
              <a:noFill/>
              <a:ln w="19050">
                <a:solidFill>
                  <a:srgbClr val="E9002F"/>
                </a:solidFill>
              </a:ln>
            </p:spPr>
          </p:sp>
          <p:sp>
            <p:nvSpPr>
              <p:cNvPr id="27" name="Freeform 27"/>
              <p:cNvSpPr/>
              <p:nvPr/>
            </p:nvSpPr>
            <p:spPr>
              <a:xfrm>
                <a:off x="4752975" y="1557338"/>
                <a:ext cx="171450" cy="9525"/>
              </a:xfrm>
              <a:custGeom>
                <a:avLst/>
                <a:gdLst/>
                <a:ahLst/>
                <a:cxnLst/>
                <a:rect l="l" t="t" r="r" b="b"/>
                <a:pathLst>
                  <a:path w="171450" h="9525">
                    <a:moveTo>
                      <a:pt x="0" y="0"/>
                    </a:moveTo>
                    <a:lnTo>
                      <a:pt x="171450" y="0"/>
                    </a:lnTo>
                  </a:path>
                </a:pathLst>
              </a:custGeom>
              <a:noFill/>
              <a:ln w="19050">
                <a:solidFill>
                  <a:srgbClr val="E9002F"/>
                </a:solidFill>
              </a:ln>
            </p:spPr>
          </p:sp>
          <p:sp>
            <p:nvSpPr>
              <p:cNvPr id="28" name="Freeform 28"/>
              <p:cNvSpPr/>
              <p:nvPr/>
            </p:nvSpPr>
            <p:spPr>
              <a:xfrm>
                <a:off x="4710112" y="1714500"/>
                <a:ext cx="100012" cy="9525"/>
              </a:xfrm>
              <a:custGeom>
                <a:avLst/>
                <a:gdLst/>
                <a:ahLst/>
                <a:cxnLst/>
                <a:rect l="l" t="t" r="r" b="b"/>
                <a:pathLst>
                  <a:path w="100012" h="9525">
                    <a:moveTo>
                      <a:pt x="0" y="0"/>
                    </a:moveTo>
                    <a:lnTo>
                      <a:pt x="100012" y="0"/>
                    </a:lnTo>
                  </a:path>
                </a:pathLst>
              </a:custGeom>
              <a:noFill/>
              <a:ln w="19050">
                <a:solidFill>
                  <a:srgbClr val="E9002F"/>
                </a:solidFill>
              </a:ln>
            </p:spPr>
          </p:sp>
          <p:sp>
            <p:nvSpPr>
              <p:cNvPr id="29" name="Freeform 29"/>
              <p:cNvSpPr/>
              <p:nvPr/>
            </p:nvSpPr>
            <p:spPr>
              <a:xfrm>
                <a:off x="4867275" y="1714500"/>
                <a:ext cx="100012" cy="9525"/>
              </a:xfrm>
              <a:custGeom>
                <a:avLst/>
                <a:gdLst/>
                <a:ahLst/>
                <a:cxnLst/>
                <a:rect l="l" t="t" r="r" b="b"/>
                <a:pathLst>
                  <a:path w="100012" h="9525">
                    <a:moveTo>
                      <a:pt x="0" y="0"/>
                    </a:moveTo>
                    <a:lnTo>
                      <a:pt x="100012" y="0"/>
                    </a:lnTo>
                  </a:path>
                </a:pathLst>
              </a:custGeom>
              <a:noFill/>
              <a:ln w="19050">
                <a:solidFill>
                  <a:srgbClr val="E9002F"/>
                </a:solidFill>
              </a:ln>
            </p:spPr>
          </p:sp>
          <p:sp>
            <p:nvSpPr>
              <p:cNvPr id="30" name="Freeform 30"/>
              <p:cNvSpPr/>
              <p:nvPr/>
            </p:nvSpPr>
            <p:spPr>
              <a:xfrm>
                <a:off x="4810125" y="1685925"/>
                <a:ext cx="57150" cy="57150"/>
              </a:xfrm>
              <a:custGeom>
                <a:avLst/>
                <a:gdLst/>
                <a:ahLst/>
                <a:cxnLst/>
                <a:rect l="l" t="t" r="r" b="b"/>
                <a:pathLst>
                  <a:path w="57150" h="57150">
                    <a:moveTo>
                      <a:pt x="0" y="28575"/>
                    </a:moveTo>
                    <a:cubicBezTo>
                      <a:pt x="0" y="44357"/>
                      <a:pt x="12793" y="57150"/>
                      <a:pt x="28575" y="57150"/>
                    </a:cubicBezTo>
                    <a:cubicBezTo>
                      <a:pt x="44357" y="57150"/>
                      <a:pt x="57150" y="44357"/>
                      <a:pt x="57150" y="28575"/>
                    </a:cubicBezTo>
                    <a:cubicBezTo>
                      <a:pt x="57150" y="12793"/>
                      <a:pt x="44357" y="0"/>
                      <a:pt x="28575" y="0"/>
                    </a:cubicBezTo>
                    <a:cubicBezTo>
                      <a:pt x="12793" y="0"/>
                      <a:pt x="0" y="12793"/>
                      <a:pt x="0" y="28575"/>
                    </a:cubicBezTo>
                  </a:path>
                </a:pathLst>
              </a:custGeom>
              <a:noFill/>
              <a:ln w="19050">
                <a:solidFill>
                  <a:srgbClr val="E9002F"/>
                </a:solidFill>
              </a:ln>
            </p:spPr>
          </p:sp>
          <p:sp>
            <p:nvSpPr>
              <p:cNvPr id="31" name="Freeform 31"/>
              <p:cNvSpPr/>
              <p:nvPr/>
            </p:nvSpPr>
            <p:spPr>
              <a:xfrm>
                <a:off x="4838700" y="1643062"/>
                <a:ext cx="9525" cy="42862"/>
              </a:xfrm>
              <a:custGeom>
                <a:avLst/>
                <a:gdLst/>
                <a:ahLst/>
                <a:cxnLst/>
                <a:rect l="l" t="t" r="r" b="b"/>
                <a:pathLst>
                  <a:path w="9525" h="42862">
                    <a:moveTo>
                      <a:pt x="0" y="0"/>
                    </a:moveTo>
                    <a:lnTo>
                      <a:pt x="0" y="42862"/>
                    </a:lnTo>
                  </a:path>
                </a:pathLst>
              </a:custGeom>
              <a:noFill/>
              <a:ln w="19050">
                <a:solidFill>
                  <a:srgbClr val="E9002F"/>
                </a:solidFill>
              </a:ln>
            </p:spPr>
          </p:sp>
        </p:grpSp>
        <p:sp>
          <p:nvSpPr>
            <p:cNvPr id="33" name="TextBox 33"/>
            <p:cNvSpPr txBox="1"/>
            <p:nvPr/>
          </p:nvSpPr>
          <p:spPr>
            <a:xfrm>
              <a:off x="5097780" y="1514475"/>
              <a:ext cx="429692" cy="293370"/>
            </a:xfrm>
            <a:prstGeom prst="rect">
              <a:avLst/>
            </a:prstGeom>
            <a:noFill/>
            <a:ln>
              <a:noFill/>
            </a:ln>
          </p:spPr>
          <p:txBody>
            <a:bodyPr wrap="none" lIns="0" tIns="0" rIns="0" bIns="0" anchor="t" anchorCtr="0">
              <a:spAutoFit/>
            </a:bodyPr>
            <a:lstStyle/>
            <a:p>
              <a:pPr algn="l"/>
              <a:r>
                <a:rPr lang="en-US" sz="1500" b="1" dirty="0">
                  <a:solidFill>
                    <a:srgbClr val="1D1D1A"/>
                  </a:solidFill>
                  <a:latin typeface="Arial"/>
                  <a:ea typeface="Arial"/>
                  <a:cs typeface="Arial"/>
                </a:rPr>
                <a:t>OEU</a:t>
              </a:r>
            </a:p>
          </p:txBody>
        </p:sp>
        <p:sp>
          <p:nvSpPr>
            <p:cNvPr id="34" name="TextBox 34"/>
            <p:cNvSpPr txBox="1"/>
            <p:nvPr/>
          </p:nvSpPr>
          <p:spPr>
            <a:xfrm>
              <a:off x="4656582" y="1925955"/>
              <a:ext cx="1520083" cy="410718"/>
            </a:xfrm>
            <a:prstGeom prst="rect">
              <a:avLst/>
            </a:prstGeom>
            <a:noFill/>
            <a:ln>
              <a:noFill/>
            </a:ln>
          </p:spPr>
          <p:txBody>
            <a:bodyPr wrap="none" lIns="0" tIns="0" rIns="0" bIns="0" anchor="t" anchorCtr="0">
              <a:spAutoFit/>
            </a:bodyPr>
            <a:lstStyle/>
            <a:p>
              <a:pPr algn="l"/>
              <a:r>
                <a:rPr lang="zh-CN" sz="2100" b="1" dirty="0">
                  <a:solidFill>
                    <a:srgbClr val="1D1D1A"/>
                  </a:solidFill>
                  <a:latin typeface="Arial"/>
                  <a:ea typeface="Microsoft YaHei"/>
                  <a:cs typeface="Arial"/>
                </a:rPr>
                <a:t>约1</a:t>
              </a:r>
              <a:r>
                <a:rPr lang="zh-CN" sz="1200" b="1" dirty="0">
                  <a:solidFill>
                    <a:srgbClr val="1D1D1A"/>
                  </a:solidFill>
                  <a:latin typeface="Arial"/>
                  <a:ea typeface="Microsoft YaHei"/>
                  <a:cs typeface="Arial"/>
                </a:rPr>
                <a:t>亿€/Y（估）</a:t>
              </a:r>
            </a:p>
          </p:txBody>
        </p:sp>
        <p:sp>
          <p:nvSpPr>
            <p:cNvPr id="35" name="TextBox 35"/>
            <p:cNvSpPr txBox="1"/>
            <p:nvPr/>
          </p:nvSpPr>
          <p:spPr>
            <a:xfrm>
              <a:off x="4661154" y="2270760"/>
              <a:ext cx="1317955" cy="234696"/>
            </a:xfrm>
            <a:prstGeom prst="rect">
              <a:avLst/>
            </a:prstGeom>
            <a:noFill/>
            <a:ln>
              <a:noFill/>
            </a:ln>
          </p:spPr>
          <p:txBody>
            <a:bodyPr wrap="none" lIns="0" tIns="0" rIns="0" bIns="0" anchor="t" anchorCtr="0">
              <a:spAutoFit/>
            </a:bodyPr>
            <a:lstStyle/>
            <a:p>
              <a:pPr algn="l"/>
              <a:r>
                <a:rPr lang="zh-CN" sz="1200" dirty="0">
                  <a:solidFill>
                    <a:srgbClr val="5A5852"/>
                  </a:solidFill>
                  <a:latin typeface="Arial"/>
                  <a:ea typeface="Microsoft YaHei"/>
                  <a:cs typeface="Arial"/>
                </a:rPr>
                <a:t>波兰LAN集成能力</a:t>
              </a:r>
            </a:p>
          </p:txBody>
        </p:sp>
        <p:sp>
          <p:nvSpPr>
            <p:cNvPr id="36" name="Rectangle 36"/>
            <p:cNvSpPr/>
            <p:nvPr/>
          </p:nvSpPr>
          <p:spPr>
            <a:xfrm>
              <a:off x="4667250" y="2762250"/>
              <a:ext cx="3048000" cy="133350"/>
            </a:xfrm>
            <a:prstGeom prst="roundRect">
              <a:avLst>
                <a:gd name="adj" fmla="val 50000"/>
              </a:avLst>
            </a:prstGeom>
            <a:solidFill>
              <a:srgbClr val="DDDBD6"/>
            </a:solidFill>
            <a:ln>
              <a:noFill/>
            </a:ln>
          </p:spPr>
        </p:sp>
        <p:sp>
          <p:nvSpPr>
            <p:cNvPr id="37" name="TextBox 37"/>
            <p:cNvSpPr txBox="1"/>
            <p:nvPr/>
          </p:nvSpPr>
          <p:spPr>
            <a:xfrm>
              <a:off x="4661154" y="3070860"/>
              <a:ext cx="1928912" cy="234696"/>
            </a:xfrm>
            <a:prstGeom prst="rect">
              <a:avLst/>
            </a:prstGeom>
            <a:noFill/>
            <a:ln>
              <a:noFill/>
            </a:ln>
          </p:spPr>
          <p:txBody>
            <a:bodyPr wrap="none" lIns="0" tIns="0" rIns="0" bIns="0" anchor="t" anchorCtr="0">
              <a:spAutoFit/>
            </a:bodyPr>
            <a:lstStyle/>
            <a:p>
              <a:pPr algn="l"/>
              <a:r>
                <a:rPr lang="zh-CN" sz="1200" b="1" dirty="0">
                  <a:solidFill>
                    <a:srgbClr val="8A8880"/>
                  </a:solidFill>
                  <a:latin typeface="Arial"/>
                  <a:ea typeface="Microsoft YaHei"/>
                  <a:cs typeface="Arial"/>
                </a:rPr>
                <a:t>华为：法律排除（估0%）</a:t>
              </a:r>
            </a:p>
          </p:txBody>
        </p:sp>
        <p:sp>
          <p:nvSpPr>
            <p:cNvPr id="38" name="TextBox 38"/>
            <p:cNvSpPr txBox="1"/>
            <p:nvPr/>
          </p:nvSpPr>
          <p:spPr>
            <a:xfrm>
              <a:off x="4661154" y="3489960"/>
              <a:ext cx="1215542" cy="234696"/>
            </a:xfrm>
            <a:prstGeom prst="rect">
              <a:avLst/>
            </a:prstGeom>
            <a:noFill/>
            <a:ln>
              <a:noFill/>
            </a:ln>
          </p:spPr>
          <p:txBody>
            <a:bodyPr wrap="none" lIns="0" tIns="0" rIns="0" bIns="0" anchor="t" anchorCtr="0">
              <a:spAutoFit/>
            </a:bodyPr>
            <a:lstStyle/>
            <a:p>
              <a:pPr algn="l"/>
              <a:r>
                <a:rPr lang="zh-CN" sz="1200" dirty="0">
                  <a:solidFill>
                    <a:srgbClr val="5A5852"/>
                  </a:solidFill>
                  <a:latin typeface="Arial"/>
                  <a:ea typeface="Microsoft YaHei"/>
                  <a:cs typeface="Arial"/>
                </a:rPr>
                <a:t>同WAN/RAN环境</a:t>
              </a:r>
            </a:p>
          </p:txBody>
        </p:sp>
      </p:grpSp>
      <p:grpSp>
        <p:nvGrpSpPr>
          <p:cNvPr id="57" name="Group 57"/>
          <p:cNvGrpSpPr/>
          <p:nvPr/>
        </p:nvGrpSpPr>
        <p:grpSpPr>
          <a:xfrm>
            <a:off x="8096250" y="1333500"/>
            <a:ext cx="3333750" cy="3810000"/>
            <a:chOff x="8096250" y="1333500"/>
            <a:chExt cx="3333750" cy="3810000"/>
          </a:xfrm>
        </p:grpSpPr>
        <p:sp>
          <p:nvSpPr>
            <p:cNvPr id="40" name="Rectangle 40"/>
            <p:cNvSpPr/>
            <p:nvPr/>
          </p:nvSpPr>
          <p:spPr>
            <a:xfrm>
              <a:off x="8096250" y="1333500"/>
              <a:ext cx="76200" cy="3810000"/>
            </a:xfrm>
            <a:prstGeom prst="rect">
              <a:avLst/>
            </a:prstGeom>
            <a:solidFill>
              <a:srgbClr val="F4A100"/>
            </a:solidFill>
            <a:ln>
              <a:noFill/>
            </a:ln>
          </p:spPr>
        </p:sp>
        <p:grpSp>
          <p:nvGrpSpPr>
            <p:cNvPr id="49" name="Group 49"/>
            <p:cNvGrpSpPr/>
            <p:nvPr/>
          </p:nvGrpSpPr>
          <p:grpSpPr>
            <a:xfrm>
              <a:off x="8424862" y="1471612"/>
              <a:ext cx="257175" cy="271463"/>
              <a:chOff x="8424862" y="1471612"/>
              <a:chExt cx="257175" cy="271463"/>
            </a:xfrm>
          </p:grpSpPr>
          <p:sp>
            <p:nvSpPr>
              <p:cNvPr id="41" name="Freeform 41"/>
              <p:cNvSpPr/>
              <p:nvPr/>
            </p:nvSpPr>
            <p:spPr>
              <a:xfrm>
                <a:off x="8467725" y="1471612"/>
                <a:ext cx="171450" cy="171450"/>
              </a:xfrm>
              <a:custGeom>
                <a:avLst/>
                <a:gdLst/>
                <a:ahLst/>
                <a:cxnLst/>
                <a:rect l="l" t="t" r="r" b="b"/>
                <a:pathLst>
                  <a:path w="171450" h="171450">
                    <a:moveTo>
                      <a:pt x="0" y="85725"/>
                    </a:moveTo>
                    <a:cubicBezTo>
                      <a:pt x="0" y="133070"/>
                      <a:pt x="38380" y="171450"/>
                      <a:pt x="85725" y="171450"/>
                    </a:cubicBezTo>
                    <a:cubicBezTo>
                      <a:pt x="133070" y="171450"/>
                      <a:pt x="171450" y="133070"/>
                      <a:pt x="171450" y="85725"/>
                    </a:cubicBezTo>
                    <a:cubicBezTo>
                      <a:pt x="171450" y="38380"/>
                      <a:pt x="133070" y="0"/>
                      <a:pt x="85725" y="0"/>
                    </a:cubicBezTo>
                    <a:cubicBezTo>
                      <a:pt x="38380" y="0"/>
                      <a:pt x="0" y="38380"/>
                      <a:pt x="0" y="85725"/>
                    </a:cubicBezTo>
                  </a:path>
                </a:pathLst>
              </a:custGeom>
              <a:noFill/>
              <a:ln w="19050">
                <a:solidFill>
                  <a:srgbClr val="F4A100"/>
                </a:solidFill>
              </a:ln>
            </p:spPr>
          </p:sp>
          <p:sp>
            <p:nvSpPr>
              <p:cNvPr id="42" name="Freeform 42"/>
              <p:cNvSpPr/>
              <p:nvPr/>
            </p:nvSpPr>
            <p:spPr>
              <a:xfrm>
                <a:off x="8553450" y="1471612"/>
                <a:ext cx="28575" cy="171450"/>
              </a:xfrm>
              <a:custGeom>
                <a:avLst/>
                <a:gdLst/>
                <a:ahLst/>
                <a:cxnLst/>
                <a:rect l="l" t="t" r="r" b="b"/>
                <a:pathLst>
                  <a:path w="28575" h="171450">
                    <a:moveTo>
                      <a:pt x="0" y="0"/>
                    </a:moveTo>
                    <a:cubicBezTo>
                      <a:pt x="19045" y="4758"/>
                      <a:pt x="28575" y="33333"/>
                      <a:pt x="28575" y="85725"/>
                    </a:cubicBezTo>
                    <a:cubicBezTo>
                      <a:pt x="28575" y="138117"/>
                      <a:pt x="19045" y="166692"/>
                      <a:pt x="0" y="171450"/>
                    </a:cubicBezTo>
                  </a:path>
                </a:pathLst>
              </a:custGeom>
              <a:noFill/>
              <a:ln w="19050">
                <a:solidFill>
                  <a:srgbClr val="F4A100"/>
                </a:solidFill>
              </a:ln>
            </p:spPr>
          </p:sp>
          <p:sp>
            <p:nvSpPr>
              <p:cNvPr id="43" name="Freeform 43"/>
              <p:cNvSpPr/>
              <p:nvPr/>
            </p:nvSpPr>
            <p:spPr>
              <a:xfrm>
                <a:off x="8524875" y="1471612"/>
                <a:ext cx="28575" cy="171450"/>
              </a:xfrm>
              <a:custGeom>
                <a:avLst/>
                <a:gdLst/>
                <a:ahLst/>
                <a:cxnLst/>
                <a:rect l="l" t="t" r="r" b="b"/>
                <a:pathLst>
                  <a:path w="28575" h="171450">
                    <a:moveTo>
                      <a:pt x="28575" y="0"/>
                    </a:moveTo>
                    <a:cubicBezTo>
                      <a:pt x="9530" y="4758"/>
                      <a:pt x="0" y="33333"/>
                      <a:pt x="0" y="85725"/>
                    </a:cubicBezTo>
                    <a:cubicBezTo>
                      <a:pt x="0" y="138117"/>
                      <a:pt x="9530" y="166692"/>
                      <a:pt x="28575" y="171450"/>
                    </a:cubicBezTo>
                  </a:path>
                </a:pathLst>
              </a:custGeom>
              <a:noFill/>
              <a:ln w="19050">
                <a:solidFill>
                  <a:srgbClr val="F4A100"/>
                </a:solidFill>
              </a:ln>
            </p:spPr>
          </p:sp>
          <p:sp>
            <p:nvSpPr>
              <p:cNvPr id="44" name="Freeform 44"/>
              <p:cNvSpPr/>
              <p:nvPr/>
            </p:nvSpPr>
            <p:spPr>
              <a:xfrm>
                <a:off x="8467725" y="1557338"/>
                <a:ext cx="171450" cy="9525"/>
              </a:xfrm>
              <a:custGeom>
                <a:avLst/>
                <a:gdLst/>
                <a:ahLst/>
                <a:cxnLst/>
                <a:rect l="l" t="t" r="r" b="b"/>
                <a:pathLst>
                  <a:path w="171450" h="9525">
                    <a:moveTo>
                      <a:pt x="0" y="0"/>
                    </a:moveTo>
                    <a:lnTo>
                      <a:pt x="171450" y="0"/>
                    </a:lnTo>
                  </a:path>
                </a:pathLst>
              </a:custGeom>
              <a:noFill/>
              <a:ln w="19050">
                <a:solidFill>
                  <a:srgbClr val="F4A100"/>
                </a:solidFill>
              </a:ln>
            </p:spPr>
          </p:sp>
          <p:sp>
            <p:nvSpPr>
              <p:cNvPr id="45" name="Freeform 45"/>
              <p:cNvSpPr/>
              <p:nvPr/>
            </p:nvSpPr>
            <p:spPr>
              <a:xfrm>
                <a:off x="8424862" y="1714500"/>
                <a:ext cx="100012" cy="9525"/>
              </a:xfrm>
              <a:custGeom>
                <a:avLst/>
                <a:gdLst/>
                <a:ahLst/>
                <a:cxnLst/>
                <a:rect l="l" t="t" r="r" b="b"/>
                <a:pathLst>
                  <a:path w="100012" h="9525">
                    <a:moveTo>
                      <a:pt x="0" y="0"/>
                    </a:moveTo>
                    <a:lnTo>
                      <a:pt x="100012" y="0"/>
                    </a:lnTo>
                  </a:path>
                </a:pathLst>
              </a:custGeom>
              <a:noFill/>
              <a:ln w="19050">
                <a:solidFill>
                  <a:srgbClr val="F4A100"/>
                </a:solidFill>
              </a:ln>
            </p:spPr>
          </p:sp>
          <p:sp>
            <p:nvSpPr>
              <p:cNvPr id="46" name="Freeform 46"/>
              <p:cNvSpPr/>
              <p:nvPr/>
            </p:nvSpPr>
            <p:spPr>
              <a:xfrm>
                <a:off x="8582025" y="1714500"/>
                <a:ext cx="100012" cy="9525"/>
              </a:xfrm>
              <a:custGeom>
                <a:avLst/>
                <a:gdLst/>
                <a:ahLst/>
                <a:cxnLst/>
                <a:rect l="l" t="t" r="r" b="b"/>
                <a:pathLst>
                  <a:path w="100012" h="9525">
                    <a:moveTo>
                      <a:pt x="0" y="0"/>
                    </a:moveTo>
                    <a:lnTo>
                      <a:pt x="100012" y="0"/>
                    </a:lnTo>
                  </a:path>
                </a:pathLst>
              </a:custGeom>
              <a:noFill/>
              <a:ln w="19050">
                <a:solidFill>
                  <a:srgbClr val="F4A100"/>
                </a:solidFill>
              </a:ln>
            </p:spPr>
          </p:sp>
          <p:sp>
            <p:nvSpPr>
              <p:cNvPr id="47" name="Freeform 47"/>
              <p:cNvSpPr/>
              <p:nvPr/>
            </p:nvSpPr>
            <p:spPr>
              <a:xfrm>
                <a:off x="8524875" y="1685925"/>
                <a:ext cx="57150" cy="57150"/>
              </a:xfrm>
              <a:custGeom>
                <a:avLst/>
                <a:gdLst/>
                <a:ahLst/>
                <a:cxnLst/>
                <a:rect l="l" t="t" r="r" b="b"/>
                <a:pathLst>
                  <a:path w="57150" h="57150">
                    <a:moveTo>
                      <a:pt x="0" y="28575"/>
                    </a:moveTo>
                    <a:cubicBezTo>
                      <a:pt x="0" y="44357"/>
                      <a:pt x="12793" y="57150"/>
                      <a:pt x="28575" y="57150"/>
                    </a:cubicBezTo>
                    <a:cubicBezTo>
                      <a:pt x="44357" y="57150"/>
                      <a:pt x="57150" y="44357"/>
                      <a:pt x="57150" y="28575"/>
                    </a:cubicBezTo>
                    <a:cubicBezTo>
                      <a:pt x="57150" y="12793"/>
                      <a:pt x="44357" y="0"/>
                      <a:pt x="28575" y="0"/>
                    </a:cubicBezTo>
                    <a:cubicBezTo>
                      <a:pt x="12793" y="0"/>
                      <a:pt x="0" y="12793"/>
                      <a:pt x="0" y="28575"/>
                    </a:cubicBezTo>
                  </a:path>
                </a:pathLst>
              </a:custGeom>
              <a:noFill/>
              <a:ln w="19050">
                <a:solidFill>
                  <a:srgbClr val="F4A100"/>
                </a:solidFill>
              </a:ln>
            </p:spPr>
          </p:sp>
          <p:sp>
            <p:nvSpPr>
              <p:cNvPr id="48" name="Freeform 48"/>
              <p:cNvSpPr/>
              <p:nvPr/>
            </p:nvSpPr>
            <p:spPr>
              <a:xfrm>
                <a:off x="8553450" y="1643062"/>
                <a:ext cx="9525" cy="42862"/>
              </a:xfrm>
              <a:custGeom>
                <a:avLst/>
                <a:gdLst/>
                <a:ahLst/>
                <a:cxnLst/>
                <a:rect l="l" t="t" r="r" b="b"/>
                <a:pathLst>
                  <a:path w="9525" h="42862">
                    <a:moveTo>
                      <a:pt x="0" y="0"/>
                    </a:moveTo>
                    <a:lnTo>
                      <a:pt x="0" y="42862"/>
                    </a:lnTo>
                  </a:path>
                </a:pathLst>
              </a:custGeom>
              <a:noFill/>
              <a:ln w="19050">
                <a:solidFill>
                  <a:srgbClr val="F4A100"/>
                </a:solidFill>
              </a:ln>
            </p:spPr>
          </p:sp>
        </p:grpSp>
        <p:sp>
          <p:nvSpPr>
            <p:cNvPr id="50" name="TextBox 50"/>
            <p:cNvSpPr txBox="1"/>
            <p:nvPr/>
          </p:nvSpPr>
          <p:spPr>
            <a:xfrm>
              <a:off x="8812530" y="1514475"/>
              <a:ext cx="597713" cy="293370"/>
            </a:xfrm>
            <a:prstGeom prst="rect">
              <a:avLst/>
            </a:prstGeom>
            <a:noFill/>
            <a:ln>
              <a:noFill/>
            </a:ln>
          </p:spPr>
          <p:txBody>
            <a:bodyPr wrap="none" lIns="0" tIns="0" rIns="0" bIns="0" anchor="t" anchorCtr="0">
              <a:spAutoFit/>
            </a:bodyPr>
            <a:lstStyle/>
            <a:p>
              <a:pPr algn="l"/>
              <a:r>
                <a:rPr lang="en-US" sz="1500" b="1" dirty="0">
                  <a:solidFill>
                    <a:srgbClr val="1D1D1A"/>
                  </a:solidFill>
                  <a:latin typeface="Arial"/>
                  <a:ea typeface="Arial"/>
                  <a:cs typeface="Arial"/>
                </a:rPr>
                <a:t>OMEA</a:t>
              </a:r>
            </a:p>
          </p:txBody>
        </p:sp>
        <p:sp>
          <p:nvSpPr>
            <p:cNvPr id="51" name="TextBox 51"/>
            <p:cNvSpPr txBox="1"/>
            <p:nvPr/>
          </p:nvSpPr>
          <p:spPr>
            <a:xfrm>
              <a:off x="8374380" y="1990725"/>
              <a:ext cx="1075372" cy="293370"/>
            </a:xfrm>
            <a:prstGeom prst="rect">
              <a:avLst/>
            </a:prstGeom>
            <a:noFill/>
            <a:ln>
              <a:noFill/>
            </a:ln>
          </p:spPr>
          <p:txBody>
            <a:bodyPr wrap="none" lIns="0" tIns="0" rIns="0" bIns="0" anchor="t" anchorCtr="0">
              <a:spAutoFit/>
            </a:bodyPr>
            <a:lstStyle/>
            <a:p>
              <a:pPr algn="l"/>
              <a:r>
                <a:rPr lang="zh-CN" sz="1500" b="1" dirty="0">
                  <a:solidFill>
                    <a:srgbClr val="1D1D1A"/>
                  </a:solidFill>
                  <a:latin typeface="Arial"/>
                  <a:ea typeface="Microsoft YaHei"/>
                  <a:cs typeface="Arial"/>
                </a:rPr>
                <a:t>非当前重点</a:t>
              </a:r>
            </a:p>
          </p:txBody>
        </p:sp>
        <p:sp>
          <p:nvSpPr>
            <p:cNvPr id="52" name="TextBox 52"/>
            <p:cNvSpPr txBox="1"/>
            <p:nvPr/>
          </p:nvSpPr>
          <p:spPr>
            <a:xfrm>
              <a:off x="8375904" y="2270760"/>
              <a:ext cx="1394765" cy="234696"/>
            </a:xfrm>
            <a:prstGeom prst="rect">
              <a:avLst/>
            </a:prstGeom>
            <a:noFill/>
            <a:ln>
              <a:noFill/>
            </a:ln>
          </p:spPr>
          <p:txBody>
            <a:bodyPr wrap="none" lIns="0" tIns="0" rIns="0" bIns="0" anchor="t" anchorCtr="0">
              <a:spAutoFit/>
            </a:bodyPr>
            <a:lstStyle/>
            <a:p>
              <a:pPr algn="l"/>
              <a:r>
                <a:rPr lang="zh-CN" sz="1200" dirty="0">
                  <a:solidFill>
                    <a:srgbClr val="5A5852"/>
                  </a:solidFill>
                  <a:latin typeface="Arial"/>
                  <a:ea typeface="Microsoft YaHei"/>
                  <a:cs typeface="Arial"/>
                </a:rPr>
                <a:t>随G3计划逐步释放</a:t>
              </a:r>
            </a:p>
          </p:txBody>
        </p:sp>
        <p:sp>
          <p:nvSpPr>
            <p:cNvPr id="53" name="Rectangle 53"/>
            <p:cNvSpPr/>
            <p:nvPr/>
          </p:nvSpPr>
          <p:spPr>
            <a:xfrm>
              <a:off x="8382000" y="2762250"/>
              <a:ext cx="3048000" cy="133350"/>
            </a:xfrm>
            <a:prstGeom prst="roundRect">
              <a:avLst>
                <a:gd name="adj" fmla="val 50000"/>
              </a:avLst>
            </a:prstGeom>
            <a:solidFill>
              <a:srgbClr val="DDDBD6"/>
            </a:solidFill>
            <a:ln>
              <a:noFill/>
            </a:ln>
          </p:spPr>
        </p:sp>
        <p:sp>
          <p:nvSpPr>
            <p:cNvPr id="54" name="Rectangle 54"/>
            <p:cNvSpPr/>
            <p:nvPr/>
          </p:nvSpPr>
          <p:spPr>
            <a:xfrm>
              <a:off x="8382000" y="2762250"/>
              <a:ext cx="914400" cy="133350"/>
            </a:xfrm>
            <a:prstGeom prst="roundRect">
              <a:avLst>
                <a:gd name="adj" fmla="val 50000"/>
              </a:avLst>
            </a:prstGeom>
            <a:solidFill>
              <a:srgbClr val="C7000A"/>
            </a:solidFill>
            <a:ln>
              <a:noFill/>
            </a:ln>
          </p:spPr>
        </p:sp>
        <p:sp>
          <p:nvSpPr>
            <p:cNvPr id="55" name="TextBox 55"/>
            <p:cNvSpPr txBox="1"/>
            <p:nvPr/>
          </p:nvSpPr>
          <p:spPr>
            <a:xfrm>
              <a:off x="8375904" y="3070860"/>
              <a:ext cx="1513340" cy="234696"/>
            </a:xfrm>
            <a:prstGeom prst="rect">
              <a:avLst/>
            </a:prstGeom>
            <a:noFill/>
            <a:ln>
              <a:noFill/>
            </a:ln>
          </p:spPr>
          <p:txBody>
            <a:bodyPr wrap="none" lIns="0" tIns="0" rIns="0" bIns="0" anchor="t" anchorCtr="0">
              <a:spAutoFit/>
            </a:bodyPr>
            <a:lstStyle/>
            <a:p>
              <a:pPr algn="l"/>
              <a:r>
                <a:rPr lang="zh-CN" sz="1200" b="1" dirty="0">
                  <a:solidFill>
                    <a:srgbClr val="C7000A"/>
                  </a:solidFill>
                  <a:latin typeface="Arial"/>
                  <a:ea typeface="Microsoft YaHei"/>
                  <a:cs typeface="Arial"/>
                </a:rPr>
                <a:t>华为：约30%（估）</a:t>
              </a:r>
            </a:p>
          </p:txBody>
        </p:sp>
        <p:sp>
          <p:nvSpPr>
            <p:cNvPr id="56" name="TextBox 56"/>
            <p:cNvSpPr txBox="1"/>
            <p:nvPr/>
          </p:nvSpPr>
          <p:spPr>
            <a:xfrm>
              <a:off x="8375904" y="3489960"/>
              <a:ext cx="1231392" cy="444246"/>
            </a:xfrm>
            <a:prstGeom prst="rect">
              <a:avLst/>
            </a:prstGeom>
            <a:noFill/>
            <a:ln>
              <a:noFill/>
            </a:ln>
          </p:spPr>
          <p:txBody>
            <a:bodyPr wrap="square" lIns="0" tIns="0" rIns="0" bIns="0" anchor="t" anchorCtr="0"/>
            <a:lstStyle/>
            <a:p>
              <a:pPr algn="l">
                <a:lnSpc>
                  <a:spcPts val="1650"/>
                </a:lnSpc>
              </a:pPr>
              <a:r>
                <a:rPr lang="zh-CN" sz="1200" dirty="0">
                  <a:solidFill>
                    <a:srgbClr val="5A5852"/>
                  </a:solidFill>
                  <a:latin typeface="Arial"/>
                  <a:ea typeface="Microsoft YaHei"/>
                  <a:cs typeface="Arial"/>
                </a:rPr>
                <a:t>非洲企业网络设备</a:t>
              </a:r>
              <a:r>
                <a:rPr lang="zh-CN" sz="1200" dirty="0">
                  <a:solidFill>
                    <a:srgbClr val="5A5852"/>
                  </a:solidFill>
                  <a:latin typeface="Arial"/>
                  <a:ea typeface="Microsoft YaHei"/>
                  <a:cs typeface="Arial"/>
                </a:rPr>
                <a:t>市场地位</a:t>
              </a:r>
            </a:p>
          </p:txBody>
        </p:sp>
      </p:grpSp>
      <p:grpSp>
        <p:nvGrpSpPr>
          <p:cNvPr id="60" name="Group 60"/>
          <p:cNvGrpSpPr/>
          <p:nvPr/>
        </p:nvGrpSpPr>
        <p:grpSpPr>
          <a:xfrm>
            <a:off x="666750" y="5524500"/>
            <a:ext cx="11628120" cy="495300"/>
            <a:chOff x="666750" y="5524500"/>
            <a:chExt cx="11628120" cy="495300"/>
          </a:xfrm>
        </p:grpSpPr>
        <p:sp>
          <p:nvSpPr>
            <p:cNvPr id="58" name="Rectangle 58"/>
            <p:cNvSpPr/>
            <p:nvPr/>
          </p:nvSpPr>
          <p:spPr>
            <a:xfrm>
              <a:off x="666750" y="5524500"/>
              <a:ext cx="10858500" cy="495300"/>
            </a:xfrm>
            <a:prstGeom prst="roundRect">
              <a:avLst>
                <a:gd name="adj" fmla="val 15385"/>
              </a:avLst>
            </a:prstGeom>
            <a:solidFill>
              <a:srgbClr val="F7F6F3"/>
            </a:solidFill>
            <a:ln>
              <a:noFill/>
            </a:ln>
          </p:spPr>
        </p:sp>
        <p:sp>
          <p:nvSpPr>
            <p:cNvPr id="59" name="TextBox 59"/>
            <p:cNvSpPr txBox="1"/>
            <p:nvPr/>
          </p:nvSpPr>
          <p:spPr>
            <a:xfrm>
              <a:off x="889254" y="5690235"/>
              <a:ext cx="11405616" cy="234696"/>
            </a:xfrm>
            <a:prstGeom prst="rect">
              <a:avLst/>
            </a:prstGeom>
            <a:noFill/>
            <a:ln>
              <a:noFill/>
            </a:ln>
          </p:spPr>
          <p:txBody>
            <a:bodyPr wrap="none" lIns="0" tIns="0" rIns="0" bIns="0" anchor="t" anchorCtr="0">
              <a:spAutoFit/>
            </a:bodyPr>
            <a:lstStyle/>
            <a:p>
              <a:pPr algn="l"/>
              <a:r>
                <a:rPr lang="zh-CN" sz="1200" dirty="0">
                  <a:solidFill>
                    <a:srgbClr val="1D1D1A"/>
                  </a:solidFill>
                  <a:latin typeface="Arial"/>
                  <a:ea typeface="Microsoft YaHei"/>
                  <a:cs typeface="Arial"/>
                </a:rPr>
                <a:t>这是本次调研</a:t>
              </a:r>
              <a:r>
                <a:rPr lang="zh-CN" sz="1200" b="1" dirty="0">
                  <a:solidFill>
                    <a:srgbClr val="C7000A"/>
                  </a:solidFill>
                  <a:latin typeface="Arial"/>
                  <a:ea typeface="Microsoft YaHei"/>
                  <a:cs typeface="Arial"/>
                </a:rPr>
                <a:t>实证数据最薄弱</a:t>
              </a:r>
              <a:r>
                <a:rPr lang="zh-CN" sz="1200" dirty="0">
                  <a:solidFill>
                    <a:srgbClr val="1D1D1A"/>
                  </a:solidFill>
                  <a:latin typeface="Arial"/>
                  <a:ea typeface="Microsoft YaHei"/>
                  <a:cs typeface="Arial"/>
                </a:rPr>
                <a:t>的维度，OEU/OMEA厂商份额均为模拟估算（估），三区域华为格局趋势一致：法国/欧洲缺席，非洲凭设备优势占约30%</a:t>
              </a:r>
            </a:p>
          </p:txBody>
        </p:sp>
      </p:grpSp>
      <p:grpSp>
        <p:nvGrpSpPr>
          <p:cNvPr id="63" name="Group 63"/>
          <p:cNvGrpSpPr/>
          <p:nvPr/>
        </p:nvGrpSpPr>
        <p:grpSpPr>
          <a:xfrm>
            <a:off x="755904" y="6442710"/>
            <a:ext cx="10680192" cy="234696"/>
            <a:chOff x="755904" y="6442710"/>
            <a:chExt cx="10680192" cy="234696"/>
          </a:xfrm>
        </p:grpSpPr>
        <p:sp>
          <p:nvSpPr>
            <p:cNvPr id="61" name="TextBox 61"/>
            <p:cNvSpPr txBox="1"/>
            <p:nvPr/>
          </p:nvSpPr>
          <p:spPr>
            <a:xfrm>
              <a:off x="755904" y="6442710"/>
              <a:ext cx="5132832" cy="234696"/>
            </a:xfrm>
            <a:prstGeom prst="rect">
              <a:avLst/>
            </a:prstGeom>
            <a:noFill/>
            <a:ln>
              <a:noFill/>
            </a:ln>
          </p:spPr>
          <p:txBody>
            <a:bodyPr wrap="none" lIns="0" tIns="0" rIns="0" bIns="0" anchor="t" anchorCtr="0">
              <a:spAutoFit/>
            </a:bodyPr>
            <a:lstStyle/>
            <a:p>
              <a:pPr algn="l"/>
              <a:r>
                <a:rPr lang="zh-CN" sz="1200" dirty="0">
                  <a:solidFill>
                    <a:srgbClr val="8A8880"/>
                  </a:solidFill>
                  <a:latin typeface="Arial"/>
                  <a:ea typeface="Microsoft YaHei"/>
                  <a:cs typeface="Arial"/>
                </a:rPr>
                <a:t>数据来源：公开市场调研；本页OEU/OMEA数据待后续定向调研补齐</a:t>
              </a:r>
            </a:p>
          </p:txBody>
        </p:sp>
        <p:sp>
          <p:nvSpPr>
            <p:cNvPr id="62" name="TextBox 62"/>
            <p:cNvSpPr txBox="1"/>
            <p:nvPr/>
          </p:nvSpPr>
          <p:spPr>
            <a:xfrm>
              <a:off x="9530080" y="6442710"/>
              <a:ext cx="1906016" cy="234696"/>
            </a:xfrm>
            <a:prstGeom prst="rect">
              <a:avLst/>
            </a:prstGeom>
            <a:noFill/>
            <a:ln>
              <a:noFill/>
            </a:ln>
          </p:spPr>
          <p:txBody>
            <a:bodyPr wrap="none" lIns="0" tIns="0" rIns="0" bIns="0" anchor="t" anchorCtr="0">
              <a:spAutoFit/>
            </a:bodyPr>
            <a:lstStyle/>
            <a:p>
              <a:pPr algn="r"/>
              <a:r>
                <a:rPr lang="en-US" sz="1200" dirty="0">
                  <a:solidFill>
                    <a:srgbClr val="8A8880"/>
                  </a:solidFill>
                  <a:latin typeface="Arial"/>
                  <a:ea typeface="Arial"/>
                  <a:cs typeface="Arial"/>
                </a:rPr>
                <a:t>08 · Huawei Confidential</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745998" y="212408"/>
            <a:ext cx="13692111" cy="616077"/>
            <a:chOff x="745998" y="212408"/>
            <a:chExt cx="13692111" cy="616077"/>
          </a:xfrm>
        </p:grpSpPr>
        <p:sp>
          <p:nvSpPr>
            <p:cNvPr id="3" name="TextBox 3"/>
            <p:cNvSpPr txBox="1"/>
            <p:nvPr/>
          </p:nvSpPr>
          <p:spPr>
            <a:xfrm>
              <a:off x="745998" y="212408"/>
              <a:ext cx="13692111" cy="616077"/>
            </a:xfrm>
            <a:prstGeom prst="rect">
              <a:avLst/>
            </a:prstGeom>
            <a:noFill/>
            <a:ln>
              <a:noFill/>
            </a:ln>
          </p:spPr>
          <p:txBody>
            <a:bodyPr wrap="none" lIns="0" tIns="0" rIns="0" bIns="0" anchor="t" anchorCtr="0">
              <a:spAutoFit/>
            </a:bodyPr>
            <a:lstStyle/>
            <a:p>
              <a:pPr algn="l"/>
              <a:r>
                <a:rPr lang="zh-CN" sz="3150" b="1" dirty="0">
                  <a:solidFill>
                    <a:srgbClr val="1D1D1A"/>
                  </a:solidFill>
                  <a:latin typeface="Arial"/>
                  <a:ea typeface="Microsoft YaHei"/>
                  <a:cs typeface="Arial"/>
                </a:rPr>
                <a:t>云服务是华为最深的存量锚点——Flexible Engine同时支撑OB与OMEA</a:t>
              </a:r>
            </a:p>
          </p:txBody>
        </p:sp>
        <p:sp>
          <p:nvSpPr>
            <p:cNvPr id="4" name="Line 4"/>
            <p:cNvSpPr/>
            <p:nvPr/>
          </p:nvSpPr>
          <p:spPr>
            <a:xfrm>
              <a:off x="762000" y="781050"/>
              <a:ext cx="10668000" cy="9525"/>
            </a:xfrm>
            <a:custGeom>
              <a:avLst/>
              <a:gdLst/>
              <a:ahLst/>
              <a:cxnLst/>
              <a:rect l="l" t="t" r="r" b="b"/>
              <a:pathLst>
                <a:path w="10668000" h="9525">
                  <a:moveTo>
                    <a:pt x="0" y="0"/>
                  </a:moveTo>
                  <a:lnTo>
                    <a:pt x="10668000" y="0"/>
                  </a:lnTo>
                </a:path>
              </a:pathLst>
            </a:custGeom>
            <a:noFill/>
            <a:ln w="9525">
              <a:solidFill>
                <a:srgbClr val="DDDBD6"/>
              </a:solidFill>
            </a:ln>
          </p:spPr>
        </p:sp>
      </p:grpSp>
      <p:grpSp>
        <p:nvGrpSpPr>
          <p:cNvPr id="18" name="Group 18"/>
          <p:cNvGrpSpPr/>
          <p:nvPr/>
        </p:nvGrpSpPr>
        <p:grpSpPr>
          <a:xfrm>
            <a:off x="619125" y="1238250"/>
            <a:ext cx="3476625" cy="4572000"/>
            <a:chOff x="619125" y="1238250"/>
            <a:chExt cx="3476625" cy="4572000"/>
          </a:xfrm>
        </p:grpSpPr>
        <p:sp>
          <p:nvSpPr>
            <p:cNvPr id="6" name="Rectangle 6"/>
            <p:cNvSpPr/>
            <p:nvPr/>
          </p:nvSpPr>
          <p:spPr>
            <a:xfrm>
              <a:off x="666750" y="1238250"/>
              <a:ext cx="3429000" cy="4572000"/>
            </a:xfrm>
            <a:prstGeom prst="roundRect">
              <a:avLst>
                <a:gd name="adj" fmla="val 3333"/>
              </a:avLst>
            </a:prstGeom>
            <a:solidFill>
              <a:srgbClr val="F7F6F3"/>
            </a:solidFill>
            <a:ln>
              <a:noFill/>
            </a:ln>
          </p:spPr>
        </p:sp>
        <p:sp>
          <p:nvSpPr>
            <p:cNvPr id="7" name="Freeform 7"/>
            <p:cNvSpPr/>
            <p:nvPr/>
          </p:nvSpPr>
          <p:spPr>
            <a:xfrm>
              <a:off x="619125" y="1238250"/>
              <a:ext cx="2286000" cy="762000"/>
            </a:xfrm>
            <a:custGeom>
              <a:avLst/>
              <a:gdLst/>
              <a:ahLst/>
              <a:cxnLst/>
              <a:rect l="l" t="t" r="r" b="b"/>
              <a:pathLst>
                <a:path w="2286000" h="762000">
                  <a:moveTo>
                    <a:pt x="1428750" y="0"/>
                  </a:moveTo>
                  <a:lnTo>
                    <a:pt x="2095500" y="0"/>
                  </a:lnTo>
                  <a:cubicBezTo>
                    <a:pt x="2200710" y="0"/>
                    <a:pt x="2286000" y="85290"/>
                    <a:pt x="2286000" y="190500"/>
                  </a:cubicBezTo>
                  <a:lnTo>
                    <a:pt x="2286000" y="762000"/>
                  </a:lnTo>
                  <a:lnTo>
                    <a:pt x="0" y="762000"/>
                  </a:lnTo>
                  <a:lnTo>
                    <a:pt x="0" y="190500"/>
                  </a:lnTo>
                  <a:cubicBezTo>
                    <a:pt x="0" y="85290"/>
                    <a:pt x="85290" y="0"/>
                    <a:pt x="190500" y="0"/>
                  </a:cubicBezTo>
                  <a:close/>
                </a:path>
              </a:pathLst>
            </a:custGeom>
            <a:solidFill>
              <a:srgbClr val="C7000A"/>
            </a:solidFill>
            <a:ln>
              <a:noFill/>
            </a:ln>
          </p:spPr>
        </p:sp>
        <p:sp>
          <p:nvSpPr>
            <p:cNvPr id="8" name="Freeform 8"/>
            <p:cNvSpPr/>
            <p:nvPr/>
          </p:nvSpPr>
          <p:spPr>
            <a:xfrm>
              <a:off x="2222500" y="1503204"/>
              <a:ext cx="317501" cy="211360"/>
            </a:xfrm>
            <a:custGeom>
              <a:avLst/>
              <a:gdLst/>
              <a:ahLst/>
              <a:cxnLst/>
              <a:rect l="l" t="t" r="r" b="b"/>
              <a:pathLst>
                <a:path w="317501" h="211360">
                  <a:moveTo>
                    <a:pt x="73930" y="211297"/>
                  </a:moveTo>
                  <a:cubicBezTo>
                    <a:pt x="33099" y="211297"/>
                    <a:pt x="0" y="179435"/>
                    <a:pt x="0" y="140129"/>
                  </a:cubicBezTo>
                  <a:cubicBezTo>
                    <a:pt x="0" y="100838"/>
                    <a:pt x="33099" y="68977"/>
                    <a:pt x="73930" y="68977"/>
                  </a:cubicBezTo>
                  <a:cubicBezTo>
                    <a:pt x="80169" y="41005"/>
                    <a:pt x="102410" y="18177"/>
                    <a:pt x="132271" y="9081"/>
                  </a:cubicBezTo>
                  <a:cubicBezTo>
                    <a:pt x="162116" y="0"/>
                    <a:pt x="195072" y="6017"/>
                    <a:pt x="218694" y="24956"/>
                  </a:cubicBezTo>
                  <a:cubicBezTo>
                    <a:pt x="242316" y="43847"/>
                    <a:pt x="253016" y="72692"/>
                    <a:pt x="246793" y="100664"/>
                  </a:cubicBezTo>
                  <a:lnTo>
                    <a:pt x="262510" y="100664"/>
                  </a:lnTo>
                  <a:cubicBezTo>
                    <a:pt x="292878" y="100664"/>
                    <a:pt x="317501" y="125429"/>
                    <a:pt x="317501" y="156004"/>
                  </a:cubicBezTo>
                  <a:cubicBezTo>
                    <a:pt x="317501" y="186595"/>
                    <a:pt x="292878" y="211360"/>
                    <a:pt x="262494" y="211360"/>
                  </a:cubicBezTo>
                  <a:lnTo>
                    <a:pt x="73930" y="211360"/>
                  </a:lnTo>
                </a:path>
              </a:pathLst>
            </a:custGeom>
            <a:noFill/>
            <a:ln w="19050">
              <a:solidFill>
                <a:srgbClr val="FFFFFF"/>
              </a:solidFill>
            </a:ln>
          </p:spPr>
        </p:sp>
        <p:sp>
          <p:nvSpPr>
            <p:cNvPr id="9" name="TextBox 9"/>
            <p:cNvSpPr txBox="1"/>
            <p:nvPr/>
          </p:nvSpPr>
          <p:spPr>
            <a:xfrm>
              <a:off x="2481461" y="1778318"/>
              <a:ext cx="27582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Arial"/>
                  <a:ea typeface="Arial"/>
                  <a:cs typeface="Arial"/>
                </a:rPr>
                <a:t>OB</a:t>
              </a:r>
            </a:p>
          </p:txBody>
        </p:sp>
        <p:sp>
          <p:nvSpPr>
            <p:cNvPr id="10" name="Rectangle 10"/>
            <p:cNvSpPr/>
            <p:nvPr/>
          </p:nvSpPr>
          <p:spPr>
            <a:xfrm>
              <a:off x="857250" y="2190750"/>
              <a:ext cx="3048000" cy="3429000"/>
            </a:xfrm>
            <a:prstGeom prst="roundRect">
              <a:avLst>
                <a:gd name="adj" fmla="val 3125"/>
              </a:avLst>
            </a:prstGeom>
            <a:solidFill>
              <a:srgbClr val="FFFFFF"/>
            </a:solidFill>
            <a:ln>
              <a:noFill/>
            </a:ln>
          </p:spPr>
        </p:sp>
        <p:sp>
          <p:nvSpPr>
            <p:cNvPr id="11" name="TextBox 11"/>
            <p:cNvSpPr txBox="1"/>
            <p:nvPr/>
          </p:nvSpPr>
          <p:spPr>
            <a:xfrm>
              <a:off x="1037082" y="2345055"/>
              <a:ext cx="1820281" cy="410718"/>
            </a:xfrm>
            <a:prstGeom prst="rect">
              <a:avLst/>
            </a:prstGeom>
            <a:noFill/>
            <a:ln>
              <a:noFill/>
            </a:ln>
          </p:spPr>
          <p:txBody>
            <a:bodyPr wrap="none" lIns="0" tIns="0" rIns="0" bIns="0" anchor="t" anchorCtr="0">
              <a:spAutoFit/>
            </a:bodyPr>
            <a:lstStyle/>
            <a:p>
              <a:pPr algn="l"/>
              <a:r>
                <a:rPr lang="zh-CN" sz="2100" b="1" dirty="0">
                  <a:solidFill>
                    <a:srgbClr val="1D1D1A"/>
                  </a:solidFill>
                  <a:latin typeface="Arial"/>
                  <a:ea typeface="Microsoft YaHei"/>
                  <a:cs typeface="Arial"/>
                </a:rPr>
                <a:t>约650</a:t>
              </a:r>
              <a:r>
                <a:rPr lang="zh-CN" sz="1200" b="1" dirty="0">
                  <a:solidFill>
                    <a:srgbClr val="1D1D1A"/>
                  </a:solidFill>
                  <a:latin typeface="Arial"/>
                  <a:ea typeface="Microsoft YaHei"/>
                  <a:cs typeface="Arial"/>
                </a:rPr>
                <a:t>M€/Y（估）</a:t>
              </a:r>
            </a:p>
          </p:txBody>
        </p:sp>
        <p:sp>
          <p:nvSpPr>
            <p:cNvPr id="12" name="TextBox 12"/>
            <p:cNvSpPr txBox="1"/>
            <p:nvPr/>
          </p:nvSpPr>
          <p:spPr>
            <a:xfrm>
              <a:off x="1041654" y="2680335"/>
              <a:ext cx="2352518" cy="234696"/>
            </a:xfrm>
            <a:prstGeom prst="rect">
              <a:avLst/>
            </a:prstGeom>
            <a:noFill/>
            <a:ln>
              <a:noFill/>
            </a:ln>
          </p:spPr>
          <p:txBody>
            <a:bodyPr wrap="none" lIns="0" tIns="0" rIns="0" bIns="0" anchor="t" anchorCtr="0">
              <a:spAutoFit/>
            </a:bodyPr>
            <a:lstStyle/>
            <a:p>
              <a:pPr algn="l"/>
              <a:r>
                <a:rPr lang="zh-CN" sz="1200" dirty="0">
                  <a:solidFill>
                    <a:srgbClr val="5A5852"/>
                  </a:solidFill>
                  <a:latin typeface="Arial"/>
                  <a:ea typeface="Microsoft YaHei"/>
                  <a:cs typeface="Arial"/>
                </a:rPr>
                <a:t>Cloud Avenue+FE+Bleu三层架构</a:t>
              </a:r>
            </a:p>
          </p:txBody>
        </p:sp>
        <p:sp>
          <p:nvSpPr>
            <p:cNvPr id="13" name="Line 13"/>
            <p:cNvSpPr/>
            <p:nvPr/>
          </p:nvSpPr>
          <p:spPr>
            <a:xfrm>
              <a:off x="1047750" y="3000375"/>
              <a:ext cx="2667000" cy="9525"/>
            </a:xfrm>
            <a:custGeom>
              <a:avLst/>
              <a:gdLst/>
              <a:ahLst/>
              <a:cxnLst/>
              <a:rect l="l" t="t" r="r" b="b"/>
              <a:pathLst>
                <a:path w="2667000" h="9525">
                  <a:moveTo>
                    <a:pt x="0" y="0"/>
                  </a:moveTo>
                  <a:lnTo>
                    <a:pt x="2667000" y="0"/>
                  </a:lnTo>
                </a:path>
              </a:pathLst>
            </a:custGeom>
            <a:noFill/>
            <a:ln w="9525">
              <a:solidFill>
                <a:srgbClr val="DDDBD6"/>
              </a:solidFill>
            </a:ln>
          </p:spPr>
        </p:sp>
        <p:sp>
          <p:nvSpPr>
            <p:cNvPr id="14" name="TextBox 14"/>
            <p:cNvSpPr txBox="1"/>
            <p:nvPr/>
          </p:nvSpPr>
          <p:spPr>
            <a:xfrm>
              <a:off x="1041654" y="3156585"/>
              <a:ext cx="690677" cy="234696"/>
            </a:xfrm>
            <a:prstGeom prst="rect">
              <a:avLst/>
            </a:prstGeom>
            <a:noFill/>
            <a:ln>
              <a:noFill/>
            </a:ln>
          </p:spPr>
          <p:txBody>
            <a:bodyPr wrap="none" lIns="0" tIns="0" rIns="0" bIns="0" anchor="t" anchorCtr="0">
              <a:spAutoFit/>
            </a:bodyPr>
            <a:lstStyle/>
            <a:p>
              <a:pPr algn="l"/>
              <a:r>
                <a:rPr lang="zh-CN" sz="1200" b="1" dirty="0">
                  <a:solidFill>
                    <a:srgbClr val="1D1D1A"/>
                  </a:solidFill>
                  <a:latin typeface="Arial"/>
                  <a:ea typeface="Microsoft YaHei"/>
                  <a:cs typeface="Arial"/>
                </a:rPr>
                <a:t>华为角色</a:t>
              </a:r>
            </a:p>
          </p:txBody>
        </p:sp>
        <p:sp>
          <p:nvSpPr>
            <p:cNvPr id="15" name="TextBox 15"/>
            <p:cNvSpPr txBox="1"/>
            <p:nvPr/>
          </p:nvSpPr>
          <p:spPr>
            <a:xfrm>
              <a:off x="1041654" y="3394710"/>
              <a:ext cx="1688592" cy="691896"/>
            </a:xfrm>
            <a:prstGeom prst="rect">
              <a:avLst/>
            </a:prstGeom>
            <a:noFill/>
            <a:ln>
              <a:noFill/>
            </a:ln>
          </p:spPr>
          <p:txBody>
            <a:bodyPr wrap="square" lIns="0" tIns="0" rIns="0" bIns="0" anchor="t" anchorCtr="0"/>
            <a:lstStyle/>
            <a:p>
              <a:pPr algn="l">
                <a:lnSpc>
                  <a:spcPts val="1800"/>
                </a:lnSpc>
              </a:pPr>
              <a:r>
                <a:rPr lang="zh-CN" sz="1200" dirty="0">
                  <a:solidFill>
                    <a:srgbClr val="5A5852"/>
                  </a:solidFill>
                  <a:latin typeface="Arial"/>
                  <a:ea typeface="Microsoft YaHei"/>
                  <a:cs typeface="Arial"/>
                </a:rPr>
                <a:t>Flexible Engine云栈底座</a:t>
              </a:r>
              <a:r>
                <a:rPr lang="zh-CN" sz="1200" dirty="0">
                  <a:solidFill>
                    <a:srgbClr val="5A5852"/>
                  </a:solidFill>
                  <a:latin typeface="Arial"/>
                  <a:ea typeface="Microsoft YaHei"/>
                  <a:cs typeface="Arial"/>
                </a:rPr>
                <a:t>（看不见的底层技术，</a:t>
              </a:r>
              <a:r>
                <a:rPr lang="zh-CN" sz="1200" dirty="0">
                  <a:solidFill>
                    <a:srgbClr val="5A5852"/>
                  </a:solidFill>
                  <a:latin typeface="Arial"/>
                  <a:ea typeface="Microsoft YaHei"/>
                  <a:cs typeface="Arial"/>
                </a:rPr>
                <a:t>非品牌可见）</a:t>
              </a:r>
            </a:p>
          </p:txBody>
        </p:sp>
        <p:sp>
          <p:nvSpPr>
            <p:cNvPr id="16" name="Rectangle 16"/>
            <p:cNvSpPr/>
            <p:nvPr/>
          </p:nvSpPr>
          <p:spPr>
            <a:xfrm>
              <a:off x="1047750" y="4381500"/>
              <a:ext cx="2667000" cy="495300"/>
            </a:xfrm>
            <a:prstGeom prst="roundRect">
              <a:avLst>
                <a:gd name="adj" fmla="val 15385"/>
              </a:avLst>
            </a:prstGeom>
            <a:solidFill>
              <a:srgbClr val="F7F6F3"/>
            </a:solidFill>
            <a:ln w="9525">
              <a:solidFill>
                <a:srgbClr val="C7000A"/>
              </a:solidFill>
            </a:ln>
          </p:spPr>
        </p:sp>
        <p:sp>
          <p:nvSpPr>
            <p:cNvPr id="17" name="TextBox 17"/>
            <p:cNvSpPr txBox="1"/>
            <p:nvPr/>
          </p:nvSpPr>
          <p:spPr>
            <a:xfrm>
              <a:off x="1232154" y="4556760"/>
              <a:ext cx="1304544" cy="234696"/>
            </a:xfrm>
            <a:prstGeom prst="rect">
              <a:avLst/>
            </a:prstGeom>
            <a:noFill/>
            <a:ln>
              <a:noFill/>
            </a:ln>
          </p:spPr>
          <p:txBody>
            <a:bodyPr wrap="none" lIns="0" tIns="0" rIns="0" bIns="0" anchor="t" anchorCtr="0">
              <a:spAutoFit/>
            </a:bodyPr>
            <a:lstStyle/>
            <a:p>
              <a:pPr algn="l"/>
              <a:r>
                <a:rPr lang="zh-CN" sz="1200" dirty="0">
                  <a:solidFill>
                    <a:srgbClr val="1D1D1A"/>
                  </a:solidFill>
                  <a:latin typeface="Arial"/>
                  <a:ea typeface="Microsoft YaHei"/>
                  <a:cs typeface="Arial"/>
                </a:rPr>
                <a:t>看不见的底层技术</a:t>
              </a:r>
            </a:p>
          </p:txBody>
        </p:sp>
      </p:grpSp>
      <p:grpSp>
        <p:nvGrpSpPr>
          <p:cNvPr id="32" name="Group 32"/>
          <p:cNvGrpSpPr/>
          <p:nvPr/>
        </p:nvGrpSpPr>
        <p:grpSpPr>
          <a:xfrm>
            <a:off x="4333875" y="1238250"/>
            <a:ext cx="3476625" cy="4572000"/>
            <a:chOff x="4333875" y="1238250"/>
            <a:chExt cx="3476625" cy="4572000"/>
          </a:xfrm>
        </p:grpSpPr>
        <p:sp>
          <p:nvSpPr>
            <p:cNvPr id="19" name="Rectangle 19"/>
            <p:cNvSpPr/>
            <p:nvPr/>
          </p:nvSpPr>
          <p:spPr>
            <a:xfrm>
              <a:off x="4381500" y="1238250"/>
              <a:ext cx="3429000" cy="4572000"/>
            </a:xfrm>
            <a:prstGeom prst="roundRect">
              <a:avLst>
                <a:gd name="adj" fmla="val 3333"/>
              </a:avLst>
            </a:prstGeom>
            <a:solidFill>
              <a:srgbClr val="F7F6F3"/>
            </a:solidFill>
            <a:ln>
              <a:noFill/>
            </a:ln>
          </p:spPr>
        </p:sp>
        <p:sp>
          <p:nvSpPr>
            <p:cNvPr id="20" name="Freeform 20"/>
            <p:cNvSpPr/>
            <p:nvPr/>
          </p:nvSpPr>
          <p:spPr>
            <a:xfrm>
              <a:off x="4333875" y="1238250"/>
              <a:ext cx="2286000" cy="762000"/>
            </a:xfrm>
            <a:custGeom>
              <a:avLst/>
              <a:gdLst/>
              <a:ahLst/>
              <a:cxnLst/>
              <a:rect l="l" t="t" r="r" b="b"/>
              <a:pathLst>
                <a:path w="2286000" h="762000">
                  <a:moveTo>
                    <a:pt x="1428750" y="0"/>
                  </a:moveTo>
                  <a:lnTo>
                    <a:pt x="2095500" y="0"/>
                  </a:lnTo>
                  <a:cubicBezTo>
                    <a:pt x="2200710" y="0"/>
                    <a:pt x="2286000" y="85290"/>
                    <a:pt x="2286000" y="190500"/>
                  </a:cubicBezTo>
                  <a:lnTo>
                    <a:pt x="2286000" y="762000"/>
                  </a:lnTo>
                  <a:lnTo>
                    <a:pt x="0" y="762000"/>
                  </a:lnTo>
                  <a:lnTo>
                    <a:pt x="0" y="190500"/>
                  </a:lnTo>
                  <a:cubicBezTo>
                    <a:pt x="0" y="85290"/>
                    <a:pt x="85290" y="0"/>
                    <a:pt x="190500" y="0"/>
                  </a:cubicBezTo>
                  <a:close/>
                </a:path>
              </a:pathLst>
            </a:custGeom>
            <a:solidFill>
              <a:srgbClr val="E9002F"/>
            </a:solidFill>
            <a:ln>
              <a:noFill/>
            </a:ln>
          </p:spPr>
        </p:sp>
        <p:sp>
          <p:nvSpPr>
            <p:cNvPr id="21" name="Freeform 21"/>
            <p:cNvSpPr/>
            <p:nvPr/>
          </p:nvSpPr>
          <p:spPr>
            <a:xfrm>
              <a:off x="5937250" y="1503204"/>
              <a:ext cx="317501" cy="211360"/>
            </a:xfrm>
            <a:custGeom>
              <a:avLst/>
              <a:gdLst/>
              <a:ahLst/>
              <a:cxnLst/>
              <a:rect l="l" t="t" r="r" b="b"/>
              <a:pathLst>
                <a:path w="317501" h="211360">
                  <a:moveTo>
                    <a:pt x="73930" y="211297"/>
                  </a:moveTo>
                  <a:cubicBezTo>
                    <a:pt x="33099" y="211297"/>
                    <a:pt x="0" y="179435"/>
                    <a:pt x="0" y="140129"/>
                  </a:cubicBezTo>
                  <a:cubicBezTo>
                    <a:pt x="0" y="100838"/>
                    <a:pt x="33099" y="68977"/>
                    <a:pt x="73930" y="68977"/>
                  </a:cubicBezTo>
                  <a:cubicBezTo>
                    <a:pt x="80169" y="41005"/>
                    <a:pt x="102410" y="18177"/>
                    <a:pt x="132271" y="9081"/>
                  </a:cubicBezTo>
                  <a:cubicBezTo>
                    <a:pt x="162116" y="0"/>
                    <a:pt x="195072" y="6017"/>
                    <a:pt x="218694" y="24956"/>
                  </a:cubicBezTo>
                  <a:cubicBezTo>
                    <a:pt x="242316" y="43847"/>
                    <a:pt x="253016" y="72692"/>
                    <a:pt x="246793" y="100664"/>
                  </a:cubicBezTo>
                  <a:lnTo>
                    <a:pt x="262510" y="100664"/>
                  </a:lnTo>
                  <a:cubicBezTo>
                    <a:pt x="292878" y="100664"/>
                    <a:pt x="317501" y="125429"/>
                    <a:pt x="317501" y="156004"/>
                  </a:cubicBezTo>
                  <a:cubicBezTo>
                    <a:pt x="317501" y="186595"/>
                    <a:pt x="292878" y="211360"/>
                    <a:pt x="262494" y="211360"/>
                  </a:cubicBezTo>
                  <a:lnTo>
                    <a:pt x="73930" y="211360"/>
                  </a:lnTo>
                </a:path>
              </a:pathLst>
            </a:custGeom>
            <a:noFill/>
            <a:ln w="19050">
              <a:solidFill>
                <a:srgbClr val="FFFFFF"/>
              </a:solidFill>
            </a:ln>
          </p:spPr>
        </p:sp>
        <p:sp>
          <p:nvSpPr>
            <p:cNvPr id="22" name="TextBox 22"/>
            <p:cNvSpPr txBox="1"/>
            <p:nvPr/>
          </p:nvSpPr>
          <p:spPr>
            <a:xfrm>
              <a:off x="6140764" y="1778318"/>
              <a:ext cx="386723"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Arial"/>
                  <a:ea typeface="Arial"/>
                  <a:cs typeface="Arial"/>
                </a:rPr>
                <a:t>OEU</a:t>
              </a:r>
            </a:p>
          </p:txBody>
        </p:sp>
        <p:sp>
          <p:nvSpPr>
            <p:cNvPr id="23" name="Rectangle 23"/>
            <p:cNvSpPr/>
            <p:nvPr/>
          </p:nvSpPr>
          <p:spPr>
            <a:xfrm>
              <a:off x="4572000" y="2190750"/>
              <a:ext cx="3048000" cy="3429000"/>
            </a:xfrm>
            <a:prstGeom prst="roundRect">
              <a:avLst>
                <a:gd name="adj" fmla="val 3125"/>
              </a:avLst>
            </a:prstGeom>
            <a:solidFill>
              <a:srgbClr val="FFFFFF"/>
            </a:solidFill>
            <a:ln>
              <a:noFill/>
            </a:ln>
          </p:spPr>
        </p:sp>
        <p:sp>
          <p:nvSpPr>
            <p:cNvPr id="24" name="TextBox 24"/>
            <p:cNvSpPr txBox="1"/>
            <p:nvPr/>
          </p:nvSpPr>
          <p:spPr>
            <a:xfrm>
              <a:off x="4751832" y="2345055"/>
              <a:ext cx="1820281" cy="410718"/>
            </a:xfrm>
            <a:prstGeom prst="rect">
              <a:avLst/>
            </a:prstGeom>
            <a:noFill/>
            <a:ln>
              <a:noFill/>
            </a:ln>
          </p:spPr>
          <p:txBody>
            <a:bodyPr wrap="none" lIns="0" tIns="0" rIns="0" bIns="0" anchor="t" anchorCtr="0">
              <a:spAutoFit/>
            </a:bodyPr>
            <a:lstStyle/>
            <a:p>
              <a:pPr algn="l"/>
              <a:r>
                <a:rPr lang="zh-CN" sz="2100" b="1" dirty="0">
                  <a:solidFill>
                    <a:srgbClr val="1D1D1A"/>
                  </a:solidFill>
                  <a:latin typeface="Arial"/>
                  <a:ea typeface="Microsoft YaHei"/>
                  <a:cs typeface="Arial"/>
                </a:rPr>
                <a:t>约130</a:t>
              </a:r>
              <a:r>
                <a:rPr lang="zh-CN" sz="1200" b="1" dirty="0">
                  <a:solidFill>
                    <a:srgbClr val="1D1D1A"/>
                  </a:solidFill>
                  <a:latin typeface="Arial"/>
                  <a:ea typeface="Microsoft YaHei"/>
                  <a:cs typeface="Arial"/>
                </a:rPr>
                <a:t>M€/Y（估）</a:t>
              </a:r>
            </a:p>
          </p:txBody>
        </p:sp>
        <p:sp>
          <p:nvSpPr>
            <p:cNvPr id="25" name="TextBox 25"/>
            <p:cNvSpPr txBox="1"/>
            <p:nvPr/>
          </p:nvSpPr>
          <p:spPr>
            <a:xfrm>
              <a:off x="4756404" y="2680335"/>
              <a:ext cx="2101992" cy="234696"/>
            </a:xfrm>
            <a:prstGeom prst="rect">
              <a:avLst/>
            </a:prstGeom>
            <a:noFill/>
            <a:ln>
              <a:noFill/>
            </a:ln>
          </p:spPr>
          <p:txBody>
            <a:bodyPr wrap="none" lIns="0" tIns="0" rIns="0" bIns="0" anchor="t" anchorCtr="0">
              <a:spAutoFit/>
            </a:bodyPr>
            <a:lstStyle/>
            <a:p>
              <a:pPr algn="l"/>
              <a:r>
                <a:rPr lang="zh-CN" sz="1200" dirty="0">
                  <a:solidFill>
                    <a:srgbClr val="5A5852"/>
                  </a:solidFill>
                  <a:latin typeface="Arial"/>
                  <a:ea typeface="Microsoft YaHei"/>
                  <a:cs typeface="Arial"/>
                </a:rPr>
                <a:t>占B2B约5%；波兰BlueSoft/</a:t>
              </a:r>
            </a:p>
          </p:txBody>
        </p:sp>
        <p:sp>
          <p:nvSpPr>
            <p:cNvPr id="26" name="TextBox 26"/>
            <p:cNvSpPr txBox="1"/>
            <p:nvPr/>
          </p:nvSpPr>
          <p:spPr>
            <a:xfrm>
              <a:off x="4756404" y="2889885"/>
              <a:ext cx="1662176" cy="234696"/>
            </a:xfrm>
            <a:prstGeom prst="rect">
              <a:avLst/>
            </a:prstGeom>
            <a:noFill/>
            <a:ln>
              <a:noFill/>
            </a:ln>
          </p:spPr>
          <p:txBody>
            <a:bodyPr wrap="none" lIns="0" tIns="0" rIns="0" bIns="0" anchor="t" anchorCtr="0">
              <a:spAutoFit/>
            </a:bodyPr>
            <a:lstStyle/>
            <a:p>
              <a:pPr algn="l"/>
              <a:r>
                <a:rPr lang="zh-CN" sz="1200" dirty="0">
                  <a:solidFill>
                    <a:srgbClr val="5A5852"/>
                  </a:solidFill>
                  <a:latin typeface="Arial"/>
                  <a:ea typeface="Microsoft YaHei"/>
                  <a:cs typeface="Arial"/>
                </a:rPr>
                <a:t>Craftware云集成能力</a:t>
              </a:r>
            </a:p>
          </p:txBody>
        </p:sp>
        <p:sp>
          <p:nvSpPr>
            <p:cNvPr id="27" name="Line 27"/>
            <p:cNvSpPr/>
            <p:nvPr/>
          </p:nvSpPr>
          <p:spPr>
            <a:xfrm>
              <a:off x="4762500" y="3209925"/>
              <a:ext cx="2667000" cy="9525"/>
            </a:xfrm>
            <a:custGeom>
              <a:avLst/>
              <a:gdLst/>
              <a:ahLst/>
              <a:cxnLst/>
              <a:rect l="l" t="t" r="r" b="b"/>
              <a:pathLst>
                <a:path w="2667000" h="9525">
                  <a:moveTo>
                    <a:pt x="0" y="0"/>
                  </a:moveTo>
                  <a:lnTo>
                    <a:pt x="2667000" y="0"/>
                  </a:lnTo>
                </a:path>
              </a:pathLst>
            </a:custGeom>
            <a:noFill/>
            <a:ln w="9525">
              <a:solidFill>
                <a:srgbClr val="DDDBD6"/>
              </a:solidFill>
            </a:ln>
          </p:spPr>
        </p:sp>
        <p:sp>
          <p:nvSpPr>
            <p:cNvPr id="28" name="TextBox 28"/>
            <p:cNvSpPr txBox="1"/>
            <p:nvPr/>
          </p:nvSpPr>
          <p:spPr>
            <a:xfrm>
              <a:off x="4756404" y="3347085"/>
              <a:ext cx="690677" cy="234696"/>
            </a:xfrm>
            <a:prstGeom prst="rect">
              <a:avLst/>
            </a:prstGeom>
            <a:noFill/>
            <a:ln>
              <a:noFill/>
            </a:ln>
          </p:spPr>
          <p:txBody>
            <a:bodyPr wrap="none" lIns="0" tIns="0" rIns="0" bIns="0" anchor="t" anchorCtr="0">
              <a:spAutoFit/>
            </a:bodyPr>
            <a:lstStyle/>
            <a:p>
              <a:pPr algn="l"/>
              <a:r>
                <a:rPr lang="zh-CN" sz="1200" b="1" dirty="0">
                  <a:solidFill>
                    <a:srgbClr val="1D1D1A"/>
                  </a:solidFill>
                  <a:latin typeface="Arial"/>
                  <a:ea typeface="Microsoft YaHei"/>
                  <a:cs typeface="Arial"/>
                </a:rPr>
                <a:t>华为角色</a:t>
              </a:r>
            </a:p>
          </p:txBody>
        </p:sp>
        <p:sp>
          <p:nvSpPr>
            <p:cNvPr id="29" name="TextBox 29"/>
            <p:cNvSpPr txBox="1"/>
            <p:nvPr/>
          </p:nvSpPr>
          <p:spPr>
            <a:xfrm>
              <a:off x="4756404" y="3585210"/>
              <a:ext cx="658368" cy="234696"/>
            </a:xfrm>
            <a:prstGeom prst="rect">
              <a:avLst/>
            </a:prstGeom>
            <a:noFill/>
            <a:ln>
              <a:noFill/>
            </a:ln>
          </p:spPr>
          <p:txBody>
            <a:bodyPr wrap="none" lIns="0" tIns="0" rIns="0" bIns="0" anchor="t" anchorCtr="0">
              <a:spAutoFit/>
            </a:bodyPr>
            <a:lstStyle/>
            <a:p>
              <a:pPr algn="l"/>
              <a:r>
                <a:rPr lang="zh-CN" sz="1200" dirty="0">
                  <a:solidFill>
                    <a:srgbClr val="5A5852"/>
                  </a:solidFill>
                  <a:latin typeface="Arial"/>
                  <a:ea typeface="Microsoft YaHei"/>
                  <a:cs typeface="Arial"/>
                </a:rPr>
                <a:t>未见参与</a:t>
              </a:r>
            </a:p>
          </p:txBody>
        </p:sp>
        <p:sp>
          <p:nvSpPr>
            <p:cNvPr id="30" name="Rectangle 30"/>
            <p:cNvSpPr/>
            <p:nvPr/>
          </p:nvSpPr>
          <p:spPr>
            <a:xfrm>
              <a:off x="4762500" y="4381500"/>
              <a:ext cx="2667000" cy="495300"/>
            </a:xfrm>
            <a:prstGeom prst="roundRect">
              <a:avLst>
                <a:gd name="adj" fmla="val 15385"/>
              </a:avLst>
            </a:prstGeom>
            <a:solidFill>
              <a:srgbClr val="F7F6F3"/>
            </a:solidFill>
            <a:ln w="9525">
              <a:solidFill>
                <a:srgbClr val="E9002F"/>
              </a:solidFill>
            </a:ln>
          </p:spPr>
        </p:sp>
        <p:sp>
          <p:nvSpPr>
            <p:cNvPr id="31" name="TextBox 31"/>
            <p:cNvSpPr txBox="1"/>
            <p:nvPr/>
          </p:nvSpPr>
          <p:spPr>
            <a:xfrm>
              <a:off x="4946904" y="4556760"/>
              <a:ext cx="2032925" cy="234696"/>
            </a:xfrm>
            <a:prstGeom prst="rect">
              <a:avLst/>
            </a:prstGeom>
            <a:noFill/>
            <a:ln>
              <a:noFill/>
            </a:ln>
          </p:spPr>
          <p:txBody>
            <a:bodyPr wrap="none" lIns="0" tIns="0" rIns="0" bIns="0" anchor="t" anchorCtr="0">
              <a:spAutoFit/>
            </a:bodyPr>
            <a:lstStyle/>
            <a:p>
              <a:pPr algn="l"/>
              <a:r>
                <a:rPr lang="zh-CN" sz="1200" dirty="0">
                  <a:solidFill>
                    <a:srgbClr val="1D1D1A"/>
                  </a:solidFill>
                  <a:latin typeface="Arial"/>
                  <a:ea typeface="Microsoft YaHei"/>
                  <a:cs typeface="Arial"/>
                </a:rPr>
                <a:t>MasOrange 5G专网+云关联</a:t>
              </a:r>
            </a:p>
          </p:txBody>
        </p:sp>
      </p:grpSp>
      <p:grpSp>
        <p:nvGrpSpPr>
          <p:cNvPr id="46" name="Group 46"/>
          <p:cNvGrpSpPr/>
          <p:nvPr/>
        </p:nvGrpSpPr>
        <p:grpSpPr>
          <a:xfrm>
            <a:off x="8048625" y="1238250"/>
            <a:ext cx="3637864" cy="4572000"/>
            <a:chOff x="8048625" y="1238250"/>
            <a:chExt cx="3637864" cy="4572000"/>
          </a:xfrm>
        </p:grpSpPr>
        <p:sp>
          <p:nvSpPr>
            <p:cNvPr id="33" name="Rectangle 33"/>
            <p:cNvSpPr/>
            <p:nvPr/>
          </p:nvSpPr>
          <p:spPr>
            <a:xfrm>
              <a:off x="8096250" y="1238250"/>
              <a:ext cx="3429000" cy="4572000"/>
            </a:xfrm>
            <a:prstGeom prst="roundRect">
              <a:avLst>
                <a:gd name="adj" fmla="val 3333"/>
              </a:avLst>
            </a:prstGeom>
            <a:solidFill>
              <a:srgbClr val="F7F6F3"/>
            </a:solidFill>
            <a:ln>
              <a:noFill/>
            </a:ln>
          </p:spPr>
        </p:sp>
        <p:sp>
          <p:nvSpPr>
            <p:cNvPr id="34" name="Freeform 34"/>
            <p:cNvSpPr/>
            <p:nvPr/>
          </p:nvSpPr>
          <p:spPr>
            <a:xfrm>
              <a:off x="8048625" y="1238250"/>
              <a:ext cx="2286000" cy="762000"/>
            </a:xfrm>
            <a:custGeom>
              <a:avLst/>
              <a:gdLst/>
              <a:ahLst/>
              <a:cxnLst/>
              <a:rect l="l" t="t" r="r" b="b"/>
              <a:pathLst>
                <a:path w="2286000" h="762000">
                  <a:moveTo>
                    <a:pt x="1428750" y="0"/>
                  </a:moveTo>
                  <a:lnTo>
                    <a:pt x="2095500" y="0"/>
                  </a:lnTo>
                  <a:cubicBezTo>
                    <a:pt x="2200710" y="0"/>
                    <a:pt x="2286000" y="85290"/>
                    <a:pt x="2286000" y="190500"/>
                  </a:cubicBezTo>
                  <a:lnTo>
                    <a:pt x="2286000" y="762000"/>
                  </a:lnTo>
                  <a:lnTo>
                    <a:pt x="0" y="762000"/>
                  </a:lnTo>
                  <a:lnTo>
                    <a:pt x="0" y="190500"/>
                  </a:lnTo>
                  <a:cubicBezTo>
                    <a:pt x="0" y="85290"/>
                    <a:pt x="85290" y="0"/>
                    <a:pt x="190500" y="0"/>
                  </a:cubicBezTo>
                  <a:close/>
                </a:path>
              </a:pathLst>
            </a:custGeom>
            <a:solidFill>
              <a:srgbClr val="F4A100"/>
            </a:solidFill>
            <a:ln>
              <a:noFill/>
            </a:ln>
          </p:spPr>
        </p:sp>
        <p:sp>
          <p:nvSpPr>
            <p:cNvPr id="35" name="Freeform 35"/>
            <p:cNvSpPr/>
            <p:nvPr/>
          </p:nvSpPr>
          <p:spPr>
            <a:xfrm>
              <a:off x="9652000" y="1503204"/>
              <a:ext cx="317501" cy="211360"/>
            </a:xfrm>
            <a:custGeom>
              <a:avLst/>
              <a:gdLst/>
              <a:ahLst/>
              <a:cxnLst/>
              <a:rect l="l" t="t" r="r" b="b"/>
              <a:pathLst>
                <a:path w="317501" h="211360">
                  <a:moveTo>
                    <a:pt x="73930" y="211297"/>
                  </a:moveTo>
                  <a:cubicBezTo>
                    <a:pt x="33099" y="211297"/>
                    <a:pt x="0" y="179435"/>
                    <a:pt x="0" y="140129"/>
                  </a:cubicBezTo>
                  <a:cubicBezTo>
                    <a:pt x="0" y="100838"/>
                    <a:pt x="33099" y="68977"/>
                    <a:pt x="73930" y="68977"/>
                  </a:cubicBezTo>
                  <a:cubicBezTo>
                    <a:pt x="80169" y="41005"/>
                    <a:pt x="102410" y="18177"/>
                    <a:pt x="132271" y="9081"/>
                  </a:cubicBezTo>
                  <a:cubicBezTo>
                    <a:pt x="162116" y="0"/>
                    <a:pt x="195072" y="6017"/>
                    <a:pt x="218694" y="24956"/>
                  </a:cubicBezTo>
                  <a:cubicBezTo>
                    <a:pt x="242316" y="43847"/>
                    <a:pt x="253016" y="72692"/>
                    <a:pt x="246793" y="100664"/>
                  </a:cubicBezTo>
                  <a:lnTo>
                    <a:pt x="262510" y="100664"/>
                  </a:lnTo>
                  <a:cubicBezTo>
                    <a:pt x="292878" y="100664"/>
                    <a:pt x="317501" y="125429"/>
                    <a:pt x="317501" y="156004"/>
                  </a:cubicBezTo>
                  <a:cubicBezTo>
                    <a:pt x="317501" y="186595"/>
                    <a:pt x="292878" y="211360"/>
                    <a:pt x="262494" y="211360"/>
                  </a:cubicBezTo>
                  <a:lnTo>
                    <a:pt x="73930" y="211360"/>
                  </a:lnTo>
                </a:path>
              </a:pathLst>
            </a:custGeom>
            <a:noFill/>
            <a:ln w="19050">
              <a:solidFill>
                <a:srgbClr val="FFFFFF"/>
              </a:solidFill>
            </a:ln>
          </p:spPr>
        </p:sp>
        <p:sp>
          <p:nvSpPr>
            <p:cNvPr id="36" name="TextBox 36"/>
            <p:cNvSpPr txBox="1"/>
            <p:nvPr/>
          </p:nvSpPr>
          <p:spPr>
            <a:xfrm>
              <a:off x="9779904" y="1778318"/>
              <a:ext cx="537942"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Arial"/>
                  <a:ea typeface="Arial"/>
                  <a:cs typeface="Arial"/>
                </a:rPr>
                <a:t>OMEA</a:t>
              </a:r>
            </a:p>
          </p:txBody>
        </p:sp>
        <p:sp>
          <p:nvSpPr>
            <p:cNvPr id="37" name="Rectangle 37"/>
            <p:cNvSpPr/>
            <p:nvPr/>
          </p:nvSpPr>
          <p:spPr>
            <a:xfrm>
              <a:off x="8286750" y="2190750"/>
              <a:ext cx="3048000" cy="3429000"/>
            </a:xfrm>
            <a:prstGeom prst="roundRect">
              <a:avLst>
                <a:gd name="adj" fmla="val 3125"/>
              </a:avLst>
            </a:prstGeom>
            <a:solidFill>
              <a:srgbClr val="FFFFFF"/>
            </a:solidFill>
            <a:ln>
              <a:noFill/>
            </a:ln>
          </p:spPr>
        </p:sp>
        <p:sp>
          <p:nvSpPr>
            <p:cNvPr id="38" name="TextBox 38"/>
            <p:cNvSpPr txBox="1"/>
            <p:nvPr/>
          </p:nvSpPr>
          <p:spPr>
            <a:xfrm>
              <a:off x="8466582" y="2345055"/>
              <a:ext cx="1647779" cy="410718"/>
            </a:xfrm>
            <a:prstGeom prst="rect">
              <a:avLst/>
            </a:prstGeom>
            <a:noFill/>
            <a:ln>
              <a:noFill/>
            </a:ln>
          </p:spPr>
          <p:txBody>
            <a:bodyPr wrap="none" lIns="0" tIns="0" rIns="0" bIns="0" anchor="t" anchorCtr="0">
              <a:spAutoFit/>
            </a:bodyPr>
            <a:lstStyle/>
            <a:p>
              <a:pPr algn="l"/>
              <a:r>
                <a:rPr lang="zh-CN" sz="2100" b="1" dirty="0">
                  <a:solidFill>
                    <a:srgbClr val="1D1D1A"/>
                  </a:solidFill>
                  <a:latin typeface="Arial"/>
                  <a:ea typeface="Microsoft YaHei"/>
                  <a:cs typeface="Arial"/>
                </a:rPr>
                <a:t>约40</a:t>
              </a:r>
              <a:r>
                <a:rPr lang="zh-CN" sz="1200" b="1" dirty="0">
                  <a:solidFill>
                    <a:srgbClr val="1D1D1A"/>
                  </a:solidFill>
                  <a:latin typeface="Arial"/>
                  <a:ea typeface="Microsoft YaHei"/>
                  <a:cs typeface="Arial"/>
                </a:rPr>
                <a:t>M€/Y（估）</a:t>
              </a:r>
            </a:p>
          </p:txBody>
        </p:sp>
        <p:sp>
          <p:nvSpPr>
            <p:cNvPr id="39" name="TextBox 39"/>
            <p:cNvSpPr txBox="1"/>
            <p:nvPr/>
          </p:nvSpPr>
          <p:spPr>
            <a:xfrm>
              <a:off x="8471154" y="2680335"/>
              <a:ext cx="1477845" cy="234696"/>
            </a:xfrm>
            <a:prstGeom prst="rect">
              <a:avLst/>
            </a:prstGeom>
            <a:noFill/>
            <a:ln>
              <a:noFill/>
            </a:ln>
          </p:spPr>
          <p:txBody>
            <a:bodyPr wrap="none" lIns="0" tIns="0" rIns="0" bIns="0" anchor="t" anchorCtr="0">
              <a:spAutoFit/>
            </a:bodyPr>
            <a:lstStyle/>
            <a:p>
              <a:pPr algn="l"/>
              <a:r>
                <a:rPr lang="zh-CN" sz="1200" dirty="0">
                  <a:solidFill>
                    <a:srgbClr val="5A5852"/>
                  </a:solidFill>
                  <a:latin typeface="Arial"/>
                  <a:ea typeface="Microsoft YaHei"/>
                  <a:cs typeface="Arial"/>
                </a:rPr>
                <a:t>同源Flexible Engine</a:t>
              </a:r>
            </a:p>
          </p:txBody>
        </p:sp>
        <p:sp>
          <p:nvSpPr>
            <p:cNvPr id="40" name="Line 40"/>
            <p:cNvSpPr/>
            <p:nvPr/>
          </p:nvSpPr>
          <p:spPr>
            <a:xfrm>
              <a:off x="8477250" y="3000375"/>
              <a:ext cx="2667000" cy="9525"/>
            </a:xfrm>
            <a:custGeom>
              <a:avLst/>
              <a:gdLst/>
              <a:ahLst/>
              <a:cxnLst/>
              <a:rect l="l" t="t" r="r" b="b"/>
              <a:pathLst>
                <a:path w="2667000" h="9525">
                  <a:moveTo>
                    <a:pt x="0" y="0"/>
                  </a:moveTo>
                  <a:lnTo>
                    <a:pt x="2667000" y="0"/>
                  </a:lnTo>
                </a:path>
              </a:pathLst>
            </a:custGeom>
            <a:noFill/>
            <a:ln w="9525">
              <a:solidFill>
                <a:srgbClr val="DDDBD6"/>
              </a:solidFill>
            </a:ln>
          </p:spPr>
        </p:sp>
        <p:sp>
          <p:nvSpPr>
            <p:cNvPr id="41" name="TextBox 41"/>
            <p:cNvSpPr txBox="1"/>
            <p:nvPr/>
          </p:nvSpPr>
          <p:spPr>
            <a:xfrm>
              <a:off x="8471154" y="3156585"/>
              <a:ext cx="690677" cy="234696"/>
            </a:xfrm>
            <a:prstGeom prst="rect">
              <a:avLst/>
            </a:prstGeom>
            <a:noFill/>
            <a:ln>
              <a:noFill/>
            </a:ln>
          </p:spPr>
          <p:txBody>
            <a:bodyPr wrap="none" lIns="0" tIns="0" rIns="0" bIns="0" anchor="t" anchorCtr="0">
              <a:spAutoFit/>
            </a:bodyPr>
            <a:lstStyle/>
            <a:p>
              <a:pPr algn="l"/>
              <a:r>
                <a:rPr lang="zh-CN" sz="1200" b="1" dirty="0">
                  <a:solidFill>
                    <a:srgbClr val="1D1D1A"/>
                  </a:solidFill>
                  <a:latin typeface="Arial"/>
                  <a:ea typeface="Microsoft YaHei"/>
                  <a:cs typeface="Arial"/>
                </a:rPr>
                <a:t>华为角色</a:t>
              </a:r>
            </a:p>
          </p:txBody>
        </p:sp>
        <p:sp>
          <p:nvSpPr>
            <p:cNvPr id="42" name="TextBox 42"/>
            <p:cNvSpPr txBox="1"/>
            <p:nvPr/>
          </p:nvSpPr>
          <p:spPr>
            <a:xfrm>
              <a:off x="8471154" y="3394710"/>
              <a:ext cx="1620012" cy="691896"/>
            </a:xfrm>
            <a:prstGeom prst="rect">
              <a:avLst/>
            </a:prstGeom>
            <a:noFill/>
            <a:ln>
              <a:noFill/>
            </a:ln>
          </p:spPr>
          <p:txBody>
            <a:bodyPr wrap="square" lIns="0" tIns="0" rIns="0" bIns="0" anchor="t" anchorCtr="0"/>
            <a:lstStyle/>
            <a:p>
              <a:pPr algn="l">
                <a:lnSpc>
                  <a:spcPts val="1800"/>
                </a:lnSpc>
              </a:pPr>
              <a:r>
                <a:rPr lang="en-US" sz="1200" b="1" dirty="0">
                  <a:solidFill>
                    <a:srgbClr val="C7000A"/>
                  </a:solidFill>
                  <a:latin typeface="Arial"/>
                  <a:ea typeface="Arial"/>
                  <a:cs typeface="Arial"/>
                </a:rPr>
                <a:t>AUTIN</a:t>
              </a:r>
              <a:r>
                <a:rPr lang="zh-CN" sz="1200" dirty="0">
                  <a:solidFill>
                    <a:srgbClr val="5A5852"/>
                  </a:solidFill>
                  <a:latin typeface="Arial"/>
                  <a:ea typeface="Microsoft YaHei"/>
                  <a:cs typeface="Arial"/>
                </a:rPr>
                <a:t>智能运维系统</a:t>
              </a:r>
              <a:r>
                <a:rPr lang="zh-CN" sz="1200" dirty="0">
                  <a:solidFill>
                    <a:srgbClr val="5A5852"/>
                  </a:solidFill>
                  <a:latin typeface="Arial"/>
                  <a:ea typeface="Microsoft YaHei"/>
                  <a:cs typeface="Arial"/>
                </a:rPr>
                <a:t>直接部署，服务达喀尔+</a:t>
              </a:r>
              <a:r>
                <a:rPr lang="zh-CN" sz="1200" dirty="0">
                  <a:solidFill>
                    <a:srgbClr val="5A5852"/>
                  </a:solidFill>
                  <a:latin typeface="Arial"/>
                  <a:ea typeface="Microsoft YaHei"/>
                  <a:cs typeface="Arial"/>
                </a:rPr>
                <a:t>阿比让双活GNOC运维</a:t>
              </a:r>
            </a:p>
          </p:txBody>
        </p:sp>
        <p:sp>
          <p:nvSpPr>
            <p:cNvPr id="43" name="Rectangle 43"/>
            <p:cNvSpPr/>
            <p:nvPr/>
          </p:nvSpPr>
          <p:spPr>
            <a:xfrm>
              <a:off x="8477250" y="4381500"/>
              <a:ext cx="2667000" cy="666750"/>
            </a:xfrm>
            <a:prstGeom prst="roundRect">
              <a:avLst>
                <a:gd name="adj" fmla="val 11429"/>
              </a:avLst>
            </a:prstGeom>
            <a:solidFill>
              <a:srgbClr val="F7F6F3"/>
            </a:solidFill>
            <a:ln w="9525">
              <a:solidFill>
                <a:srgbClr val="F4A100"/>
              </a:solidFill>
            </a:ln>
          </p:spPr>
        </p:sp>
        <p:sp>
          <p:nvSpPr>
            <p:cNvPr id="44" name="TextBox 44"/>
            <p:cNvSpPr txBox="1"/>
            <p:nvPr/>
          </p:nvSpPr>
          <p:spPr>
            <a:xfrm>
              <a:off x="8661654" y="4499610"/>
              <a:ext cx="1482242" cy="234696"/>
            </a:xfrm>
            <a:prstGeom prst="rect">
              <a:avLst/>
            </a:prstGeom>
            <a:noFill/>
            <a:ln>
              <a:noFill/>
            </a:ln>
          </p:spPr>
          <p:txBody>
            <a:bodyPr wrap="none" lIns="0" tIns="0" rIns="0" bIns="0" anchor="t" anchorCtr="0">
              <a:spAutoFit/>
            </a:bodyPr>
            <a:lstStyle/>
            <a:p>
              <a:pPr algn="l"/>
              <a:r>
                <a:rPr lang="zh-CN" sz="1200" dirty="0">
                  <a:solidFill>
                    <a:srgbClr val="1D1D1A"/>
                  </a:solidFill>
                  <a:latin typeface="Arial"/>
                  <a:ea typeface="Microsoft YaHei"/>
                  <a:cs typeface="Arial"/>
                </a:rPr>
                <a:t>从"底层技术"升级为</a:t>
              </a:r>
            </a:p>
          </p:txBody>
        </p:sp>
        <p:sp>
          <p:nvSpPr>
            <p:cNvPr id="45" name="TextBox 45"/>
            <p:cNvSpPr txBox="1"/>
            <p:nvPr/>
          </p:nvSpPr>
          <p:spPr>
            <a:xfrm>
              <a:off x="8661654" y="4709160"/>
              <a:ext cx="3024835" cy="234696"/>
            </a:xfrm>
            <a:prstGeom prst="rect">
              <a:avLst/>
            </a:prstGeom>
            <a:noFill/>
            <a:ln>
              <a:noFill/>
            </a:ln>
          </p:spPr>
          <p:txBody>
            <a:bodyPr wrap="none" lIns="0" tIns="0" rIns="0" bIns="0" anchor="t" anchorCtr="0">
              <a:spAutoFit/>
            </a:bodyPr>
            <a:lstStyle/>
            <a:p>
              <a:pPr algn="l"/>
              <a:r>
                <a:rPr lang="zh-CN" sz="1200" dirty="0">
                  <a:solidFill>
                    <a:srgbClr val="1D1D1A"/>
                  </a:solidFill>
                  <a:latin typeface="Arial"/>
                  <a:ea typeface="Microsoft YaHei"/>
                  <a:cs typeface="Arial"/>
                </a:rPr>
                <a:t>"看得见的联合运维平台"（RUN OMEA）</a:t>
              </a:r>
            </a:p>
          </p:txBody>
        </p:sp>
      </p:grpSp>
      <p:grpSp>
        <p:nvGrpSpPr>
          <p:cNvPr id="49" name="Group 49"/>
          <p:cNvGrpSpPr/>
          <p:nvPr/>
        </p:nvGrpSpPr>
        <p:grpSpPr>
          <a:xfrm>
            <a:off x="755904" y="6537960"/>
            <a:ext cx="10680192" cy="234696"/>
            <a:chOff x="755904" y="6537960"/>
            <a:chExt cx="10680192" cy="234696"/>
          </a:xfrm>
        </p:grpSpPr>
        <p:sp>
          <p:nvSpPr>
            <p:cNvPr id="47" name="TextBox 47"/>
            <p:cNvSpPr txBox="1"/>
            <p:nvPr/>
          </p:nvSpPr>
          <p:spPr>
            <a:xfrm>
              <a:off x="755904" y="6537960"/>
              <a:ext cx="5842864" cy="234696"/>
            </a:xfrm>
            <a:prstGeom prst="rect">
              <a:avLst/>
            </a:prstGeom>
            <a:noFill/>
            <a:ln>
              <a:noFill/>
            </a:ln>
          </p:spPr>
          <p:txBody>
            <a:bodyPr wrap="none" lIns="0" tIns="0" rIns="0" bIns="0" anchor="t" anchorCtr="0">
              <a:spAutoFit/>
            </a:bodyPr>
            <a:lstStyle/>
            <a:p>
              <a:pPr algn="l"/>
              <a:r>
                <a:rPr lang="zh-CN" sz="1200" dirty="0">
                  <a:solidFill>
                    <a:srgbClr val="8A8880"/>
                  </a:solidFill>
                  <a:latin typeface="Arial"/>
                  <a:ea typeface="Microsoft YaHei"/>
                  <a:cs typeface="Arial"/>
                </a:rPr>
                <a:t>数据来源：Orange集团公开披露、OMEA战略材料；规模均为估算，无独立披露</a:t>
              </a:r>
            </a:p>
          </p:txBody>
        </p:sp>
        <p:sp>
          <p:nvSpPr>
            <p:cNvPr id="48" name="TextBox 48"/>
            <p:cNvSpPr txBox="1"/>
            <p:nvPr/>
          </p:nvSpPr>
          <p:spPr>
            <a:xfrm>
              <a:off x="9530080" y="6537960"/>
              <a:ext cx="1906016" cy="234696"/>
            </a:xfrm>
            <a:prstGeom prst="rect">
              <a:avLst/>
            </a:prstGeom>
            <a:noFill/>
            <a:ln>
              <a:noFill/>
            </a:ln>
          </p:spPr>
          <p:txBody>
            <a:bodyPr wrap="none" lIns="0" tIns="0" rIns="0" bIns="0" anchor="t" anchorCtr="0">
              <a:spAutoFit/>
            </a:bodyPr>
            <a:lstStyle/>
            <a:p>
              <a:pPr algn="r"/>
              <a:r>
                <a:rPr lang="en-US" sz="1200" dirty="0">
                  <a:solidFill>
                    <a:srgbClr val="8A8880"/>
                  </a:solidFill>
                  <a:latin typeface="Arial"/>
                  <a:ea typeface="Arial"/>
                  <a:cs typeface="Arial"/>
                </a:rPr>
                <a:t>09 · Huawei Confidential</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745998" y="212408"/>
            <a:ext cx="10684002" cy="921448"/>
            <a:chOff x="745998" y="212408"/>
            <a:chExt cx="10684002" cy="921448"/>
          </a:xfrm>
        </p:grpSpPr>
        <p:sp>
          <p:nvSpPr>
            <p:cNvPr id="3" name="TextBox 3"/>
            <p:cNvSpPr txBox="1"/>
            <p:nvPr/>
          </p:nvSpPr>
          <p:spPr>
            <a:xfrm>
              <a:off x="745998" y="212408"/>
              <a:ext cx="8536387" cy="616077"/>
            </a:xfrm>
            <a:prstGeom prst="rect">
              <a:avLst/>
            </a:prstGeom>
            <a:noFill/>
            <a:ln>
              <a:noFill/>
            </a:ln>
          </p:spPr>
          <p:txBody>
            <a:bodyPr wrap="none" lIns="0" tIns="0" rIns="0" bIns="0" anchor="t" anchorCtr="0">
              <a:spAutoFit/>
            </a:bodyPr>
            <a:lstStyle/>
            <a:p>
              <a:pPr algn="l"/>
              <a:r>
                <a:rPr lang="zh-CN" sz="3150" b="1" dirty="0">
                  <a:solidFill>
                    <a:srgbClr val="1D1D1A"/>
                  </a:solidFill>
                  <a:latin typeface="Arial"/>
                  <a:ea typeface="Microsoft YaHei"/>
                  <a:cs typeface="Arial"/>
                </a:rPr>
                <a:t>安全托管服务三分天下——自营、合资、孵化</a:t>
              </a:r>
            </a:p>
          </p:txBody>
        </p:sp>
        <p:sp>
          <p:nvSpPr>
            <p:cNvPr id="4" name="Line 4"/>
            <p:cNvSpPr/>
            <p:nvPr/>
          </p:nvSpPr>
          <p:spPr>
            <a:xfrm>
              <a:off x="762000" y="781050"/>
              <a:ext cx="10668000" cy="9525"/>
            </a:xfrm>
            <a:custGeom>
              <a:avLst/>
              <a:gdLst/>
              <a:ahLst/>
              <a:cxnLst/>
              <a:rect l="l" t="t" r="r" b="b"/>
              <a:pathLst>
                <a:path w="10668000" h="9525">
                  <a:moveTo>
                    <a:pt x="0" y="0"/>
                  </a:moveTo>
                  <a:lnTo>
                    <a:pt x="10668000" y="0"/>
                  </a:lnTo>
                </a:path>
              </a:pathLst>
            </a:custGeom>
            <a:noFill/>
            <a:ln w="9525">
              <a:solidFill>
                <a:srgbClr val="DDDBD6"/>
              </a:solidFill>
            </a:ln>
          </p:spPr>
        </p:sp>
        <p:sp>
          <p:nvSpPr>
            <p:cNvPr id="5" name="TextBox 5"/>
            <p:cNvSpPr txBox="1"/>
            <p:nvPr/>
          </p:nvSpPr>
          <p:spPr>
            <a:xfrm>
              <a:off x="755904" y="899160"/>
              <a:ext cx="6399014" cy="234696"/>
            </a:xfrm>
            <a:prstGeom prst="rect">
              <a:avLst/>
            </a:prstGeom>
            <a:noFill/>
            <a:ln>
              <a:noFill/>
            </a:ln>
          </p:spPr>
          <p:txBody>
            <a:bodyPr wrap="none" lIns="0" tIns="0" rIns="0" bIns="0" anchor="t" anchorCtr="0">
              <a:spAutoFit/>
            </a:bodyPr>
            <a:lstStyle/>
            <a:p>
              <a:pPr algn="l"/>
              <a:r>
                <a:rPr lang="zh-CN" sz="1200" b="1" spc="75" dirty="0">
                  <a:solidFill>
                    <a:srgbClr val="8A8880"/>
                  </a:solidFill>
                  <a:latin typeface="Arial"/>
                  <a:ea typeface="Microsoft YaHei"/>
                  <a:cs typeface="Arial"/>
                </a:rPr>
                <a:t>ORANGE CYBERDEFENSE协同网络 · MSSP/终端安全/数据保护/IoT-OT安全</a:t>
              </a:r>
            </a:p>
          </p:txBody>
        </p:sp>
      </p:grpSp>
      <p:grpSp>
        <p:nvGrpSpPr>
          <p:cNvPr id="19" name="Group 19"/>
          <p:cNvGrpSpPr/>
          <p:nvPr/>
        </p:nvGrpSpPr>
        <p:grpSpPr>
          <a:xfrm>
            <a:off x="762000" y="1333500"/>
            <a:ext cx="10668000" cy="1238250"/>
            <a:chOff x="762000" y="1333500"/>
            <a:chExt cx="10668000" cy="1238250"/>
          </a:xfrm>
        </p:grpSpPr>
        <p:sp>
          <p:nvSpPr>
            <p:cNvPr id="7" name="Rectangle 7"/>
            <p:cNvSpPr/>
            <p:nvPr/>
          </p:nvSpPr>
          <p:spPr>
            <a:xfrm>
              <a:off x="762000" y="1333500"/>
              <a:ext cx="10668000" cy="1238250"/>
            </a:xfrm>
            <a:prstGeom prst="roundRect">
              <a:avLst>
                <a:gd name="adj" fmla="val 7692"/>
              </a:avLst>
            </a:prstGeom>
            <a:solidFill>
              <a:srgbClr val="F7F6F3"/>
            </a:solidFill>
            <a:ln>
              <a:noFill/>
            </a:ln>
          </p:spPr>
        </p:sp>
        <p:sp>
          <p:nvSpPr>
            <p:cNvPr id="8" name="Ellipse 8"/>
            <p:cNvSpPr/>
            <p:nvPr/>
          </p:nvSpPr>
          <p:spPr>
            <a:xfrm>
              <a:off x="990600" y="1609725"/>
              <a:ext cx="685800" cy="685800"/>
            </a:xfrm>
            <a:prstGeom prst="ellipse">
              <a:avLst/>
            </a:prstGeom>
            <a:solidFill>
              <a:srgbClr val="C7000A"/>
            </a:solidFill>
            <a:ln>
              <a:noFill/>
            </a:ln>
          </p:spPr>
        </p:sp>
        <p:grpSp>
          <p:nvGrpSpPr>
            <p:cNvPr id="12" name="Group 12"/>
            <p:cNvGrpSpPr/>
            <p:nvPr/>
          </p:nvGrpSpPr>
          <p:grpSpPr>
            <a:xfrm>
              <a:off x="1198963" y="1824038"/>
              <a:ext cx="269075" cy="257175"/>
              <a:chOff x="1198963" y="1824038"/>
              <a:chExt cx="269075" cy="257175"/>
            </a:xfrm>
          </p:grpSpPr>
          <p:sp>
            <p:nvSpPr>
              <p:cNvPr id="9" name="Freeform 9"/>
              <p:cNvSpPr/>
              <p:nvPr/>
            </p:nvSpPr>
            <p:spPr>
              <a:xfrm>
                <a:off x="1198963" y="1824038"/>
                <a:ext cx="269075" cy="257175"/>
              </a:xfrm>
              <a:custGeom>
                <a:avLst/>
                <a:gdLst/>
                <a:ahLst/>
                <a:cxnLst/>
                <a:rect l="l" t="t" r="r" b="b"/>
                <a:pathLst>
                  <a:path w="269075" h="257175">
                    <a:moveTo>
                      <a:pt x="134537" y="0"/>
                    </a:moveTo>
                    <a:cubicBezTo>
                      <a:pt x="167911" y="29526"/>
                      <a:pt x="211468" y="44899"/>
                      <a:pt x="255981" y="42862"/>
                    </a:cubicBezTo>
                    <a:cubicBezTo>
                      <a:pt x="269075" y="87404"/>
                      <a:pt x="263545" y="135352"/>
                      <a:pt x="240656" y="175744"/>
                    </a:cubicBezTo>
                    <a:cubicBezTo>
                      <a:pt x="217768" y="216136"/>
                      <a:pt x="179477" y="245519"/>
                      <a:pt x="134537" y="257175"/>
                    </a:cubicBezTo>
                    <a:cubicBezTo>
                      <a:pt x="89598" y="245519"/>
                      <a:pt x="51307" y="216136"/>
                      <a:pt x="28418" y="175744"/>
                    </a:cubicBezTo>
                    <a:cubicBezTo>
                      <a:pt x="5530" y="135352"/>
                      <a:pt x="0" y="87404"/>
                      <a:pt x="13094" y="42862"/>
                    </a:cubicBezTo>
                    <a:cubicBezTo>
                      <a:pt x="57607" y="44899"/>
                      <a:pt x="101164" y="29526"/>
                      <a:pt x="134537" y="0"/>
                    </a:cubicBezTo>
                  </a:path>
                </a:pathLst>
              </a:custGeom>
              <a:noFill/>
              <a:ln w="19050">
                <a:solidFill>
                  <a:srgbClr val="FFFFFF"/>
                </a:solidFill>
              </a:ln>
            </p:spPr>
          </p:sp>
          <p:sp>
            <p:nvSpPr>
              <p:cNvPr id="10" name="Freeform 10"/>
              <p:cNvSpPr/>
              <p:nvPr/>
            </p:nvSpPr>
            <p:spPr>
              <a:xfrm>
                <a:off x="1319212" y="1924050"/>
                <a:ext cx="28575" cy="28575"/>
              </a:xfrm>
              <a:custGeom>
                <a:avLst/>
                <a:gdLst/>
                <a:ahLst/>
                <a:cxnLst/>
                <a:rect l="l" t="t" r="r" b="b"/>
                <a:pathLst>
                  <a:path w="28575" h="28575">
                    <a:moveTo>
                      <a:pt x="0" y="14288"/>
                    </a:moveTo>
                    <a:cubicBezTo>
                      <a:pt x="0" y="22178"/>
                      <a:pt x="6397" y="28575"/>
                      <a:pt x="14288" y="28575"/>
                    </a:cubicBezTo>
                    <a:cubicBezTo>
                      <a:pt x="22178" y="28575"/>
                      <a:pt x="28575" y="22178"/>
                      <a:pt x="28575" y="14288"/>
                    </a:cubicBezTo>
                    <a:cubicBezTo>
                      <a:pt x="28575" y="6397"/>
                      <a:pt x="22178" y="0"/>
                      <a:pt x="14288" y="0"/>
                    </a:cubicBezTo>
                    <a:cubicBezTo>
                      <a:pt x="6397" y="0"/>
                      <a:pt x="0" y="6397"/>
                      <a:pt x="0" y="14288"/>
                    </a:cubicBezTo>
                  </a:path>
                </a:pathLst>
              </a:custGeom>
              <a:noFill/>
              <a:ln w="19050">
                <a:solidFill>
                  <a:srgbClr val="FFFFFF"/>
                </a:solidFill>
              </a:ln>
            </p:spPr>
          </p:sp>
          <p:sp>
            <p:nvSpPr>
              <p:cNvPr id="11" name="Freeform 11"/>
              <p:cNvSpPr/>
              <p:nvPr/>
            </p:nvSpPr>
            <p:spPr>
              <a:xfrm>
                <a:off x="1333500" y="1952625"/>
                <a:ext cx="9525" cy="35719"/>
              </a:xfrm>
              <a:custGeom>
                <a:avLst/>
                <a:gdLst/>
                <a:ahLst/>
                <a:cxnLst/>
                <a:rect l="l" t="t" r="r" b="b"/>
                <a:pathLst>
                  <a:path w="9525" h="35719">
                    <a:moveTo>
                      <a:pt x="0" y="0"/>
                    </a:moveTo>
                    <a:lnTo>
                      <a:pt x="0" y="35719"/>
                    </a:lnTo>
                  </a:path>
                </a:pathLst>
              </a:custGeom>
              <a:noFill/>
              <a:ln w="19050">
                <a:solidFill>
                  <a:srgbClr val="FFFFFF"/>
                </a:solidFill>
              </a:ln>
            </p:spPr>
          </p:sp>
        </p:grpSp>
        <p:sp>
          <p:nvSpPr>
            <p:cNvPr id="13" name="TextBox 13"/>
            <p:cNvSpPr txBox="1"/>
            <p:nvPr/>
          </p:nvSpPr>
          <p:spPr>
            <a:xfrm>
              <a:off x="1992630" y="1600200"/>
              <a:ext cx="1460221" cy="293370"/>
            </a:xfrm>
            <a:prstGeom prst="rect">
              <a:avLst/>
            </a:prstGeom>
            <a:noFill/>
            <a:ln>
              <a:noFill/>
            </a:ln>
          </p:spPr>
          <p:txBody>
            <a:bodyPr wrap="none" lIns="0" tIns="0" rIns="0" bIns="0" anchor="t" anchorCtr="0">
              <a:spAutoFit/>
            </a:bodyPr>
            <a:lstStyle/>
            <a:p>
              <a:pPr algn="l"/>
              <a:r>
                <a:rPr lang="zh-CN" sz="1500" b="1" dirty="0">
                  <a:solidFill>
                    <a:srgbClr val="1D1D1A"/>
                  </a:solidFill>
                  <a:latin typeface="Arial"/>
                  <a:ea typeface="Microsoft YaHei"/>
                  <a:cs typeface="Arial"/>
                </a:rPr>
                <a:t>OB · 自营巨头</a:t>
              </a:r>
            </a:p>
          </p:txBody>
        </p:sp>
        <p:sp>
          <p:nvSpPr>
            <p:cNvPr id="14" name="TextBox 14"/>
            <p:cNvSpPr txBox="1"/>
            <p:nvPr/>
          </p:nvSpPr>
          <p:spPr>
            <a:xfrm>
              <a:off x="1992630" y="1885950"/>
              <a:ext cx="4160110" cy="293370"/>
            </a:xfrm>
            <a:prstGeom prst="rect">
              <a:avLst/>
            </a:prstGeom>
            <a:noFill/>
            <a:ln>
              <a:noFill/>
            </a:ln>
          </p:spPr>
          <p:txBody>
            <a:bodyPr wrap="none" lIns="0" tIns="0" rIns="0" bIns="0" anchor="t" anchorCtr="0">
              <a:spAutoFit/>
            </a:bodyPr>
            <a:lstStyle/>
            <a:p>
              <a:pPr algn="l"/>
              <a:r>
                <a:rPr lang="en-US" sz="1500" b="1" dirty="0">
                  <a:solidFill>
                    <a:srgbClr val="1D1D1A"/>
                  </a:solidFill>
                  <a:latin typeface="Arial"/>
                  <a:ea typeface="Arial"/>
                  <a:cs typeface="Arial"/>
                </a:rPr>
                <a:t>Orange Cyberdefense 1,300</a:t>
              </a:r>
              <a:r>
                <a:rPr lang="zh-CN" sz="1200" b="1" dirty="0">
                  <a:solidFill>
                    <a:srgbClr val="1D1D1A"/>
                  </a:solidFill>
                  <a:latin typeface="Arial"/>
                  <a:ea typeface="Microsoft YaHei"/>
                  <a:cs typeface="Arial"/>
                </a:rPr>
                <a:t>M€/Y（+6.8%）</a:t>
              </a:r>
            </a:p>
          </p:txBody>
        </p:sp>
        <p:sp>
          <p:nvSpPr>
            <p:cNvPr id="15" name="TextBox 15"/>
            <p:cNvSpPr txBox="1"/>
            <p:nvPr/>
          </p:nvSpPr>
          <p:spPr>
            <a:xfrm>
              <a:off x="1994154" y="2175510"/>
              <a:ext cx="3827069" cy="234696"/>
            </a:xfrm>
            <a:prstGeom prst="rect">
              <a:avLst/>
            </a:prstGeom>
            <a:noFill/>
            <a:ln>
              <a:noFill/>
            </a:ln>
          </p:spPr>
          <p:txBody>
            <a:bodyPr wrap="none" lIns="0" tIns="0" rIns="0" bIns="0" anchor="t" anchorCtr="0">
              <a:spAutoFit/>
            </a:bodyPr>
            <a:lstStyle/>
            <a:p>
              <a:pPr algn="l"/>
              <a:r>
                <a:rPr lang="zh-CN" sz="1200" dirty="0">
                  <a:solidFill>
                    <a:srgbClr val="5A5852"/>
                  </a:solidFill>
                  <a:latin typeface="Arial"/>
                  <a:ea typeface="Microsoft YaHei"/>
                  <a:cs typeface="Arial"/>
                </a:rPr>
                <a:t>3,300+专家 · 23国 · 36检测中心 · 欧洲第一MSSP</a:t>
              </a:r>
            </a:p>
          </p:txBody>
        </p:sp>
        <p:sp>
          <p:nvSpPr>
            <p:cNvPr id="16" name="TextBox 16"/>
            <p:cNvSpPr txBox="1"/>
            <p:nvPr/>
          </p:nvSpPr>
          <p:spPr>
            <a:xfrm>
              <a:off x="7423404" y="1632585"/>
              <a:ext cx="1775772" cy="234696"/>
            </a:xfrm>
            <a:prstGeom prst="rect">
              <a:avLst/>
            </a:prstGeom>
            <a:noFill/>
            <a:ln>
              <a:noFill/>
            </a:ln>
          </p:spPr>
          <p:txBody>
            <a:bodyPr wrap="none" lIns="0" tIns="0" rIns="0" bIns="0" anchor="t" anchorCtr="0">
              <a:spAutoFit/>
            </a:bodyPr>
            <a:lstStyle/>
            <a:p>
              <a:pPr algn="l"/>
              <a:r>
                <a:rPr lang="zh-CN" sz="1200" b="1" dirty="0">
                  <a:solidFill>
                    <a:srgbClr val="8A8880"/>
                  </a:solidFill>
                  <a:latin typeface="Arial"/>
                  <a:ea typeface="Microsoft YaHei"/>
                  <a:cs typeface="Arial"/>
                </a:rPr>
                <a:t>华为：不在Vendor目录</a:t>
              </a:r>
            </a:p>
          </p:txBody>
        </p:sp>
        <p:sp>
          <p:nvSpPr>
            <p:cNvPr id="17" name="TextBox 17"/>
            <p:cNvSpPr txBox="1"/>
            <p:nvPr/>
          </p:nvSpPr>
          <p:spPr>
            <a:xfrm>
              <a:off x="7423404" y="1918335"/>
              <a:ext cx="2108768" cy="234696"/>
            </a:xfrm>
            <a:prstGeom prst="rect">
              <a:avLst/>
            </a:prstGeom>
            <a:noFill/>
            <a:ln>
              <a:noFill/>
            </a:ln>
          </p:spPr>
          <p:txBody>
            <a:bodyPr wrap="none" lIns="0" tIns="0" rIns="0" bIns="0" anchor="t" anchorCtr="0">
              <a:spAutoFit/>
            </a:bodyPr>
            <a:lstStyle/>
            <a:p>
              <a:pPr algn="l"/>
              <a:r>
                <a:rPr lang="zh-CN" sz="1200" dirty="0">
                  <a:solidFill>
                    <a:srgbClr val="5A5852"/>
                  </a:solidFill>
                  <a:latin typeface="Arial"/>
                  <a:ea typeface="Microsoft YaHei"/>
                  <a:cs typeface="Arial"/>
                </a:rPr>
                <a:t>主要Vendor：CrowdStrike/</a:t>
              </a:r>
            </a:p>
          </p:txBody>
        </p:sp>
        <p:sp>
          <p:nvSpPr>
            <p:cNvPr id="18" name="TextBox 18"/>
            <p:cNvSpPr txBox="1"/>
            <p:nvPr/>
          </p:nvSpPr>
          <p:spPr>
            <a:xfrm>
              <a:off x="7423404" y="2127885"/>
              <a:ext cx="2320542" cy="234696"/>
            </a:xfrm>
            <a:prstGeom prst="rect">
              <a:avLst/>
            </a:prstGeom>
            <a:noFill/>
            <a:ln>
              <a:noFill/>
            </a:ln>
          </p:spPr>
          <p:txBody>
            <a:bodyPr wrap="none" lIns="0" tIns="0" rIns="0" bIns="0" anchor="t" anchorCtr="0">
              <a:spAutoFit/>
            </a:bodyPr>
            <a:lstStyle/>
            <a:p>
              <a:pPr algn="l"/>
              <a:r>
                <a:rPr lang="zh-CN" sz="1200" dirty="0">
                  <a:solidFill>
                    <a:srgbClr val="5A5852"/>
                  </a:solidFill>
                  <a:latin typeface="Arial"/>
                  <a:ea typeface="Microsoft YaHei"/>
                  <a:cs typeface="Arial"/>
                </a:rPr>
                <a:t>Palo Alto、Microsoft、Thales</a:t>
              </a:r>
            </a:p>
          </p:txBody>
        </p:sp>
      </p:grpSp>
      <p:grpSp>
        <p:nvGrpSpPr>
          <p:cNvPr id="31" name="Group 31"/>
          <p:cNvGrpSpPr/>
          <p:nvPr/>
        </p:nvGrpSpPr>
        <p:grpSpPr>
          <a:xfrm>
            <a:off x="762000" y="2762250"/>
            <a:ext cx="10668000" cy="1238250"/>
            <a:chOff x="762000" y="2762250"/>
            <a:chExt cx="10668000" cy="1238250"/>
          </a:xfrm>
        </p:grpSpPr>
        <p:sp>
          <p:nvSpPr>
            <p:cNvPr id="20" name="Rectangle 20"/>
            <p:cNvSpPr/>
            <p:nvPr/>
          </p:nvSpPr>
          <p:spPr>
            <a:xfrm>
              <a:off x="762000" y="2762250"/>
              <a:ext cx="10668000" cy="1238250"/>
            </a:xfrm>
            <a:prstGeom prst="roundRect">
              <a:avLst>
                <a:gd name="adj" fmla="val 7692"/>
              </a:avLst>
            </a:prstGeom>
            <a:solidFill>
              <a:srgbClr val="F7F6F3"/>
            </a:solidFill>
            <a:ln>
              <a:noFill/>
            </a:ln>
          </p:spPr>
        </p:sp>
        <p:sp>
          <p:nvSpPr>
            <p:cNvPr id="21" name="Ellipse 21"/>
            <p:cNvSpPr/>
            <p:nvPr/>
          </p:nvSpPr>
          <p:spPr>
            <a:xfrm>
              <a:off x="990600" y="3038475"/>
              <a:ext cx="685800" cy="685800"/>
            </a:xfrm>
            <a:prstGeom prst="ellipse">
              <a:avLst/>
            </a:prstGeom>
            <a:solidFill>
              <a:srgbClr val="E9002F"/>
            </a:solidFill>
            <a:ln>
              <a:noFill/>
            </a:ln>
          </p:spPr>
        </p:sp>
        <p:grpSp>
          <p:nvGrpSpPr>
            <p:cNvPr id="25" name="Group 25"/>
            <p:cNvGrpSpPr/>
            <p:nvPr/>
          </p:nvGrpSpPr>
          <p:grpSpPr>
            <a:xfrm>
              <a:off x="1198963" y="3252788"/>
              <a:ext cx="269075" cy="257175"/>
              <a:chOff x="1198963" y="3252788"/>
              <a:chExt cx="269075" cy="257175"/>
            </a:xfrm>
          </p:grpSpPr>
          <p:sp>
            <p:nvSpPr>
              <p:cNvPr id="22" name="Freeform 22"/>
              <p:cNvSpPr/>
              <p:nvPr/>
            </p:nvSpPr>
            <p:spPr>
              <a:xfrm>
                <a:off x="1198963" y="3252788"/>
                <a:ext cx="269075" cy="257175"/>
              </a:xfrm>
              <a:custGeom>
                <a:avLst/>
                <a:gdLst/>
                <a:ahLst/>
                <a:cxnLst/>
                <a:rect l="l" t="t" r="r" b="b"/>
                <a:pathLst>
                  <a:path w="269075" h="257175">
                    <a:moveTo>
                      <a:pt x="134537" y="0"/>
                    </a:moveTo>
                    <a:cubicBezTo>
                      <a:pt x="167911" y="29526"/>
                      <a:pt x="211468" y="44899"/>
                      <a:pt x="255981" y="42862"/>
                    </a:cubicBezTo>
                    <a:cubicBezTo>
                      <a:pt x="269075" y="87404"/>
                      <a:pt x="263545" y="135352"/>
                      <a:pt x="240656" y="175744"/>
                    </a:cubicBezTo>
                    <a:cubicBezTo>
                      <a:pt x="217768" y="216136"/>
                      <a:pt x="179477" y="245519"/>
                      <a:pt x="134537" y="257175"/>
                    </a:cubicBezTo>
                    <a:cubicBezTo>
                      <a:pt x="89598" y="245519"/>
                      <a:pt x="51307" y="216136"/>
                      <a:pt x="28418" y="175744"/>
                    </a:cubicBezTo>
                    <a:cubicBezTo>
                      <a:pt x="5530" y="135352"/>
                      <a:pt x="0" y="87404"/>
                      <a:pt x="13094" y="42862"/>
                    </a:cubicBezTo>
                    <a:cubicBezTo>
                      <a:pt x="57607" y="44899"/>
                      <a:pt x="101164" y="29526"/>
                      <a:pt x="134537" y="0"/>
                    </a:cubicBezTo>
                  </a:path>
                </a:pathLst>
              </a:custGeom>
              <a:noFill/>
              <a:ln w="19050">
                <a:solidFill>
                  <a:srgbClr val="FFFFFF"/>
                </a:solidFill>
              </a:ln>
            </p:spPr>
          </p:sp>
          <p:sp>
            <p:nvSpPr>
              <p:cNvPr id="23" name="Freeform 23"/>
              <p:cNvSpPr/>
              <p:nvPr/>
            </p:nvSpPr>
            <p:spPr>
              <a:xfrm>
                <a:off x="1319212" y="3352800"/>
                <a:ext cx="28575" cy="28575"/>
              </a:xfrm>
              <a:custGeom>
                <a:avLst/>
                <a:gdLst/>
                <a:ahLst/>
                <a:cxnLst/>
                <a:rect l="l" t="t" r="r" b="b"/>
                <a:pathLst>
                  <a:path w="28575" h="28575">
                    <a:moveTo>
                      <a:pt x="0" y="14288"/>
                    </a:moveTo>
                    <a:cubicBezTo>
                      <a:pt x="0" y="22178"/>
                      <a:pt x="6397" y="28575"/>
                      <a:pt x="14288" y="28575"/>
                    </a:cubicBezTo>
                    <a:cubicBezTo>
                      <a:pt x="22178" y="28575"/>
                      <a:pt x="28575" y="22178"/>
                      <a:pt x="28575" y="14288"/>
                    </a:cubicBezTo>
                    <a:cubicBezTo>
                      <a:pt x="28575" y="6397"/>
                      <a:pt x="22178" y="0"/>
                      <a:pt x="14288" y="0"/>
                    </a:cubicBezTo>
                    <a:cubicBezTo>
                      <a:pt x="6397" y="0"/>
                      <a:pt x="0" y="6397"/>
                      <a:pt x="0" y="14288"/>
                    </a:cubicBezTo>
                  </a:path>
                </a:pathLst>
              </a:custGeom>
              <a:noFill/>
              <a:ln w="19050">
                <a:solidFill>
                  <a:srgbClr val="FFFFFF"/>
                </a:solidFill>
              </a:ln>
            </p:spPr>
          </p:sp>
          <p:sp>
            <p:nvSpPr>
              <p:cNvPr id="24" name="Freeform 24"/>
              <p:cNvSpPr/>
              <p:nvPr/>
            </p:nvSpPr>
            <p:spPr>
              <a:xfrm>
                <a:off x="1333500" y="3381375"/>
                <a:ext cx="9525" cy="35719"/>
              </a:xfrm>
              <a:custGeom>
                <a:avLst/>
                <a:gdLst/>
                <a:ahLst/>
                <a:cxnLst/>
                <a:rect l="l" t="t" r="r" b="b"/>
                <a:pathLst>
                  <a:path w="9525" h="35719">
                    <a:moveTo>
                      <a:pt x="0" y="0"/>
                    </a:moveTo>
                    <a:lnTo>
                      <a:pt x="0" y="35719"/>
                    </a:lnTo>
                  </a:path>
                </a:pathLst>
              </a:custGeom>
              <a:noFill/>
              <a:ln w="19050">
                <a:solidFill>
                  <a:srgbClr val="FFFFFF"/>
                </a:solidFill>
              </a:ln>
            </p:spPr>
          </p:sp>
        </p:grpSp>
        <p:sp>
          <p:nvSpPr>
            <p:cNvPr id="26" name="TextBox 26"/>
            <p:cNvSpPr txBox="1"/>
            <p:nvPr/>
          </p:nvSpPr>
          <p:spPr>
            <a:xfrm>
              <a:off x="1992630" y="3028950"/>
              <a:ext cx="1583436" cy="293370"/>
            </a:xfrm>
            <a:prstGeom prst="rect">
              <a:avLst/>
            </a:prstGeom>
            <a:noFill/>
            <a:ln>
              <a:noFill/>
            </a:ln>
          </p:spPr>
          <p:txBody>
            <a:bodyPr wrap="none" lIns="0" tIns="0" rIns="0" bIns="0" anchor="t" anchorCtr="0">
              <a:spAutoFit/>
            </a:bodyPr>
            <a:lstStyle/>
            <a:p>
              <a:pPr algn="l"/>
              <a:r>
                <a:rPr lang="zh-CN" sz="1500" b="1" dirty="0">
                  <a:solidFill>
                    <a:srgbClr val="1D1D1A"/>
                  </a:solidFill>
                  <a:latin typeface="Arial"/>
                  <a:ea typeface="Microsoft YaHei"/>
                  <a:cs typeface="Arial"/>
                </a:rPr>
                <a:t>OEU · 合资节点</a:t>
              </a:r>
            </a:p>
          </p:txBody>
        </p:sp>
        <p:sp>
          <p:nvSpPr>
            <p:cNvPr id="27" name="TextBox 27"/>
            <p:cNvSpPr txBox="1"/>
            <p:nvPr/>
          </p:nvSpPr>
          <p:spPr>
            <a:xfrm>
              <a:off x="1992630" y="3314700"/>
              <a:ext cx="2840233" cy="293370"/>
            </a:xfrm>
            <a:prstGeom prst="rect">
              <a:avLst/>
            </a:prstGeom>
            <a:noFill/>
            <a:ln>
              <a:noFill/>
            </a:ln>
          </p:spPr>
          <p:txBody>
            <a:bodyPr wrap="none" lIns="0" tIns="0" rIns="0" bIns="0" anchor="t" anchorCtr="0">
              <a:spAutoFit/>
            </a:bodyPr>
            <a:lstStyle/>
            <a:p>
              <a:pPr algn="l"/>
              <a:r>
                <a:rPr lang="zh-CN" sz="1500" b="1" dirty="0">
                  <a:solidFill>
                    <a:srgbClr val="1D1D1A"/>
                  </a:solidFill>
                  <a:latin typeface="Arial"/>
                  <a:ea typeface="Microsoft YaHei"/>
                  <a:cs typeface="Arial"/>
                </a:rPr>
                <a:t>约180</a:t>
              </a:r>
              <a:r>
                <a:rPr lang="zh-CN" sz="1200" b="1" dirty="0">
                  <a:solidFill>
                    <a:srgbClr val="1D1D1A"/>
                  </a:solidFill>
                  <a:latin typeface="Arial"/>
                  <a:ea typeface="Microsoft YaHei"/>
                  <a:cs typeface="Arial"/>
                </a:rPr>
                <a:t>M€/Y（估，占B2B约6.7%）</a:t>
              </a:r>
            </a:p>
          </p:txBody>
        </p:sp>
        <p:sp>
          <p:nvSpPr>
            <p:cNvPr id="28" name="TextBox 28"/>
            <p:cNvSpPr txBox="1"/>
            <p:nvPr/>
          </p:nvSpPr>
          <p:spPr>
            <a:xfrm>
              <a:off x="1994154" y="3604260"/>
              <a:ext cx="3555409" cy="234696"/>
            </a:xfrm>
            <a:prstGeom prst="rect">
              <a:avLst/>
            </a:prstGeom>
            <a:noFill/>
            <a:ln>
              <a:noFill/>
            </a:ln>
          </p:spPr>
          <p:txBody>
            <a:bodyPr wrap="none" lIns="0" tIns="0" rIns="0" bIns="0" anchor="t" anchorCtr="0">
              <a:spAutoFit/>
            </a:bodyPr>
            <a:lstStyle/>
            <a:p>
              <a:pPr algn="l"/>
              <a:r>
                <a:rPr lang="zh-CN" sz="1200" dirty="0">
                  <a:solidFill>
                    <a:srgbClr val="5A5852"/>
                  </a:solidFill>
                  <a:latin typeface="Arial"/>
                  <a:ea typeface="Microsoft YaHei"/>
                  <a:cs typeface="Arial"/>
                </a:rPr>
                <a:t>罗马尼亚SCUT与Orange Cyberdefense合资成立</a:t>
              </a:r>
            </a:p>
          </p:txBody>
        </p:sp>
        <p:sp>
          <p:nvSpPr>
            <p:cNvPr id="29" name="TextBox 29"/>
            <p:cNvSpPr txBox="1"/>
            <p:nvPr/>
          </p:nvSpPr>
          <p:spPr>
            <a:xfrm>
              <a:off x="7423404" y="3061335"/>
              <a:ext cx="1199540" cy="234696"/>
            </a:xfrm>
            <a:prstGeom prst="rect">
              <a:avLst/>
            </a:prstGeom>
            <a:noFill/>
            <a:ln>
              <a:noFill/>
            </a:ln>
          </p:spPr>
          <p:txBody>
            <a:bodyPr wrap="none" lIns="0" tIns="0" rIns="0" bIns="0" anchor="t" anchorCtr="0">
              <a:spAutoFit/>
            </a:bodyPr>
            <a:lstStyle/>
            <a:p>
              <a:pPr algn="l"/>
              <a:r>
                <a:rPr lang="zh-CN" sz="1200" b="1" dirty="0">
                  <a:solidFill>
                    <a:srgbClr val="8A8880"/>
                  </a:solidFill>
                  <a:latin typeface="Arial"/>
                  <a:ea typeface="Microsoft YaHei"/>
                  <a:cs typeface="Arial"/>
                </a:rPr>
                <a:t>华为：未见参与</a:t>
              </a:r>
            </a:p>
          </p:txBody>
        </p:sp>
        <p:sp>
          <p:nvSpPr>
            <p:cNvPr id="30" name="TextBox 30"/>
            <p:cNvSpPr txBox="1"/>
            <p:nvPr/>
          </p:nvSpPr>
          <p:spPr>
            <a:xfrm>
              <a:off x="7423404" y="3347085"/>
              <a:ext cx="1693469" cy="234696"/>
            </a:xfrm>
            <a:prstGeom prst="rect">
              <a:avLst/>
            </a:prstGeom>
            <a:noFill/>
            <a:ln>
              <a:noFill/>
            </a:ln>
          </p:spPr>
          <p:txBody>
            <a:bodyPr wrap="none" lIns="0" tIns="0" rIns="0" bIns="0" anchor="t" anchorCtr="0">
              <a:spAutoFit/>
            </a:bodyPr>
            <a:lstStyle/>
            <a:p>
              <a:pPr algn="l"/>
              <a:r>
                <a:rPr lang="zh-CN" sz="1200" dirty="0">
                  <a:solidFill>
                    <a:srgbClr val="5A5852"/>
                  </a:solidFill>
                  <a:latin typeface="Arial"/>
                  <a:ea typeface="Microsoft YaHei"/>
                  <a:cs typeface="Arial"/>
                </a:rPr>
                <a:t>OCD区域协同网络节点</a:t>
              </a:r>
            </a:p>
          </p:txBody>
        </p:sp>
      </p:grpSp>
      <p:grpSp>
        <p:nvGrpSpPr>
          <p:cNvPr id="43" name="Group 43"/>
          <p:cNvGrpSpPr/>
          <p:nvPr/>
        </p:nvGrpSpPr>
        <p:grpSpPr>
          <a:xfrm>
            <a:off x="762000" y="4191000"/>
            <a:ext cx="10668000" cy="1238250"/>
            <a:chOff x="762000" y="4191000"/>
            <a:chExt cx="10668000" cy="1238250"/>
          </a:xfrm>
        </p:grpSpPr>
        <p:sp>
          <p:nvSpPr>
            <p:cNvPr id="32" name="Rectangle 32"/>
            <p:cNvSpPr/>
            <p:nvPr/>
          </p:nvSpPr>
          <p:spPr>
            <a:xfrm>
              <a:off x="762000" y="4191000"/>
              <a:ext cx="10668000" cy="1238250"/>
            </a:xfrm>
            <a:prstGeom prst="roundRect">
              <a:avLst>
                <a:gd name="adj" fmla="val 7692"/>
              </a:avLst>
            </a:prstGeom>
            <a:solidFill>
              <a:srgbClr val="F7F6F3"/>
            </a:solidFill>
            <a:ln>
              <a:noFill/>
            </a:ln>
          </p:spPr>
        </p:sp>
        <p:sp>
          <p:nvSpPr>
            <p:cNvPr id="33" name="Ellipse 33"/>
            <p:cNvSpPr/>
            <p:nvPr/>
          </p:nvSpPr>
          <p:spPr>
            <a:xfrm>
              <a:off x="990600" y="4467225"/>
              <a:ext cx="685800" cy="685800"/>
            </a:xfrm>
            <a:prstGeom prst="ellipse">
              <a:avLst/>
            </a:prstGeom>
            <a:solidFill>
              <a:srgbClr val="F4A100"/>
            </a:solidFill>
            <a:ln>
              <a:noFill/>
            </a:ln>
          </p:spPr>
        </p:sp>
        <p:grpSp>
          <p:nvGrpSpPr>
            <p:cNvPr id="37" name="Group 37"/>
            <p:cNvGrpSpPr/>
            <p:nvPr/>
          </p:nvGrpSpPr>
          <p:grpSpPr>
            <a:xfrm>
              <a:off x="1198963" y="4681538"/>
              <a:ext cx="269075" cy="257175"/>
              <a:chOff x="1198963" y="4681538"/>
              <a:chExt cx="269075" cy="257175"/>
            </a:xfrm>
          </p:grpSpPr>
          <p:sp>
            <p:nvSpPr>
              <p:cNvPr id="34" name="Freeform 34"/>
              <p:cNvSpPr/>
              <p:nvPr/>
            </p:nvSpPr>
            <p:spPr>
              <a:xfrm>
                <a:off x="1198963" y="4681538"/>
                <a:ext cx="269075" cy="257175"/>
              </a:xfrm>
              <a:custGeom>
                <a:avLst/>
                <a:gdLst/>
                <a:ahLst/>
                <a:cxnLst/>
                <a:rect l="l" t="t" r="r" b="b"/>
                <a:pathLst>
                  <a:path w="269075" h="257175">
                    <a:moveTo>
                      <a:pt x="134537" y="0"/>
                    </a:moveTo>
                    <a:cubicBezTo>
                      <a:pt x="167911" y="29526"/>
                      <a:pt x="211468" y="44899"/>
                      <a:pt x="255981" y="42862"/>
                    </a:cubicBezTo>
                    <a:cubicBezTo>
                      <a:pt x="269075" y="87404"/>
                      <a:pt x="263545" y="135352"/>
                      <a:pt x="240656" y="175744"/>
                    </a:cubicBezTo>
                    <a:cubicBezTo>
                      <a:pt x="217768" y="216136"/>
                      <a:pt x="179477" y="245519"/>
                      <a:pt x="134537" y="257175"/>
                    </a:cubicBezTo>
                    <a:cubicBezTo>
                      <a:pt x="89598" y="245519"/>
                      <a:pt x="51307" y="216136"/>
                      <a:pt x="28418" y="175744"/>
                    </a:cubicBezTo>
                    <a:cubicBezTo>
                      <a:pt x="5530" y="135352"/>
                      <a:pt x="0" y="87404"/>
                      <a:pt x="13094" y="42862"/>
                    </a:cubicBezTo>
                    <a:cubicBezTo>
                      <a:pt x="57607" y="44899"/>
                      <a:pt x="101164" y="29526"/>
                      <a:pt x="134537" y="0"/>
                    </a:cubicBezTo>
                  </a:path>
                </a:pathLst>
              </a:custGeom>
              <a:noFill/>
              <a:ln w="19050">
                <a:solidFill>
                  <a:srgbClr val="FFFFFF"/>
                </a:solidFill>
              </a:ln>
            </p:spPr>
          </p:sp>
          <p:sp>
            <p:nvSpPr>
              <p:cNvPr id="35" name="Freeform 35"/>
              <p:cNvSpPr/>
              <p:nvPr/>
            </p:nvSpPr>
            <p:spPr>
              <a:xfrm>
                <a:off x="1319212" y="4781550"/>
                <a:ext cx="28575" cy="28575"/>
              </a:xfrm>
              <a:custGeom>
                <a:avLst/>
                <a:gdLst/>
                <a:ahLst/>
                <a:cxnLst/>
                <a:rect l="l" t="t" r="r" b="b"/>
                <a:pathLst>
                  <a:path w="28575" h="28575">
                    <a:moveTo>
                      <a:pt x="0" y="14288"/>
                    </a:moveTo>
                    <a:cubicBezTo>
                      <a:pt x="0" y="22178"/>
                      <a:pt x="6397" y="28575"/>
                      <a:pt x="14288" y="28575"/>
                    </a:cubicBezTo>
                    <a:cubicBezTo>
                      <a:pt x="22178" y="28575"/>
                      <a:pt x="28575" y="22178"/>
                      <a:pt x="28575" y="14288"/>
                    </a:cubicBezTo>
                    <a:cubicBezTo>
                      <a:pt x="28575" y="6397"/>
                      <a:pt x="22178" y="0"/>
                      <a:pt x="14288" y="0"/>
                    </a:cubicBezTo>
                    <a:cubicBezTo>
                      <a:pt x="6397" y="0"/>
                      <a:pt x="0" y="6397"/>
                      <a:pt x="0" y="14288"/>
                    </a:cubicBezTo>
                  </a:path>
                </a:pathLst>
              </a:custGeom>
              <a:noFill/>
              <a:ln w="19050">
                <a:solidFill>
                  <a:srgbClr val="FFFFFF"/>
                </a:solidFill>
              </a:ln>
            </p:spPr>
          </p:sp>
          <p:sp>
            <p:nvSpPr>
              <p:cNvPr id="36" name="Freeform 36"/>
              <p:cNvSpPr/>
              <p:nvPr/>
            </p:nvSpPr>
            <p:spPr>
              <a:xfrm>
                <a:off x="1333500" y="4810125"/>
                <a:ext cx="9525" cy="35719"/>
              </a:xfrm>
              <a:custGeom>
                <a:avLst/>
                <a:gdLst/>
                <a:ahLst/>
                <a:cxnLst/>
                <a:rect l="l" t="t" r="r" b="b"/>
                <a:pathLst>
                  <a:path w="9525" h="35719">
                    <a:moveTo>
                      <a:pt x="0" y="0"/>
                    </a:moveTo>
                    <a:lnTo>
                      <a:pt x="0" y="35719"/>
                    </a:lnTo>
                  </a:path>
                </a:pathLst>
              </a:custGeom>
              <a:noFill/>
              <a:ln w="19050">
                <a:solidFill>
                  <a:srgbClr val="FFFFFF"/>
                </a:solidFill>
              </a:ln>
            </p:spPr>
          </p:sp>
        </p:grpSp>
        <p:sp>
          <p:nvSpPr>
            <p:cNvPr id="38" name="TextBox 38"/>
            <p:cNvSpPr txBox="1"/>
            <p:nvPr/>
          </p:nvSpPr>
          <p:spPr>
            <a:xfrm>
              <a:off x="1992630" y="4457700"/>
              <a:ext cx="1527429" cy="293370"/>
            </a:xfrm>
            <a:prstGeom prst="rect">
              <a:avLst/>
            </a:prstGeom>
            <a:noFill/>
            <a:ln>
              <a:noFill/>
            </a:ln>
          </p:spPr>
          <p:txBody>
            <a:bodyPr wrap="none" lIns="0" tIns="0" rIns="0" bIns="0" anchor="t" anchorCtr="0">
              <a:spAutoFit/>
            </a:bodyPr>
            <a:lstStyle/>
            <a:p>
              <a:pPr algn="l"/>
              <a:r>
                <a:rPr lang="zh-CN" sz="1500" b="1" dirty="0">
                  <a:solidFill>
                    <a:srgbClr val="1D1D1A"/>
                  </a:solidFill>
                  <a:latin typeface="Arial"/>
                  <a:ea typeface="Microsoft YaHei"/>
                  <a:cs typeface="Arial"/>
                </a:rPr>
                <a:t>OMEA · 孵化中</a:t>
              </a:r>
            </a:p>
          </p:txBody>
        </p:sp>
        <p:sp>
          <p:nvSpPr>
            <p:cNvPr id="39" name="TextBox 39"/>
            <p:cNvSpPr txBox="1"/>
            <p:nvPr/>
          </p:nvSpPr>
          <p:spPr>
            <a:xfrm>
              <a:off x="1992630" y="4743450"/>
              <a:ext cx="2752862" cy="293370"/>
            </a:xfrm>
            <a:prstGeom prst="rect">
              <a:avLst/>
            </a:prstGeom>
            <a:noFill/>
            <a:ln>
              <a:noFill/>
            </a:ln>
          </p:spPr>
          <p:txBody>
            <a:bodyPr wrap="none" lIns="0" tIns="0" rIns="0" bIns="0" anchor="t" anchorCtr="0">
              <a:spAutoFit/>
            </a:bodyPr>
            <a:lstStyle/>
            <a:p>
              <a:pPr algn="l"/>
              <a:r>
                <a:rPr lang="zh-CN" sz="1500" b="1" dirty="0">
                  <a:solidFill>
                    <a:srgbClr val="1D1D1A"/>
                  </a:solidFill>
                  <a:latin typeface="Arial"/>
                  <a:ea typeface="Microsoft YaHei"/>
                  <a:cs typeface="Arial"/>
                </a:rPr>
                <a:t>约27</a:t>
              </a:r>
              <a:r>
                <a:rPr lang="zh-CN" sz="1200" b="1" dirty="0">
                  <a:solidFill>
                    <a:srgbClr val="1D1D1A"/>
                  </a:solidFill>
                  <a:latin typeface="Arial"/>
                  <a:ea typeface="Microsoft YaHei"/>
                  <a:cs typeface="Arial"/>
                </a:rPr>
                <a:t>M€/Y（估，ICT总盘约25%）</a:t>
              </a:r>
            </a:p>
          </p:txBody>
        </p:sp>
        <p:sp>
          <p:nvSpPr>
            <p:cNvPr id="40" name="TextBox 40"/>
            <p:cNvSpPr txBox="1"/>
            <p:nvPr/>
          </p:nvSpPr>
          <p:spPr>
            <a:xfrm>
              <a:off x="1994154" y="5033010"/>
              <a:ext cx="3383280" cy="234696"/>
            </a:xfrm>
            <a:prstGeom prst="rect">
              <a:avLst/>
            </a:prstGeom>
            <a:noFill/>
            <a:ln>
              <a:noFill/>
            </a:ln>
          </p:spPr>
          <p:txBody>
            <a:bodyPr wrap="none" lIns="0" tIns="0" rIns="0" bIns="0" anchor="t" anchorCtr="0">
              <a:spAutoFit/>
            </a:bodyPr>
            <a:lstStyle/>
            <a:p>
              <a:pPr algn="l"/>
              <a:r>
                <a:rPr lang="zh-CN" sz="1200" dirty="0">
                  <a:solidFill>
                    <a:srgbClr val="5A5852"/>
                  </a:solidFill>
                  <a:latin typeface="Arial"/>
                  <a:ea typeface="Microsoft YaHei"/>
                  <a:cs typeface="Arial"/>
                </a:rPr>
                <a:t>G3 ICT加速计划组成部分 · ICT整体收入+28%</a:t>
              </a:r>
            </a:p>
          </p:txBody>
        </p:sp>
        <p:sp>
          <p:nvSpPr>
            <p:cNvPr id="41" name="TextBox 41"/>
            <p:cNvSpPr txBox="1"/>
            <p:nvPr/>
          </p:nvSpPr>
          <p:spPr>
            <a:xfrm>
              <a:off x="7423404" y="4490085"/>
              <a:ext cx="1513340" cy="234696"/>
            </a:xfrm>
            <a:prstGeom prst="rect">
              <a:avLst/>
            </a:prstGeom>
            <a:noFill/>
            <a:ln>
              <a:noFill/>
            </a:ln>
          </p:spPr>
          <p:txBody>
            <a:bodyPr wrap="none" lIns="0" tIns="0" rIns="0" bIns="0" anchor="t" anchorCtr="0">
              <a:spAutoFit/>
            </a:bodyPr>
            <a:lstStyle/>
            <a:p>
              <a:pPr algn="l"/>
              <a:r>
                <a:rPr lang="zh-CN" sz="1200" b="1" dirty="0">
                  <a:solidFill>
                    <a:srgbClr val="C7000A"/>
                  </a:solidFill>
                  <a:latin typeface="Arial"/>
                  <a:ea typeface="Microsoft YaHei"/>
                  <a:cs typeface="Arial"/>
                </a:rPr>
                <a:t>华为：约10%（估）</a:t>
              </a:r>
            </a:p>
          </p:txBody>
        </p:sp>
        <p:sp>
          <p:nvSpPr>
            <p:cNvPr id="42" name="TextBox 42"/>
            <p:cNvSpPr txBox="1"/>
            <p:nvPr/>
          </p:nvSpPr>
          <p:spPr>
            <a:xfrm>
              <a:off x="7423404" y="4775835"/>
              <a:ext cx="1445971" cy="234696"/>
            </a:xfrm>
            <a:prstGeom prst="rect">
              <a:avLst/>
            </a:prstGeom>
            <a:noFill/>
            <a:ln>
              <a:noFill/>
            </a:ln>
          </p:spPr>
          <p:txBody>
            <a:bodyPr wrap="none" lIns="0" tIns="0" rIns="0" bIns="0" anchor="t" anchorCtr="0">
              <a:spAutoFit/>
            </a:bodyPr>
            <a:lstStyle/>
            <a:p>
              <a:pPr algn="l"/>
              <a:r>
                <a:rPr lang="zh-CN" sz="1200" dirty="0">
                  <a:solidFill>
                    <a:srgbClr val="5A5852"/>
                  </a:solidFill>
                  <a:latin typeface="Arial"/>
                  <a:ea typeface="Microsoft YaHei"/>
                  <a:cs typeface="Arial"/>
                </a:rPr>
                <a:t>网络设备，非MSSP</a:t>
              </a:r>
            </a:p>
          </p:txBody>
        </p:sp>
      </p:grpSp>
      <p:grpSp>
        <p:nvGrpSpPr>
          <p:cNvPr id="46" name="Group 46"/>
          <p:cNvGrpSpPr/>
          <p:nvPr/>
        </p:nvGrpSpPr>
        <p:grpSpPr>
          <a:xfrm>
            <a:off x="755904" y="6537960"/>
            <a:ext cx="10680192" cy="234696"/>
            <a:chOff x="755904" y="6537960"/>
            <a:chExt cx="10680192" cy="234696"/>
          </a:xfrm>
        </p:grpSpPr>
        <p:sp>
          <p:nvSpPr>
            <p:cNvPr id="44" name="TextBox 44"/>
            <p:cNvSpPr txBox="1"/>
            <p:nvPr/>
          </p:nvSpPr>
          <p:spPr>
            <a:xfrm>
              <a:off x="755904" y="6537960"/>
              <a:ext cx="6322347" cy="234696"/>
            </a:xfrm>
            <a:prstGeom prst="rect">
              <a:avLst/>
            </a:prstGeom>
            <a:noFill/>
            <a:ln>
              <a:noFill/>
            </a:ln>
          </p:spPr>
          <p:txBody>
            <a:bodyPr wrap="none" lIns="0" tIns="0" rIns="0" bIns="0" anchor="t" anchorCtr="0">
              <a:spAutoFit/>
            </a:bodyPr>
            <a:lstStyle/>
            <a:p>
              <a:pPr algn="l"/>
              <a:r>
                <a:rPr lang="zh-CN" sz="1200" dirty="0">
                  <a:solidFill>
                    <a:srgbClr val="8A8880"/>
                  </a:solidFill>
                  <a:latin typeface="Arial"/>
                  <a:ea typeface="Microsoft YaHei"/>
                  <a:cs typeface="Arial"/>
                </a:rPr>
                <a:t>数据来源：Orange Cyberdefense公开披露、OMEA G3计划材料；估算项已标注（估）</a:t>
              </a:r>
            </a:p>
          </p:txBody>
        </p:sp>
        <p:sp>
          <p:nvSpPr>
            <p:cNvPr id="45" name="TextBox 45"/>
            <p:cNvSpPr txBox="1"/>
            <p:nvPr/>
          </p:nvSpPr>
          <p:spPr>
            <a:xfrm>
              <a:off x="9530080" y="6537960"/>
              <a:ext cx="1906016" cy="234696"/>
            </a:xfrm>
            <a:prstGeom prst="rect">
              <a:avLst/>
            </a:prstGeom>
            <a:noFill/>
            <a:ln>
              <a:noFill/>
            </a:ln>
          </p:spPr>
          <p:txBody>
            <a:bodyPr wrap="none" lIns="0" tIns="0" rIns="0" bIns="0" anchor="t" anchorCtr="0">
              <a:spAutoFit/>
            </a:bodyPr>
            <a:lstStyle/>
            <a:p>
              <a:pPr algn="r"/>
              <a:r>
                <a:rPr lang="en-US" sz="1200" dirty="0">
                  <a:solidFill>
                    <a:srgbClr val="8A8880"/>
                  </a:solidFill>
                  <a:latin typeface="Arial"/>
                  <a:ea typeface="Arial"/>
                  <a:cs typeface="Arial"/>
                </a:rPr>
                <a:t>10 · Huawei Confidential</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745998" y="212408"/>
            <a:ext cx="10805511" cy="921448"/>
            <a:chOff x="745998" y="212408"/>
            <a:chExt cx="10805511" cy="921448"/>
          </a:xfrm>
        </p:grpSpPr>
        <p:sp>
          <p:nvSpPr>
            <p:cNvPr id="3" name="TextBox 3"/>
            <p:cNvSpPr txBox="1"/>
            <p:nvPr/>
          </p:nvSpPr>
          <p:spPr>
            <a:xfrm>
              <a:off x="745998" y="212408"/>
              <a:ext cx="10805511" cy="616077"/>
            </a:xfrm>
            <a:prstGeom prst="rect">
              <a:avLst/>
            </a:prstGeom>
            <a:noFill/>
            <a:ln>
              <a:noFill/>
            </a:ln>
          </p:spPr>
          <p:txBody>
            <a:bodyPr wrap="none" lIns="0" tIns="0" rIns="0" bIns="0" anchor="t" anchorCtr="0">
              <a:spAutoFit/>
            </a:bodyPr>
            <a:lstStyle/>
            <a:p>
              <a:pPr algn="l"/>
              <a:r>
                <a:rPr lang="zh-CN" sz="3150" b="1" dirty="0">
                  <a:solidFill>
                    <a:srgbClr val="1D1D1A"/>
                  </a:solidFill>
                  <a:latin typeface="Arial"/>
                  <a:ea typeface="Microsoft YaHei"/>
                  <a:cs typeface="Arial"/>
                </a:rPr>
                <a:t>集成/转售是项目招标业务，OB的2,080M€高度分散</a:t>
              </a:r>
            </a:p>
          </p:txBody>
        </p:sp>
        <p:sp>
          <p:nvSpPr>
            <p:cNvPr id="4" name="Line 4"/>
            <p:cNvSpPr/>
            <p:nvPr/>
          </p:nvSpPr>
          <p:spPr>
            <a:xfrm>
              <a:off x="762000" y="781050"/>
              <a:ext cx="10668000" cy="9525"/>
            </a:xfrm>
            <a:custGeom>
              <a:avLst/>
              <a:gdLst/>
              <a:ahLst/>
              <a:cxnLst/>
              <a:rect l="l" t="t" r="r" b="b"/>
              <a:pathLst>
                <a:path w="10668000" h="9525">
                  <a:moveTo>
                    <a:pt x="0" y="0"/>
                  </a:moveTo>
                  <a:lnTo>
                    <a:pt x="10668000" y="0"/>
                  </a:lnTo>
                </a:path>
              </a:pathLst>
            </a:custGeom>
            <a:noFill/>
            <a:ln w="9525">
              <a:solidFill>
                <a:srgbClr val="DDDBD6"/>
              </a:solidFill>
            </a:ln>
          </p:spPr>
        </p:sp>
        <p:sp>
          <p:nvSpPr>
            <p:cNvPr id="5" name="TextBox 5"/>
            <p:cNvSpPr txBox="1"/>
            <p:nvPr/>
          </p:nvSpPr>
          <p:spPr>
            <a:xfrm>
              <a:off x="755904" y="899160"/>
              <a:ext cx="9204046" cy="234696"/>
            </a:xfrm>
            <a:prstGeom prst="rect">
              <a:avLst/>
            </a:prstGeom>
            <a:noFill/>
            <a:ln>
              <a:noFill/>
            </a:ln>
          </p:spPr>
          <p:txBody>
            <a:bodyPr wrap="none" lIns="0" tIns="0" rIns="0" bIns="0" anchor="t" anchorCtr="0">
              <a:spAutoFit/>
            </a:bodyPr>
            <a:lstStyle/>
            <a:p>
              <a:pPr algn="l"/>
              <a:r>
                <a:rPr lang="zh-CN" sz="1200" dirty="0">
                  <a:solidFill>
                    <a:srgbClr val="8A8880"/>
                  </a:solidFill>
                  <a:latin typeface="Arial"/>
                  <a:ea typeface="Microsoft YaHei"/>
                  <a:cs typeface="Arial"/>
                </a:rPr>
                <a:t>定义：业主以项目形式发起招标，运营商应标方式展开的一次性/非经常性收入，涵盖硬件转售、软件license、垂直行业系统集成</a:t>
              </a:r>
            </a:p>
          </p:txBody>
        </p:sp>
      </p:grpSp>
      <p:grpSp>
        <p:nvGrpSpPr>
          <p:cNvPr id="40" name="Group 40"/>
          <p:cNvGrpSpPr/>
          <p:nvPr/>
        </p:nvGrpSpPr>
        <p:grpSpPr>
          <a:xfrm>
            <a:off x="755904" y="1299210"/>
            <a:ext cx="7541895" cy="4701540"/>
            <a:chOff x="755904" y="1299210"/>
            <a:chExt cx="7541895" cy="4701540"/>
          </a:xfrm>
        </p:grpSpPr>
        <p:sp>
          <p:nvSpPr>
            <p:cNvPr id="7" name="TextBox 7"/>
            <p:cNvSpPr txBox="1"/>
            <p:nvPr/>
          </p:nvSpPr>
          <p:spPr>
            <a:xfrm>
              <a:off x="755904" y="1299210"/>
              <a:ext cx="4522622" cy="234696"/>
            </a:xfrm>
            <a:prstGeom prst="rect">
              <a:avLst/>
            </a:prstGeom>
            <a:noFill/>
            <a:ln>
              <a:noFill/>
            </a:ln>
          </p:spPr>
          <p:txBody>
            <a:bodyPr wrap="none" lIns="0" tIns="0" rIns="0" bIns="0" anchor="t" anchorCtr="0">
              <a:spAutoFit/>
            </a:bodyPr>
            <a:lstStyle/>
            <a:p>
              <a:pPr algn="l"/>
              <a:r>
                <a:rPr lang="zh-CN" sz="1200" b="1" spc="75" dirty="0">
                  <a:solidFill>
                    <a:srgbClr val="8A8880"/>
                  </a:solidFill>
                  <a:latin typeface="Arial"/>
                  <a:ea typeface="Microsoft YaHei"/>
                  <a:cs typeface="Arial"/>
                </a:rPr>
                <a:t>OB · 按行业招标类型收入分布（估，总额2,080M€）</a:t>
              </a:r>
            </a:p>
          </p:txBody>
        </p:sp>
        <p:grpSp>
          <p:nvGrpSpPr>
            <p:cNvPr id="39" name="Group 39"/>
            <p:cNvGrpSpPr/>
            <p:nvPr/>
          </p:nvGrpSpPr>
          <p:grpSpPr>
            <a:xfrm>
              <a:off x="762000" y="1809750"/>
              <a:ext cx="7535799" cy="4191000"/>
              <a:chOff x="762000" y="1809750"/>
              <a:chExt cx="7535799" cy="4191000"/>
            </a:xfrm>
          </p:grpSpPr>
          <p:sp>
            <p:nvSpPr>
              <p:cNvPr id="8" name="Rectangle 8"/>
              <p:cNvSpPr/>
              <p:nvPr/>
            </p:nvSpPr>
            <p:spPr>
              <a:xfrm>
                <a:off x="762000" y="1809750"/>
                <a:ext cx="2219325" cy="2476500"/>
              </a:xfrm>
              <a:prstGeom prst="rect">
                <a:avLst/>
              </a:prstGeom>
              <a:solidFill>
                <a:srgbClr val="C7000A"/>
              </a:solidFill>
              <a:ln>
                <a:noFill/>
              </a:ln>
            </p:spPr>
          </p:sp>
          <p:sp>
            <p:nvSpPr>
              <p:cNvPr id="9" name="TextBox 9"/>
              <p:cNvSpPr txBox="1"/>
              <p:nvPr/>
            </p:nvSpPr>
            <p:spPr>
              <a:xfrm>
                <a:off x="889254" y="1927860"/>
                <a:ext cx="1199540" cy="234696"/>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a:ea typeface="Microsoft YaHei"/>
                    <a:cs typeface="Arial"/>
                  </a:rPr>
                  <a:t>国防与国土安全</a:t>
                </a:r>
              </a:p>
            </p:txBody>
          </p:sp>
          <p:sp>
            <p:nvSpPr>
              <p:cNvPr id="10" name="TextBox 10"/>
              <p:cNvSpPr txBox="1"/>
              <p:nvPr/>
            </p:nvSpPr>
            <p:spPr>
              <a:xfrm>
                <a:off x="884682" y="3678555"/>
                <a:ext cx="570485" cy="410718"/>
              </a:xfrm>
              <a:prstGeom prst="rect">
                <a:avLst/>
              </a:prstGeom>
              <a:noFill/>
              <a:ln>
                <a:noFill/>
              </a:ln>
            </p:spPr>
            <p:txBody>
              <a:bodyPr wrap="none" lIns="0" tIns="0" rIns="0" bIns="0" anchor="t" anchorCtr="0">
                <a:spAutoFit/>
              </a:bodyPr>
              <a:lstStyle/>
              <a:p>
                <a:pPr algn="l"/>
                <a:r>
                  <a:rPr lang="en-US" sz="2100" b="1" dirty="0">
                    <a:solidFill>
                      <a:srgbClr val="FFFFFF"/>
                    </a:solidFill>
                    <a:latin typeface="Arial"/>
                    <a:ea typeface="Arial"/>
                    <a:cs typeface="Arial"/>
                  </a:rPr>
                  <a:t>20%</a:t>
                </a:r>
              </a:p>
            </p:txBody>
          </p:sp>
          <p:sp>
            <p:nvSpPr>
              <p:cNvPr id="11" name="TextBox 11"/>
              <p:cNvSpPr txBox="1"/>
              <p:nvPr/>
            </p:nvSpPr>
            <p:spPr>
              <a:xfrm>
                <a:off x="889254" y="4023360"/>
                <a:ext cx="2248205" cy="234696"/>
              </a:xfrm>
              <a:prstGeom prst="rect">
                <a:avLst/>
              </a:prstGeom>
              <a:noFill/>
              <a:ln>
                <a:noFill/>
              </a:ln>
            </p:spPr>
            <p:txBody>
              <a:bodyPr wrap="none" lIns="0" tIns="0" rIns="0" bIns="0" anchor="t" anchorCtr="0">
                <a:spAutoFit/>
              </a:bodyPr>
              <a:lstStyle/>
              <a:p>
                <a:pPr algn="l"/>
                <a:r>
                  <a:rPr lang="zh-CN" sz="1200" dirty="0">
                    <a:solidFill>
                      <a:srgbClr val="FFFFFF"/>
                    </a:solidFill>
                    <a:latin typeface="Arial"/>
                    <a:ea typeface="Microsoft YaHei"/>
                    <a:cs typeface="Arial"/>
                  </a:rPr>
                  <a:t>416M€ · 军队部卫星通信框架</a:t>
                </a:r>
              </a:p>
            </p:txBody>
          </p:sp>
          <p:sp>
            <p:nvSpPr>
              <p:cNvPr id="12" name="Rectangle 12"/>
              <p:cNvSpPr/>
              <p:nvPr/>
            </p:nvSpPr>
            <p:spPr>
              <a:xfrm>
                <a:off x="3000375" y="1809750"/>
                <a:ext cx="2000250" cy="2476500"/>
              </a:xfrm>
              <a:prstGeom prst="rect">
                <a:avLst/>
              </a:prstGeom>
              <a:solidFill>
                <a:srgbClr val="C7000A">
                  <a:alpha val="85000"/>
                </a:srgbClr>
              </a:solidFill>
              <a:ln>
                <a:noFill/>
              </a:ln>
            </p:spPr>
          </p:sp>
          <p:sp>
            <p:nvSpPr>
              <p:cNvPr id="13" name="TextBox 13"/>
              <p:cNvSpPr txBox="1"/>
              <p:nvPr/>
            </p:nvSpPr>
            <p:spPr>
              <a:xfrm>
                <a:off x="3127629" y="1927860"/>
                <a:ext cx="1632074" cy="234696"/>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a:ea typeface="Microsoft YaHei"/>
                    <a:cs typeface="Arial"/>
                  </a:rPr>
                  <a:t>公共部门/政府信息化</a:t>
                </a:r>
              </a:p>
            </p:txBody>
          </p:sp>
          <p:sp>
            <p:nvSpPr>
              <p:cNvPr id="14" name="TextBox 14"/>
              <p:cNvSpPr txBox="1"/>
              <p:nvPr/>
            </p:nvSpPr>
            <p:spPr>
              <a:xfrm>
                <a:off x="3123057" y="3583305"/>
                <a:ext cx="570485" cy="410718"/>
              </a:xfrm>
              <a:prstGeom prst="rect">
                <a:avLst/>
              </a:prstGeom>
              <a:noFill/>
              <a:ln>
                <a:noFill/>
              </a:ln>
            </p:spPr>
            <p:txBody>
              <a:bodyPr wrap="none" lIns="0" tIns="0" rIns="0" bIns="0" anchor="t" anchorCtr="0">
                <a:spAutoFit/>
              </a:bodyPr>
              <a:lstStyle/>
              <a:p>
                <a:pPr algn="l"/>
                <a:r>
                  <a:rPr lang="en-US" sz="2100" b="1" dirty="0">
                    <a:solidFill>
                      <a:srgbClr val="FFFFFF"/>
                    </a:solidFill>
                    <a:latin typeface="Arial"/>
                    <a:ea typeface="Arial"/>
                    <a:cs typeface="Arial"/>
                  </a:rPr>
                  <a:t>18%</a:t>
                </a:r>
              </a:p>
            </p:txBody>
          </p:sp>
          <p:sp>
            <p:nvSpPr>
              <p:cNvPr id="15" name="TextBox 15"/>
              <p:cNvSpPr txBox="1"/>
              <p:nvPr/>
            </p:nvSpPr>
            <p:spPr>
              <a:xfrm>
                <a:off x="3127629" y="3928110"/>
                <a:ext cx="1770278" cy="234696"/>
              </a:xfrm>
              <a:prstGeom prst="rect">
                <a:avLst/>
              </a:prstGeom>
              <a:noFill/>
              <a:ln>
                <a:noFill/>
              </a:ln>
            </p:spPr>
            <p:txBody>
              <a:bodyPr wrap="none" lIns="0" tIns="0" rIns="0" bIns="0" anchor="t" anchorCtr="0">
                <a:spAutoFit/>
              </a:bodyPr>
              <a:lstStyle/>
              <a:p>
                <a:pPr algn="l"/>
                <a:r>
                  <a:rPr lang="zh-CN" sz="1200" dirty="0">
                    <a:solidFill>
                      <a:srgbClr val="FFFFFF"/>
                    </a:solidFill>
                    <a:latin typeface="Arial"/>
                    <a:ea typeface="Microsoft YaHei"/>
                    <a:cs typeface="Arial"/>
                  </a:rPr>
                  <a:t>374M€ · UGAP电信框架</a:t>
                </a:r>
              </a:p>
            </p:txBody>
          </p:sp>
          <p:sp>
            <p:nvSpPr>
              <p:cNvPr id="16" name="Rectangle 16"/>
              <p:cNvSpPr/>
              <p:nvPr/>
            </p:nvSpPr>
            <p:spPr>
              <a:xfrm>
                <a:off x="5019675" y="1809750"/>
                <a:ext cx="1333500" cy="2476500"/>
              </a:xfrm>
              <a:prstGeom prst="rect">
                <a:avLst/>
              </a:prstGeom>
              <a:solidFill>
                <a:srgbClr val="C7000A">
                  <a:alpha val="65000"/>
                </a:srgbClr>
              </a:solidFill>
              <a:ln>
                <a:noFill/>
              </a:ln>
            </p:spPr>
          </p:sp>
          <p:sp>
            <p:nvSpPr>
              <p:cNvPr id="17" name="TextBox 17"/>
              <p:cNvSpPr txBox="1"/>
              <p:nvPr/>
            </p:nvSpPr>
            <p:spPr>
              <a:xfrm>
                <a:off x="5146929" y="1927860"/>
                <a:ext cx="690677" cy="234696"/>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a:ea typeface="Microsoft YaHei"/>
                    <a:cs typeface="Arial"/>
                  </a:rPr>
                  <a:t>医疗健康</a:t>
                </a:r>
              </a:p>
            </p:txBody>
          </p:sp>
          <p:sp>
            <p:nvSpPr>
              <p:cNvPr id="18" name="TextBox 18"/>
              <p:cNvSpPr txBox="1"/>
              <p:nvPr/>
            </p:nvSpPr>
            <p:spPr>
              <a:xfrm>
                <a:off x="5145405" y="3457575"/>
                <a:ext cx="407489"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Arial"/>
                    <a:ea typeface="Arial"/>
                    <a:cs typeface="Arial"/>
                  </a:rPr>
                  <a:t>12%</a:t>
                </a:r>
              </a:p>
            </p:txBody>
          </p:sp>
          <p:sp>
            <p:nvSpPr>
              <p:cNvPr id="19" name="TextBox 19"/>
              <p:cNvSpPr txBox="1"/>
              <p:nvPr/>
            </p:nvSpPr>
            <p:spPr>
              <a:xfrm>
                <a:off x="5146929" y="3718560"/>
                <a:ext cx="1335024" cy="234696"/>
              </a:xfrm>
              <a:prstGeom prst="rect">
                <a:avLst/>
              </a:prstGeom>
              <a:noFill/>
              <a:ln>
                <a:noFill/>
              </a:ln>
            </p:spPr>
            <p:txBody>
              <a:bodyPr wrap="none" lIns="0" tIns="0" rIns="0" bIns="0" anchor="t" anchorCtr="0">
                <a:spAutoFit/>
              </a:bodyPr>
              <a:lstStyle/>
              <a:p>
                <a:pPr algn="l"/>
                <a:r>
                  <a:rPr lang="zh-CN" sz="1200" dirty="0">
                    <a:solidFill>
                      <a:srgbClr val="FFFFFF"/>
                    </a:solidFill>
                    <a:latin typeface="Arial"/>
                    <a:ea typeface="Microsoft YaHei"/>
                    <a:cs typeface="Arial"/>
                  </a:rPr>
                  <a:t>250M€ · GHT框架</a:t>
                </a:r>
              </a:p>
            </p:txBody>
          </p:sp>
          <p:sp>
            <p:nvSpPr>
              <p:cNvPr id="20" name="Rectangle 20"/>
              <p:cNvSpPr/>
              <p:nvPr/>
            </p:nvSpPr>
            <p:spPr>
              <a:xfrm>
                <a:off x="6372225" y="1809750"/>
                <a:ext cx="1114425" cy="2476500"/>
              </a:xfrm>
              <a:prstGeom prst="rect">
                <a:avLst/>
              </a:prstGeom>
              <a:solidFill>
                <a:srgbClr val="C7000A">
                  <a:alpha val="50000"/>
                </a:srgbClr>
              </a:solidFill>
              <a:ln>
                <a:noFill/>
              </a:ln>
            </p:spPr>
          </p:sp>
          <p:sp>
            <p:nvSpPr>
              <p:cNvPr id="21" name="TextBox 21"/>
              <p:cNvSpPr txBox="1"/>
              <p:nvPr/>
            </p:nvSpPr>
            <p:spPr>
              <a:xfrm>
                <a:off x="6499479" y="1927860"/>
                <a:ext cx="690677" cy="234696"/>
              </a:xfrm>
              <a:prstGeom prst="rect">
                <a:avLst/>
              </a:prstGeom>
              <a:noFill/>
              <a:ln>
                <a:noFill/>
              </a:ln>
            </p:spPr>
            <p:txBody>
              <a:bodyPr wrap="none" lIns="0" tIns="0" rIns="0" bIns="0" anchor="t" anchorCtr="0">
                <a:spAutoFit/>
              </a:bodyPr>
              <a:lstStyle/>
              <a:p>
                <a:pPr algn="l"/>
                <a:r>
                  <a:rPr lang="zh-CN" sz="1200" b="1" dirty="0">
                    <a:solidFill>
                      <a:srgbClr val="1D1D1A"/>
                    </a:solidFill>
                    <a:latin typeface="Arial"/>
                    <a:ea typeface="Microsoft YaHei"/>
                    <a:cs typeface="Arial"/>
                  </a:rPr>
                  <a:t>金融保险</a:t>
                </a:r>
              </a:p>
            </p:txBody>
          </p:sp>
          <p:sp>
            <p:nvSpPr>
              <p:cNvPr id="22" name="TextBox 22"/>
              <p:cNvSpPr txBox="1"/>
              <p:nvPr/>
            </p:nvSpPr>
            <p:spPr>
              <a:xfrm>
                <a:off x="6497955" y="3457575"/>
                <a:ext cx="407489" cy="293370"/>
              </a:xfrm>
              <a:prstGeom prst="rect">
                <a:avLst/>
              </a:prstGeom>
              <a:noFill/>
              <a:ln>
                <a:noFill/>
              </a:ln>
            </p:spPr>
            <p:txBody>
              <a:bodyPr wrap="none" lIns="0" tIns="0" rIns="0" bIns="0" anchor="t" anchorCtr="0">
                <a:spAutoFit/>
              </a:bodyPr>
              <a:lstStyle/>
              <a:p>
                <a:pPr algn="l"/>
                <a:r>
                  <a:rPr lang="en-US" sz="1500" b="1" dirty="0">
                    <a:solidFill>
                      <a:srgbClr val="1D1D1A"/>
                    </a:solidFill>
                    <a:latin typeface="Arial"/>
                    <a:ea typeface="Arial"/>
                    <a:cs typeface="Arial"/>
                  </a:rPr>
                  <a:t>10%</a:t>
                </a:r>
              </a:p>
            </p:txBody>
          </p:sp>
          <p:sp>
            <p:nvSpPr>
              <p:cNvPr id="23" name="TextBox 23"/>
              <p:cNvSpPr txBox="1"/>
              <p:nvPr/>
            </p:nvSpPr>
            <p:spPr>
              <a:xfrm>
                <a:off x="6499479" y="3718560"/>
                <a:ext cx="515722" cy="234696"/>
              </a:xfrm>
              <a:prstGeom prst="rect">
                <a:avLst/>
              </a:prstGeom>
              <a:noFill/>
              <a:ln>
                <a:noFill/>
              </a:ln>
            </p:spPr>
            <p:txBody>
              <a:bodyPr wrap="none" lIns="0" tIns="0" rIns="0" bIns="0" anchor="t" anchorCtr="0">
                <a:spAutoFit/>
              </a:bodyPr>
              <a:lstStyle/>
              <a:p>
                <a:pPr algn="l"/>
                <a:r>
                  <a:rPr lang="en-US" sz="1200" dirty="0">
                    <a:solidFill>
                      <a:srgbClr val="1D1D1A"/>
                    </a:solidFill>
                    <a:latin typeface="Arial"/>
                    <a:ea typeface="Arial"/>
                    <a:cs typeface="Arial"/>
                  </a:rPr>
                  <a:t>208M€</a:t>
                </a:r>
              </a:p>
            </p:txBody>
          </p:sp>
          <p:sp>
            <p:nvSpPr>
              <p:cNvPr id="24" name="Rectangle 24"/>
              <p:cNvSpPr/>
              <p:nvPr/>
            </p:nvSpPr>
            <p:spPr>
              <a:xfrm>
                <a:off x="762000" y="4324350"/>
                <a:ext cx="1333500" cy="1676400"/>
              </a:xfrm>
              <a:prstGeom prst="rect">
                <a:avLst/>
              </a:prstGeom>
              <a:solidFill>
                <a:srgbClr val="C7000A">
                  <a:alpha val="40000"/>
                </a:srgbClr>
              </a:solidFill>
              <a:ln>
                <a:noFill/>
              </a:ln>
            </p:spPr>
          </p:sp>
          <p:sp>
            <p:nvSpPr>
              <p:cNvPr id="25" name="TextBox 25"/>
              <p:cNvSpPr txBox="1"/>
              <p:nvPr/>
            </p:nvSpPr>
            <p:spPr>
              <a:xfrm>
                <a:off x="889254" y="4404360"/>
                <a:ext cx="690677" cy="234696"/>
              </a:xfrm>
              <a:prstGeom prst="rect">
                <a:avLst/>
              </a:prstGeom>
              <a:noFill/>
              <a:ln>
                <a:noFill/>
              </a:ln>
            </p:spPr>
            <p:txBody>
              <a:bodyPr wrap="none" lIns="0" tIns="0" rIns="0" bIns="0" anchor="t" anchorCtr="0">
                <a:spAutoFit/>
              </a:bodyPr>
              <a:lstStyle/>
              <a:p>
                <a:pPr algn="l"/>
                <a:r>
                  <a:rPr lang="zh-CN" sz="1200" b="1" dirty="0">
                    <a:solidFill>
                      <a:srgbClr val="1D1D1A"/>
                    </a:solidFill>
                    <a:latin typeface="Arial"/>
                    <a:ea typeface="Microsoft YaHei"/>
                    <a:cs typeface="Arial"/>
                  </a:rPr>
                  <a:t>交通运输</a:t>
                </a:r>
              </a:p>
            </p:txBody>
          </p:sp>
          <p:sp>
            <p:nvSpPr>
              <p:cNvPr id="26" name="TextBox 26"/>
              <p:cNvSpPr txBox="1"/>
              <p:nvPr/>
            </p:nvSpPr>
            <p:spPr>
              <a:xfrm>
                <a:off x="888492" y="5702618"/>
                <a:ext cx="1102492" cy="264033"/>
              </a:xfrm>
              <a:prstGeom prst="rect">
                <a:avLst/>
              </a:prstGeom>
              <a:noFill/>
              <a:ln>
                <a:noFill/>
              </a:ln>
            </p:spPr>
            <p:txBody>
              <a:bodyPr wrap="none" lIns="0" tIns="0" rIns="0" bIns="0" anchor="t" anchorCtr="0">
                <a:spAutoFit/>
              </a:bodyPr>
              <a:lstStyle/>
              <a:p>
                <a:pPr algn="l"/>
                <a:r>
                  <a:rPr lang="en-US" sz="1350" b="1" dirty="0">
                    <a:solidFill>
                      <a:srgbClr val="1D1D1A"/>
                    </a:solidFill>
                    <a:latin typeface="Arial"/>
                    <a:ea typeface="Arial"/>
                    <a:cs typeface="Arial"/>
                  </a:rPr>
                  <a:t>8% · 166M€</a:t>
                </a:r>
              </a:p>
            </p:txBody>
          </p:sp>
          <p:sp>
            <p:nvSpPr>
              <p:cNvPr id="27" name="Rectangle 27"/>
              <p:cNvSpPr/>
              <p:nvPr/>
            </p:nvSpPr>
            <p:spPr>
              <a:xfrm>
                <a:off x="2133600" y="4324350"/>
                <a:ext cx="1333500" cy="1676400"/>
              </a:xfrm>
              <a:prstGeom prst="rect">
                <a:avLst/>
              </a:prstGeom>
              <a:solidFill>
                <a:srgbClr val="C7000A">
                  <a:alpha val="35000"/>
                </a:srgbClr>
              </a:solidFill>
              <a:ln>
                <a:noFill/>
              </a:ln>
            </p:spPr>
          </p:sp>
          <p:sp>
            <p:nvSpPr>
              <p:cNvPr id="28" name="TextBox 28"/>
              <p:cNvSpPr txBox="1"/>
              <p:nvPr/>
            </p:nvSpPr>
            <p:spPr>
              <a:xfrm>
                <a:off x="2260854" y="4404360"/>
                <a:ext cx="690677" cy="234696"/>
              </a:xfrm>
              <a:prstGeom prst="rect">
                <a:avLst/>
              </a:prstGeom>
              <a:noFill/>
              <a:ln>
                <a:noFill/>
              </a:ln>
            </p:spPr>
            <p:txBody>
              <a:bodyPr wrap="none" lIns="0" tIns="0" rIns="0" bIns="0" anchor="t" anchorCtr="0">
                <a:spAutoFit/>
              </a:bodyPr>
              <a:lstStyle/>
              <a:p>
                <a:pPr algn="l"/>
                <a:r>
                  <a:rPr lang="zh-CN" sz="1200" b="1" dirty="0">
                    <a:solidFill>
                      <a:srgbClr val="1D1D1A"/>
                    </a:solidFill>
                    <a:latin typeface="Arial"/>
                    <a:ea typeface="Microsoft YaHei"/>
                    <a:cs typeface="Arial"/>
                  </a:rPr>
                  <a:t>零售物流</a:t>
                </a:r>
              </a:p>
            </p:txBody>
          </p:sp>
          <p:sp>
            <p:nvSpPr>
              <p:cNvPr id="29" name="TextBox 29"/>
              <p:cNvSpPr txBox="1"/>
              <p:nvPr/>
            </p:nvSpPr>
            <p:spPr>
              <a:xfrm>
                <a:off x="2260092" y="5702618"/>
                <a:ext cx="1102492" cy="264033"/>
              </a:xfrm>
              <a:prstGeom prst="rect">
                <a:avLst/>
              </a:prstGeom>
              <a:noFill/>
              <a:ln>
                <a:noFill/>
              </a:ln>
            </p:spPr>
            <p:txBody>
              <a:bodyPr wrap="none" lIns="0" tIns="0" rIns="0" bIns="0" anchor="t" anchorCtr="0">
                <a:spAutoFit/>
              </a:bodyPr>
              <a:lstStyle/>
              <a:p>
                <a:pPr algn="l"/>
                <a:r>
                  <a:rPr lang="en-US" sz="1350" b="1" dirty="0">
                    <a:solidFill>
                      <a:srgbClr val="1D1D1A"/>
                    </a:solidFill>
                    <a:latin typeface="Arial"/>
                    <a:ea typeface="Arial"/>
                    <a:cs typeface="Arial"/>
                  </a:rPr>
                  <a:t>8% · 166M€</a:t>
                </a:r>
              </a:p>
            </p:txBody>
          </p:sp>
          <p:sp>
            <p:nvSpPr>
              <p:cNvPr id="30" name="Rectangle 30"/>
              <p:cNvSpPr/>
              <p:nvPr/>
            </p:nvSpPr>
            <p:spPr>
              <a:xfrm>
                <a:off x="3505200" y="4324350"/>
                <a:ext cx="1333500" cy="1676400"/>
              </a:xfrm>
              <a:prstGeom prst="rect">
                <a:avLst/>
              </a:prstGeom>
              <a:solidFill>
                <a:srgbClr val="C7000A">
                  <a:alpha val="30000"/>
                </a:srgbClr>
              </a:solidFill>
              <a:ln>
                <a:noFill/>
              </a:ln>
            </p:spPr>
          </p:sp>
          <p:sp>
            <p:nvSpPr>
              <p:cNvPr id="31" name="TextBox 31"/>
              <p:cNvSpPr txBox="1"/>
              <p:nvPr/>
            </p:nvSpPr>
            <p:spPr>
              <a:xfrm>
                <a:off x="3632454" y="4404360"/>
                <a:ext cx="1029919" cy="234696"/>
              </a:xfrm>
              <a:prstGeom prst="rect">
                <a:avLst/>
              </a:prstGeom>
              <a:noFill/>
              <a:ln>
                <a:noFill/>
              </a:ln>
            </p:spPr>
            <p:txBody>
              <a:bodyPr wrap="none" lIns="0" tIns="0" rIns="0" bIns="0" anchor="t" anchorCtr="0">
                <a:spAutoFit/>
              </a:bodyPr>
              <a:lstStyle/>
              <a:p>
                <a:pPr algn="l"/>
                <a:r>
                  <a:rPr lang="zh-CN" sz="1200" b="1" dirty="0">
                    <a:solidFill>
                      <a:srgbClr val="1D1D1A"/>
                    </a:solidFill>
                    <a:latin typeface="Arial"/>
                    <a:ea typeface="Microsoft YaHei"/>
                    <a:cs typeface="Arial"/>
                  </a:rPr>
                  <a:t>能源公用事业</a:t>
                </a:r>
              </a:p>
            </p:txBody>
          </p:sp>
          <p:sp>
            <p:nvSpPr>
              <p:cNvPr id="32" name="TextBox 32"/>
              <p:cNvSpPr txBox="1"/>
              <p:nvPr/>
            </p:nvSpPr>
            <p:spPr>
              <a:xfrm>
                <a:off x="3631692" y="5702618"/>
                <a:ext cx="1102492" cy="264033"/>
              </a:xfrm>
              <a:prstGeom prst="rect">
                <a:avLst/>
              </a:prstGeom>
              <a:noFill/>
              <a:ln>
                <a:noFill/>
              </a:ln>
            </p:spPr>
            <p:txBody>
              <a:bodyPr wrap="none" lIns="0" tIns="0" rIns="0" bIns="0" anchor="t" anchorCtr="0">
                <a:spAutoFit/>
              </a:bodyPr>
              <a:lstStyle/>
              <a:p>
                <a:pPr algn="l"/>
                <a:r>
                  <a:rPr lang="en-US" sz="1350" b="1" dirty="0">
                    <a:solidFill>
                      <a:srgbClr val="1D1D1A"/>
                    </a:solidFill>
                    <a:latin typeface="Arial"/>
                    <a:ea typeface="Arial"/>
                    <a:cs typeface="Arial"/>
                  </a:rPr>
                  <a:t>8% · 166M€</a:t>
                </a:r>
              </a:p>
            </p:txBody>
          </p:sp>
          <p:sp>
            <p:nvSpPr>
              <p:cNvPr id="33" name="Rectangle 33"/>
              <p:cNvSpPr/>
              <p:nvPr/>
            </p:nvSpPr>
            <p:spPr>
              <a:xfrm>
                <a:off x="4876800" y="4324350"/>
                <a:ext cx="1171575" cy="1676400"/>
              </a:xfrm>
              <a:prstGeom prst="rect">
                <a:avLst/>
              </a:prstGeom>
              <a:solidFill>
                <a:srgbClr val="C7000A">
                  <a:alpha val="25000"/>
                </a:srgbClr>
              </a:solidFill>
              <a:ln>
                <a:noFill/>
              </a:ln>
            </p:spPr>
          </p:sp>
          <p:sp>
            <p:nvSpPr>
              <p:cNvPr id="34" name="TextBox 34"/>
              <p:cNvSpPr txBox="1"/>
              <p:nvPr/>
            </p:nvSpPr>
            <p:spPr>
              <a:xfrm>
                <a:off x="4985004" y="4404360"/>
                <a:ext cx="690677" cy="234696"/>
              </a:xfrm>
              <a:prstGeom prst="rect">
                <a:avLst/>
              </a:prstGeom>
              <a:noFill/>
              <a:ln>
                <a:noFill/>
              </a:ln>
            </p:spPr>
            <p:txBody>
              <a:bodyPr wrap="none" lIns="0" tIns="0" rIns="0" bIns="0" anchor="t" anchorCtr="0">
                <a:spAutoFit/>
              </a:bodyPr>
              <a:lstStyle/>
              <a:p>
                <a:pPr algn="l"/>
                <a:r>
                  <a:rPr lang="zh-CN" sz="1200" b="1" dirty="0">
                    <a:solidFill>
                      <a:srgbClr val="1D1D1A"/>
                    </a:solidFill>
                    <a:latin typeface="Arial"/>
                    <a:ea typeface="Microsoft YaHei"/>
                    <a:cs typeface="Arial"/>
                  </a:rPr>
                  <a:t>工业制造</a:t>
                </a:r>
              </a:p>
            </p:txBody>
          </p:sp>
          <p:sp>
            <p:nvSpPr>
              <p:cNvPr id="35" name="TextBox 35"/>
              <p:cNvSpPr txBox="1"/>
              <p:nvPr/>
            </p:nvSpPr>
            <p:spPr>
              <a:xfrm>
                <a:off x="4985004" y="5718810"/>
                <a:ext cx="979993" cy="234696"/>
              </a:xfrm>
              <a:prstGeom prst="rect">
                <a:avLst/>
              </a:prstGeom>
              <a:noFill/>
              <a:ln>
                <a:noFill/>
              </a:ln>
            </p:spPr>
            <p:txBody>
              <a:bodyPr wrap="none" lIns="0" tIns="0" rIns="0" bIns="0" anchor="t" anchorCtr="0">
                <a:spAutoFit/>
              </a:bodyPr>
              <a:lstStyle/>
              <a:p>
                <a:pPr algn="l"/>
                <a:r>
                  <a:rPr lang="en-US" sz="1200" b="1" dirty="0">
                    <a:solidFill>
                      <a:srgbClr val="1D1D1A"/>
                    </a:solidFill>
                    <a:latin typeface="Arial"/>
                    <a:ea typeface="Arial"/>
                    <a:cs typeface="Arial"/>
                  </a:rPr>
                  <a:t>7% · 146M€</a:t>
                </a:r>
              </a:p>
            </p:txBody>
          </p:sp>
          <p:sp>
            <p:nvSpPr>
              <p:cNvPr id="36" name="Rectangle 36"/>
              <p:cNvSpPr/>
              <p:nvPr/>
            </p:nvSpPr>
            <p:spPr>
              <a:xfrm>
                <a:off x="6086475" y="4324350"/>
                <a:ext cx="1400175" cy="1676400"/>
              </a:xfrm>
              <a:prstGeom prst="rect">
                <a:avLst/>
              </a:prstGeom>
              <a:solidFill>
                <a:srgbClr val="C7000A">
                  <a:alpha val="18000"/>
                </a:srgbClr>
              </a:solidFill>
              <a:ln>
                <a:noFill/>
              </a:ln>
            </p:spPr>
          </p:sp>
          <p:sp>
            <p:nvSpPr>
              <p:cNvPr id="37" name="TextBox 37"/>
              <p:cNvSpPr txBox="1"/>
              <p:nvPr/>
            </p:nvSpPr>
            <p:spPr>
              <a:xfrm>
                <a:off x="6194679" y="4404360"/>
                <a:ext cx="1392204" cy="234696"/>
              </a:xfrm>
              <a:prstGeom prst="rect">
                <a:avLst/>
              </a:prstGeom>
              <a:noFill/>
              <a:ln>
                <a:noFill/>
              </a:ln>
            </p:spPr>
            <p:txBody>
              <a:bodyPr wrap="none" lIns="0" tIns="0" rIns="0" bIns="0" anchor="t" anchorCtr="0">
                <a:spAutoFit/>
              </a:bodyPr>
              <a:lstStyle/>
              <a:p>
                <a:pPr algn="l"/>
                <a:r>
                  <a:rPr lang="zh-CN" sz="1200" b="1" dirty="0">
                    <a:solidFill>
                      <a:srgbClr val="1D1D1A"/>
                    </a:solidFill>
                    <a:latin typeface="Arial"/>
                    <a:ea typeface="Microsoft YaHei"/>
                    <a:cs typeface="Arial"/>
                  </a:rPr>
                  <a:t>教育 5% · 104M€</a:t>
                </a:r>
              </a:p>
            </p:txBody>
          </p:sp>
          <p:sp>
            <p:nvSpPr>
              <p:cNvPr id="38" name="TextBox 38"/>
              <p:cNvSpPr txBox="1"/>
              <p:nvPr/>
            </p:nvSpPr>
            <p:spPr>
              <a:xfrm>
                <a:off x="6194679" y="4632960"/>
                <a:ext cx="2103120" cy="234696"/>
              </a:xfrm>
              <a:prstGeom prst="rect">
                <a:avLst/>
              </a:prstGeom>
              <a:noFill/>
              <a:ln>
                <a:noFill/>
              </a:ln>
            </p:spPr>
            <p:txBody>
              <a:bodyPr wrap="none" lIns="0" tIns="0" rIns="0" bIns="0" anchor="t" anchorCtr="0">
                <a:spAutoFit/>
              </a:bodyPr>
              <a:lstStyle/>
              <a:p>
                <a:pPr algn="l"/>
                <a:r>
                  <a:rPr lang="zh-CN" sz="1200" dirty="0">
                    <a:solidFill>
                      <a:srgbClr val="5A5852"/>
                    </a:solidFill>
                    <a:latin typeface="Arial"/>
                    <a:ea typeface="Microsoft YaHei"/>
                    <a:cs typeface="Arial"/>
                  </a:rPr>
                  <a:t>其他(智慧城市) 4% · 84M€</a:t>
                </a:r>
              </a:p>
            </p:txBody>
          </p:sp>
        </p:grpSp>
      </p:grpSp>
      <p:grpSp>
        <p:nvGrpSpPr>
          <p:cNvPr id="49" name="Group 49"/>
          <p:cNvGrpSpPr/>
          <p:nvPr/>
        </p:nvGrpSpPr>
        <p:grpSpPr>
          <a:xfrm>
            <a:off x="7905750" y="1333500"/>
            <a:ext cx="3524250" cy="4667250"/>
            <a:chOff x="7905750" y="1333500"/>
            <a:chExt cx="3524250" cy="4667250"/>
          </a:xfrm>
        </p:grpSpPr>
        <p:sp>
          <p:nvSpPr>
            <p:cNvPr id="41" name="Rectangle 41"/>
            <p:cNvSpPr/>
            <p:nvPr/>
          </p:nvSpPr>
          <p:spPr>
            <a:xfrm>
              <a:off x="7905750" y="1333500"/>
              <a:ext cx="3524250" cy="4667250"/>
            </a:xfrm>
            <a:prstGeom prst="roundRect">
              <a:avLst>
                <a:gd name="adj" fmla="val 2162"/>
              </a:avLst>
            </a:prstGeom>
            <a:solidFill>
              <a:srgbClr val="F7F6F3"/>
            </a:solidFill>
            <a:ln>
              <a:noFill/>
            </a:ln>
          </p:spPr>
        </p:sp>
        <p:sp>
          <p:nvSpPr>
            <p:cNvPr id="42" name="TextBox 42"/>
            <p:cNvSpPr txBox="1"/>
            <p:nvPr/>
          </p:nvSpPr>
          <p:spPr>
            <a:xfrm>
              <a:off x="8146542" y="1492568"/>
              <a:ext cx="1586393" cy="264033"/>
            </a:xfrm>
            <a:prstGeom prst="rect">
              <a:avLst/>
            </a:prstGeom>
            <a:noFill/>
            <a:ln>
              <a:noFill/>
            </a:ln>
          </p:spPr>
          <p:txBody>
            <a:bodyPr wrap="none" lIns="0" tIns="0" rIns="0" bIns="0" anchor="t" anchorCtr="0">
              <a:spAutoFit/>
            </a:bodyPr>
            <a:lstStyle/>
            <a:p>
              <a:pPr algn="l"/>
              <a:r>
                <a:rPr lang="zh-CN" sz="1350" b="1" dirty="0">
                  <a:solidFill>
                    <a:srgbClr val="1D1D1A"/>
                  </a:solidFill>
                  <a:latin typeface="Arial"/>
                  <a:ea typeface="Microsoft YaHei"/>
                  <a:cs typeface="Arial"/>
                </a:rPr>
                <a:t>OEU（约490M€）</a:t>
              </a:r>
            </a:p>
          </p:txBody>
        </p:sp>
        <p:sp>
          <p:nvSpPr>
            <p:cNvPr id="43" name="TextBox 43"/>
            <p:cNvSpPr txBox="1"/>
            <p:nvPr/>
          </p:nvSpPr>
          <p:spPr>
            <a:xfrm>
              <a:off x="8147304" y="1775460"/>
              <a:ext cx="2702052" cy="1377696"/>
            </a:xfrm>
            <a:prstGeom prst="rect">
              <a:avLst/>
            </a:prstGeom>
            <a:noFill/>
            <a:ln>
              <a:noFill/>
            </a:ln>
          </p:spPr>
          <p:txBody>
            <a:bodyPr wrap="square" lIns="0" tIns="0" rIns="0" bIns="0" anchor="t" anchorCtr="0"/>
            <a:lstStyle/>
            <a:p>
              <a:pPr algn="l">
                <a:lnSpc>
                  <a:spcPts val="1800"/>
                </a:lnSpc>
              </a:pPr>
              <a:r>
                <a:rPr lang="zh-CN" sz="1200" dirty="0">
                  <a:solidFill>
                    <a:srgbClr val="5A5852"/>
                  </a:solidFill>
                  <a:latin typeface="Arial"/>
                  <a:ea typeface="Microsoft YaHei"/>
                  <a:cs typeface="Arial"/>
                </a:rPr>
                <a:t>IT系统集成(波兰) 35% · 172M€</a:t>
              </a:r>
              <a:r>
                <a:rPr lang="zh-CN" sz="1200" dirty="0">
                  <a:solidFill>
                    <a:srgbClr val="5A5852"/>
                  </a:solidFill>
                  <a:latin typeface="Arial"/>
                  <a:ea typeface="Microsoft YaHei"/>
                  <a:cs typeface="Arial"/>
                </a:rPr>
                <a:t>公共部门(西班牙Correos) 20% · 98M€</a:t>
              </a:r>
              <a:r>
                <a:rPr lang="zh-CN" sz="1200" dirty="0">
                  <a:solidFill>
                    <a:srgbClr val="5A5852"/>
                  </a:solidFill>
                  <a:latin typeface="Arial"/>
                  <a:ea typeface="Microsoft YaHei"/>
                  <a:cs typeface="Arial"/>
                </a:rPr>
                <a:t>能源工业(TotalEnergies) 15% · 74M€</a:t>
              </a:r>
              <a:r>
                <a:rPr lang="zh-CN" sz="1200" dirty="0">
                  <a:solidFill>
                    <a:srgbClr val="5A5852"/>
                  </a:solidFill>
                  <a:latin typeface="Arial"/>
                  <a:ea typeface="Microsoft YaHei"/>
                  <a:cs typeface="Arial"/>
                </a:rPr>
                <a:t>网络安全(罗马尼亚SCUT) 12% · 59M€</a:t>
              </a:r>
              <a:r>
                <a:rPr lang="zh-CN" sz="1200" dirty="0">
                  <a:solidFill>
                    <a:srgbClr val="5A5852"/>
                  </a:solidFill>
                  <a:latin typeface="Arial"/>
                  <a:ea typeface="Microsoft YaHei"/>
                  <a:cs typeface="Arial"/>
                </a:rPr>
                <a:t>地产建筑(Merlin/OHLA) 10% · 49M€</a:t>
              </a:r>
              <a:r>
                <a:rPr lang="zh-CN" sz="1200" dirty="0">
                  <a:solidFill>
                    <a:srgbClr val="5A5852"/>
                  </a:solidFill>
                  <a:latin typeface="Arial"/>
                  <a:ea typeface="Microsoft YaHei"/>
                  <a:cs typeface="Arial"/>
                </a:rPr>
                <a:t>其他(博彩/物流) 8% · 38M€</a:t>
              </a:r>
            </a:p>
          </p:txBody>
        </p:sp>
        <p:sp>
          <p:nvSpPr>
            <p:cNvPr id="44" name="Line 44"/>
            <p:cNvSpPr/>
            <p:nvPr/>
          </p:nvSpPr>
          <p:spPr>
            <a:xfrm>
              <a:off x="8153400" y="3429000"/>
              <a:ext cx="3028950" cy="9525"/>
            </a:xfrm>
            <a:custGeom>
              <a:avLst/>
              <a:gdLst/>
              <a:ahLst/>
              <a:cxnLst/>
              <a:rect l="l" t="t" r="r" b="b"/>
              <a:pathLst>
                <a:path w="3028950" h="9525">
                  <a:moveTo>
                    <a:pt x="0" y="0"/>
                  </a:moveTo>
                  <a:lnTo>
                    <a:pt x="3028950" y="0"/>
                  </a:lnTo>
                </a:path>
              </a:pathLst>
            </a:custGeom>
            <a:noFill/>
            <a:ln w="9525">
              <a:solidFill>
                <a:srgbClr val="DDDBD6"/>
              </a:solidFill>
            </a:ln>
          </p:spPr>
        </p:sp>
        <p:sp>
          <p:nvSpPr>
            <p:cNvPr id="45" name="TextBox 45"/>
            <p:cNvSpPr txBox="1"/>
            <p:nvPr/>
          </p:nvSpPr>
          <p:spPr>
            <a:xfrm>
              <a:off x="8146542" y="3588068"/>
              <a:ext cx="1737611" cy="264033"/>
            </a:xfrm>
            <a:prstGeom prst="rect">
              <a:avLst/>
            </a:prstGeom>
            <a:noFill/>
            <a:ln>
              <a:noFill/>
            </a:ln>
          </p:spPr>
          <p:txBody>
            <a:bodyPr wrap="none" lIns="0" tIns="0" rIns="0" bIns="0" anchor="t" anchorCtr="0">
              <a:spAutoFit/>
            </a:bodyPr>
            <a:lstStyle/>
            <a:p>
              <a:pPr algn="l"/>
              <a:r>
                <a:rPr lang="zh-CN" sz="1350" b="1" dirty="0">
                  <a:solidFill>
                    <a:srgbClr val="1D1D1A"/>
                  </a:solidFill>
                  <a:latin typeface="Arial"/>
                  <a:ea typeface="Microsoft YaHei"/>
                  <a:cs typeface="Arial"/>
                </a:rPr>
                <a:t>OMEA（约110M€）</a:t>
              </a:r>
            </a:p>
          </p:txBody>
        </p:sp>
        <p:sp>
          <p:nvSpPr>
            <p:cNvPr id="46" name="TextBox 46"/>
            <p:cNvSpPr txBox="1"/>
            <p:nvPr/>
          </p:nvSpPr>
          <p:spPr>
            <a:xfrm>
              <a:off x="8147304" y="3870960"/>
              <a:ext cx="2572512" cy="920496"/>
            </a:xfrm>
            <a:prstGeom prst="rect">
              <a:avLst/>
            </a:prstGeom>
            <a:noFill/>
            <a:ln>
              <a:noFill/>
            </a:ln>
          </p:spPr>
          <p:txBody>
            <a:bodyPr wrap="square" lIns="0" tIns="0" rIns="0" bIns="0" anchor="t" anchorCtr="0"/>
            <a:lstStyle/>
            <a:p>
              <a:pPr algn="l">
                <a:lnSpc>
                  <a:spcPts val="1800"/>
                </a:lnSpc>
              </a:pPr>
              <a:r>
                <a:rPr lang="zh-CN" sz="1200" dirty="0">
                  <a:solidFill>
                    <a:srgbClr val="5A5852"/>
                  </a:solidFill>
                  <a:latin typeface="Arial"/>
                  <a:ea typeface="Microsoft YaHei"/>
                  <a:cs typeface="Arial"/>
                </a:rPr>
                <a:t>矿业(Essakane Mine) 35% · 39M€</a:t>
              </a:r>
              <a:r>
                <a:rPr lang="zh-CN" sz="1200" dirty="0">
                  <a:solidFill>
                    <a:srgbClr val="5A5852"/>
                  </a:solidFill>
                  <a:latin typeface="Arial"/>
                  <a:ea typeface="Microsoft YaHei"/>
                  <a:cs typeface="Arial"/>
                </a:rPr>
                <a:t>港口(Tanger/Aqaba CT) 30% · 33M€</a:t>
              </a:r>
              <a:r>
                <a:rPr lang="zh-CN" sz="1200" dirty="0">
                  <a:solidFill>
                    <a:srgbClr val="5A5852"/>
                  </a:solidFill>
                  <a:latin typeface="Arial"/>
                  <a:ea typeface="Microsoft YaHei"/>
                  <a:cs typeface="Arial"/>
                </a:rPr>
                <a:t>金融科技/能源 20% · 22M€</a:t>
              </a:r>
              <a:r>
                <a:rPr lang="zh-CN" sz="1200" dirty="0">
                  <a:solidFill>
                    <a:srgbClr val="5A5852"/>
                  </a:solidFill>
                  <a:latin typeface="Arial"/>
                  <a:ea typeface="Microsoft YaHei"/>
                  <a:cs typeface="Arial"/>
                </a:rPr>
                <a:t>电子政务(塞内加尔) 15% · 17M€</a:t>
              </a:r>
            </a:p>
          </p:txBody>
        </p:sp>
        <p:sp>
          <p:nvSpPr>
            <p:cNvPr id="47" name="Rectangle 47"/>
            <p:cNvSpPr/>
            <p:nvPr/>
          </p:nvSpPr>
          <p:spPr>
            <a:xfrm>
              <a:off x="8153400" y="5048250"/>
              <a:ext cx="2743200" cy="438150"/>
            </a:xfrm>
            <a:prstGeom prst="roundRect">
              <a:avLst>
                <a:gd name="adj" fmla="val 13043"/>
              </a:avLst>
            </a:prstGeom>
            <a:solidFill>
              <a:srgbClr val="FFFFFF"/>
            </a:solidFill>
            <a:ln w="9525">
              <a:solidFill>
                <a:srgbClr val="F4A100"/>
              </a:solidFill>
            </a:ln>
          </p:spPr>
        </p:sp>
        <p:sp>
          <p:nvSpPr>
            <p:cNvPr id="48" name="TextBox 48"/>
            <p:cNvSpPr txBox="1"/>
            <p:nvPr/>
          </p:nvSpPr>
          <p:spPr>
            <a:xfrm>
              <a:off x="8299704" y="5185410"/>
              <a:ext cx="2797698" cy="234696"/>
            </a:xfrm>
            <a:prstGeom prst="rect">
              <a:avLst/>
            </a:prstGeom>
            <a:noFill/>
            <a:ln>
              <a:noFill/>
            </a:ln>
          </p:spPr>
          <p:txBody>
            <a:bodyPr wrap="none" lIns="0" tIns="0" rIns="0" bIns="0" anchor="t" anchorCtr="0">
              <a:spAutoFit/>
            </a:bodyPr>
            <a:lstStyle/>
            <a:p>
              <a:pPr algn="l"/>
              <a:r>
                <a:rPr lang="zh-CN" sz="1200" dirty="0">
                  <a:solidFill>
                    <a:srgbClr val="1D1D1A"/>
                  </a:solidFill>
                  <a:latin typeface="Arial"/>
                  <a:ea typeface="Microsoft YaHei"/>
                  <a:cs typeface="Arial"/>
                </a:rPr>
                <a:t>华为：与Nokia并列主力（矿业/港口）</a:t>
              </a:r>
            </a:p>
          </p:txBody>
        </p:sp>
      </p:grpSp>
      <p:grpSp>
        <p:nvGrpSpPr>
          <p:cNvPr id="52" name="Group 52"/>
          <p:cNvGrpSpPr/>
          <p:nvPr/>
        </p:nvGrpSpPr>
        <p:grpSpPr>
          <a:xfrm>
            <a:off x="755904" y="6537960"/>
            <a:ext cx="10680192" cy="234696"/>
            <a:chOff x="755904" y="6537960"/>
            <a:chExt cx="10680192" cy="234696"/>
          </a:xfrm>
        </p:grpSpPr>
        <p:sp>
          <p:nvSpPr>
            <p:cNvPr id="50" name="TextBox 50"/>
            <p:cNvSpPr txBox="1"/>
            <p:nvPr/>
          </p:nvSpPr>
          <p:spPr>
            <a:xfrm>
              <a:off x="755904" y="6537960"/>
              <a:ext cx="5542483" cy="234696"/>
            </a:xfrm>
            <a:prstGeom prst="rect">
              <a:avLst/>
            </a:prstGeom>
            <a:noFill/>
            <a:ln>
              <a:noFill/>
            </a:ln>
          </p:spPr>
          <p:txBody>
            <a:bodyPr wrap="none" lIns="0" tIns="0" rIns="0" bIns="0" anchor="t" anchorCtr="0">
              <a:spAutoFit/>
            </a:bodyPr>
            <a:lstStyle/>
            <a:p>
              <a:pPr algn="l"/>
              <a:r>
                <a:rPr lang="zh-CN" sz="1200" dirty="0">
                  <a:solidFill>
                    <a:srgbClr val="8A8880"/>
                  </a:solidFill>
                  <a:latin typeface="Arial"/>
                  <a:ea typeface="Microsoft YaHei"/>
                  <a:cs typeface="Arial"/>
                </a:rPr>
                <a:t>国防+公共部门合计38%为OB最大单一板块；华为在OB/OEU生态未见身影</a:t>
              </a:r>
            </a:p>
          </p:txBody>
        </p:sp>
        <p:sp>
          <p:nvSpPr>
            <p:cNvPr id="51" name="TextBox 51"/>
            <p:cNvSpPr txBox="1"/>
            <p:nvPr/>
          </p:nvSpPr>
          <p:spPr>
            <a:xfrm>
              <a:off x="9530080" y="6537960"/>
              <a:ext cx="1906016" cy="234696"/>
            </a:xfrm>
            <a:prstGeom prst="rect">
              <a:avLst/>
            </a:prstGeom>
            <a:noFill/>
            <a:ln>
              <a:noFill/>
            </a:ln>
          </p:spPr>
          <p:txBody>
            <a:bodyPr wrap="none" lIns="0" tIns="0" rIns="0" bIns="0" anchor="t" anchorCtr="0">
              <a:spAutoFit/>
            </a:bodyPr>
            <a:lstStyle/>
            <a:p>
              <a:pPr algn="r"/>
              <a:r>
                <a:rPr lang="en-US" sz="1200" dirty="0">
                  <a:solidFill>
                    <a:srgbClr val="8A8880"/>
                  </a:solidFill>
                  <a:latin typeface="Arial"/>
                  <a:ea typeface="Arial"/>
                  <a:cs typeface="Arial"/>
                </a:rPr>
                <a:t>11 · Huawei Confidential</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745998" y="212408"/>
            <a:ext cx="10684002" cy="921448"/>
            <a:chOff x="745998" y="212408"/>
            <a:chExt cx="10684002" cy="921448"/>
          </a:xfrm>
        </p:grpSpPr>
        <p:sp>
          <p:nvSpPr>
            <p:cNvPr id="3" name="TextBox 3"/>
            <p:cNvSpPr txBox="1"/>
            <p:nvPr/>
          </p:nvSpPr>
          <p:spPr>
            <a:xfrm>
              <a:off x="745998" y="212408"/>
              <a:ext cx="10065149" cy="616077"/>
            </a:xfrm>
            <a:prstGeom prst="rect">
              <a:avLst/>
            </a:prstGeom>
            <a:noFill/>
            <a:ln>
              <a:noFill/>
            </a:ln>
          </p:spPr>
          <p:txBody>
            <a:bodyPr wrap="none" lIns="0" tIns="0" rIns="0" bIns="0" anchor="t" anchorCtr="0">
              <a:spAutoFit/>
            </a:bodyPr>
            <a:lstStyle/>
            <a:p>
              <a:pPr algn="l"/>
              <a:r>
                <a:rPr lang="zh-CN" sz="3150" b="1" dirty="0">
                  <a:solidFill>
                    <a:srgbClr val="1D1D1A"/>
                  </a:solidFill>
                  <a:latin typeface="Arial"/>
                  <a:ea typeface="Microsoft YaHei"/>
                  <a:cs typeface="Arial"/>
                </a:rPr>
                <a:t>移动专网MPN——华为在OMEA的参与度全deck最高</a:t>
              </a:r>
            </a:p>
          </p:txBody>
        </p:sp>
        <p:sp>
          <p:nvSpPr>
            <p:cNvPr id="4" name="Line 4"/>
            <p:cNvSpPr/>
            <p:nvPr/>
          </p:nvSpPr>
          <p:spPr>
            <a:xfrm>
              <a:off x="762000" y="781050"/>
              <a:ext cx="10668000" cy="9525"/>
            </a:xfrm>
            <a:custGeom>
              <a:avLst/>
              <a:gdLst/>
              <a:ahLst/>
              <a:cxnLst/>
              <a:rect l="l" t="t" r="r" b="b"/>
              <a:pathLst>
                <a:path w="10668000" h="9525">
                  <a:moveTo>
                    <a:pt x="0" y="0"/>
                  </a:moveTo>
                  <a:lnTo>
                    <a:pt x="10668000" y="0"/>
                  </a:lnTo>
                </a:path>
              </a:pathLst>
            </a:custGeom>
            <a:noFill/>
            <a:ln w="9525">
              <a:solidFill>
                <a:srgbClr val="DDDBD6"/>
              </a:solidFill>
            </a:ln>
          </p:spPr>
        </p:sp>
        <p:sp>
          <p:nvSpPr>
            <p:cNvPr id="5" name="TextBox 5"/>
            <p:cNvSpPr txBox="1"/>
            <p:nvPr/>
          </p:nvSpPr>
          <p:spPr>
            <a:xfrm>
              <a:off x="755904" y="899160"/>
              <a:ext cx="6990893" cy="234696"/>
            </a:xfrm>
            <a:prstGeom prst="rect">
              <a:avLst/>
            </a:prstGeom>
            <a:noFill/>
            <a:ln>
              <a:noFill/>
            </a:ln>
          </p:spPr>
          <p:txBody>
            <a:bodyPr wrap="none" lIns="0" tIns="0" rIns="0" bIns="0" anchor="t" anchorCtr="0">
              <a:spAutoFit/>
            </a:bodyPr>
            <a:lstStyle/>
            <a:p>
              <a:pPr algn="l"/>
              <a:r>
                <a:rPr lang="zh-CN" sz="1200" dirty="0">
                  <a:solidFill>
                    <a:srgbClr val="8A8880"/>
                  </a:solidFill>
                  <a:latin typeface="Arial"/>
                  <a:ea typeface="Microsoft YaHei"/>
                  <a:cs typeface="Arial"/>
                </a:rPr>
                <a:t>说明：原始输入材料无此维度，本次调研新增 · Catalogue：工业MPN专网 · 港口/矿业连接方案</a:t>
              </a:r>
            </a:p>
          </p:txBody>
        </p:sp>
      </p:grpSp>
      <p:grpSp>
        <p:nvGrpSpPr>
          <p:cNvPr id="22" name="Group 22"/>
          <p:cNvGrpSpPr/>
          <p:nvPr/>
        </p:nvGrpSpPr>
        <p:grpSpPr>
          <a:xfrm>
            <a:off x="666750" y="1333500"/>
            <a:ext cx="3333750" cy="4191000"/>
            <a:chOff x="666750" y="1333500"/>
            <a:chExt cx="3333750" cy="4191000"/>
          </a:xfrm>
        </p:grpSpPr>
        <p:sp>
          <p:nvSpPr>
            <p:cNvPr id="7" name="Rectangle 7"/>
            <p:cNvSpPr/>
            <p:nvPr/>
          </p:nvSpPr>
          <p:spPr>
            <a:xfrm>
              <a:off x="666750" y="1333500"/>
              <a:ext cx="76200" cy="4191000"/>
            </a:xfrm>
            <a:prstGeom prst="rect">
              <a:avLst/>
            </a:prstGeom>
            <a:solidFill>
              <a:srgbClr val="C7000A"/>
            </a:solidFill>
            <a:ln>
              <a:noFill/>
            </a:ln>
          </p:spPr>
        </p:sp>
        <p:grpSp>
          <p:nvGrpSpPr>
            <p:cNvPr id="14" name="Group 14"/>
            <p:cNvGrpSpPr/>
            <p:nvPr/>
          </p:nvGrpSpPr>
          <p:grpSpPr>
            <a:xfrm>
              <a:off x="1009650" y="1485900"/>
              <a:ext cx="238125" cy="242888"/>
              <a:chOff x="1009650" y="1485900"/>
              <a:chExt cx="238125" cy="242888"/>
            </a:xfrm>
          </p:grpSpPr>
          <p:sp>
            <p:nvSpPr>
              <p:cNvPr id="8" name="Freeform 8"/>
              <p:cNvSpPr/>
              <p:nvPr/>
            </p:nvSpPr>
            <p:spPr>
              <a:xfrm>
                <a:off x="1238250" y="1485900"/>
                <a:ext cx="9525" cy="114300"/>
              </a:xfrm>
              <a:custGeom>
                <a:avLst/>
                <a:gdLst/>
                <a:ahLst/>
                <a:cxnLst/>
                <a:rect l="l" t="t" r="r" b="b"/>
                <a:pathLst>
                  <a:path w="9525" h="114300">
                    <a:moveTo>
                      <a:pt x="0" y="0"/>
                    </a:moveTo>
                    <a:lnTo>
                      <a:pt x="0" y="114300"/>
                    </a:lnTo>
                  </a:path>
                </a:pathLst>
              </a:custGeom>
              <a:noFill/>
              <a:ln w="19050">
                <a:solidFill>
                  <a:srgbClr val="C7000A"/>
                </a:solidFill>
              </a:ln>
            </p:spPr>
          </p:sp>
          <p:sp>
            <p:nvSpPr>
              <p:cNvPr id="9" name="Freeform 9"/>
              <p:cNvSpPr/>
              <p:nvPr/>
            </p:nvSpPr>
            <p:spPr>
              <a:xfrm>
                <a:off x="1181100" y="1493044"/>
                <a:ext cx="9525" cy="100012"/>
              </a:xfrm>
              <a:custGeom>
                <a:avLst/>
                <a:gdLst/>
                <a:ahLst/>
                <a:cxnLst/>
                <a:rect l="l" t="t" r="r" b="b"/>
                <a:pathLst>
                  <a:path w="9525" h="100012">
                    <a:moveTo>
                      <a:pt x="0" y="0"/>
                    </a:moveTo>
                    <a:lnTo>
                      <a:pt x="0" y="100012"/>
                    </a:lnTo>
                  </a:path>
                </a:pathLst>
              </a:custGeom>
              <a:noFill/>
              <a:ln w="19050">
                <a:solidFill>
                  <a:srgbClr val="C7000A"/>
                </a:solidFill>
              </a:ln>
            </p:spPr>
          </p:sp>
          <p:sp>
            <p:nvSpPr>
              <p:cNvPr id="10" name="Freeform 10"/>
              <p:cNvSpPr/>
              <p:nvPr/>
            </p:nvSpPr>
            <p:spPr>
              <a:xfrm>
                <a:off x="1123950" y="1500188"/>
                <a:ext cx="9525" cy="228600"/>
              </a:xfrm>
              <a:custGeom>
                <a:avLst/>
                <a:gdLst/>
                <a:ahLst/>
                <a:cxnLst/>
                <a:rect l="l" t="t" r="r" b="b"/>
                <a:pathLst>
                  <a:path w="9525" h="228600">
                    <a:moveTo>
                      <a:pt x="0" y="0"/>
                    </a:moveTo>
                    <a:lnTo>
                      <a:pt x="0" y="228600"/>
                    </a:lnTo>
                  </a:path>
                </a:pathLst>
              </a:custGeom>
              <a:noFill/>
              <a:ln w="19050">
                <a:solidFill>
                  <a:srgbClr val="C7000A"/>
                </a:solidFill>
              </a:ln>
            </p:spPr>
          </p:sp>
          <p:sp>
            <p:nvSpPr>
              <p:cNvPr id="11" name="Freeform 11"/>
              <p:cNvSpPr/>
              <p:nvPr/>
            </p:nvSpPr>
            <p:spPr>
              <a:xfrm>
                <a:off x="1066800" y="1507331"/>
                <a:ext cx="9525" cy="71438"/>
              </a:xfrm>
              <a:custGeom>
                <a:avLst/>
                <a:gdLst/>
                <a:ahLst/>
                <a:cxnLst/>
                <a:rect l="l" t="t" r="r" b="b"/>
                <a:pathLst>
                  <a:path w="9525" h="71438">
                    <a:moveTo>
                      <a:pt x="0" y="0"/>
                    </a:moveTo>
                    <a:lnTo>
                      <a:pt x="0" y="71438"/>
                    </a:lnTo>
                  </a:path>
                </a:pathLst>
              </a:custGeom>
              <a:noFill/>
              <a:ln w="19050">
                <a:solidFill>
                  <a:srgbClr val="C7000A"/>
                </a:solidFill>
              </a:ln>
            </p:spPr>
          </p:sp>
          <p:sp>
            <p:nvSpPr>
              <p:cNvPr id="12" name="Freeform 12"/>
              <p:cNvSpPr/>
              <p:nvPr/>
            </p:nvSpPr>
            <p:spPr>
              <a:xfrm>
                <a:off x="1009650" y="1514475"/>
                <a:ext cx="9525" cy="57150"/>
              </a:xfrm>
              <a:custGeom>
                <a:avLst/>
                <a:gdLst/>
                <a:ahLst/>
                <a:cxnLst/>
                <a:rect l="l" t="t" r="r" b="b"/>
                <a:pathLst>
                  <a:path w="9525" h="57150">
                    <a:moveTo>
                      <a:pt x="0" y="0"/>
                    </a:moveTo>
                    <a:lnTo>
                      <a:pt x="0" y="57150"/>
                    </a:lnTo>
                  </a:path>
                </a:pathLst>
              </a:custGeom>
              <a:noFill/>
              <a:ln w="19050">
                <a:solidFill>
                  <a:srgbClr val="C7000A"/>
                </a:solidFill>
              </a:ln>
            </p:spPr>
          </p:sp>
          <p:sp>
            <p:nvSpPr>
              <p:cNvPr id="13" name="Freeform 13"/>
              <p:cNvSpPr/>
              <p:nvPr/>
            </p:nvSpPr>
            <p:spPr>
              <a:xfrm>
                <a:off x="1009650" y="1543050"/>
                <a:ext cx="228600" cy="9525"/>
              </a:xfrm>
              <a:custGeom>
                <a:avLst/>
                <a:gdLst/>
                <a:ahLst/>
                <a:cxnLst/>
                <a:rect l="l" t="t" r="r" b="b"/>
                <a:pathLst>
                  <a:path w="228600" h="9525">
                    <a:moveTo>
                      <a:pt x="228600" y="0"/>
                    </a:moveTo>
                    <a:lnTo>
                      <a:pt x="0" y="0"/>
                    </a:lnTo>
                  </a:path>
                </a:pathLst>
              </a:custGeom>
              <a:noFill/>
              <a:ln w="19050">
                <a:solidFill>
                  <a:srgbClr val="C7000A"/>
                </a:solidFill>
              </a:ln>
            </p:spPr>
          </p:sp>
        </p:grpSp>
        <p:sp>
          <p:nvSpPr>
            <p:cNvPr id="15" name="TextBox 15"/>
            <p:cNvSpPr txBox="1"/>
            <p:nvPr/>
          </p:nvSpPr>
          <p:spPr>
            <a:xfrm>
              <a:off x="1383030" y="1514475"/>
              <a:ext cx="306476" cy="293370"/>
            </a:xfrm>
            <a:prstGeom prst="rect">
              <a:avLst/>
            </a:prstGeom>
            <a:noFill/>
            <a:ln>
              <a:noFill/>
            </a:ln>
          </p:spPr>
          <p:txBody>
            <a:bodyPr wrap="none" lIns="0" tIns="0" rIns="0" bIns="0" anchor="t" anchorCtr="0">
              <a:spAutoFit/>
            </a:bodyPr>
            <a:lstStyle/>
            <a:p>
              <a:pPr algn="l"/>
              <a:r>
                <a:rPr lang="en-US" sz="1500" b="1" dirty="0">
                  <a:solidFill>
                    <a:srgbClr val="1D1D1A"/>
                  </a:solidFill>
                  <a:latin typeface="Arial"/>
                  <a:ea typeface="Arial"/>
                  <a:cs typeface="Arial"/>
                </a:rPr>
                <a:t>OB</a:t>
              </a:r>
            </a:p>
          </p:txBody>
        </p:sp>
        <p:sp>
          <p:nvSpPr>
            <p:cNvPr id="16" name="TextBox 16"/>
            <p:cNvSpPr txBox="1"/>
            <p:nvPr/>
          </p:nvSpPr>
          <p:spPr>
            <a:xfrm>
              <a:off x="945642" y="1911668"/>
              <a:ext cx="967835" cy="264033"/>
            </a:xfrm>
            <a:prstGeom prst="rect">
              <a:avLst/>
            </a:prstGeom>
            <a:noFill/>
            <a:ln>
              <a:noFill/>
            </a:ln>
          </p:spPr>
          <p:txBody>
            <a:bodyPr wrap="none" lIns="0" tIns="0" rIns="0" bIns="0" anchor="t" anchorCtr="0">
              <a:spAutoFit/>
            </a:bodyPr>
            <a:lstStyle/>
            <a:p>
              <a:pPr algn="l"/>
              <a:r>
                <a:rPr lang="zh-CN" sz="1350" b="1" dirty="0">
                  <a:solidFill>
                    <a:srgbClr val="1D1D1A"/>
                  </a:solidFill>
                  <a:latin typeface="Arial"/>
                  <a:ea typeface="Microsoft YaHei"/>
                  <a:cs typeface="Arial"/>
                </a:rPr>
                <a:t>非战略重心</a:t>
              </a:r>
            </a:p>
          </p:txBody>
        </p:sp>
        <p:sp>
          <p:nvSpPr>
            <p:cNvPr id="17" name="TextBox 17"/>
            <p:cNvSpPr txBox="1"/>
            <p:nvPr/>
          </p:nvSpPr>
          <p:spPr>
            <a:xfrm>
              <a:off x="946404" y="2175510"/>
              <a:ext cx="1536192" cy="425196"/>
            </a:xfrm>
            <a:prstGeom prst="rect">
              <a:avLst/>
            </a:prstGeom>
            <a:noFill/>
            <a:ln>
              <a:noFill/>
            </a:ln>
          </p:spPr>
          <p:txBody>
            <a:bodyPr wrap="square" lIns="0" tIns="0" rIns="0" bIns="0" anchor="t" anchorCtr="0"/>
            <a:lstStyle/>
            <a:p>
              <a:pPr algn="l">
                <a:lnSpc>
                  <a:spcPts val="1500"/>
                </a:lnSpc>
              </a:pPr>
              <a:r>
                <a:rPr lang="zh-CN" sz="1200" dirty="0">
                  <a:solidFill>
                    <a:srgbClr val="5A5852"/>
                  </a:solidFill>
                  <a:latin typeface="Arial"/>
                  <a:ea typeface="Microsoft YaHei"/>
                  <a:cs typeface="Arial"/>
                </a:rPr>
                <a:t>法国再工业化背景下的</a:t>
              </a:r>
              <a:r>
                <a:rPr lang="zh-CN" sz="1200" dirty="0">
                  <a:solidFill>
                    <a:srgbClr val="5A5852"/>
                  </a:solidFill>
                  <a:latin typeface="Arial"/>
                  <a:ea typeface="Microsoft YaHei"/>
                  <a:cs typeface="Arial"/>
                </a:rPr>
                <a:t>Hybrid MPN试点探索</a:t>
              </a:r>
            </a:p>
          </p:txBody>
        </p:sp>
        <p:sp>
          <p:nvSpPr>
            <p:cNvPr id="18" name="TextBox 18"/>
            <p:cNvSpPr txBox="1"/>
            <p:nvPr/>
          </p:nvSpPr>
          <p:spPr>
            <a:xfrm>
              <a:off x="944880" y="2695575"/>
              <a:ext cx="1699931" cy="293370"/>
            </a:xfrm>
            <a:prstGeom prst="rect">
              <a:avLst/>
            </a:prstGeom>
            <a:noFill/>
            <a:ln>
              <a:noFill/>
            </a:ln>
          </p:spPr>
          <p:txBody>
            <a:bodyPr wrap="none" lIns="0" tIns="0" rIns="0" bIns="0" anchor="t" anchorCtr="0">
              <a:spAutoFit/>
            </a:bodyPr>
            <a:lstStyle/>
            <a:p>
              <a:pPr algn="l"/>
              <a:r>
                <a:rPr lang="zh-CN" sz="1500" b="1" dirty="0">
                  <a:solidFill>
                    <a:srgbClr val="1D1D1A"/>
                  </a:solidFill>
                  <a:latin typeface="Arial"/>
                  <a:ea typeface="Microsoft YaHei"/>
                  <a:cs typeface="Arial"/>
                </a:rPr>
                <a:t>约5-10</a:t>
              </a:r>
              <a:r>
                <a:rPr lang="zh-CN" sz="1200" b="1" dirty="0">
                  <a:solidFill>
                    <a:srgbClr val="1D1D1A"/>
                  </a:solidFill>
                  <a:latin typeface="Arial"/>
                  <a:ea typeface="Microsoft YaHei"/>
                  <a:cs typeface="Arial"/>
                </a:rPr>
                <a:t>M€/Y（估）</a:t>
              </a:r>
            </a:p>
          </p:txBody>
        </p:sp>
        <p:sp>
          <p:nvSpPr>
            <p:cNvPr id="19" name="TextBox 19"/>
            <p:cNvSpPr txBox="1"/>
            <p:nvPr/>
          </p:nvSpPr>
          <p:spPr>
            <a:xfrm>
              <a:off x="946404" y="2956560"/>
              <a:ext cx="1420368" cy="234696"/>
            </a:xfrm>
            <a:prstGeom prst="rect">
              <a:avLst/>
            </a:prstGeom>
            <a:noFill/>
            <a:ln>
              <a:noFill/>
            </a:ln>
          </p:spPr>
          <p:txBody>
            <a:bodyPr wrap="none" lIns="0" tIns="0" rIns="0" bIns="0" anchor="t" anchorCtr="0">
              <a:spAutoFit/>
            </a:bodyPr>
            <a:lstStyle/>
            <a:p>
              <a:pPr algn="l"/>
              <a:r>
                <a:rPr lang="zh-CN" sz="1200" dirty="0">
                  <a:solidFill>
                    <a:srgbClr val="5A5852"/>
                  </a:solidFill>
                  <a:latin typeface="Arial"/>
                  <a:ea typeface="Microsoft YaHei"/>
                  <a:cs typeface="Arial"/>
                </a:rPr>
                <a:t>占OB总收入&lt;0.2%</a:t>
              </a:r>
            </a:p>
          </p:txBody>
        </p:sp>
        <p:sp>
          <p:nvSpPr>
            <p:cNvPr id="20" name="Rectangle 20"/>
            <p:cNvSpPr/>
            <p:nvPr/>
          </p:nvSpPr>
          <p:spPr>
            <a:xfrm>
              <a:off x="952500" y="3333750"/>
              <a:ext cx="3048000" cy="133350"/>
            </a:xfrm>
            <a:prstGeom prst="roundRect">
              <a:avLst>
                <a:gd name="adj" fmla="val 50000"/>
              </a:avLst>
            </a:prstGeom>
            <a:solidFill>
              <a:srgbClr val="DDDBD6"/>
            </a:solidFill>
            <a:ln>
              <a:noFill/>
            </a:ln>
          </p:spPr>
        </p:sp>
        <p:sp>
          <p:nvSpPr>
            <p:cNvPr id="21" name="TextBox 21"/>
            <p:cNvSpPr txBox="1"/>
            <p:nvPr/>
          </p:nvSpPr>
          <p:spPr>
            <a:xfrm>
              <a:off x="946404" y="3642360"/>
              <a:ext cx="1369162" cy="234696"/>
            </a:xfrm>
            <a:prstGeom prst="rect">
              <a:avLst/>
            </a:prstGeom>
            <a:noFill/>
            <a:ln>
              <a:noFill/>
            </a:ln>
          </p:spPr>
          <p:txBody>
            <a:bodyPr wrap="none" lIns="0" tIns="0" rIns="0" bIns="0" anchor="t" anchorCtr="0">
              <a:spAutoFit/>
            </a:bodyPr>
            <a:lstStyle/>
            <a:p>
              <a:pPr algn="l"/>
              <a:r>
                <a:rPr lang="zh-CN" sz="1200" b="1" dirty="0">
                  <a:solidFill>
                    <a:srgbClr val="8A8880"/>
                  </a:solidFill>
                  <a:latin typeface="Arial"/>
                  <a:ea typeface="Microsoft YaHei"/>
                  <a:cs typeface="Arial"/>
                </a:rPr>
                <a:t>华为：无相关信息</a:t>
              </a:r>
            </a:p>
          </p:txBody>
        </p:sp>
      </p:grpSp>
      <p:grpSp>
        <p:nvGrpSpPr>
          <p:cNvPr id="37" name="Group 37"/>
          <p:cNvGrpSpPr/>
          <p:nvPr/>
        </p:nvGrpSpPr>
        <p:grpSpPr>
          <a:xfrm>
            <a:off x="4381500" y="1333500"/>
            <a:ext cx="3333750" cy="4191000"/>
            <a:chOff x="4381500" y="1333500"/>
            <a:chExt cx="3333750" cy="4191000"/>
          </a:xfrm>
        </p:grpSpPr>
        <p:sp>
          <p:nvSpPr>
            <p:cNvPr id="23" name="Rectangle 23"/>
            <p:cNvSpPr/>
            <p:nvPr/>
          </p:nvSpPr>
          <p:spPr>
            <a:xfrm>
              <a:off x="4381500" y="1333500"/>
              <a:ext cx="76200" cy="4191000"/>
            </a:xfrm>
            <a:prstGeom prst="rect">
              <a:avLst/>
            </a:prstGeom>
            <a:solidFill>
              <a:srgbClr val="E9002F"/>
            </a:solidFill>
            <a:ln>
              <a:noFill/>
            </a:ln>
          </p:spPr>
        </p:sp>
        <p:grpSp>
          <p:nvGrpSpPr>
            <p:cNvPr id="30" name="Group 30"/>
            <p:cNvGrpSpPr/>
            <p:nvPr/>
          </p:nvGrpSpPr>
          <p:grpSpPr>
            <a:xfrm>
              <a:off x="4724400" y="1485900"/>
              <a:ext cx="238125" cy="242888"/>
              <a:chOff x="4724400" y="1485900"/>
              <a:chExt cx="238125" cy="242888"/>
            </a:xfrm>
          </p:grpSpPr>
          <p:sp>
            <p:nvSpPr>
              <p:cNvPr id="24" name="Freeform 24"/>
              <p:cNvSpPr/>
              <p:nvPr/>
            </p:nvSpPr>
            <p:spPr>
              <a:xfrm>
                <a:off x="4953000" y="1485900"/>
                <a:ext cx="9525" cy="114300"/>
              </a:xfrm>
              <a:custGeom>
                <a:avLst/>
                <a:gdLst/>
                <a:ahLst/>
                <a:cxnLst/>
                <a:rect l="l" t="t" r="r" b="b"/>
                <a:pathLst>
                  <a:path w="9525" h="114300">
                    <a:moveTo>
                      <a:pt x="0" y="0"/>
                    </a:moveTo>
                    <a:lnTo>
                      <a:pt x="0" y="114300"/>
                    </a:lnTo>
                  </a:path>
                </a:pathLst>
              </a:custGeom>
              <a:noFill/>
              <a:ln w="19050">
                <a:solidFill>
                  <a:srgbClr val="E9002F"/>
                </a:solidFill>
              </a:ln>
            </p:spPr>
          </p:sp>
          <p:sp>
            <p:nvSpPr>
              <p:cNvPr id="25" name="Freeform 25"/>
              <p:cNvSpPr/>
              <p:nvPr/>
            </p:nvSpPr>
            <p:spPr>
              <a:xfrm>
                <a:off x="4895850" y="1493044"/>
                <a:ext cx="9525" cy="100012"/>
              </a:xfrm>
              <a:custGeom>
                <a:avLst/>
                <a:gdLst/>
                <a:ahLst/>
                <a:cxnLst/>
                <a:rect l="l" t="t" r="r" b="b"/>
                <a:pathLst>
                  <a:path w="9525" h="100012">
                    <a:moveTo>
                      <a:pt x="0" y="0"/>
                    </a:moveTo>
                    <a:lnTo>
                      <a:pt x="0" y="100012"/>
                    </a:lnTo>
                  </a:path>
                </a:pathLst>
              </a:custGeom>
              <a:noFill/>
              <a:ln w="19050">
                <a:solidFill>
                  <a:srgbClr val="E9002F"/>
                </a:solidFill>
              </a:ln>
            </p:spPr>
          </p:sp>
          <p:sp>
            <p:nvSpPr>
              <p:cNvPr id="26" name="Freeform 26"/>
              <p:cNvSpPr/>
              <p:nvPr/>
            </p:nvSpPr>
            <p:spPr>
              <a:xfrm>
                <a:off x="4838700" y="1500188"/>
                <a:ext cx="9525" cy="228600"/>
              </a:xfrm>
              <a:custGeom>
                <a:avLst/>
                <a:gdLst/>
                <a:ahLst/>
                <a:cxnLst/>
                <a:rect l="l" t="t" r="r" b="b"/>
                <a:pathLst>
                  <a:path w="9525" h="228600">
                    <a:moveTo>
                      <a:pt x="0" y="0"/>
                    </a:moveTo>
                    <a:lnTo>
                      <a:pt x="0" y="228600"/>
                    </a:lnTo>
                  </a:path>
                </a:pathLst>
              </a:custGeom>
              <a:noFill/>
              <a:ln w="19050">
                <a:solidFill>
                  <a:srgbClr val="E9002F"/>
                </a:solidFill>
              </a:ln>
            </p:spPr>
          </p:sp>
          <p:sp>
            <p:nvSpPr>
              <p:cNvPr id="27" name="Freeform 27"/>
              <p:cNvSpPr/>
              <p:nvPr/>
            </p:nvSpPr>
            <p:spPr>
              <a:xfrm>
                <a:off x="4781550" y="1507331"/>
                <a:ext cx="9525" cy="71438"/>
              </a:xfrm>
              <a:custGeom>
                <a:avLst/>
                <a:gdLst/>
                <a:ahLst/>
                <a:cxnLst/>
                <a:rect l="l" t="t" r="r" b="b"/>
                <a:pathLst>
                  <a:path w="9525" h="71438">
                    <a:moveTo>
                      <a:pt x="0" y="0"/>
                    </a:moveTo>
                    <a:lnTo>
                      <a:pt x="0" y="71438"/>
                    </a:lnTo>
                  </a:path>
                </a:pathLst>
              </a:custGeom>
              <a:noFill/>
              <a:ln w="19050">
                <a:solidFill>
                  <a:srgbClr val="E9002F"/>
                </a:solidFill>
              </a:ln>
            </p:spPr>
          </p:sp>
          <p:sp>
            <p:nvSpPr>
              <p:cNvPr id="28" name="Freeform 28"/>
              <p:cNvSpPr/>
              <p:nvPr/>
            </p:nvSpPr>
            <p:spPr>
              <a:xfrm>
                <a:off x="4724400" y="1514475"/>
                <a:ext cx="9525" cy="57150"/>
              </a:xfrm>
              <a:custGeom>
                <a:avLst/>
                <a:gdLst/>
                <a:ahLst/>
                <a:cxnLst/>
                <a:rect l="l" t="t" r="r" b="b"/>
                <a:pathLst>
                  <a:path w="9525" h="57150">
                    <a:moveTo>
                      <a:pt x="0" y="0"/>
                    </a:moveTo>
                    <a:lnTo>
                      <a:pt x="0" y="57150"/>
                    </a:lnTo>
                  </a:path>
                </a:pathLst>
              </a:custGeom>
              <a:noFill/>
              <a:ln w="19050">
                <a:solidFill>
                  <a:srgbClr val="E9002F"/>
                </a:solidFill>
              </a:ln>
            </p:spPr>
          </p:sp>
          <p:sp>
            <p:nvSpPr>
              <p:cNvPr id="29" name="Freeform 29"/>
              <p:cNvSpPr/>
              <p:nvPr/>
            </p:nvSpPr>
            <p:spPr>
              <a:xfrm>
                <a:off x="4724400" y="1543050"/>
                <a:ext cx="228600" cy="9525"/>
              </a:xfrm>
              <a:custGeom>
                <a:avLst/>
                <a:gdLst/>
                <a:ahLst/>
                <a:cxnLst/>
                <a:rect l="l" t="t" r="r" b="b"/>
                <a:pathLst>
                  <a:path w="228600" h="9525">
                    <a:moveTo>
                      <a:pt x="228600" y="0"/>
                    </a:moveTo>
                    <a:lnTo>
                      <a:pt x="0" y="0"/>
                    </a:lnTo>
                  </a:path>
                </a:pathLst>
              </a:custGeom>
              <a:noFill/>
              <a:ln w="19050">
                <a:solidFill>
                  <a:srgbClr val="E9002F"/>
                </a:solidFill>
              </a:ln>
            </p:spPr>
          </p:sp>
        </p:grpSp>
        <p:sp>
          <p:nvSpPr>
            <p:cNvPr id="31" name="TextBox 31"/>
            <p:cNvSpPr txBox="1"/>
            <p:nvPr/>
          </p:nvSpPr>
          <p:spPr>
            <a:xfrm>
              <a:off x="5097780" y="1514475"/>
              <a:ext cx="429692" cy="293370"/>
            </a:xfrm>
            <a:prstGeom prst="rect">
              <a:avLst/>
            </a:prstGeom>
            <a:noFill/>
            <a:ln>
              <a:noFill/>
            </a:ln>
          </p:spPr>
          <p:txBody>
            <a:bodyPr wrap="none" lIns="0" tIns="0" rIns="0" bIns="0" anchor="t" anchorCtr="0">
              <a:spAutoFit/>
            </a:bodyPr>
            <a:lstStyle/>
            <a:p>
              <a:pPr algn="l"/>
              <a:r>
                <a:rPr lang="en-US" sz="1500" b="1" dirty="0">
                  <a:solidFill>
                    <a:srgbClr val="1D1D1A"/>
                  </a:solidFill>
                  <a:latin typeface="Arial"/>
                  <a:ea typeface="Arial"/>
                  <a:cs typeface="Arial"/>
                </a:rPr>
                <a:t>OEU</a:t>
              </a:r>
            </a:p>
          </p:txBody>
        </p:sp>
        <p:sp>
          <p:nvSpPr>
            <p:cNvPr id="32" name="TextBox 32"/>
            <p:cNvSpPr txBox="1"/>
            <p:nvPr/>
          </p:nvSpPr>
          <p:spPr>
            <a:xfrm>
              <a:off x="4660392" y="1911668"/>
              <a:ext cx="777011" cy="264033"/>
            </a:xfrm>
            <a:prstGeom prst="rect">
              <a:avLst/>
            </a:prstGeom>
            <a:noFill/>
            <a:ln>
              <a:noFill/>
            </a:ln>
          </p:spPr>
          <p:txBody>
            <a:bodyPr wrap="none" lIns="0" tIns="0" rIns="0" bIns="0" anchor="t" anchorCtr="0">
              <a:spAutoFit/>
            </a:bodyPr>
            <a:lstStyle/>
            <a:p>
              <a:pPr algn="l"/>
              <a:r>
                <a:rPr lang="zh-CN" sz="1350" b="1" dirty="0">
                  <a:solidFill>
                    <a:srgbClr val="1D1D1A"/>
                  </a:solidFill>
                  <a:latin typeface="Arial"/>
                  <a:ea typeface="Microsoft YaHei"/>
                  <a:cs typeface="Arial"/>
                </a:rPr>
                <a:t>起步阶段</a:t>
              </a:r>
            </a:p>
          </p:txBody>
        </p:sp>
        <p:sp>
          <p:nvSpPr>
            <p:cNvPr id="33" name="TextBox 33"/>
            <p:cNvSpPr txBox="1"/>
            <p:nvPr/>
          </p:nvSpPr>
          <p:spPr>
            <a:xfrm>
              <a:off x="4661154" y="2175510"/>
              <a:ext cx="1940052" cy="425196"/>
            </a:xfrm>
            <a:prstGeom prst="rect">
              <a:avLst/>
            </a:prstGeom>
            <a:noFill/>
            <a:ln>
              <a:noFill/>
            </a:ln>
          </p:spPr>
          <p:txBody>
            <a:bodyPr wrap="square" lIns="0" tIns="0" rIns="0" bIns="0" anchor="t" anchorCtr="0"/>
            <a:lstStyle/>
            <a:p>
              <a:pPr algn="l">
                <a:lnSpc>
                  <a:spcPts val="1500"/>
                </a:lnSpc>
              </a:pPr>
              <a:r>
                <a:rPr lang="zh-CN" sz="1200" dirty="0">
                  <a:solidFill>
                    <a:srgbClr val="5A5852"/>
                  </a:solidFill>
                  <a:latin typeface="Arial"/>
                  <a:ea typeface="Microsoft YaHei"/>
                  <a:cs typeface="Arial"/>
                </a:rPr>
                <a:t>西班牙MasOrange新签5G专</a:t>
              </a:r>
              <a:r>
                <a:rPr lang="zh-CN" sz="1200" dirty="0">
                  <a:solidFill>
                    <a:srgbClr val="5A5852"/>
                  </a:solidFill>
                  <a:latin typeface="Arial"/>
                  <a:ea typeface="Microsoft YaHei"/>
                  <a:cs typeface="Arial"/>
                </a:rPr>
                <a:t>网合同（TotalEnergies等）</a:t>
              </a:r>
            </a:p>
          </p:txBody>
        </p:sp>
        <p:sp>
          <p:nvSpPr>
            <p:cNvPr id="34" name="TextBox 34"/>
            <p:cNvSpPr txBox="1"/>
            <p:nvPr/>
          </p:nvSpPr>
          <p:spPr>
            <a:xfrm>
              <a:off x="4659630" y="2695575"/>
              <a:ext cx="1879153" cy="293370"/>
            </a:xfrm>
            <a:prstGeom prst="rect">
              <a:avLst/>
            </a:prstGeom>
            <a:noFill/>
            <a:ln>
              <a:noFill/>
            </a:ln>
          </p:spPr>
          <p:txBody>
            <a:bodyPr wrap="none" lIns="0" tIns="0" rIns="0" bIns="0" anchor="t" anchorCtr="0">
              <a:spAutoFit/>
            </a:bodyPr>
            <a:lstStyle/>
            <a:p>
              <a:pPr algn="l"/>
              <a:r>
                <a:rPr lang="zh-CN" sz="1500" b="1" dirty="0">
                  <a:solidFill>
                    <a:srgbClr val="1D1D1A"/>
                  </a:solidFill>
                  <a:latin typeface="Arial"/>
                  <a:ea typeface="Microsoft YaHei"/>
                  <a:cs typeface="Arial"/>
                </a:rPr>
                <a:t>规模极小</a:t>
              </a:r>
              <a:r>
                <a:rPr lang="zh-CN" sz="1200" b="1" dirty="0">
                  <a:solidFill>
                    <a:srgbClr val="1D1D1A"/>
                  </a:solidFill>
                  <a:latin typeface="Arial"/>
                  <a:ea typeface="Microsoft YaHei"/>
                  <a:cs typeface="Arial"/>
                </a:rPr>
                <a:t>（估&lt;5M€）</a:t>
              </a:r>
            </a:p>
          </p:txBody>
        </p:sp>
        <p:sp>
          <p:nvSpPr>
            <p:cNvPr id="35" name="Rectangle 35"/>
            <p:cNvSpPr/>
            <p:nvPr/>
          </p:nvSpPr>
          <p:spPr>
            <a:xfrm>
              <a:off x="4667250" y="3333750"/>
              <a:ext cx="3048000" cy="133350"/>
            </a:xfrm>
            <a:prstGeom prst="roundRect">
              <a:avLst>
                <a:gd name="adj" fmla="val 50000"/>
              </a:avLst>
            </a:prstGeom>
            <a:solidFill>
              <a:srgbClr val="DDDBD6"/>
            </a:solidFill>
            <a:ln>
              <a:noFill/>
            </a:ln>
          </p:spPr>
        </p:sp>
        <p:sp>
          <p:nvSpPr>
            <p:cNvPr id="36" name="TextBox 36"/>
            <p:cNvSpPr txBox="1"/>
            <p:nvPr/>
          </p:nvSpPr>
          <p:spPr>
            <a:xfrm>
              <a:off x="4661154" y="3642360"/>
              <a:ext cx="1928912" cy="234696"/>
            </a:xfrm>
            <a:prstGeom prst="rect">
              <a:avLst/>
            </a:prstGeom>
            <a:noFill/>
            <a:ln>
              <a:noFill/>
            </a:ln>
          </p:spPr>
          <p:txBody>
            <a:bodyPr wrap="none" lIns="0" tIns="0" rIns="0" bIns="0" anchor="t" anchorCtr="0">
              <a:spAutoFit/>
            </a:bodyPr>
            <a:lstStyle/>
            <a:p>
              <a:pPr algn="l"/>
              <a:r>
                <a:rPr lang="zh-CN" sz="1200" b="1" dirty="0">
                  <a:solidFill>
                    <a:srgbClr val="8A8880"/>
                  </a:solidFill>
                  <a:latin typeface="Arial"/>
                  <a:ea typeface="Microsoft YaHei"/>
                  <a:cs typeface="Arial"/>
                </a:rPr>
                <a:t>华为：预计排除（估0%）</a:t>
              </a:r>
            </a:p>
          </p:txBody>
        </p:sp>
      </p:grpSp>
      <p:grpSp>
        <p:nvGrpSpPr>
          <p:cNvPr id="52" name="Group 52"/>
          <p:cNvGrpSpPr/>
          <p:nvPr/>
        </p:nvGrpSpPr>
        <p:grpSpPr>
          <a:xfrm>
            <a:off x="8096250" y="1333500"/>
            <a:ext cx="3333750" cy="4191000"/>
            <a:chOff x="8096250" y="1333500"/>
            <a:chExt cx="3333750" cy="4191000"/>
          </a:xfrm>
        </p:grpSpPr>
        <p:sp>
          <p:nvSpPr>
            <p:cNvPr id="38" name="Rectangle 38"/>
            <p:cNvSpPr/>
            <p:nvPr/>
          </p:nvSpPr>
          <p:spPr>
            <a:xfrm>
              <a:off x="8096250" y="1333500"/>
              <a:ext cx="76200" cy="4191000"/>
            </a:xfrm>
            <a:prstGeom prst="rect">
              <a:avLst/>
            </a:prstGeom>
            <a:solidFill>
              <a:srgbClr val="F4A100"/>
            </a:solidFill>
            <a:ln>
              <a:noFill/>
            </a:ln>
          </p:spPr>
        </p:sp>
        <p:grpSp>
          <p:nvGrpSpPr>
            <p:cNvPr id="45" name="Group 45"/>
            <p:cNvGrpSpPr/>
            <p:nvPr/>
          </p:nvGrpSpPr>
          <p:grpSpPr>
            <a:xfrm>
              <a:off x="8439150" y="1485900"/>
              <a:ext cx="238125" cy="242888"/>
              <a:chOff x="8439150" y="1485900"/>
              <a:chExt cx="238125" cy="242888"/>
            </a:xfrm>
          </p:grpSpPr>
          <p:sp>
            <p:nvSpPr>
              <p:cNvPr id="39" name="Freeform 39"/>
              <p:cNvSpPr/>
              <p:nvPr/>
            </p:nvSpPr>
            <p:spPr>
              <a:xfrm>
                <a:off x="8667750" y="1485900"/>
                <a:ext cx="9525" cy="114300"/>
              </a:xfrm>
              <a:custGeom>
                <a:avLst/>
                <a:gdLst/>
                <a:ahLst/>
                <a:cxnLst/>
                <a:rect l="l" t="t" r="r" b="b"/>
                <a:pathLst>
                  <a:path w="9525" h="114300">
                    <a:moveTo>
                      <a:pt x="0" y="0"/>
                    </a:moveTo>
                    <a:lnTo>
                      <a:pt x="0" y="114300"/>
                    </a:lnTo>
                  </a:path>
                </a:pathLst>
              </a:custGeom>
              <a:noFill/>
              <a:ln w="19050">
                <a:solidFill>
                  <a:srgbClr val="F4A100"/>
                </a:solidFill>
              </a:ln>
            </p:spPr>
          </p:sp>
          <p:sp>
            <p:nvSpPr>
              <p:cNvPr id="40" name="Freeform 40"/>
              <p:cNvSpPr/>
              <p:nvPr/>
            </p:nvSpPr>
            <p:spPr>
              <a:xfrm>
                <a:off x="8610600" y="1493044"/>
                <a:ext cx="9525" cy="100012"/>
              </a:xfrm>
              <a:custGeom>
                <a:avLst/>
                <a:gdLst/>
                <a:ahLst/>
                <a:cxnLst/>
                <a:rect l="l" t="t" r="r" b="b"/>
                <a:pathLst>
                  <a:path w="9525" h="100012">
                    <a:moveTo>
                      <a:pt x="0" y="0"/>
                    </a:moveTo>
                    <a:lnTo>
                      <a:pt x="0" y="100012"/>
                    </a:lnTo>
                  </a:path>
                </a:pathLst>
              </a:custGeom>
              <a:noFill/>
              <a:ln w="19050">
                <a:solidFill>
                  <a:srgbClr val="F4A100"/>
                </a:solidFill>
              </a:ln>
            </p:spPr>
          </p:sp>
          <p:sp>
            <p:nvSpPr>
              <p:cNvPr id="41" name="Freeform 41"/>
              <p:cNvSpPr/>
              <p:nvPr/>
            </p:nvSpPr>
            <p:spPr>
              <a:xfrm>
                <a:off x="8553450" y="1500188"/>
                <a:ext cx="9525" cy="228600"/>
              </a:xfrm>
              <a:custGeom>
                <a:avLst/>
                <a:gdLst/>
                <a:ahLst/>
                <a:cxnLst/>
                <a:rect l="l" t="t" r="r" b="b"/>
                <a:pathLst>
                  <a:path w="9525" h="228600">
                    <a:moveTo>
                      <a:pt x="0" y="0"/>
                    </a:moveTo>
                    <a:lnTo>
                      <a:pt x="0" y="228600"/>
                    </a:lnTo>
                  </a:path>
                </a:pathLst>
              </a:custGeom>
              <a:noFill/>
              <a:ln w="19050">
                <a:solidFill>
                  <a:srgbClr val="F4A100"/>
                </a:solidFill>
              </a:ln>
            </p:spPr>
          </p:sp>
          <p:sp>
            <p:nvSpPr>
              <p:cNvPr id="42" name="Freeform 42"/>
              <p:cNvSpPr/>
              <p:nvPr/>
            </p:nvSpPr>
            <p:spPr>
              <a:xfrm>
                <a:off x="8496300" y="1507331"/>
                <a:ext cx="9525" cy="71438"/>
              </a:xfrm>
              <a:custGeom>
                <a:avLst/>
                <a:gdLst/>
                <a:ahLst/>
                <a:cxnLst/>
                <a:rect l="l" t="t" r="r" b="b"/>
                <a:pathLst>
                  <a:path w="9525" h="71438">
                    <a:moveTo>
                      <a:pt x="0" y="0"/>
                    </a:moveTo>
                    <a:lnTo>
                      <a:pt x="0" y="71438"/>
                    </a:lnTo>
                  </a:path>
                </a:pathLst>
              </a:custGeom>
              <a:noFill/>
              <a:ln w="19050">
                <a:solidFill>
                  <a:srgbClr val="F4A100"/>
                </a:solidFill>
              </a:ln>
            </p:spPr>
          </p:sp>
          <p:sp>
            <p:nvSpPr>
              <p:cNvPr id="43" name="Freeform 43"/>
              <p:cNvSpPr/>
              <p:nvPr/>
            </p:nvSpPr>
            <p:spPr>
              <a:xfrm>
                <a:off x="8439150" y="1514475"/>
                <a:ext cx="9525" cy="57150"/>
              </a:xfrm>
              <a:custGeom>
                <a:avLst/>
                <a:gdLst/>
                <a:ahLst/>
                <a:cxnLst/>
                <a:rect l="l" t="t" r="r" b="b"/>
                <a:pathLst>
                  <a:path w="9525" h="57150">
                    <a:moveTo>
                      <a:pt x="0" y="0"/>
                    </a:moveTo>
                    <a:lnTo>
                      <a:pt x="0" y="57150"/>
                    </a:lnTo>
                  </a:path>
                </a:pathLst>
              </a:custGeom>
              <a:noFill/>
              <a:ln w="19050">
                <a:solidFill>
                  <a:srgbClr val="F4A100"/>
                </a:solidFill>
              </a:ln>
            </p:spPr>
          </p:sp>
          <p:sp>
            <p:nvSpPr>
              <p:cNvPr id="44" name="Freeform 44"/>
              <p:cNvSpPr/>
              <p:nvPr/>
            </p:nvSpPr>
            <p:spPr>
              <a:xfrm>
                <a:off x="8439150" y="1543050"/>
                <a:ext cx="228600" cy="9525"/>
              </a:xfrm>
              <a:custGeom>
                <a:avLst/>
                <a:gdLst/>
                <a:ahLst/>
                <a:cxnLst/>
                <a:rect l="l" t="t" r="r" b="b"/>
                <a:pathLst>
                  <a:path w="228600" h="9525">
                    <a:moveTo>
                      <a:pt x="228600" y="0"/>
                    </a:moveTo>
                    <a:lnTo>
                      <a:pt x="0" y="0"/>
                    </a:lnTo>
                  </a:path>
                </a:pathLst>
              </a:custGeom>
              <a:noFill/>
              <a:ln w="19050">
                <a:solidFill>
                  <a:srgbClr val="F4A100"/>
                </a:solidFill>
              </a:ln>
            </p:spPr>
          </p:sp>
        </p:grpSp>
        <p:sp>
          <p:nvSpPr>
            <p:cNvPr id="46" name="TextBox 46"/>
            <p:cNvSpPr txBox="1"/>
            <p:nvPr/>
          </p:nvSpPr>
          <p:spPr>
            <a:xfrm>
              <a:off x="8812530" y="1514475"/>
              <a:ext cx="2199513" cy="293370"/>
            </a:xfrm>
            <a:prstGeom prst="rect">
              <a:avLst/>
            </a:prstGeom>
            <a:noFill/>
            <a:ln>
              <a:noFill/>
            </a:ln>
          </p:spPr>
          <p:txBody>
            <a:bodyPr wrap="none" lIns="0" tIns="0" rIns="0" bIns="0" anchor="t" anchorCtr="0">
              <a:spAutoFit/>
            </a:bodyPr>
            <a:lstStyle/>
            <a:p>
              <a:pPr algn="l"/>
              <a:r>
                <a:rPr lang="zh-CN" sz="1500" b="1" dirty="0">
                  <a:solidFill>
                    <a:srgbClr val="1D1D1A"/>
                  </a:solidFill>
                  <a:latin typeface="Arial"/>
                  <a:ea typeface="Microsoft YaHei"/>
                  <a:cs typeface="Arial"/>
                </a:rPr>
                <a:t>OMEA · 核心增长引擎</a:t>
              </a:r>
            </a:p>
          </p:txBody>
        </p:sp>
        <p:sp>
          <p:nvSpPr>
            <p:cNvPr id="47" name="TextBox 47"/>
            <p:cNvSpPr txBox="1"/>
            <p:nvPr/>
          </p:nvSpPr>
          <p:spPr>
            <a:xfrm>
              <a:off x="8375904" y="1927860"/>
              <a:ext cx="1620012" cy="806196"/>
            </a:xfrm>
            <a:prstGeom prst="rect">
              <a:avLst/>
            </a:prstGeom>
            <a:noFill/>
            <a:ln>
              <a:noFill/>
            </a:ln>
          </p:spPr>
          <p:txBody>
            <a:bodyPr wrap="square" lIns="0" tIns="0" rIns="0" bIns="0" anchor="t" anchorCtr="0"/>
            <a:lstStyle/>
            <a:p>
              <a:pPr algn="l">
                <a:lnSpc>
                  <a:spcPts val="1500"/>
                </a:lnSpc>
              </a:pPr>
              <a:r>
                <a:rPr lang="zh-CN" sz="1200" dirty="0">
                  <a:solidFill>
                    <a:srgbClr val="5A5852"/>
                  </a:solidFill>
                  <a:latin typeface="Arial"/>
                  <a:ea typeface="Microsoft YaHei"/>
                  <a:cs typeface="Arial"/>
                </a:rPr>
                <a:t>矿业+港口双典型场景：</a:t>
              </a:r>
              <a:r>
                <a:rPr lang="zh-CN" sz="1200" dirty="0">
                  <a:solidFill>
                    <a:srgbClr val="5A5852"/>
                  </a:solidFill>
                  <a:latin typeface="Arial"/>
                  <a:ea typeface="Microsoft YaHei"/>
                  <a:cs typeface="Arial"/>
                </a:rPr>
                <a:t xml:space="preserve">Essakane Mine马里 · </a:t>
              </a:r>
              <a:r>
                <a:rPr lang="zh-CN" sz="1200" dirty="0">
                  <a:solidFill>
                    <a:srgbClr val="5A5852"/>
                  </a:solidFill>
                  <a:latin typeface="Arial"/>
                  <a:ea typeface="Microsoft YaHei"/>
                  <a:cs typeface="Arial"/>
                </a:rPr>
                <a:t xml:space="preserve">Tanger Port马士基 · </a:t>
              </a:r>
              <a:r>
                <a:rPr lang="zh-CN" sz="1200" dirty="0">
                  <a:solidFill>
                    <a:srgbClr val="5A5852"/>
                  </a:solidFill>
                  <a:latin typeface="Arial"/>
                  <a:ea typeface="Microsoft YaHei"/>
                  <a:cs typeface="Arial"/>
                </a:rPr>
                <a:t>Aqaba CT约旦</a:t>
              </a:r>
            </a:p>
          </p:txBody>
        </p:sp>
        <p:sp>
          <p:nvSpPr>
            <p:cNvPr id="48" name="Rectangle 48"/>
            <p:cNvSpPr/>
            <p:nvPr/>
          </p:nvSpPr>
          <p:spPr>
            <a:xfrm>
              <a:off x="8382000" y="3238500"/>
              <a:ext cx="3048000" cy="133350"/>
            </a:xfrm>
            <a:prstGeom prst="roundRect">
              <a:avLst>
                <a:gd name="adj" fmla="val 50000"/>
              </a:avLst>
            </a:prstGeom>
            <a:solidFill>
              <a:srgbClr val="DDDBD6"/>
            </a:solidFill>
            <a:ln>
              <a:noFill/>
            </a:ln>
          </p:spPr>
        </p:sp>
        <p:sp>
          <p:nvSpPr>
            <p:cNvPr id="49" name="Rectangle 49"/>
            <p:cNvSpPr/>
            <p:nvPr/>
          </p:nvSpPr>
          <p:spPr>
            <a:xfrm>
              <a:off x="8382000" y="3238500"/>
              <a:ext cx="1371600" cy="133350"/>
            </a:xfrm>
            <a:prstGeom prst="roundRect">
              <a:avLst>
                <a:gd name="adj" fmla="val 50000"/>
              </a:avLst>
            </a:prstGeom>
            <a:solidFill>
              <a:srgbClr val="C7000A"/>
            </a:solidFill>
            <a:ln>
              <a:noFill/>
            </a:ln>
          </p:spPr>
        </p:sp>
        <p:sp>
          <p:nvSpPr>
            <p:cNvPr id="50" name="TextBox 50"/>
            <p:cNvSpPr txBox="1"/>
            <p:nvPr/>
          </p:nvSpPr>
          <p:spPr>
            <a:xfrm>
              <a:off x="8375142" y="3530918"/>
              <a:ext cx="1511683" cy="264033"/>
            </a:xfrm>
            <a:prstGeom prst="rect">
              <a:avLst/>
            </a:prstGeom>
            <a:noFill/>
            <a:ln>
              <a:noFill/>
            </a:ln>
          </p:spPr>
          <p:txBody>
            <a:bodyPr wrap="none" lIns="0" tIns="0" rIns="0" bIns="0" anchor="t" anchorCtr="0">
              <a:spAutoFit/>
            </a:bodyPr>
            <a:lstStyle/>
            <a:p>
              <a:pPr algn="l"/>
              <a:r>
                <a:rPr lang="zh-CN" sz="1350" b="1" dirty="0">
                  <a:solidFill>
                    <a:srgbClr val="C7000A"/>
                  </a:solidFill>
                  <a:latin typeface="Arial"/>
                  <a:ea typeface="Microsoft YaHei"/>
                  <a:cs typeface="Arial"/>
                </a:rPr>
                <a:t>华为：45%（估）</a:t>
              </a:r>
            </a:p>
          </p:txBody>
        </p:sp>
        <p:sp>
          <p:nvSpPr>
            <p:cNvPr id="51" name="TextBox 51"/>
            <p:cNvSpPr txBox="1"/>
            <p:nvPr/>
          </p:nvSpPr>
          <p:spPr>
            <a:xfrm>
              <a:off x="8375904" y="3775710"/>
              <a:ext cx="1727606" cy="234696"/>
            </a:xfrm>
            <a:prstGeom prst="rect">
              <a:avLst/>
            </a:prstGeom>
            <a:noFill/>
            <a:ln>
              <a:noFill/>
            </a:ln>
          </p:spPr>
          <p:txBody>
            <a:bodyPr wrap="none" lIns="0" tIns="0" rIns="0" bIns="0" anchor="t" anchorCtr="0">
              <a:spAutoFit/>
            </a:bodyPr>
            <a:lstStyle/>
            <a:p>
              <a:pPr algn="l"/>
              <a:r>
                <a:rPr lang="zh-CN" sz="1200" dirty="0">
                  <a:solidFill>
                    <a:srgbClr val="5A5852"/>
                  </a:solidFill>
                  <a:latin typeface="Arial"/>
                  <a:ea typeface="Microsoft YaHei"/>
                  <a:cs typeface="Arial"/>
                </a:rPr>
                <a:t>与Nokia并列供应商主力</a:t>
              </a:r>
            </a:p>
          </p:txBody>
        </p:sp>
      </p:grpSp>
      <p:grpSp>
        <p:nvGrpSpPr>
          <p:cNvPr id="55" name="Group 55"/>
          <p:cNvGrpSpPr/>
          <p:nvPr/>
        </p:nvGrpSpPr>
        <p:grpSpPr>
          <a:xfrm>
            <a:off x="666750" y="5715000"/>
            <a:ext cx="10858500" cy="495300"/>
            <a:chOff x="666750" y="5715000"/>
            <a:chExt cx="10858500" cy="495300"/>
          </a:xfrm>
        </p:grpSpPr>
        <p:sp>
          <p:nvSpPr>
            <p:cNvPr id="53" name="Rectangle 53"/>
            <p:cNvSpPr/>
            <p:nvPr/>
          </p:nvSpPr>
          <p:spPr>
            <a:xfrm>
              <a:off x="666750" y="5715000"/>
              <a:ext cx="10858500" cy="495300"/>
            </a:xfrm>
            <a:prstGeom prst="roundRect">
              <a:avLst>
                <a:gd name="adj" fmla="val 15385"/>
              </a:avLst>
            </a:prstGeom>
            <a:solidFill>
              <a:srgbClr val="F7F6F3"/>
            </a:solidFill>
            <a:ln>
              <a:noFill/>
            </a:ln>
          </p:spPr>
        </p:sp>
        <p:sp>
          <p:nvSpPr>
            <p:cNvPr id="54" name="TextBox 54"/>
            <p:cNvSpPr txBox="1"/>
            <p:nvPr/>
          </p:nvSpPr>
          <p:spPr>
            <a:xfrm>
              <a:off x="889254" y="5880735"/>
              <a:ext cx="6752352" cy="234696"/>
            </a:xfrm>
            <a:prstGeom prst="rect">
              <a:avLst/>
            </a:prstGeom>
            <a:noFill/>
            <a:ln>
              <a:noFill/>
            </a:ln>
          </p:spPr>
          <p:txBody>
            <a:bodyPr wrap="none" lIns="0" tIns="0" rIns="0" bIns="0" anchor="t" anchorCtr="0">
              <a:spAutoFit/>
            </a:bodyPr>
            <a:lstStyle/>
            <a:p>
              <a:pPr algn="l"/>
              <a:r>
                <a:rPr lang="zh-CN" sz="1200" dirty="0">
                  <a:solidFill>
                    <a:srgbClr val="1D1D1A"/>
                  </a:solidFill>
                  <a:latin typeface="Arial"/>
                  <a:ea typeface="Microsoft YaHei"/>
                  <a:cs typeface="Arial"/>
                </a:rPr>
                <a:t>MPN是</a:t>
              </a:r>
              <a:r>
                <a:rPr lang="zh-CN" sz="1200" b="1" dirty="0">
                  <a:solidFill>
                    <a:srgbClr val="C7000A"/>
                  </a:solidFill>
                  <a:latin typeface="Arial"/>
                  <a:ea typeface="Microsoft YaHei"/>
                  <a:cs typeface="Arial"/>
                </a:rPr>
                <a:t>唯一</a:t>
              </a:r>
              <a:r>
                <a:rPr lang="zh-CN" sz="1200" dirty="0">
                  <a:solidFill>
                    <a:srgbClr val="1D1D1A"/>
                  </a:solidFill>
                  <a:latin typeface="Arial"/>
                  <a:ea typeface="Microsoft YaHei"/>
                  <a:cs typeface="Arial"/>
                </a:rPr>
                <a:t>华为与Nokia并列主力供应商的场景，值得作为对OB/OEU寻找突破口的重要参考</a:t>
              </a:r>
            </a:p>
          </p:txBody>
        </p:sp>
      </p:grpSp>
      <p:grpSp>
        <p:nvGrpSpPr>
          <p:cNvPr id="58" name="Group 58"/>
          <p:cNvGrpSpPr/>
          <p:nvPr/>
        </p:nvGrpSpPr>
        <p:grpSpPr>
          <a:xfrm>
            <a:off x="755904" y="6442710"/>
            <a:ext cx="10680192" cy="234696"/>
            <a:chOff x="755904" y="6442710"/>
            <a:chExt cx="10680192" cy="234696"/>
          </a:xfrm>
        </p:grpSpPr>
        <p:sp>
          <p:nvSpPr>
            <p:cNvPr id="56" name="TextBox 56"/>
            <p:cNvSpPr txBox="1"/>
            <p:nvPr/>
          </p:nvSpPr>
          <p:spPr>
            <a:xfrm>
              <a:off x="755904" y="6442710"/>
              <a:ext cx="7522464" cy="234696"/>
            </a:xfrm>
            <a:prstGeom prst="rect">
              <a:avLst/>
            </a:prstGeom>
            <a:noFill/>
            <a:ln>
              <a:noFill/>
            </a:ln>
          </p:spPr>
          <p:txBody>
            <a:bodyPr wrap="none" lIns="0" tIns="0" rIns="0" bIns="0" anchor="t" anchorCtr="0">
              <a:spAutoFit/>
            </a:bodyPr>
            <a:lstStyle/>
            <a:p>
              <a:pPr algn="l"/>
              <a:r>
                <a:rPr lang="zh-CN" sz="1200" dirty="0">
                  <a:solidFill>
                    <a:srgbClr val="8A8880"/>
                  </a:solidFill>
                  <a:latin typeface="Arial"/>
                  <a:ea typeface="Microsoft YaHei"/>
                  <a:cs typeface="Arial"/>
                </a:rPr>
                <a:t>数据来源：OMEA战略材料(2026.4)、公开案例调研；本维度为本次调研新增，原始材料无对应章节</a:t>
              </a:r>
            </a:p>
          </p:txBody>
        </p:sp>
        <p:sp>
          <p:nvSpPr>
            <p:cNvPr id="57" name="TextBox 57"/>
            <p:cNvSpPr txBox="1"/>
            <p:nvPr/>
          </p:nvSpPr>
          <p:spPr>
            <a:xfrm>
              <a:off x="9530080" y="6442710"/>
              <a:ext cx="1906016" cy="234696"/>
            </a:xfrm>
            <a:prstGeom prst="rect">
              <a:avLst/>
            </a:prstGeom>
            <a:noFill/>
            <a:ln>
              <a:noFill/>
            </a:ln>
          </p:spPr>
          <p:txBody>
            <a:bodyPr wrap="none" lIns="0" tIns="0" rIns="0" bIns="0" anchor="t" anchorCtr="0">
              <a:spAutoFit/>
            </a:bodyPr>
            <a:lstStyle/>
            <a:p>
              <a:pPr algn="r"/>
              <a:r>
                <a:rPr lang="en-US" sz="1200" dirty="0">
                  <a:solidFill>
                    <a:srgbClr val="8A8880"/>
                  </a:solidFill>
                  <a:latin typeface="Arial"/>
                  <a:ea typeface="Arial"/>
                  <a:cs typeface="Arial"/>
                </a:rPr>
                <a:t>12 · Huawei Confidential</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745998" y="212408"/>
            <a:ext cx="11511199" cy="921448"/>
            <a:chOff x="745998" y="212408"/>
            <a:chExt cx="11511199" cy="921448"/>
          </a:xfrm>
        </p:grpSpPr>
        <p:sp>
          <p:nvSpPr>
            <p:cNvPr id="3" name="TextBox 3"/>
            <p:cNvSpPr txBox="1"/>
            <p:nvPr/>
          </p:nvSpPr>
          <p:spPr>
            <a:xfrm>
              <a:off x="745998" y="212408"/>
              <a:ext cx="11511199" cy="616077"/>
            </a:xfrm>
            <a:prstGeom prst="rect">
              <a:avLst/>
            </a:prstGeom>
            <a:noFill/>
            <a:ln>
              <a:noFill/>
            </a:ln>
          </p:spPr>
          <p:txBody>
            <a:bodyPr wrap="none" lIns="0" tIns="0" rIns="0" bIns="0" anchor="t" anchorCtr="0">
              <a:spAutoFit/>
            </a:bodyPr>
            <a:lstStyle/>
            <a:p>
              <a:pPr algn="l"/>
              <a:r>
                <a:rPr lang="zh-CN" sz="3150" b="1" dirty="0">
                  <a:solidFill>
                    <a:srgbClr val="1D1D1A"/>
                  </a:solidFill>
                  <a:latin typeface="Arial"/>
                  <a:ea typeface="Microsoft YaHei"/>
                  <a:cs typeface="Arial"/>
                </a:rPr>
                <a:t>OB是生态位竞争排除区——唯一锚点是看不见的云栈底层</a:t>
              </a:r>
            </a:p>
          </p:txBody>
        </p:sp>
        <p:sp>
          <p:nvSpPr>
            <p:cNvPr id="4" name="Line 4"/>
            <p:cNvSpPr/>
            <p:nvPr/>
          </p:nvSpPr>
          <p:spPr>
            <a:xfrm>
              <a:off x="762000" y="781050"/>
              <a:ext cx="10668000" cy="9525"/>
            </a:xfrm>
            <a:custGeom>
              <a:avLst/>
              <a:gdLst/>
              <a:ahLst/>
              <a:cxnLst/>
              <a:rect l="l" t="t" r="r" b="b"/>
              <a:pathLst>
                <a:path w="10668000" h="9525">
                  <a:moveTo>
                    <a:pt x="0" y="0"/>
                  </a:moveTo>
                  <a:lnTo>
                    <a:pt x="10668000" y="0"/>
                  </a:lnTo>
                </a:path>
              </a:pathLst>
            </a:custGeom>
            <a:noFill/>
            <a:ln w="9525">
              <a:solidFill>
                <a:srgbClr val="DDDBD6"/>
              </a:solidFill>
            </a:ln>
          </p:spPr>
        </p:sp>
        <p:sp>
          <p:nvSpPr>
            <p:cNvPr id="5" name="TextBox 5"/>
            <p:cNvSpPr txBox="1"/>
            <p:nvPr/>
          </p:nvSpPr>
          <p:spPr>
            <a:xfrm>
              <a:off x="755904" y="899160"/>
              <a:ext cx="6088685" cy="234696"/>
            </a:xfrm>
            <a:prstGeom prst="rect">
              <a:avLst/>
            </a:prstGeom>
            <a:noFill/>
            <a:ln>
              <a:noFill/>
            </a:ln>
          </p:spPr>
          <p:txBody>
            <a:bodyPr wrap="none" lIns="0" tIns="0" rIns="0" bIns="0" anchor="t" anchorCtr="0">
              <a:spAutoFit/>
            </a:bodyPr>
            <a:lstStyle/>
            <a:p>
              <a:pPr algn="l"/>
              <a:r>
                <a:rPr lang="zh-CN" sz="1200" dirty="0">
                  <a:solidFill>
                    <a:srgbClr val="8A8880"/>
                  </a:solidFill>
                  <a:latin typeface="Arial"/>
                  <a:ea typeface="Microsoft YaHei"/>
                  <a:cs typeface="Arial"/>
                </a:rPr>
                <a:t>法国WAN/LAN/安全目录基本不在准入清单，排除是市场化竞争结果而非行政禁令</a:t>
              </a:r>
            </a:p>
          </p:txBody>
        </p:sp>
      </p:grpSp>
      <p:grpSp>
        <p:nvGrpSpPr>
          <p:cNvPr id="53" name="Group 53"/>
          <p:cNvGrpSpPr/>
          <p:nvPr/>
        </p:nvGrpSpPr>
        <p:grpSpPr>
          <a:xfrm>
            <a:off x="755142" y="1299210"/>
            <a:ext cx="10680954" cy="3391091"/>
            <a:chOff x="755142" y="1299210"/>
            <a:chExt cx="10680954" cy="3391091"/>
          </a:xfrm>
        </p:grpSpPr>
        <p:sp>
          <p:nvSpPr>
            <p:cNvPr id="7" name="TextBox 7"/>
            <p:cNvSpPr txBox="1"/>
            <p:nvPr/>
          </p:nvSpPr>
          <p:spPr>
            <a:xfrm>
              <a:off x="755904" y="1299210"/>
              <a:ext cx="1246266" cy="234696"/>
            </a:xfrm>
            <a:prstGeom prst="rect">
              <a:avLst/>
            </a:prstGeom>
            <a:noFill/>
            <a:ln>
              <a:noFill/>
            </a:ln>
          </p:spPr>
          <p:txBody>
            <a:bodyPr wrap="none" lIns="0" tIns="0" rIns="0" bIns="0" anchor="t" anchorCtr="0">
              <a:spAutoFit/>
            </a:bodyPr>
            <a:lstStyle/>
            <a:p>
              <a:pPr algn="l"/>
              <a:r>
                <a:rPr lang="zh-CN" sz="1200" b="1" spc="75" dirty="0">
                  <a:solidFill>
                    <a:srgbClr val="8A8880"/>
                  </a:solidFill>
                  <a:latin typeface="Arial"/>
                  <a:ea typeface="Microsoft YaHei"/>
                  <a:cs typeface="Arial"/>
                </a:rPr>
                <a:t>OFFERING维度</a:t>
              </a:r>
            </a:p>
          </p:txBody>
        </p:sp>
        <p:sp>
          <p:nvSpPr>
            <p:cNvPr id="8" name="TextBox 8"/>
            <p:cNvSpPr txBox="1"/>
            <p:nvPr/>
          </p:nvSpPr>
          <p:spPr>
            <a:xfrm>
              <a:off x="4184904" y="1299210"/>
              <a:ext cx="1072591" cy="234696"/>
            </a:xfrm>
            <a:prstGeom prst="rect">
              <a:avLst/>
            </a:prstGeom>
            <a:noFill/>
            <a:ln>
              <a:noFill/>
            </a:ln>
          </p:spPr>
          <p:txBody>
            <a:bodyPr wrap="none" lIns="0" tIns="0" rIns="0" bIns="0" anchor="t" anchorCtr="0">
              <a:spAutoFit/>
            </a:bodyPr>
            <a:lstStyle/>
            <a:p>
              <a:pPr algn="l"/>
              <a:r>
                <a:rPr lang="zh-CN" sz="1200" b="1" spc="75" dirty="0">
                  <a:solidFill>
                    <a:srgbClr val="8A8880"/>
                  </a:solidFill>
                  <a:latin typeface="Arial"/>
                  <a:ea typeface="Microsoft YaHei"/>
                  <a:cs typeface="Arial"/>
                </a:rPr>
                <a:t>主要VENDOR</a:t>
              </a:r>
            </a:p>
          </p:txBody>
        </p:sp>
        <p:sp>
          <p:nvSpPr>
            <p:cNvPr id="9" name="TextBox 9"/>
            <p:cNvSpPr txBox="1"/>
            <p:nvPr/>
          </p:nvSpPr>
          <p:spPr>
            <a:xfrm>
              <a:off x="7232904" y="1299210"/>
              <a:ext cx="720966" cy="234696"/>
            </a:xfrm>
            <a:prstGeom prst="rect">
              <a:avLst/>
            </a:prstGeom>
            <a:noFill/>
            <a:ln>
              <a:noFill/>
            </a:ln>
          </p:spPr>
          <p:txBody>
            <a:bodyPr wrap="none" lIns="0" tIns="0" rIns="0" bIns="0" anchor="t" anchorCtr="0">
              <a:spAutoFit/>
            </a:bodyPr>
            <a:lstStyle/>
            <a:p>
              <a:pPr algn="l"/>
              <a:r>
                <a:rPr lang="zh-CN" sz="1200" b="1" spc="75" dirty="0">
                  <a:solidFill>
                    <a:srgbClr val="8A8880"/>
                  </a:solidFill>
                  <a:latin typeface="Arial"/>
                  <a:ea typeface="Microsoft YaHei"/>
                  <a:cs typeface="Arial"/>
                </a:rPr>
                <a:t>华为现状</a:t>
              </a:r>
            </a:p>
          </p:txBody>
        </p:sp>
        <p:sp>
          <p:nvSpPr>
            <p:cNvPr id="10" name="TextBox 10"/>
            <p:cNvSpPr txBox="1"/>
            <p:nvPr/>
          </p:nvSpPr>
          <p:spPr>
            <a:xfrm>
              <a:off x="10355694" y="1299210"/>
              <a:ext cx="1080402" cy="234696"/>
            </a:xfrm>
            <a:prstGeom prst="rect">
              <a:avLst/>
            </a:prstGeom>
            <a:noFill/>
            <a:ln>
              <a:noFill/>
            </a:ln>
          </p:spPr>
          <p:txBody>
            <a:bodyPr wrap="none" lIns="0" tIns="0" rIns="0" bIns="0" anchor="t" anchorCtr="0">
              <a:spAutoFit/>
            </a:bodyPr>
            <a:lstStyle/>
            <a:p>
              <a:pPr algn="r"/>
              <a:r>
                <a:rPr lang="zh-CN" sz="1200" b="1" spc="75" dirty="0">
                  <a:solidFill>
                    <a:srgbClr val="8A8880"/>
                  </a:solidFill>
                  <a:latin typeface="Arial"/>
                  <a:ea typeface="Microsoft YaHei"/>
                  <a:cs typeface="Arial"/>
                </a:rPr>
                <a:t>参与度（估）</a:t>
              </a:r>
            </a:p>
          </p:txBody>
        </p:sp>
        <p:sp>
          <p:nvSpPr>
            <p:cNvPr id="11" name="Line 11"/>
            <p:cNvSpPr/>
            <p:nvPr/>
          </p:nvSpPr>
          <p:spPr>
            <a:xfrm>
              <a:off x="762000" y="1524000"/>
              <a:ext cx="10668000" cy="9525"/>
            </a:xfrm>
            <a:custGeom>
              <a:avLst/>
              <a:gdLst/>
              <a:ahLst/>
              <a:cxnLst/>
              <a:rect l="l" t="t" r="r" b="b"/>
              <a:pathLst>
                <a:path w="10668000" h="9525">
                  <a:moveTo>
                    <a:pt x="0" y="0"/>
                  </a:moveTo>
                  <a:lnTo>
                    <a:pt x="10668000" y="0"/>
                  </a:lnTo>
                </a:path>
              </a:pathLst>
            </a:custGeom>
            <a:noFill/>
            <a:ln w="14288">
              <a:solidFill>
                <a:srgbClr val="1D1D1A"/>
              </a:solidFill>
            </a:ln>
          </p:spPr>
        </p:sp>
        <p:grpSp>
          <p:nvGrpSpPr>
            <p:cNvPr id="17" name="Group 17"/>
            <p:cNvGrpSpPr/>
            <p:nvPr/>
          </p:nvGrpSpPr>
          <p:grpSpPr>
            <a:xfrm>
              <a:off x="755142" y="1759268"/>
              <a:ext cx="10680954" cy="264033"/>
              <a:chOff x="755142" y="1759268"/>
              <a:chExt cx="10680954" cy="264033"/>
            </a:xfrm>
          </p:grpSpPr>
          <p:sp>
            <p:nvSpPr>
              <p:cNvPr id="12" name="TextBox 12"/>
              <p:cNvSpPr txBox="1"/>
              <p:nvPr/>
            </p:nvSpPr>
            <p:spPr>
              <a:xfrm>
                <a:off x="755142" y="1759268"/>
                <a:ext cx="789973" cy="264033"/>
              </a:xfrm>
              <a:prstGeom prst="rect">
                <a:avLst/>
              </a:prstGeom>
              <a:noFill/>
              <a:ln>
                <a:noFill/>
              </a:ln>
            </p:spPr>
            <p:txBody>
              <a:bodyPr wrap="none" lIns="0" tIns="0" rIns="0" bIns="0" anchor="t" anchorCtr="0">
                <a:spAutoFit/>
              </a:bodyPr>
              <a:lstStyle/>
              <a:p>
                <a:pPr algn="l"/>
                <a:r>
                  <a:rPr lang="zh-CN" sz="1350" b="1" dirty="0">
                    <a:solidFill>
                      <a:srgbClr val="1D1D1A"/>
                    </a:solidFill>
                    <a:latin typeface="Arial"/>
                    <a:ea typeface="Microsoft YaHei"/>
                    <a:cs typeface="Arial"/>
                  </a:rPr>
                  <a:t>WAN连接</a:t>
                </a:r>
              </a:p>
            </p:txBody>
          </p:sp>
          <p:sp>
            <p:nvSpPr>
              <p:cNvPr id="13" name="TextBox 13"/>
              <p:cNvSpPr txBox="1"/>
              <p:nvPr/>
            </p:nvSpPr>
            <p:spPr>
              <a:xfrm>
                <a:off x="4184904" y="1775460"/>
                <a:ext cx="3110582" cy="234696"/>
              </a:xfrm>
              <a:prstGeom prst="rect">
                <a:avLst/>
              </a:prstGeom>
              <a:noFill/>
              <a:ln>
                <a:noFill/>
              </a:ln>
            </p:spPr>
            <p:txBody>
              <a:bodyPr wrap="none" lIns="0" tIns="0" rIns="0" bIns="0" anchor="t" anchorCtr="0">
                <a:spAutoFit/>
              </a:bodyPr>
              <a:lstStyle/>
              <a:p>
                <a:pPr algn="l"/>
                <a:r>
                  <a:rPr lang="en-US" sz="1200" dirty="0">
                    <a:solidFill>
                      <a:srgbClr val="5A5852"/>
                    </a:solidFill>
                    <a:latin typeface="Arial"/>
                    <a:ea typeface="Arial"/>
                    <a:cs typeface="Arial"/>
                  </a:rPr>
                  <a:t>Cisco / Fortinet / VMware / OneAccess</a:t>
                </a:r>
              </a:p>
            </p:txBody>
          </p:sp>
          <p:sp>
            <p:nvSpPr>
              <p:cNvPr id="14" name="TextBox 14"/>
              <p:cNvSpPr txBox="1"/>
              <p:nvPr/>
            </p:nvSpPr>
            <p:spPr>
              <a:xfrm>
                <a:off x="7232904" y="1775460"/>
                <a:ext cx="496824" cy="234696"/>
              </a:xfrm>
              <a:prstGeom prst="rect">
                <a:avLst/>
              </a:prstGeom>
              <a:noFill/>
              <a:ln>
                <a:noFill/>
              </a:ln>
            </p:spPr>
            <p:txBody>
              <a:bodyPr wrap="none" lIns="0" tIns="0" rIns="0" bIns="0" anchor="t" anchorCtr="0">
                <a:spAutoFit/>
              </a:bodyPr>
              <a:lstStyle/>
              <a:p>
                <a:pPr algn="l"/>
                <a:r>
                  <a:rPr lang="zh-CN" sz="1200" dirty="0">
                    <a:solidFill>
                      <a:srgbClr val="8A8880"/>
                    </a:solidFill>
                    <a:latin typeface="Arial"/>
                    <a:ea typeface="Microsoft YaHei"/>
                    <a:cs typeface="Arial"/>
                  </a:rPr>
                  <a:t>不可见</a:t>
                </a:r>
              </a:p>
            </p:txBody>
          </p:sp>
          <p:sp>
            <p:nvSpPr>
              <p:cNvPr id="15" name="Rectangle 15"/>
              <p:cNvSpPr/>
              <p:nvPr/>
            </p:nvSpPr>
            <p:spPr>
              <a:xfrm>
                <a:off x="9334500" y="1771650"/>
                <a:ext cx="2095500" cy="114300"/>
              </a:xfrm>
              <a:prstGeom prst="roundRect">
                <a:avLst>
                  <a:gd name="adj" fmla="val 50000"/>
                </a:avLst>
              </a:prstGeom>
              <a:solidFill>
                <a:srgbClr val="DDDBD6"/>
              </a:solidFill>
              <a:ln>
                <a:noFill/>
              </a:ln>
            </p:spPr>
          </p:sp>
          <p:sp>
            <p:nvSpPr>
              <p:cNvPr id="16" name="TextBox 16"/>
              <p:cNvSpPr txBox="1"/>
              <p:nvPr/>
            </p:nvSpPr>
            <p:spPr>
              <a:xfrm>
                <a:off x="11203396" y="1775460"/>
                <a:ext cx="232700" cy="234696"/>
              </a:xfrm>
              <a:prstGeom prst="rect">
                <a:avLst/>
              </a:prstGeom>
              <a:noFill/>
              <a:ln>
                <a:noFill/>
              </a:ln>
            </p:spPr>
            <p:txBody>
              <a:bodyPr wrap="none" lIns="0" tIns="0" rIns="0" bIns="0" anchor="t" anchorCtr="0">
                <a:spAutoFit/>
              </a:bodyPr>
              <a:lstStyle/>
              <a:p>
                <a:pPr algn="r"/>
                <a:r>
                  <a:rPr lang="en-US" sz="1200" b="1" dirty="0">
                    <a:solidFill>
                      <a:srgbClr val="8A8880"/>
                    </a:solidFill>
                    <a:latin typeface="Arial"/>
                    <a:ea typeface="Arial"/>
                    <a:cs typeface="Arial"/>
                  </a:rPr>
                  <a:t>0%</a:t>
                </a:r>
              </a:p>
            </p:txBody>
          </p:sp>
        </p:grpSp>
        <p:sp>
          <p:nvSpPr>
            <p:cNvPr id="18" name="Line 18"/>
            <p:cNvSpPr/>
            <p:nvPr/>
          </p:nvSpPr>
          <p:spPr>
            <a:xfrm>
              <a:off x="762000" y="2057400"/>
              <a:ext cx="10668000" cy="9525"/>
            </a:xfrm>
            <a:custGeom>
              <a:avLst/>
              <a:gdLst/>
              <a:ahLst/>
              <a:cxnLst/>
              <a:rect l="l" t="t" r="r" b="b"/>
              <a:pathLst>
                <a:path w="10668000" h="9525">
                  <a:moveTo>
                    <a:pt x="0" y="0"/>
                  </a:moveTo>
                  <a:lnTo>
                    <a:pt x="10668000" y="0"/>
                  </a:lnTo>
                </a:path>
              </a:pathLst>
            </a:custGeom>
            <a:noFill/>
            <a:ln w="9525">
              <a:solidFill>
                <a:srgbClr val="DDDBD6"/>
              </a:solidFill>
            </a:ln>
          </p:spPr>
        </p:sp>
        <p:grpSp>
          <p:nvGrpSpPr>
            <p:cNvPr id="24" name="Group 24"/>
            <p:cNvGrpSpPr/>
            <p:nvPr/>
          </p:nvGrpSpPr>
          <p:grpSpPr>
            <a:xfrm>
              <a:off x="755142" y="2292668"/>
              <a:ext cx="10680954" cy="264033"/>
              <a:chOff x="755142" y="2292668"/>
              <a:chExt cx="10680954" cy="264033"/>
            </a:xfrm>
          </p:grpSpPr>
          <p:sp>
            <p:nvSpPr>
              <p:cNvPr id="19" name="TextBox 19"/>
              <p:cNvSpPr txBox="1"/>
              <p:nvPr/>
            </p:nvSpPr>
            <p:spPr>
              <a:xfrm>
                <a:off x="755142" y="2292668"/>
                <a:ext cx="749648" cy="264033"/>
              </a:xfrm>
              <a:prstGeom prst="rect">
                <a:avLst/>
              </a:prstGeom>
              <a:noFill/>
              <a:ln>
                <a:noFill/>
              </a:ln>
            </p:spPr>
            <p:txBody>
              <a:bodyPr wrap="none" lIns="0" tIns="0" rIns="0" bIns="0" anchor="t" anchorCtr="0">
                <a:spAutoFit/>
              </a:bodyPr>
              <a:lstStyle/>
              <a:p>
                <a:pPr algn="l"/>
                <a:r>
                  <a:rPr lang="zh-CN" sz="1350" b="1" dirty="0">
                    <a:solidFill>
                      <a:srgbClr val="1D1D1A"/>
                    </a:solidFill>
                    <a:latin typeface="Arial"/>
                    <a:ea typeface="Microsoft YaHei"/>
                    <a:cs typeface="Arial"/>
                  </a:rPr>
                  <a:t>LAN管理</a:t>
                </a:r>
              </a:p>
            </p:txBody>
          </p:sp>
          <p:sp>
            <p:nvSpPr>
              <p:cNvPr id="20" name="TextBox 20"/>
              <p:cNvSpPr txBox="1"/>
              <p:nvPr/>
            </p:nvSpPr>
            <p:spPr>
              <a:xfrm>
                <a:off x="4184904" y="2308860"/>
                <a:ext cx="1754848" cy="234696"/>
              </a:xfrm>
              <a:prstGeom prst="rect">
                <a:avLst/>
              </a:prstGeom>
              <a:noFill/>
              <a:ln>
                <a:noFill/>
              </a:ln>
            </p:spPr>
            <p:txBody>
              <a:bodyPr wrap="none" lIns="0" tIns="0" rIns="0" bIns="0" anchor="t" anchorCtr="0">
                <a:spAutoFit/>
              </a:bodyPr>
              <a:lstStyle/>
              <a:p>
                <a:pPr algn="l"/>
                <a:r>
                  <a:rPr lang="en-US" sz="1200" dirty="0">
                    <a:solidFill>
                      <a:srgbClr val="5A5852"/>
                    </a:solidFill>
                    <a:latin typeface="Arial"/>
                    <a:ea typeface="Arial"/>
                    <a:cs typeface="Arial"/>
                  </a:rPr>
                  <a:t>Cisco / HPE / Fortinet</a:t>
                </a:r>
              </a:p>
            </p:txBody>
          </p:sp>
          <p:sp>
            <p:nvSpPr>
              <p:cNvPr id="21" name="TextBox 21"/>
              <p:cNvSpPr txBox="1"/>
              <p:nvPr/>
            </p:nvSpPr>
            <p:spPr>
              <a:xfrm>
                <a:off x="7232904" y="2308860"/>
                <a:ext cx="496824" cy="234696"/>
              </a:xfrm>
              <a:prstGeom prst="rect">
                <a:avLst/>
              </a:prstGeom>
              <a:noFill/>
              <a:ln>
                <a:noFill/>
              </a:ln>
            </p:spPr>
            <p:txBody>
              <a:bodyPr wrap="none" lIns="0" tIns="0" rIns="0" bIns="0" anchor="t" anchorCtr="0">
                <a:spAutoFit/>
              </a:bodyPr>
              <a:lstStyle/>
              <a:p>
                <a:pPr algn="l"/>
                <a:r>
                  <a:rPr lang="zh-CN" sz="1200" dirty="0">
                    <a:solidFill>
                      <a:srgbClr val="8A8880"/>
                    </a:solidFill>
                    <a:latin typeface="Arial"/>
                    <a:ea typeface="Microsoft YaHei"/>
                    <a:cs typeface="Arial"/>
                  </a:rPr>
                  <a:t>不可见</a:t>
                </a:r>
              </a:p>
            </p:txBody>
          </p:sp>
          <p:sp>
            <p:nvSpPr>
              <p:cNvPr id="22" name="Rectangle 22"/>
              <p:cNvSpPr/>
              <p:nvPr/>
            </p:nvSpPr>
            <p:spPr>
              <a:xfrm>
                <a:off x="9334500" y="2305050"/>
                <a:ext cx="2095500" cy="114300"/>
              </a:xfrm>
              <a:prstGeom prst="roundRect">
                <a:avLst>
                  <a:gd name="adj" fmla="val 50000"/>
                </a:avLst>
              </a:prstGeom>
              <a:solidFill>
                <a:srgbClr val="DDDBD6"/>
              </a:solidFill>
              <a:ln>
                <a:noFill/>
              </a:ln>
            </p:spPr>
          </p:sp>
          <p:sp>
            <p:nvSpPr>
              <p:cNvPr id="23" name="TextBox 23"/>
              <p:cNvSpPr txBox="1"/>
              <p:nvPr/>
            </p:nvSpPr>
            <p:spPr>
              <a:xfrm>
                <a:off x="11203396" y="2308860"/>
                <a:ext cx="232700" cy="234696"/>
              </a:xfrm>
              <a:prstGeom prst="rect">
                <a:avLst/>
              </a:prstGeom>
              <a:noFill/>
              <a:ln>
                <a:noFill/>
              </a:ln>
            </p:spPr>
            <p:txBody>
              <a:bodyPr wrap="none" lIns="0" tIns="0" rIns="0" bIns="0" anchor="t" anchorCtr="0">
                <a:spAutoFit/>
              </a:bodyPr>
              <a:lstStyle/>
              <a:p>
                <a:pPr algn="r"/>
                <a:r>
                  <a:rPr lang="en-US" sz="1200" b="1" dirty="0">
                    <a:solidFill>
                      <a:srgbClr val="8A8880"/>
                    </a:solidFill>
                    <a:latin typeface="Arial"/>
                    <a:ea typeface="Arial"/>
                    <a:cs typeface="Arial"/>
                  </a:rPr>
                  <a:t>0%</a:t>
                </a:r>
              </a:p>
            </p:txBody>
          </p:sp>
        </p:grpSp>
        <p:sp>
          <p:nvSpPr>
            <p:cNvPr id="25" name="Line 25"/>
            <p:cNvSpPr/>
            <p:nvPr/>
          </p:nvSpPr>
          <p:spPr>
            <a:xfrm>
              <a:off x="762000" y="2590800"/>
              <a:ext cx="10668000" cy="9525"/>
            </a:xfrm>
            <a:custGeom>
              <a:avLst/>
              <a:gdLst/>
              <a:ahLst/>
              <a:cxnLst/>
              <a:rect l="l" t="t" r="r" b="b"/>
              <a:pathLst>
                <a:path w="10668000" h="9525">
                  <a:moveTo>
                    <a:pt x="0" y="0"/>
                  </a:moveTo>
                  <a:lnTo>
                    <a:pt x="10668000" y="0"/>
                  </a:lnTo>
                </a:path>
              </a:pathLst>
            </a:custGeom>
            <a:noFill/>
            <a:ln w="9525">
              <a:solidFill>
                <a:srgbClr val="DDDBD6"/>
              </a:solidFill>
            </a:ln>
          </p:spPr>
        </p:sp>
        <p:grpSp>
          <p:nvGrpSpPr>
            <p:cNvPr id="32" name="Group 32"/>
            <p:cNvGrpSpPr/>
            <p:nvPr/>
          </p:nvGrpSpPr>
          <p:grpSpPr>
            <a:xfrm>
              <a:off x="755142" y="2766060"/>
              <a:ext cx="10680954" cy="425196"/>
              <a:chOff x="755142" y="2766060"/>
              <a:chExt cx="10680954" cy="425196"/>
            </a:xfrm>
          </p:grpSpPr>
          <p:sp>
            <p:nvSpPr>
              <p:cNvPr id="26" name="TextBox 26"/>
              <p:cNvSpPr txBox="1"/>
              <p:nvPr/>
            </p:nvSpPr>
            <p:spPr>
              <a:xfrm>
                <a:off x="755142" y="2826068"/>
                <a:ext cx="586188" cy="264033"/>
              </a:xfrm>
              <a:prstGeom prst="rect">
                <a:avLst/>
              </a:prstGeom>
              <a:noFill/>
              <a:ln>
                <a:noFill/>
              </a:ln>
            </p:spPr>
            <p:txBody>
              <a:bodyPr wrap="none" lIns="0" tIns="0" rIns="0" bIns="0" anchor="t" anchorCtr="0">
                <a:spAutoFit/>
              </a:bodyPr>
              <a:lstStyle/>
              <a:p>
                <a:pPr algn="l"/>
                <a:r>
                  <a:rPr lang="zh-CN" sz="1350" b="1" dirty="0">
                    <a:solidFill>
                      <a:srgbClr val="1D1D1A"/>
                    </a:solidFill>
                    <a:latin typeface="Arial"/>
                    <a:ea typeface="Microsoft YaHei"/>
                    <a:cs typeface="Arial"/>
                  </a:rPr>
                  <a:t>云服务</a:t>
                </a:r>
              </a:p>
            </p:txBody>
          </p:sp>
          <p:sp>
            <p:nvSpPr>
              <p:cNvPr id="27" name="TextBox 27"/>
              <p:cNvSpPr txBox="1"/>
              <p:nvPr/>
            </p:nvSpPr>
            <p:spPr>
              <a:xfrm>
                <a:off x="4184904" y="2842260"/>
                <a:ext cx="2972830" cy="234696"/>
              </a:xfrm>
              <a:prstGeom prst="rect">
                <a:avLst/>
              </a:prstGeom>
              <a:noFill/>
              <a:ln>
                <a:noFill/>
              </a:ln>
            </p:spPr>
            <p:txBody>
              <a:bodyPr wrap="none" lIns="0" tIns="0" rIns="0" bIns="0" anchor="t" anchorCtr="0">
                <a:spAutoFit/>
              </a:bodyPr>
              <a:lstStyle/>
              <a:p>
                <a:pPr algn="l"/>
                <a:r>
                  <a:rPr lang="zh-CN" sz="1200" dirty="0">
                    <a:solidFill>
                      <a:srgbClr val="5A5852"/>
                    </a:solidFill>
                    <a:latin typeface="Arial"/>
                    <a:ea typeface="Microsoft YaHei"/>
                    <a:cs typeface="Arial"/>
                  </a:rPr>
                  <a:t>自有Cloud Avenue/Flexible Engine/Bleu</a:t>
                </a:r>
              </a:p>
            </p:txBody>
          </p:sp>
          <p:sp>
            <p:nvSpPr>
              <p:cNvPr id="28" name="TextBox 28"/>
              <p:cNvSpPr txBox="1"/>
              <p:nvPr/>
            </p:nvSpPr>
            <p:spPr>
              <a:xfrm>
                <a:off x="7232904" y="2766060"/>
                <a:ext cx="1078992" cy="425196"/>
              </a:xfrm>
              <a:prstGeom prst="rect">
                <a:avLst/>
              </a:prstGeom>
              <a:noFill/>
              <a:ln>
                <a:noFill/>
              </a:ln>
            </p:spPr>
            <p:txBody>
              <a:bodyPr wrap="square" lIns="0" tIns="0" rIns="0" bIns="0" anchor="t" anchorCtr="0"/>
              <a:lstStyle/>
              <a:p>
                <a:pPr algn="l">
                  <a:lnSpc>
                    <a:spcPts val="1500"/>
                  </a:lnSpc>
                </a:pPr>
                <a:r>
                  <a:rPr lang="zh-CN" sz="1200" dirty="0">
                    <a:solidFill>
                      <a:srgbClr val="1D1D1A"/>
                    </a:solidFill>
                    <a:latin typeface="Arial"/>
                    <a:ea typeface="Microsoft YaHei"/>
                    <a:cs typeface="Arial"/>
                  </a:rPr>
                  <a:t>云栈底层技术</a:t>
                </a:r>
                <a:r>
                  <a:rPr lang="zh-CN" sz="1200" dirty="0">
                    <a:solidFill>
                      <a:srgbClr val="1D1D1A"/>
                    </a:solidFill>
                    <a:latin typeface="Arial"/>
                    <a:ea typeface="Microsoft YaHei"/>
                    <a:cs typeface="Arial"/>
                  </a:rPr>
                  <a:t>（非品牌可见）</a:t>
                </a:r>
              </a:p>
            </p:txBody>
          </p:sp>
          <p:sp>
            <p:nvSpPr>
              <p:cNvPr id="29" name="Rectangle 29"/>
              <p:cNvSpPr/>
              <p:nvPr/>
            </p:nvSpPr>
            <p:spPr>
              <a:xfrm>
                <a:off x="9334500" y="2838450"/>
                <a:ext cx="2095500" cy="114300"/>
              </a:xfrm>
              <a:prstGeom prst="roundRect">
                <a:avLst>
                  <a:gd name="adj" fmla="val 50000"/>
                </a:avLst>
              </a:prstGeom>
              <a:solidFill>
                <a:srgbClr val="DDDBD6"/>
              </a:solidFill>
              <a:ln>
                <a:noFill/>
              </a:ln>
            </p:spPr>
          </p:sp>
          <p:sp>
            <p:nvSpPr>
              <p:cNvPr id="30" name="Rectangle 30"/>
              <p:cNvSpPr/>
              <p:nvPr/>
            </p:nvSpPr>
            <p:spPr>
              <a:xfrm>
                <a:off x="9334500" y="2838450"/>
                <a:ext cx="628650" cy="114300"/>
              </a:xfrm>
              <a:prstGeom prst="roundRect">
                <a:avLst>
                  <a:gd name="adj" fmla="val 50000"/>
                </a:avLst>
              </a:prstGeom>
              <a:solidFill>
                <a:srgbClr val="C7000A"/>
              </a:solidFill>
              <a:ln>
                <a:noFill/>
              </a:ln>
            </p:spPr>
          </p:sp>
          <p:sp>
            <p:nvSpPr>
              <p:cNvPr id="31" name="TextBox 31"/>
              <p:cNvSpPr txBox="1"/>
              <p:nvPr/>
            </p:nvSpPr>
            <p:spPr>
              <a:xfrm>
                <a:off x="11110105" y="2842260"/>
                <a:ext cx="325991" cy="234696"/>
              </a:xfrm>
              <a:prstGeom prst="rect">
                <a:avLst/>
              </a:prstGeom>
              <a:noFill/>
              <a:ln>
                <a:noFill/>
              </a:ln>
            </p:spPr>
            <p:txBody>
              <a:bodyPr wrap="none" lIns="0" tIns="0" rIns="0" bIns="0" anchor="t" anchorCtr="0">
                <a:spAutoFit/>
              </a:bodyPr>
              <a:lstStyle/>
              <a:p>
                <a:pPr algn="r"/>
                <a:r>
                  <a:rPr lang="en-US" sz="1200" b="1" dirty="0">
                    <a:solidFill>
                      <a:srgbClr val="C7000A"/>
                    </a:solidFill>
                    <a:latin typeface="Arial"/>
                    <a:ea typeface="Arial"/>
                    <a:cs typeface="Arial"/>
                  </a:rPr>
                  <a:t>30%</a:t>
                </a:r>
              </a:p>
            </p:txBody>
          </p:sp>
        </p:grpSp>
        <p:sp>
          <p:nvSpPr>
            <p:cNvPr id="33" name="Line 33"/>
            <p:cNvSpPr/>
            <p:nvPr/>
          </p:nvSpPr>
          <p:spPr>
            <a:xfrm>
              <a:off x="762000" y="3162300"/>
              <a:ext cx="10668000" cy="9525"/>
            </a:xfrm>
            <a:custGeom>
              <a:avLst/>
              <a:gdLst/>
              <a:ahLst/>
              <a:cxnLst/>
              <a:rect l="l" t="t" r="r" b="b"/>
              <a:pathLst>
                <a:path w="10668000" h="9525">
                  <a:moveTo>
                    <a:pt x="0" y="0"/>
                  </a:moveTo>
                  <a:lnTo>
                    <a:pt x="10668000" y="0"/>
                  </a:lnTo>
                </a:path>
              </a:pathLst>
            </a:custGeom>
            <a:noFill/>
            <a:ln w="9525">
              <a:solidFill>
                <a:srgbClr val="DDDBD6"/>
              </a:solidFill>
            </a:ln>
          </p:spPr>
        </p:sp>
        <p:grpSp>
          <p:nvGrpSpPr>
            <p:cNvPr id="39" name="Group 39"/>
            <p:cNvGrpSpPr/>
            <p:nvPr/>
          </p:nvGrpSpPr>
          <p:grpSpPr>
            <a:xfrm>
              <a:off x="755142" y="3397568"/>
              <a:ext cx="10680954" cy="264033"/>
              <a:chOff x="755142" y="3397568"/>
              <a:chExt cx="10680954" cy="264033"/>
            </a:xfrm>
          </p:grpSpPr>
          <p:sp>
            <p:nvSpPr>
              <p:cNvPr id="34" name="TextBox 34"/>
              <p:cNvSpPr txBox="1"/>
              <p:nvPr/>
            </p:nvSpPr>
            <p:spPr>
              <a:xfrm>
                <a:off x="755142" y="3397568"/>
                <a:ext cx="777011" cy="264033"/>
              </a:xfrm>
              <a:prstGeom prst="rect">
                <a:avLst/>
              </a:prstGeom>
              <a:noFill/>
              <a:ln>
                <a:noFill/>
              </a:ln>
            </p:spPr>
            <p:txBody>
              <a:bodyPr wrap="none" lIns="0" tIns="0" rIns="0" bIns="0" anchor="t" anchorCtr="0">
                <a:spAutoFit/>
              </a:bodyPr>
              <a:lstStyle/>
              <a:p>
                <a:pPr algn="l"/>
                <a:r>
                  <a:rPr lang="zh-CN" sz="1350" b="1" dirty="0">
                    <a:solidFill>
                      <a:srgbClr val="1D1D1A"/>
                    </a:solidFill>
                    <a:latin typeface="Arial"/>
                    <a:ea typeface="Microsoft YaHei"/>
                    <a:cs typeface="Arial"/>
                  </a:rPr>
                  <a:t>安全托管</a:t>
                </a:r>
              </a:p>
            </p:txBody>
          </p:sp>
          <p:sp>
            <p:nvSpPr>
              <p:cNvPr id="35" name="TextBox 35"/>
              <p:cNvSpPr txBox="1"/>
              <p:nvPr/>
            </p:nvSpPr>
            <p:spPr>
              <a:xfrm>
                <a:off x="4184904" y="3413760"/>
                <a:ext cx="2851469" cy="234696"/>
              </a:xfrm>
              <a:prstGeom prst="rect">
                <a:avLst/>
              </a:prstGeom>
              <a:noFill/>
              <a:ln>
                <a:noFill/>
              </a:ln>
            </p:spPr>
            <p:txBody>
              <a:bodyPr wrap="none" lIns="0" tIns="0" rIns="0" bIns="0" anchor="t" anchorCtr="0">
                <a:spAutoFit/>
              </a:bodyPr>
              <a:lstStyle/>
              <a:p>
                <a:pPr algn="l"/>
                <a:r>
                  <a:rPr lang="en-US" sz="1200" dirty="0">
                    <a:solidFill>
                      <a:srgbClr val="5A5852"/>
                    </a:solidFill>
                    <a:latin typeface="Arial"/>
                    <a:ea typeface="Arial"/>
                    <a:cs typeface="Arial"/>
                  </a:rPr>
                  <a:t>CrowdStrike / Palo Alto / Microsoft</a:t>
                </a:r>
              </a:p>
            </p:txBody>
          </p:sp>
          <p:sp>
            <p:nvSpPr>
              <p:cNvPr id="36" name="TextBox 36"/>
              <p:cNvSpPr txBox="1"/>
              <p:nvPr/>
            </p:nvSpPr>
            <p:spPr>
              <a:xfrm>
                <a:off x="7232904" y="3413760"/>
                <a:ext cx="1202588" cy="234696"/>
              </a:xfrm>
              <a:prstGeom prst="rect">
                <a:avLst/>
              </a:prstGeom>
              <a:noFill/>
              <a:ln>
                <a:noFill/>
              </a:ln>
            </p:spPr>
            <p:txBody>
              <a:bodyPr wrap="none" lIns="0" tIns="0" rIns="0" bIns="0" anchor="t" anchorCtr="0">
                <a:spAutoFit/>
              </a:bodyPr>
              <a:lstStyle/>
              <a:p>
                <a:pPr algn="l"/>
                <a:r>
                  <a:rPr lang="zh-CN" sz="1200" dirty="0">
                    <a:solidFill>
                      <a:srgbClr val="8A8880"/>
                    </a:solidFill>
                    <a:latin typeface="Arial"/>
                    <a:ea typeface="Microsoft YaHei"/>
                    <a:cs typeface="Arial"/>
                  </a:rPr>
                  <a:t>不在Vendor目录</a:t>
                </a:r>
              </a:p>
            </p:txBody>
          </p:sp>
          <p:sp>
            <p:nvSpPr>
              <p:cNvPr id="37" name="Rectangle 37"/>
              <p:cNvSpPr/>
              <p:nvPr/>
            </p:nvSpPr>
            <p:spPr>
              <a:xfrm>
                <a:off x="9334500" y="3409950"/>
                <a:ext cx="2095500" cy="114300"/>
              </a:xfrm>
              <a:prstGeom prst="roundRect">
                <a:avLst>
                  <a:gd name="adj" fmla="val 50000"/>
                </a:avLst>
              </a:prstGeom>
              <a:solidFill>
                <a:srgbClr val="DDDBD6"/>
              </a:solidFill>
              <a:ln>
                <a:noFill/>
              </a:ln>
            </p:spPr>
          </p:sp>
          <p:sp>
            <p:nvSpPr>
              <p:cNvPr id="38" name="TextBox 38"/>
              <p:cNvSpPr txBox="1"/>
              <p:nvPr/>
            </p:nvSpPr>
            <p:spPr>
              <a:xfrm>
                <a:off x="11203396" y="3413760"/>
                <a:ext cx="232700" cy="234696"/>
              </a:xfrm>
              <a:prstGeom prst="rect">
                <a:avLst/>
              </a:prstGeom>
              <a:noFill/>
              <a:ln>
                <a:noFill/>
              </a:ln>
            </p:spPr>
            <p:txBody>
              <a:bodyPr wrap="none" lIns="0" tIns="0" rIns="0" bIns="0" anchor="t" anchorCtr="0">
                <a:spAutoFit/>
              </a:bodyPr>
              <a:lstStyle/>
              <a:p>
                <a:pPr algn="r"/>
                <a:r>
                  <a:rPr lang="en-US" sz="1200" b="1" dirty="0">
                    <a:solidFill>
                      <a:srgbClr val="8A8880"/>
                    </a:solidFill>
                    <a:latin typeface="Arial"/>
                    <a:ea typeface="Arial"/>
                    <a:cs typeface="Arial"/>
                  </a:rPr>
                  <a:t>0%</a:t>
                </a:r>
              </a:p>
            </p:txBody>
          </p:sp>
        </p:grpSp>
        <p:sp>
          <p:nvSpPr>
            <p:cNvPr id="40" name="Line 40"/>
            <p:cNvSpPr/>
            <p:nvPr/>
          </p:nvSpPr>
          <p:spPr>
            <a:xfrm>
              <a:off x="762000" y="3695700"/>
              <a:ext cx="10668000" cy="9525"/>
            </a:xfrm>
            <a:custGeom>
              <a:avLst/>
              <a:gdLst/>
              <a:ahLst/>
              <a:cxnLst/>
              <a:rect l="l" t="t" r="r" b="b"/>
              <a:pathLst>
                <a:path w="10668000" h="9525">
                  <a:moveTo>
                    <a:pt x="0" y="0"/>
                  </a:moveTo>
                  <a:lnTo>
                    <a:pt x="10668000" y="0"/>
                  </a:lnTo>
                </a:path>
              </a:pathLst>
            </a:custGeom>
            <a:noFill/>
            <a:ln w="9525">
              <a:solidFill>
                <a:srgbClr val="DDDBD6"/>
              </a:solidFill>
            </a:ln>
          </p:spPr>
        </p:sp>
        <p:grpSp>
          <p:nvGrpSpPr>
            <p:cNvPr id="46" name="Group 46"/>
            <p:cNvGrpSpPr/>
            <p:nvPr/>
          </p:nvGrpSpPr>
          <p:grpSpPr>
            <a:xfrm>
              <a:off x="755142" y="3854768"/>
              <a:ext cx="10680954" cy="454533"/>
              <a:chOff x="755142" y="3854768"/>
              <a:chExt cx="10680954" cy="454533"/>
            </a:xfrm>
          </p:grpSpPr>
          <p:sp>
            <p:nvSpPr>
              <p:cNvPr id="41" name="TextBox 41"/>
              <p:cNvSpPr txBox="1"/>
              <p:nvPr/>
            </p:nvSpPr>
            <p:spPr>
              <a:xfrm>
                <a:off x="755142" y="3854768"/>
                <a:ext cx="1072896" cy="454533"/>
              </a:xfrm>
              <a:prstGeom prst="rect">
                <a:avLst/>
              </a:prstGeom>
              <a:noFill/>
              <a:ln>
                <a:noFill/>
              </a:ln>
            </p:spPr>
            <p:txBody>
              <a:bodyPr wrap="square" lIns="0" tIns="0" rIns="0" bIns="0" anchor="t" anchorCtr="0"/>
              <a:lstStyle/>
              <a:p>
                <a:pPr algn="l">
                  <a:lnSpc>
                    <a:spcPts val="1500"/>
                  </a:lnSpc>
                </a:pPr>
                <a:r>
                  <a:rPr lang="zh-CN" sz="1350" b="1" dirty="0">
                    <a:solidFill>
                      <a:srgbClr val="1D1D1A"/>
                    </a:solidFill>
                    <a:latin typeface="Arial"/>
                    <a:ea typeface="Microsoft YaHei"/>
                    <a:cs typeface="Arial"/>
                  </a:rPr>
                  <a:t>集成/转售</a:t>
                </a:r>
                <a:r>
                  <a:rPr lang="zh-CN" sz="1200" dirty="0">
                    <a:solidFill>
                      <a:srgbClr val="8A8880"/>
                    </a:solidFill>
                    <a:latin typeface="Arial"/>
                    <a:ea typeface="Microsoft YaHei"/>
                    <a:cs typeface="Arial"/>
                  </a:rPr>
                  <a:t>（占比28.4%）</a:t>
                </a:r>
              </a:p>
            </p:txBody>
          </p:sp>
          <p:sp>
            <p:nvSpPr>
              <p:cNvPr id="42" name="TextBox 42"/>
              <p:cNvSpPr txBox="1"/>
              <p:nvPr/>
            </p:nvSpPr>
            <p:spPr>
              <a:xfrm>
                <a:off x="4184904" y="3870960"/>
                <a:ext cx="2183892" cy="425196"/>
              </a:xfrm>
              <a:prstGeom prst="rect">
                <a:avLst/>
              </a:prstGeom>
              <a:noFill/>
              <a:ln>
                <a:noFill/>
              </a:ln>
            </p:spPr>
            <p:txBody>
              <a:bodyPr wrap="square" lIns="0" tIns="0" rIns="0" bIns="0" anchor="t" anchorCtr="0"/>
              <a:lstStyle/>
              <a:p>
                <a:pPr algn="l">
                  <a:lnSpc>
                    <a:spcPts val="1500"/>
                  </a:lnSpc>
                </a:pPr>
                <a:r>
                  <a:rPr lang="zh-CN" sz="1200" dirty="0">
                    <a:solidFill>
                      <a:srgbClr val="5A5852"/>
                    </a:solidFill>
                    <a:latin typeface="Arial"/>
                    <a:ea typeface="Microsoft YaHei"/>
                    <a:cs typeface="Arial"/>
                  </a:rPr>
                  <a:t xml:space="preserve">系统集成商生态 + </a:t>
                </a:r>
                <a:r>
                  <a:rPr lang="zh-CN" sz="1200" dirty="0">
                    <a:solidFill>
                      <a:srgbClr val="5A5852"/>
                    </a:solidFill>
                    <a:latin typeface="Arial"/>
                    <a:ea typeface="Microsoft YaHei"/>
                    <a:cs typeface="Arial"/>
                  </a:rPr>
                  <a:t>HP/Dell/Lenovo/Apple（硬件）</a:t>
                </a:r>
              </a:p>
            </p:txBody>
          </p:sp>
          <p:sp>
            <p:nvSpPr>
              <p:cNvPr id="43" name="TextBox 43"/>
              <p:cNvSpPr txBox="1"/>
              <p:nvPr/>
            </p:nvSpPr>
            <p:spPr>
              <a:xfrm>
                <a:off x="7232904" y="3870960"/>
                <a:ext cx="1143000" cy="234696"/>
              </a:xfrm>
              <a:prstGeom prst="rect">
                <a:avLst/>
              </a:prstGeom>
              <a:noFill/>
              <a:ln>
                <a:noFill/>
              </a:ln>
            </p:spPr>
            <p:txBody>
              <a:bodyPr wrap="none" lIns="0" tIns="0" rIns="0" bIns="0" anchor="t" anchorCtr="0">
                <a:spAutoFit/>
              </a:bodyPr>
              <a:lstStyle/>
              <a:p>
                <a:pPr algn="l"/>
                <a:r>
                  <a:rPr lang="zh-CN" sz="1200" dirty="0">
                    <a:solidFill>
                      <a:srgbClr val="8A8880"/>
                    </a:solidFill>
                    <a:latin typeface="Arial"/>
                    <a:ea typeface="Microsoft YaHei"/>
                    <a:cs typeface="Arial"/>
                  </a:rPr>
                  <a:t>终端目录不可见</a:t>
                </a:r>
              </a:p>
            </p:txBody>
          </p:sp>
          <p:sp>
            <p:nvSpPr>
              <p:cNvPr id="44" name="Rectangle 44"/>
              <p:cNvSpPr/>
              <p:nvPr/>
            </p:nvSpPr>
            <p:spPr>
              <a:xfrm>
                <a:off x="9334500" y="3867150"/>
                <a:ext cx="2095500" cy="114300"/>
              </a:xfrm>
              <a:prstGeom prst="roundRect">
                <a:avLst>
                  <a:gd name="adj" fmla="val 50000"/>
                </a:avLst>
              </a:prstGeom>
              <a:solidFill>
                <a:srgbClr val="DDDBD6"/>
              </a:solidFill>
              <a:ln>
                <a:noFill/>
              </a:ln>
            </p:spPr>
          </p:sp>
          <p:sp>
            <p:nvSpPr>
              <p:cNvPr id="45" name="TextBox 45"/>
              <p:cNvSpPr txBox="1"/>
              <p:nvPr/>
            </p:nvSpPr>
            <p:spPr>
              <a:xfrm>
                <a:off x="11203396" y="3870960"/>
                <a:ext cx="232700" cy="234696"/>
              </a:xfrm>
              <a:prstGeom prst="rect">
                <a:avLst/>
              </a:prstGeom>
              <a:noFill/>
              <a:ln>
                <a:noFill/>
              </a:ln>
            </p:spPr>
            <p:txBody>
              <a:bodyPr wrap="none" lIns="0" tIns="0" rIns="0" bIns="0" anchor="t" anchorCtr="0">
                <a:spAutoFit/>
              </a:bodyPr>
              <a:lstStyle/>
              <a:p>
                <a:pPr algn="r"/>
                <a:r>
                  <a:rPr lang="en-US" sz="1200" b="1" dirty="0">
                    <a:solidFill>
                      <a:srgbClr val="8A8880"/>
                    </a:solidFill>
                    <a:latin typeface="Arial"/>
                    <a:ea typeface="Arial"/>
                    <a:cs typeface="Arial"/>
                  </a:rPr>
                  <a:t>0%</a:t>
                </a:r>
              </a:p>
            </p:txBody>
          </p:sp>
        </p:grpSp>
        <p:sp>
          <p:nvSpPr>
            <p:cNvPr id="47" name="Line 47"/>
            <p:cNvSpPr/>
            <p:nvPr/>
          </p:nvSpPr>
          <p:spPr>
            <a:xfrm>
              <a:off x="762000" y="4229100"/>
              <a:ext cx="10668000" cy="9525"/>
            </a:xfrm>
            <a:custGeom>
              <a:avLst/>
              <a:gdLst/>
              <a:ahLst/>
              <a:cxnLst/>
              <a:rect l="l" t="t" r="r" b="b"/>
              <a:pathLst>
                <a:path w="10668000" h="9525">
                  <a:moveTo>
                    <a:pt x="0" y="0"/>
                  </a:moveTo>
                  <a:lnTo>
                    <a:pt x="10668000" y="0"/>
                  </a:lnTo>
                </a:path>
              </a:pathLst>
            </a:custGeom>
            <a:noFill/>
            <a:ln w="9525">
              <a:solidFill>
                <a:srgbClr val="DDDBD6"/>
              </a:solidFill>
            </a:ln>
          </p:spPr>
        </p:sp>
        <p:grpSp>
          <p:nvGrpSpPr>
            <p:cNvPr id="52" name="Group 52"/>
            <p:cNvGrpSpPr/>
            <p:nvPr/>
          </p:nvGrpSpPr>
          <p:grpSpPr>
            <a:xfrm>
              <a:off x="755142" y="4426268"/>
              <a:ext cx="10680954" cy="264033"/>
              <a:chOff x="755142" y="4426268"/>
              <a:chExt cx="10680954" cy="264033"/>
            </a:xfrm>
          </p:grpSpPr>
          <p:sp>
            <p:nvSpPr>
              <p:cNvPr id="48" name="TextBox 48"/>
              <p:cNvSpPr txBox="1"/>
              <p:nvPr/>
            </p:nvSpPr>
            <p:spPr>
              <a:xfrm>
                <a:off x="755142" y="4426268"/>
                <a:ext cx="1193223" cy="264033"/>
              </a:xfrm>
              <a:prstGeom prst="rect">
                <a:avLst/>
              </a:prstGeom>
              <a:noFill/>
              <a:ln>
                <a:noFill/>
              </a:ln>
            </p:spPr>
            <p:txBody>
              <a:bodyPr wrap="none" lIns="0" tIns="0" rIns="0" bIns="0" anchor="t" anchorCtr="0">
                <a:spAutoFit/>
              </a:bodyPr>
              <a:lstStyle/>
              <a:p>
                <a:pPr algn="l"/>
                <a:r>
                  <a:rPr lang="zh-CN" sz="1350" b="1" dirty="0">
                    <a:solidFill>
                      <a:srgbClr val="1D1D1A"/>
                    </a:solidFill>
                    <a:latin typeface="Arial"/>
                    <a:ea typeface="Microsoft YaHei"/>
                    <a:cs typeface="Arial"/>
                  </a:rPr>
                  <a:t>移动专网MPN</a:t>
                </a:r>
              </a:p>
            </p:txBody>
          </p:sp>
          <p:sp>
            <p:nvSpPr>
              <p:cNvPr id="49" name="TextBox 49"/>
              <p:cNvSpPr txBox="1"/>
              <p:nvPr/>
            </p:nvSpPr>
            <p:spPr>
              <a:xfrm>
                <a:off x="4184904" y="4442460"/>
                <a:ext cx="2695042" cy="234696"/>
              </a:xfrm>
              <a:prstGeom prst="rect">
                <a:avLst/>
              </a:prstGeom>
              <a:noFill/>
              <a:ln>
                <a:noFill/>
              </a:ln>
            </p:spPr>
            <p:txBody>
              <a:bodyPr wrap="none" lIns="0" tIns="0" rIns="0" bIns="0" anchor="t" anchorCtr="0">
                <a:spAutoFit/>
              </a:bodyPr>
              <a:lstStyle/>
              <a:p>
                <a:pPr algn="l"/>
                <a:r>
                  <a:rPr lang="zh-CN" sz="1200" dirty="0">
                    <a:solidFill>
                      <a:srgbClr val="5A5852"/>
                    </a:solidFill>
                    <a:latin typeface="Arial"/>
                    <a:ea typeface="Microsoft YaHei"/>
                    <a:cs typeface="Arial"/>
                  </a:rPr>
                  <a:t>法国Hybrid MPN试点（非战略重心）</a:t>
                </a:r>
              </a:p>
            </p:txBody>
          </p:sp>
          <p:sp>
            <p:nvSpPr>
              <p:cNvPr id="50" name="TextBox 50"/>
              <p:cNvSpPr txBox="1"/>
              <p:nvPr/>
            </p:nvSpPr>
            <p:spPr>
              <a:xfrm>
                <a:off x="7232904" y="4442460"/>
                <a:ext cx="819912" cy="234696"/>
              </a:xfrm>
              <a:prstGeom prst="rect">
                <a:avLst/>
              </a:prstGeom>
              <a:noFill/>
              <a:ln>
                <a:noFill/>
              </a:ln>
            </p:spPr>
            <p:txBody>
              <a:bodyPr wrap="none" lIns="0" tIns="0" rIns="0" bIns="0" anchor="t" anchorCtr="0">
                <a:spAutoFit/>
              </a:bodyPr>
              <a:lstStyle/>
              <a:p>
                <a:pPr algn="l"/>
                <a:r>
                  <a:rPr lang="zh-CN" sz="1200" dirty="0">
                    <a:solidFill>
                      <a:srgbClr val="8A8880"/>
                    </a:solidFill>
                    <a:latin typeface="Arial"/>
                    <a:ea typeface="Microsoft YaHei"/>
                    <a:cs typeface="Arial"/>
                  </a:rPr>
                  <a:t>无相关信息</a:t>
                </a:r>
              </a:p>
            </p:txBody>
          </p:sp>
          <p:sp>
            <p:nvSpPr>
              <p:cNvPr id="51" name="TextBox 51"/>
              <p:cNvSpPr txBox="1"/>
              <p:nvPr/>
            </p:nvSpPr>
            <p:spPr>
              <a:xfrm>
                <a:off x="11330612" y="4442460"/>
                <a:ext cx="105484" cy="234696"/>
              </a:xfrm>
              <a:prstGeom prst="rect">
                <a:avLst/>
              </a:prstGeom>
              <a:noFill/>
              <a:ln>
                <a:noFill/>
              </a:ln>
            </p:spPr>
            <p:txBody>
              <a:bodyPr wrap="none" lIns="0" tIns="0" rIns="0" bIns="0" anchor="t" anchorCtr="0">
                <a:spAutoFit/>
              </a:bodyPr>
              <a:lstStyle/>
              <a:p>
                <a:pPr algn="r"/>
                <a:r>
                  <a:rPr lang="en-US" sz="1200" b="1" dirty="0">
                    <a:solidFill>
                      <a:srgbClr val="8A8880"/>
                    </a:solidFill>
                    <a:latin typeface="Arial"/>
                    <a:ea typeface="Arial"/>
                    <a:cs typeface="Arial"/>
                  </a:rPr>
                  <a:t>—</a:t>
                </a:r>
              </a:p>
            </p:txBody>
          </p:sp>
        </p:grpSp>
      </p:grpSp>
      <p:grpSp>
        <p:nvGrpSpPr>
          <p:cNvPr id="57" name="Group 57"/>
          <p:cNvGrpSpPr/>
          <p:nvPr/>
        </p:nvGrpSpPr>
        <p:grpSpPr>
          <a:xfrm>
            <a:off x="762000" y="5048250"/>
            <a:ext cx="10668000" cy="952500"/>
            <a:chOff x="762000" y="5048250"/>
            <a:chExt cx="10668000" cy="952500"/>
          </a:xfrm>
        </p:grpSpPr>
        <p:sp>
          <p:nvSpPr>
            <p:cNvPr id="54" name="Rectangle 54"/>
            <p:cNvSpPr/>
            <p:nvPr/>
          </p:nvSpPr>
          <p:spPr>
            <a:xfrm>
              <a:off x="762000" y="5048250"/>
              <a:ext cx="10668000" cy="952500"/>
            </a:xfrm>
            <a:prstGeom prst="roundRect">
              <a:avLst>
                <a:gd name="adj" fmla="val 8000"/>
              </a:avLst>
            </a:prstGeom>
            <a:solidFill>
              <a:srgbClr val="F7F6F3"/>
            </a:solidFill>
            <a:ln>
              <a:noFill/>
            </a:ln>
          </p:spPr>
        </p:sp>
        <p:sp>
          <p:nvSpPr>
            <p:cNvPr id="55" name="TextBox 55"/>
            <p:cNvSpPr txBox="1"/>
            <p:nvPr/>
          </p:nvSpPr>
          <p:spPr>
            <a:xfrm>
              <a:off x="984504" y="5223510"/>
              <a:ext cx="4107332" cy="234696"/>
            </a:xfrm>
            <a:prstGeom prst="rect">
              <a:avLst/>
            </a:prstGeom>
            <a:noFill/>
            <a:ln>
              <a:noFill/>
            </a:ln>
          </p:spPr>
          <p:txBody>
            <a:bodyPr wrap="none" lIns="0" tIns="0" rIns="0" bIns="0" anchor="t" anchorCtr="0">
              <a:spAutoFit/>
            </a:bodyPr>
            <a:lstStyle/>
            <a:p>
              <a:pPr algn="l"/>
              <a:r>
                <a:rPr lang="zh-CN" sz="1200" dirty="0">
                  <a:solidFill>
                    <a:srgbClr val="1D1D1A"/>
                  </a:solidFill>
                  <a:latin typeface="Arial"/>
                  <a:ea typeface="Microsoft YaHei"/>
                  <a:cs typeface="Arial"/>
                </a:rPr>
                <a:t>定性：</a:t>
              </a:r>
              <a:r>
                <a:rPr lang="zh-CN" sz="1200" b="1" dirty="0">
                  <a:solidFill>
                    <a:srgbClr val="1D1D1A"/>
                  </a:solidFill>
                  <a:latin typeface="Arial"/>
                  <a:ea typeface="Microsoft YaHei"/>
                  <a:cs typeface="Arial"/>
                </a:rPr>
                <a:t>生态位竞争排除</a:t>
              </a:r>
              <a:r>
                <a:rPr lang="zh-CN" sz="1200" dirty="0">
                  <a:solidFill>
                    <a:srgbClr val="1D1D1A"/>
                  </a:solidFill>
                  <a:latin typeface="Arial"/>
                  <a:ea typeface="Microsoft YaHei"/>
                  <a:cs typeface="Arial"/>
                </a:rPr>
                <a:t>（市场化竞争结果，非行政禁令）</a:t>
              </a:r>
            </a:p>
          </p:txBody>
        </p:sp>
        <p:sp>
          <p:nvSpPr>
            <p:cNvPr id="56" name="TextBox 56"/>
            <p:cNvSpPr txBox="1"/>
            <p:nvPr/>
          </p:nvSpPr>
          <p:spPr>
            <a:xfrm>
              <a:off x="984504" y="5528310"/>
              <a:ext cx="5801520" cy="234696"/>
            </a:xfrm>
            <a:prstGeom prst="rect">
              <a:avLst/>
            </a:prstGeom>
            <a:noFill/>
            <a:ln>
              <a:noFill/>
            </a:ln>
          </p:spPr>
          <p:txBody>
            <a:bodyPr wrap="none" lIns="0" tIns="0" rIns="0" bIns="0" anchor="t" anchorCtr="0">
              <a:spAutoFit/>
            </a:bodyPr>
            <a:lstStyle/>
            <a:p>
              <a:pPr algn="l"/>
              <a:r>
                <a:rPr lang="zh-CN" sz="1200" dirty="0">
                  <a:solidFill>
                    <a:srgbClr val="1D1D1A"/>
                  </a:solidFill>
                  <a:latin typeface="Arial"/>
                  <a:ea typeface="Microsoft YaHei"/>
                  <a:cs typeface="Arial"/>
                </a:rPr>
                <a:t>唯一存量锚点：</a:t>
              </a:r>
              <a:r>
                <a:rPr lang="en-US" sz="1200" b="1" dirty="0">
                  <a:solidFill>
                    <a:srgbClr val="C7000A"/>
                  </a:solidFill>
                  <a:latin typeface="Arial"/>
                  <a:ea typeface="Arial"/>
                  <a:cs typeface="Arial"/>
                </a:rPr>
                <a:t>Flexible Engine</a:t>
              </a:r>
              <a:r>
                <a:rPr lang="zh-CN" sz="1200" dirty="0">
                  <a:solidFill>
                    <a:srgbClr val="1D1D1A"/>
                  </a:solidFill>
                  <a:latin typeface="Arial"/>
                  <a:ea typeface="Microsoft YaHei"/>
                  <a:cs typeface="Arial"/>
                </a:rPr>
                <a:t>云平台底座（2016年起技术合作，非品牌可见）</a:t>
              </a:r>
            </a:p>
          </p:txBody>
        </p:sp>
      </p:grpSp>
      <p:grpSp>
        <p:nvGrpSpPr>
          <p:cNvPr id="60" name="Group 60"/>
          <p:cNvGrpSpPr/>
          <p:nvPr/>
        </p:nvGrpSpPr>
        <p:grpSpPr>
          <a:xfrm>
            <a:off x="755904" y="6537960"/>
            <a:ext cx="10680192" cy="234696"/>
            <a:chOff x="755904" y="6537960"/>
            <a:chExt cx="10680192" cy="234696"/>
          </a:xfrm>
        </p:grpSpPr>
        <p:sp>
          <p:nvSpPr>
            <p:cNvPr id="58" name="TextBox 58"/>
            <p:cNvSpPr txBox="1"/>
            <p:nvPr/>
          </p:nvSpPr>
          <p:spPr>
            <a:xfrm>
              <a:off x="755904" y="6537960"/>
              <a:ext cx="5215259" cy="234696"/>
            </a:xfrm>
            <a:prstGeom prst="rect">
              <a:avLst/>
            </a:prstGeom>
            <a:noFill/>
            <a:ln>
              <a:noFill/>
            </a:ln>
          </p:spPr>
          <p:txBody>
            <a:bodyPr wrap="none" lIns="0" tIns="0" rIns="0" bIns="0" anchor="t" anchorCtr="0">
              <a:spAutoFit/>
            </a:bodyPr>
            <a:lstStyle/>
            <a:p>
              <a:pPr algn="l"/>
              <a:r>
                <a:rPr lang="zh-CN" sz="1200" dirty="0">
                  <a:solidFill>
                    <a:srgbClr val="8A8880"/>
                  </a:solidFill>
                  <a:latin typeface="Arial"/>
                  <a:ea typeface="Microsoft YaHei"/>
                  <a:cs typeface="Arial"/>
                </a:rPr>
                <a:t>数据来源：Orange Business公开披露、公开市场调研；参与度均为估算</a:t>
              </a:r>
            </a:p>
          </p:txBody>
        </p:sp>
        <p:sp>
          <p:nvSpPr>
            <p:cNvPr id="59" name="TextBox 59"/>
            <p:cNvSpPr txBox="1"/>
            <p:nvPr/>
          </p:nvSpPr>
          <p:spPr>
            <a:xfrm>
              <a:off x="9530080" y="6537960"/>
              <a:ext cx="1906016" cy="234696"/>
            </a:xfrm>
            <a:prstGeom prst="rect">
              <a:avLst/>
            </a:prstGeom>
            <a:noFill/>
            <a:ln>
              <a:noFill/>
            </a:ln>
          </p:spPr>
          <p:txBody>
            <a:bodyPr wrap="none" lIns="0" tIns="0" rIns="0" bIns="0" anchor="t" anchorCtr="0">
              <a:spAutoFit/>
            </a:bodyPr>
            <a:lstStyle/>
            <a:p>
              <a:pPr algn="r"/>
              <a:r>
                <a:rPr lang="en-US" sz="1200" dirty="0">
                  <a:solidFill>
                    <a:srgbClr val="8A8880"/>
                  </a:solidFill>
                  <a:latin typeface="Arial"/>
                  <a:ea typeface="Arial"/>
                  <a:cs typeface="Arial"/>
                </a:rPr>
                <a:t>13 · Huawei Confidential</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745998" y="212408"/>
            <a:ext cx="10684002" cy="921448"/>
            <a:chOff x="745998" y="212408"/>
            <a:chExt cx="10684002" cy="921448"/>
          </a:xfrm>
        </p:grpSpPr>
        <p:sp>
          <p:nvSpPr>
            <p:cNvPr id="3" name="TextBox 3"/>
            <p:cNvSpPr txBox="1"/>
            <p:nvPr/>
          </p:nvSpPr>
          <p:spPr>
            <a:xfrm>
              <a:off x="745998" y="212408"/>
              <a:ext cx="8900152" cy="616077"/>
            </a:xfrm>
            <a:prstGeom prst="rect">
              <a:avLst/>
            </a:prstGeom>
            <a:noFill/>
            <a:ln>
              <a:noFill/>
            </a:ln>
          </p:spPr>
          <p:txBody>
            <a:bodyPr wrap="none" lIns="0" tIns="0" rIns="0" bIns="0" anchor="t" anchorCtr="0">
              <a:spAutoFit/>
            </a:bodyPr>
            <a:lstStyle/>
            <a:p>
              <a:pPr algn="l"/>
              <a:r>
                <a:rPr lang="zh-CN" sz="3150" b="1" dirty="0">
                  <a:solidFill>
                    <a:srgbClr val="1D1D1A"/>
                  </a:solidFill>
                  <a:latin typeface="Arial"/>
                  <a:ea typeface="Microsoft YaHei"/>
                  <a:cs typeface="Arial"/>
                </a:rPr>
                <a:t>OEU是三区域中对华为最不友好的法律环境</a:t>
              </a:r>
            </a:p>
          </p:txBody>
        </p:sp>
        <p:sp>
          <p:nvSpPr>
            <p:cNvPr id="4" name="Line 4"/>
            <p:cNvSpPr/>
            <p:nvPr/>
          </p:nvSpPr>
          <p:spPr>
            <a:xfrm>
              <a:off x="762000" y="781050"/>
              <a:ext cx="10668000" cy="9525"/>
            </a:xfrm>
            <a:custGeom>
              <a:avLst/>
              <a:gdLst/>
              <a:ahLst/>
              <a:cxnLst/>
              <a:rect l="l" t="t" r="r" b="b"/>
              <a:pathLst>
                <a:path w="10668000" h="9525">
                  <a:moveTo>
                    <a:pt x="0" y="0"/>
                  </a:moveTo>
                  <a:lnTo>
                    <a:pt x="10668000" y="0"/>
                  </a:lnTo>
                </a:path>
              </a:pathLst>
            </a:custGeom>
            <a:noFill/>
            <a:ln w="9525">
              <a:solidFill>
                <a:srgbClr val="DDDBD6"/>
              </a:solidFill>
            </a:ln>
          </p:spPr>
        </p:sp>
        <p:sp>
          <p:nvSpPr>
            <p:cNvPr id="5" name="TextBox 5"/>
            <p:cNvSpPr txBox="1"/>
            <p:nvPr/>
          </p:nvSpPr>
          <p:spPr>
            <a:xfrm>
              <a:off x="755904" y="899160"/>
              <a:ext cx="6974738" cy="234696"/>
            </a:xfrm>
            <a:prstGeom prst="rect">
              <a:avLst/>
            </a:prstGeom>
            <a:noFill/>
            <a:ln>
              <a:noFill/>
            </a:ln>
          </p:spPr>
          <p:txBody>
            <a:bodyPr wrap="none" lIns="0" tIns="0" rIns="0" bIns="0" anchor="t" anchorCtr="0">
              <a:spAutoFit/>
            </a:bodyPr>
            <a:lstStyle/>
            <a:p>
              <a:pPr algn="l"/>
              <a:r>
                <a:rPr lang="zh-CN" sz="1200" dirty="0">
                  <a:solidFill>
                    <a:srgbClr val="8A8880"/>
                  </a:solidFill>
                  <a:latin typeface="Arial"/>
                  <a:ea typeface="Microsoft YaHei"/>
                  <a:cs typeface="Arial"/>
                </a:rPr>
                <a:t>波兰与罗马尼亚均已完成对华为的法律层面排除，罗马尼亚更在进行"拆除并更换"的存量替换工程</a:t>
              </a:r>
            </a:p>
          </p:txBody>
        </p:sp>
      </p:grpSp>
      <p:grpSp>
        <p:nvGrpSpPr>
          <p:cNvPr id="53" name="Group 53"/>
          <p:cNvGrpSpPr/>
          <p:nvPr/>
        </p:nvGrpSpPr>
        <p:grpSpPr>
          <a:xfrm>
            <a:off x="755142" y="1299210"/>
            <a:ext cx="10680954" cy="3391091"/>
            <a:chOff x="755142" y="1299210"/>
            <a:chExt cx="10680954" cy="3391091"/>
          </a:xfrm>
        </p:grpSpPr>
        <p:sp>
          <p:nvSpPr>
            <p:cNvPr id="7" name="TextBox 7"/>
            <p:cNvSpPr txBox="1"/>
            <p:nvPr/>
          </p:nvSpPr>
          <p:spPr>
            <a:xfrm>
              <a:off x="755904" y="1299210"/>
              <a:ext cx="1246266" cy="234696"/>
            </a:xfrm>
            <a:prstGeom prst="rect">
              <a:avLst/>
            </a:prstGeom>
            <a:noFill/>
            <a:ln>
              <a:noFill/>
            </a:ln>
          </p:spPr>
          <p:txBody>
            <a:bodyPr wrap="none" lIns="0" tIns="0" rIns="0" bIns="0" anchor="t" anchorCtr="0">
              <a:spAutoFit/>
            </a:bodyPr>
            <a:lstStyle/>
            <a:p>
              <a:pPr algn="l"/>
              <a:r>
                <a:rPr lang="zh-CN" sz="1200" b="1" spc="75" dirty="0">
                  <a:solidFill>
                    <a:srgbClr val="8A8880"/>
                  </a:solidFill>
                  <a:latin typeface="Arial"/>
                  <a:ea typeface="Microsoft YaHei"/>
                  <a:cs typeface="Arial"/>
                </a:rPr>
                <a:t>OFFERING维度</a:t>
              </a:r>
            </a:p>
          </p:txBody>
        </p:sp>
        <p:sp>
          <p:nvSpPr>
            <p:cNvPr id="8" name="TextBox 8"/>
            <p:cNvSpPr txBox="1"/>
            <p:nvPr/>
          </p:nvSpPr>
          <p:spPr>
            <a:xfrm>
              <a:off x="4184904" y="1299210"/>
              <a:ext cx="1072591" cy="234696"/>
            </a:xfrm>
            <a:prstGeom prst="rect">
              <a:avLst/>
            </a:prstGeom>
            <a:noFill/>
            <a:ln>
              <a:noFill/>
            </a:ln>
          </p:spPr>
          <p:txBody>
            <a:bodyPr wrap="none" lIns="0" tIns="0" rIns="0" bIns="0" anchor="t" anchorCtr="0">
              <a:spAutoFit/>
            </a:bodyPr>
            <a:lstStyle/>
            <a:p>
              <a:pPr algn="l"/>
              <a:r>
                <a:rPr lang="zh-CN" sz="1200" b="1" spc="75" dirty="0">
                  <a:solidFill>
                    <a:srgbClr val="8A8880"/>
                  </a:solidFill>
                  <a:latin typeface="Arial"/>
                  <a:ea typeface="Microsoft YaHei"/>
                  <a:cs typeface="Arial"/>
                </a:rPr>
                <a:t>主要VENDOR</a:t>
              </a:r>
            </a:p>
          </p:txBody>
        </p:sp>
        <p:sp>
          <p:nvSpPr>
            <p:cNvPr id="9" name="TextBox 9"/>
            <p:cNvSpPr txBox="1"/>
            <p:nvPr/>
          </p:nvSpPr>
          <p:spPr>
            <a:xfrm>
              <a:off x="7232904" y="1299210"/>
              <a:ext cx="720966" cy="234696"/>
            </a:xfrm>
            <a:prstGeom prst="rect">
              <a:avLst/>
            </a:prstGeom>
            <a:noFill/>
            <a:ln>
              <a:noFill/>
            </a:ln>
          </p:spPr>
          <p:txBody>
            <a:bodyPr wrap="none" lIns="0" tIns="0" rIns="0" bIns="0" anchor="t" anchorCtr="0">
              <a:spAutoFit/>
            </a:bodyPr>
            <a:lstStyle/>
            <a:p>
              <a:pPr algn="l"/>
              <a:r>
                <a:rPr lang="zh-CN" sz="1200" b="1" spc="75" dirty="0">
                  <a:solidFill>
                    <a:srgbClr val="8A8880"/>
                  </a:solidFill>
                  <a:latin typeface="Arial"/>
                  <a:ea typeface="Microsoft YaHei"/>
                  <a:cs typeface="Arial"/>
                </a:rPr>
                <a:t>华为现状</a:t>
              </a:r>
            </a:p>
          </p:txBody>
        </p:sp>
        <p:sp>
          <p:nvSpPr>
            <p:cNvPr id="10" name="TextBox 10"/>
            <p:cNvSpPr txBox="1"/>
            <p:nvPr/>
          </p:nvSpPr>
          <p:spPr>
            <a:xfrm>
              <a:off x="10355694" y="1299210"/>
              <a:ext cx="1080402" cy="234696"/>
            </a:xfrm>
            <a:prstGeom prst="rect">
              <a:avLst/>
            </a:prstGeom>
            <a:noFill/>
            <a:ln>
              <a:noFill/>
            </a:ln>
          </p:spPr>
          <p:txBody>
            <a:bodyPr wrap="none" lIns="0" tIns="0" rIns="0" bIns="0" anchor="t" anchorCtr="0">
              <a:spAutoFit/>
            </a:bodyPr>
            <a:lstStyle/>
            <a:p>
              <a:pPr algn="r"/>
              <a:r>
                <a:rPr lang="zh-CN" sz="1200" b="1" spc="75" dirty="0">
                  <a:solidFill>
                    <a:srgbClr val="8A8880"/>
                  </a:solidFill>
                  <a:latin typeface="Arial"/>
                  <a:ea typeface="Microsoft YaHei"/>
                  <a:cs typeface="Arial"/>
                </a:rPr>
                <a:t>参与度（估）</a:t>
              </a:r>
            </a:p>
          </p:txBody>
        </p:sp>
        <p:sp>
          <p:nvSpPr>
            <p:cNvPr id="11" name="Line 11"/>
            <p:cNvSpPr/>
            <p:nvPr/>
          </p:nvSpPr>
          <p:spPr>
            <a:xfrm>
              <a:off x="762000" y="1524000"/>
              <a:ext cx="10668000" cy="9525"/>
            </a:xfrm>
            <a:custGeom>
              <a:avLst/>
              <a:gdLst/>
              <a:ahLst/>
              <a:cxnLst/>
              <a:rect l="l" t="t" r="r" b="b"/>
              <a:pathLst>
                <a:path w="10668000" h="9525">
                  <a:moveTo>
                    <a:pt x="0" y="0"/>
                  </a:moveTo>
                  <a:lnTo>
                    <a:pt x="10668000" y="0"/>
                  </a:lnTo>
                </a:path>
              </a:pathLst>
            </a:custGeom>
            <a:noFill/>
            <a:ln w="14288">
              <a:solidFill>
                <a:srgbClr val="1D1D1A"/>
              </a:solidFill>
            </a:ln>
          </p:spPr>
        </p:sp>
        <p:grpSp>
          <p:nvGrpSpPr>
            <p:cNvPr id="17" name="Group 17"/>
            <p:cNvGrpSpPr/>
            <p:nvPr/>
          </p:nvGrpSpPr>
          <p:grpSpPr>
            <a:xfrm>
              <a:off x="755142" y="1699260"/>
              <a:ext cx="10680954" cy="425196"/>
              <a:chOff x="755142" y="1699260"/>
              <a:chExt cx="10680954" cy="425196"/>
            </a:xfrm>
          </p:grpSpPr>
          <p:sp>
            <p:nvSpPr>
              <p:cNvPr id="12" name="TextBox 12"/>
              <p:cNvSpPr txBox="1"/>
              <p:nvPr/>
            </p:nvSpPr>
            <p:spPr>
              <a:xfrm>
                <a:off x="755142" y="1759268"/>
                <a:ext cx="1233548" cy="264033"/>
              </a:xfrm>
              <a:prstGeom prst="rect">
                <a:avLst/>
              </a:prstGeom>
              <a:noFill/>
              <a:ln>
                <a:noFill/>
              </a:ln>
            </p:spPr>
            <p:txBody>
              <a:bodyPr wrap="none" lIns="0" tIns="0" rIns="0" bIns="0" anchor="t" anchorCtr="0">
                <a:spAutoFit/>
              </a:bodyPr>
              <a:lstStyle/>
              <a:p>
                <a:pPr algn="l"/>
                <a:r>
                  <a:rPr lang="zh-CN" sz="1350" b="1" dirty="0">
                    <a:solidFill>
                      <a:srgbClr val="1D1D1A"/>
                    </a:solidFill>
                    <a:latin typeface="Arial"/>
                    <a:ea typeface="Microsoft YaHei"/>
                    <a:cs typeface="Arial"/>
                  </a:rPr>
                  <a:t>WAN连接/RAN</a:t>
                </a:r>
              </a:p>
            </p:txBody>
          </p:sp>
          <p:sp>
            <p:nvSpPr>
              <p:cNvPr id="13" name="TextBox 13"/>
              <p:cNvSpPr txBox="1"/>
              <p:nvPr/>
            </p:nvSpPr>
            <p:spPr>
              <a:xfrm>
                <a:off x="4184904" y="1699260"/>
                <a:ext cx="2206752" cy="425196"/>
              </a:xfrm>
              <a:prstGeom prst="rect">
                <a:avLst/>
              </a:prstGeom>
              <a:noFill/>
              <a:ln>
                <a:noFill/>
              </a:ln>
            </p:spPr>
            <p:txBody>
              <a:bodyPr wrap="square" lIns="0" tIns="0" rIns="0" bIns="0" anchor="t" anchorCtr="0"/>
              <a:lstStyle/>
              <a:p>
                <a:pPr algn="l">
                  <a:lnSpc>
                    <a:spcPts val="1500"/>
                  </a:lnSpc>
                </a:pPr>
                <a:r>
                  <a:rPr lang="en-US" sz="1200" dirty="0">
                    <a:solidFill>
                      <a:srgbClr val="5A5852"/>
                    </a:solidFill>
                    <a:latin typeface="Arial"/>
                    <a:ea typeface="Arial"/>
                    <a:cs typeface="Arial"/>
                  </a:rPr>
                  <a:t xml:space="preserve">OneAccess / Cisco / Juniper / </a:t>
                </a:r>
                <a:r>
                  <a:rPr lang="zh-CN" sz="1200" dirty="0">
                    <a:solidFill>
                      <a:srgbClr val="5A5852"/>
                    </a:solidFill>
                    <a:latin typeface="Arial"/>
                    <a:ea typeface="Microsoft YaHei"/>
                    <a:cs typeface="Arial"/>
                  </a:rPr>
                  <a:t>Ericsson（罗马尼亚RAN替换）</a:t>
                </a:r>
              </a:p>
            </p:txBody>
          </p:sp>
          <p:sp>
            <p:nvSpPr>
              <p:cNvPr id="14" name="TextBox 14"/>
              <p:cNvSpPr txBox="1"/>
              <p:nvPr/>
            </p:nvSpPr>
            <p:spPr>
              <a:xfrm>
                <a:off x="7232904" y="1775460"/>
                <a:ext cx="1369162" cy="234696"/>
              </a:xfrm>
              <a:prstGeom prst="rect">
                <a:avLst/>
              </a:prstGeom>
              <a:noFill/>
              <a:ln>
                <a:noFill/>
              </a:ln>
            </p:spPr>
            <p:txBody>
              <a:bodyPr wrap="none" lIns="0" tIns="0" rIns="0" bIns="0" anchor="t" anchorCtr="0">
                <a:spAutoFit/>
              </a:bodyPr>
              <a:lstStyle/>
              <a:p>
                <a:pPr algn="l"/>
                <a:r>
                  <a:rPr lang="zh-CN" sz="1200" b="1" dirty="0">
                    <a:solidFill>
                      <a:srgbClr val="C7000A"/>
                    </a:solidFill>
                    <a:latin typeface="Arial"/>
                    <a:ea typeface="Microsoft YaHei"/>
                    <a:cs typeface="Arial"/>
                  </a:rPr>
                  <a:t>完全排除（法律）</a:t>
                </a:r>
              </a:p>
            </p:txBody>
          </p:sp>
          <p:sp>
            <p:nvSpPr>
              <p:cNvPr id="15" name="Rectangle 15"/>
              <p:cNvSpPr/>
              <p:nvPr/>
            </p:nvSpPr>
            <p:spPr>
              <a:xfrm>
                <a:off x="9334500" y="1771650"/>
                <a:ext cx="2095500" cy="114300"/>
              </a:xfrm>
              <a:prstGeom prst="roundRect">
                <a:avLst>
                  <a:gd name="adj" fmla="val 50000"/>
                </a:avLst>
              </a:prstGeom>
              <a:solidFill>
                <a:srgbClr val="DDDBD6"/>
              </a:solidFill>
              <a:ln>
                <a:noFill/>
              </a:ln>
            </p:spPr>
          </p:sp>
          <p:sp>
            <p:nvSpPr>
              <p:cNvPr id="16" name="TextBox 16"/>
              <p:cNvSpPr txBox="1"/>
              <p:nvPr/>
            </p:nvSpPr>
            <p:spPr>
              <a:xfrm>
                <a:off x="11203396" y="1775460"/>
                <a:ext cx="232700" cy="234696"/>
              </a:xfrm>
              <a:prstGeom prst="rect">
                <a:avLst/>
              </a:prstGeom>
              <a:noFill/>
              <a:ln>
                <a:noFill/>
              </a:ln>
            </p:spPr>
            <p:txBody>
              <a:bodyPr wrap="none" lIns="0" tIns="0" rIns="0" bIns="0" anchor="t" anchorCtr="0">
                <a:spAutoFit/>
              </a:bodyPr>
              <a:lstStyle/>
              <a:p>
                <a:pPr algn="r"/>
                <a:r>
                  <a:rPr lang="en-US" sz="1200" b="1" dirty="0">
                    <a:solidFill>
                      <a:srgbClr val="8A8880"/>
                    </a:solidFill>
                    <a:latin typeface="Arial"/>
                    <a:ea typeface="Arial"/>
                    <a:cs typeface="Arial"/>
                  </a:rPr>
                  <a:t>0%</a:t>
                </a:r>
              </a:p>
            </p:txBody>
          </p:sp>
        </p:grpSp>
        <p:sp>
          <p:nvSpPr>
            <p:cNvPr id="18" name="Line 18"/>
            <p:cNvSpPr/>
            <p:nvPr/>
          </p:nvSpPr>
          <p:spPr>
            <a:xfrm>
              <a:off x="762000" y="2095500"/>
              <a:ext cx="10668000" cy="9525"/>
            </a:xfrm>
            <a:custGeom>
              <a:avLst/>
              <a:gdLst/>
              <a:ahLst/>
              <a:cxnLst/>
              <a:rect l="l" t="t" r="r" b="b"/>
              <a:pathLst>
                <a:path w="10668000" h="9525">
                  <a:moveTo>
                    <a:pt x="0" y="0"/>
                  </a:moveTo>
                  <a:lnTo>
                    <a:pt x="10668000" y="0"/>
                  </a:lnTo>
                </a:path>
              </a:pathLst>
            </a:custGeom>
            <a:noFill/>
            <a:ln w="9525">
              <a:solidFill>
                <a:srgbClr val="DDDBD6"/>
              </a:solidFill>
            </a:ln>
          </p:spPr>
        </p:sp>
        <p:grpSp>
          <p:nvGrpSpPr>
            <p:cNvPr id="24" name="Group 24"/>
            <p:cNvGrpSpPr/>
            <p:nvPr/>
          </p:nvGrpSpPr>
          <p:grpSpPr>
            <a:xfrm>
              <a:off x="755142" y="2292668"/>
              <a:ext cx="10680954" cy="264033"/>
              <a:chOff x="755142" y="2292668"/>
              <a:chExt cx="10680954" cy="264033"/>
            </a:xfrm>
          </p:grpSpPr>
          <p:sp>
            <p:nvSpPr>
              <p:cNvPr id="19" name="TextBox 19"/>
              <p:cNvSpPr txBox="1"/>
              <p:nvPr/>
            </p:nvSpPr>
            <p:spPr>
              <a:xfrm>
                <a:off x="755142" y="2292668"/>
                <a:ext cx="749648" cy="264033"/>
              </a:xfrm>
              <a:prstGeom prst="rect">
                <a:avLst/>
              </a:prstGeom>
              <a:noFill/>
              <a:ln>
                <a:noFill/>
              </a:ln>
            </p:spPr>
            <p:txBody>
              <a:bodyPr wrap="none" lIns="0" tIns="0" rIns="0" bIns="0" anchor="t" anchorCtr="0">
                <a:spAutoFit/>
              </a:bodyPr>
              <a:lstStyle/>
              <a:p>
                <a:pPr algn="l"/>
                <a:r>
                  <a:rPr lang="zh-CN" sz="1350" b="1" dirty="0">
                    <a:solidFill>
                      <a:srgbClr val="1D1D1A"/>
                    </a:solidFill>
                    <a:latin typeface="Arial"/>
                    <a:ea typeface="Microsoft YaHei"/>
                    <a:cs typeface="Arial"/>
                  </a:rPr>
                  <a:t>LAN管理</a:t>
                </a:r>
              </a:p>
            </p:txBody>
          </p:sp>
          <p:sp>
            <p:nvSpPr>
              <p:cNvPr id="20" name="TextBox 20"/>
              <p:cNvSpPr txBox="1"/>
              <p:nvPr/>
            </p:nvSpPr>
            <p:spPr>
              <a:xfrm>
                <a:off x="4184904" y="2308860"/>
                <a:ext cx="3070060" cy="234696"/>
              </a:xfrm>
              <a:prstGeom prst="rect">
                <a:avLst/>
              </a:prstGeom>
              <a:noFill/>
              <a:ln>
                <a:noFill/>
              </a:ln>
            </p:spPr>
            <p:txBody>
              <a:bodyPr wrap="none" lIns="0" tIns="0" rIns="0" bIns="0" anchor="t" anchorCtr="0">
                <a:spAutoFit/>
              </a:bodyPr>
              <a:lstStyle/>
              <a:p>
                <a:pPr algn="l"/>
                <a:r>
                  <a:rPr lang="zh-CN" sz="1200" dirty="0">
                    <a:solidFill>
                      <a:srgbClr val="5A5852"/>
                    </a:solidFill>
                    <a:latin typeface="Arial"/>
                    <a:ea typeface="Microsoft YaHei"/>
                    <a:cs typeface="Arial"/>
                  </a:rPr>
                  <a:t>Cisco / HPE / Fortinet（估，欧洲份额）</a:t>
                </a:r>
              </a:p>
            </p:txBody>
          </p:sp>
          <p:sp>
            <p:nvSpPr>
              <p:cNvPr id="21" name="TextBox 21"/>
              <p:cNvSpPr txBox="1"/>
              <p:nvPr/>
            </p:nvSpPr>
            <p:spPr>
              <a:xfrm>
                <a:off x="7232904" y="2308860"/>
                <a:ext cx="690677" cy="234696"/>
              </a:xfrm>
              <a:prstGeom prst="rect">
                <a:avLst/>
              </a:prstGeom>
              <a:noFill/>
              <a:ln>
                <a:noFill/>
              </a:ln>
            </p:spPr>
            <p:txBody>
              <a:bodyPr wrap="none" lIns="0" tIns="0" rIns="0" bIns="0" anchor="t" anchorCtr="0">
                <a:spAutoFit/>
              </a:bodyPr>
              <a:lstStyle/>
              <a:p>
                <a:pPr algn="l"/>
                <a:r>
                  <a:rPr lang="zh-CN" sz="1200" b="1" dirty="0">
                    <a:solidFill>
                      <a:srgbClr val="C7000A"/>
                    </a:solidFill>
                    <a:latin typeface="Arial"/>
                    <a:ea typeface="Microsoft YaHei"/>
                    <a:cs typeface="Arial"/>
                  </a:rPr>
                  <a:t>法律排除</a:t>
                </a:r>
              </a:p>
            </p:txBody>
          </p:sp>
          <p:sp>
            <p:nvSpPr>
              <p:cNvPr id="22" name="Rectangle 22"/>
              <p:cNvSpPr/>
              <p:nvPr/>
            </p:nvSpPr>
            <p:spPr>
              <a:xfrm>
                <a:off x="9334500" y="2305050"/>
                <a:ext cx="2095500" cy="114300"/>
              </a:xfrm>
              <a:prstGeom prst="roundRect">
                <a:avLst>
                  <a:gd name="adj" fmla="val 50000"/>
                </a:avLst>
              </a:prstGeom>
              <a:solidFill>
                <a:srgbClr val="DDDBD6"/>
              </a:solidFill>
              <a:ln>
                <a:noFill/>
              </a:ln>
            </p:spPr>
          </p:sp>
          <p:sp>
            <p:nvSpPr>
              <p:cNvPr id="23" name="TextBox 23"/>
              <p:cNvSpPr txBox="1"/>
              <p:nvPr/>
            </p:nvSpPr>
            <p:spPr>
              <a:xfrm>
                <a:off x="11203396" y="2308860"/>
                <a:ext cx="232700" cy="234696"/>
              </a:xfrm>
              <a:prstGeom prst="rect">
                <a:avLst/>
              </a:prstGeom>
              <a:noFill/>
              <a:ln>
                <a:noFill/>
              </a:ln>
            </p:spPr>
            <p:txBody>
              <a:bodyPr wrap="none" lIns="0" tIns="0" rIns="0" bIns="0" anchor="t" anchorCtr="0">
                <a:spAutoFit/>
              </a:bodyPr>
              <a:lstStyle/>
              <a:p>
                <a:pPr algn="r"/>
                <a:r>
                  <a:rPr lang="en-US" sz="1200" b="1" dirty="0">
                    <a:solidFill>
                      <a:srgbClr val="8A8880"/>
                    </a:solidFill>
                    <a:latin typeface="Arial"/>
                    <a:ea typeface="Arial"/>
                    <a:cs typeface="Arial"/>
                  </a:rPr>
                  <a:t>0%</a:t>
                </a:r>
              </a:p>
            </p:txBody>
          </p:sp>
        </p:grpSp>
        <p:sp>
          <p:nvSpPr>
            <p:cNvPr id="25" name="Line 25"/>
            <p:cNvSpPr/>
            <p:nvPr/>
          </p:nvSpPr>
          <p:spPr>
            <a:xfrm>
              <a:off x="762000" y="2628900"/>
              <a:ext cx="10668000" cy="9525"/>
            </a:xfrm>
            <a:custGeom>
              <a:avLst/>
              <a:gdLst/>
              <a:ahLst/>
              <a:cxnLst/>
              <a:rect l="l" t="t" r="r" b="b"/>
              <a:pathLst>
                <a:path w="10668000" h="9525">
                  <a:moveTo>
                    <a:pt x="0" y="0"/>
                  </a:moveTo>
                  <a:lnTo>
                    <a:pt x="10668000" y="0"/>
                  </a:lnTo>
                </a:path>
              </a:pathLst>
            </a:custGeom>
            <a:noFill/>
            <a:ln w="9525">
              <a:solidFill>
                <a:srgbClr val="DDDBD6"/>
              </a:solidFill>
            </a:ln>
          </p:spPr>
        </p:sp>
        <p:grpSp>
          <p:nvGrpSpPr>
            <p:cNvPr id="31" name="Group 31"/>
            <p:cNvGrpSpPr/>
            <p:nvPr/>
          </p:nvGrpSpPr>
          <p:grpSpPr>
            <a:xfrm>
              <a:off x="755142" y="2826068"/>
              <a:ext cx="10680954" cy="264033"/>
              <a:chOff x="755142" y="2826068"/>
              <a:chExt cx="10680954" cy="264033"/>
            </a:xfrm>
          </p:grpSpPr>
          <p:sp>
            <p:nvSpPr>
              <p:cNvPr id="26" name="TextBox 26"/>
              <p:cNvSpPr txBox="1"/>
              <p:nvPr/>
            </p:nvSpPr>
            <p:spPr>
              <a:xfrm>
                <a:off x="755142" y="2826068"/>
                <a:ext cx="586188" cy="264033"/>
              </a:xfrm>
              <a:prstGeom prst="rect">
                <a:avLst/>
              </a:prstGeom>
              <a:noFill/>
              <a:ln>
                <a:noFill/>
              </a:ln>
            </p:spPr>
            <p:txBody>
              <a:bodyPr wrap="none" lIns="0" tIns="0" rIns="0" bIns="0" anchor="t" anchorCtr="0">
                <a:spAutoFit/>
              </a:bodyPr>
              <a:lstStyle/>
              <a:p>
                <a:pPr algn="l"/>
                <a:r>
                  <a:rPr lang="zh-CN" sz="1350" b="1" dirty="0">
                    <a:solidFill>
                      <a:srgbClr val="1D1D1A"/>
                    </a:solidFill>
                    <a:latin typeface="Arial"/>
                    <a:ea typeface="Microsoft YaHei"/>
                    <a:cs typeface="Arial"/>
                  </a:rPr>
                  <a:t>云服务</a:t>
                </a:r>
              </a:p>
            </p:txBody>
          </p:sp>
          <p:sp>
            <p:nvSpPr>
              <p:cNvPr id="27" name="TextBox 27"/>
              <p:cNvSpPr txBox="1"/>
              <p:nvPr/>
            </p:nvSpPr>
            <p:spPr>
              <a:xfrm>
                <a:off x="4184904" y="2842260"/>
                <a:ext cx="2043505" cy="234696"/>
              </a:xfrm>
              <a:prstGeom prst="rect">
                <a:avLst/>
              </a:prstGeom>
              <a:noFill/>
              <a:ln>
                <a:noFill/>
              </a:ln>
            </p:spPr>
            <p:txBody>
              <a:bodyPr wrap="none" lIns="0" tIns="0" rIns="0" bIns="0" anchor="t" anchorCtr="0">
                <a:spAutoFit/>
              </a:bodyPr>
              <a:lstStyle/>
              <a:p>
                <a:pPr algn="l"/>
                <a:r>
                  <a:rPr lang="zh-CN" sz="1200" dirty="0">
                    <a:solidFill>
                      <a:srgbClr val="5A5852"/>
                    </a:solidFill>
                    <a:latin typeface="Arial"/>
                    <a:ea typeface="Microsoft YaHei"/>
                    <a:cs typeface="Arial"/>
                  </a:rPr>
                  <a:t>波兰BlueSoft / Craftware</a:t>
                </a:r>
              </a:p>
            </p:txBody>
          </p:sp>
          <p:sp>
            <p:nvSpPr>
              <p:cNvPr id="28" name="TextBox 28"/>
              <p:cNvSpPr txBox="1"/>
              <p:nvPr/>
            </p:nvSpPr>
            <p:spPr>
              <a:xfrm>
                <a:off x="7232904" y="2842260"/>
                <a:ext cx="658368" cy="234696"/>
              </a:xfrm>
              <a:prstGeom prst="rect">
                <a:avLst/>
              </a:prstGeom>
              <a:noFill/>
              <a:ln>
                <a:noFill/>
              </a:ln>
            </p:spPr>
            <p:txBody>
              <a:bodyPr wrap="none" lIns="0" tIns="0" rIns="0" bIns="0" anchor="t" anchorCtr="0">
                <a:spAutoFit/>
              </a:bodyPr>
              <a:lstStyle/>
              <a:p>
                <a:pPr algn="l"/>
                <a:r>
                  <a:rPr lang="zh-CN" sz="1200" dirty="0">
                    <a:solidFill>
                      <a:srgbClr val="8A8880"/>
                    </a:solidFill>
                    <a:latin typeface="Arial"/>
                    <a:ea typeface="Microsoft YaHei"/>
                    <a:cs typeface="Arial"/>
                  </a:rPr>
                  <a:t>未见参与</a:t>
                </a:r>
              </a:p>
            </p:txBody>
          </p:sp>
          <p:sp>
            <p:nvSpPr>
              <p:cNvPr id="29" name="Rectangle 29"/>
              <p:cNvSpPr/>
              <p:nvPr/>
            </p:nvSpPr>
            <p:spPr>
              <a:xfrm>
                <a:off x="9334500" y="2838450"/>
                <a:ext cx="2095500" cy="114300"/>
              </a:xfrm>
              <a:prstGeom prst="roundRect">
                <a:avLst>
                  <a:gd name="adj" fmla="val 50000"/>
                </a:avLst>
              </a:prstGeom>
              <a:solidFill>
                <a:srgbClr val="DDDBD6"/>
              </a:solidFill>
              <a:ln>
                <a:noFill/>
              </a:ln>
            </p:spPr>
          </p:sp>
          <p:sp>
            <p:nvSpPr>
              <p:cNvPr id="30" name="TextBox 30"/>
              <p:cNvSpPr txBox="1"/>
              <p:nvPr/>
            </p:nvSpPr>
            <p:spPr>
              <a:xfrm>
                <a:off x="11203396" y="2842260"/>
                <a:ext cx="232700" cy="234696"/>
              </a:xfrm>
              <a:prstGeom prst="rect">
                <a:avLst/>
              </a:prstGeom>
              <a:noFill/>
              <a:ln>
                <a:noFill/>
              </a:ln>
            </p:spPr>
            <p:txBody>
              <a:bodyPr wrap="none" lIns="0" tIns="0" rIns="0" bIns="0" anchor="t" anchorCtr="0">
                <a:spAutoFit/>
              </a:bodyPr>
              <a:lstStyle/>
              <a:p>
                <a:pPr algn="r"/>
                <a:r>
                  <a:rPr lang="en-US" sz="1200" b="1" dirty="0">
                    <a:solidFill>
                      <a:srgbClr val="8A8880"/>
                    </a:solidFill>
                    <a:latin typeface="Arial"/>
                    <a:ea typeface="Arial"/>
                    <a:cs typeface="Arial"/>
                  </a:rPr>
                  <a:t>0%</a:t>
                </a:r>
              </a:p>
            </p:txBody>
          </p:sp>
        </p:grpSp>
        <p:sp>
          <p:nvSpPr>
            <p:cNvPr id="32" name="Line 32"/>
            <p:cNvSpPr/>
            <p:nvPr/>
          </p:nvSpPr>
          <p:spPr>
            <a:xfrm>
              <a:off x="762000" y="3162300"/>
              <a:ext cx="10668000" cy="9525"/>
            </a:xfrm>
            <a:custGeom>
              <a:avLst/>
              <a:gdLst/>
              <a:ahLst/>
              <a:cxnLst/>
              <a:rect l="l" t="t" r="r" b="b"/>
              <a:pathLst>
                <a:path w="10668000" h="9525">
                  <a:moveTo>
                    <a:pt x="0" y="0"/>
                  </a:moveTo>
                  <a:lnTo>
                    <a:pt x="10668000" y="0"/>
                  </a:lnTo>
                </a:path>
              </a:pathLst>
            </a:custGeom>
            <a:noFill/>
            <a:ln w="9525">
              <a:solidFill>
                <a:srgbClr val="DDDBD6"/>
              </a:solidFill>
            </a:ln>
          </p:spPr>
        </p:sp>
        <p:grpSp>
          <p:nvGrpSpPr>
            <p:cNvPr id="38" name="Group 38"/>
            <p:cNvGrpSpPr/>
            <p:nvPr/>
          </p:nvGrpSpPr>
          <p:grpSpPr>
            <a:xfrm>
              <a:off x="755142" y="3359468"/>
              <a:ext cx="10680954" cy="264033"/>
              <a:chOff x="755142" y="3359468"/>
              <a:chExt cx="10680954" cy="264033"/>
            </a:xfrm>
          </p:grpSpPr>
          <p:sp>
            <p:nvSpPr>
              <p:cNvPr id="33" name="TextBox 33"/>
              <p:cNvSpPr txBox="1"/>
              <p:nvPr/>
            </p:nvSpPr>
            <p:spPr>
              <a:xfrm>
                <a:off x="755142" y="3359468"/>
                <a:ext cx="777011" cy="264033"/>
              </a:xfrm>
              <a:prstGeom prst="rect">
                <a:avLst/>
              </a:prstGeom>
              <a:noFill/>
              <a:ln>
                <a:noFill/>
              </a:ln>
            </p:spPr>
            <p:txBody>
              <a:bodyPr wrap="none" lIns="0" tIns="0" rIns="0" bIns="0" anchor="t" anchorCtr="0">
                <a:spAutoFit/>
              </a:bodyPr>
              <a:lstStyle/>
              <a:p>
                <a:pPr algn="l"/>
                <a:r>
                  <a:rPr lang="zh-CN" sz="1350" b="1" dirty="0">
                    <a:solidFill>
                      <a:srgbClr val="1D1D1A"/>
                    </a:solidFill>
                    <a:latin typeface="Arial"/>
                    <a:ea typeface="Microsoft YaHei"/>
                    <a:cs typeface="Arial"/>
                  </a:rPr>
                  <a:t>安全托管</a:t>
                </a:r>
              </a:p>
            </p:txBody>
          </p:sp>
          <p:sp>
            <p:nvSpPr>
              <p:cNvPr id="34" name="TextBox 34"/>
              <p:cNvSpPr txBox="1"/>
              <p:nvPr/>
            </p:nvSpPr>
            <p:spPr>
              <a:xfrm>
                <a:off x="4184904" y="3375660"/>
                <a:ext cx="2265274" cy="234696"/>
              </a:xfrm>
              <a:prstGeom prst="rect">
                <a:avLst/>
              </a:prstGeom>
              <a:noFill/>
              <a:ln>
                <a:noFill/>
              </a:ln>
            </p:spPr>
            <p:txBody>
              <a:bodyPr wrap="none" lIns="0" tIns="0" rIns="0" bIns="0" anchor="t" anchorCtr="0">
                <a:spAutoFit/>
              </a:bodyPr>
              <a:lstStyle/>
              <a:p>
                <a:pPr algn="l"/>
                <a:r>
                  <a:rPr lang="zh-CN" sz="1200" dirty="0">
                    <a:solidFill>
                      <a:srgbClr val="5A5852"/>
                    </a:solidFill>
                    <a:latin typeface="Arial"/>
                    <a:ea typeface="Microsoft YaHei"/>
                    <a:cs typeface="Arial"/>
                  </a:rPr>
                  <a:t>罗马尼亚SCUT / OCD区域节点</a:t>
                </a:r>
              </a:p>
            </p:txBody>
          </p:sp>
          <p:sp>
            <p:nvSpPr>
              <p:cNvPr id="35" name="TextBox 35"/>
              <p:cNvSpPr txBox="1"/>
              <p:nvPr/>
            </p:nvSpPr>
            <p:spPr>
              <a:xfrm>
                <a:off x="7232904" y="3375660"/>
                <a:ext cx="658368" cy="234696"/>
              </a:xfrm>
              <a:prstGeom prst="rect">
                <a:avLst/>
              </a:prstGeom>
              <a:noFill/>
              <a:ln>
                <a:noFill/>
              </a:ln>
            </p:spPr>
            <p:txBody>
              <a:bodyPr wrap="none" lIns="0" tIns="0" rIns="0" bIns="0" anchor="t" anchorCtr="0">
                <a:spAutoFit/>
              </a:bodyPr>
              <a:lstStyle/>
              <a:p>
                <a:pPr algn="l"/>
                <a:r>
                  <a:rPr lang="zh-CN" sz="1200" dirty="0">
                    <a:solidFill>
                      <a:srgbClr val="8A8880"/>
                    </a:solidFill>
                    <a:latin typeface="Arial"/>
                    <a:ea typeface="Microsoft YaHei"/>
                    <a:cs typeface="Arial"/>
                  </a:rPr>
                  <a:t>未见参与</a:t>
                </a:r>
              </a:p>
            </p:txBody>
          </p:sp>
          <p:sp>
            <p:nvSpPr>
              <p:cNvPr id="36" name="Rectangle 36"/>
              <p:cNvSpPr/>
              <p:nvPr/>
            </p:nvSpPr>
            <p:spPr>
              <a:xfrm>
                <a:off x="9334500" y="3371850"/>
                <a:ext cx="2095500" cy="114300"/>
              </a:xfrm>
              <a:prstGeom prst="roundRect">
                <a:avLst>
                  <a:gd name="adj" fmla="val 50000"/>
                </a:avLst>
              </a:prstGeom>
              <a:solidFill>
                <a:srgbClr val="DDDBD6"/>
              </a:solidFill>
              <a:ln>
                <a:noFill/>
              </a:ln>
            </p:spPr>
          </p:sp>
          <p:sp>
            <p:nvSpPr>
              <p:cNvPr id="37" name="TextBox 37"/>
              <p:cNvSpPr txBox="1"/>
              <p:nvPr/>
            </p:nvSpPr>
            <p:spPr>
              <a:xfrm>
                <a:off x="11203396" y="3375660"/>
                <a:ext cx="232700" cy="234696"/>
              </a:xfrm>
              <a:prstGeom prst="rect">
                <a:avLst/>
              </a:prstGeom>
              <a:noFill/>
              <a:ln>
                <a:noFill/>
              </a:ln>
            </p:spPr>
            <p:txBody>
              <a:bodyPr wrap="none" lIns="0" tIns="0" rIns="0" bIns="0" anchor="t" anchorCtr="0">
                <a:spAutoFit/>
              </a:bodyPr>
              <a:lstStyle/>
              <a:p>
                <a:pPr algn="r"/>
                <a:r>
                  <a:rPr lang="en-US" sz="1200" b="1" dirty="0">
                    <a:solidFill>
                      <a:srgbClr val="8A8880"/>
                    </a:solidFill>
                    <a:latin typeface="Arial"/>
                    <a:ea typeface="Arial"/>
                    <a:cs typeface="Arial"/>
                  </a:rPr>
                  <a:t>0%</a:t>
                </a:r>
              </a:p>
            </p:txBody>
          </p:sp>
        </p:grpSp>
        <p:sp>
          <p:nvSpPr>
            <p:cNvPr id="39" name="Line 39"/>
            <p:cNvSpPr/>
            <p:nvPr/>
          </p:nvSpPr>
          <p:spPr>
            <a:xfrm>
              <a:off x="762000" y="3695700"/>
              <a:ext cx="10668000" cy="9525"/>
            </a:xfrm>
            <a:custGeom>
              <a:avLst/>
              <a:gdLst/>
              <a:ahLst/>
              <a:cxnLst/>
              <a:rect l="l" t="t" r="r" b="b"/>
              <a:pathLst>
                <a:path w="10668000" h="9525">
                  <a:moveTo>
                    <a:pt x="0" y="0"/>
                  </a:moveTo>
                  <a:lnTo>
                    <a:pt x="10668000" y="0"/>
                  </a:lnTo>
                </a:path>
              </a:pathLst>
            </a:custGeom>
            <a:noFill/>
            <a:ln w="9525">
              <a:solidFill>
                <a:srgbClr val="DDDBD6"/>
              </a:solidFill>
            </a:ln>
          </p:spPr>
        </p:sp>
        <p:grpSp>
          <p:nvGrpSpPr>
            <p:cNvPr id="45" name="Group 45"/>
            <p:cNvGrpSpPr/>
            <p:nvPr/>
          </p:nvGrpSpPr>
          <p:grpSpPr>
            <a:xfrm>
              <a:off x="755142" y="3832860"/>
              <a:ext cx="10680954" cy="425196"/>
              <a:chOff x="755142" y="3832860"/>
              <a:chExt cx="10680954" cy="425196"/>
            </a:xfrm>
          </p:grpSpPr>
          <p:sp>
            <p:nvSpPr>
              <p:cNvPr id="40" name="TextBox 40"/>
              <p:cNvSpPr txBox="1"/>
              <p:nvPr/>
            </p:nvSpPr>
            <p:spPr>
              <a:xfrm>
                <a:off x="755142" y="3892868"/>
                <a:ext cx="881965" cy="264033"/>
              </a:xfrm>
              <a:prstGeom prst="rect">
                <a:avLst/>
              </a:prstGeom>
              <a:noFill/>
              <a:ln>
                <a:noFill/>
              </a:ln>
            </p:spPr>
            <p:txBody>
              <a:bodyPr wrap="none" lIns="0" tIns="0" rIns="0" bIns="0" anchor="t" anchorCtr="0">
                <a:spAutoFit/>
              </a:bodyPr>
              <a:lstStyle/>
              <a:p>
                <a:pPr algn="l"/>
                <a:r>
                  <a:rPr lang="zh-CN" sz="1350" b="1" dirty="0">
                    <a:solidFill>
                      <a:srgbClr val="1D1D1A"/>
                    </a:solidFill>
                    <a:latin typeface="Arial"/>
                    <a:ea typeface="Microsoft YaHei"/>
                    <a:cs typeface="Arial"/>
                  </a:rPr>
                  <a:t>集成/转售</a:t>
                </a:r>
              </a:p>
            </p:txBody>
          </p:sp>
          <p:sp>
            <p:nvSpPr>
              <p:cNvPr id="41" name="TextBox 41"/>
              <p:cNvSpPr txBox="1"/>
              <p:nvPr/>
            </p:nvSpPr>
            <p:spPr>
              <a:xfrm>
                <a:off x="4184904" y="3832860"/>
                <a:ext cx="1795272" cy="425196"/>
              </a:xfrm>
              <a:prstGeom prst="rect">
                <a:avLst/>
              </a:prstGeom>
              <a:noFill/>
              <a:ln>
                <a:noFill/>
              </a:ln>
            </p:spPr>
            <p:txBody>
              <a:bodyPr wrap="square" lIns="0" tIns="0" rIns="0" bIns="0" anchor="t" anchorCtr="0"/>
              <a:lstStyle/>
              <a:p>
                <a:pPr algn="l">
                  <a:lnSpc>
                    <a:spcPts val="1500"/>
                  </a:lnSpc>
                </a:pPr>
                <a:r>
                  <a:rPr lang="zh-CN" sz="1200" dirty="0">
                    <a:solidFill>
                      <a:srgbClr val="5A5852"/>
                    </a:solidFill>
                    <a:latin typeface="Arial"/>
                    <a:ea typeface="Microsoft YaHei"/>
                    <a:cs typeface="Arial"/>
                  </a:rPr>
                  <a:t>OneAccess（法国自研）/</a:t>
                </a:r>
                <a:r>
                  <a:rPr lang="zh-CN" sz="1200" dirty="0">
                    <a:solidFill>
                      <a:srgbClr val="5A5852"/>
                    </a:solidFill>
                    <a:latin typeface="Arial"/>
                    <a:ea typeface="Microsoft YaHei"/>
                    <a:cs typeface="Arial"/>
                  </a:rPr>
                  <a:t>西班牙大型项目案例</a:t>
                </a:r>
              </a:p>
            </p:txBody>
          </p:sp>
          <p:sp>
            <p:nvSpPr>
              <p:cNvPr id="42" name="TextBox 42"/>
              <p:cNvSpPr txBox="1"/>
              <p:nvPr/>
            </p:nvSpPr>
            <p:spPr>
              <a:xfrm>
                <a:off x="7232904" y="3909060"/>
                <a:ext cx="981456" cy="234696"/>
              </a:xfrm>
              <a:prstGeom prst="rect">
                <a:avLst/>
              </a:prstGeom>
              <a:noFill/>
              <a:ln>
                <a:noFill/>
              </a:ln>
            </p:spPr>
            <p:txBody>
              <a:bodyPr wrap="none" lIns="0" tIns="0" rIns="0" bIns="0" anchor="t" anchorCtr="0">
                <a:spAutoFit/>
              </a:bodyPr>
              <a:lstStyle/>
              <a:p>
                <a:pPr algn="l"/>
                <a:r>
                  <a:rPr lang="zh-CN" sz="1200" dirty="0">
                    <a:solidFill>
                      <a:srgbClr val="8A8880"/>
                    </a:solidFill>
                    <a:latin typeface="Arial"/>
                    <a:ea typeface="Microsoft YaHei"/>
                    <a:cs typeface="Arial"/>
                  </a:rPr>
                  <a:t>生态未见身影</a:t>
                </a:r>
              </a:p>
            </p:txBody>
          </p:sp>
          <p:sp>
            <p:nvSpPr>
              <p:cNvPr id="43" name="Rectangle 43"/>
              <p:cNvSpPr/>
              <p:nvPr/>
            </p:nvSpPr>
            <p:spPr>
              <a:xfrm>
                <a:off x="9334500" y="3905250"/>
                <a:ext cx="2095500" cy="114300"/>
              </a:xfrm>
              <a:prstGeom prst="roundRect">
                <a:avLst>
                  <a:gd name="adj" fmla="val 50000"/>
                </a:avLst>
              </a:prstGeom>
              <a:solidFill>
                <a:srgbClr val="DDDBD6"/>
              </a:solidFill>
              <a:ln>
                <a:noFill/>
              </a:ln>
            </p:spPr>
          </p:sp>
          <p:sp>
            <p:nvSpPr>
              <p:cNvPr id="44" name="TextBox 44"/>
              <p:cNvSpPr txBox="1"/>
              <p:nvPr/>
            </p:nvSpPr>
            <p:spPr>
              <a:xfrm>
                <a:off x="11203396" y="3909060"/>
                <a:ext cx="232700" cy="234696"/>
              </a:xfrm>
              <a:prstGeom prst="rect">
                <a:avLst/>
              </a:prstGeom>
              <a:noFill/>
              <a:ln>
                <a:noFill/>
              </a:ln>
            </p:spPr>
            <p:txBody>
              <a:bodyPr wrap="none" lIns="0" tIns="0" rIns="0" bIns="0" anchor="t" anchorCtr="0">
                <a:spAutoFit/>
              </a:bodyPr>
              <a:lstStyle/>
              <a:p>
                <a:pPr algn="r"/>
                <a:r>
                  <a:rPr lang="en-US" sz="1200" b="1" dirty="0">
                    <a:solidFill>
                      <a:srgbClr val="8A8880"/>
                    </a:solidFill>
                    <a:latin typeface="Arial"/>
                    <a:ea typeface="Arial"/>
                    <a:cs typeface="Arial"/>
                  </a:rPr>
                  <a:t>0%</a:t>
                </a:r>
              </a:p>
            </p:txBody>
          </p:sp>
        </p:grpSp>
        <p:sp>
          <p:nvSpPr>
            <p:cNvPr id="46" name="Line 46"/>
            <p:cNvSpPr/>
            <p:nvPr/>
          </p:nvSpPr>
          <p:spPr>
            <a:xfrm>
              <a:off x="762000" y="4229100"/>
              <a:ext cx="10668000" cy="9525"/>
            </a:xfrm>
            <a:custGeom>
              <a:avLst/>
              <a:gdLst/>
              <a:ahLst/>
              <a:cxnLst/>
              <a:rect l="l" t="t" r="r" b="b"/>
              <a:pathLst>
                <a:path w="10668000" h="9525">
                  <a:moveTo>
                    <a:pt x="0" y="0"/>
                  </a:moveTo>
                  <a:lnTo>
                    <a:pt x="10668000" y="0"/>
                  </a:lnTo>
                </a:path>
              </a:pathLst>
            </a:custGeom>
            <a:noFill/>
            <a:ln w="9525">
              <a:solidFill>
                <a:srgbClr val="DDDBD6"/>
              </a:solidFill>
            </a:ln>
          </p:spPr>
        </p:sp>
        <p:grpSp>
          <p:nvGrpSpPr>
            <p:cNvPr id="52" name="Group 52"/>
            <p:cNvGrpSpPr/>
            <p:nvPr/>
          </p:nvGrpSpPr>
          <p:grpSpPr>
            <a:xfrm>
              <a:off x="755142" y="4426268"/>
              <a:ext cx="10680954" cy="264033"/>
              <a:chOff x="755142" y="4426268"/>
              <a:chExt cx="10680954" cy="264033"/>
            </a:xfrm>
          </p:grpSpPr>
          <p:sp>
            <p:nvSpPr>
              <p:cNvPr id="47" name="TextBox 47"/>
              <p:cNvSpPr txBox="1"/>
              <p:nvPr/>
            </p:nvSpPr>
            <p:spPr>
              <a:xfrm>
                <a:off x="755142" y="4426268"/>
                <a:ext cx="1193223" cy="264033"/>
              </a:xfrm>
              <a:prstGeom prst="rect">
                <a:avLst/>
              </a:prstGeom>
              <a:noFill/>
              <a:ln>
                <a:noFill/>
              </a:ln>
            </p:spPr>
            <p:txBody>
              <a:bodyPr wrap="none" lIns="0" tIns="0" rIns="0" bIns="0" anchor="t" anchorCtr="0">
                <a:spAutoFit/>
              </a:bodyPr>
              <a:lstStyle/>
              <a:p>
                <a:pPr algn="l"/>
                <a:r>
                  <a:rPr lang="zh-CN" sz="1350" b="1" dirty="0">
                    <a:solidFill>
                      <a:srgbClr val="1D1D1A"/>
                    </a:solidFill>
                    <a:latin typeface="Arial"/>
                    <a:ea typeface="Microsoft YaHei"/>
                    <a:cs typeface="Arial"/>
                  </a:rPr>
                  <a:t>移动专网MPN</a:t>
                </a:r>
              </a:p>
            </p:txBody>
          </p:sp>
          <p:sp>
            <p:nvSpPr>
              <p:cNvPr id="48" name="TextBox 48"/>
              <p:cNvSpPr txBox="1"/>
              <p:nvPr/>
            </p:nvSpPr>
            <p:spPr>
              <a:xfrm>
                <a:off x="4184904" y="4442460"/>
                <a:ext cx="2032356" cy="234696"/>
              </a:xfrm>
              <a:prstGeom prst="rect">
                <a:avLst/>
              </a:prstGeom>
              <a:noFill/>
              <a:ln>
                <a:noFill/>
              </a:ln>
            </p:spPr>
            <p:txBody>
              <a:bodyPr wrap="none" lIns="0" tIns="0" rIns="0" bIns="0" anchor="t" anchorCtr="0">
                <a:spAutoFit/>
              </a:bodyPr>
              <a:lstStyle/>
              <a:p>
                <a:pPr algn="l"/>
                <a:r>
                  <a:rPr lang="zh-CN" sz="1200" dirty="0">
                    <a:solidFill>
                      <a:srgbClr val="5A5852"/>
                    </a:solidFill>
                    <a:latin typeface="Arial"/>
                    <a:ea typeface="Microsoft YaHei"/>
                    <a:cs typeface="Arial"/>
                  </a:rPr>
                  <a:t>西班牙MasOrange新签合同</a:t>
                </a:r>
              </a:p>
            </p:txBody>
          </p:sp>
          <p:sp>
            <p:nvSpPr>
              <p:cNvPr id="49" name="TextBox 49"/>
              <p:cNvSpPr txBox="1"/>
              <p:nvPr/>
            </p:nvSpPr>
            <p:spPr>
              <a:xfrm>
                <a:off x="7232904" y="4442460"/>
                <a:ext cx="1466088" cy="234696"/>
              </a:xfrm>
              <a:prstGeom prst="rect">
                <a:avLst/>
              </a:prstGeom>
              <a:noFill/>
              <a:ln>
                <a:noFill/>
              </a:ln>
            </p:spPr>
            <p:txBody>
              <a:bodyPr wrap="none" lIns="0" tIns="0" rIns="0" bIns="0" anchor="t" anchorCtr="0">
                <a:spAutoFit/>
              </a:bodyPr>
              <a:lstStyle/>
              <a:p>
                <a:pPr algn="l"/>
                <a:r>
                  <a:rPr lang="zh-CN" sz="1200" dirty="0">
                    <a:solidFill>
                      <a:srgbClr val="8A8880"/>
                    </a:solidFill>
                    <a:latin typeface="Arial"/>
                    <a:ea typeface="Microsoft YaHei"/>
                    <a:cs typeface="Arial"/>
                  </a:rPr>
                  <a:t>预计基本排除（估）</a:t>
                </a:r>
              </a:p>
            </p:txBody>
          </p:sp>
          <p:sp>
            <p:nvSpPr>
              <p:cNvPr id="50" name="Rectangle 50"/>
              <p:cNvSpPr/>
              <p:nvPr/>
            </p:nvSpPr>
            <p:spPr>
              <a:xfrm>
                <a:off x="9334500" y="4438650"/>
                <a:ext cx="2095500" cy="114300"/>
              </a:xfrm>
              <a:prstGeom prst="roundRect">
                <a:avLst>
                  <a:gd name="adj" fmla="val 50000"/>
                </a:avLst>
              </a:prstGeom>
              <a:solidFill>
                <a:srgbClr val="DDDBD6"/>
              </a:solidFill>
              <a:ln>
                <a:noFill/>
              </a:ln>
            </p:spPr>
          </p:sp>
          <p:sp>
            <p:nvSpPr>
              <p:cNvPr id="51" name="TextBox 51"/>
              <p:cNvSpPr txBox="1"/>
              <p:nvPr/>
            </p:nvSpPr>
            <p:spPr>
              <a:xfrm>
                <a:off x="11203396" y="4442460"/>
                <a:ext cx="232700" cy="234696"/>
              </a:xfrm>
              <a:prstGeom prst="rect">
                <a:avLst/>
              </a:prstGeom>
              <a:noFill/>
              <a:ln>
                <a:noFill/>
              </a:ln>
            </p:spPr>
            <p:txBody>
              <a:bodyPr wrap="none" lIns="0" tIns="0" rIns="0" bIns="0" anchor="t" anchorCtr="0">
                <a:spAutoFit/>
              </a:bodyPr>
              <a:lstStyle/>
              <a:p>
                <a:pPr algn="r"/>
                <a:r>
                  <a:rPr lang="en-US" sz="1200" b="1" dirty="0">
                    <a:solidFill>
                      <a:srgbClr val="8A8880"/>
                    </a:solidFill>
                    <a:latin typeface="Arial"/>
                    <a:ea typeface="Arial"/>
                    <a:cs typeface="Arial"/>
                  </a:rPr>
                  <a:t>0%</a:t>
                </a:r>
              </a:p>
            </p:txBody>
          </p:sp>
        </p:grpSp>
      </p:grpSp>
      <p:grpSp>
        <p:nvGrpSpPr>
          <p:cNvPr id="57" name="Group 57"/>
          <p:cNvGrpSpPr/>
          <p:nvPr/>
        </p:nvGrpSpPr>
        <p:grpSpPr>
          <a:xfrm>
            <a:off x="762000" y="5048250"/>
            <a:ext cx="10668000" cy="952500"/>
            <a:chOff x="762000" y="5048250"/>
            <a:chExt cx="10668000" cy="952500"/>
          </a:xfrm>
        </p:grpSpPr>
        <p:sp>
          <p:nvSpPr>
            <p:cNvPr id="54" name="Rectangle 54"/>
            <p:cNvSpPr/>
            <p:nvPr/>
          </p:nvSpPr>
          <p:spPr>
            <a:xfrm>
              <a:off x="762000" y="5048250"/>
              <a:ext cx="10668000" cy="952500"/>
            </a:xfrm>
            <a:prstGeom prst="roundRect">
              <a:avLst>
                <a:gd name="adj" fmla="val 8000"/>
              </a:avLst>
            </a:prstGeom>
            <a:solidFill>
              <a:srgbClr val="F7F6F3"/>
            </a:solidFill>
            <a:ln>
              <a:noFill/>
            </a:ln>
          </p:spPr>
        </p:sp>
        <p:sp>
          <p:nvSpPr>
            <p:cNvPr id="55" name="TextBox 55"/>
            <p:cNvSpPr txBox="1"/>
            <p:nvPr/>
          </p:nvSpPr>
          <p:spPr>
            <a:xfrm>
              <a:off x="984504" y="5223510"/>
              <a:ext cx="2964812" cy="234696"/>
            </a:xfrm>
            <a:prstGeom prst="rect">
              <a:avLst/>
            </a:prstGeom>
            <a:noFill/>
            <a:ln>
              <a:noFill/>
            </a:ln>
          </p:spPr>
          <p:txBody>
            <a:bodyPr wrap="none" lIns="0" tIns="0" rIns="0" bIns="0" anchor="t" anchorCtr="0">
              <a:spAutoFit/>
            </a:bodyPr>
            <a:lstStyle/>
            <a:p>
              <a:pPr algn="l"/>
              <a:r>
                <a:rPr lang="zh-CN" sz="1200" dirty="0">
                  <a:solidFill>
                    <a:srgbClr val="1D1D1A"/>
                  </a:solidFill>
                  <a:latin typeface="Arial"/>
                  <a:ea typeface="Microsoft YaHei"/>
                  <a:cs typeface="Arial"/>
                </a:rPr>
                <a:t>定性：</a:t>
              </a:r>
              <a:r>
                <a:rPr lang="zh-CN" sz="1200" b="1" dirty="0">
                  <a:solidFill>
                    <a:srgbClr val="C7000A"/>
                  </a:solidFill>
                  <a:latin typeface="Arial"/>
                  <a:ea typeface="Microsoft YaHei"/>
                  <a:cs typeface="Arial"/>
                </a:rPr>
                <a:t>国家安全立法+对美协议强制退出</a:t>
              </a:r>
            </a:p>
          </p:txBody>
        </p:sp>
        <p:sp>
          <p:nvSpPr>
            <p:cNvPr id="56" name="TextBox 56"/>
            <p:cNvSpPr txBox="1"/>
            <p:nvPr/>
          </p:nvSpPr>
          <p:spPr>
            <a:xfrm>
              <a:off x="984504" y="5528310"/>
              <a:ext cx="6874205" cy="234696"/>
            </a:xfrm>
            <a:prstGeom prst="rect">
              <a:avLst/>
            </a:prstGeom>
            <a:noFill/>
            <a:ln>
              <a:noFill/>
            </a:ln>
          </p:spPr>
          <p:txBody>
            <a:bodyPr wrap="none" lIns="0" tIns="0" rIns="0" bIns="0" anchor="t" anchorCtr="0">
              <a:spAutoFit/>
            </a:bodyPr>
            <a:lstStyle/>
            <a:p>
              <a:pPr algn="l"/>
              <a:r>
                <a:rPr lang="zh-CN" sz="1200" dirty="0">
                  <a:solidFill>
                    <a:srgbClr val="1D1D1A"/>
                  </a:solidFill>
                  <a:latin typeface="Arial"/>
                  <a:ea typeface="Microsoft YaHei"/>
                  <a:cs typeface="Arial"/>
                </a:rPr>
                <a:t>波兰2024.11高风险供应商认定 · 罗马尼亚2021.6 5G安全法禁令，正"拆除并更换"至Ericsson</a:t>
              </a:r>
            </a:p>
          </p:txBody>
        </p:sp>
      </p:grpSp>
      <p:grpSp>
        <p:nvGrpSpPr>
          <p:cNvPr id="60" name="Group 60"/>
          <p:cNvGrpSpPr/>
          <p:nvPr/>
        </p:nvGrpSpPr>
        <p:grpSpPr>
          <a:xfrm>
            <a:off x="755904" y="6537960"/>
            <a:ext cx="10680192" cy="234696"/>
            <a:chOff x="755904" y="6537960"/>
            <a:chExt cx="10680192" cy="234696"/>
          </a:xfrm>
        </p:grpSpPr>
        <p:sp>
          <p:nvSpPr>
            <p:cNvPr id="58" name="TextBox 58"/>
            <p:cNvSpPr txBox="1"/>
            <p:nvPr/>
          </p:nvSpPr>
          <p:spPr>
            <a:xfrm>
              <a:off x="755904" y="6537960"/>
              <a:ext cx="3978097" cy="234696"/>
            </a:xfrm>
            <a:prstGeom prst="rect">
              <a:avLst/>
            </a:prstGeom>
            <a:noFill/>
            <a:ln>
              <a:noFill/>
            </a:ln>
          </p:spPr>
          <p:txBody>
            <a:bodyPr wrap="none" lIns="0" tIns="0" rIns="0" bIns="0" anchor="t" anchorCtr="0">
              <a:spAutoFit/>
            </a:bodyPr>
            <a:lstStyle/>
            <a:p>
              <a:pPr algn="l"/>
              <a:r>
                <a:rPr lang="zh-CN" sz="1200" dirty="0">
                  <a:solidFill>
                    <a:srgbClr val="8A8880"/>
                  </a:solidFill>
                  <a:latin typeface="Arial"/>
                  <a:ea typeface="Microsoft YaHei"/>
                  <a:cs typeface="Arial"/>
                </a:rPr>
                <a:t>数据来源：波兰/罗马尼亚公开立法信息、公开市场调研</a:t>
              </a:r>
            </a:p>
          </p:txBody>
        </p:sp>
        <p:sp>
          <p:nvSpPr>
            <p:cNvPr id="59" name="TextBox 59"/>
            <p:cNvSpPr txBox="1"/>
            <p:nvPr/>
          </p:nvSpPr>
          <p:spPr>
            <a:xfrm>
              <a:off x="9530080" y="6537960"/>
              <a:ext cx="1906016" cy="234696"/>
            </a:xfrm>
            <a:prstGeom prst="rect">
              <a:avLst/>
            </a:prstGeom>
            <a:noFill/>
            <a:ln>
              <a:noFill/>
            </a:ln>
          </p:spPr>
          <p:txBody>
            <a:bodyPr wrap="none" lIns="0" tIns="0" rIns="0" bIns="0" anchor="t" anchorCtr="0">
              <a:spAutoFit/>
            </a:bodyPr>
            <a:lstStyle/>
            <a:p>
              <a:pPr algn="r"/>
              <a:r>
                <a:rPr lang="en-US" sz="1200" dirty="0">
                  <a:solidFill>
                    <a:srgbClr val="8A8880"/>
                  </a:solidFill>
                  <a:latin typeface="Arial"/>
                  <a:ea typeface="Arial"/>
                  <a:cs typeface="Arial"/>
                </a:rPr>
                <a:t>14 · Huawei Confidential</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745998" y="212408"/>
            <a:ext cx="10684002" cy="921448"/>
            <a:chOff x="745998" y="212408"/>
            <a:chExt cx="10684002" cy="921448"/>
          </a:xfrm>
        </p:grpSpPr>
        <p:sp>
          <p:nvSpPr>
            <p:cNvPr id="3" name="TextBox 3"/>
            <p:cNvSpPr txBox="1"/>
            <p:nvPr/>
          </p:nvSpPr>
          <p:spPr>
            <a:xfrm>
              <a:off x="745998" y="212408"/>
              <a:ext cx="10076299" cy="616077"/>
            </a:xfrm>
            <a:prstGeom prst="rect">
              <a:avLst/>
            </a:prstGeom>
            <a:noFill/>
            <a:ln>
              <a:noFill/>
            </a:ln>
          </p:spPr>
          <p:txBody>
            <a:bodyPr wrap="none" lIns="0" tIns="0" rIns="0" bIns="0" anchor="t" anchorCtr="0">
              <a:spAutoFit/>
            </a:bodyPr>
            <a:lstStyle/>
            <a:p>
              <a:pPr algn="l"/>
              <a:r>
                <a:rPr lang="zh-CN" sz="3150" b="1" dirty="0">
                  <a:solidFill>
                    <a:srgbClr val="1D1D1A"/>
                  </a:solidFill>
                  <a:latin typeface="Arial"/>
                  <a:ea typeface="Microsoft YaHei"/>
                  <a:cs typeface="Arial"/>
                </a:rPr>
                <a:t>OMEA是华为核心阵地——从RAN到云运维全栈绑定</a:t>
              </a:r>
            </a:p>
          </p:txBody>
        </p:sp>
        <p:sp>
          <p:nvSpPr>
            <p:cNvPr id="4" name="Line 4"/>
            <p:cNvSpPr/>
            <p:nvPr/>
          </p:nvSpPr>
          <p:spPr>
            <a:xfrm>
              <a:off x="762000" y="781050"/>
              <a:ext cx="10668000" cy="9525"/>
            </a:xfrm>
            <a:custGeom>
              <a:avLst/>
              <a:gdLst/>
              <a:ahLst/>
              <a:cxnLst/>
              <a:rect l="l" t="t" r="r" b="b"/>
              <a:pathLst>
                <a:path w="10668000" h="9525">
                  <a:moveTo>
                    <a:pt x="0" y="0"/>
                  </a:moveTo>
                  <a:lnTo>
                    <a:pt x="10668000" y="0"/>
                  </a:lnTo>
                </a:path>
              </a:pathLst>
            </a:custGeom>
            <a:noFill/>
            <a:ln w="9525">
              <a:solidFill>
                <a:srgbClr val="DDDBD6"/>
              </a:solidFill>
            </a:ln>
          </p:spPr>
        </p:sp>
        <p:sp>
          <p:nvSpPr>
            <p:cNvPr id="5" name="TextBox 5"/>
            <p:cNvSpPr txBox="1"/>
            <p:nvPr/>
          </p:nvSpPr>
          <p:spPr>
            <a:xfrm>
              <a:off x="755904" y="899160"/>
              <a:ext cx="7580581" cy="234696"/>
            </a:xfrm>
            <a:prstGeom prst="rect">
              <a:avLst/>
            </a:prstGeom>
            <a:noFill/>
            <a:ln>
              <a:noFill/>
            </a:ln>
          </p:spPr>
          <p:txBody>
            <a:bodyPr wrap="none" lIns="0" tIns="0" rIns="0" bIns="0" anchor="t" anchorCtr="0">
              <a:spAutoFit/>
            </a:bodyPr>
            <a:lstStyle/>
            <a:p>
              <a:pPr algn="l"/>
              <a:r>
                <a:rPr lang="zh-CN" sz="1200" dirty="0">
                  <a:solidFill>
                    <a:srgbClr val="8A8880"/>
                  </a:solidFill>
                  <a:latin typeface="Arial"/>
                  <a:ea typeface="Microsoft YaHei"/>
                  <a:cs typeface="Arial"/>
                </a:rPr>
                <a:t>华为占非洲4G骨干网份额约70%，AUTIN直接部署在Orange自有Flexible Engine云上，三区域中独一无二</a:t>
              </a:r>
            </a:p>
          </p:txBody>
        </p:sp>
      </p:grpSp>
      <p:grpSp>
        <p:nvGrpSpPr>
          <p:cNvPr id="33" name="Group 33"/>
          <p:cNvGrpSpPr/>
          <p:nvPr/>
        </p:nvGrpSpPr>
        <p:grpSpPr>
          <a:xfrm>
            <a:off x="-155631" y="1184910"/>
            <a:ext cx="6539667" cy="4901946"/>
            <a:chOff x="-155631" y="1184910"/>
            <a:chExt cx="6539667" cy="4901946"/>
          </a:xfrm>
        </p:grpSpPr>
        <p:grpSp>
          <p:nvGrpSpPr>
            <p:cNvPr id="32" name="Group 32"/>
            <p:cNvGrpSpPr/>
            <p:nvPr/>
          </p:nvGrpSpPr>
          <p:grpSpPr>
            <a:xfrm>
              <a:off x="-155631" y="1184910"/>
              <a:ext cx="6539667" cy="4901946"/>
              <a:chOff x="-155631" y="1184910"/>
              <a:chExt cx="6539667" cy="4901946"/>
            </a:xfrm>
          </p:grpSpPr>
          <p:grpSp>
            <p:nvGrpSpPr>
              <p:cNvPr id="18" name="Group 18"/>
              <p:cNvGrpSpPr/>
              <p:nvPr/>
            </p:nvGrpSpPr>
            <p:grpSpPr>
              <a:xfrm>
                <a:off x="1519238" y="1524000"/>
                <a:ext cx="3629025" cy="4191000"/>
                <a:chOff x="1519238" y="1524000"/>
                <a:chExt cx="3629025" cy="4191000"/>
              </a:xfrm>
            </p:grpSpPr>
            <p:sp>
              <p:nvSpPr>
                <p:cNvPr id="7" name="Polygon 7"/>
                <p:cNvSpPr/>
                <p:nvPr/>
              </p:nvSpPr>
              <p:spPr>
                <a:xfrm>
                  <a:off x="1519238" y="1524000"/>
                  <a:ext cx="3629025" cy="4191000"/>
                </a:xfrm>
                <a:custGeom>
                  <a:avLst/>
                  <a:gdLst/>
                  <a:ahLst/>
                  <a:cxnLst/>
                  <a:rect l="l" t="t" r="r" b="b"/>
                  <a:pathLst>
                    <a:path w="3629025" h="4191000">
                      <a:moveTo>
                        <a:pt x="1814512" y="0"/>
                      </a:moveTo>
                      <a:lnTo>
                        <a:pt x="3629025" y="1047750"/>
                      </a:lnTo>
                      <a:lnTo>
                        <a:pt x="3629025" y="3143250"/>
                      </a:lnTo>
                      <a:lnTo>
                        <a:pt x="1814512" y="4191000"/>
                      </a:lnTo>
                      <a:lnTo>
                        <a:pt x="0" y="3143250"/>
                      </a:lnTo>
                      <a:lnTo>
                        <a:pt x="0" y="1047750"/>
                      </a:lnTo>
                      <a:close/>
                    </a:path>
                  </a:pathLst>
                </a:custGeom>
                <a:solidFill>
                  <a:srgbClr val="FFFFFF"/>
                </a:solidFill>
                <a:ln w="14288">
                  <a:solidFill>
                    <a:srgbClr val="DDDBD6"/>
                  </a:solidFill>
                </a:ln>
              </p:spPr>
            </p:sp>
            <p:sp>
              <p:nvSpPr>
                <p:cNvPr id="8" name="Polygon 8"/>
                <p:cNvSpPr/>
                <p:nvPr/>
              </p:nvSpPr>
              <p:spPr>
                <a:xfrm>
                  <a:off x="1882140" y="1943100"/>
                  <a:ext cx="2903220" cy="3352800"/>
                </a:xfrm>
                <a:custGeom>
                  <a:avLst/>
                  <a:gdLst/>
                  <a:ahLst/>
                  <a:cxnLst/>
                  <a:rect l="l" t="t" r="r" b="b"/>
                  <a:pathLst>
                    <a:path w="2903220" h="3352800">
                      <a:moveTo>
                        <a:pt x="1451610" y="0"/>
                      </a:moveTo>
                      <a:lnTo>
                        <a:pt x="2903220" y="838200"/>
                      </a:lnTo>
                      <a:lnTo>
                        <a:pt x="2903220" y="2514600"/>
                      </a:lnTo>
                      <a:lnTo>
                        <a:pt x="1451610" y="3352800"/>
                      </a:lnTo>
                      <a:lnTo>
                        <a:pt x="0" y="2514600"/>
                      </a:lnTo>
                      <a:lnTo>
                        <a:pt x="0" y="838200"/>
                      </a:lnTo>
                      <a:close/>
                    </a:path>
                  </a:pathLst>
                </a:custGeom>
                <a:solidFill>
                  <a:srgbClr val="F7F6F3"/>
                </a:solidFill>
                <a:ln w="9525">
                  <a:solidFill>
                    <a:srgbClr val="DDDBD6"/>
                  </a:solidFill>
                </a:ln>
              </p:spPr>
            </p:sp>
            <p:sp>
              <p:nvSpPr>
                <p:cNvPr id="9" name="Polygon 9"/>
                <p:cNvSpPr/>
                <p:nvPr/>
              </p:nvSpPr>
              <p:spPr>
                <a:xfrm>
                  <a:off x="2245042" y="2362200"/>
                  <a:ext cx="2177415" cy="2514600"/>
                </a:xfrm>
                <a:custGeom>
                  <a:avLst/>
                  <a:gdLst/>
                  <a:ahLst/>
                  <a:cxnLst/>
                  <a:rect l="l" t="t" r="r" b="b"/>
                  <a:pathLst>
                    <a:path w="2177415" h="2514600">
                      <a:moveTo>
                        <a:pt x="1088708" y="0"/>
                      </a:moveTo>
                      <a:lnTo>
                        <a:pt x="2177415" y="628650"/>
                      </a:lnTo>
                      <a:lnTo>
                        <a:pt x="2177415" y="1885950"/>
                      </a:lnTo>
                      <a:lnTo>
                        <a:pt x="1088708" y="2514600"/>
                      </a:lnTo>
                      <a:lnTo>
                        <a:pt x="0" y="1885950"/>
                      </a:lnTo>
                      <a:lnTo>
                        <a:pt x="0" y="628650"/>
                      </a:lnTo>
                      <a:close/>
                    </a:path>
                  </a:pathLst>
                </a:custGeom>
                <a:solidFill>
                  <a:srgbClr val="FFFFFF"/>
                </a:solidFill>
                <a:ln w="9525">
                  <a:solidFill>
                    <a:srgbClr val="DDDBD6"/>
                  </a:solidFill>
                </a:ln>
              </p:spPr>
            </p:sp>
            <p:sp>
              <p:nvSpPr>
                <p:cNvPr id="10" name="Polygon 10"/>
                <p:cNvSpPr/>
                <p:nvPr/>
              </p:nvSpPr>
              <p:spPr>
                <a:xfrm>
                  <a:off x="2607945" y="2781300"/>
                  <a:ext cx="1451610" cy="1676400"/>
                </a:xfrm>
                <a:custGeom>
                  <a:avLst/>
                  <a:gdLst/>
                  <a:ahLst/>
                  <a:cxnLst/>
                  <a:rect l="l" t="t" r="r" b="b"/>
                  <a:pathLst>
                    <a:path w="1451610" h="1676400">
                      <a:moveTo>
                        <a:pt x="725805" y="0"/>
                      </a:moveTo>
                      <a:lnTo>
                        <a:pt x="1451610" y="419100"/>
                      </a:lnTo>
                      <a:lnTo>
                        <a:pt x="1451610" y="1257300"/>
                      </a:lnTo>
                      <a:lnTo>
                        <a:pt x="725805" y="1676400"/>
                      </a:lnTo>
                      <a:lnTo>
                        <a:pt x="0" y="1257300"/>
                      </a:lnTo>
                      <a:lnTo>
                        <a:pt x="0" y="419100"/>
                      </a:lnTo>
                      <a:close/>
                    </a:path>
                  </a:pathLst>
                </a:custGeom>
                <a:solidFill>
                  <a:srgbClr val="F7F6F3"/>
                </a:solidFill>
                <a:ln w="9525">
                  <a:solidFill>
                    <a:srgbClr val="DDDBD6"/>
                  </a:solidFill>
                </a:ln>
              </p:spPr>
            </p:sp>
            <p:sp>
              <p:nvSpPr>
                <p:cNvPr id="11" name="Polygon 11"/>
                <p:cNvSpPr/>
                <p:nvPr/>
              </p:nvSpPr>
              <p:spPr>
                <a:xfrm>
                  <a:off x="2970848" y="3200400"/>
                  <a:ext cx="725805" cy="838200"/>
                </a:xfrm>
                <a:custGeom>
                  <a:avLst/>
                  <a:gdLst/>
                  <a:ahLst/>
                  <a:cxnLst/>
                  <a:rect l="l" t="t" r="r" b="b"/>
                  <a:pathLst>
                    <a:path w="725805" h="838200">
                      <a:moveTo>
                        <a:pt x="362903" y="0"/>
                      </a:moveTo>
                      <a:lnTo>
                        <a:pt x="725805" y="209550"/>
                      </a:lnTo>
                      <a:lnTo>
                        <a:pt x="725805" y="628650"/>
                      </a:lnTo>
                      <a:lnTo>
                        <a:pt x="362903" y="838200"/>
                      </a:lnTo>
                      <a:lnTo>
                        <a:pt x="0" y="628650"/>
                      </a:lnTo>
                      <a:lnTo>
                        <a:pt x="0" y="209550"/>
                      </a:lnTo>
                      <a:close/>
                    </a:path>
                  </a:pathLst>
                </a:custGeom>
                <a:solidFill>
                  <a:srgbClr val="FFFFFF"/>
                </a:solidFill>
                <a:ln w="9525">
                  <a:solidFill>
                    <a:srgbClr val="DDDBD6"/>
                  </a:solidFill>
                </a:ln>
              </p:spPr>
            </p:sp>
            <p:sp>
              <p:nvSpPr>
                <p:cNvPr id="12" name="Line 12"/>
                <p:cNvSpPr/>
                <p:nvPr/>
              </p:nvSpPr>
              <p:spPr>
                <a:xfrm>
                  <a:off x="3333750" y="1524000"/>
                  <a:ext cx="9525" cy="2095500"/>
                </a:xfrm>
                <a:custGeom>
                  <a:avLst/>
                  <a:gdLst/>
                  <a:ahLst/>
                  <a:cxnLst/>
                  <a:rect l="l" t="t" r="r" b="b"/>
                  <a:pathLst>
                    <a:path w="9525" h="2095500">
                      <a:moveTo>
                        <a:pt x="0" y="2095500"/>
                      </a:moveTo>
                      <a:lnTo>
                        <a:pt x="0" y="0"/>
                      </a:lnTo>
                    </a:path>
                  </a:pathLst>
                </a:custGeom>
                <a:noFill/>
                <a:ln w="9525">
                  <a:solidFill>
                    <a:srgbClr val="DDDBD6"/>
                  </a:solidFill>
                </a:ln>
              </p:spPr>
            </p:sp>
            <p:sp>
              <p:nvSpPr>
                <p:cNvPr id="13" name="Line 13"/>
                <p:cNvSpPr/>
                <p:nvPr/>
              </p:nvSpPr>
              <p:spPr>
                <a:xfrm>
                  <a:off x="3333750" y="2571750"/>
                  <a:ext cx="1814512" cy="1047750"/>
                </a:xfrm>
                <a:custGeom>
                  <a:avLst/>
                  <a:gdLst/>
                  <a:ahLst/>
                  <a:cxnLst/>
                  <a:rect l="l" t="t" r="r" b="b"/>
                  <a:pathLst>
                    <a:path w="1814512" h="1047750">
                      <a:moveTo>
                        <a:pt x="0" y="1047750"/>
                      </a:moveTo>
                      <a:lnTo>
                        <a:pt x="1814512" y="0"/>
                      </a:lnTo>
                    </a:path>
                  </a:pathLst>
                </a:custGeom>
                <a:noFill/>
                <a:ln w="9525">
                  <a:solidFill>
                    <a:srgbClr val="DDDBD6"/>
                  </a:solidFill>
                </a:ln>
              </p:spPr>
            </p:sp>
            <p:sp>
              <p:nvSpPr>
                <p:cNvPr id="14" name="Line 14"/>
                <p:cNvSpPr/>
                <p:nvPr/>
              </p:nvSpPr>
              <p:spPr>
                <a:xfrm>
                  <a:off x="3333750" y="3619500"/>
                  <a:ext cx="1814512" cy="1047750"/>
                </a:xfrm>
                <a:custGeom>
                  <a:avLst/>
                  <a:gdLst/>
                  <a:ahLst/>
                  <a:cxnLst/>
                  <a:rect l="l" t="t" r="r" b="b"/>
                  <a:pathLst>
                    <a:path w="1814512" h="1047750">
                      <a:moveTo>
                        <a:pt x="0" y="0"/>
                      </a:moveTo>
                      <a:lnTo>
                        <a:pt x="1814512" y="1047750"/>
                      </a:lnTo>
                    </a:path>
                  </a:pathLst>
                </a:custGeom>
                <a:noFill/>
                <a:ln w="9525">
                  <a:solidFill>
                    <a:srgbClr val="DDDBD6"/>
                  </a:solidFill>
                </a:ln>
              </p:spPr>
            </p:sp>
            <p:sp>
              <p:nvSpPr>
                <p:cNvPr id="15" name="Line 15"/>
                <p:cNvSpPr/>
                <p:nvPr/>
              </p:nvSpPr>
              <p:spPr>
                <a:xfrm>
                  <a:off x="3333750" y="3619500"/>
                  <a:ext cx="9525" cy="2095500"/>
                </a:xfrm>
                <a:custGeom>
                  <a:avLst/>
                  <a:gdLst/>
                  <a:ahLst/>
                  <a:cxnLst/>
                  <a:rect l="l" t="t" r="r" b="b"/>
                  <a:pathLst>
                    <a:path w="9525" h="2095500">
                      <a:moveTo>
                        <a:pt x="0" y="0"/>
                      </a:moveTo>
                      <a:lnTo>
                        <a:pt x="0" y="2095500"/>
                      </a:lnTo>
                    </a:path>
                  </a:pathLst>
                </a:custGeom>
                <a:noFill/>
                <a:ln w="9525">
                  <a:solidFill>
                    <a:srgbClr val="DDDBD6"/>
                  </a:solidFill>
                </a:ln>
              </p:spPr>
            </p:sp>
            <p:sp>
              <p:nvSpPr>
                <p:cNvPr id="16" name="Line 16"/>
                <p:cNvSpPr/>
                <p:nvPr/>
              </p:nvSpPr>
              <p:spPr>
                <a:xfrm>
                  <a:off x="1519238" y="3619500"/>
                  <a:ext cx="1814512" cy="1047750"/>
                </a:xfrm>
                <a:custGeom>
                  <a:avLst/>
                  <a:gdLst/>
                  <a:ahLst/>
                  <a:cxnLst/>
                  <a:rect l="l" t="t" r="r" b="b"/>
                  <a:pathLst>
                    <a:path w="1814512" h="1047750">
                      <a:moveTo>
                        <a:pt x="1814512" y="0"/>
                      </a:moveTo>
                      <a:lnTo>
                        <a:pt x="0" y="1047750"/>
                      </a:lnTo>
                    </a:path>
                  </a:pathLst>
                </a:custGeom>
                <a:noFill/>
                <a:ln w="9525">
                  <a:solidFill>
                    <a:srgbClr val="DDDBD6"/>
                  </a:solidFill>
                </a:ln>
              </p:spPr>
            </p:sp>
            <p:sp>
              <p:nvSpPr>
                <p:cNvPr id="17" name="Line 17"/>
                <p:cNvSpPr/>
                <p:nvPr/>
              </p:nvSpPr>
              <p:spPr>
                <a:xfrm>
                  <a:off x="1519238" y="2571750"/>
                  <a:ext cx="1814512" cy="1047750"/>
                </a:xfrm>
                <a:custGeom>
                  <a:avLst/>
                  <a:gdLst/>
                  <a:ahLst/>
                  <a:cxnLst/>
                  <a:rect l="l" t="t" r="r" b="b"/>
                  <a:pathLst>
                    <a:path w="1814512" h="1047750">
                      <a:moveTo>
                        <a:pt x="1814512" y="1047750"/>
                      </a:moveTo>
                      <a:lnTo>
                        <a:pt x="0" y="0"/>
                      </a:lnTo>
                    </a:path>
                  </a:pathLst>
                </a:custGeom>
                <a:noFill/>
                <a:ln w="9525">
                  <a:solidFill>
                    <a:srgbClr val="DDDBD6"/>
                  </a:solidFill>
                </a:ln>
              </p:spPr>
            </p:sp>
          </p:grpSp>
          <p:sp>
            <p:nvSpPr>
              <p:cNvPr id="19" name="Polygon 19"/>
              <p:cNvSpPr/>
              <p:nvPr/>
            </p:nvSpPr>
            <p:spPr>
              <a:xfrm>
                <a:off x="1885950" y="2676525"/>
                <a:ext cx="2714625" cy="2200275"/>
              </a:xfrm>
              <a:custGeom>
                <a:avLst/>
                <a:gdLst/>
                <a:ahLst/>
                <a:cxnLst/>
                <a:rect l="l" t="t" r="r" b="b"/>
                <a:pathLst>
                  <a:path w="2714625" h="2200275">
                    <a:moveTo>
                      <a:pt x="1447800" y="0"/>
                    </a:moveTo>
                    <a:lnTo>
                      <a:pt x="2714625" y="209550"/>
                    </a:lnTo>
                    <a:lnTo>
                      <a:pt x="2714625" y="1676400"/>
                    </a:lnTo>
                    <a:lnTo>
                      <a:pt x="1447800" y="2200275"/>
                    </a:lnTo>
                    <a:lnTo>
                      <a:pt x="1266825" y="1047750"/>
                    </a:lnTo>
                    <a:lnTo>
                      <a:pt x="0" y="104775"/>
                    </a:lnTo>
                    <a:close/>
                  </a:path>
                </a:pathLst>
              </a:custGeom>
              <a:solidFill>
                <a:srgbClr val="F4A100">
                  <a:alpha val="55000"/>
                </a:srgbClr>
              </a:solidFill>
              <a:ln w="28575">
                <a:solidFill>
                  <a:srgbClr val="F4A100"/>
                </a:solidFill>
              </a:ln>
            </p:spPr>
          </p:sp>
          <p:sp>
            <p:nvSpPr>
              <p:cNvPr id="20" name="Ellipse 20"/>
              <p:cNvSpPr/>
              <p:nvPr/>
            </p:nvSpPr>
            <p:spPr>
              <a:xfrm>
                <a:off x="3286125" y="2628900"/>
                <a:ext cx="95250" cy="95250"/>
              </a:xfrm>
              <a:prstGeom prst="ellipse">
                <a:avLst/>
              </a:prstGeom>
              <a:solidFill>
                <a:srgbClr val="FFFFFF"/>
              </a:solidFill>
              <a:ln w="23812">
                <a:solidFill>
                  <a:srgbClr val="F4A100"/>
                </a:solidFill>
              </a:ln>
            </p:spPr>
          </p:sp>
          <p:sp>
            <p:nvSpPr>
              <p:cNvPr id="21" name="Ellipse 21"/>
              <p:cNvSpPr/>
              <p:nvPr/>
            </p:nvSpPr>
            <p:spPr>
              <a:xfrm>
                <a:off x="4552950" y="2838450"/>
                <a:ext cx="95250" cy="95250"/>
              </a:xfrm>
              <a:prstGeom prst="ellipse">
                <a:avLst/>
              </a:prstGeom>
              <a:solidFill>
                <a:srgbClr val="FFFFFF"/>
              </a:solidFill>
              <a:ln w="23812">
                <a:solidFill>
                  <a:srgbClr val="F4A100"/>
                </a:solidFill>
              </a:ln>
            </p:spPr>
          </p:sp>
          <p:sp>
            <p:nvSpPr>
              <p:cNvPr id="22" name="Ellipse 22"/>
              <p:cNvSpPr/>
              <p:nvPr/>
            </p:nvSpPr>
            <p:spPr>
              <a:xfrm>
                <a:off x="4552950" y="4305300"/>
                <a:ext cx="95250" cy="95250"/>
              </a:xfrm>
              <a:prstGeom prst="ellipse">
                <a:avLst/>
              </a:prstGeom>
              <a:solidFill>
                <a:srgbClr val="FFFFFF"/>
              </a:solidFill>
              <a:ln w="23812">
                <a:solidFill>
                  <a:srgbClr val="F4A100"/>
                </a:solidFill>
              </a:ln>
            </p:spPr>
          </p:sp>
          <p:sp>
            <p:nvSpPr>
              <p:cNvPr id="23" name="Ellipse 23"/>
              <p:cNvSpPr/>
              <p:nvPr/>
            </p:nvSpPr>
            <p:spPr>
              <a:xfrm>
                <a:off x="3286125" y="4829175"/>
                <a:ext cx="95250" cy="95250"/>
              </a:xfrm>
              <a:prstGeom prst="ellipse">
                <a:avLst/>
              </a:prstGeom>
              <a:solidFill>
                <a:srgbClr val="FFFFFF"/>
              </a:solidFill>
              <a:ln w="23812">
                <a:solidFill>
                  <a:srgbClr val="F4A100"/>
                </a:solidFill>
              </a:ln>
            </p:spPr>
          </p:sp>
          <p:sp>
            <p:nvSpPr>
              <p:cNvPr id="24" name="Ellipse 24"/>
              <p:cNvSpPr/>
              <p:nvPr/>
            </p:nvSpPr>
            <p:spPr>
              <a:xfrm>
                <a:off x="3105150" y="3676650"/>
                <a:ext cx="95250" cy="95250"/>
              </a:xfrm>
              <a:prstGeom prst="ellipse">
                <a:avLst/>
              </a:prstGeom>
              <a:solidFill>
                <a:srgbClr val="FFFFFF"/>
              </a:solidFill>
              <a:ln w="23812">
                <a:solidFill>
                  <a:srgbClr val="F4A100"/>
                </a:solidFill>
              </a:ln>
            </p:spPr>
          </p:sp>
          <p:sp>
            <p:nvSpPr>
              <p:cNvPr id="25" name="Ellipse 25"/>
              <p:cNvSpPr/>
              <p:nvPr/>
            </p:nvSpPr>
            <p:spPr>
              <a:xfrm>
                <a:off x="1838325" y="2733675"/>
                <a:ext cx="95250" cy="95250"/>
              </a:xfrm>
              <a:prstGeom prst="ellipse">
                <a:avLst/>
              </a:prstGeom>
              <a:solidFill>
                <a:srgbClr val="FFFFFF"/>
              </a:solidFill>
              <a:ln w="23812">
                <a:solidFill>
                  <a:srgbClr val="F4A100"/>
                </a:solidFill>
              </a:ln>
            </p:spPr>
          </p:sp>
          <p:sp>
            <p:nvSpPr>
              <p:cNvPr id="26" name="TextBox 26"/>
              <p:cNvSpPr txBox="1"/>
              <p:nvPr/>
            </p:nvSpPr>
            <p:spPr>
              <a:xfrm>
                <a:off x="2574920" y="1184910"/>
                <a:ext cx="1517660" cy="234696"/>
              </a:xfrm>
              <a:prstGeom prst="rect">
                <a:avLst/>
              </a:prstGeom>
              <a:noFill/>
              <a:ln>
                <a:noFill/>
              </a:ln>
            </p:spPr>
            <p:txBody>
              <a:bodyPr wrap="none" lIns="0" tIns="0" rIns="0" bIns="0" anchor="t" anchorCtr="0">
                <a:spAutoFit/>
              </a:bodyPr>
              <a:lstStyle/>
              <a:p>
                <a:pPr algn="ctr"/>
                <a:r>
                  <a:rPr lang="zh-CN" sz="1200" b="1" dirty="0">
                    <a:solidFill>
                      <a:srgbClr val="1D1D1A"/>
                    </a:solidFill>
                    <a:latin typeface="Arial"/>
                    <a:ea typeface="Microsoft YaHei"/>
                    <a:cs typeface="Arial"/>
                  </a:rPr>
                  <a:t>WAN连接/MPN 45%</a:t>
                </a:r>
              </a:p>
            </p:txBody>
          </p:sp>
          <p:sp>
            <p:nvSpPr>
              <p:cNvPr id="27" name="TextBox 27"/>
              <p:cNvSpPr txBox="1"/>
              <p:nvPr/>
            </p:nvSpPr>
            <p:spPr>
              <a:xfrm>
                <a:off x="5251704" y="2404110"/>
                <a:ext cx="885741" cy="234696"/>
              </a:xfrm>
              <a:prstGeom prst="rect">
                <a:avLst/>
              </a:prstGeom>
              <a:noFill/>
              <a:ln>
                <a:noFill/>
              </a:ln>
            </p:spPr>
            <p:txBody>
              <a:bodyPr wrap="none" lIns="0" tIns="0" rIns="0" bIns="0" anchor="t" anchorCtr="0">
                <a:spAutoFit/>
              </a:bodyPr>
              <a:lstStyle/>
              <a:p>
                <a:pPr algn="l"/>
                <a:r>
                  <a:rPr lang="zh-CN" sz="1200" b="1" dirty="0">
                    <a:solidFill>
                      <a:srgbClr val="1D1D1A"/>
                    </a:solidFill>
                    <a:latin typeface="Arial"/>
                    <a:ea typeface="Microsoft YaHei"/>
                    <a:cs typeface="Arial"/>
                  </a:rPr>
                  <a:t>云服务 70%</a:t>
                </a:r>
              </a:p>
            </p:txBody>
          </p:sp>
          <p:sp>
            <p:nvSpPr>
              <p:cNvPr id="28" name="TextBox 28"/>
              <p:cNvSpPr txBox="1"/>
              <p:nvPr/>
            </p:nvSpPr>
            <p:spPr>
              <a:xfrm>
                <a:off x="5251704" y="4632960"/>
                <a:ext cx="1132332" cy="234696"/>
              </a:xfrm>
              <a:prstGeom prst="rect">
                <a:avLst/>
              </a:prstGeom>
              <a:noFill/>
              <a:ln>
                <a:noFill/>
              </a:ln>
            </p:spPr>
            <p:txBody>
              <a:bodyPr wrap="none" lIns="0" tIns="0" rIns="0" bIns="0" anchor="t" anchorCtr="0">
                <a:spAutoFit/>
              </a:bodyPr>
              <a:lstStyle/>
              <a:p>
                <a:pPr algn="l"/>
                <a:r>
                  <a:rPr lang="zh-CN" sz="1200" b="1" dirty="0">
                    <a:solidFill>
                      <a:srgbClr val="1D1D1A"/>
                    </a:solidFill>
                    <a:latin typeface="Arial"/>
                    <a:ea typeface="Microsoft YaHei"/>
                    <a:cs typeface="Arial"/>
                  </a:rPr>
                  <a:t>4G骨干网 70%</a:t>
                </a:r>
              </a:p>
            </p:txBody>
          </p:sp>
          <p:sp>
            <p:nvSpPr>
              <p:cNvPr id="29" name="TextBox 29"/>
              <p:cNvSpPr txBox="1"/>
              <p:nvPr/>
            </p:nvSpPr>
            <p:spPr>
              <a:xfrm>
                <a:off x="2636448" y="5852160"/>
                <a:ext cx="1394605" cy="234696"/>
              </a:xfrm>
              <a:prstGeom prst="rect">
                <a:avLst/>
              </a:prstGeom>
              <a:noFill/>
              <a:ln>
                <a:noFill/>
              </a:ln>
            </p:spPr>
            <p:txBody>
              <a:bodyPr wrap="none" lIns="0" tIns="0" rIns="0" bIns="0" anchor="t" anchorCtr="0">
                <a:spAutoFit/>
              </a:bodyPr>
              <a:lstStyle/>
              <a:p>
                <a:pPr algn="ctr"/>
                <a:r>
                  <a:rPr lang="zh-CN" sz="1200" b="1" dirty="0">
                    <a:solidFill>
                      <a:srgbClr val="1D1D1A"/>
                    </a:solidFill>
                    <a:latin typeface="Arial"/>
                    <a:ea typeface="Microsoft YaHei"/>
                    <a:cs typeface="Arial"/>
                  </a:rPr>
                  <a:t>乡村基站建设 60%</a:t>
                </a:r>
              </a:p>
            </p:txBody>
          </p:sp>
          <p:sp>
            <p:nvSpPr>
              <p:cNvPr id="30" name="TextBox 30"/>
              <p:cNvSpPr txBox="1"/>
              <p:nvPr/>
            </p:nvSpPr>
            <p:spPr>
              <a:xfrm>
                <a:off x="-83942" y="4671060"/>
                <a:ext cx="1499738" cy="234696"/>
              </a:xfrm>
              <a:prstGeom prst="rect">
                <a:avLst/>
              </a:prstGeom>
              <a:noFill/>
              <a:ln>
                <a:noFill/>
              </a:ln>
            </p:spPr>
            <p:txBody>
              <a:bodyPr wrap="none" lIns="0" tIns="0" rIns="0" bIns="0" anchor="t" anchorCtr="0">
                <a:spAutoFit/>
              </a:bodyPr>
              <a:lstStyle/>
              <a:p>
                <a:pPr algn="r"/>
                <a:r>
                  <a:rPr lang="zh-CN" sz="1200" b="1" dirty="0">
                    <a:solidFill>
                      <a:srgbClr val="1D1D1A"/>
                    </a:solidFill>
                    <a:latin typeface="Arial"/>
                    <a:ea typeface="Microsoft YaHei"/>
                    <a:cs typeface="Arial"/>
                  </a:rPr>
                  <a:t>安全/ICT(G3) 10%</a:t>
                </a:r>
              </a:p>
            </p:txBody>
          </p:sp>
          <p:sp>
            <p:nvSpPr>
              <p:cNvPr id="31" name="TextBox 31"/>
              <p:cNvSpPr txBox="1"/>
              <p:nvPr/>
            </p:nvSpPr>
            <p:spPr>
              <a:xfrm>
                <a:off x="-155631" y="2404110"/>
                <a:ext cx="1571427" cy="234696"/>
              </a:xfrm>
              <a:prstGeom prst="rect">
                <a:avLst/>
              </a:prstGeom>
              <a:noFill/>
              <a:ln>
                <a:noFill/>
              </a:ln>
            </p:spPr>
            <p:txBody>
              <a:bodyPr wrap="none" lIns="0" tIns="0" rIns="0" bIns="0" anchor="t" anchorCtr="0">
                <a:spAutoFit/>
              </a:bodyPr>
              <a:lstStyle/>
              <a:p>
                <a:pPr algn="r"/>
                <a:r>
                  <a:rPr lang="zh-CN" sz="1200" b="1" dirty="0">
                    <a:solidFill>
                      <a:srgbClr val="1D1D1A"/>
                    </a:solidFill>
                    <a:latin typeface="Arial"/>
                    <a:ea typeface="Microsoft YaHei"/>
                    <a:cs typeface="Arial"/>
                  </a:rPr>
                  <a:t>RUN OMEA运维 80%</a:t>
                </a:r>
              </a:p>
            </p:txBody>
          </p:sp>
        </p:grpSp>
      </p:grpSp>
      <p:grpSp>
        <p:nvGrpSpPr>
          <p:cNvPr id="37" name="Group 37"/>
          <p:cNvGrpSpPr/>
          <p:nvPr/>
        </p:nvGrpSpPr>
        <p:grpSpPr>
          <a:xfrm>
            <a:off x="6381750" y="1333500"/>
            <a:ext cx="5048250" cy="4381500"/>
            <a:chOff x="6381750" y="1333500"/>
            <a:chExt cx="5048250" cy="4381500"/>
          </a:xfrm>
        </p:grpSpPr>
        <p:sp>
          <p:nvSpPr>
            <p:cNvPr id="34" name="Rectangle 34"/>
            <p:cNvSpPr/>
            <p:nvPr/>
          </p:nvSpPr>
          <p:spPr>
            <a:xfrm>
              <a:off x="6381750" y="1333500"/>
              <a:ext cx="5048250" cy="4381500"/>
            </a:xfrm>
            <a:prstGeom prst="roundRect">
              <a:avLst>
                <a:gd name="adj" fmla="val 1739"/>
              </a:avLst>
            </a:prstGeom>
            <a:solidFill>
              <a:srgbClr val="F7F6F3"/>
            </a:solidFill>
            <a:ln>
              <a:noFill/>
            </a:ln>
          </p:spPr>
        </p:sp>
        <p:sp>
          <p:nvSpPr>
            <p:cNvPr id="35" name="TextBox 35"/>
            <p:cNvSpPr txBox="1"/>
            <p:nvPr/>
          </p:nvSpPr>
          <p:spPr>
            <a:xfrm>
              <a:off x="6659880" y="1552575"/>
              <a:ext cx="1499426" cy="293370"/>
            </a:xfrm>
            <a:prstGeom prst="rect">
              <a:avLst/>
            </a:prstGeom>
            <a:noFill/>
            <a:ln>
              <a:noFill/>
            </a:ln>
          </p:spPr>
          <p:txBody>
            <a:bodyPr wrap="none" lIns="0" tIns="0" rIns="0" bIns="0" anchor="t" anchorCtr="0">
              <a:spAutoFit/>
            </a:bodyPr>
            <a:lstStyle/>
            <a:p>
              <a:pPr algn="l"/>
              <a:r>
                <a:rPr lang="zh-CN" sz="1500" b="1" dirty="0">
                  <a:solidFill>
                    <a:srgbClr val="1D1D1A"/>
                  </a:solidFill>
                  <a:latin typeface="Arial"/>
                  <a:ea typeface="Microsoft YaHei"/>
                  <a:cs typeface="Arial"/>
                </a:rPr>
                <a:t>华为角色与现状</a:t>
              </a:r>
            </a:p>
          </p:txBody>
        </p:sp>
        <p:sp>
          <p:nvSpPr>
            <p:cNvPr id="36" name="TextBox 36"/>
            <p:cNvSpPr txBox="1"/>
            <p:nvPr/>
          </p:nvSpPr>
          <p:spPr>
            <a:xfrm>
              <a:off x="6661404" y="1889760"/>
              <a:ext cx="2602992" cy="3454146"/>
            </a:xfrm>
            <a:prstGeom prst="rect">
              <a:avLst/>
            </a:prstGeom>
            <a:noFill/>
            <a:ln>
              <a:noFill/>
            </a:ln>
          </p:spPr>
          <p:txBody>
            <a:bodyPr wrap="square" lIns="0" tIns="0" rIns="0" bIns="0" anchor="t" anchorCtr="0"/>
            <a:lstStyle/>
            <a:p>
              <a:pPr algn="l">
                <a:lnSpc>
                  <a:spcPts val="1800"/>
                </a:lnSpc>
              </a:pPr>
              <a:r>
                <a:rPr lang="zh-CN" sz="1200" dirty="0">
                  <a:solidFill>
                    <a:srgbClr val="1D1D1A"/>
                  </a:solidFill>
                  <a:latin typeface="Arial"/>
                  <a:ea typeface="Microsoft YaHei"/>
                  <a:cs typeface="Arial"/>
                </a:rPr>
                <a:t>WAN连接/MPN · 与Nokia并列主力供</a:t>
              </a:r>
              <a:r>
                <a:rPr lang="zh-CN" sz="1200" dirty="0">
                  <a:solidFill>
                    <a:srgbClr val="1D1D1A"/>
                  </a:solidFill>
                  <a:latin typeface="Arial"/>
                  <a:ea typeface="Microsoft YaHei"/>
                  <a:cs typeface="Arial"/>
                </a:rPr>
                <a:t>应商 · 矿业港口实证案例</a:t>
              </a:r>
            </a:p>
            <a:p>
              <a:pPr algn="l">
                <a:lnSpc>
                  <a:spcPts val="1800"/>
                </a:lnSpc>
                <a:spcBef>
                  <a:spcPts val="750"/>
                </a:spcBef>
              </a:pPr>
              <a:r>
                <a:rPr lang="zh-CN" sz="1200" dirty="0">
                  <a:solidFill>
                    <a:srgbClr val="1D1D1A"/>
                  </a:solidFill>
                  <a:latin typeface="Arial"/>
                  <a:ea typeface="Microsoft YaHei"/>
                  <a:cs typeface="Arial"/>
                </a:rPr>
                <a:t xml:space="preserve">云服务 · Flexible Engine（同源OB）· </a:t>
              </a:r>
              <a:r>
                <a:rPr lang="zh-CN" sz="1200" dirty="0">
                  <a:solidFill>
                    <a:srgbClr val="1D1D1A"/>
                  </a:solidFill>
                  <a:latin typeface="Arial"/>
                  <a:ea typeface="Microsoft YaHei"/>
                  <a:cs typeface="Arial"/>
                </a:rPr>
                <a:t>AUTIN联合运维GNOC</a:t>
              </a:r>
            </a:p>
            <a:p>
              <a:pPr algn="l">
                <a:lnSpc>
                  <a:spcPts val="1800"/>
                </a:lnSpc>
                <a:spcBef>
                  <a:spcPts val="750"/>
                </a:spcBef>
              </a:pPr>
              <a:r>
                <a:rPr lang="zh-CN" sz="1200" dirty="0">
                  <a:solidFill>
                    <a:srgbClr val="1D1D1A"/>
                  </a:solidFill>
                  <a:latin typeface="Arial"/>
                  <a:ea typeface="Microsoft YaHei"/>
                  <a:cs typeface="Arial"/>
                </a:rPr>
                <a:t>4G骨干网 · 主导供应商 · 非洲4G骨</a:t>
              </a:r>
              <a:r>
                <a:rPr lang="zh-CN" sz="1200" dirty="0">
                  <a:solidFill>
                    <a:srgbClr val="1D1D1A"/>
                  </a:solidFill>
                  <a:latin typeface="Arial"/>
                  <a:ea typeface="Microsoft YaHei"/>
                  <a:cs typeface="Arial"/>
                </a:rPr>
                <a:t>干网份额约70%</a:t>
              </a:r>
            </a:p>
            <a:p>
              <a:pPr algn="l">
                <a:lnSpc>
                  <a:spcPts val="1800"/>
                </a:lnSpc>
                <a:spcBef>
                  <a:spcPts val="750"/>
                </a:spcBef>
              </a:pPr>
              <a:r>
                <a:rPr lang="zh-CN" sz="1200" dirty="0">
                  <a:solidFill>
                    <a:srgbClr val="1D1D1A"/>
                  </a:solidFill>
                  <a:latin typeface="Arial"/>
                  <a:ea typeface="Microsoft YaHei"/>
                  <a:cs typeface="Arial"/>
                </a:rPr>
                <a:t>乡村基站 · 华为+HEHA电源系统 ·</a:t>
              </a:r>
              <a:r>
                <a:rPr lang="zh-CN" sz="1200" dirty="0">
                  <a:solidFill>
                    <a:srgbClr val="1D1D1A"/>
                  </a:solidFill>
                  <a:latin typeface="Arial"/>
                  <a:ea typeface="Microsoft YaHei"/>
                  <a:cs typeface="Arial"/>
                </a:rPr>
                <a:t>联合部署2,000个（目标15,000）</a:t>
              </a:r>
            </a:p>
            <a:p>
              <a:pPr algn="l">
                <a:lnSpc>
                  <a:spcPts val="1800"/>
                </a:lnSpc>
                <a:spcBef>
                  <a:spcPts val="750"/>
                </a:spcBef>
              </a:pPr>
              <a:r>
                <a:rPr lang="zh-CN" sz="1200" dirty="0">
                  <a:solidFill>
                    <a:srgbClr val="1D1D1A"/>
                  </a:solidFill>
                  <a:latin typeface="Arial"/>
                  <a:ea typeface="Microsoft YaHei"/>
                  <a:cs typeface="Arial"/>
                </a:rPr>
                <a:t>安全/ICT(G3) · 网络层安全设备供应</a:t>
              </a:r>
              <a:r>
                <a:rPr lang="zh-CN" sz="1200" dirty="0">
                  <a:solidFill>
                    <a:srgbClr val="1D1D1A"/>
                  </a:solidFill>
                  <a:latin typeface="Arial"/>
                  <a:ea typeface="Microsoft YaHei"/>
                  <a:cs typeface="Arial"/>
                </a:rPr>
                <a:t>（估）· 孵化期，格局未定型</a:t>
              </a:r>
            </a:p>
            <a:p>
              <a:pPr algn="l">
                <a:lnSpc>
                  <a:spcPts val="1800"/>
                </a:lnSpc>
                <a:spcBef>
                  <a:spcPts val="750"/>
                </a:spcBef>
              </a:pPr>
              <a:r>
                <a:rPr lang="zh-CN" sz="1200" dirty="0">
                  <a:solidFill>
                    <a:srgbClr val="1D1D1A"/>
                  </a:solidFill>
                  <a:latin typeface="Arial"/>
                  <a:ea typeface="Microsoft YaHei"/>
                  <a:cs typeface="Arial"/>
                </a:rPr>
                <a:t>RUN OMEA/GNOC · 与Orange共建</a:t>
              </a:r>
              <a:r>
                <a:rPr lang="zh-CN" sz="1200" dirty="0">
                  <a:solidFill>
                    <a:srgbClr val="1D1D1A"/>
                  </a:solidFill>
                  <a:latin typeface="Arial"/>
                  <a:ea typeface="Microsoft YaHei"/>
                  <a:cs typeface="Arial"/>
                </a:rPr>
                <a:t>Mutualized Services · 达喀尔+阿</a:t>
              </a:r>
              <a:r>
                <a:rPr lang="zh-CN" sz="1200" dirty="0">
                  <a:solidFill>
                    <a:srgbClr val="1D1D1A"/>
                  </a:solidFill>
                  <a:latin typeface="Arial"/>
                  <a:ea typeface="Microsoft YaHei"/>
                  <a:cs typeface="Arial"/>
                </a:rPr>
                <a:t>比让双活运维</a:t>
              </a:r>
            </a:p>
          </p:txBody>
        </p:sp>
      </p:grpSp>
      <p:grpSp>
        <p:nvGrpSpPr>
          <p:cNvPr id="40" name="Group 40"/>
          <p:cNvGrpSpPr/>
          <p:nvPr/>
        </p:nvGrpSpPr>
        <p:grpSpPr>
          <a:xfrm>
            <a:off x="762000" y="5905500"/>
            <a:ext cx="11009803" cy="495300"/>
            <a:chOff x="762000" y="5905500"/>
            <a:chExt cx="11009803" cy="495300"/>
          </a:xfrm>
        </p:grpSpPr>
        <p:sp>
          <p:nvSpPr>
            <p:cNvPr id="38" name="Rectangle 38"/>
            <p:cNvSpPr/>
            <p:nvPr/>
          </p:nvSpPr>
          <p:spPr>
            <a:xfrm>
              <a:off x="762000" y="5905500"/>
              <a:ext cx="10668000" cy="495300"/>
            </a:xfrm>
            <a:prstGeom prst="roundRect">
              <a:avLst>
                <a:gd name="adj" fmla="val 15385"/>
              </a:avLst>
            </a:prstGeom>
            <a:solidFill>
              <a:srgbClr val="F4A100">
                <a:alpha val="10000"/>
              </a:srgbClr>
            </a:solidFill>
            <a:ln w="9525">
              <a:solidFill>
                <a:srgbClr val="F4A100"/>
              </a:solidFill>
            </a:ln>
          </p:spPr>
        </p:sp>
        <p:sp>
          <p:nvSpPr>
            <p:cNvPr id="39" name="TextBox 39"/>
            <p:cNvSpPr txBox="1"/>
            <p:nvPr/>
          </p:nvSpPr>
          <p:spPr>
            <a:xfrm>
              <a:off x="984504" y="6080760"/>
              <a:ext cx="10787299" cy="234696"/>
            </a:xfrm>
            <a:prstGeom prst="rect">
              <a:avLst/>
            </a:prstGeom>
            <a:noFill/>
            <a:ln>
              <a:noFill/>
            </a:ln>
          </p:spPr>
          <p:txBody>
            <a:bodyPr wrap="none" lIns="0" tIns="0" rIns="0" bIns="0" anchor="t" anchorCtr="0">
              <a:spAutoFit/>
            </a:bodyPr>
            <a:lstStyle/>
            <a:p>
              <a:pPr algn="l"/>
              <a:r>
                <a:rPr lang="zh-CN" sz="1200" dirty="0">
                  <a:solidFill>
                    <a:srgbClr val="1D1D1A"/>
                  </a:solidFill>
                  <a:latin typeface="Arial"/>
                  <a:ea typeface="Microsoft YaHei"/>
                  <a:cs typeface="Arial"/>
                </a:rPr>
                <a:t>定性：</a:t>
              </a:r>
              <a:r>
                <a:rPr lang="zh-CN" sz="1200" b="1" dirty="0">
                  <a:solidFill>
                    <a:srgbClr val="1D1D1A"/>
                  </a:solidFill>
                  <a:latin typeface="Arial"/>
                  <a:ea typeface="Microsoft YaHei"/>
                  <a:cs typeface="Arial"/>
                </a:rPr>
                <a:t>技术底层深度绑定+基础设施合作伙伴</a:t>
              </a:r>
              <a:r>
                <a:rPr lang="zh-CN" sz="1200" dirty="0">
                  <a:solidFill>
                    <a:srgbClr val="1D1D1A"/>
                  </a:solidFill>
                  <a:latin typeface="Arial"/>
                  <a:ea typeface="Microsoft YaHei"/>
                  <a:cs typeface="Arial"/>
                </a:rPr>
                <a:t>——RUN OMEA计划、GNOC双活站点、AUTIN运维、HEHA电源系统，是本次调研最强的华为叙事支点</a:t>
              </a:r>
            </a:p>
          </p:txBody>
        </p:sp>
      </p:grpSp>
      <p:grpSp>
        <p:nvGrpSpPr>
          <p:cNvPr id="43" name="Group 43"/>
          <p:cNvGrpSpPr/>
          <p:nvPr/>
        </p:nvGrpSpPr>
        <p:grpSpPr>
          <a:xfrm>
            <a:off x="755904" y="6537960"/>
            <a:ext cx="10680192" cy="234696"/>
            <a:chOff x="755904" y="6537960"/>
            <a:chExt cx="10680192" cy="234696"/>
          </a:xfrm>
        </p:grpSpPr>
        <p:sp>
          <p:nvSpPr>
            <p:cNvPr id="41" name="TextBox 41"/>
            <p:cNvSpPr txBox="1"/>
            <p:nvPr/>
          </p:nvSpPr>
          <p:spPr>
            <a:xfrm>
              <a:off x="755904" y="6537960"/>
              <a:ext cx="5303520" cy="234696"/>
            </a:xfrm>
            <a:prstGeom prst="rect">
              <a:avLst/>
            </a:prstGeom>
            <a:noFill/>
            <a:ln>
              <a:noFill/>
            </a:ln>
          </p:spPr>
          <p:txBody>
            <a:bodyPr wrap="none" lIns="0" tIns="0" rIns="0" bIns="0" anchor="t" anchorCtr="0">
              <a:spAutoFit/>
            </a:bodyPr>
            <a:lstStyle/>
            <a:p>
              <a:pPr algn="l"/>
              <a:r>
                <a:rPr lang="zh-CN" sz="1200" dirty="0">
                  <a:solidFill>
                    <a:srgbClr val="8A8880"/>
                  </a:solidFill>
                  <a:latin typeface="Arial"/>
                  <a:ea typeface="Microsoft YaHei"/>
                  <a:cs typeface="Arial"/>
                </a:rPr>
                <a:t>数据来源：OMEA战略材料(2026.4)、公开案例调研；参与度均为估算</a:t>
              </a:r>
            </a:p>
          </p:txBody>
        </p:sp>
        <p:sp>
          <p:nvSpPr>
            <p:cNvPr id="42" name="TextBox 42"/>
            <p:cNvSpPr txBox="1"/>
            <p:nvPr/>
          </p:nvSpPr>
          <p:spPr>
            <a:xfrm>
              <a:off x="9530080" y="6537960"/>
              <a:ext cx="1906016" cy="234696"/>
            </a:xfrm>
            <a:prstGeom prst="rect">
              <a:avLst/>
            </a:prstGeom>
            <a:noFill/>
            <a:ln>
              <a:noFill/>
            </a:ln>
          </p:spPr>
          <p:txBody>
            <a:bodyPr wrap="none" lIns="0" tIns="0" rIns="0" bIns="0" anchor="t" anchorCtr="0">
              <a:spAutoFit/>
            </a:bodyPr>
            <a:lstStyle/>
            <a:p>
              <a:pPr algn="r"/>
              <a:r>
                <a:rPr lang="en-US" sz="1200" dirty="0">
                  <a:solidFill>
                    <a:srgbClr val="8A8880"/>
                  </a:solidFill>
                  <a:latin typeface="Arial"/>
                  <a:ea typeface="Arial"/>
                  <a:cs typeface="Arial"/>
                </a:rPr>
                <a:t>15 · Huawei Confidential</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749808" y="274320"/>
            <a:ext cx="10680192" cy="478155"/>
            <a:chOff x="749808" y="274320"/>
            <a:chExt cx="10680192" cy="478155"/>
          </a:xfrm>
        </p:grpSpPr>
        <p:sp>
          <p:nvSpPr>
            <p:cNvPr id="3" name="TextBox 3"/>
            <p:cNvSpPr txBox="1"/>
            <p:nvPr/>
          </p:nvSpPr>
          <p:spPr>
            <a:xfrm>
              <a:off x="749808" y="274320"/>
              <a:ext cx="8107314" cy="469392"/>
            </a:xfrm>
            <a:prstGeom prst="rect">
              <a:avLst/>
            </a:prstGeom>
            <a:noFill/>
            <a:ln>
              <a:noFill/>
            </a:ln>
          </p:spPr>
          <p:txBody>
            <a:bodyPr wrap="none" lIns="0" tIns="0" rIns="0" bIns="0" anchor="t" anchorCtr="0">
              <a:spAutoFit/>
            </a:bodyPr>
            <a:lstStyle/>
            <a:p>
              <a:pPr algn="l"/>
              <a:r>
                <a:rPr lang="zh-CN" sz="2400" b="1" dirty="0">
                  <a:solidFill>
                    <a:srgbClr val="1D1D1A"/>
                  </a:solidFill>
                  <a:latin typeface="Arial"/>
                  <a:ea typeface="Microsoft YaHei"/>
                  <a:cs typeface="Arial"/>
                </a:rPr>
                <a:t>资源应向OMEA倾斜——尤其是MPN与云运维协同场景</a:t>
              </a:r>
            </a:p>
          </p:txBody>
        </p:sp>
        <p:sp>
          <p:nvSpPr>
            <p:cNvPr id="4" name="Line 4"/>
            <p:cNvSpPr/>
            <p:nvPr/>
          </p:nvSpPr>
          <p:spPr>
            <a:xfrm>
              <a:off x="762000" y="742950"/>
              <a:ext cx="10668000" cy="9525"/>
            </a:xfrm>
            <a:custGeom>
              <a:avLst/>
              <a:gdLst/>
              <a:ahLst/>
              <a:cxnLst/>
              <a:rect l="l" t="t" r="r" b="b"/>
              <a:pathLst>
                <a:path w="10668000" h="9525">
                  <a:moveTo>
                    <a:pt x="0" y="0"/>
                  </a:moveTo>
                  <a:lnTo>
                    <a:pt x="10668000" y="0"/>
                  </a:lnTo>
                </a:path>
              </a:pathLst>
            </a:custGeom>
            <a:noFill/>
            <a:ln w="9525">
              <a:solidFill>
                <a:srgbClr val="DDDBD6"/>
              </a:solidFill>
            </a:ln>
          </p:spPr>
        </p:sp>
      </p:grpSp>
      <p:grpSp>
        <p:nvGrpSpPr>
          <p:cNvPr id="49" name="Group 49"/>
          <p:cNvGrpSpPr/>
          <p:nvPr/>
        </p:nvGrpSpPr>
        <p:grpSpPr>
          <a:xfrm>
            <a:off x="785470" y="1203960"/>
            <a:ext cx="8358530" cy="4520946"/>
            <a:chOff x="785470" y="1203960"/>
            <a:chExt cx="8358530" cy="4520946"/>
          </a:xfrm>
        </p:grpSpPr>
        <p:grpSp>
          <p:nvGrpSpPr>
            <p:cNvPr id="48" name="Group 48"/>
            <p:cNvGrpSpPr/>
            <p:nvPr/>
          </p:nvGrpSpPr>
          <p:grpSpPr>
            <a:xfrm>
              <a:off x="785470" y="1203960"/>
              <a:ext cx="8358530" cy="4520946"/>
              <a:chOff x="785470" y="1203960"/>
              <a:chExt cx="8358530" cy="4520946"/>
            </a:xfrm>
          </p:grpSpPr>
          <p:sp>
            <p:nvSpPr>
              <p:cNvPr id="6" name="Rectangle 6"/>
              <p:cNvSpPr/>
              <p:nvPr/>
            </p:nvSpPr>
            <p:spPr>
              <a:xfrm>
                <a:off x="1809750" y="1238250"/>
                <a:ext cx="3619500" cy="1905000"/>
              </a:xfrm>
              <a:prstGeom prst="rect">
                <a:avLst/>
              </a:prstGeom>
              <a:solidFill>
                <a:srgbClr val="F7F6F3"/>
              </a:solidFill>
              <a:ln>
                <a:noFill/>
              </a:ln>
            </p:spPr>
          </p:sp>
          <p:sp>
            <p:nvSpPr>
              <p:cNvPr id="7" name="Rectangle 7"/>
              <p:cNvSpPr/>
              <p:nvPr/>
            </p:nvSpPr>
            <p:spPr>
              <a:xfrm>
                <a:off x="5524500" y="1238250"/>
                <a:ext cx="3619500" cy="1905000"/>
              </a:xfrm>
              <a:prstGeom prst="rect">
                <a:avLst/>
              </a:prstGeom>
              <a:solidFill>
                <a:srgbClr val="F4A100">
                  <a:alpha val="10000"/>
                </a:srgbClr>
              </a:solidFill>
              <a:ln>
                <a:noFill/>
              </a:ln>
            </p:spPr>
          </p:sp>
          <p:sp>
            <p:nvSpPr>
              <p:cNvPr id="8" name="Rectangle 8"/>
              <p:cNvSpPr/>
              <p:nvPr/>
            </p:nvSpPr>
            <p:spPr>
              <a:xfrm>
                <a:off x="1809750" y="3238500"/>
                <a:ext cx="3619500" cy="1905000"/>
              </a:xfrm>
              <a:prstGeom prst="rect">
                <a:avLst/>
              </a:prstGeom>
              <a:solidFill>
                <a:srgbClr val="DDDBD6"/>
              </a:solidFill>
              <a:ln>
                <a:noFill/>
              </a:ln>
            </p:spPr>
          </p:sp>
          <p:sp>
            <p:nvSpPr>
              <p:cNvPr id="9" name="Rectangle 9"/>
              <p:cNvSpPr/>
              <p:nvPr/>
            </p:nvSpPr>
            <p:spPr>
              <a:xfrm>
                <a:off x="5524500" y="3238500"/>
                <a:ext cx="3619500" cy="1905000"/>
              </a:xfrm>
              <a:prstGeom prst="rect">
                <a:avLst/>
              </a:prstGeom>
              <a:solidFill>
                <a:srgbClr val="F7F6F3"/>
              </a:solidFill>
              <a:ln>
                <a:noFill/>
              </a:ln>
            </p:spPr>
          </p:sp>
          <p:sp>
            <p:nvSpPr>
              <p:cNvPr id="10" name="Line 10"/>
              <p:cNvSpPr/>
              <p:nvPr/>
            </p:nvSpPr>
            <p:spPr>
              <a:xfrm>
                <a:off x="5476875" y="1238250"/>
                <a:ext cx="9525" cy="3905250"/>
              </a:xfrm>
              <a:custGeom>
                <a:avLst/>
                <a:gdLst/>
                <a:ahLst/>
                <a:cxnLst/>
                <a:rect l="l" t="t" r="r" b="b"/>
                <a:pathLst>
                  <a:path w="9525" h="3905250">
                    <a:moveTo>
                      <a:pt x="0" y="0"/>
                    </a:moveTo>
                    <a:lnTo>
                      <a:pt x="0" y="3905250"/>
                    </a:lnTo>
                  </a:path>
                </a:pathLst>
              </a:custGeom>
              <a:noFill/>
              <a:ln w="9525">
                <a:solidFill>
                  <a:srgbClr val="1D1D1A"/>
                </a:solidFill>
                <a:custDash>
                  <a:ds d="600000" sp="600000"/>
                </a:custDash>
              </a:ln>
            </p:spPr>
          </p:sp>
          <p:sp>
            <p:nvSpPr>
              <p:cNvPr id="11" name="Line 11"/>
              <p:cNvSpPr/>
              <p:nvPr/>
            </p:nvSpPr>
            <p:spPr>
              <a:xfrm>
                <a:off x="1809750" y="3190875"/>
                <a:ext cx="7334250" cy="9525"/>
              </a:xfrm>
              <a:custGeom>
                <a:avLst/>
                <a:gdLst/>
                <a:ahLst/>
                <a:cxnLst/>
                <a:rect l="l" t="t" r="r" b="b"/>
                <a:pathLst>
                  <a:path w="7334250" h="9525">
                    <a:moveTo>
                      <a:pt x="0" y="0"/>
                    </a:moveTo>
                    <a:lnTo>
                      <a:pt x="7334250" y="0"/>
                    </a:lnTo>
                  </a:path>
                </a:pathLst>
              </a:custGeom>
              <a:noFill/>
              <a:ln w="9525">
                <a:solidFill>
                  <a:srgbClr val="1D1D1A"/>
                </a:solidFill>
                <a:custDash>
                  <a:ds d="600000" sp="600000"/>
                </a:custDash>
              </a:ln>
            </p:spPr>
          </p:sp>
          <p:sp>
            <p:nvSpPr>
              <p:cNvPr id="12" name="TextBox 12"/>
              <p:cNvSpPr txBox="1"/>
              <p:nvPr/>
            </p:nvSpPr>
            <p:spPr>
              <a:xfrm>
                <a:off x="2030730" y="1362075"/>
                <a:ext cx="651320" cy="293370"/>
              </a:xfrm>
              <a:prstGeom prst="rect">
                <a:avLst/>
              </a:prstGeom>
              <a:noFill/>
              <a:ln>
                <a:noFill/>
              </a:ln>
            </p:spPr>
            <p:txBody>
              <a:bodyPr wrap="none" lIns="0" tIns="0" rIns="0" bIns="0" anchor="t" anchorCtr="0">
                <a:spAutoFit/>
              </a:bodyPr>
              <a:lstStyle/>
              <a:p>
                <a:pPr algn="l"/>
                <a:r>
                  <a:rPr lang="zh-CN" sz="1500" b="1" dirty="0">
                    <a:solidFill>
                      <a:srgbClr val="5A5852"/>
                    </a:solidFill>
                    <a:latin typeface="Arial"/>
                    <a:ea typeface="Microsoft YaHei"/>
                    <a:cs typeface="Arial"/>
                  </a:rPr>
                  <a:t>瘦肉区</a:t>
                </a:r>
              </a:p>
            </p:txBody>
          </p:sp>
          <p:sp>
            <p:nvSpPr>
              <p:cNvPr id="13" name="TextBox 13"/>
              <p:cNvSpPr txBox="1"/>
              <p:nvPr/>
            </p:nvSpPr>
            <p:spPr>
              <a:xfrm>
                <a:off x="2032254" y="1604010"/>
                <a:ext cx="1167232" cy="234696"/>
              </a:xfrm>
              <a:prstGeom prst="rect">
                <a:avLst/>
              </a:prstGeom>
              <a:noFill/>
              <a:ln>
                <a:noFill/>
              </a:ln>
            </p:spPr>
            <p:txBody>
              <a:bodyPr wrap="none" lIns="0" tIns="0" rIns="0" bIns="0" anchor="t" anchorCtr="0">
                <a:spAutoFit/>
              </a:bodyPr>
              <a:lstStyle/>
              <a:p>
                <a:pPr algn="l"/>
                <a:r>
                  <a:rPr lang="zh-CN" sz="1200" dirty="0">
                    <a:solidFill>
                      <a:srgbClr val="8A8880"/>
                    </a:solidFill>
                    <a:latin typeface="Arial"/>
                    <a:ea typeface="Microsoft YaHei"/>
                    <a:cs typeface="Arial"/>
                  </a:rPr>
                  <a:t>高价值 · 低空间</a:t>
                </a:r>
              </a:p>
            </p:txBody>
          </p:sp>
          <p:sp>
            <p:nvSpPr>
              <p:cNvPr id="14" name="TextBox 14"/>
              <p:cNvSpPr txBox="1"/>
              <p:nvPr/>
            </p:nvSpPr>
            <p:spPr>
              <a:xfrm>
                <a:off x="5745480" y="1362075"/>
                <a:ext cx="651320" cy="293370"/>
              </a:xfrm>
              <a:prstGeom prst="rect">
                <a:avLst/>
              </a:prstGeom>
              <a:noFill/>
              <a:ln>
                <a:noFill/>
              </a:ln>
            </p:spPr>
            <p:txBody>
              <a:bodyPr wrap="none" lIns="0" tIns="0" rIns="0" bIns="0" anchor="t" anchorCtr="0">
                <a:spAutoFit/>
              </a:bodyPr>
              <a:lstStyle/>
              <a:p>
                <a:pPr algn="l"/>
                <a:r>
                  <a:rPr lang="zh-CN" sz="1500" b="1" dirty="0">
                    <a:solidFill>
                      <a:srgbClr val="F4A100"/>
                    </a:solidFill>
                    <a:latin typeface="Arial"/>
                    <a:ea typeface="Microsoft YaHei"/>
                    <a:cs typeface="Arial"/>
                  </a:rPr>
                  <a:t>肥肉区</a:t>
                </a:r>
              </a:p>
            </p:txBody>
          </p:sp>
          <p:sp>
            <p:nvSpPr>
              <p:cNvPr id="15" name="TextBox 15"/>
              <p:cNvSpPr txBox="1"/>
              <p:nvPr/>
            </p:nvSpPr>
            <p:spPr>
              <a:xfrm>
                <a:off x="5747004" y="1604010"/>
                <a:ext cx="1167232" cy="234696"/>
              </a:xfrm>
              <a:prstGeom prst="rect">
                <a:avLst/>
              </a:prstGeom>
              <a:noFill/>
              <a:ln>
                <a:noFill/>
              </a:ln>
            </p:spPr>
            <p:txBody>
              <a:bodyPr wrap="none" lIns="0" tIns="0" rIns="0" bIns="0" anchor="t" anchorCtr="0">
                <a:spAutoFit/>
              </a:bodyPr>
              <a:lstStyle/>
              <a:p>
                <a:pPr algn="l"/>
                <a:r>
                  <a:rPr lang="zh-CN" sz="1200" dirty="0">
                    <a:solidFill>
                      <a:srgbClr val="8A8880"/>
                    </a:solidFill>
                    <a:latin typeface="Arial"/>
                    <a:ea typeface="Microsoft YaHei"/>
                    <a:cs typeface="Arial"/>
                  </a:rPr>
                  <a:t>高价值 · 高空间</a:t>
                </a:r>
              </a:p>
            </p:txBody>
          </p:sp>
          <p:sp>
            <p:nvSpPr>
              <p:cNvPr id="16" name="TextBox 16"/>
              <p:cNvSpPr txBox="1"/>
              <p:nvPr/>
            </p:nvSpPr>
            <p:spPr>
              <a:xfrm>
                <a:off x="2030730" y="3362325"/>
                <a:ext cx="651320" cy="293370"/>
              </a:xfrm>
              <a:prstGeom prst="rect">
                <a:avLst/>
              </a:prstGeom>
              <a:noFill/>
              <a:ln>
                <a:noFill/>
              </a:ln>
            </p:spPr>
            <p:txBody>
              <a:bodyPr wrap="none" lIns="0" tIns="0" rIns="0" bIns="0" anchor="t" anchorCtr="0">
                <a:spAutoFit/>
              </a:bodyPr>
              <a:lstStyle/>
              <a:p>
                <a:pPr algn="l"/>
                <a:r>
                  <a:rPr lang="zh-CN" sz="1500" b="1" dirty="0">
                    <a:solidFill>
                      <a:srgbClr val="8A8880"/>
                    </a:solidFill>
                    <a:latin typeface="Arial"/>
                    <a:ea typeface="Microsoft YaHei"/>
                    <a:cs typeface="Arial"/>
                  </a:rPr>
                  <a:t>骨头区</a:t>
                </a:r>
              </a:p>
            </p:txBody>
          </p:sp>
          <p:sp>
            <p:nvSpPr>
              <p:cNvPr id="17" name="TextBox 17"/>
              <p:cNvSpPr txBox="1"/>
              <p:nvPr/>
            </p:nvSpPr>
            <p:spPr>
              <a:xfrm>
                <a:off x="2032254" y="3604260"/>
                <a:ext cx="1167232" cy="234696"/>
              </a:xfrm>
              <a:prstGeom prst="rect">
                <a:avLst/>
              </a:prstGeom>
              <a:noFill/>
              <a:ln>
                <a:noFill/>
              </a:ln>
            </p:spPr>
            <p:txBody>
              <a:bodyPr wrap="none" lIns="0" tIns="0" rIns="0" bIns="0" anchor="t" anchorCtr="0">
                <a:spAutoFit/>
              </a:bodyPr>
              <a:lstStyle/>
              <a:p>
                <a:pPr algn="l"/>
                <a:r>
                  <a:rPr lang="zh-CN" sz="1200" dirty="0">
                    <a:solidFill>
                      <a:srgbClr val="8A8880"/>
                    </a:solidFill>
                    <a:latin typeface="Arial"/>
                    <a:ea typeface="Microsoft YaHei"/>
                    <a:cs typeface="Arial"/>
                  </a:rPr>
                  <a:t>低价值 · 低空间</a:t>
                </a:r>
              </a:p>
            </p:txBody>
          </p:sp>
          <p:sp>
            <p:nvSpPr>
              <p:cNvPr id="18" name="TextBox 18"/>
              <p:cNvSpPr txBox="1"/>
              <p:nvPr/>
            </p:nvSpPr>
            <p:spPr>
              <a:xfrm>
                <a:off x="5745480" y="3362325"/>
                <a:ext cx="651320" cy="293370"/>
              </a:xfrm>
              <a:prstGeom prst="rect">
                <a:avLst/>
              </a:prstGeom>
              <a:noFill/>
              <a:ln>
                <a:noFill/>
              </a:ln>
            </p:spPr>
            <p:txBody>
              <a:bodyPr wrap="none" lIns="0" tIns="0" rIns="0" bIns="0" anchor="t" anchorCtr="0">
                <a:spAutoFit/>
              </a:bodyPr>
              <a:lstStyle/>
              <a:p>
                <a:pPr algn="l"/>
                <a:r>
                  <a:rPr lang="zh-CN" sz="1500" b="1" dirty="0">
                    <a:solidFill>
                      <a:srgbClr val="5A5852"/>
                    </a:solidFill>
                    <a:latin typeface="Arial"/>
                    <a:ea typeface="Microsoft YaHei"/>
                    <a:cs typeface="Arial"/>
                  </a:rPr>
                  <a:t>瘦肉区</a:t>
                </a:r>
              </a:p>
            </p:txBody>
          </p:sp>
          <p:sp>
            <p:nvSpPr>
              <p:cNvPr id="19" name="TextBox 19"/>
              <p:cNvSpPr txBox="1"/>
              <p:nvPr/>
            </p:nvSpPr>
            <p:spPr>
              <a:xfrm>
                <a:off x="5747004" y="3604260"/>
                <a:ext cx="1167232" cy="234696"/>
              </a:xfrm>
              <a:prstGeom prst="rect">
                <a:avLst/>
              </a:prstGeom>
              <a:noFill/>
              <a:ln>
                <a:noFill/>
              </a:ln>
            </p:spPr>
            <p:txBody>
              <a:bodyPr wrap="none" lIns="0" tIns="0" rIns="0" bIns="0" anchor="t" anchorCtr="0">
                <a:spAutoFit/>
              </a:bodyPr>
              <a:lstStyle/>
              <a:p>
                <a:pPr algn="l"/>
                <a:r>
                  <a:rPr lang="zh-CN" sz="1200" dirty="0">
                    <a:solidFill>
                      <a:srgbClr val="8A8880"/>
                    </a:solidFill>
                    <a:latin typeface="Arial"/>
                    <a:ea typeface="Microsoft YaHei"/>
                    <a:cs typeface="Arial"/>
                  </a:rPr>
                  <a:t>低价值 · 高空间</a:t>
                </a:r>
              </a:p>
            </p:txBody>
          </p:sp>
          <p:grpSp>
            <p:nvGrpSpPr>
              <p:cNvPr id="23" name="Group 23"/>
              <p:cNvGrpSpPr/>
              <p:nvPr/>
            </p:nvGrpSpPr>
            <p:grpSpPr>
              <a:xfrm>
                <a:off x="6646774" y="1524000"/>
                <a:ext cx="1565453" cy="876300"/>
                <a:chOff x="6646774" y="1524000"/>
                <a:chExt cx="1565453" cy="876300"/>
              </a:xfrm>
            </p:grpSpPr>
            <p:sp>
              <p:nvSpPr>
                <p:cNvPr id="20" name="Ellipse 20"/>
                <p:cNvSpPr/>
                <p:nvPr/>
              </p:nvSpPr>
              <p:spPr>
                <a:xfrm>
                  <a:off x="6991350" y="1524000"/>
                  <a:ext cx="876300" cy="876300"/>
                </a:xfrm>
                <a:prstGeom prst="ellipse">
                  <a:avLst/>
                </a:prstGeom>
                <a:solidFill>
                  <a:srgbClr val="F4A100">
                    <a:alpha val="75000"/>
                  </a:srgbClr>
                </a:solidFill>
                <a:ln w="19050">
                  <a:solidFill>
                    <a:srgbClr val="F4A100"/>
                  </a:solidFill>
                </a:ln>
              </p:spPr>
            </p:sp>
            <p:sp>
              <p:nvSpPr>
                <p:cNvPr id="21" name="TextBox 21"/>
                <p:cNvSpPr txBox="1"/>
                <p:nvPr/>
              </p:nvSpPr>
              <p:spPr>
                <a:xfrm>
                  <a:off x="7190415" y="1775460"/>
                  <a:ext cx="478170" cy="234696"/>
                </a:xfrm>
                <a:prstGeom prst="rect">
                  <a:avLst/>
                </a:prstGeom>
                <a:noFill/>
                <a:ln>
                  <a:noFill/>
                </a:ln>
              </p:spPr>
              <p:txBody>
                <a:bodyPr wrap="none" lIns="0" tIns="0" rIns="0" bIns="0" anchor="t" anchorCtr="0">
                  <a:spAutoFit/>
                </a:bodyPr>
                <a:lstStyle/>
                <a:p>
                  <a:pPr algn="ctr"/>
                  <a:r>
                    <a:rPr lang="en-US" sz="1200" b="1" dirty="0">
                      <a:solidFill>
                        <a:srgbClr val="1D1D1A"/>
                      </a:solidFill>
                      <a:latin typeface="Arial"/>
                      <a:ea typeface="Arial"/>
                      <a:cs typeface="Arial"/>
                    </a:rPr>
                    <a:t>OMEA</a:t>
                  </a:r>
                </a:p>
              </p:txBody>
            </p:sp>
            <p:sp>
              <p:nvSpPr>
                <p:cNvPr id="22" name="TextBox 22"/>
                <p:cNvSpPr txBox="1"/>
                <p:nvPr/>
              </p:nvSpPr>
              <p:spPr>
                <a:xfrm>
                  <a:off x="6646774" y="1946910"/>
                  <a:ext cx="1565453" cy="234696"/>
                </a:xfrm>
                <a:prstGeom prst="rect">
                  <a:avLst/>
                </a:prstGeom>
                <a:noFill/>
                <a:ln>
                  <a:noFill/>
                </a:ln>
              </p:spPr>
              <p:txBody>
                <a:bodyPr wrap="none" lIns="0" tIns="0" rIns="0" bIns="0" anchor="t" anchorCtr="0">
                  <a:spAutoFit/>
                </a:bodyPr>
                <a:lstStyle/>
                <a:p>
                  <a:pPr algn="ctr"/>
                  <a:r>
                    <a:rPr lang="zh-CN" sz="1200" dirty="0">
                      <a:solidFill>
                        <a:srgbClr val="1D1D1A"/>
                      </a:solidFill>
                      <a:latin typeface="Arial"/>
                      <a:ea typeface="Microsoft YaHei"/>
                      <a:cs typeface="Arial"/>
                    </a:rPr>
                    <a:t>MPN45%·云运维70%</a:t>
                  </a:r>
                </a:p>
              </p:txBody>
            </p:sp>
          </p:grpSp>
          <p:grpSp>
            <p:nvGrpSpPr>
              <p:cNvPr id="27" name="Group 27"/>
              <p:cNvGrpSpPr/>
              <p:nvPr/>
            </p:nvGrpSpPr>
            <p:grpSpPr>
              <a:xfrm>
                <a:off x="2474138" y="1714500"/>
                <a:ext cx="957224" cy="571500"/>
                <a:chOff x="2474138" y="1714500"/>
                <a:chExt cx="957224" cy="571500"/>
              </a:xfrm>
            </p:grpSpPr>
            <p:sp>
              <p:nvSpPr>
                <p:cNvPr id="24" name="Ellipse 24"/>
                <p:cNvSpPr/>
                <p:nvPr/>
              </p:nvSpPr>
              <p:spPr>
                <a:xfrm>
                  <a:off x="2667000" y="1714500"/>
                  <a:ext cx="571500" cy="571500"/>
                </a:xfrm>
                <a:prstGeom prst="ellipse">
                  <a:avLst/>
                </a:prstGeom>
                <a:solidFill>
                  <a:srgbClr val="C7000A">
                    <a:alpha val="70000"/>
                  </a:srgbClr>
                </a:solidFill>
                <a:ln w="19050">
                  <a:solidFill>
                    <a:srgbClr val="C7000A"/>
                  </a:solidFill>
                </a:ln>
              </p:spPr>
            </p:sp>
            <p:sp>
              <p:nvSpPr>
                <p:cNvPr id="25" name="TextBox 25"/>
                <p:cNvSpPr txBox="1"/>
                <p:nvPr/>
              </p:nvSpPr>
              <p:spPr>
                <a:xfrm>
                  <a:off x="2830159" y="1832610"/>
                  <a:ext cx="245181"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Arial"/>
                      <a:ea typeface="Arial"/>
                      <a:cs typeface="Arial"/>
                    </a:rPr>
                    <a:t>OB</a:t>
                  </a:r>
                </a:p>
              </p:txBody>
            </p:sp>
            <p:sp>
              <p:nvSpPr>
                <p:cNvPr id="26" name="TextBox 26"/>
                <p:cNvSpPr txBox="1"/>
                <p:nvPr/>
              </p:nvSpPr>
              <p:spPr>
                <a:xfrm>
                  <a:off x="2474138" y="1985010"/>
                  <a:ext cx="957224"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Arial"/>
                      <a:ea typeface="Microsoft YaHei"/>
                      <a:cs typeface="Arial"/>
                    </a:rPr>
                    <a:t>云栈存量30%</a:t>
                  </a:r>
                </a:p>
              </p:txBody>
            </p:sp>
          </p:grpSp>
          <p:grpSp>
            <p:nvGrpSpPr>
              <p:cNvPr id="31" name="Group 31"/>
              <p:cNvGrpSpPr/>
              <p:nvPr/>
            </p:nvGrpSpPr>
            <p:grpSpPr>
              <a:xfrm>
                <a:off x="3422599" y="2324100"/>
                <a:ext cx="1155802" cy="495300"/>
                <a:chOff x="3422599" y="2324100"/>
                <a:chExt cx="1155802" cy="495300"/>
              </a:xfrm>
            </p:grpSpPr>
            <p:sp>
              <p:nvSpPr>
                <p:cNvPr id="28" name="Ellipse 28"/>
                <p:cNvSpPr/>
                <p:nvPr/>
              </p:nvSpPr>
              <p:spPr>
                <a:xfrm>
                  <a:off x="3752850" y="2324100"/>
                  <a:ext cx="495300" cy="495300"/>
                </a:xfrm>
                <a:prstGeom prst="ellipse">
                  <a:avLst/>
                </a:prstGeom>
                <a:solidFill>
                  <a:srgbClr val="E9002F">
                    <a:alpha val="65000"/>
                  </a:srgbClr>
                </a:solidFill>
                <a:ln w="19050">
                  <a:solidFill>
                    <a:srgbClr val="E9002F"/>
                  </a:solidFill>
                </a:ln>
              </p:spPr>
            </p:sp>
            <p:sp>
              <p:nvSpPr>
                <p:cNvPr id="29" name="TextBox 29"/>
                <p:cNvSpPr txBox="1"/>
                <p:nvPr/>
              </p:nvSpPr>
              <p:spPr>
                <a:xfrm>
                  <a:off x="3828623" y="2413635"/>
                  <a:ext cx="343753"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Arial"/>
                      <a:ea typeface="Arial"/>
                      <a:cs typeface="Arial"/>
                    </a:rPr>
                    <a:t>OEU</a:t>
                  </a:r>
                </a:p>
              </p:txBody>
            </p:sp>
            <p:sp>
              <p:nvSpPr>
                <p:cNvPr id="30" name="TextBox 30"/>
                <p:cNvSpPr txBox="1"/>
                <p:nvPr/>
              </p:nvSpPr>
              <p:spPr>
                <a:xfrm>
                  <a:off x="3422599" y="2556510"/>
                  <a:ext cx="1155802"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Arial"/>
                      <a:ea typeface="Microsoft YaHei"/>
                      <a:cs typeface="Arial"/>
                    </a:rPr>
                    <a:t>波兰IT集成36%</a:t>
                  </a:r>
                </a:p>
              </p:txBody>
            </p:sp>
          </p:grpSp>
          <p:grpSp>
            <p:nvGrpSpPr>
              <p:cNvPr id="35" name="Group 35"/>
              <p:cNvGrpSpPr/>
              <p:nvPr/>
            </p:nvGrpSpPr>
            <p:grpSpPr>
              <a:xfrm>
                <a:off x="2639263" y="3790950"/>
                <a:ext cx="1198474" cy="419481"/>
                <a:chOff x="2639263" y="3790950"/>
                <a:chExt cx="1198474" cy="419481"/>
              </a:xfrm>
            </p:grpSpPr>
            <p:sp>
              <p:nvSpPr>
                <p:cNvPr id="32" name="Ellipse 32"/>
                <p:cNvSpPr/>
                <p:nvPr/>
              </p:nvSpPr>
              <p:spPr>
                <a:xfrm>
                  <a:off x="3028950" y="3790950"/>
                  <a:ext cx="419100" cy="419100"/>
                </a:xfrm>
                <a:prstGeom prst="ellipse">
                  <a:avLst/>
                </a:prstGeom>
                <a:solidFill>
                  <a:srgbClr val="E9002F">
                    <a:alpha val="55000"/>
                  </a:srgbClr>
                </a:solidFill>
                <a:ln w="19050">
                  <a:solidFill>
                    <a:srgbClr val="E9002F"/>
                  </a:solidFill>
                </a:ln>
              </p:spPr>
            </p:sp>
            <p:sp>
              <p:nvSpPr>
                <p:cNvPr id="33" name="TextBox 33"/>
                <p:cNvSpPr txBox="1"/>
                <p:nvPr/>
              </p:nvSpPr>
              <p:spPr>
                <a:xfrm>
                  <a:off x="3066623" y="3842385"/>
                  <a:ext cx="343753"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Arial"/>
                      <a:ea typeface="Arial"/>
                      <a:cs typeface="Arial"/>
                    </a:rPr>
                    <a:t>OEU</a:t>
                  </a:r>
                </a:p>
              </p:txBody>
            </p:sp>
            <p:sp>
              <p:nvSpPr>
                <p:cNvPr id="34" name="TextBox 34"/>
                <p:cNvSpPr txBox="1"/>
                <p:nvPr/>
              </p:nvSpPr>
              <p:spPr>
                <a:xfrm>
                  <a:off x="2639263" y="3975735"/>
                  <a:ext cx="1198474"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Arial"/>
                      <a:ea typeface="Microsoft YaHei"/>
                      <a:cs typeface="Arial"/>
                    </a:rPr>
                    <a:t>RO/PL法律排除</a:t>
                  </a:r>
                </a:p>
              </p:txBody>
            </p:sp>
          </p:grpSp>
          <p:grpSp>
            <p:nvGrpSpPr>
              <p:cNvPr id="39" name="Group 39"/>
              <p:cNvGrpSpPr/>
              <p:nvPr/>
            </p:nvGrpSpPr>
            <p:grpSpPr>
              <a:xfrm>
                <a:off x="3988460" y="4286250"/>
                <a:ext cx="976579" cy="400431"/>
                <a:chOff x="3988460" y="4286250"/>
                <a:chExt cx="976579" cy="400431"/>
              </a:xfrm>
            </p:grpSpPr>
            <p:sp>
              <p:nvSpPr>
                <p:cNvPr id="36" name="Ellipse 36"/>
                <p:cNvSpPr/>
                <p:nvPr/>
              </p:nvSpPr>
              <p:spPr>
                <a:xfrm>
                  <a:off x="4286250" y="4286250"/>
                  <a:ext cx="381000" cy="381000"/>
                </a:xfrm>
                <a:prstGeom prst="ellipse">
                  <a:avLst/>
                </a:prstGeom>
                <a:solidFill>
                  <a:srgbClr val="C7000A">
                    <a:alpha val="50000"/>
                  </a:srgbClr>
                </a:solidFill>
                <a:ln w="19050">
                  <a:solidFill>
                    <a:srgbClr val="C7000A"/>
                  </a:solidFill>
                </a:ln>
              </p:spPr>
            </p:sp>
            <p:sp>
              <p:nvSpPr>
                <p:cNvPr id="37" name="TextBox 37"/>
                <p:cNvSpPr txBox="1"/>
                <p:nvPr/>
              </p:nvSpPr>
              <p:spPr>
                <a:xfrm>
                  <a:off x="4354159" y="4318635"/>
                  <a:ext cx="245181"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Arial"/>
                      <a:ea typeface="Arial"/>
                      <a:cs typeface="Arial"/>
                    </a:rPr>
                    <a:t>OB</a:t>
                  </a:r>
                </a:p>
              </p:txBody>
            </p:sp>
            <p:sp>
              <p:nvSpPr>
                <p:cNvPr id="38" name="TextBox 38"/>
                <p:cNvSpPr txBox="1"/>
                <p:nvPr/>
              </p:nvSpPr>
              <p:spPr>
                <a:xfrm>
                  <a:off x="3988460" y="4451985"/>
                  <a:ext cx="976579" cy="234696"/>
                </a:xfrm>
                <a:prstGeom prst="rect">
                  <a:avLst/>
                </a:prstGeom>
                <a:noFill/>
                <a:ln>
                  <a:noFill/>
                </a:ln>
              </p:spPr>
              <p:txBody>
                <a:bodyPr wrap="none" lIns="0" tIns="0" rIns="0" bIns="0" anchor="t" anchorCtr="0">
                  <a:spAutoFit/>
                </a:bodyPr>
                <a:lstStyle/>
                <a:p>
                  <a:pPr algn="ctr"/>
                  <a:r>
                    <a:rPr lang="en-US" sz="1200" dirty="0">
                      <a:solidFill>
                        <a:srgbClr val="FFFFFF"/>
                      </a:solidFill>
                      <a:latin typeface="Arial"/>
                      <a:ea typeface="Arial"/>
                      <a:cs typeface="Arial"/>
                    </a:rPr>
                    <a:t>WAN/LAN 0%</a:t>
                  </a:r>
                </a:p>
              </p:txBody>
            </p:sp>
          </p:grpSp>
          <p:sp>
            <p:nvSpPr>
              <p:cNvPr id="40" name="Line 40"/>
              <p:cNvSpPr/>
              <p:nvPr/>
            </p:nvSpPr>
            <p:spPr>
              <a:xfrm>
                <a:off x="1524000" y="1238250"/>
                <a:ext cx="9525" cy="3905250"/>
              </a:xfrm>
              <a:custGeom>
                <a:avLst/>
                <a:gdLst/>
                <a:ahLst/>
                <a:cxnLst/>
                <a:rect l="l" t="t" r="r" b="b"/>
                <a:pathLst>
                  <a:path w="9525" h="3905250">
                    <a:moveTo>
                      <a:pt x="0" y="3905250"/>
                    </a:moveTo>
                    <a:lnTo>
                      <a:pt x="0" y="0"/>
                    </a:lnTo>
                  </a:path>
                </a:pathLst>
              </a:custGeom>
              <a:noFill/>
              <a:ln w="19050">
                <a:solidFill>
                  <a:srgbClr val="1D1D1A"/>
                </a:solidFill>
              </a:ln>
            </p:spPr>
          </p:sp>
          <p:sp>
            <p:nvSpPr>
              <p:cNvPr id="41" name="Line 41"/>
              <p:cNvSpPr/>
              <p:nvPr/>
            </p:nvSpPr>
            <p:spPr>
              <a:xfrm>
                <a:off x="1524000" y="5143500"/>
                <a:ext cx="7620000" cy="9525"/>
              </a:xfrm>
              <a:custGeom>
                <a:avLst/>
                <a:gdLst/>
                <a:ahLst/>
                <a:cxnLst/>
                <a:rect l="l" t="t" r="r" b="b"/>
                <a:pathLst>
                  <a:path w="7620000" h="9525">
                    <a:moveTo>
                      <a:pt x="0" y="0"/>
                    </a:moveTo>
                    <a:lnTo>
                      <a:pt x="7620000" y="0"/>
                    </a:lnTo>
                  </a:path>
                </a:pathLst>
              </a:custGeom>
              <a:noFill/>
              <a:ln w="19050">
                <a:solidFill>
                  <a:srgbClr val="1D1D1A"/>
                </a:solidFill>
              </a:ln>
            </p:spPr>
          </p:sp>
          <p:sp>
            <p:nvSpPr>
              <p:cNvPr id="42" name="TextBox 42"/>
              <p:cNvSpPr txBox="1"/>
              <p:nvPr/>
            </p:nvSpPr>
            <p:spPr>
              <a:xfrm>
                <a:off x="1095494" y="1203960"/>
                <a:ext cx="571262" cy="234696"/>
              </a:xfrm>
              <a:prstGeom prst="rect">
                <a:avLst/>
              </a:prstGeom>
              <a:noFill/>
              <a:ln>
                <a:noFill/>
              </a:ln>
            </p:spPr>
            <p:txBody>
              <a:bodyPr wrap="none" lIns="0" tIns="0" rIns="0" bIns="0" anchor="t" anchorCtr="0">
                <a:spAutoFit/>
              </a:bodyPr>
              <a:lstStyle/>
              <a:p>
                <a:pPr algn="ctr"/>
                <a:r>
                  <a:rPr lang="zh-CN" sz="1200" b="1" dirty="0">
                    <a:solidFill>
                      <a:srgbClr val="5A5852"/>
                    </a:solidFill>
                    <a:latin typeface="Arial"/>
                    <a:ea typeface="Microsoft YaHei"/>
                    <a:cs typeface="Arial"/>
                  </a:rPr>
                  <a:t>高 High</a:t>
                </a:r>
              </a:p>
            </p:txBody>
          </p:sp>
          <p:sp>
            <p:nvSpPr>
              <p:cNvPr id="43" name="TextBox 43"/>
              <p:cNvSpPr txBox="1"/>
              <p:nvPr/>
            </p:nvSpPr>
            <p:spPr>
              <a:xfrm>
                <a:off x="1102835" y="5061585"/>
                <a:ext cx="556580" cy="234696"/>
              </a:xfrm>
              <a:prstGeom prst="rect">
                <a:avLst/>
              </a:prstGeom>
              <a:noFill/>
              <a:ln>
                <a:noFill/>
              </a:ln>
            </p:spPr>
            <p:txBody>
              <a:bodyPr wrap="none" lIns="0" tIns="0" rIns="0" bIns="0" anchor="t" anchorCtr="0">
                <a:spAutoFit/>
              </a:bodyPr>
              <a:lstStyle/>
              <a:p>
                <a:pPr algn="ctr"/>
                <a:r>
                  <a:rPr lang="zh-CN" sz="1200" b="1" dirty="0">
                    <a:solidFill>
                      <a:srgbClr val="5A5852"/>
                    </a:solidFill>
                    <a:latin typeface="Arial"/>
                    <a:ea typeface="Microsoft YaHei"/>
                    <a:cs typeface="Arial"/>
                  </a:rPr>
                  <a:t>低 Low</a:t>
                </a:r>
              </a:p>
            </p:txBody>
          </p:sp>
          <p:sp>
            <p:nvSpPr>
              <p:cNvPr id="44" name="TextBox 44"/>
              <p:cNvSpPr txBox="1"/>
              <p:nvPr/>
            </p:nvSpPr>
            <p:spPr>
              <a:xfrm rot="-5400000">
                <a:off x="785470" y="3073527"/>
                <a:ext cx="690677" cy="234696"/>
              </a:xfrm>
              <a:prstGeom prst="rect">
                <a:avLst/>
              </a:prstGeom>
              <a:noFill/>
              <a:ln>
                <a:noFill/>
              </a:ln>
            </p:spPr>
            <p:txBody>
              <a:bodyPr wrap="none" lIns="0" tIns="0" rIns="0" bIns="0" anchor="t" anchorCtr="0">
                <a:spAutoFit/>
              </a:bodyPr>
              <a:lstStyle/>
              <a:p>
                <a:pPr algn="ctr"/>
                <a:r>
                  <a:rPr lang="zh-CN" sz="1200" b="1" dirty="0">
                    <a:solidFill>
                      <a:srgbClr val="1D1D1A"/>
                    </a:solidFill>
                    <a:latin typeface="Arial"/>
                    <a:ea typeface="Microsoft YaHei"/>
                    <a:cs typeface="Arial"/>
                  </a:rPr>
                  <a:t>场景价值</a:t>
                </a:r>
              </a:p>
            </p:txBody>
          </p:sp>
          <p:sp>
            <p:nvSpPr>
              <p:cNvPr id="45" name="TextBox 45"/>
              <p:cNvSpPr txBox="1"/>
              <p:nvPr/>
            </p:nvSpPr>
            <p:spPr>
              <a:xfrm>
                <a:off x="1898904" y="5252085"/>
                <a:ext cx="556580" cy="234696"/>
              </a:xfrm>
              <a:prstGeom prst="rect">
                <a:avLst/>
              </a:prstGeom>
              <a:noFill/>
              <a:ln>
                <a:noFill/>
              </a:ln>
            </p:spPr>
            <p:txBody>
              <a:bodyPr wrap="none" lIns="0" tIns="0" rIns="0" bIns="0" anchor="t" anchorCtr="0">
                <a:spAutoFit/>
              </a:bodyPr>
              <a:lstStyle/>
              <a:p>
                <a:pPr algn="l"/>
                <a:r>
                  <a:rPr lang="zh-CN" sz="1200" b="1" dirty="0">
                    <a:solidFill>
                      <a:srgbClr val="5A5852"/>
                    </a:solidFill>
                    <a:latin typeface="Arial"/>
                    <a:ea typeface="Microsoft YaHei"/>
                    <a:cs typeface="Arial"/>
                  </a:rPr>
                  <a:t>低 Low</a:t>
                </a:r>
              </a:p>
            </p:txBody>
          </p:sp>
          <p:sp>
            <p:nvSpPr>
              <p:cNvPr id="46" name="TextBox 46"/>
              <p:cNvSpPr txBox="1"/>
              <p:nvPr/>
            </p:nvSpPr>
            <p:spPr>
              <a:xfrm>
                <a:off x="8102584" y="5252085"/>
                <a:ext cx="571262" cy="234696"/>
              </a:xfrm>
              <a:prstGeom prst="rect">
                <a:avLst/>
              </a:prstGeom>
              <a:noFill/>
              <a:ln>
                <a:noFill/>
              </a:ln>
            </p:spPr>
            <p:txBody>
              <a:bodyPr wrap="none" lIns="0" tIns="0" rIns="0" bIns="0" anchor="t" anchorCtr="0">
                <a:spAutoFit/>
              </a:bodyPr>
              <a:lstStyle/>
              <a:p>
                <a:pPr algn="r"/>
                <a:r>
                  <a:rPr lang="zh-CN" sz="1200" b="1" dirty="0">
                    <a:solidFill>
                      <a:srgbClr val="5A5852"/>
                    </a:solidFill>
                    <a:latin typeface="Arial"/>
                    <a:ea typeface="Microsoft YaHei"/>
                    <a:cs typeface="Arial"/>
                  </a:rPr>
                  <a:t>高 High</a:t>
                </a:r>
              </a:p>
            </p:txBody>
          </p:sp>
          <p:sp>
            <p:nvSpPr>
              <p:cNvPr id="47" name="TextBox 47"/>
              <p:cNvSpPr txBox="1"/>
              <p:nvPr/>
            </p:nvSpPr>
            <p:spPr>
              <a:xfrm>
                <a:off x="5131537" y="5490210"/>
                <a:ext cx="690677" cy="234696"/>
              </a:xfrm>
              <a:prstGeom prst="rect">
                <a:avLst/>
              </a:prstGeom>
              <a:noFill/>
              <a:ln>
                <a:noFill/>
              </a:ln>
            </p:spPr>
            <p:txBody>
              <a:bodyPr wrap="none" lIns="0" tIns="0" rIns="0" bIns="0" anchor="t" anchorCtr="0">
                <a:spAutoFit/>
              </a:bodyPr>
              <a:lstStyle/>
              <a:p>
                <a:pPr algn="ctr"/>
                <a:r>
                  <a:rPr lang="zh-CN" sz="1200" b="1" dirty="0">
                    <a:solidFill>
                      <a:srgbClr val="1D1D1A"/>
                    </a:solidFill>
                    <a:latin typeface="Arial"/>
                    <a:ea typeface="Microsoft YaHei"/>
                    <a:cs typeface="Arial"/>
                  </a:rPr>
                  <a:t>销售空间</a:t>
                </a:r>
              </a:p>
            </p:txBody>
          </p:sp>
        </p:grpSp>
      </p:grpSp>
      <p:grpSp>
        <p:nvGrpSpPr>
          <p:cNvPr id="58" name="Group 58"/>
          <p:cNvGrpSpPr/>
          <p:nvPr/>
        </p:nvGrpSpPr>
        <p:grpSpPr>
          <a:xfrm>
            <a:off x="9429750" y="1428750"/>
            <a:ext cx="2000250" cy="3810000"/>
            <a:chOff x="9429750" y="1428750"/>
            <a:chExt cx="2000250" cy="3810000"/>
          </a:xfrm>
        </p:grpSpPr>
        <p:sp>
          <p:nvSpPr>
            <p:cNvPr id="50" name="Rectangle 50"/>
            <p:cNvSpPr/>
            <p:nvPr/>
          </p:nvSpPr>
          <p:spPr>
            <a:xfrm>
              <a:off x="9429750" y="1428750"/>
              <a:ext cx="2000250" cy="3810000"/>
            </a:xfrm>
            <a:prstGeom prst="roundRect">
              <a:avLst>
                <a:gd name="adj" fmla="val 3810"/>
              </a:avLst>
            </a:prstGeom>
            <a:solidFill>
              <a:srgbClr val="F4A100">
                <a:alpha val="12000"/>
              </a:srgbClr>
            </a:solidFill>
            <a:ln>
              <a:noFill/>
            </a:ln>
          </p:spPr>
        </p:sp>
        <p:grpSp>
          <p:nvGrpSpPr>
            <p:cNvPr id="54" name="Group 54"/>
            <p:cNvGrpSpPr/>
            <p:nvPr/>
          </p:nvGrpSpPr>
          <p:grpSpPr>
            <a:xfrm>
              <a:off x="9682162" y="1662112"/>
              <a:ext cx="257175" cy="257175"/>
              <a:chOff x="9682162" y="1662112"/>
              <a:chExt cx="257175" cy="257175"/>
            </a:xfrm>
          </p:grpSpPr>
          <p:sp>
            <p:nvSpPr>
              <p:cNvPr id="51" name="Freeform 51"/>
              <p:cNvSpPr/>
              <p:nvPr/>
            </p:nvSpPr>
            <p:spPr>
              <a:xfrm>
                <a:off x="9796462" y="1776412"/>
                <a:ext cx="28575" cy="28575"/>
              </a:xfrm>
              <a:custGeom>
                <a:avLst/>
                <a:gdLst/>
                <a:ahLst/>
                <a:cxnLst/>
                <a:rect l="l" t="t" r="r" b="b"/>
                <a:pathLst>
                  <a:path w="28575" h="28575">
                    <a:moveTo>
                      <a:pt x="0" y="14288"/>
                    </a:moveTo>
                    <a:cubicBezTo>
                      <a:pt x="0" y="22178"/>
                      <a:pt x="6397" y="28575"/>
                      <a:pt x="14288" y="28575"/>
                    </a:cubicBezTo>
                    <a:cubicBezTo>
                      <a:pt x="22178" y="28575"/>
                      <a:pt x="28575" y="22178"/>
                      <a:pt x="28575" y="14288"/>
                    </a:cubicBezTo>
                    <a:cubicBezTo>
                      <a:pt x="28575" y="6397"/>
                      <a:pt x="22178" y="0"/>
                      <a:pt x="14288" y="0"/>
                    </a:cubicBezTo>
                    <a:cubicBezTo>
                      <a:pt x="6397" y="0"/>
                      <a:pt x="0" y="6397"/>
                      <a:pt x="0" y="14288"/>
                    </a:cubicBezTo>
                  </a:path>
                </a:pathLst>
              </a:custGeom>
              <a:noFill/>
              <a:ln w="19050">
                <a:solidFill>
                  <a:srgbClr val="F4A100"/>
                </a:solidFill>
              </a:ln>
            </p:spPr>
          </p:sp>
          <p:sp>
            <p:nvSpPr>
              <p:cNvPr id="52" name="Freeform 52"/>
              <p:cNvSpPr/>
              <p:nvPr/>
            </p:nvSpPr>
            <p:spPr>
              <a:xfrm>
                <a:off x="9739312" y="1719262"/>
                <a:ext cx="142875" cy="142875"/>
              </a:xfrm>
              <a:custGeom>
                <a:avLst/>
                <a:gdLst/>
                <a:ahLst/>
                <a:cxnLst/>
                <a:rect l="l" t="t" r="r" b="b"/>
                <a:pathLst>
                  <a:path w="142875" h="142875">
                    <a:moveTo>
                      <a:pt x="0" y="71438"/>
                    </a:moveTo>
                    <a:cubicBezTo>
                      <a:pt x="0" y="110891"/>
                      <a:pt x="31984" y="142875"/>
                      <a:pt x="71438" y="142875"/>
                    </a:cubicBezTo>
                    <a:cubicBezTo>
                      <a:pt x="110891" y="142875"/>
                      <a:pt x="142875" y="110891"/>
                      <a:pt x="142875" y="71438"/>
                    </a:cubicBezTo>
                    <a:cubicBezTo>
                      <a:pt x="142875" y="31984"/>
                      <a:pt x="110891" y="0"/>
                      <a:pt x="71438" y="0"/>
                    </a:cubicBezTo>
                    <a:cubicBezTo>
                      <a:pt x="31984" y="0"/>
                      <a:pt x="0" y="31984"/>
                      <a:pt x="0" y="71438"/>
                    </a:cubicBezTo>
                  </a:path>
                </a:pathLst>
              </a:custGeom>
              <a:noFill/>
              <a:ln w="19050">
                <a:solidFill>
                  <a:srgbClr val="F4A100"/>
                </a:solidFill>
              </a:ln>
            </p:spPr>
          </p:sp>
          <p:sp>
            <p:nvSpPr>
              <p:cNvPr id="53" name="Freeform 53"/>
              <p:cNvSpPr/>
              <p:nvPr/>
            </p:nvSpPr>
            <p:spPr>
              <a:xfrm>
                <a:off x="9682162" y="1662112"/>
                <a:ext cx="257175" cy="257175"/>
              </a:xfrm>
              <a:custGeom>
                <a:avLst/>
                <a:gdLst/>
                <a:ahLst/>
                <a:cxnLst/>
                <a:rect l="l" t="t" r="r" b="b"/>
                <a:pathLst>
                  <a:path w="257175" h="257175">
                    <a:moveTo>
                      <a:pt x="0" y="128588"/>
                    </a:moveTo>
                    <a:cubicBezTo>
                      <a:pt x="0" y="199604"/>
                      <a:pt x="57571" y="257175"/>
                      <a:pt x="128588" y="257175"/>
                    </a:cubicBezTo>
                    <a:cubicBezTo>
                      <a:pt x="199604" y="257175"/>
                      <a:pt x="257175" y="199604"/>
                      <a:pt x="257175" y="128588"/>
                    </a:cubicBezTo>
                    <a:cubicBezTo>
                      <a:pt x="257175" y="57571"/>
                      <a:pt x="199604" y="0"/>
                      <a:pt x="128588" y="0"/>
                    </a:cubicBezTo>
                    <a:cubicBezTo>
                      <a:pt x="57571" y="0"/>
                      <a:pt x="0" y="57571"/>
                      <a:pt x="0" y="128588"/>
                    </a:cubicBezTo>
                  </a:path>
                </a:pathLst>
              </a:custGeom>
              <a:noFill/>
              <a:ln w="19050">
                <a:solidFill>
                  <a:srgbClr val="F4A100"/>
                </a:solidFill>
              </a:ln>
            </p:spPr>
          </p:sp>
        </p:grpSp>
        <p:sp>
          <p:nvSpPr>
            <p:cNvPr id="55" name="TextBox 55"/>
            <p:cNvSpPr txBox="1"/>
            <p:nvPr/>
          </p:nvSpPr>
          <p:spPr>
            <a:xfrm>
              <a:off x="9632442" y="2140268"/>
              <a:ext cx="1201864" cy="759333"/>
            </a:xfrm>
            <a:prstGeom prst="rect">
              <a:avLst/>
            </a:prstGeom>
            <a:noFill/>
            <a:ln>
              <a:noFill/>
            </a:ln>
          </p:spPr>
          <p:txBody>
            <a:bodyPr wrap="square" lIns="0" tIns="0" rIns="0" bIns="0" anchor="t" anchorCtr="0"/>
            <a:lstStyle/>
            <a:p>
              <a:pPr algn="l">
                <a:lnSpc>
                  <a:spcPts val="1950"/>
                </a:lnSpc>
              </a:pPr>
              <a:r>
                <a:rPr lang="zh-CN" sz="1350" b="1" dirty="0">
                  <a:solidFill>
                    <a:srgbClr val="1D1D1A"/>
                  </a:solidFill>
                  <a:latin typeface="Arial"/>
                  <a:ea typeface="Microsoft YaHei"/>
                  <a:cs typeface="Arial"/>
                </a:rPr>
                <a:t>OMEA是华为核</a:t>
              </a:r>
              <a:r>
                <a:rPr lang="zh-CN" sz="1350" b="1" dirty="0">
                  <a:solidFill>
                    <a:srgbClr val="1D1D1A"/>
                  </a:solidFill>
                  <a:latin typeface="Arial"/>
                  <a:ea typeface="Microsoft YaHei"/>
                  <a:cs typeface="Arial"/>
                </a:rPr>
                <a:t>心阵地与增长</a:t>
              </a:r>
              <a:r>
                <a:rPr lang="zh-CN" sz="1350" b="1" dirty="0">
                  <a:solidFill>
                    <a:srgbClr val="1D1D1A"/>
                  </a:solidFill>
                  <a:latin typeface="Arial"/>
                  <a:ea typeface="Microsoft YaHei"/>
                  <a:cs typeface="Arial"/>
                </a:rPr>
                <a:t>引擎</a:t>
              </a:r>
            </a:p>
          </p:txBody>
        </p:sp>
        <p:sp>
          <p:nvSpPr>
            <p:cNvPr id="56" name="TextBox 56"/>
            <p:cNvSpPr txBox="1"/>
            <p:nvPr/>
          </p:nvSpPr>
          <p:spPr>
            <a:xfrm>
              <a:off x="9633204" y="3108960"/>
              <a:ext cx="1056132" cy="444246"/>
            </a:xfrm>
            <a:prstGeom prst="rect">
              <a:avLst/>
            </a:prstGeom>
            <a:noFill/>
            <a:ln>
              <a:noFill/>
            </a:ln>
          </p:spPr>
          <p:txBody>
            <a:bodyPr wrap="square" lIns="0" tIns="0" rIns="0" bIns="0" anchor="t" anchorCtr="0"/>
            <a:lstStyle/>
            <a:p>
              <a:pPr algn="l">
                <a:lnSpc>
                  <a:spcPts val="1650"/>
                </a:lnSpc>
              </a:pPr>
              <a:r>
                <a:rPr lang="zh-CN" sz="1200" dirty="0">
                  <a:solidFill>
                    <a:srgbClr val="5A5852"/>
                  </a:solidFill>
                  <a:latin typeface="Arial"/>
                  <a:ea typeface="Microsoft YaHei"/>
                  <a:cs typeface="Arial"/>
                </a:rPr>
                <a:t>OEU是法律强制</a:t>
              </a:r>
              <a:r>
                <a:rPr lang="zh-CN" sz="1200" dirty="0">
                  <a:solidFill>
                    <a:srgbClr val="5A5852"/>
                  </a:solidFill>
                  <a:latin typeface="Arial"/>
                  <a:ea typeface="Microsoft YaHei"/>
                  <a:cs typeface="Arial"/>
                </a:rPr>
                <a:t>退出的收缩区</a:t>
              </a:r>
            </a:p>
          </p:txBody>
        </p:sp>
        <p:sp>
          <p:nvSpPr>
            <p:cNvPr id="57" name="TextBox 57"/>
            <p:cNvSpPr txBox="1"/>
            <p:nvPr/>
          </p:nvSpPr>
          <p:spPr>
            <a:xfrm>
              <a:off x="9633204" y="3775710"/>
              <a:ext cx="972312" cy="444246"/>
            </a:xfrm>
            <a:prstGeom prst="rect">
              <a:avLst/>
            </a:prstGeom>
            <a:noFill/>
            <a:ln>
              <a:noFill/>
            </a:ln>
          </p:spPr>
          <p:txBody>
            <a:bodyPr wrap="square" lIns="0" tIns="0" rIns="0" bIns="0" anchor="t" anchorCtr="0"/>
            <a:lstStyle/>
            <a:p>
              <a:pPr algn="l">
                <a:lnSpc>
                  <a:spcPts val="1650"/>
                </a:lnSpc>
              </a:pPr>
              <a:r>
                <a:rPr lang="zh-CN" sz="1200" dirty="0">
                  <a:solidFill>
                    <a:srgbClr val="5A5852"/>
                  </a:solidFill>
                  <a:latin typeface="Arial"/>
                  <a:ea typeface="Microsoft YaHei"/>
                  <a:cs typeface="Arial"/>
                </a:rPr>
                <a:t>OB是生态位竞</a:t>
              </a:r>
              <a:r>
                <a:rPr lang="zh-CN" sz="1200" dirty="0">
                  <a:solidFill>
                    <a:srgbClr val="5A5852"/>
                  </a:solidFill>
                  <a:latin typeface="Arial"/>
                  <a:ea typeface="Microsoft YaHei"/>
                  <a:cs typeface="Arial"/>
                </a:rPr>
                <a:t>争排除区</a:t>
              </a:r>
            </a:p>
          </p:txBody>
        </p:sp>
      </p:grpSp>
      <p:grpSp>
        <p:nvGrpSpPr>
          <p:cNvPr id="61" name="Group 61"/>
          <p:cNvGrpSpPr/>
          <p:nvPr/>
        </p:nvGrpSpPr>
        <p:grpSpPr>
          <a:xfrm>
            <a:off x="755904" y="6490335"/>
            <a:ext cx="10680192" cy="234696"/>
            <a:chOff x="755904" y="6490335"/>
            <a:chExt cx="10680192" cy="234696"/>
          </a:xfrm>
        </p:grpSpPr>
        <p:sp>
          <p:nvSpPr>
            <p:cNvPr id="59" name="TextBox 59"/>
            <p:cNvSpPr txBox="1"/>
            <p:nvPr/>
          </p:nvSpPr>
          <p:spPr>
            <a:xfrm>
              <a:off x="755904" y="6490335"/>
              <a:ext cx="2435352" cy="234696"/>
            </a:xfrm>
            <a:prstGeom prst="rect">
              <a:avLst/>
            </a:prstGeom>
            <a:noFill/>
            <a:ln>
              <a:noFill/>
            </a:ln>
          </p:spPr>
          <p:txBody>
            <a:bodyPr wrap="none" lIns="0" tIns="0" rIns="0" bIns="0" anchor="t" anchorCtr="0">
              <a:spAutoFit/>
            </a:bodyPr>
            <a:lstStyle/>
            <a:p>
              <a:pPr algn="l"/>
              <a:r>
                <a:rPr lang="zh-CN" sz="1200" dirty="0">
                  <a:solidFill>
                    <a:srgbClr val="8A8880"/>
                  </a:solidFill>
                  <a:latin typeface="Arial"/>
                  <a:ea typeface="Microsoft YaHei"/>
                  <a:cs typeface="Arial"/>
                </a:rPr>
                <a:t>数据来源：本报告各章节综合研判</a:t>
              </a:r>
            </a:p>
          </p:txBody>
        </p:sp>
        <p:sp>
          <p:nvSpPr>
            <p:cNvPr id="60" name="TextBox 60"/>
            <p:cNvSpPr txBox="1"/>
            <p:nvPr/>
          </p:nvSpPr>
          <p:spPr>
            <a:xfrm>
              <a:off x="9530080" y="6490335"/>
              <a:ext cx="1906016" cy="234696"/>
            </a:xfrm>
            <a:prstGeom prst="rect">
              <a:avLst/>
            </a:prstGeom>
            <a:noFill/>
            <a:ln>
              <a:noFill/>
            </a:ln>
          </p:spPr>
          <p:txBody>
            <a:bodyPr wrap="none" lIns="0" tIns="0" rIns="0" bIns="0" anchor="t" anchorCtr="0">
              <a:spAutoFit/>
            </a:bodyPr>
            <a:lstStyle/>
            <a:p>
              <a:pPr algn="r"/>
              <a:r>
                <a:rPr lang="en-US" sz="1200" dirty="0">
                  <a:solidFill>
                    <a:srgbClr val="8A8880"/>
                  </a:solidFill>
                  <a:latin typeface="Arial"/>
                  <a:ea typeface="Arial"/>
                  <a:cs typeface="Arial"/>
                </a:rPr>
                <a:t>16 · Huawei Confidential</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16</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2026-07-04T15:34:30Z</dcterms:created>
  <dcterms:modified xsi:type="dcterms:W3CDTF">2026-07-04T15:34:30Z</dcterms:modified>
  <cp:category/>
  <cp:contentStatus/>
</cp:coreProperties>
</file>