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  <Relationship Id="rId23"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p:txBody>
          <a:bodyPr/>
          <a:lstStyle/>
          <a:p>
            <a:endParaRPr lang="en-US"/>
          </a:p>
        </p:txBody>
      </p:sp>
      <p:sp>
        <p:nvSpPr>
          <p:cNvPr id="3" name="Date Placeholder 2"/>
          <p:cNvSpPr>
            <a:spLocks noGrp="1"/>
          </p:cNvSpPr>
          <p:nvPr>
            <p:ph type="dt" sz="half" idx="1"/>
          </p:nvPr>
        </p:nvSpPr>
        <p:spPr/>
        <p:txBody>
          <a:bodyPr/>
          <a:lstStyle/>
          <a:p>
            <a:endParaRPr lang="en-US"/>
          </a:p>
        </p:txBody>
      </p:sp>
      <p:sp>
        <p:nvSpPr>
          <p:cNvPr id="4" name="Slide Image Placeholder 3"/>
          <p:cNvSpPr>
            <a:spLocks noGrp="1" noRot="1" noChangeAspect="1"/>
          </p:cNvSpPr>
          <p:nvPr>
            <p:ph type="sldImg" idx="2"/>
          </p:nvPr>
        </p:nvSpPr>
        <p:spPr/>
      </p:sp>
      <p:sp>
        <p:nvSpPr>
          <p:cNvPr id="5" name="Notes Placeholder 4"/>
          <p:cNvSpPr>
            <a:spLocks noGrp="1"/>
          </p:cNvSpPr>
          <p:nvPr>
            <p:ph type="body" sz="quarter" idx="3"/>
          </p:nvPr>
        </p:nvSpPr>
        <p:spPr/>
        <p:txBody>
          <a:bodyPr/>
          <a:lstStyle/>
          <a:p>
            <a:endParaRPr lang="en-US"/>
          </a:p>
        </p:txBody>
      </p:sp>
      <p:sp>
        <p:nvSpPr>
          <p:cNvPr id="6" name="Footer Placeholder 5"/>
          <p:cNvSpPr>
            <a:spLocks noGrp="1"/>
          </p:cNvSpPr>
          <p:nvPr>
            <p:ph type="ftr" sz="quarter" idx="4"/>
          </p:nvPr>
        </p:nvSpPr>
        <p:spPr/>
        <p:txBody>
          <a:bodyPr/>
          <a:lstStyle/>
          <a:p>
            <a:endParaRPr lang="en-US"/>
          </a:p>
        </p:txBody>
      </p:sp>
      <p:sp>
        <p:nvSpPr>
          <p:cNvPr id="7" name="Slide Number Placeholder 6"/>
          <p:cNvSpPr>
            <a:spLocks noGrp="1"/>
          </p:cNvSpPr>
          <p:nvPr>
            <p:ph type="sldNum" sz="quarter" idx="5"/>
          </p:nvPr>
        </p:nvSpPr>
        <p:spPr/>
        <p:txBody>
          <a:bodyPr/>
          <a:lstStyle/>
          <a:p>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欢迎各位。这份材料是对Orange集团三大B2B区域业务——OB、OEU和OMEA——的横向对比洞察，核心目的是回答一个问题：华为在这三个区域中的参与空间到底有什么不同。接下来的十六页，会从收入结构、商业模式、五大产品维度、华为参与视角、以及最终的价值场景建议，逐层拆解这三种截然不同的现实。</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三个区域合计约四十七亿欧元的B2B收入，但体量最大的OB恰恰是华为参与度最低的市场，体量最小的OMEA反而是华为深度绑定的核心阵地。OB是法国总部加全球大客户业务，财年收入七十三亿欧元但同比下滑百分之四点八；OEU覆盖比利时、波兰、罗马尼亚等欧洲国家加西班牙，合计约二十七亿欧元，多为估算；OMEA是中东与非洲，规模最小但增长最快，二零三零年目标要翻到二十亿欧元。这就是接下来所有分析的起点。</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客户结构上，三个区域走的是完全不同的路。OB以大企业和跨国客户为主，占比超过一半；而OMEA最值得关注的问题是，SOHO客户数量在增长，但每户平均收入却下降了百分之十九——这是一个增量不增值的结构性矛盾，也是OMEA接下来必须解决的短板。</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行业打法上，OB深耕金融、国防、医疗这些成熟垂直行业，走的是存量深耕的逻辑；OEU的波兰通过并购构建IT集成能力，是能力建设逻辑；OMEA则完全不同，矿业和港口的基础设施项目是打开增长的钥匙，这也正是华为参与度最高的行业切入点。</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从产品组合看，OB已经是一个连接、安全、云、数字化办公、数据智能全谱系的DICT服务商，连接收入占比已经降到百分之三十七；OMEA则还处在以连接为基座的阶段，ICT只占百分之八点三，但增速高达百分之二十八，是三个区域中弹性最大的市场。</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再看两种商业模式——管理服务和集成转售的收入结构。OB的管理服务占比约七成三，OMEA的管理服务占比更高，达到百分之九十一点七，但集成转售的目标是从百分之八点三提升到二零二八年的三亿零一百万欧元，这正是OMEA下一步要重点突破的方向。</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进入五个标准产品维度的第一个——WAN连接。这是三个区域共同的营收支柱，但华为的准入现实完全不同。OB的连接市场里，华为基本看不见踪影；OEU由于波兰和罗马尼亚的法律禁令，华为被完全排除；只有在OMEA，凭借矿业和港口的移动专网案例，华为才和诺基亚并列成为主力供应商。</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LAN管理服务是本次调研数据最薄弱的一个维度。除了OB有相对完整的信息之外，OEU和OMEA我们都诚实地标注为数据待补充，不做过度推断——这也提醒我们，这个维度值得后续做定向调研补齐。</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云服务是华为在这份材料里最深的一个存量锚点。OB和OMEA共用同一套Flexible Engine云技术底座，但两者的呈现方式完全不同——在OB，它是一项看不见的底层技术；而在OMEA，华为的AUTIN智能运维系统直接部署在这套云平台之上，支撑达喀尔和阿比让的联合运维中心，从幕后走到了台前。</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安全托管服务上，三个区域各有各的打法。OB是Orange Cyberdefense的自营主场，年收入十三亿欧元；OEU通过罗马尼亚的SCUT合资公司切入；OMEA的安全能力还在G3加速计划里孵化，独立的收入数据目前还拿不到，但ICT整体百分之二十八的增速说明这个方向值得持续跟踪。</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项目集成与转售领域，波兰走出了一条和OB相似的路——通过并购构建集成能力。而在OMEA，矿业和港口的移动专网集成项目里，华为再次和诺基亚并列成为主力供应商，这与OB和OEU完全排除华为的局面形成鲜明对比。</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这一页是本次调研新增的维度，也是最重要的发现。移动专网在原始材料里并不存在，但OMEA的资料显示，这恰恰是华为参与度最高的场景——在矿业和港口的实际案例里，华为和诺基亚的供应商份额几乎并驾齐驱。这个维度值得作为对OB和OEU寻找突破口的重要参考。</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现在从华为视角逐区域复盘。OB是一个生态位竞争排除区——法国的WAN、LAN、安全目录里基本看不到华为的身影，这是市场化竞争的结果，而不是行政禁令。华为唯一的存量锚点，是那套看不见的Flexible Engine云栈底层技术。</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OEU是三个区域里对华为最不友好的法律环境。波兰在二零二四年十一月设立了高风险供应商认定机制，罗马尼亚早在二零二一年六月就通过法律正式禁止华为，目前正在把存量设备替换为爱立信。这是国家安全立法加对美协议共同作用的结果，几乎没有回旋余地。</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OMEA是华为在Orange集团B2B业务里真正的核心阵地。从RAN到云运维的全栈深度绑定——华为占据非洲百分之七十的四G骨干网份额，联合部署了两千个乡村基站，AUTIN运维系统直接跑在Orange自己的云平台上，双方还共建了达喀尔和阿比让的联合运维中心。这是本次调研里，华为叙事最强的一页。</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最后，把三个区域的业务模块放进同一张销售空间和场景价值的矩阵里看。OMEA的移动专网和云运维协同，毫无疑问是肥肉区；OB的WAN和LAN是骨头区；OEU的罗马尼亚和波兰WAN-RAN也因为法律排除落入骨头区。今天的核心结论只有一句话——资源应该向OMEA倾斜，尤其是移动专网和云运维协同这两个场景，这是华为在Orange集团B2B业务里最值得投入的方向。谢谢大家。</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6.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9" name="Group 9"/>
          <p:cNvGrpSpPr/>
          <p:nvPr/>
        </p:nvGrpSpPr>
        <p:grpSpPr>
          <a:xfrm>
            <a:off x="8191500" y="0"/>
            <a:ext cx="4000500" cy="6858000"/>
            <a:chOff x="8191500" y="0"/>
            <a:chExt cx="4000500" cy="6858000"/>
          </a:xfrm>
        </p:grpSpPr>
        <p:sp>
          <p:nvSpPr>
            <p:cNvPr id="3" name="Rectangle 3"/>
            <p:cNvSpPr/>
            <p:nvPr/>
          </p:nvSpPr>
          <p:spPr>
            <a:xfrm>
              <a:off x="8191500" y="0"/>
              <a:ext cx="1333500" cy="6858000"/>
            </a:xfrm>
            <a:prstGeom prst="rect">
              <a:avLst/>
            </a:prstGeom>
            <a:solidFill>
              <a:srgbClr val="B85C00"/>
            </a:solidFill>
            <a:ln>
              <a:noFill/>
            </a:ln>
          </p:spPr>
        </p:sp>
        <p:sp>
          <p:nvSpPr>
            <p:cNvPr id="4" name="Rectangle 4"/>
            <p:cNvSpPr/>
            <p:nvPr/>
          </p:nvSpPr>
          <p:spPr>
            <a:xfrm>
              <a:off x="9525000" y="0"/>
              <a:ext cx="1333500" cy="6858000"/>
            </a:xfrm>
            <a:prstGeom prst="rect">
              <a:avLst/>
            </a:prstGeom>
            <a:solidFill>
              <a:srgbClr val="FF7900"/>
            </a:solidFill>
            <a:ln>
              <a:noFill/>
            </a:ln>
          </p:spPr>
        </p:sp>
        <p:sp>
          <p:nvSpPr>
            <p:cNvPr id="5" name="Rectangle 5"/>
            <p:cNvSpPr/>
            <p:nvPr/>
          </p:nvSpPr>
          <p:spPr>
            <a:xfrm>
              <a:off x="10858500" y="0"/>
              <a:ext cx="1333500" cy="6858000"/>
            </a:xfrm>
            <a:prstGeom prst="rect">
              <a:avLst/>
            </a:prstGeom>
            <a:solidFill>
              <a:srgbClr val="FFA640"/>
            </a:solidFill>
            <a:ln>
              <a:noFill/>
            </a:ln>
          </p:spPr>
        </p:sp>
        <p:sp>
          <p:nvSpPr>
            <p:cNvPr id="6" name="TextBox 6"/>
            <p:cNvSpPr txBox="1"/>
            <p:nvPr/>
          </p:nvSpPr>
          <p:spPr>
            <a:xfrm>
              <a:off x="8705012" y="6124575"/>
              <a:ext cx="306476" cy="293370"/>
            </a:xfrm>
            <a:prstGeom prst="rect">
              <a:avLst/>
            </a:prstGeom>
            <a:noFill/>
            <a:ln>
              <a:noFill/>
            </a:ln>
          </p:spPr>
          <p:txBody>
            <a:bodyPr wrap="none" lIns="0" tIns="0" rIns="0" bIns="0" anchor="t" anchorCtr="0">
              <a:spAutoFit/>
            </a:bodyPr>
            <a:lstStyle/>
            <a:p>
              <a:pPr algn="ctr"/>
              <a:r>
                <a:rPr lang="en-US" sz="1500" b="1" dirty="0">
                  <a:solidFill>
                    <a:srgbClr val="FFFFFF"/>
                  </a:solidFill>
                  <a:latin typeface="Arial"/>
                  <a:ea typeface="Arial"/>
                  <a:cs typeface="Arial"/>
                </a:rPr>
                <a:t>OB</a:t>
              </a:r>
            </a:p>
          </p:txBody>
        </p:sp>
        <p:sp>
          <p:nvSpPr>
            <p:cNvPr id="7" name="TextBox 7"/>
            <p:cNvSpPr txBox="1"/>
            <p:nvPr/>
          </p:nvSpPr>
          <p:spPr>
            <a:xfrm>
              <a:off x="9976904" y="6124575"/>
              <a:ext cx="429692" cy="293370"/>
            </a:xfrm>
            <a:prstGeom prst="rect">
              <a:avLst/>
            </a:prstGeom>
            <a:noFill/>
            <a:ln>
              <a:noFill/>
            </a:ln>
          </p:spPr>
          <p:txBody>
            <a:bodyPr wrap="none" lIns="0" tIns="0" rIns="0" bIns="0" anchor="t" anchorCtr="0">
              <a:spAutoFit/>
            </a:bodyPr>
            <a:lstStyle/>
            <a:p>
              <a:pPr algn="ctr"/>
              <a:r>
                <a:rPr lang="en-US" sz="1500" b="1" dirty="0">
                  <a:solidFill>
                    <a:srgbClr val="FFFFFF"/>
                  </a:solidFill>
                  <a:latin typeface="Arial"/>
                  <a:ea typeface="Arial"/>
                  <a:cs typeface="Arial"/>
                </a:rPr>
                <a:t>OEU</a:t>
              </a:r>
            </a:p>
          </p:txBody>
        </p:sp>
        <p:sp>
          <p:nvSpPr>
            <p:cNvPr id="8" name="TextBox 8"/>
            <p:cNvSpPr txBox="1"/>
            <p:nvPr/>
          </p:nvSpPr>
          <p:spPr>
            <a:xfrm>
              <a:off x="11226394" y="6124575"/>
              <a:ext cx="597713" cy="293370"/>
            </a:xfrm>
            <a:prstGeom prst="rect">
              <a:avLst/>
            </a:prstGeom>
            <a:noFill/>
            <a:ln>
              <a:noFill/>
            </a:ln>
          </p:spPr>
          <p:txBody>
            <a:bodyPr wrap="none" lIns="0" tIns="0" rIns="0" bIns="0" anchor="t" anchorCtr="0">
              <a:spAutoFit/>
            </a:bodyPr>
            <a:lstStyle/>
            <a:p>
              <a:pPr algn="ctr"/>
              <a:r>
                <a:rPr lang="en-US" sz="1500" b="1" dirty="0">
                  <a:solidFill>
                    <a:srgbClr val="FFFFFF"/>
                  </a:solidFill>
                  <a:latin typeface="Arial"/>
                  <a:ea typeface="Arial"/>
                  <a:cs typeface="Arial"/>
                </a:rPr>
                <a:t>OMEA</a:t>
              </a:r>
            </a:p>
          </p:txBody>
        </p:sp>
      </p:grpSp>
      <p:grpSp>
        <p:nvGrpSpPr>
          <p:cNvPr id="16" name="Group 16"/>
          <p:cNvGrpSpPr/>
          <p:nvPr/>
        </p:nvGrpSpPr>
        <p:grpSpPr>
          <a:xfrm>
            <a:off x="533400" y="2274570"/>
            <a:ext cx="8391677" cy="2653855"/>
            <a:chOff x="533400" y="2274570"/>
            <a:chExt cx="8391677" cy="2653855"/>
          </a:xfrm>
        </p:grpSpPr>
        <p:sp>
          <p:nvSpPr>
            <p:cNvPr id="10" name="Rectangle 10"/>
            <p:cNvSpPr/>
            <p:nvPr/>
          </p:nvSpPr>
          <p:spPr>
            <a:xfrm>
              <a:off x="533400" y="2362200"/>
              <a:ext cx="76200" cy="1428750"/>
            </a:xfrm>
            <a:prstGeom prst="rect">
              <a:avLst/>
            </a:prstGeom>
            <a:solidFill>
              <a:srgbClr val="FF7900"/>
            </a:solidFill>
            <a:ln>
              <a:noFill/>
            </a:ln>
          </p:spPr>
        </p:sp>
        <p:sp>
          <p:nvSpPr>
            <p:cNvPr id="11" name="TextBox 11"/>
            <p:cNvSpPr txBox="1"/>
            <p:nvPr/>
          </p:nvSpPr>
          <p:spPr>
            <a:xfrm>
              <a:off x="819150" y="2274570"/>
              <a:ext cx="5611507" cy="1047750"/>
            </a:xfrm>
            <a:prstGeom prst="rect">
              <a:avLst/>
            </a:prstGeom>
            <a:noFill/>
            <a:ln>
              <a:noFill/>
            </a:ln>
          </p:spPr>
          <p:txBody>
            <a:bodyPr wrap="none" lIns="0" tIns="0" rIns="0" bIns="0" anchor="t" anchorCtr="0">
              <a:spAutoFit/>
            </a:bodyPr>
            <a:lstStyle/>
            <a:p>
              <a:pPr algn="l"/>
              <a:r>
                <a:rPr lang="zh-CN" sz="5400" b="1" dirty="0">
                  <a:solidFill>
                    <a:srgbClr val="1A1A1A"/>
                  </a:solidFill>
                  <a:latin typeface="Arial"/>
                  <a:ea typeface="Microsoft YaHei"/>
                  <a:cs typeface="Arial"/>
                </a:rPr>
                <a:t>Orange集团B2B</a:t>
              </a:r>
            </a:p>
          </p:txBody>
        </p:sp>
        <p:sp>
          <p:nvSpPr>
            <p:cNvPr id="12" name="TextBox 12"/>
            <p:cNvSpPr txBox="1"/>
            <p:nvPr/>
          </p:nvSpPr>
          <p:spPr>
            <a:xfrm>
              <a:off x="819150" y="3036570"/>
              <a:ext cx="6144463" cy="1047750"/>
            </a:xfrm>
            <a:prstGeom prst="rect">
              <a:avLst/>
            </a:prstGeom>
            <a:noFill/>
            <a:ln>
              <a:noFill/>
            </a:ln>
          </p:spPr>
          <p:txBody>
            <a:bodyPr wrap="none" lIns="0" tIns="0" rIns="0" bIns="0" anchor="t" anchorCtr="0">
              <a:spAutoFit/>
            </a:bodyPr>
            <a:lstStyle/>
            <a:p>
              <a:pPr algn="l"/>
              <a:r>
                <a:rPr lang="zh-CN" sz="5400" b="1" dirty="0">
                  <a:solidFill>
                    <a:srgbClr val="1A1A1A"/>
                  </a:solidFill>
                  <a:latin typeface="Arial"/>
                  <a:ea typeface="Microsoft YaHei"/>
                  <a:cs typeface="Arial"/>
                </a:rPr>
                <a:t>三大区域业务洞察</a:t>
              </a:r>
            </a:p>
          </p:txBody>
        </p:sp>
        <p:sp>
          <p:nvSpPr>
            <p:cNvPr id="13" name="TextBox 13"/>
            <p:cNvSpPr txBox="1"/>
            <p:nvPr/>
          </p:nvSpPr>
          <p:spPr>
            <a:xfrm>
              <a:off x="827532" y="3964305"/>
              <a:ext cx="8097545" cy="410718"/>
            </a:xfrm>
            <a:prstGeom prst="rect">
              <a:avLst/>
            </a:prstGeom>
            <a:noFill/>
            <a:ln>
              <a:noFill/>
            </a:ln>
          </p:spPr>
          <p:txBody>
            <a:bodyPr wrap="none" lIns="0" tIns="0" rIns="0" bIns="0" anchor="t" anchorCtr="0">
              <a:spAutoFit/>
            </a:bodyPr>
            <a:lstStyle/>
            <a:p>
              <a:pPr algn="l"/>
              <a:r>
                <a:rPr lang="zh-CN" sz="2100" b="1" dirty="0">
                  <a:solidFill>
                    <a:srgbClr val="FF7900"/>
                  </a:solidFill>
                  <a:latin typeface="Arial"/>
                  <a:ea typeface="Microsoft YaHei"/>
                  <a:cs typeface="Arial"/>
                </a:rPr>
                <a:t>OB · OEU · OMEA —— 华为参与空间的三种截然不同的现实</a:t>
              </a:r>
            </a:p>
          </p:txBody>
        </p:sp>
        <p:sp>
          <p:nvSpPr>
            <p:cNvPr id="14" name="Line 14"/>
            <p:cNvSpPr/>
            <p:nvPr/>
          </p:nvSpPr>
          <p:spPr>
            <a:xfrm>
              <a:off x="838200" y="4476750"/>
              <a:ext cx="5829300" cy="9525"/>
            </a:xfrm>
            <a:custGeom>
              <a:avLst/>
              <a:gdLst/>
              <a:ahLst/>
              <a:cxnLst/>
              <a:rect l="l" t="t" r="r" b="b"/>
              <a:pathLst>
                <a:path w="5829300" h="9525">
                  <a:moveTo>
                    <a:pt x="0" y="0"/>
                  </a:moveTo>
                  <a:lnTo>
                    <a:pt x="5829300" y="0"/>
                  </a:lnTo>
                </a:path>
              </a:pathLst>
            </a:custGeom>
            <a:noFill/>
            <a:ln w="19050">
              <a:solidFill>
                <a:srgbClr val="E8E2DA"/>
              </a:solidFill>
            </a:ln>
          </p:spPr>
        </p:sp>
        <p:sp>
          <p:nvSpPr>
            <p:cNvPr id="15" name="TextBox 15"/>
            <p:cNvSpPr txBox="1"/>
            <p:nvPr/>
          </p:nvSpPr>
          <p:spPr>
            <a:xfrm>
              <a:off x="831342" y="4664392"/>
              <a:ext cx="7100990" cy="264033"/>
            </a:xfrm>
            <a:prstGeom prst="rect">
              <a:avLst/>
            </a:prstGeom>
            <a:noFill/>
            <a:ln>
              <a:noFill/>
            </a:ln>
          </p:spPr>
          <p:txBody>
            <a:bodyPr wrap="none" lIns="0" tIns="0" rIns="0" bIns="0" anchor="t" anchorCtr="0">
              <a:spAutoFit/>
            </a:bodyPr>
            <a:lstStyle/>
            <a:p>
              <a:pPr algn="l"/>
              <a:r>
                <a:rPr lang="en-US" sz="1350" dirty="0">
                  <a:solidFill>
                    <a:srgbClr val="6B6B6B"/>
                  </a:solidFill>
                  <a:latin typeface="Arial"/>
                  <a:ea typeface="Arial"/>
                  <a:cs typeface="Arial"/>
                </a:rPr>
                <a:t>OB · Orange Business OEU · Orange Europe OMEA · Orange Middle East &amp; Africa</a:t>
              </a:r>
            </a:p>
          </p:txBody>
        </p:sp>
      </p:grpSp>
      <p:grpSp>
        <p:nvGrpSpPr>
          <p:cNvPr id="19" name="Group 19"/>
          <p:cNvGrpSpPr/>
          <p:nvPr/>
        </p:nvGrpSpPr>
        <p:grpSpPr>
          <a:xfrm>
            <a:off x="528447" y="6428899"/>
            <a:ext cx="6649336" cy="190690"/>
            <a:chOff x="528447" y="6428899"/>
            <a:chExt cx="6649336" cy="190690"/>
          </a:xfrm>
        </p:grpSpPr>
        <p:sp>
          <p:nvSpPr>
            <p:cNvPr id="17" name="TextBox 17"/>
            <p:cNvSpPr txBox="1"/>
            <p:nvPr/>
          </p:nvSpPr>
          <p:spPr>
            <a:xfrm>
              <a:off x="528447" y="642889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18" name="TextBox 18"/>
            <p:cNvSpPr txBox="1"/>
            <p:nvPr/>
          </p:nvSpPr>
          <p:spPr>
            <a:xfrm>
              <a:off x="6662547" y="6428899"/>
              <a:ext cx="515236"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2026.07</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309562"/>
            <a:ext cx="11136630" cy="802005"/>
            <a:chOff x="521970" y="309562"/>
            <a:chExt cx="11136630" cy="802005"/>
          </a:xfrm>
        </p:grpSpPr>
        <p:sp>
          <p:nvSpPr>
            <p:cNvPr id="3" name="TextBox 3"/>
            <p:cNvSpPr txBox="1"/>
            <p:nvPr/>
          </p:nvSpPr>
          <p:spPr>
            <a:xfrm>
              <a:off x="521970" y="309562"/>
              <a:ext cx="10010508"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Orange集团B2B三大区域合计约</a:t>
              </a:r>
              <a:r>
                <a:rPr lang="zh-CN" sz="2250" b="1" dirty="0">
                  <a:solidFill>
                    <a:srgbClr val="FF7900"/>
                  </a:solidFill>
                  <a:latin typeface="Arial"/>
                  <a:ea typeface="Microsoft YaHei"/>
                  <a:cs typeface="Arial"/>
                </a:rPr>
                <a:t>47亿€</a:t>
              </a:r>
              <a:r>
                <a:rPr lang="zh-CN" sz="2250" b="1" dirty="0">
                  <a:solidFill>
                    <a:srgbClr val="1A1A1A"/>
                  </a:solidFill>
                  <a:latin typeface="Arial"/>
                  <a:ea typeface="Microsoft YaHei"/>
                  <a:cs typeface="Arial"/>
                </a:rPr>
                <a:t>，OMEA是华为的核心增长阵地</a:t>
              </a:r>
            </a:p>
          </p:txBody>
        </p:sp>
        <p:sp>
          <p:nvSpPr>
            <p:cNvPr id="4" name="TextBox 4"/>
            <p:cNvSpPr txBox="1"/>
            <p:nvPr/>
          </p:nvSpPr>
          <p:spPr>
            <a:xfrm>
              <a:off x="521970" y="671512"/>
              <a:ext cx="3332874"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OEU是</a:t>
              </a:r>
              <a:r>
                <a:rPr lang="zh-CN" sz="2250" b="1" dirty="0">
                  <a:solidFill>
                    <a:srgbClr val="FF7900"/>
                  </a:solidFill>
                  <a:latin typeface="Arial"/>
                  <a:ea typeface="Microsoft YaHei"/>
                  <a:cs typeface="Arial"/>
                </a:rPr>
                <a:t>法律强制退出区</a:t>
              </a:r>
            </a:p>
          </p:txBody>
        </p:sp>
        <p:sp>
          <p:nvSpPr>
            <p:cNvPr id="5" name="Line 5"/>
            <p:cNvSpPr/>
            <p:nvPr/>
          </p:nvSpPr>
          <p:spPr>
            <a:xfrm>
              <a:off x="533400" y="10668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39" name="Group 39"/>
          <p:cNvGrpSpPr/>
          <p:nvPr/>
        </p:nvGrpSpPr>
        <p:grpSpPr>
          <a:xfrm>
            <a:off x="533400" y="1333500"/>
            <a:ext cx="10972800" cy="2476500"/>
            <a:chOff x="533400" y="1333500"/>
            <a:chExt cx="10972800" cy="2476500"/>
          </a:xfrm>
        </p:grpSpPr>
        <p:sp>
          <p:nvSpPr>
            <p:cNvPr id="7" name="Rectangle 7"/>
            <p:cNvSpPr/>
            <p:nvPr/>
          </p:nvSpPr>
          <p:spPr>
            <a:xfrm>
              <a:off x="533400" y="1333500"/>
              <a:ext cx="2571750" cy="2476500"/>
            </a:xfrm>
            <a:prstGeom prst="roundRect">
              <a:avLst>
                <a:gd name="adj" fmla="val 1538"/>
              </a:avLst>
            </a:prstGeom>
            <a:solidFill>
              <a:srgbClr val="FBF6F1"/>
            </a:solidFill>
            <a:ln w="9525">
              <a:solidFill>
                <a:srgbClr val="E8E2DA"/>
              </a:solidFill>
            </a:ln>
          </p:spPr>
        </p:sp>
        <p:sp>
          <p:nvSpPr>
            <p:cNvPr id="8" name="Rectangle 8"/>
            <p:cNvSpPr/>
            <p:nvPr/>
          </p:nvSpPr>
          <p:spPr>
            <a:xfrm>
              <a:off x="762000" y="1562100"/>
              <a:ext cx="57150" cy="419100"/>
            </a:xfrm>
            <a:prstGeom prst="rect">
              <a:avLst/>
            </a:prstGeom>
            <a:solidFill>
              <a:srgbClr val="B85C00"/>
            </a:solidFill>
            <a:ln>
              <a:noFill/>
            </a:ln>
          </p:spPr>
        </p:sp>
        <p:sp>
          <p:nvSpPr>
            <p:cNvPr id="9" name="TextBox 9"/>
            <p:cNvSpPr txBox="1"/>
            <p:nvPr/>
          </p:nvSpPr>
          <p:spPr>
            <a:xfrm>
              <a:off x="944880" y="1600200"/>
              <a:ext cx="1714481" cy="293370"/>
            </a:xfrm>
            <a:prstGeom prst="rect">
              <a:avLst/>
            </a:prstGeom>
            <a:noFill/>
            <a:ln>
              <a:noFill/>
            </a:ln>
          </p:spPr>
          <p:txBody>
            <a:bodyPr wrap="none" lIns="0" tIns="0" rIns="0" bIns="0" anchor="t" anchorCtr="0">
              <a:spAutoFit/>
            </a:bodyPr>
            <a:lstStyle/>
            <a:p>
              <a:pPr algn="l"/>
              <a:r>
                <a:rPr lang="en-US" sz="1500" b="1" dirty="0">
                  <a:solidFill>
                    <a:srgbClr val="1A1A1A"/>
                  </a:solidFill>
                  <a:latin typeface="Arial"/>
                  <a:ea typeface="Arial"/>
                  <a:cs typeface="Arial"/>
                </a:rPr>
                <a:t>Orange Business</a:t>
              </a:r>
            </a:p>
          </p:txBody>
        </p:sp>
        <p:sp>
          <p:nvSpPr>
            <p:cNvPr id="10" name="TextBox 10"/>
            <p:cNvSpPr txBox="1"/>
            <p:nvPr/>
          </p:nvSpPr>
          <p:spPr>
            <a:xfrm>
              <a:off x="946404" y="1832610"/>
              <a:ext cx="1864157"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法国+全球大客户（OB）</a:t>
              </a:r>
            </a:p>
          </p:txBody>
        </p:sp>
        <p:sp>
          <p:nvSpPr>
            <p:cNvPr id="11" name="TextBox 11"/>
            <p:cNvSpPr txBox="1"/>
            <p:nvPr/>
          </p:nvSpPr>
          <p:spPr>
            <a:xfrm>
              <a:off x="935736" y="2358390"/>
              <a:ext cx="1316288" cy="645414"/>
            </a:xfrm>
            <a:prstGeom prst="rect">
              <a:avLst/>
            </a:prstGeom>
            <a:noFill/>
            <a:ln>
              <a:noFill/>
            </a:ln>
          </p:spPr>
          <p:txBody>
            <a:bodyPr wrap="none" lIns="0" tIns="0" rIns="0" bIns="0" anchor="t" anchorCtr="0">
              <a:spAutoFit/>
            </a:bodyPr>
            <a:lstStyle/>
            <a:p>
              <a:pPr algn="l"/>
              <a:r>
                <a:rPr lang="en-US" sz="3300" b="1" dirty="0">
                  <a:solidFill>
                    <a:srgbClr val="B85C00"/>
                  </a:solidFill>
                  <a:latin typeface="Arial"/>
                  <a:ea typeface="Arial"/>
                  <a:cs typeface="Arial"/>
                </a:rPr>
                <a:t>7,325</a:t>
              </a:r>
            </a:p>
          </p:txBody>
        </p:sp>
        <p:sp>
          <p:nvSpPr>
            <p:cNvPr id="12" name="TextBox 12"/>
            <p:cNvSpPr txBox="1"/>
            <p:nvPr/>
          </p:nvSpPr>
          <p:spPr>
            <a:xfrm>
              <a:off x="2277618" y="2536508"/>
              <a:ext cx="337124" cy="322707"/>
            </a:xfrm>
            <a:prstGeom prst="rect">
              <a:avLst/>
            </a:prstGeom>
            <a:noFill/>
            <a:ln>
              <a:noFill/>
            </a:ln>
          </p:spPr>
          <p:txBody>
            <a:bodyPr wrap="none" lIns="0" tIns="0" rIns="0" bIns="0" anchor="t" anchorCtr="0">
              <a:spAutoFit/>
            </a:bodyPr>
            <a:lstStyle/>
            <a:p>
              <a:pPr algn="l"/>
              <a:r>
                <a:rPr lang="en-US" sz="1650" b="1" dirty="0">
                  <a:solidFill>
                    <a:srgbClr val="6B6B6B"/>
                  </a:solidFill>
                  <a:latin typeface="Arial"/>
                  <a:ea typeface="Arial"/>
                  <a:cs typeface="Arial"/>
                </a:rPr>
                <a:t>M€</a:t>
              </a:r>
            </a:p>
          </p:txBody>
        </p:sp>
        <p:sp>
          <p:nvSpPr>
            <p:cNvPr id="13" name="TextBox 13"/>
            <p:cNvSpPr txBox="1"/>
            <p:nvPr/>
          </p:nvSpPr>
          <p:spPr>
            <a:xfrm>
              <a:off x="945642" y="2902268"/>
              <a:ext cx="984037" cy="264033"/>
            </a:xfrm>
            <a:prstGeom prst="rect">
              <a:avLst/>
            </a:prstGeom>
            <a:noFill/>
            <a:ln>
              <a:noFill/>
            </a:ln>
          </p:spPr>
          <p:txBody>
            <a:bodyPr wrap="none" lIns="0" tIns="0" rIns="0" bIns="0" anchor="t" anchorCtr="0">
              <a:spAutoFit/>
            </a:bodyPr>
            <a:lstStyle/>
            <a:p>
              <a:pPr algn="l"/>
              <a:r>
                <a:rPr lang="en-US" sz="1350" b="1" dirty="0">
                  <a:solidFill>
                    <a:srgbClr val="C0392B"/>
                  </a:solidFill>
                  <a:latin typeface="Arial"/>
                  <a:ea typeface="Arial"/>
                  <a:cs typeface="Arial"/>
                </a:rPr>
                <a:t>-4.8% YoY</a:t>
              </a:r>
            </a:p>
          </p:txBody>
        </p:sp>
        <p:sp>
          <p:nvSpPr>
            <p:cNvPr id="14" name="TextBox 14"/>
            <p:cNvSpPr txBox="1"/>
            <p:nvPr/>
          </p:nvSpPr>
          <p:spPr>
            <a:xfrm>
              <a:off x="947166" y="3458528"/>
              <a:ext cx="1250290" cy="205359"/>
            </a:xfrm>
            <a:prstGeom prst="rect">
              <a:avLst/>
            </a:prstGeom>
            <a:noFill/>
            <a:ln>
              <a:noFill/>
            </a:ln>
          </p:spPr>
          <p:txBody>
            <a:bodyPr wrap="none" lIns="0" tIns="0" rIns="0" bIns="0" anchor="t" anchorCtr="0">
              <a:spAutoFit/>
            </a:bodyPr>
            <a:lstStyle/>
            <a:p>
              <a:pPr algn="l"/>
              <a:r>
                <a:rPr lang="zh-CN" sz="1050" dirty="0">
                  <a:solidFill>
                    <a:srgbClr val="9B9B9B"/>
                  </a:solidFill>
                  <a:latin typeface="Arial"/>
                  <a:ea typeface="Microsoft YaHei"/>
                  <a:cs typeface="Arial"/>
                </a:rPr>
                <a:t>FY2025，实证数据</a:t>
              </a:r>
            </a:p>
          </p:txBody>
        </p:sp>
        <p:sp>
          <p:nvSpPr>
            <p:cNvPr id="15" name="Rectangle 15"/>
            <p:cNvSpPr/>
            <p:nvPr/>
          </p:nvSpPr>
          <p:spPr>
            <a:xfrm>
              <a:off x="3333750" y="1333500"/>
              <a:ext cx="2571750" cy="2476500"/>
            </a:xfrm>
            <a:prstGeom prst="roundRect">
              <a:avLst>
                <a:gd name="adj" fmla="val 1538"/>
              </a:avLst>
            </a:prstGeom>
            <a:solidFill>
              <a:srgbClr val="FBF6F1"/>
            </a:solidFill>
            <a:ln w="9525">
              <a:solidFill>
                <a:srgbClr val="E8E2DA"/>
              </a:solidFill>
            </a:ln>
          </p:spPr>
        </p:sp>
        <p:sp>
          <p:nvSpPr>
            <p:cNvPr id="16" name="Rectangle 16"/>
            <p:cNvSpPr/>
            <p:nvPr/>
          </p:nvSpPr>
          <p:spPr>
            <a:xfrm>
              <a:off x="3562350" y="1562100"/>
              <a:ext cx="57150" cy="419100"/>
            </a:xfrm>
            <a:prstGeom prst="rect">
              <a:avLst/>
            </a:prstGeom>
            <a:solidFill>
              <a:srgbClr val="FF7900"/>
            </a:solidFill>
            <a:ln>
              <a:noFill/>
            </a:ln>
          </p:spPr>
        </p:sp>
        <p:sp>
          <p:nvSpPr>
            <p:cNvPr id="17" name="TextBox 17"/>
            <p:cNvSpPr txBox="1"/>
            <p:nvPr/>
          </p:nvSpPr>
          <p:spPr>
            <a:xfrm>
              <a:off x="3745230" y="1600200"/>
              <a:ext cx="1534830" cy="293370"/>
            </a:xfrm>
            <a:prstGeom prst="rect">
              <a:avLst/>
            </a:prstGeom>
            <a:noFill/>
            <a:ln>
              <a:noFill/>
            </a:ln>
          </p:spPr>
          <p:txBody>
            <a:bodyPr wrap="none" lIns="0" tIns="0" rIns="0" bIns="0" anchor="t" anchorCtr="0">
              <a:spAutoFit/>
            </a:bodyPr>
            <a:lstStyle/>
            <a:p>
              <a:pPr algn="l"/>
              <a:r>
                <a:rPr lang="en-US" sz="1500" b="1" dirty="0">
                  <a:solidFill>
                    <a:srgbClr val="1A1A1A"/>
                  </a:solidFill>
                  <a:latin typeface="Arial"/>
                  <a:ea typeface="Arial"/>
                  <a:cs typeface="Arial"/>
                </a:rPr>
                <a:t>Orange Europe</a:t>
              </a:r>
            </a:p>
          </p:txBody>
        </p:sp>
        <p:sp>
          <p:nvSpPr>
            <p:cNvPr id="18" name="TextBox 18"/>
            <p:cNvSpPr txBox="1"/>
            <p:nvPr/>
          </p:nvSpPr>
          <p:spPr>
            <a:xfrm>
              <a:off x="3746754" y="1832610"/>
              <a:ext cx="2299411"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欧洲其他国家+西班牙（OEU）</a:t>
              </a:r>
            </a:p>
          </p:txBody>
        </p:sp>
        <p:sp>
          <p:nvSpPr>
            <p:cNvPr id="19" name="TextBox 19"/>
            <p:cNvSpPr txBox="1"/>
            <p:nvPr/>
          </p:nvSpPr>
          <p:spPr>
            <a:xfrm>
              <a:off x="3736086" y="2358390"/>
              <a:ext cx="546632" cy="645414"/>
            </a:xfrm>
            <a:prstGeom prst="rect">
              <a:avLst/>
            </a:prstGeom>
            <a:noFill/>
            <a:ln>
              <a:noFill/>
            </a:ln>
          </p:spPr>
          <p:txBody>
            <a:bodyPr wrap="none" lIns="0" tIns="0" rIns="0" bIns="0" anchor="t" anchorCtr="0">
              <a:spAutoFit/>
            </a:bodyPr>
            <a:lstStyle/>
            <a:p>
              <a:pPr algn="l"/>
              <a:r>
                <a:rPr lang="en-US" sz="3300" b="1" dirty="0">
                  <a:solidFill>
                    <a:srgbClr val="FF7900"/>
                  </a:solidFill>
                  <a:latin typeface="Arial"/>
                  <a:ea typeface="Arial"/>
                  <a:cs typeface="Arial"/>
                </a:rPr>
                <a:t>27</a:t>
              </a:r>
            </a:p>
          </p:txBody>
        </p:sp>
        <p:sp>
          <p:nvSpPr>
            <p:cNvPr id="20" name="TextBox 20"/>
            <p:cNvSpPr txBox="1"/>
            <p:nvPr/>
          </p:nvSpPr>
          <p:spPr>
            <a:xfrm>
              <a:off x="4277868" y="2536508"/>
              <a:ext cx="378269" cy="322707"/>
            </a:xfrm>
            <a:prstGeom prst="rect">
              <a:avLst/>
            </a:prstGeom>
            <a:noFill/>
            <a:ln>
              <a:noFill/>
            </a:ln>
          </p:spPr>
          <p:txBody>
            <a:bodyPr wrap="none" lIns="0" tIns="0" rIns="0" bIns="0" anchor="t" anchorCtr="0">
              <a:spAutoFit/>
            </a:bodyPr>
            <a:lstStyle/>
            <a:p>
              <a:pPr algn="l"/>
              <a:r>
                <a:rPr lang="zh-CN" sz="1650" b="1" dirty="0">
                  <a:solidFill>
                    <a:srgbClr val="6B6B6B"/>
                  </a:solidFill>
                  <a:latin typeface="Arial"/>
                  <a:ea typeface="Microsoft YaHei"/>
                  <a:cs typeface="Arial"/>
                </a:rPr>
                <a:t>亿€</a:t>
              </a:r>
            </a:p>
          </p:txBody>
        </p:sp>
        <p:sp>
          <p:nvSpPr>
            <p:cNvPr id="21" name="TextBox 21"/>
            <p:cNvSpPr txBox="1"/>
            <p:nvPr/>
          </p:nvSpPr>
          <p:spPr>
            <a:xfrm>
              <a:off x="3745992" y="2902268"/>
              <a:ext cx="586188" cy="264033"/>
            </a:xfrm>
            <a:prstGeom prst="rect">
              <a:avLst/>
            </a:prstGeom>
            <a:noFill/>
            <a:ln>
              <a:noFill/>
            </a:ln>
          </p:spPr>
          <p:txBody>
            <a:bodyPr wrap="none" lIns="0" tIns="0" rIns="0" bIns="0" anchor="t" anchorCtr="0">
              <a:spAutoFit/>
            </a:bodyPr>
            <a:lstStyle/>
            <a:p>
              <a:pPr algn="l"/>
              <a:r>
                <a:rPr lang="zh-CN" sz="1350" b="1" dirty="0">
                  <a:solidFill>
                    <a:srgbClr val="6B6B6B"/>
                  </a:solidFill>
                  <a:latin typeface="Arial"/>
                  <a:ea typeface="Microsoft YaHei"/>
                  <a:cs typeface="Arial"/>
                </a:rPr>
                <a:t>（估）</a:t>
              </a:r>
            </a:p>
          </p:txBody>
        </p:sp>
        <p:sp>
          <p:nvSpPr>
            <p:cNvPr id="22" name="TextBox 22"/>
            <p:cNvSpPr txBox="1"/>
            <p:nvPr/>
          </p:nvSpPr>
          <p:spPr>
            <a:xfrm>
              <a:off x="3747516" y="3458528"/>
              <a:ext cx="1735150" cy="205359"/>
            </a:xfrm>
            <a:prstGeom prst="rect">
              <a:avLst/>
            </a:prstGeom>
            <a:noFill/>
            <a:ln>
              <a:noFill/>
            </a:ln>
          </p:spPr>
          <p:txBody>
            <a:bodyPr wrap="none" lIns="0" tIns="0" rIns="0" bIns="0" anchor="t" anchorCtr="0">
              <a:spAutoFit/>
            </a:bodyPr>
            <a:lstStyle/>
            <a:p>
              <a:pPr algn="l"/>
              <a:r>
                <a:rPr lang="zh-CN" sz="1050" dirty="0">
                  <a:solidFill>
                    <a:srgbClr val="9B9B9B"/>
                  </a:solidFill>
                  <a:latin typeface="Arial"/>
                  <a:ea typeface="Microsoft YaHei"/>
                  <a:cs typeface="Arial"/>
                </a:rPr>
                <a:t>19亿不含西班牙+8亿西班牙</a:t>
              </a:r>
            </a:p>
          </p:txBody>
        </p:sp>
        <p:sp>
          <p:nvSpPr>
            <p:cNvPr id="23" name="Rectangle 23"/>
            <p:cNvSpPr/>
            <p:nvPr/>
          </p:nvSpPr>
          <p:spPr>
            <a:xfrm>
              <a:off x="6134100" y="1333500"/>
              <a:ext cx="2571750" cy="2476500"/>
            </a:xfrm>
            <a:prstGeom prst="roundRect">
              <a:avLst>
                <a:gd name="adj" fmla="val 1538"/>
              </a:avLst>
            </a:prstGeom>
            <a:solidFill>
              <a:srgbClr val="FBF6F1"/>
            </a:solidFill>
            <a:ln w="9525">
              <a:solidFill>
                <a:srgbClr val="E8E2DA"/>
              </a:solidFill>
            </a:ln>
          </p:spPr>
        </p:sp>
        <p:sp>
          <p:nvSpPr>
            <p:cNvPr id="24" name="Rectangle 24"/>
            <p:cNvSpPr/>
            <p:nvPr/>
          </p:nvSpPr>
          <p:spPr>
            <a:xfrm>
              <a:off x="6362700" y="1562100"/>
              <a:ext cx="57150" cy="419100"/>
            </a:xfrm>
            <a:prstGeom prst="rect">
              <a:avLst/>
            </a:prstGeom>
            <a:solidFill>
              <a:srgbClr val="FFA640"/>
            </a:solidFill>
            <a:ln>
              <a:noFill/>
            </a:ln>
          </p:spPr>
        </p:sp>
        <p:sp>
          <p:nvSpPr>
            <p:cNvPr id="25" name="TextBox 25"/>
            <p:cNvSpPr txBox="1"/>
            <p:nvPr/>
          </p:nvSpPr>
          <p:spPr>
            <a:xfrm>
              <a:off x="6545580" y="1600200"/>
              <a:ext cx="1243327" cy="293370"/>
            </a:xfrm>
            <a:prstGeom prst="rect">
              <a:avLst/>
            </a:prstGeom>
            <a:noFill/>
            <a:ln>
              <a:noFill/>
            </a:ln>
          </p:spPr>
          <p:txBody>
            <a:bodyPr wrap="none" lIns="0" tIns="0" rIns="0" bIns="0" anchor="t" anchorCtr="0">
              <a:spAutoFit/>
            </a:bodyPr>
            <a:lstStyle/>
            <a:p>
              <a:pPr algn="l"/>
              <a:r>
                <a:rPr lang="en-US" sz="1500" b="1" dirty="0">
                  <a:solidFill>
                    <a:srgbClr val="1A1A1A"/>
                  </a:solidFill>
                  <a:latin typeface="Arial"/>
                  <a:ea typeface="Arial"/>
                  <a:cs typeface="Arial"/>
                </a:rPr>
                <a:t>Orange MEA</a:t>
              </a:r>
            </a:p>
          </p:txBody>
        </p:sp>
        <p:sp>
          <p:nvSpPr>
            <p:cNvPr id="26" name="TextBox 26"/>
            <p:cNvSpPr txBox="1"/>
            <p:nvPr/>
          </p:nvSpPr>
          <p:spPr>
            <a:xfrm>
              <a:off x="6547104" y="1832610"/>
              <a:ext cx="1650797"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中东与非洲（OMEA）</a:t>
              </a:r>
            </a:p>
          </p:txBody>
        </p:sp>
        <p:sp>
          <p:nvSpPr>
            <p:cNvPr id="27" name="TextBox 27"/>
            <p:cNvSpPr txBox="1"/>
            <p:nvPr/>
          </p:nvSpPr>
          <p:spPr>
            <a:xfrm>
              <a:off x="6536436" y="2358390"/>
              <a:ext cx="546632" cy="645414"/>
            </a:xfrm>
            <a:prstGeom prst="rect">
              <a:avLst/>
            </a:prstGeom>
            <a:noFill/>
            <a:ln>
              <a:noFill/>
            </a:ln>
          </p:spPr>
          <p:txBody>
            <a:bodyPr wrap="none" lIns="0" tIns="0" rIns="0" bIns="0" anchor="t" anchorCtr="0">
              <a:spAutoFit/>
            </a:bodyPr>
            <a:lstStyle/>
            <a:p>
              <a:pPr algn="l"/>
              <a:r>
                <a:rPr lang="en-US" sz="3300" b="1" dirty="0">
                  <a:solidFill>
                    <a:srgbClr val="FFA640"/>
                  </a:solidFill>
                  <a:latin typeface="Arial"/>
                  <a:ea typeface="Arial"/>
                  <a:cs typeface="Arial"/>
                </a:rPr>
                <a:t>13</a:t>
              </a:r>
            </a:p>
          </p:txBody>
        </p:sp>
        <p:sp>
          <p:nvSpPr>
            <p:cNvPr id="28" name="TextBox 28"/>
            <p:cNvSpPr txBox="1"/>
            <p:nvPr/>
          </p:nvSpPr>
          <p:spPr>
            <a:xfrm>
              <a:off x="7078218" y="2536508"/>
              <a:ext cx="378269" cy="322707"/>
            </a:xfrm>
            <a:prstGeom prst="rect">
              <a:avLst/>
            </a:prstGeom>
            <a:noFill/>
            <a:ln>
              <a:noFill/>
            </a:ln>
          </p:spPr>
          <p:txBody>
            <a:bodyPr wrap="none" lIns="0" tIns="0" rIns="0" bIns="0" anchor="t" anchorCtr="0">
              <a:spAutoFit/>
            </a:bodyPr>
            <a:lstStyle/>
            <a:p>
              <a:pPr algn="l"/>
              <a:r>
                <a:rPr lang="zh-CN" sz="1650" b="1" dirty="0">
                  <a:solidFill>
                    <a:srgbClr val="6B6B6B"/>
                  </a:solidFill>
                  <a:latin typeface="Arial"/>
                  <a:ea typeface="Microsoft YaHei"/>
                  <a:cs typeface="Arial"/>
                </a:rPr>
                <a:t>亿€</a:t>
              </a:r>
            </a:p>
          </p:txBody>
        </p:sp>
        <p:sp>
          <p:nvSpPr>
            <p:cNvPr id="29" name="TextBox 29"/>
            <p:cNvSpPr txBox="1"/>
            <p:nvPr/>
          </p:nvSpPr>
          <p:spPr>
            <a:xfrm>
              <a:off x="6546342" y="2902268"/>
              <a:ext cx="1215906" cy="264033"/>
            </a:xfrm>
            <a:prstGeom prst="rect">
              <a:avLst/>
            </a:prstGeom>
            <a:noFill/>
            <a:ln>
              <a:noFill/>
            </a:ln>
          </p:spPr>
          <p:txBody>
            <a:bodyPr wrap="none" lIns="0" tIns="0" rIns="0" bIns="0" anchor="t" anchorCtr="0">
              <a:spAutoFit/>
            </a:bodyPr>
            <a:lstStyle/>
            <a:p>
              <a:pPr algn="l"/>
              <a:r>
                <a:rPr lang="zh-CN" sz="1350" b="1" dirty="0">
                  <a:solidFill>
                    <a:srgbClr val="2E8B57"/>
                  </a:solidFill>
                  <a:latin typeface="Arial"/>
                  <a:ea typeface="Microsoft YaHei"/>
                  <a:cs typeface="Arial"/>
                </a:rPr>
                <a:t>2030目标20亿</a:t>
              </a:r>
            </a:p>
          </p:txBody>
        </p:sp>
        <p:sp>
          <p:nvSpPr>
            <p:cNvPr id="30" name="TextBox 30"/>
            <p:cNvSpPr txBox="1"/>
            <p:nvPr/>
          </p:nvSpPr>
          <p:spPr>
            <a:xfrm>
              <a:off x="6547866" y="3458528"/>
              <a:ext cx="1556461" cy="205359"/>
            </a:xfrm>
            <a:prstGeom prst="rect">
              <a:avLst/>
            </a:prstGeom>
            <a:noFill/>
            <a:ln>
              <a:noFill/>
            </a:ln>
          </p:spPr>
          <p:txBody>
            <a:bodyPr wrap="none" lIns="0" tIns="0" rIns="0" bIns="0" anchor="t" anchorCtr="0">
              <a:spAutoFit/>
            </a:bodyPr>
            <a:lstStyle/>
            <a:p>
              <a:pPr algn="l"/>
              <a:r>
                <a:rPr lang="zh-CN" sz="1050" dirty="0">
                  <a:solidFill>
                    <a:srgbClr val="9B9B9B"/>
                  </a:solidFill>
                  <a:latin typeface="Arial"/>
                  <a:ea typeface="Microsoft YaHei"/>
                  <a:cs typeface="Arial"/>
                </a:rPr>
                <a:t>2025基线，CAGR+9.2%</a:t>
              </a:r>
            </a:p>
          </p:txBody>
        </p:sp>
        <p:sp>
          <p:nvSpPr>
            <p:cNvPr id="31" name="Rectangle 31"/>
            <p:cNvSpPr/>
            <p:nvPr/>
          </p:nvSpPr>
          <p:spPr>
            <a:xfrm>
              <a:off x="8934450" y="1333500"/>
              <a:ext cx="2571750" cy="2476500"/>
            </a:xfrm>
            <a:prstGeom prst="roundRect">
              <a:avLst>
                <a:gd name="adj" fmla="val 1538"/>
              </a:avLst>
            </a:prstGeom>
            <a:solidFill>
              <a:srgbClr val="1A1A1A"/>
            </a:solidFill>
            <a:ln>
              <a:noFill/>
            </a:ln>
          </p:spPr>
        </p:sp>
        <p:sp>
          <p:nvSpPr>
            <p:cNvPr id="32" name="Rectangle 32"/>
            <p:cNvSpPr/>
            <p:nvPr/>
          </p:nvSpPr>
          <p:spPr>
            <a:xfrm>
              <a:off x="8934450" y="1333500"/>
              <a:ext cx="57150" cy="2476500"/>
            </a:xfrm>
            <a:prstGeom prst="rect">
              <a:avLst/>
            </a:prstGeom>
            <a:solidFill>
              <a:srgbClr val="FF7900"/>
            </a:solidFill>
            <a:ln>
              <a:noFill/>
            </a:ln>
          </p:spPr>
        </p:sp>
        <p:sp>
          <p:nvSpPr>
            <p:cNvPr id="33" name="TextBox 33"/>
            <p:cNvSpPr txBox="1"/>
            <p:nvPr/>
          </p:nvSpPr>
          <p:spPr>
            <a:xfrm>
              <a:off x="9155430" y="1600200"/>
              <a:ext cx="1075372" cy="293370"/>
            </a:xfrm>
            <a:prstGeom prst="rect">
              <a:avLst/>
            </a:prstGeom>
            <a:noFill/>
            <a:ln>
              <a:noFill/>
            </a:ln>
          </p:spPr>
          <p:txBody>
            <a:bodyPr wrap="none" lIns="0" tIns="0" rIns="0" bIns="0" anchor="t" anchorCtr="0">
              <a:spAutoFit/>
            </a:bodyPr>
            <a:lstStyle/>
            <a:p>
              <a:pPr algn="l"/>
              <a:r>
                <a:rPr lang="zh-CN" sz="1500" b="1" dirty="0">
                  <a:solidFill>
                    <a:srgbClr val="FFFFFF"/>
                  </a:solidFill>
                  <a:latin typeface="Arial"/>
                  <a:ea typeface="Microsoft YaHei"/>
                  <a:cs typeface="Arial"/>
                </a:rPr>
                <a:t>三区域合计</a:t>
              </a:r>
            </a:p>
          </p:txBody>
        </p:sp>
        <p:sp>
          <p:nvSpPr>
            <p:cNvPr id="34" name="TextBox 34"/>
            <p:cNvSpPr txBox="1"/>
            <p:nvPr/>
          </p:nvSpPr>
          <p:spPr>
            <a:xfrm>
              <a:off x="9156954" y="1832610"/>
              <a:ext cx="1246632" cy="234696"/>
            </a:xfrm>
            <a:prstGeom prst="rect">
              <a:avLst/>
            </a:prstGeom>
            <a:noFill/>
            <a:ln>
              <a:noFill/>
            </a:ln>
          </p:spPr>
          <p:txBody>
            <a:bodyPr wrap="none" lIns="0" tIns="0" rIns="0" bIns="0" anchor="t" anchorCtr="0">
              <a:spAutoFit/>
            </a:bodyPr>
            <a:lstStyle/>
            <a:p>
              <a:pPr algn="l"/>
              <a:r>
                <a:rPr lang="en-US" sz="1200" dirty="0">
                  <a:solidFill>
                    <a:srgbClr val="B0B0B0"/>
                  </a:solidFill>
                  <a:latin typeface="Arial"/>
                  <a:ea typeface="Arial"/>
                  <a:cs typeface="Arial"/>
                </a:rPr>
                <a:t>Group Total B2B</a:t>
              </a:r>
            </a:p>
          </p:txBody>
        </p:sp>
        <p:sp>
          <p:nvSpPr>
            <p:cNvPr id="35" name="TextBox 35"/>
            <p:cNvSpPr txBox="1"/>
            <p:nvPr/>
          </p:nvSpPr>
          <p:spPr>
            <a:xfrm>
              <a:off x="9146286" y="2358390"/>
              <a:ext cx="803184" cy="645414"/>
            </a:xfrm>
            <a:prstGeom prst="rect">
              <a:avLst/>
            </a:prstGeom>
            <a:noFill/>
            <a:ln>
              <a:noFill/>
            </a:ln>
          </p:spPr>
          <p:txBody>
            <a:bodyPr wrap="none" lIns="0" tIns="0" rIns="0" bIns="0" anchor="t" anchorCtr="0">
              <a:spAutoFit/>
            </a:bodyPr>
            <a:lstStyle/>
            <a:p>
              <a:pPr algn="l"/>
              <a:r>
                <a:rPr lang="en-US" sz="3300" b="1" dirty="0">
                  <a:solidFill>
                    <a:srgbClr val="FFA640"/>
                  </a:solidFill>
                  <a:latin typeface="Arial"/>
                  <a:ea typeface="Arial"/>
                  <a:cs typeface="Arial"/>
                </a:rPr>
                <a:t>113</a:t>
              </a:r>
            </a:p>
          </p:txBody>
        </p:sp>
        <p:sp>
          <p:nvSpPr>
            <p:cNvPr id="36" name="TextBox 36"/>
            <p:cNvSpPr txBox="1"/>
            <p:nvPr/>
          </p:nvSpPr>
          <p:spPr>
            <a:xfrm>
              <a:off x="10040493" y="2536508"/>
              <a:ext cx="378269" cy="322707"/>
            </a:xfrm>
            <a:prstGeom prst="rect">
              <a:avLst/>
            </a:prstGeom>
            <a:noFill/>
            <a:ln>
              <a:noFill/>
            </a:ln>
          </p:spPr>
          <p:txBody>
            <a:bodyPr wrap="none" lIns="0" tIns="0" rIns="0" bIns="0" anchor="t" anchorCtr="0">
              <a:spAutoFit/>
            </a:bodyPr>
            <a:lstStyle/>
            <a:p>
              <a:pPr algn="l"/>
              <a:r>
                <a:rPr lang="zh-CN" sz="1650" b="1" dirty="0">
                  <a:solidFill>
                    <a:srgbClr val="B0B0B0"/>
                  </a:solidFill>
                  <a:latin typeface="Arial"/>
                  <a:ea typeface="Microsoft YaHei"/>
                  <a:cs typeface="Arial"/>
                </a:rPr>
                <a:t>亿€</a:t>
              </a:r>
            </a:p>
          </p:txBody>
        </p:sp>
        <p:sp>
          <p:nvSpPr>
            <p:cNvPr id="37" name="TextBox 37"/>
            <p:cNvSpPr txBox="1"/>
            <p:nvPr/>
          </p:nvSpPr>
          <p:spPr>
            <a:xfrm>
              <a:off x="9156192" y="2902268"/>
              <a:ext cx="2112778"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体量与华为参与度成反比</a:t>
              </a:r>
            </a:p>
          </p:txBody>
        </p:sp>
        <p:sp>
          <p:nvSpPr>
            <p:cNvPr id="38" name="TextBox 38"/>
            <p:cNvSpPr txBox="1"/>
            <p:nvPr/>
          </p:nvSpPr>
          <p:spPr>
            <a:xfrm>
              <a:off x="9157716" y="3458528"/>
              <a:ext cx="1629137" cy="205359"/>
            </a:xfrm>
            <a:prstGeom prst="rect">
              <a:avLst/>
            </a:prstGeom>
            <a:noFill/>
            <a:ln>
              <a:noFill/>
            </a:ln>
          </p:spPr>
          <p:txBody>
            <a:bodyPr wrap="none" lIns="0" tIns="0" rIns="0" bIns="0" anchor="t" anchorCtr="0">
              <a:spAutoFit/>
            </a:bodyPr>
            <a:lstStyle/>
            <a:p>
              <a:pPr algn="l"/>
              <a:r>
                <a:rPr lang="zh-CN" sz="1050" dirty="0">
                  <a:solidFill>
                    <a:srgbClr val="9B9B9B"/>
                  </a:solidFill>
                  <a:latin typeface="Arial"/>
                  <a:ea typeface="Microsoft YaHei"/>
                  <a:cs typeface="Arial"/>
                </a:rPr>
                <a:t>7,325+2,700(估)+1,300</a:t>
              </a:r>
            </a:p>
          </p:txBody>
        </p:sp>
      </p:grpSp>
      <p:grpSp>
        <p:nvGrpSpPr>
          <p:cNvPr id="58" name="Group 58"/>
          <p:cNvGrpSpPr/>
          <p:nvPr/>
        </p:nvGrpSpPr>
        <p:grpSpPr>
          <a:xfrm>
            <a:off x="525780" y="4048125"/>
            <a:ext cx="11132820" cy="2333625"/>
            <a:chOff x="525780" y="4048125"/>
            <a:chExt cx="11132820" cy="2333625"/>
          </a:xfrm>
        </p:grpSpPr>
        <p:sp>
          <p:nvSpPr>
            <p:cNvPr id="40" name="Line 40"/>
            <p:cNvSpPr/>
            <p:nvPr/>
          </p:nvSpPr>
          <p:spPr>
            <a:xfrm>
              <a:off x="533400" y="4048125"/>
              <a:ext cx="11125200" cy="9525"/>
            </a:xfrm>
            <a:custGeom>
              <a:avLst/>
              <a:gdLst/>
              <a:ahLst/>
              <a:cxnLst/>
              <a:rect l="l" t="t" r="r" b="b"/>
              <a:pathLst>
                <a:path w="11125200" h="9525">
                  <a:moveTo>
                    <a:pt x="0" y="0"/>
                  </a:moveTo>
                  <a:lnTo>
                    <a:pt x="11125200" y="0"/>
                  </a:lnTo>
                </a:path>
              </a:pathLst>
            </a:custGeom>
            <a:noFill/>
            <a:ln w="9525">
              <a:solidFill>
                <a:srgbClr val="E8E2DA"/>
              </a:solidFill>
            </a:ln>
          </p:spPr>
        </p:sp>
        <p:sp>
          <p:nvSpPr>
            <p:cNvPr id="41" name="TextBox 41"/>
            <p:cNvSpPr txBox="1"/>
            <p:nvPr/>
          </p:nvSpPr>
          <p:spPr>
            <a:xfrm>
              <a:off x="525780" y="4143375"/>
              <a:ext cx="2251520" cy="293370"/>
            </a:xfrm>
            <a:prstGeom prst="rect">
              <a:avLst/>
            </a:prstGeom>
            <a:noFill/>
            <a:ln>
              <a:noFill/>
            </a:ln>
          </p:spPr>
          <p:txBody>
            <a:bodyPr wrap="none" lIns="0" tIns="0" rIns="0" bIns="0" anchor="t" anchorCtr="0">
              <a:spAutoFit/>
            </a:bodyPr>
            <a:lstStyle/>
            <a:p>
              <a:pPr algn="l"/>
              <a:r>
                <a:rPr lang="en-US" sz="1500" b="1" dirty="0">
                  <a:solidFill>
                    <a:srgbClr val="B85C00"/>
                  </a:solidFill>
                  <a:latin typeface="Arial"/>
                  <a:ea typeface="Arial"/>
                  <a:cs typeface="Arial"/>
                </a:rPr>
                <a:t>OB · Orange Business</a:t>
              </a:r>
            </a:p>
          </p:txBody>
        </p:sp>
        <p:sp>
          <p:nvSpPr>
            <p:cNvPr id="42" name="TextBox 42"/>
            <p:cNvSpPr txBox="1"/>
            <p:nvPr/>
          </p:nvSpPr>
          <p:spPr>
            <a:xfrm>
              <a:off x="526923" y="4415314"/>
              <a:ext cx="1480480"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法国总部+全球跨国</a:t>
              </a:r>
            </a:p>
          </p:txBody>
        </p:sp>
        <p:sp>
          <p:nvSpPr>
            <p:cNvPr id="43" name="TextBox 43"/>
            <p:cNvSpPr txBox="1"/>
            <p:nvPr/>
          </p:nvSpPr>
          <p:spPr>
            <a:xfrm>
              <a:off x="526923" y="4624864"/>
              <a:ext cx="1699565"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企业服务，FY2025收</a:t>
              </a:r>
            </a:p>
          </p:txBody>
        </p:sp>
        <p:sp>
          <p:nvSpPr>
            <p:cNvPr id="44" name="TextBox 44"/>
            <p:cNvSpPr txBox="1"/>
            <p:nvPr/>
          </p:nvSpPr>
          <p:spPr>
            <a:xfrm>
              <a:off x="526923" y="4834414"/>
              <a:ext cx="1826514"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入7,325M€（-4.8%）</a:t>
              </a:r>
            </a:p>
          </p:txBody>
        </p:sp>
        <p:sp>
          <p:nvSpPr>
            <p:cNvPr id="45" name="TextBox 45"/>
            <p:cNvSpPr txBox="1"/>
            <p:nvPr/>
          </p:nvSpPr>
          <p:spPr>
            <a:xfrm>
              <a:off x="4278630" y="4143375"/>
              <a:ext cx="2197113" cy="293370"/>
            </a:xfrm>
            <a:prstGeom prst="rect">
              <a:avLst/>
            </a:prstGeom>
            <a:noFill/>
            <a:ln>
              <a:noFill/>
            </a:ln>
          </p:spPr>
          <p:txBody>
            <a:bodyPr wrap="none" lIns="0" tIns="0" rIns="0" bIns="0" anchor="t" anchorCtr="0">
              <a:spAutoFit/>
            </a:bodyPr>
            <a:lstStyle/>
            <a:p>
              <a:pPr algn="l"/>
              <a:r>
                <a:rPr lang="en-US" sz="1500" b="1" dirty="0">
                  <a:solidFill>
                    <a:srgbClr val="FF7900"/>
                  </a:solidFill>
                  <a:latin typeface="Arial"/>
                  <a:ea typeface="Arial"/>
                  <a:cs typeface="Arial"/>
                </a:rPr>
                <a:t>OEU · Orange Europe</a:t>
              </a:r>
            </a:p>
          </p:txBody>
        </p:sp>
        <p:sp>
          <p:nvSpPr>
            <p:cNvPr id="46" name="TextBox 46"/>
            <p:cNvSpPr txBox="1"/>
            <p:nvPr/>
          </p:nvSpPr>
          <p:spPr>
            <a:xfrm>
              <a:off x="4279773" y="4415314"/>
              <a:ext cx="1574883"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比利时/波兰/罗马尼</a:t>
              </a:r>
            </a:p>
          </p:txBody>
        </p:sp>
        <p:sp>
          <p:nvSpPr>
            <p:cNvPr id="47" name="TextBox 47"/>
            <p:cNvSpPr txBox="1"/>
            <p:nvPr/>
          </p:nvSpPr>
          <p:spPr>
            <a:xfrm>
              <a:off x="4279773" y="4624864"/>
              <a:ext cx="1669285"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亚/斯洛伐克/卢森堡/</a:t>
              </a:r>
            </a:p>
          </p:txBody>
        </p:sp>
        <p:sp>
          <p:nvSpPr>
            <p:cNvPr id="48" name="TextBox 48"/>
            <p:cNvSpPr txBox="1"/>
            <p:nvPr/>
          </p:nvSpPr>
          <p:spPr>
            <a:xfrm>
              <a:off x="4279773" y="4834414"/>
              <a:ext cx="1308840"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摩尔多瓦+西班牙</a:t>
              </a:r>
            </a:p>
          </p:txBody>
        </p:sp>
        <p:sp>
          <p:nvSpPr>
            <p:cNvPr id="49" name="TextBox 49"/>
            <p:cNvSpPr txBox="1"/>
            <p:nvPr/>
          </p:nvSpPr>
          <p:spPr>
            <a:xfrm>
              <a:off x="4279773" y="5043964"/>
              <a:ext cx="1880921"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B2B合计约27亿€（估）</a:t>
              </a:r>
            </a:p>
          </p:txBody>
        </p:sp>
        <p:sp>
          <p:nvSpPr>
            <p:cNvPr id="50" name="TextBox 50"/>
            <p:cNvSpPr txBox="1"/>
            <p:nvPr/>
          </p:nvSpPr>
          <p:spPr>
            <a:xfrm>
              <a:off x="8031480" y="4143375"/>
              <a:ext cx="2923493" cy="293370"/>
            </a:xfrm>
            <a:prstGeom prst="rect">
              <a:avLst/>
            </a:prstGeom>
            <a:noFill/>
            <a:ln>
              <a:noFill/>
            </a:ln>
          </p:spPr>
          <p:txBody>
            <a:bodyPr wrap="none" lIns="0" tIns="0" rIns="0" bIns="0" anchor="t" anchorCtr="0">
              <a:spAutoFit/>
            </a:bodyPr>
            <a:lstStyle/>
            <a:p>
              <a:pPr algn="l"/>
              <a:r>
                <a:rPr lang="en-US" sz="1500" b="1" dirty="0">
                  <a:solidFill>
                    <a:srgbClr val="FFA640"/>
                  </a:solidFill>
                  <a:latin typeface="Arial"/>
                  <a:ea typeface="Arial"/>
                  <a:cs typeface="Arial"/>
                </a:rPr>
                <a:t>OMEA · Middle East &amp; Africa</a:t>
              </a:r>
            </a:p>
          </p:txBody>
        </p:sp>
        <p:sp>
          <p:nvSpPr>
            <p:cNvPr id="51" name="TextBox 51"/>
            <p:cNvSpPr txBox="1"/>
            <p:nvPr/>
          </p:nvSpPr>
          <p:spPr>
            <a:xfrm>
              <a:off x="8032623" y="4415314"/>
              <a:ext cx="1386078"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中东与非洲全境，</a:t>
              </a:r>
            </a:p>
          </p:txBody>
        </p:sp>
        <p:sp>
          <p:nvSpPr>
            <p:cNvPr id="52" name="TextBox 52"/>
            <p:cNvSpPr txBox="1"/>
            <p:nvPr/>
          </p:nvSpPr>
          <p:spPr>
            <a:xfrm>
              <a:off x="8032623" y="4624864"/>
              <a:ext cx="1336853"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B2B总收入13亿€</a:t>
              </a:r>
            </a:p>
          </p:txBody>
        </p:sp>
        <p:sp>
          <p:nvSpPr>
            <p:cNvPr id="53" name="TextBox 53"/>
            <p:cNvSpPr txBox="1"/>
            <p:nvPr/>
          </p:nvSpPr>
          <p:spPr>
            <a:xfrm>
              <a:off x="8032623" y="4834414"/>
              <a:ext cx="1626375"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（2025基线），2030</a:t>
              </a:r>
            </a:p>
          </p:txBody>
        </p:sp>
        <p:sp>
          <p:nvSpPr>
            <p:cNvPr id="54" name="TextBox 54"/>
            <p:cNvSpPr txBox="1"/>
            <p:nvPr/>
          </p:nvSpPr>
          <p:spPr>
            <a:xfrm>
              <a:off x="8032623" y="5043964"/>
              <a:ext cx="1660703"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目标20亿€（+9.2%）</a:t>
              </a:r>
            </a:p>
          </p:txBody>
        </p:sp>
        <p:sp>
          <p:nvSpPr>
            <p:cNvPr id="55" name="Rectangle 55"/>
            <p:cNvSpPr/>
            <p:nvPr/>
          </p:nvSpPr>
          <p:spPr>
            <a:xfrm>
              <a:off x="533400" y="5524500"/>
              <a:ext cx="11125200" cy="857250"/>
            </a:xfrm>
            <a:prstGeom prst="roundRect">
              <a:avLst>
                <a:gd name="adj" fmla="val 4444"/>
              </a:avLst>
            </a:prstGeom>
            <a:solidFill>
              <a:srgbClr val="FBF6F1"/>
            </a:solidFill>
            <a:ln w="9525">
              <a:solidFill>
                <a:srgbClr val="E8E2DA"/>
              </a:solidFill>
            </a:ln>
          </p:spPr>
        </p:sp>
        <p:sp>
          <p:nvSpPr>
            <p:cNvPr id="56" name="TextBox 56"/>
            <p:cNvSpPr txBox="1"/>
            <p:nvPr/>
          </p:nvSpPr>
          <p:spPr>
            <a:xfrm>
              <a:off x="755142" y="5712142"/>
              <a:ext cx="10316764"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核心结论：三区域体量与华为参与度呈反比——</a:t>
              </a:r>
              <a:r>
                <a:rPr lang="zh-CN" sz="1350" b="1" dirty="0">
                  <a:solidFill>
                    <a:srgbClr val="B85C00"/>
                  </a:solidFill>
                  <a:latin typeface="Arial"/>
                  <a:ea typeface="Microsoft YaHei"/>
                  <a:cs typeface="Arial"/>
                </a:rPr>
                <a:t>OB(73亿€)华为缺席</a:t>
              </a:r>
              <a:r>
                <a:rPr lang="zh-CN" sz="1350" b="1" dirty="0">
                  <a:solidFill>
                    <a:srgbClr val="1A1A1A"/>
                  </a:solidFill>
                  <a:latin typeface="Arial"/>
                  <a:ea typeface="Microsoft YaHei"/>
                  <a:cs typeface="Arial"/>
                </a:rPr>
                <a:t>，</a:t>
              </a:r>
              <a:r>
                <a:rPr lang="zh-CN" sz="1350" b="1" dirty="0">
                  <a:solidFill>
                    <a:srgbClr val="FF7900"/>
                  </a:solidFill>
                  <a:latin typeface="Arial"/>
                  <a:ea typeface="Microsoft YaHei"/>
                  <a:cs typeface="Arial"/>
                </a:rPr>
                <a:t>OEU(27亿€)法律排除</a:t>
              </a:r>
              <a:r>
                <a:rPr lang="zh-CN" sz="1350" b="1" dirty="0">
                  <a:solidFill>
                    <a:srgbClr val="1A1A1A"/>
                  </a:solidFill>
                  <a:latin typeface="Arial"/>
                  <a:ea typeface="Microsoft YaHei"/>
                  <a:cs typeface="Arial"/>
                </a:rPr>
                <a:t>，</a:t>
              </a:r>
              <a:r>
                <a:rPr lang="zh-CN" sz="1350" b="1" dirty="0">
                  <a:solidFill>
                    <a:srgbClr val="FFA640"/>
                  </a:solidFill>
                  <a:latin typeface="Arial"/>
                  <a:ea typeface="Microsoft YaHei"/>
                  <a:cs typeface="Arial"/>
                </a:rPr>
                <a:t>OMEA(13亿€)深度绑定</a:t>
              </a:r>
            </a:p>
          </p:txBody>
        </p:sp>
        <p:sp>
          <p:nvSpPr>
            <p:cNvPr id="57" name="TextBox 57"/>
            <p:cNvSpPr txBox="1"/>
            <p:nvPr/>
          </p:nvSpPr>
          <p:spPr>
            <a:xfrm>
              <a:off x="755904" y="6014085"/>
              <a:ext cx="3699053"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体量最小的OMEA恰恰是华为最应聚焦的战略阵地</a:t>
              </a:r>
            </a:p>
          </p:txBody>
        </p:sp>
      </p:grpSp>
      <p:grpSp>
        <p:nvGrpSpPr>
          <p:cNvPr id="61" name="Group 61"/>
          <p:cNvGrpSpPr/>
          <p:nvPr/>
        </p:nvGrpSpPr>
        <p:grpSpPr>
          <a:xfrm>
            <a:off x="528447" y="6562249"/>
            <a:ext cx="11135106" cy="190690"/>
            <a:chOff x="528447" y="6562249"/>
            <a:chExt cx="11135106" cy="190690"/>
          </a:xfrm>
        </p:grpSpPr>
        <p:sp>
          <p:nvSpPr>
            <p:cNvPr id="59" name="TextBox 59"/>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60" name="TextBox 60"/>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02</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5" name="Group 5"/>
          <p:cNvGrpSpPr/>
          <p:nvPr/>
        </p:nvGrpSpPr>
        <p:grpSpPr>
          <a:xfrm>
            <a:off x="521970" y="309562"/>
            <a:ext cx="12321997" cy="461963"/>
            <a:chOff x="521970" y="309562"/>
            <a:chExt cx="12321997" cy="461963"/>
          </a:xfrm>
        </p:grpSpPr>
        <p:sp>
          <p:nvSpPr>
            <p:cNvPr id="3" name="TextBox 3"/>
            <p:cNvSpPr txBox="1"/>
            <p:nvPr/>
          </p:nvSpPr>
          <p:spPr>
            <a:xfrm>
              <a:off x="521970" y="309562"/>
              <a:ext cx="12321997"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客户结构差异巨大——OB以大企业跨国为主，</a:t>
              </a:r>
              <a:r>
                <a:rPr lang="zh-CN" sz="2250" b="1" dirty="0">
                  <a:solidFill>
                    <a:srgbClr val="FF7900"/>
                  </a:solidFill>
                  <a:latin typeface="Arial"/>
                  <a:ea typeface="Microsoft YaHei"/>
                  <a:cs typeface="Arial"/>
                </a:rPr>
                <a:t>OMEA的SOHO规模效应尚未转化为价值</a:t>
              </a:r>
            </a:p>
          </p:txBody>
        </p:sp>
        <p:sp>
          <p:nvSpPr>
            <p:cNvPr id="4" name="Line 4"/>
            <p:cNvSpPr/>
            <p:nvPr/>
          </p:nvSpPr>
          <p:spPr>
            <a:xfrm>
              <a:off x="533400" y="7620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14" name="Group 14"/>
          <p:cNvGrpSpPr/>
          <p:nvPr/>
        </p:nvGrpSpPr>
        <p:grpSpPr>
          <a:xfrm>
            <a:off x="6667500" y="914400"/>
            <a:ext cx="5015865" cy="222409"/>
            <a:chOff x="6667500" y="914400"/>
            <a:chExt cx="5015865" cy="222409"/>
          </a:xfrm>
        </p:grpSpPr>
        <p:sp>
          <p:nvSpPr>
            <p:cNvPr id="6" name="Rectangle 6"/>
            <p:cNvSpPr/>
            <p:nvPr/>
          </p:nvSpPr>
          <p:spPr>
            <a:xfrm>
              <a:off x="6667500" y="914400"/>
              <a:ext cx="152400" cy="152400"/>
            </a:xfrm>
            <a:prstGeom prst="rect">
              <a:avLst/>
            </a:prstGeom>
            <a:solidFill>
              <a:srgbClr val="B85C00"/>
            </a:solidFill>
            <a:ln>
              <a:noFill/>
            </a:ln>
          </p:spPr>
        </p:sp>
        <p:sp>
          <p:nvSpPr>
            <p:cNvPr id="7" name="TextBox 7"/>
            <p:cNvSpPr txBox="1"/>
            <p:nvPr/>
          </p:nvSpPr>
          <p:spPr>
            <a:xfrm>
              <a:off x="6871335" y="916781"/>
              <a:ext cx="851964"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大企业/跨国</a:t>
              </a:r>
            </a:p>
          </p:txBody>
        </p:sp>
        <p:sp>
          <p:nvSpPr>
            <p:cNvPr id="8" name="Rectangle 8"/>
            <p:cNvSpPr/>
            <p:nvPr/>
          </p:nvSpPr>
          <p:spPr>
            <a:xfrm>
              <a:off x="8096250" y="914400"/>
              <a:ext cx="152400" cy="152400"/>
            </a:xfrm>
            <a:prstGeom prst="rect">
              <a:avLst/>
            </a:prstGeom>
            <a:solidFill>
              <a:srgbClr val="D97B2E"/>
            </a:solidFill>
            <a:ln>
              <a:noFill/>
            </a:ln>
          </p:spPr>
        </p:sp>
        <p:sp>
          <p:nvSpPr>
            <p:cNvPr id="9" name="TextBox 9"/>
            <p:cNvSpPr txBox="1"/>
            <p:nvPr/>
          </p:nvSpPr>
          <p:spPr>
            <a:xfrm>
              <a:off x="8300085" y="916781"/>
              <a:ext cx="617220"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公共部门</a:t>
              </a:r>
            </a:p>
          </p:txBody>
        </p:sp>
        <p:sp>
          <p:nvSpPr>
            <p:cNvPr id="10" name="Rectangle 10"/>
            <p:cNvSpPr/>
            <p:nvPr/>
          </p:nvSpPr>
          <p:spPr>
            <a:xfrm>
              <a:off x="9429750" y="914400"/>
              <a:ext cx="152400" cy="152400"/>
            </a:xfrm>
            <a:prstGeom prst="rect">
              <a:avLst/>
            </a:prstGeom>
            <a:solidFill>
              <a:srgbClr val="FFA640"/>
            </a:solidFill>
            <a:ln>
              <a:noFill/>
            </a:ln>
          </p:spPr>
        </p:sp>
        <p:sp>
          <p:nvSpPr>
            <p:cNvPr id="11" name="TextBox 11"/>
            <p:cNvSpPr txBox="1"/>
            <p:nvPr/>
          </p:nvSpPr>
          <p:spPr>
            <a:xfrm>
              <a:off x="9633585" y="916781"/>
              <a:ext cx="617220"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中型企业</a:t>
              </a:r>
            </a:p>
          </p:txBody>
        </p:sp>
        <p:sp>
          <p:nvSpPr>
            <p:cNvPr id="12" name="Rectangle 12"/>
            <p:cNvSpPr/>
            <p:nvPr/>
          </p:nvSpPr>
          <p:spPr>
            <a:xfrm>
              <a:off x="10668000" y="914400"/>
              <a:ext cx="152400" cy="152400"/>
            </a:xfrm>
            <a:prstGeom prst="rect">
              <a:avLst/>
            </a:prstGeom>
            <a:solidFill>
              <a:srgbClr val="FFD9A8"/>
            </a:solidFill>
            <a:ln>
              <a:noFill/>
            </a:ln>
          </p:spPr>
        </p:sp>
        <p:sp>
          <p:nvSpPr>
            <p:cNvPr id="13" name="TextBox 13"/>
            <p:cNvSpPr txBox="1"/>
            <p:nvPr/>
          </p:nvSpPr>
          <p:spPr>
            <a:xfrm>
              <a:off x="10871835" y="916781"/>
              <a:ext cx="811530" cy="220028"/>
            </a:xfrm>
            <a:prstGeom prst="rect">
              <a:avLst/>
            </a:prstGeom>
            <a:noFill/>
            <a:ln>
              <a:noFill/>
            </a:ln>
          </p:spPr>
          <p:txBody>
            <a:bodyPr wrap="none" lIns="0" tIns="0" rIns="0" bIns="0" anchor="t" anchorCtr="0">
              <a:spAutoFit/>
            </a:bodyPr>
            <a:lstStyle/>
            <a:p>
              <a:pPr algn="l"/>
              <a:r>
                <a:rPr lang="en-US" sz="1120" dirty="0">
                  <a:solidFill>
                    <a:srgbClr val="1A1A1A"/>
                  </a:solidFill>
                  <a:latin typeface="Arial"/>
                  <a:ea typeface="Arial"/>
                  <a:cs typeface="Arial"/>
                </a:rPr>
                <a:t>SOHO/SME</a:t>
              </a:r>
            </a:p>
          </p:txBody>
        </p:sp>
      </p:grpSp>
      <p:grpSp>
        <p:nvGrpSpPr>
          <p:cNvPr id="45" name="Group 45"/>
          <p:cNvGrpSpPr/>
          <p:nvPr/>
        </p:nvGrpSpPr>
        <p:grpSpPr>
          <a:xfrm>
            <a:off x="823036" y="1561624"/>
            <a:ext cx="10416464" cy="4033551"/>
            <a:chOff x="823036" y="1561624"/>
            <a:chExt cx="10416464" cy="4033551"/>
          </a:xfrm>
        </p:grpSpPr>
        <p:grpSp>
          <p:nvGrpSpPr>
            <p:cNvPr id="44" name="Group 44"/>
            <p:cNvGrpSpPr/>
            <p:nvPr/>
          </p:nvGrpSpPr>
          <p:grpSpPr>
            <a:xfrm>
              <a:off x="823036" y="1561624"/>
              <a:ext cx="10416464" cy="4033551"/>
              <a:chOff x="823036" y="1561624"/>
              <a:chExt cx="10416464" cy="4033551"/>
            </a:xfrm>
          </p:grpSpPr>
          <p:sp>
            <p:nvSpPr>
              <p:cNvPr id="15" name="Line 15"/>
              <p:cNvSpPr/>
              <p:nvPr/>
            </p:nvSpPr>
            <p:spPr>
              <a:xfrm>
                <a:off x="1333500" y="1619250"/>
                <a:ext cx="9525" cy="3619500"/>
              </a:xfrm>
              <a:custGeom>
                <a:avLst/>
                <a:gdLst/>
                <a:ahLst/>
                <a:cxnLst/>
                <a:rect l="l" t="t" r="r" b="b"/>
                <a:pathLst>
                  <a:path w="9525" h="3619500">
                    <a:moveTo>
                      <a:pt x="0" y="0"/>
                    </a:moveTo>
                    <a:lnTo>
                      <a:pt x="0" y="3619500"/>
                    </a:lnTo>
                  </a:path>
                </a:pathLst>
              </a:custGeom>
              <a:noFill/>
              <a:ln w="14288">
                <a:solidFill>
                  <a:srgbClr val="E8E2DA"/>
                </a:solidFill>
              </a:ln>
            </p:spPr>
          </p:sp>
          <p:sp>
            <p:nvSpPr>
              <p:cNvPr id="16" name="Line 16"/>
              <p:cNvSpPr/>
              <p:nvPr/>
            </p:nvSpPr>
            <p:spPr>
              <a:xfrm>
                <a:off x="1333500" y="5238750"/>
                <a:ext cx="9906000" cy="9525"/>
              </a:xfrm>
              <a:custGeom>
                <a:avLst/>
                <a:gdLst/>
                <a:ahLst/>
                <a:cxnLst/>
                <a:rect l="l" t="t" r="r" b="b"/>
                <a:pathLst>
                  <a:path w="9906000" h="9525">
                    <a:moveTo>
                      <a:pt x="0" y="0"/>
                    </a:moveTo>
                    <a:lnTo>
                      <a:pt x="9906000" y="0"/>
                    </a:lnTo>
                  </a:path>
                </a:pathLst>
              </a:custGeom>
              <a:noFill/>
              <a:ln w="14288">
                <a:solidFill>
                  <a:srgbClr val="E8E2DA"/>
                </a:solidFill>
              </a:ln>
            </p:spPr>
          </p:sp>
          <p:sp>
            <p:nvSpPr>
              <p:cNvPr id="17" name="TextBox 17"/>
              <p:cNvSpPr txBox="1"/>
              <p:nvPr/>
            </p:nvSpPr>
            <p:spPr>
              <a:xfrm>
                <a:off x="823036" y="1561624"/>
                <a:ext cx="324917" cy="190690"/>
              </a:xfrm>
              <a:prstGeom prst="rect">
                <a:avLst/>
              </a:prstGeom>
              <a:noFill/>
              <a:ln>
                <a:noFill/>
              </a:ln>
            </p:spPr>
            <p:txBody>
              <a:bodyPr wrap="none" lIns="0" tIns="0" rIns="0" bIns="0" anchor="t" anchorCtr="0">
                <a:spAutoFit/>
              </a:bodyPr>
              <a:lstStyle/>
              <a:p>
                <a:pPr algn="r"/>
                <a:r>
                  <a:rPr lang="en-US" sz="980" dirty="0">
                    <a:solidFill>
                      <a:srgbClr val="6B6B6B"/>
                    </a:solidFill>
                    <a:latin typeface="Arial"/>
                    <a:ea typeface="Arial"/>
                    <a:cs typeface="Arial"/>
                  </a:rPr>
                  <a:t>100%</a:t>
                </a:r>
              </a:p>
            </p:txBody>
          </p:sp>
          <p:sp>
            <p:nvSpPr>
              <p:cNvPr id="18" name="TextBox 18"/>
              <p:cNvSpPr txBox="1"/>
              <p:nvPr/>
            </p:nvSpPr>
            <p:spPr>
              <a:xfrm>
                <a:off x="895226" y="3371374"/>
                <a:ext cx="252727" cy="190690"/>
              </a:xfrm>
              <a:prstGeom prst="rect">
                <a:avLst/>
              </a:prstGeom>
              <a:noFill/>
              <a:ln>
                <a:noFill/>
              </a:ln>
            </p:spPr>
            <p:txBody>
              <a:bodyPr wrap="none" lIns="0" tIns="0" rIns="0" bIns="0" anchor="t" anchorCtr="0">
                <a:spAutoFit/>
              </a:bodyPr>
              <a:lstStyle/>
              <a:p>
                <a:pPr algn="r"/>
                <a:r>
                  <a:rPr lang="en-US" sz="980" dirty="0">
                    <a:solidFill>
                      <a:srgbClr val="6B6B6B"/>
                    </a:solidFill>
                    <a:latin typeface="Arial"/>
                    <a:ea typeface="Arial"/>
                    <a:cs typeface="Arial"/>
                  </a:rPr>
                  <a:t>50%</a:t>
                </a:r>
              </a:p>
            </p:txBody>
          </p:sp>
          <p:sp>
            <p:nvSpPr>
              <p:cNvPr id="19" name="TextBox 19"/>
              <p:cNvSpPr txBox="1"/>
              <p:nvPr/>
            </p:nvSpPr>
            <p:spPr>
              <a:xfrm>
                <a:off x="967416" y="5171599"/>
                <a:ext cx="180537" cy="190690"/>
              </a:xfrm>
              <a:prstGeom prst="rect">
                <a:avLst/>
              </a:prstGeom>
              <a:noFill/>
              <a:ln>
                <a:noFill/>
              </a:ln>
            </p:spPr>
            <p:txBody>
              <a:bodyPr wrap="none" lIns="0" tIns="0" rIns="0" bIns="0" anchor="t" anchorCtr="0">
                <a:spAutoFit/>
              </a:bodyPr>
              <a:lstStyle/>
              <a:p>
                <a:pPr algn="r"/>
                <a:r>
                  <a:rPr lang="en-US" sz="980" dirty="0">
                    <a:solidFill>
                      <a:srgbClr val="6B6B6B"/>
                    </a:solidFill>
                    <a:latin typeface="Arial"/>
                    <a:ea typeface="Arial"/>
                    <a:cs typeface="Arial"/>
                  </a:rPr>
                  <a:t>0%</a:t>
                </a:r>
              </a:p>
            </p:txBody>
          </p:sp>
          <p:sp>
            <p:nvSpPr>
              <p:cNvPr id="20" name="Line 20"/>
              <p:cNvSpPr/>
              <p:nvPr/>
            </p:nvSpPr>
            <p:spPr>
              <a:xfrm>
                <a:off x="1333500" y="3429000"/>
                <a:ext cx="9906000" cy="9525"/>
              </a:xfrm>
              <a:custGeom>
                <a:avLst/>
                <a:gdLst/>
                <a:ahLst/>
                <a:cxnLst/>
                <a:rect l="l" t="t" r="r" b="b"/>
                <a:pathLst>
                  <a:path w="9906000" h="9525">
                    <a:moveTo>
                      <a:pt x="0" y="0"/>
                    </a:moveTo>
                    <a:lnTo>
                      <a:pt x="9906000" y="0"/>
                    </a:lnTo>
                  </a:path>
                </a:pathLst>
              </a:custGeom>
              <a:noFill/>
              <a:ln w="9525">
                <a:solidFill>
                  <a:srgbClr val="F1EDE6"/>
                </a:solidFill>
                <a:prstDash val="dash"/>
              </a:ln>
            </p:spPr>
          </p:sp>
          <p:sp>
            <p:nvSpPr>
              <p:cNvPr id="21" name="Rectangle 21"/>
              <p:cNvSpPr/>
              <p:nvPr/>
            </p:nvSpPr>
            <p:spPr>
              <a:xfrm>
                <a:off x="2228850" y="3609975"/>
                <a:ext cx="1524000" cy="1628775"/>
              </a:xfrm>
              <a:prstGeom prst="rect">
                <a:avLst/>
              </a:prstGeom>
              <a:solidFill>
                <a:srgbClr val="B85C00"/>
              </a:solidFill>
              <a:ln>
                <a:noFill/>
              </a:ln>
            </p:spPr>
          </p:sp>
          <p:sp>
            <p:nvSpPr>
              <p:cNvPr id="22" name="TextBox 22"/>
              <p:cNvSpPr txBox="1"/>
              <p:nvPr/>
            </p:nvSpPr>
            <p:spPr>
              <a:xfrm>
                <a:off x="2827854" y="4347210"/>
                <a:ext cx="325991"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Arial"/>
                    <a:ea typeface="Arial"/>
                    <a:cs typeface="Arial"/>
                  </a:rPr>
                  <a:t>55%</a:t>
                </a:r>
              </a:p>
            </p:txBody>
          </p:sp>
          <p:sp>
            <p:nvSpPr>
              <p:cNvPr id="23" name="Rectangle 23"/>
              <p:cNvSpPr/>
              <p:nvPr/>
            </p:nvSpPr>
            <p:spPr>
              <a:xfrm>
                <a:off x="2228850" y="2524125"/>
                <a:ext cx="1524000" cy="1085850"/>
              </a:xfrm>
              <a:prstGeom prst="rect">
                <a:avLst/>
              </a:prstGeom>
              <a:solidFill>
                <a:srgbClr val="D97B2E"/>
              </a:solidFill>
              <a:ln>
                <a:noFill/>
              </a:ln>
            </p:spPr>
          </p:sp>
          <p:sp>
            <p:nvSpPr>
              <p:cNvPr id="24" name="TextBox 24"/>
              <p:cNvSpPr txBox="1"/>
              <p:nvPr/>
            </p:nvSpPr>
            <p:spPr>
              <a:xfrm>
                <a:off x="2827854" y="2985135"/>
                <a:ext cx="325991"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Arial"/>
                    <a:ea typeface="Arial"/>
                    <a:cs typeface="Arial"/>
                  </a:rPr>
                  <a:t>30%</a:t>
                </a:r>
              </a:p>
            </p:txBody>
          </p:sp>
          <p:sp>
            <p:nvSpPr>
              <p:cNvPr id="25" name="Rectangle 25"/>
              <p:cNvSpPr/>
              <p:nvPr/>
            </p:nvSpPr>
            <p:spPr>
              <a:xfrm>
                <a:off x="2228850" y="1981200"/>
                <a:ext cx="1524000" cy="542925"/>
              </a:xfrm>
              <a:prstGeom prst="rect">
                <a:avLst/>
              </a:prstGeom>
              <a:solidFill>
                <a:srgbClr val="FFA640"/>
              </a:solidFill>
              <a:ln>
                <a:noFill/>
              </a:ln>
            </p:spPr>
          </p:sp>
          <p:sp>
            <p:nvSpPr>
              <p:cNvPr id="26" name="TextBox 26"/>
              <p:cNvSpPr txBox="1"/>
              <p:nvPr/>
            </p:nvSpPr>
            <p:spPr>
              <a:xfrm>
                <a:off x="2838042" y="2174081"/>
                <a:ext cx="305617" cy="220028"/>
              </a:xfrm>
              <a:prstGeom prst="rect">
                <a:avLst/>
              </a:prstGeom>
              <a:noFill/>
              <a:ln>
                <a:noFill/>
              </a:ln>
            </p:spPr>
            <p:txBody>
              <a:bodyPr wrap="none" lIns="0" tIns="0" rIns="0" bIns="0" anchor="t" anchorCtr="0">
                <a:spAutoFit/>
              </a:bodyPr>
              <a:lstStyle/>
              <a:p>
                <a:pPr algn="ctr"/>
                <a:r>
                  <a:rPr lang="en-US" sz="1120" b="1" dirty="0">
                    <a:solidFill>
                      <a:srgbClr val="1A1A1A"/>
                    </a:solidFill>
                    <a:latin typeface="Arial"/>
                    <a:ea typeface="Arial"/>
                    <a:cs typeface="Arial"/>
                  </a:rPr>
                  <a:t>15%</a:t>
                </a:r>
              </a:p>
            </p:txBody>
          </p:sp>
          <p:sp>
            <p:nvSpPr>
              <p:cNvPr id="27" name="TextBox 27"/>
              <p:cNvSpPr txBox="1"/>
              <p:nvPr/>
            </p:nvSpPr>
            <p:spPr>
              <a:xfrm>
                <a:off x="2852936" y="5331142"/>
                <a:ext cx="275829" cy="264033"/>
              </a:xfrm>
              <a:prstGeom prst="rect">
                <a:avLst/>
              </a:prstGeom>
              <a:noFill/>
              <a:ln>
                <a:noFill/>
              </a:ln>
            </p:spPr>
            <p:txBody>
              <a:bodyPr wrap="none" lIns="0" tIns="0" rIns="0" bIns="0" anchor="t" anchorCtr="0">
                <a:spAutoFit/>
              </a:bodyPr>
              <a:lstStyle/>
              <a:p>
                <a:pPr algn="ctr"/>
                <a:r>
                  <a:rPr lang="en-US" sz="1350" b="1" dirty="0">
                    <a:solidFill>
                      <a:srgbClr val="B85C00"/>
                    </a:solidFill>
                    <a:latin typeface="Arial"/>
                    <a:ea typeface="Arial"/>
                    <a:cs typeface="Arial"/>
                  </a:rPr>
                  <a:t>OB</a:t>
                </a:r>
              </a:p>
            </p:txBody>
          </p:sp>
          <p:sp>
            <p:nvSpPr>
              <p:cNvPr id="28" name="Rectangle 28"/>
              <p:cNvSpPr/>
              <p:nvPr/>
            </p:nvSpPr>
            <p:spPr>
              <a:xfrm>
                <a:off x="5524500" y="4152900"/>
                <a:ext cx="1524000" cy="1085850"/>
              </a:xfrm>
              <a:prstGeom prst="rect">
                <a:avLst/>
              </a:prstGeom>
              <a:solidFill>
                <a:srgbClr val="FFA640"/>
              </a:solidFill>
              <a:ln>
                <a:noFill/>
              </a:ln>
            </p:spPr>
          </p:sp>
          <p:sp>
            <p:nvSpPr>
              <p:cNvPr id="29" name="TextBox 29"/>
              <p:cNvSpPr txBox="1"/>
              <p:nvPr/>
            </p:nvSpPr>
            <p:spPr>
              <a:xfrm>
                <a:off x="6123504" y="4604385"/>
                <a:ext cx="325991" cy="234696"/>
              </a:xfrm>
              <a:prstGeom prst="rect">
                <a:avLst/>
              </a:prstGeom>
              <a:noFill/>
              <a:ln>
                <a:noFill/>
              </a:ln>
            </p:spPr>
            <p:txBody>
              <a:bodyPr wrap="none" lIns="0" tIns="0" rIns="0" bIns="0" anchor="t" anchorCtr="0">
                <a:spAutoFit/>
              </a:bodyPr>
              <a:lstStyle/>
              <a:p>
                <a:pPr algn="ctr"/>
                <a:r>
                  <a:rPr lang="en-US" sz="1200" b="1" dirty="0">
                    <a:solidFill>
                      <a:srgbClr val="1A1A1A"/>
                    </a:solidFill>
                    <a:latin typeface="Arial"/>
                    <a:ea typeface="Arial"/>
                    <a:cs typeface="Arial"/>
                  </a:rPr>
                  <a:t>30%</a:t>
                </a:r>
              </a:p>
            </p:txBody>
          </p:sp>
          <p:sp>
            <p:nvSpPr>
              <p:cNvPr id="30" name="Rectangle 30"/>
              <p:cNvSpPr/>
              <p:nvPr/>
            </p:nvSpPr>
            <p:spPr>
              <a:xfrm>
                <a:off x="5524500" y="3248025"/>
                <a:ext cx="1524000" cy="904875"/>
              </a:xfrm>
              <a:prstGeom prst="rect">
                <a:avLst/>
              </a:prstGeom>
              <a:solidFill>
                <a:srgbClr val="D97B2E"/>
              </a:solidFill>
              <a:ln>
                <a:noFill/>
              </a:ln>
            </p:spPr>
          </p:sp>
          <p:sp>
            <p:nvSpPr>
              <p:cNvPr id="31" name="TextBox 31"/>
              <p:cNvSpPr txBox="1"/>
              <p:nvPr/>
            </p:nvSpPr>
            <p:spPr>
              <a:xfrm>
                <a:off x="6123504" y="3613785"/>
                <a:ext cx="325991"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Arial"/>
                    <a:ea typeface="Arial"/>
                    <a:cs typeface="Arial"/>
                  </a:rPr>
                  <a:t>25%</a:t>
                </a:r>
              </a:p>
            </p:txBody>
          </p:sp>
          <p:sp>
            <p:nvSpPr>
              <p:cNvPr id="32" name="Rectangle 32"/>
              <p:cNvSpPr/>
              <p:nvPr/>
            </p:nvSpPr>
            <p:spPr>
              <a:xfrm>
                <a:off x="5524500" y="1619250"/>
                <a:ext cx="1524000" cy="1628775"/>
              </a:xfrm>
              <a:prstGeom prst="rect">
                <a:avLst/>
              </a:prstGeom>
              <a:solidFill>
                <a:srgbClr val="B85C00"/>
              </a:solidFill>
              <a:ln>
                <a:noFill/>
              </a:ln>
            </p:spPr>
          </p:sp>
          <p:sp>
            <p:nvSpPr>
              <p:cNvPr id="33" name="TextBox 33"/>
              <p:cNvSpPr txBox="1"/>
              <p:nvPr/>
            </p:nvSpPr>
            <p:spPr>
              <a:xfrm>
                <a:off x="6123504" y="2346960"/>
                <a:ext cx="325991"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Arial"/>
                    <a:ea typeface="Arial"/>
                    <a:cs typeface="Arial"/>
                  </a:rPr>
                  <a:t>45%</a:t>
                </a:r>
              </a:p>
            </p:txBody>
          </p:sp>
          <p:sp>
            <p:nvSpPr>
              <p:cNvPr id="34" name="TextBox 34"/>
              <p:cNvSpPr txBox="1"/>
              <p:nvPr/>
            </p:nvSpPr>
            <p:spPr>
              <a:xfrm>
                <a:off x="6093139" y="5331142"/>
                <a:ext cx="386723" cy="264033"/>
              </a:xfrm>
              <a:prstGeom prst="rect">
                <a:avLst/>
              </a:prstGeom>
              <a:noFill/>
              <a:ln>
                <a:noFill/>
              </a:ln>
            </p:spPr>
            <p:txBody>
              <a:bodyPr wrap="none" lIns="0" tIns="0" rIns="0" bIns="0" anchor="t" anchorCtr="0">
                <a:spAutoFit/>
              </a:bodyPr>
              <a:lstStyle/>
              <a:p>
                <a:pPr algn="ctr"/>
                <a:r>
                  <a:rPr lang="en-US" sz="1350" b="1" dirty="0">
                    <a:solidFill>
                      <a:srgbClr val="FF7900"/>
                    </a:solidFill>
                    <a:latin typeface="Arial"/>
                    <a:ea typeface="Arial"/>
                    <a:cs typeface="Arial"/>
                  </a:rPr>
                  <a:t>OEU</a:t>
                </a:r>
              </a:p>
            </p:txBody>
          </p:sp>
          <p:sp>
            <p:nvSpPr>
              <p:cNvPr id="35" name="Rectangle 35"/>
              <p:cNvSpPr/>
              <p:nvPr/>
            </p:nvSpPr>
            <p:spPr>
              <a:xfrm>
                <a:off x="8829675" y="4152900"/>
                <a:ext cx="1524000" cy="1085850"/>
              </a:xfrm>
              <a:prstGeom prst="rect">
                <a:avLst/>
              </a:prstGeom>
              <a:solidFill>
                <a:srgbClr val="FFD9A8"/>
              </a:solidFill>
              <a:ln>
                <a:noFill/>
              </a:ln>
            </p:spPr>
          </p:sp>
          <p:sp>
            <p:nvSpPr>
              <p:cNvPr id="36" name="TextBox 36"/>
              <p:cNvSpPr txBox="1"/>
              <p:nvPr/>
            </p:nvSpPr>
            <p:spPr>
              <a:xfrm>
                <a:off x="9428679" y="4604385"/>
                <a:ext cx="325991" cy="234696"/>
              </a:xfrm>
              <a:prstGeom prst="rect">
                <a:avLst/>
              </a:prstGeom>
              <a:noFill/>
              <a:ln>
                <a:noFill/>
              </a:ln>
            </p:spPr>
            <p:txBody>
              <a:bodyPr wrap="none" lIns="0" tIns="0" rIns="0" bIns="0" anchor="t" anchorCtr="0">
                <a:spAutoFit/>
              </a:bodyPr>
              <a:lstStyle/>
              <a:p>
                <a:pPr algn="ctr"/>
                <a:r>
                  <a:rPr lang="en-US" sz="1200" b="1" dirty="0">
                    <a:solidFill>
                      <a:srgbClr val="1A1A1A"/>
                    </a:solidFill>
                    <a:latin typeface="Arial"/>
                    <a:ea typeface="Arial"/>
                    <a:cs typeface="Arial"/>
                  </a:rPr>
                  <a:t>30%</a:t>
                </a:r>
              </a:p>
            </p:txBody>
          </p:sp>
          <p:sp>
            <p:nvSpPr>
              <p:cNvPr id="37" name="Rectangle 37"/>
              <p:cNvSpPr/>
              <p:nvPr/>
            </p:nvSpPr>
            <p:spPr>
              <a:xfrm>
                <a:off x="8829675" y="3609975"/>
                <a:ext cx="1524000" cy="542925"/>
              </a:xfrm>
              <a:prstGeom prst="rect">
                <a:avLst/>
              </a:prstGeom>
              <a:solidFill>
                <a:srgbClr val="FFA640"/>
              </a:solidFill>
              <a:ln>
                <a:noFill/>
              </a:ln>
            </p:spPr>
          </p:sp>
          <p:sp>
            <p:nvSpPr>
              <p:cNvPr id="38" name="TextBox 38"/>
              <p:cNvSpPr txBox="1"/>
              <p:nvPr/>
            </p:nvSpPr>
            <p:spPr>
              <a:xfrm>
                <a:off x="9438867" y="3793331"/>
                <a:ext cx="305617" cy="220028"/>
              </a:xfrm>
              <a:prstGeom prst="rect">
                <a:avLst/>
              </a:prstGeom>
              <a:noFill/>
              <a:ln>
                <a:noFill/>
              </a:ln>
            </p:spPr>
            <p:txBody>
              <a:bodyPr wrap="none" lIns="0" tIns="0" rIns="0" bIns="0" anchor="t" anchorCtr="0">
                <a:spAutoFit/>
              </a:bodyPr>
              <a:lstStyle/>
              <a:p>
                <a:pPr algn="ctr"/>
                <a:r>
                  <a:rPr lang="en-US" sz="1120" b="1" dirty="0">
                    <a:solidFill>
                      <a:srgbClr val="1A1A1A"/>
                    </a:solidFill>
                    <a:latin typeface="Arial"/>
                    <a:ea typeface="Arial"/>
                    <a:cs typeface="Arial"/>
                  </a:rPr>
                  <a:t>15%</a:t>
                </a:r>
              </a:p>
            </p:txBody>
          </p:sp>
          <p:sp>
            <p:nvSpPr>
              <p:cNvPr id="39" name="Rectangle 39"/>
              <p:cNvSpPr/>
              <p:nvPr/>
            </p:nvSpPr>
            <p:spPr>
              <a:xfrm>
                <a:off x="8829675" y="2705100"/>
                <a:ext cx="1524000" cy="904875"/>
              </a:xfrm>
              <a:prstGeom prst="rect">
                <a:avLst/>
              </a:prstGeom>
              <a:solidFill>
                <a:srgbClr val="D97B2E"/>
              </a:solidFill>
              <a:ln>
                <a:noFill/>
              </a:ln>
            </p:spPr>
          </p:sp>
          <p:sp>
            <p:nvSpPr>
              <p:cNvPr id="40" name="TextBox 40"/>
              <p:cNvSpPr txBox="1"/>
              <p:nvPr/>
            </p:nvSpPr>
            <p:spPr>
              <a:xfrm>
                <a:off x="9428679" y="3070860"/>
                <a:ext cx="325991"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Arial"/>
                    <a:ea typeface="Arial"/>
                    <a:cs typeface="Arial"/>
                  </a:rPr>
                  <a:t>25%</a:t>
                </a:r>
              </a:p>
            </p:txBody>
          </p:sp>
          <p:sp>
            <p:nvSpPr>
              <p:cNvPr id="41" name="Rectangle 41"/>
              <p:cNvSpPr/>
              <p:nvPr/>
            </p:nvSpPr>
            <p:spPr>
              <a:xfrm>
                <a:off x="8829675" y="1619250"/>
                <a:ext cx="1524000" cy="1085850"/>
              </a:xfrm>
              <a:prstGeom prst="rect">
                <a:avLst/>
              </a:prstGeom>
              <a:solidFill>
                <a:srgbClr val="B85C00"/>
              </a:solidFill>
              <a:ln>
                <a:noFill/>
              </a:ln>
            </p:spPr>
          </p:sp>
          <p:sp>
            <p:nvSpPr>
              <p:cNvPr id="42" name="TextBox 42"/>
              <p:cNvSpPr txBox="1"/>
              <p:nvPr/>
            </p:nvSpPr>
            <p:spPr>
              <a:xfrm>
                <a:off x="9428679" y="2070735"/>
                <a:ext cx="325991"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Arial"/>
                    <a:ea typeface="Arial"/>
                    <a:cs typeface="Arial"/>
                  </a:rPr>
                  <a:t>30%</a:t>
                </a:r>
              </a:p>
            </p:txBody>
          </p:sp>
          <p:sp>
            <p:nvSpPr>
              <p:cNvPr id="43" name="TextBox 43"/>
              <p:cNvSpPr txBox="1"/>
              <p:nvPr/>
            </p:nvSpPr>
            <p:spPr>
              <a:xfrm>
                <a:off x="9322704" y="5331142"/>
                <a:ext cx="537942" cy="264033"/>
              </a:xfrm>
              <a:prstGeom prst="rect">
                <a:avLst/>
              </a:prstGeom>
              <a:noFill/>
              <a:ln>
                <a:noFill/>
              </a:ln>
            </p:spPr>
            <p:txBody>
              <a:bodyPr wrap="none" lIns="0" tIns="0" rIns="0" bIns="0" anchor="t" anchorCtr="0">
                <a:spAutoFit/>
              </a:bodyPr>
              <a:lstStyle/>
              <a:p>
                <a:pPr algn="ctr"/>
                <a:r>
                  <a:rPr lang="en-US" sz="1350" b="1" dirty="0">
                    <a:solidFill>
                      <a:srgbClr val="FFA640"/>
                    </a:solidFill>
                    <a:latin typeface="Arial"/>
                    <a:ea typeface="Arial"/>
                    <a:cs typeface="Arial"/>
                  </a:rPr>
                  <a:t>OMEA</a:t>
                </a:r>
              </a:p>
            </p:txBody>
          </p:sp>
        </p:grpSp>
      </p:grpSp>
      <p:grpSp>
        <p:nvGrpSpPr>
          <p:cNvPr id="49" name="Group 49"/>
          <p:cNvGrpSpPr/>
          <p:nvPr/>
        </p:nvGrpSpPr>
        <p:grpSpPr>
          <a:xfrm>
            <a:off x="533400" y="5715000"/>
            <a:ext cx="11125200" cy="762000"/>
            <a:chOff x="533400" y="5715000"/>
            <a:chExt cx="11125200" cy="762000"/>
          </a:xfrm>
        </p:grpSpPr>
        <p:sp>
          <p:nvSpPr>
            <p:cNvPr id="46" name="Rectangle 46"/>
            <p:cNvSpPr/>
            <p:nvPr/>
          </p:nvSpPr>
          <p:spPr>
            <a:xfrm>
              <a:off x="533400" y="5715000"/>
              <a:ext cx="11125200" cy="762000"/>
            </a:xfrm>
            <a:prstGeom prst="roundRect">
              <a:avLst>
                <a:gd name="adj" fmla="val 5000"/>
              </a:avLst>
            </a:prstGeom>
            <a:solidFill>
              <a:srgbClr val="FBF6F1"/>
            </a:solidFill>
            <a:ln w="9525">
              <a:solidFill>
                <a:srgbClr val="E8E2DA"/>
              </a:solidFill>
            </a:ln>
          </p:spPr>
        </p:sp>
        <p:sp>
          <p:nvSpPr>
            <p:cNvPr id="47" name="TextBox 47"/>
            <p:cNvSpPr txBox="1"/>
            <p:nvPr/>
          </p:nvSpPr>
          <p:spPr>
            <a:xfrm>
              <a:off x="755142" y="5874068"/>
              <a:ext cx="10246195"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核心结论：OMEA客户数量增长但单户价值（ARPA）</a:t>
              </a:r>
              <a:r>
                <a:rPr lang="zh-CN" sz="1350" b="1" dirty="0">
                  <a:solidFill>
                    <a:srgbClr val="C0392B"/>
                  </a:solidFill>
                  <a:latin typeface="Arial"/>
                  <a:ea typeface="Microsoft YaHei"/>
                  <a:cs typeface="Arial"/>
                </a:rPr>
                <a:t>下滑19%</a:t>
              </a:r>
              <a:r>
                <a:rPr lang="zh-CN" sz="1350" b="1" dirty="0">
                  <a:solidFill>
                    <a:srgbClr val="1A1A1A"/>
                  </a:solidFill>
                  <a:latin typeface="Arial"/>
                  <a:ea typeface="Microsoft YaHei"/>
                  <a:cs typeface="Arial"/>
                </a:rPr>
                <a:t>，是三区域中唯一呈现"增量不增值"结构性矛盾的市场</a:t>
              </a:r>
            </a:p>
          </p:txBody>
        </p:sp>
        <p:sp>
          <p:nvSpPr>
            <p:cNvPr id="48" name="TextBox 48"/>
            <p:cNvSpPr txBox="1"/>
            <p:nvPr/>
          </p:nvSpPr>
          <p:spPr>
            <a:xfrm>
              <a:off x="756285" y="6165056"/>
              <a:ext cx="7724394"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OEU波兰ICT占B2B36%（实证）；西班牙大企业+公共部门约70%（估）；罗马尼亚B2B+14%增速跑赢集团均值</a:t>
              </a:r>
            </a:p>
          </p:txBody>
        </p:sp>
      </p:grpSp>
      <p:grpSp>
        <p:nvGrpSpPr>
          <p:cNvPr id="52" name="Group 52"/>
          <p:cNvGrpSpPr/>
          <p:nvPr/>
        </p:nvGrpSpPr>
        <p:grpSpPr>
          <a:xfrm>
            <a:off x="528447" y="6562249"/>
            <a:ext cx="11135106" cy="190690"/>
            <a:chOff x="528447" y="6562249"/>
            <a:chExt cx="11135106" cy="190690"/>
          </a:xfrm>
        </p:grpSpPr>
        <p:sp>
          <p:nvSpPr>
            <p:cNvPr id="50" name="TextBox 50"/>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1" name="TextBox 51"/>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03</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5" name="Group 5"/>
          <p:cNvGrpSpPr/>
          <p:nvPr/>
        </p:nvGrpSpPr>
        <p:grpSpPr>
          <a:xfrm>
            <a:off x="521970" y="309562"/>
            <a:ext cx="11448288" cy="461963"/>
            <a:chOff x="521970" y="309562"/>
            <a:chExt cx="11448288" cy="461963"/>
          </a:xfrm>
        </p:grpSpPr>
        <p:sp>
          <p:nvSpPr>
            <p:cNvPr id="3" name="TextBox 3"/>
            <p:cNvSpPr txBox="1"/>
            <p:nvPr/>
          </p:nvSpPr>
          <p:spPr>
            <a:xfrm>
              <a:off x="521970" y="309562"/>
              <a:ext cx="11448288"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行业打法分化——OB深耕金融国防等成熟垂直，</a:t>
              </a:r>
              <a:r>
                <a:rPr lang="zh-CN" sz="2250" b="1" dirty="0">
                  <a:solidFill>
                    <a:srgbClr val="FF7900"/>
                  </a:solidFill>
                  <a:latin typeface="Arial"/>
                  <a:ea typeface="Microsoft YaHei"/>
                  <a:cs typeface="Arial"/>
                </a:rPr>
                <a:t>OMEA靠矿业港口基建打开增长</a:t>
              </a:r>
            </a:p>
          </p:txBody>
        </p:sp>
        <p:sp>
          <p:nvSpPr>
            <p:cNvPr id="4" name="Line 4"/>
            <p:cNvSpPr/>
            <p:nvPr/>
          </p:nvSpPr>
          <p:spPr>
            <a:xfrm>
              <a:off x="533400" y="7620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25" name="Group 25"/>
          <p:cNvGrpSpPr/>
          <p:nvPr/>
        </p:nvGrpSpPr>
        <p:grpSpPr>
          <a:xfrm>
            <a:off x="533400" y="952500"/>
            <a:ext cx="3552825" cy="4667250"/>
            <a:chOff x="533400" y="952500"/>
            <a:chExt cx="3552825" cy="4667250"/>
          </a:xfrm>
        </p:grpSpPr>
        <p:sp>
          <p:nvSpPr>
            <p:cNvPr id="6" name="Rectangle 6"/>
            <p:cNvSpPr/>
            <p:nvPr/>
          </p:nvSpPr>
          <p:spPr>
            <a:xfrm>
              <a:off x="533400" y="952500"/>
              <a:ext cx="3552825" cy="4667250"/>
            </a:xfrm>
            <a:prstGeom prst="roundRect">
              <a:avLst>
                <a:gd name="adj" fmla="val 1072"/>
              </a:avLst>
            </a:prstGeom>
            <a:solidFill>
              <a:srgbClr val="FBF6F1"/>
            </a:solidFill>
            <a:ln w="9525">
              <a:solidFill>
                <a:srgbClr val="E8E2DA"/>
              </a:solidFill>
            </a:ln>
          </p:spPr>
        </p:sp>
        <p:sp>
          <p:nvSpPr>
            <p:cNvPr id="7" name="Rectangle 7"/>
            <p:cNvSpPr/>
            <p:nvPr/>
          </p:nvSpPr>
          <p:spPr>
            <a:xfrm>
              <a:off x="533400" y="952500"/>
              <a:ext cx="3552825" cy="76200"/>
            </a:xfrm>
            <a:prstGeom prst="rect">
              <a:avLst/>
            </a:prstGeom>
            <a:solidFill>
              <a:srgbClr val="B85C00"/>
            </a:solidFill>
            <a:ln>
              <a:noFill/>
            </a:ln>
          </p:spPr>
        </p:sp>
        <p:sp>
          <p:nvSpPr>
            <p:cNvPr id="8" name="TextBox 8"/>
            <p:cNvSpPr txBox="1"/>
            <p:nvPr/>
          </p:nvSpPr>
          <p:spPr>
            <a:xfrm>
              <a:off x="754380" y="1228725"/>
              <a:ext cx="1460221" cy="293370"/>
            </a:xfrm>
            <a:prstGeom prst="rect">
              <a:avLst/>
            </a:prstGeom>
            <a:noFill/>
            <a:ln>
              <a:noFill/>
            </a:ln>
          </p:spPr>
          <p:txBody>
            <a:bodyPr wrap="none" lIns="0" tIns="0" rIns="0" bIns="0" anchor="t" anchorCtr="0">
              <a:spAutoFit/>
            </a:bodyPr>
            <a:lstStyle/>
            <a:p>
              <a:pPr algn="l"/>
              <a:r>
                <a:rPr lang="zh-CN" sz="1500" b="1" dirty="0">
                  <a:solidFill>
                    <a:srgbClr val="B85C00"/>
                  </a:solidFill>
                  <a:latin typeface="Arial"/>
                  <a:ea typeface="Microsoft YaHei"/>
                  <a:cs typeface="Arial"/>
                </a:rPr>
                <a:t>OB · 存量深耕</a:t>
              </a:r>
            </a:p>
          </p:txBody>
        </p:sp>
        <p:sp>
          <p:nvSpPr>
            <p:cNvPr id="9" name="Line 9"/>
            <p:cNvSpPr/>
            <p:nvPr/>
          </p:nvSpPr>
          <p:spPr>
            <a:xfrm>
              <a:off x="762000" y="15430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10" name="Ellipse 10"/>
            <p:cNvSpPr/>
            <p:nvPr/>
          </p:nvSpPr>
          <p:spPr>
            <a:xfrm>
              <a:off x="781050" y="1828800"/>
              <a:ext cx="76200" cy="76200"/>
            </a:xfrm>
            <a:prstGeom prst="ellipse">
              <a:avLst/>
            </a:prstGeom>
            <a:solidFill>
              <a:srgbClr val="B85C00"/>
            </a:solidFill>
            <a:ln>
              <a:noFill/>
            </a:ln>
          </p:spPr>
        </p:sp>
        <p:sp>
          <p:nvSpPr>
            <p:cNvPr id="11" name="TextBox 11"/>
            <p:cNvSpPr txBox="1"/>
            <p:nvPr/>
          </p:nvSpPr>
          <p:spPr>
            <a:xfrm>
              <a:off x="946023" y="1786414"/>
              <a:ext cx="699516"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金融保险</a:t>
              </a:r>
            </a:p>
          </p:txBody>
        </p:sp>
        <p:sp>
          <p:nvSpPr>
            <p:cNvPr id="12" name="Ellipse 12"/>
            <p:cNvSpPr/>
            <p:nvPr/>
          </p:nvSpPr>
          <p:spPr>
            <a:xfrm>
              <a:off x="781050" y="2171700"/>
              <a:ext cx="76200" cy="76200"/>
            </a:xfrm>
            <a:prstGeom prst="ellipse">
              <a:avLst/>
            </a:prstGeom>
            <a:solidFill>
              <a:srgbClr val="B85C00"/>
            </a:solidFill>
            <a:ln>
              <a:noFill/>
            </a:ln>
          </p:spPr>
        </p:sp>
        <p:sp>
          <p:nvSpPr>
            <p:cNvPr id="13" name="TextBox 13"/>
            <p:cNvSpPr txBox="1"/>
            <p:nvPr/>
          </p:nvSpPr>
          <p:spPr>
            <a:xfrm>
              <a:off x="946023" y="2129314"/>
              <a:ext cx="699516"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工业制造</a:t>
              </a:r>
            </a:p>
          </p:txBody>
        </p:sp>
        <p:sp>
          <p:nvSpPr>
            <p:cNvPr id="14" name="Ellipse 14"/>
            <p:cNvSpPr/>
            <p:nvPr/>
          </p:nvSpPr>
          <p:spPr>
            <a:xfrm>
              <a:off x="781050" y="2514600"/>
              <a:ext cx="76200" cy="76200"/>
            </a:xfrm>
            <a:prstGeom prst="ellipse">
              <a:avLst/>
            </a:prstGeom>
            <a:solidFill>
              <a:srgbClr val="B85C00"/>
            </a:solidFill>
            <a:ln>
              <a:noFill/>
            </a:ln>
          </p:spPr>
        </p:sp>
        <p:sp>
          <p:nvSpPr>
            <p:cNvPr id="15" name="TextBox 15"/>
            <p:cNvSpPr txBox="1"/>
            <p:nvPr/>
          </p:nvSpPr>
          <p:spPr>
            <a:xfrm>
              <a:off x="946023" y="2472214"/>
              <a:ext cx="699516"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汽车航空</a:t>
              </a:r>
            </a:p>
          </p:txBody>
        </p:sp>
        <p:sp>
          <p:nvSpPr>
            <p:cNvPr id="16" name="Ellipse 16"/>
            <p:cNvSpPr/>
            <p:nvPr/>
          </p:nvSpPr>
          <p:spPr>
            <a:xfrm>
              <a:off x="781050" y="2857500"/>
              <a:ext cx="76200" cy="76200"/>
            </a:xfrm>
            <a:prstGeom prst="ellipse">
              <a:avLst/>
            </a:prstGeom>
            <a:solidFill>
              <a:srgbClr val="B85C00"/>
            </a:solidFill>
            <a:ln>
              <a:noFill/>
            </a:ln>
          </p:spPr>
        </p:sp>
        <p:sp>
          <p:nvSpPr>
            <p:cNvPr id="17" name="TextBox 17"/>
            <p:cNvSpPr txBox="1"/>
            <p:nvPr/>
          </p:nvSpPr>
          <p:spPr>
            <a:xfrm>
              <a:off x="946023" y="2815114"/>
              <a:ext cx="699516"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零售物流</a:t>
              </a:r>
            </a:p>
          </p:txBody>
        </p:sp>
        <p:sp>
          <p:nvSpPr>
            <p:cNvPr id="18" name="Ellipse 18"/>
            <p:cNvSpPr/>
            <p:nvPr/>
          </p:nvSpPr>
          <p:spPr>
            <a:xfrm>
              <a:off x="781050" y="3200400"/>
              <a:ext cx="76200" cy="76200"/>
            </a:xfrm>
            <a:prstGeom prst="ellipse">
              <a:avLst/>
            </a:prstGeom>
            <a:solidFill>
              <a:srgbClr val="B85C00"/>
            </a:solidFill>
            <a:ln>
              <a:noFill/>
            </a:ln>
          </p:spPr>
        </p:sp>
        <p:sp>
          <p:nvSpPr>
            <p:cNvPr id="19" name="TextBox 19"/>
            <p:cNvSpPr txBox="1"/>
            <p:nvPr/>
          </p:nvSpPr>
          <p:spPr>
            <a:xfrm>
              <a:off x="946023" y="3158014"/>
              <a:ext cx="1663294"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国防安全（新设BU）</a:t>
              </a:r>
            </a:p>
          </p:txBody>
        </p:sp>
        <p:sp>
          <p:nvSpPr>
            <p:cNvPr id="20" name="Ellipse 20"/>
            <p:cNvSpPr/>
            <p:nvPr/>
          </p:nvSpPr>
          <p:spPr>
            <a:xfrm>
              <a:off x="781050" y="3543300"/>
              <a:ext cx="76200" cy="76200"/>
            </a:xfrm>
            <a:prstGeom prst="ellipse">
              <a:avLst/>
            </a:prstGeom>
            <a:solidFill>
              <a:srgbClr val="B85C00"/>
            </a:solidFill>
            <a:ln>
              <a:noFill/>
            </a:ln>
          </p:spPr>
        </p:sp>
        <p:sp>
          <p:nvSpPr>
            <p:cNvPr id="21" name="TextBox 21"/>
            <p:cNvSpPr txBox="1"/>
            <p:nvPr/>
          </p:nvSpPr>
          <p:spPr>
            <a:xfrm>
              <a:off x="946023" y="3500914"/>
              <a:ext cx="2125751"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医疗健康（医院集团GHT）</a:t>
              </a:r>
            </a:p>
          </p:txBody>
        </p:sp>
        <p:sp>
          <p:nvSpPr>
            <p:cNvPr id="22" name="Line 22"/>
            <p:cNvSpPr/>
            <p:nvPr/>
          </p:nvSpPr>
          <p:spPr>
            <a:xfrm>
              <a:off x="762000" y="39052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23" name="TextBox 23"/>
            <p:cNvSpPr txBox="1"/>
            <p:nvPr/>
          </p:nvSpPr>
          <p:spPr>
            <a:xfrm>
              <a:off x="756285" y="4069556"/>
              <a:ext cx="1525905"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逻辑：存量客户深耕，</a:t>
              </a:r>
            </a:p>
          </p:txBody>
        </p:sp>
        <p:sp>
          <p:nvSpPr>
            <p:cNvPr id="24" name="TextBox 24"/>
            <p:cNvSpPr txBox="1"/>
            <p:nvPr/>
          </p:nvSpPr>
          <p:spPr>
            <a:xfrm>
              <a:off x="756285" y="4279106"/>
              <a:ext cx="1525905"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成熟垂直行业稳固经营</a:t>
              </a:r>
            </a:p>
          </p:txBody>
        </p:sp>
      </p:grpSp>
      <p:grpSp>
        <p:nvGrpSpPr>
          <p:cNvPr id="46" name="Group 46"/>
          <p:cNvGrpSpPr/>
          <p:nvPr/>
        </p:nvGrpSpPr>
        <p:grpSpPr>
          <a:xfrm>
            <a:off x="4314825" y="952500"/>
            <a:ext cx="3552825" cy="4667250"/>
            <a:chOff x="4314825" y="952500"/>
            <a:chExt cx="3552825" cy="4667250"/>
          </a:xfrm>
        </p:grpSpPr>
        <p:sp>
          <p:nvSpPr>
            <p:cNvPr id="26" name="Rectangle 26"/>
            <p:cNvSpPr/>
            <p:nvPr/>
          </p:nvSpPr>
          <p:spPr>
            <a:xfrm>
              <a:off x="4314825" y="952500"/>
              <a:ext cx="3552825" cy="4667250"/>
            </a:xfrm>
            <a:prstGeom prst="roundRect">
              <a:avLst>
                <a:gd name="adj" fmla="val 1072"/>
              </a:avLst>
            </a:prstGeom>
            <a:solidFill>
              <a:srgbClr val="FBF6F1"/>
            </a:solidFill>
            <a:ln w="9525">
              <a:solidFill>
                <a:srgbClr val="E8E2DA"/>
              </a:solidFill>
            </a:ln>
          </p:spPr>
        </p:sp>
        <p:sp>
          <p:nvSpPr>
            <p:cNvPr id="27" name="Rectangle 27"/>
            <p:cNvSpPr/>
            <p:nvPr/>
          </p:nvSpPr>
          <p:spPr>
            <a:xfrm>
              <a:off x="4314825" y="952500"/>
              <a:ext cx="3552825" cy="76200"/>
            </a:xfrm>
            <a:prstGeom prst="rect">
              <a:avLst/>
            </a:prstGeom>
            <a:solidFill>
              <a:srgbClr val="FF7900"/>
            </a:solidFill>
            <a:ln>
              <a:noFill/>
            </a:ln>
          </p:spPr>
        </p:sp>
        <p:sp>
          <p:nvSpPr>
            <p:cNvPr id="28" name="TextBox 28"/>
            <p:cNvSpPr txBox="1"/>
            <p:nvPr/>
          </p:nvSpPr>
          <p:spPr>
            <a:xfrm>
              <a:off x="4535805" y="1228725"/>
              <a:ext cx="2031492" cy="293370"/>
            </a:xfrm>
            <a:prstGeom prst="rect">
              <a:avLst/>
            </a:prstGeom>
            <a:noFill/>
            <a:ln>
              <a:noFill/>
            </a:ln>
          </p:spPr>
          <p:txBody>
            <a:bodyPr wrap="none" lIns="0" tIns="0" rIns="0" bIns="0" anchor="t" anchorCtr="0">
              <a:spAutoFit/>
            </a:bodyPr>
            <a:lstStyle/>
            <a:p>
              <a:pPr algn="l"/>
              <a:r>
                <a:rPr lang="zh-CN" sz="1500" b="1" dirty="0">
                  <a:solidFill>
                    <a:srgbClr val="FF7900"/>
                  </a:solidFill>
                  <a:latin typeface="Arial"/>
                  <a:ea typeface="Microsoft YaHei"/>
                  <a:cs typeface="Arial"/>
                </a:rPr>
                <a:t>OEU · 集成能力建设</a:t>
              </a:r>
            </a:p>
          </p:txBody>
        </p:sp>
        <p:sp>
          <p:nvSpPr>
            <p:cNvPr id="29" name="Line 29"/>
            <p:cNvSpPr/>
            <p:nvPr/>
          </p:nvSpPr>
          <p:spPr>
            <a:xfrm>
              <a:off x="4543425" y="15430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30" name="Ellipse 30"/>
            <p:cNvSpPr/>
            <p:nvPr/>
          </p:nvSpPr>
          <p:spPr>
            <a:xfrm>
              <a:off x="4562475" y="1828800"/>
              <a:ext cx="76200" cy="76200"/>
            </a:xfrm>
            <a:prstGeom prst="ellipse">
              <a:avLst/>
            </a:prstGeom>
            <a:solidFill>
              <a:srgbClr val="FF7900"/>
            </a:solidFill>
            <a:ln>
              <a:noFill/>
            </a:ln>
          </p:spPr>
        </p:sp>
        <p:sp>
          <p:nvSpPr>
            <p:cNvPr id="31" name="TextBox 31"/>
            <p:cNvSpPr txBox="1"/>
            <p:nvPr/>
          </p:nvSpPr>
          <p:spPr>
            <a:xfrm>
              <a:off x="4727448" y="1786414"/>
              <a:ext cx="1980667"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波兰：IT系统集成商定位</a:t>
              </a:r>
            </a:p>
          </p:txBody>
        </p:sp>
        <p:sp>
          <p:nvSpPr>
            <p:cNvPr id="32" name="TextBox 32"/>
            <p:cNvSpPr txBox="1"/>
            <p:nvPr/>
          </p:nvSpPr>
          <p:spPr>
            <a:xfrm>
              <a:off x="4728591" y="2001202"/>
              <a:ext cx="1987935"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（BlueSoft/Craftware并购）</a:t>
              </a:r>
            </a:p>
          </p:txBody>
        </p:sp>
        <p:sp>
          <p:nvSpPr>
            <p:cNvPr id="33" name="Ellipse 33"/>
            <p:cNvSpPr/>
            <p:nvPr/>
          </p:nvSpPr>
          <p:spPr>
            <a:xfrm>
              <a:off x="4562475" y="2400300"/>
              <a:ext cx="76200" cy="76200"/>
            </a:xfrm>
            <a:prstGeom prst="ellipse">
              <a:avLst/>
            </a:prstGeom>
            <a:solidFill>
              <a:srgbClr val="FF7900"/>
            </a:solidFill>
            <a:ln>
              <a:noFill/>
            </a:ln>
          </p:spPr>
        </p:sp>
        <p:sp>
          <p:nvSpPr>
            <p:cNvPr id="34" name="TextBox 34"/>
            <p:cNvSpPr txBox="1"/>
            <p:nvPr/>
          </p:nvSpPr>
          <p:spPr>
            <a:xfrm>
              <a:off x="4727448" y="2357914"/>
              <a:ext cx="1907615"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西班牙：邮政(Correos)</a:t>
              </a:r>
            </a:p>
          </p:txBody>
        </p:sp>
        <p:sp>
          <p:nvSpPr>
            <p:cNvPr id="35" name="Ellipse 35"/>
            <p:cNvSpPr/>
            <p:nvPr/>
          </p:nvSpPr>
          <p:spPr>
            <a:xfrm>
              <a:off x="4562475" y="2743200"/>
              <a:ext cx="76200" cy="76200"/>
            </a:xfrm>
            <a:prstGeom prst="ellipse">
              <a:avLst/>
            </a:prstGeom>
            <a:solidFill>
              <a:srgbClr val="FF7900"/>
            </a:solidFill>
            <a:ln>
              <a:noFill/>
            </a:ln>
          </p:spPr>
        </p:sp>
        <p:sp>
          <p:nvSpPr>
            <p:cNvPr id="36" name="TextBox 36"/>
            <p:cNvSpPr txBox="1"/>
            <p:nvPr/>
          </p:nvSpPr>
          <p:spPr>
            <a:xfrm>
              <a:off x="4727448" y="2700814"/>
              <a:ext cx="2863401"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西班牙：地产(Merlin)/建筑(OHLA)</a:t>
              </a:r>
            </a:p>
          </p:txBody>
        </p:sp>
        <p:sp>
          <p:nvSpPr>
            <p:cNvPr id="37" name="Ellipse 37"/>
            <p:cNvSpPr/>
            <p:nvPr/>
          </p:nvSpPr>
          <p:spPr>
            <a:xfrm>
              <a:off x="4562475" y="3086100"/>
              <a:ext cx="76200" cy="76200"/>
            </a:xfrm>
            <a:prstGeom prst="ellipse">
              <a:avLst/>
            </a:prstGeom>
            <a:solidFill>
              <a:srgbClr val="FF7900"/>
            </a:solidFill>
            <a:ln>
              <a:noFill/>
            </a:ln>
          </p:spPr>
        </p:sp>
        <p:sp>
          <p:nvSpPr>
            <p:cNvPr id="38" name="TextBox 38"/>
            <p:cNvSpPr txBox="1"/>
            <p:nvPr/>
          </p:nvSpPr>
          <p:spPr>
            <a:xfrm>
              <a:off x="4727448" y="3043714"/>
              <a:ext cx="2000786"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西班牙：博彩(Loterías)</a:t>
              </a:r>
            </a:p>
          </p:txBody>
        </p:sp>
        <p:sp>
          <p:nvSpPr>
            <p:cNvPr id="39" name="Ellipse 39"/>
            <p:cNvSpPr/>
            <p:nvPr/>
          </p:nvSpPr>
          <p:spPr>
            <a:xfrm>
              <a:off x="4562475" y="3429000"/>
              <a:ext cx="76200" cy="76200"/>
            </a:xfrm>
            <a:prstGeom prst="ellipse">
              <a:avLst/>
            </a:prstGeom>
            <a:solidFill>
              <a:srgbClr val="FF7900"/>
            </a:solidFill>
            <a:ln>
              <a:noFill/>
            </a:ln>
          </p:spPr>
        </p:sp>
        <p:sp>
          <p:nvSpPr>
            <p:cNvPr id="40" name="TextBox 40"/>
            <p:cNvSpPr txBox="1"/>
            <p:nvPr/>
          </p:nvSpPr>
          <p:spPr>
            <a:xfrm>
              <a:off x="4727448" y="3386614"/>
              <a:ext cx="2393563"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西班牙：能源(TotalEnergies)</a:t>
              </a:r>
            </a:p>
          </p:txBody>
        </p:sp>
        <p:sp>
          <p:nvSpPr>
            <p:cNvPr id="41" name="Ellipse 41"/>
            <p:cNvSpPr/>
            <p:nvPr/>
          </p:nvSpPr>
          <p:spPr>
            <a:xfrm>
              <a:off x="4562475" y="3771900"/>
              <a:ext cx="76200" cy="76200"/>
            </a:xfrm>
            <a:prstGeom prst="ellipse">
              <a:avLst/>
            </a:prstGeom>
            <a:solidFill>
              <a:srgbClr val="FF7900"/>
            </a:solidFill>
            <a:ln>
              <a:noFill/>
            </a:ln>
          </p:spPr>
        </p:sp>
        <p:sp>
          <p:nvSpPr>
            <p:cNvPr id="42" name="TextBox 42"/>
            <p:cNvSpPr txBox="1"/>
            <p:nvPr/>
          </p:nvSpPr>
          <p:spPr>
            <a:xfrm>
              <a:off x="4727448" y="3729514"/>
              <a:ext cx="2606345"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罗马尼亚：网络安全(SCUT合资)</a:t>
              </a:r>
            </a:p>
          </p:txBody>
        </p:sp>
        <p:sp>
          <p:nvSpPr>
            <p:cNvPr id="43" name="Line 43"/>
            <p:cNvSpPr/>
            <p:nvPr/>
          </p:nvSpPr>
          <p:spPr>
            <a:xfrm>
              <a:off x="4543425" y="41338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44" name="TextBox 44"/>
            <p:cNvSpPr txBox="1"/>
            <p:nvPr/>
          </p:nvSpPr>
          <p:spPr>
            <a:xfrm>
              <a:off x="4537710" y="4298156"/>
              <a:ext cx="1587627"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逻辑：并购构建IT集成</a:t>
              </a:r>
            </a:p>
          </p:txBody>
        </p:sp>
        <p:sp>
          <p:nvSpPr>
            <p:cNvPr id="45" name="TextBox 45"/>
            <p:cNvSpPr txBox="1"/>
            <p:nvPr/>
          </p:nvSpPr>
          <p:spPr>
            <a:xfrm>
              <a:off x="4537710" y="4507706"/>
              <a:ext cx="1374457"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能力，复制到新市场</a:t>
              </a:r>
            </a:p>
          </p:txBody>
        </p:sp>
      </p:grpSp>
      <p:grpSp>
        <p:nvGrpSpPr>
          <p:cNvPr id="66" name="Group 66"/>
          <p:cNvGrpSpPr/>
          <p:nvPr/>
        </p:nvGrpSpPr>
        <p:grpSpPr>
          <a:xfrm>
            <a:off x="8096250" y="952500"/>
            <a:ext cx="3552825" cy="4667250"/>
            <a:chOff x="8096250" y="952500"/>
            <a:chExt cx="3552825" cy="4667250"/>
          </a:xfrm>
        </p:grpSpPr>
        <p:sp>
          <p:nvSpPr>
            <p:cNvPr id="47" name="Rectangle 47"/>
            <p:cNvSpPr/>
            <p:nvPr/>
          </p:nvSpPr>
          <p:spPr>
            <a:xfrm>
              <a:off x="8096250" y="952500"/>
              <a:ext cx="3552825" cy="4667250"/>
            </a:xfrm>
            <a:prstGeom prst="roundRect">
              <a:avLst>
                <a:gd name="adj" fmla="val 1072"/>
              </a:avLst>
            </a:prstGeom>
            <a:solidFill>
              <a:srgbClr val="FBF6F1"/>
            </a:solidFill>
            <a:ln w="9525">
              <a:solidFill>
                <a:srgbClr val="E8E2DA"/>
              </a:solidFill>
            </a:ln>
          </p:spPr>
        </p:sp>
        <p:sp>
          <p:nvSpPr>
            <p:cNvPr id="48" name="Rectangle 48"/>
            <p:cNvSpPr/>
            <p:nvPr/>
          </p:nvSpPr>
          <p:spPr>
            <a:xfrm>
              <a:off x="8096250" y="952500"/>
              <a:ext cx="3552825" cy="76200"/>
            </a:xfrm>
            <a:prstGeom prst="rect">
              <a:avLst/>
            </a:prstGeom>
            <a:solidFill>
              <a:srgbClr val="FFA640"/>
            </a:solidFill>
            <a:ln>
              <a:noFill/>
            </a:ln>
          </p:spPr>
        </p:sp>
        <p:sp>
          <p:nvSpPr>
            <p:cNvPr id="49" name="TextBox 49"/>
            <p:cNvSpPr txBox="1"/>
            <p:nvPr/>
          </p:nvSpPr>
          <p:spPr>
            <a:xfrm>
              <a:off x="8317230" y="1228725"/>
              <a:ext cx="2199513" cy="293370"/>
            </a:xfrm>
            <a:prstGeom prst="rect">
              <a:avLst/>
            </a:prstGeom>
            <a:noFill/>
            <a:ln>
              <a:noFill/>
            </a:ln>
          </p:spPr>
          <p:txBody>
            <a:bodyPr wrap="none" lIns="0" tIns="0" rIns="0" bIns="0" anchor="t" anchorCtr="0">
              <a:spAutoFit/>
            </a:bodyPr>
            <a:lstStyle/>
            <a:p>
              <a:pPr algn="l"/>
              <a:r>
                <a:rPr lang="zh-CN" sz="1500" b="1" dirty="0">
                  <a:solidFill>
                    <a:srgbClr val="E08A2E"/>
                  </a:solidFill>
                  <a:latin typeface="Arial"/>
                  <a:ea typeface="Microsoft YaHei"/>
                  <a:cs typeface="Arial"/>
                </a:rPr>
                <a:t>OMEA · 基础设施跃迁</a:t>
              </a:r>
            </a:p>
          </p:txBody>
        </p:sp>
        <p:sp>
          <p:nvSpPr>
            <p:cNvPr id="50" name="Line 50"/>
            <p:cNvSpPr/>
            <p:nvPr/>
          </p:nvSpPr>
          <p:spPr>
            <a:xfrm>
              <a:off x="8324850" y="15430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51" name="Ellipse 51"/>
            <p:cNvSpPr/>
            <p:nvPr/>
          </p:nvSpPr>
          <p:spPr>
            <a:xfrm>
              <a:off x="8343900" y="1828800"/>
              <a:ext cx="76200" cy="76200"/>
            </a:xfrm>
            <a:prstGeom prst="ellipse">
              <a:avLst/>
            </a:prstGeom>
            <a:solidFill>
              <a:srgbClr val="FFA640"/>
            </a:solidFill>
            <a:ln>
              <a:noFill/>
            </a:ln>
          </p:spPr>
        </p:sp>
        <p:sp>
          <p:nvSpPr>
            <p:cNvPr id="52" name="TextBox 52"/>
            <p:cNvSpPr txBox="1"/>
            <p:nvPr/>
          </p:nvSpPr>
          <p:spPr>
            <a:xfrm>
              <a:off x="8508873" y="1786414"/>
              <a:ext cx="2083408"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矿业(Essakane Mine马里)</a:t>
              </a:r>
            </a:p>
          </p:txBody>
        </p:sp>
        <p:sp>
          <p:nvSpPr>
            <p:cNvPr id="53" name="Ellipse 53"/>
            <p:cNvSpPr/>
            <p:nvPr/>
          </p:nvSpPr>
          <p:spPr>
            <a:xfrm>
              <a:off x="8343900" y="2171700"/>
              <a:ext cx="76200" cy="76200"/>
            </a:xfrm>
            <a:prstGeom prst="ellipse">
              <a:avLst/>
            </a:prstGeom>
            <a:solidFill>
              <a:srgbClr val="FFA640"/>
            </a:solidFill>
            <a:ln>
              <a:noFill/>
            </a:ln>
          </p:spPr>
        </p:sp>
        <p:sp>
          <p:nvSpPr>
            <p:cNvPr id="54" name="TextBox 54"/>
            <p:cNvSpPr txBox="1"/>
            <p:nvPr/>
          </p:nvSpPr>
          <p:spPr>
            <a:xfrm>
              <a:off x="8508873" y="2129314"/>
              <a:ext cx="2078599"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港口(Tanger Port马士基)</a:t>
              </a:r>
            </a:p>
          </p:txBody>
        </p:sp>
        <p:sp>
          <p:nvSpPr>
            <p:cNvPr id="55" name="Ellipse 55"/>
            <p:cNvSpPr/>
            <p:nvPr/>
          </p:nvSpPr>
          <p:spPr>
            <a:xfrm>
              <a:off x="8343900" y="2514600"/>
              <a:ext cx="76200" cy="76200"/>
            </a:xfrm>
            <a:prstGeom prst="ellipse">
              <a:avLst/>
            </a:prstGeom>
            <a:solidFill>
              <a:srgbClr val="FFA640"/>
            </a:solidFill>
            <a:ln>
              <a:noFill/>
            </a:ln>
          </p:spPr>
        </p:sp>
        <p:sp>
          <p:nvSpPr>
            <p:cNvPr id="56" name="TextBox 56"/>
            <p:cNvSpPr txBox="1"/>
            <p:nvPr/>
          </p:nvSpPr>
          <p:spPr>
            <a:xfrm>
              <a:off x="8508873" y="2472214"/>
              <a:ext cx="1639144"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港口(Aqaba CT约旦)</a:t>
              </a:r>
            </a:p>
          </p:txBody>
        </p:sp>
        <p:sp>
          <p:nvSpPr>
            <p:cNvPr id="57" name="Ellipse 57"/>
            <p:cNvSpPr/>
            <p:nvPr/>
          </p:nvSpPr>
          <p:spPr>
            <a:xfrm>
              <a:off x="8343900" y="2857500"/>
              <a:ext cx="76200" cy="76200"/>
            </a:xfrm>
            <a:prstGeom prst="ellipse">
              <a:avLst/>
            </a:prstGeom>
            <a:solidFill>
              <a:srgbClr val="FFA640"/>
            </a:solidFill>
            <a:ln>
              <a:noFill/>
            </a:ln>
          </p:spPr>
        </p:sp>
        <p:sp>
          <p:nvSpPr>
            <p:cNvPr id="58" name="TextBox 58"/>
            <p:cNvSpPr txBox="1"/>
            <p:nvPr/>
          </p:nvSpPr>
          <p:spPr>
            <a:xfrm>
              <a:off x="8508873" y="2815114"/>
              <a:ext cx="1574883"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电子政务(塞内加尔)</a:t>
              </a:r>
            </a:p>
          </p:txBody>
        </p:sp>
        <p:sp>
          <p:nvSpPr>
            <p:cNvPr id="59" name="Ellipse 59"/>
            <p:cNvSpPr/>
            <p:nvPr/>
          </p:nvSpPr>
          <p:spPr>
            <a:xfrm>
              <a:off x="8343900" y="3200400"/>
              <a:ext cx="76200" cy="76200"/>
            </a:xfrm>
            <a:prstGeom prst="ellipse">
              <a:avLst/>
            </a:prstGeom>
            <a:solidFill>
              <a:srgbClr val="FFA640"/>
            </a:solidFill>
            <a:ln>
              <a:noFill/>
            </a:ln>
          </p:spPr>
        </p:sp>
        <p:sp>
          <p:nvSpPr>
            <p:cNvPr id="60" name="TextBox 60"/>
            <p:cNvSpPr txBox="1"/>
            <p:nvPr/>
          </p:nvSpPr>
          <p:spPr>
            <a:xfrm>
              <a:off x="8508873" y="3158014"/>
              <a:ext cx="2414640"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金融科技(Orange Money信贷)</a:t>
              </a:r>
            </a:p>
          </p:txBody>
        </p:sp>
        <p:sp>
          <p:nvSpPr>
            <p:cNvPr id="61" name="Ellipse 61"/>
            <p:cNvSpPr/>
            <p:nvPr/>
          </p:nvSpPr>
          <p:spPr>
            <a:xfrm>
              <a:off x="8343900" y="3543300"/>
              <a:ext cx="76200" cy="76200"/>
            </a:xfrm>
            <a:prstGeom prst="ellipse">
              <a:avLst/>
            </a:prstGeom>
            <a:solidFill>
              <a:srgbClr val="FFA640"/>
            </a:solidFill>
            <a:ln>
              <a:noFill/>
            </a:ln>
          </p:spPr>
        </p:sp>
        <p:sp>
          <p:nvSpPr>
            <p:cNvPr id="62" name="TextBox 62"/>
            <p:cNvSpPr txBox="1"/>
            <p:nvPr/>
          </p:nvSpPr>
          <p:spPr>
            <a:xfrm>
              <a:off x="8508873" y="3500914"/>
              <a:ext cx="2444003"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能源(Orange Energies太阳能)</a:t>
              </a:r>
            </a:p>
          </p:txBody>
        </p:sp>
        <p:sp>
          <p:nvSpPr>
            <p:cNvPr id="63" name="Line 63"/>
            <p:cNvSpPr/>
            <p:nvPr/>
          </p:nvSpPr>
          <p:spPr>
            <a:xfrm>
              <a:off x="8324850" y="39052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64" name="TextBox 64"/>
            <p:cNvSpPr txBox="1"/>
            <p:nvPr/>
          </p:nvSpPr>
          <p:spPr>
            <a:xfrm>
              <a:off x="8319135" y="4069556"/>
              <a:ext cx="1525905"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逻辑：靠基建案例打开</a:t>
              </a:r>
            </a:p>
          </p:txBody>
        </p:sp>
        <p:sp>
          <p:nvSpPr>
            <p:cNvPr id="65" name="TextBox 65"/>
            <p:cNvSpPr txBox="1"/>
            <p:nvPr/>
          </p:nvSpPr>
          <p:spPr>
            <a:xfrm>
              <a:off x="8319135" y="4279106"/>
              <a:ext cx="1374457"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增长，华为深度参与</a:t>
              </a:r>
            </a:p>
          </p:txBody>
        </p:sp>
      </p:grpSp>
      <p:grpSp>
        <p:nvGrpSpPr>
          <p:cNvPr id="70" name="Group 70"/>
          <p:cNvGrpSpPr/>
          <p:nvPr/>
        </p:nvGrpSpPr>
        <p:grpSpPr>
          <a:xfrm>
            <a:off x="533400" y="5791200"/>
            <a:ext cx="11125200" cy="685800"/>
            <a:chOff x="533400" y="5791200"/>
            <a:chExt cx="11125200" cy="685800"/>
          </a:xfrm>
        </p:grpSpPr>
        <p:sp>
          <p:nvSpPr>
            <p:cNvPr id="67" name="Rectangle 67"/>
            <p:cNvSpPr/>
            <p:nvPr/>
          </p:nvSpPr>
          <p:spPr>
            <a:xfrm>
              <a:off x="533400" y="5791200"/>
              <a:ext cx="11125200" cy="685800"/>
            </a:xfrm>
            <a:prstGeom prst="roundRect">
              <a:avLst>
                <a:gd name="adj" fmla="val 5556"/>
              </a:avLst>
            </a:prstGeom>
            <a:solidFill>
              <a:srgbClr val="FBF6F1"/>
            </a:solidFill>
            <a:ln w="9525">
              <a:solidFill>
                <a:srgbClr val="E8E2DA"/>
              </a:solidFill>
            </a:ln>
          </p:spPr>
        </p:sp>
        <p:sp>
          <p:nvSpPr>
            <p:cNvPr id="68" name="TextBox 68"/>
            <p:cNvSpPr txBox="1"/>
            <p:nvPr/>
          </p:nvSpPr>
          <p:spPr>
            <a:xfrm>
              <a:off x="755142" y="5931218"/>
              <a:ext cx="9520344"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核心结论：三区域行业叙事逻辑不同——OB是</a:t>
              </a:r>
              <a:r>
                <a:rPr lang="zh-CN" sz="1350" b="1" dirty="0">
                  <a:solidFill>
                    <a:srgbClr val="B85C00"/>
                  </a:solidFill>
                  <a:latin typeface="Arial"/>
                  <a:ea typeface="Microsoft YaHei"/>
                  <a:cs typeface="Arial"/>
                </a:rPr>
                <a:t>"存量深耕"</a:t>
              </a:r>
              <a:r>
                <a:rPr lang="zh-CN" sz="1350" b="1" dirty="0">
                  <a:solidFill>
                    <a:srgbClr val="1A1A1A"/>
                  </a:solidFill>
                  <a:latin typeface="Arial"/>
                  <a:ea typeface="Microsoft YaHei"/>
                  <a:cs typeface="Arial"/>
                </a:rPr>
                <a:t>，OEU是</a:t>
              </a:r>
              <a:r>
                <a:rPr lang="zh-CN" sz="1350" b="1" dirty="0">
                  <a:solidFill>
                    <a:srgbClr val="FF7900"/>
                  </a:solidFill>
                  <a:latin typeface="Arial"/>
                  <a:ea typeface="Microsoft YaHei"/>
                  <a:cs typeface="Arial"/>
                </a:rPr>
                <a:t>"集成能力建设"</a:t>
              </a:r>
              <a:r>
                <a:rPr lang="zh-CN" sz="1350" b="1" dirty="0">
                  <a:solidFill>
                    <a:srgbClr val="1A1A1A"/>
                  </a:solidFill>
                  <a:latin typeface="Arial"/>
                  <a:ea typeface="Microsoft YaHei"/>
                  <a:cs typeface="Arial"/>
                </a:rPr>
                <a:t>，OMEA是</a:t>
              </a:r>
              <a:r>
                <a:rPr lang="zh-CN" sz="1350" b="1" dirty="0">
                  <a:solidFill>
                    <a:srgbClr val="E08A2E"/>
                  </a:solidFill>
                  <a:latin typeface="Arial"/>
                  <a:ea typeface="Microsoft YaHei"/>
                  <a:cs typeface="Arial"/>
                </a:rPr>
                <a:t>"基础设施跃迁"</a:t>
              </a:r>
            </a:p>
          </p:txBody>
        </p:sp>
        <p:sp>
          <p:nvSpPr>
            <p:cNvPr id="69" name="TextBox 69"/>
            <p:cNvSpPr txBox="1"/>
            <p:nvPr/>
          </p:nvSpPr>
          <p:spPr>
            <a:xfrm>
              <a:off x="756285" y="6184106"/>
              <a:ext cx="3787902"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OMEA的矿业港口场景是华为参与度最高的行业切入点</a:t>
              </a:r>
            </a:p>
          </p:txBody>
        </p:sp>
      </p:grpSp>
      <p:grpSp>
        <p:nvGrpSpPr>
          <p:cNvPr id="73" name="Group 73"/>
          <p:cNvGrpSpPr/>
          <p:nvPr/>
        </p:nvGrpSpPr>
        <p:grpSpPr>
          <a:xfrm>
            <a:off x="528447" y="6562249"/>
            <a:ext cx="11135106" cy="190690"/>
            <a:chOff x="528447" y="6562249"/>
            <a:chExt cx="11135106" cy="190690"/>
          </a:xfrm>
        </p:grpSpPr>
        <p:sp>
          <p:nvSpPr>
            <p:cNvPr id="71" name="TextBox 71"/>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72" name="TextBox 72"/>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04</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5" name="Group 5"/>
          <p:cNvGrpSpPr/>
          <p:nvPr/>
        </p:nvGrpSpPr>
        <p:grpSpPr>
          <a:xfrm>
            <a:off x="521970" y="309562"/>
            <a:ext cx="11136630" cy="461963"/>
            <a:chOff x="521970" y="309562"/>
            <a:chExt cx="11136630" cy="461963"/>
          </a:xfrm>
        </p:grpSpPr>
        <p:sp>
          <p:nvSpPr>
            <p:cNvPr id="3" name="TextBox 3"/>
            <p:cNvSpPr txBox="1"/>
            <p:nvPr/>
          </p:nvSpPr>
          <p:spPr>
            <a:xfrm>
              <a:off x="521970" y="309562"/>
              <a:ext cx="10321847"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Offering组合看差异——OB是全谱系DICT服务商，</a:t>
              </a:r>
              <a:r>
                <a:rPr lang="zh-CN" sz="2250" b="1" dirty="0">
                  <a:solidFill>
                    <a:srgbClr val="FF7900"/>
                  </a:solidFill>
                  <a:latin typeface="Arial"/>
                  <a:ea typeface="Microsoft YaHei"/>
                  <a:cs typeface="Arial"/>
                </a:rPr>
                <a:t>OMEA仍以连接为基座</a:t>
              </a:r>
            </a:p>
          </p:txBody>
        </p:sp>
        <p:sp>
          <p:nvSpPr>
            <p:cNvPr id="4" name="Line 4"/>
            <p:cNvSpPr/>
            <p:nvPr/>
          </p:nvSpPr>
          <p:spPr>
            <a:xfrm>
              <a:off x="533400" y="7620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25" name="Group 25"/>
          <p:cNvGrpSpPr/>
          <p:nvPr/>
        </p:nvGrpSpPr>
        <p:grpSpPr>
          <a:xfrm>
            <a:off x="533400" y="952500"/>
            <a:ext cx="3552825" cy="4667250"/>
            <a:chOff x="533400" y="952500"/>
            <a:chExt cx="3552825" cy="4667250"/>
          </a:xfrm>
        </p:grpSpPr>
        <p:sp>
          <p:nvSpPr>
            <p:cNvPr id="6" name="Rectangle 6"/>
            <p:cNvSpPr/>
            <p:nvPr/>
          </p:nvSpPr>
          <p:spPr>
            <a:xfrm>
              <a:off x="533400" y="952500"/>
              <a:ext cx="3552825" cy="4667250"/>
            </a:xfrm>
            <a:prstGeom prst="roundRect">
              <a:avLst>
                <a:gd name="adj" fmla="val 1072"/>
              </a:avLst>
            </a:prstGeom>
            <a:solidFill>
              <a:srgbClr val="FBF6F1"/>
            </a:solidFill>
            <a:ln w="9525">
              <a:solidFill>
                <a:srgbClr val="E8E2DA"/>
              </a:solidFill>
            </a:ln>
          </p:spPr>
        </p:sp>
        <p:sp>
          <p:nvSpPr>
            <p:cNvPr id="7" name="Rectangle 7"/>
            <p:cNvSpPr/>
            <p:nvPr/>
          </p:nvSpPr>
          <p:spPr>
            <a:xfrm>
              <a:off x="533400" y="952500"/>
              <a:ext cx="3552825" cy="76200"/>
            </a:xfrm>
            <a:prstGeom prst="rect">
              <a:avLst/>
            </a:prstGeom>
            <a:solidFill>
              <a:srgbClr val="B85C00"/>
            </a:solidFill>
            <a:ln>
              <a:noFill/>
            </a:ln>
          </p:spPr>
        </p:sp>
        <p:sp>
          <p:nvSpPr>
            <p:cNvPr id="8" name="TextBox 8"/>
            <p:cNvSpPr txBox="1"/>
            <p:nvPr/>
          </p:nvSpPr>
          <p:spPr>
            <a:xfrm>
              <a:off x="754380" y="1228725"/>
              <a:ext cx="1673047" cy="293370"/>
            </a:xfrm>
            <a:prstGeom prst="rect">
              <a:avLst/>
            </a:prstGeom>
            <a:noFill/>
            <a:ln>
              <a:noFill/>
            </a:ln>
          </p:spPr>
          <p:txBody>
            <a:bodyPr wrap="none" lIns="0" tIns="0" rIns="0" bIns="0" anchor="t" anchorCtr="0">
              <a:spAutoFit/>
            </a:bodyPr>
            <a:lstStyle/>
            <a:p>
              <a:pPr algn="l"/>
              <a:r>
                <a:rPr lang="zh-CN" sz="1500" b="1" dirty="0">
                  <a:solidFill>
                    <a:srgbClr val="B85C00"/>
                  </a:solidFill>
                  <a:latin typeface="Arial"/>
                  <a:ea typeface="Microsoft YaHei"/>
                  <a:cs typeface="Arial"/>
                </a:rPr>
                <a:t>OB · 全谱系DICT</a:t>
              </a:r>
            </a:p>
          </p:txBody>
        </p:sp>
        <p:sp>
          <p:nvSpPr>
            <p:cNvPr id="9" name="Line 9"/>
            <p:cNvSpPr/>
            <p:nvPr/>
          </p:nvSpPr>
          <p:spPr>
            <a:xfrm>
              <a:off x="762000" y="15430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10" name="Ellipse 10"/>
            <p:cNvSpPr/>
            <p:nvPr/>
          </p:nvSpPr>
          <p:spPr>
            <a:xfrm>
              <a:off x="781050" y="1828800"/>
              <a:ext cx="76200" cy="76200"/>
            </a:xfrm>
            <a:prstGeom prst="ellipse">
              <a:avLst/>
            </a:prstGeom>
            <a:solidFill>
              <a:srgbClr val="B85C00"/>
            </a:solidFill>
            <a:ln>
              <a:noFill/>
            </a:ln>
          </p:spPr>
        </p:sp>
        <p:sp>
          <p:nvSpPr>
            <p:cNvPr id="11" name="TextBox 11"/>
            <p:cNvSpPr txBox="1"/>
            <p:nvPr/>
          </p:nvSpPr>
          <p:spPr>
            <a:xfrm>
              <a:off x="946023" y="1786414"/>
              <a:ext cx="2190845"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Connectivity（WAN/移动）</a:t>
              </a:r>
            </a:p>
          </p:txBody>
        </p:sp>
        <p:sp>
          <p:nvSpPr>
            <p:cNvPr id="12" name="Ellipse 12"/>
            <p:cNvSpPr/>
            <p:nvPr/>
          </p:nvSpPr>
          <p:spPr>
            <a:xfrm>
              <a:off x="781050" y="2171700"/>
              <a:ext cx="76200" cy="76200"/>
            </a:xfrm>
            <a:prstGeom prst="ellipse">
              <a:avLst/>
            </a:prstGeom>
            <a:solidFill>
              <a:srgbClr val="B85C00"/>
            </a:solidFill>
            <a:ln>
              <a:noFill/>
            </a:ln>
          </p:spPr>
        </p:sp>
        <p:sp>
          <p:nvSpPr>
            <p:cNvPr id="13" name="TextBox 13"/>
            <p:cNvSpPr txBox="1"/>
            <p:nvPr/>
          </p:nvSpPr>
          <p:spPr>
            <a:xfrm>
              <a:off x="946023" y="2129314"/>
              <a:ext cx="2213758"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Security（Cyberdefense）</a:t>
              </a:r>
            </a:p>
          </p:txBody>
        </p:sp>
        <p:sp>
          <p:nvSpPr>
            <p:cNvPr id="14" name="Ellipse 14"/>
            <p:cNvSpPr/>
            <p:nvPr/>
          </p:nvSpPr>
          <p:spPr>
            <a:xfrm>
              <a:off x="781050" y="2514600"/>
              <a:ext cx="76200" cy="76200"/>
            </a:xfrm>
            <a:prstGeom prst="ellipse">
              <a:avLst/>
            </a:prstGeom>
            <a:solidFill>
              <a:srgbClr val="B85C00"/>
            </a:solidFill>
            <a:ln>
              <a:noFill/>
            </a:ln>
          </p:spPr>
        </p:sp>
        <p:sp>
          <p:nvSpPr>
            <p:cNvPr id="15" name="TextBox 15"/>
            <p:cNvSpPr txBox="1"/>
            <p:nvPr/>
          </p:nvSpPr>
          <p:spPr>
            <a:xfrm>
              <a:off x="946023" y="2472214"/>
              <a:ext cx="2098205"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Cloud（Avenue/FE/Bleu）</a:t>
              </a:r>
            </a:p>
          </p:txBody>
        </p:sp>
        <p:sp>
          <p:nvSpPr>
            <p:cNvPr id="16" name="Ellipse 16"/>
            <p:cNvSpPr/>
            <p:nvPr/>
          </p:nvSpPr>
          <p:spPr>
            <a:xfrm>
              <a:off x="781050" y="2857500"/>
              <a:ext cx="76200" cy="76200"/>
            </a:xfrm>
            <a:prstGeom prst="ellipse">
              <a:avLst/>
            </a:prstGeom>
            <a:solidFill>
              <a:srgbClr val="B85C00"/>
            </a:solidFill>
            <a:ln>
              <a:noFill/>
            </a:ln>
          </p:spPr>
        </p:sp>
        <p:sp>
          <p:nvSpPr>
            <p:cNvPr id="17" name="TextBox 17"/>
            <p:cNvSpPr txBox="1"/>
            <p:nvPr/>
          </p:nvSpPr>
          <p:spPr>
            <a:xfrm>
              <a:off x="946023" y="2815114"/>
              <a:ext cx="1447650" cy="249364"/>
            </a:xfrm>
            <a:prstGeom prst="rect">
              <a:avLst/>
            </a:prstGeom>
            <a:noFill/>
            <a:ln>
              <a:noFill/>
            </a:ln>
          </p:spPr>
          <p:txBody>
            <a:bodyPr wrap="none" lIns="0" tIns="0" rIns="0" bIns="0" anchor="t" anchorCtr="0">
              <a:spAutoFit/>
            </a:bodyPr>
            <a:lstStyle/>
            <a:p>
              <a:pPr algn="l"/>
              <a:r>
                <a:rPr lang="en-US" sz="1280" dirty="0">
                  <a:solidFill>
                    <a:srgbClr val="1A1A1A"/>
                  </a:solidFill>
                  <a:latin typeface="Arial"/>
                  <a:ea typeface="Arial"/>
                  <a:cs typeface="Arial"/>
                </a:rPr>
                <a:t>Digital Workplace</a:t>
              </a:r>
            </a:p>
          </p:txBody>
        </p:sp>
        <p:sp>
          <p:nvSpPr>
            <p:cNvPr id="18" name="Ellipse 18"/>
            <p:cNvSpPr/>
            <p:nvPr/>
          </p:nvSpPr>
          <p:spPr>
            <a:xfrm>
              <a:off x="781050" y="3200400"/>
              <a:ext cx="76200" cy="76200"/>
            </a:xfrm>
            <a:prstGeom prst="ellipse">
              <a:avLst/>
            </a:prstGeom>
            <a:solidFill>
              <a:srgbClr val="B85C00"/>
            </a:solidFill>
            <a:ln>
              <a:noFill/>
            </a:ln>
          </p:spPr>
        </p:sp>
        <p:sp>
          <p:nvSpPr>
            <p:cNvPr id="19" name="TextBox 19"/>
            <p:cNvSpPr txBox="1"/>
            <p:nvPr/>
          </p:nvSpPr>
          <p:spPr>
            <a:xfrm>
              <a:off x="946023" y="3158014"/>
              <a:ext cx="754247" cy="249364"/>
            </a:xfrm>
            <a:prstGeom prst="rect">
              <a:avLst/>
            </a:prstGeom>
            <a:noFill/>
            <a:ln>
              <a:noFill/>
            </a:ln>
          </p:spPr>
          <p:txBody>
            <a:bodyPr wrap="none" lIns="0" tIns="0" rIns="0" bIns="0" anchor="t" anchorCtr="0">
              <a:spAutoFit/>
            </a:bodyPr>
            <a:lstStyle/>
            <a:p>
              <a:pPr algn="l"/>
              <a:r>
                <a:rPr lang="en-US" sz="1280" dirty="0">
                  <a:solidFill>
                    <a:srgbClr val="1A1A1A"/>
                  </a:solidFill>
                  <a:latin typeface="Arial"/>
                  <a:ea typeface="Arial"/>
                  <a:cs typeface="Arial"/>
                </a:rPr>
                <a:t>Data &amp; AI</a:t>
              </a:r>
            </a:p>
          </p:txBody>
        </p:sp>
        <p:sp>
          <p:nvSpPr>
            <p:cNvPr id="20" name="Ellipse 20"/>
            <p:cNvSpPr/>
            <p:nvPr/>
          </p:nvSpPr>
          <p:spPr>
            <a:xfrm>
              <a:off x="781050" y="3543300"/>
              <a:ext cx="76200" cy="76200"/>
            </a:xfrm>
            <a:prstGeom prst="ellipse">
              <a:avLst/>
            </a:prstGeom>
            <a:solidFill>
              <a:srgbClr val="B85C00"/>
            </a:solidFill>
            <a:ln>
              <a:noFill/>
            </a:ln>
          </p:spPr>
        </p:sp>
        <p:sp>
          <p:nvSpPr>
            <p:cNvPr id="21" name="TextBox 21"/>
            <p:cNvSpPr txBox="1"/>
            <p:nvPr/>
          </p:nvSpPr>
          <p:spPr>
            <a:xfrm>
              <a:off x="946023" y="3500914"/>
              <a:ext cx="1937578" cy="249364"/>
            </a:xfrm>
            <a:prstGeom prst="rect">
              <a:avLst/>
            </a:prstGeom>
            <a:noFill/>
            <a:ln>
              <a:noFill/>
            </a:ln>
          </p:spPr>
          <p:txBody>
            <a:bodyPr wrap="none" lIns="0" tIns="0" rIns="0" bIns="0" anchor="t" anchorCtr="0">
              <a:spAutoFit/>
            </a:bodyPr>
            <a:lstStyle/>
            <a:p>
              <a:pPr algn="l"/>
              <a:r>
                <a:rPr lang="en-US" sz="1280" dirty="0">
                  <a:solidFill>
                    <a:srgbClr val="1A1A1A"/>
                  </a:solidFill>
                  <a:latin typeface="Arial"/>
                  <a:ea typeface="Arial"/>
                  <a:cs typeface="Arial"/>
                </a:rPr>
                <a:t>Consulting &amp; Innovation</a:t>
              </a:r>
            </a:p>
          </p:txBody>
        </p:sp>
        <p:sp>
          <p:nvSpPr>
            <p:cNvPr id="22" name="Line 22"/>
            <p:cNvSpPr/>
            <p:nvPr/>
          </p:nvSpPr>
          <p:spPr>
            <a:xfrm>
              <a:off x="762000" y="39052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23" name="TextBox 23"/>
            <p:cNvSpPr txBox="1"/>
            <p:nvPr/>
          </p:nvSpPr>
          <p:spPr>
            <a:xfrm>
              <a:off x="756285" y="4069556"/>
              <a:ext cx="1368850"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6大Offering并行，</a:t>
              </a:r>
            </a:p>
          </p:txBody>
        </p:sp>
        <p:sp>
          <p:nvSpPr>
            <p:cNvPr id="24" name="TextBox 24"/>
            <p:cNvSpPr txBox="1"/>
            <p:nvPr/>
          </p:nvSpPr>
          <p:spPr>
            <a:xfrm>
              <a:off x="756285" y="4279106"/>
              <a:ext cx="1351740"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连接占比已降至37%</a:t>
              </a:r>
            </a:p>
          </p:txBody>
        </p:sp>
      </p:grpSp>
      <p:grpSp>
        <p:nvGrpSpPr>
          <p:cNvPr id="41" name="Group 41"/>
          <p:cNvGrpSpPr/>
          <p:nvPr/>
        </p:nvGrpSpPr>
        <p:grpSpPr>
          <a:xfrm>
            <a:off x="4314825" y="952500"/>
            <a:ext cx="3552825" cy="4667250"/>
            <a:chOff x="4314825" y="952500"/>
            <a:chExt cx="3552825" cy="4667250"/>
          </a:xfrm>
        </p:grpSpPr>
        <p:sp>
          <p:nvSpPr>
            <p:cNvPr id="26" name="Rectangle 26"/>
            <p:cNvSpPr/>
            <p:nvPr/>
          </p:nvSpPr>
          <p:spPr>
            <a:xfrm>
              <a:off x="4314825" y="952500"/>
              <a:ext cx="3552825" cy="4667250"/>
            </a:xfrm>
            <a:prstGeom prst="roundRect">
              <a:avLst>
                <a:gd name="adj" fmla="val 1072"/>
              </a:avLst>
            </a:prstGeom>
            <a:solidFill>
              <a:srgbClr val="FBF6F1"/>
            </a:solidFill>
            <a:ln w="9525">
              <a:solidFill>
                <a:srgbClr val="E8E2DA"/>
              </a:solidFill>
            </a:ln>
          </p:spPr>
        </p:sp>
        <p:sp>
          <p:nvSpPr>
            <p:cNvPr id="27" name="Rectangle 27"/>
            <p:cNvSpPr/>
            <p:nvPr/>
          </p:nvSpPr>
          <p:spPr>
            <a:xfrm>
              <a:off x="4314825" y="952500"/>
              <a:ext cx="3552825" cy="76200"/>
            </a:xfrm>
            <a:prstGeom prst="rect">
              <a:avLst/>
            </a:prstGeom>
            <a:solidFill>
              <a:srgbClr val="FF7900"/>
            </a:solidFill>
            <a:ln>
              <a:noFill/>
            </a:ln>
          </p:spPr>
        </p:sp>
        <p:sp>
          <p:nvSpPr>
            <p:cNvPr id="28" name="TextBox 28"/>
            <p:cNvSpPr txBox="1"/>
            <p:nvPr/>
          </p:nvSpPr>
          <p:spPr>
            <a:xfrm>
              <a:off x="4535805" y="1228725"/>
              <a:ext cx="2154707" cy="293370"/>
            </a:xfrm>
            <a:prstGeom prst="rect">
              <a:avLst/>
            </a:prstGeom>
            <a:noFill/>
            <a:ln>
              <a:noFill/>
            </a:ln>
          </p:spPr>
          <p:txBody>
            <a:bodyPr wrap="none" lIns="0" tIns="0" rIns="0" bIns="0" anchor="t" anchorCtr="0">
              <a:spAutoFit/>
            </a:bodyPr>
            <a:lstStyle/>
            <a:p>
              <a:pPr algn="l"/>
              <a:r>
                <a:rPr lang="zh-CN" sz="1500" b="1" dirty="0">
                  <a:solidFill>
                    <a:srgbClr val="FF7900"/>
                  </a:solidFill>
                  <a:latin typeface="Arial"/>
                  <a:ea typeface="Microsoft YaHei"/>
                  <a:cs typeface="Arial"/>
                </a:rPr>
                <a:t>OEU · 连接+集成起步</a:t>
              </a:r>
            </a:p>
          </p:txBody>
        </p:sp>
        <p:sp>
          <p:nvSpPr>
            <p:cNvPr id="29" name="Line 29"/>
            <p:cNvSpPr/>
            <p:nvPr/>
          </p:nvSpPr>
          <p:spPr>
            <a:xfrm>
              <a:off x="4543425" y="15430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30" name="Ellipse 30"/>
            <p:cNvSpPr/>
            <p:nvPr/>
          </p:nvSpPr>
          <p:spPr>
            <a:xfrm>
              <a:off x="4562475" y="1828800"/>
              <a:ext cx="76200" cy="76200"/>
            </a:xfrm>
            <a:prstGeom prst="ellipse">
              <a:avLst/>
            </a:prstGeom>
            <a:solidFill>
              <a:srgbClr val="FF7900"/>
            </a:solidFill>
            <a:ln>
              <a:noFill/>
            </a:ln>
          </p:spPr>
        </p:sp>
        <p:sp>
          <p:nvSpPr>
            <p:cNvPr id="31" name="TextBox 31"/>
            <p:cNvSpPr txBox="1"/>
            <p:nvPr/>
          </p:nvSpPr>
          <p:spPr>
            <a:xfrm>
              <a:off x="4727448" y="1786414"/>
              <a:ext cx="2080412"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连接为基座（WAN/移动）</a:t>
              </a:r>
            </a:p>
          </p:txBody>
        </p:sp>
        <p:sp>
          <p:nvSpPr>
            <p:cNvPr id="32" name="Ellipse 32"/>
            <p:cNvSpPr/>
            <p:nvPr/>
          </p:nvSpPr>
          <p:spPr>
            <a:xfrm>
              <a:off x="4562475" y="2171700"/>
              <a:ext cx="76200" cy="76200"/>
            </a:xfrm>
            <a:prstGeom prst="ellipse">
              <a:avLst/>
            </a:prstGeom>
            <a:solidFill>
              <a:srgbClr val="FF7900"/>
            </a:solidFill>
            <a:ln>
              <a:noFill/>
            </a:ln>
          </p:spPr>
        </p:sp>
        <p:sp>
          <p:nvSpPr>
            <p:cNvPr id="33" name="TextBox 33"/>
            <p:cNvSpPr txBox="1"/>
            <p:nvPr/>
          </p:nvSpPr>
          <p:spPr>
            <a:xfrm>
              <a:off x="4727448" y="2129314"/>
              <a:ext cx="2922047"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IT集成（波兰BlueSoft/Craftware）</a:t>
              </a:r>
            </a:p>
          </p:txBody>
        </p:sp>
        <p:sp>
          <p:nvSpPr>
            <p:cNvPr id="34" name="Ellipse 34"/>
            <p:cNvSpPr/>
            <p:nvPr/>
          </p:nvSpPr>
          <p:spPr>
            <a:xfrm>
              <a:off x="4562475" y="2514600"/>
              <a:ext cx="76200" cy="76200"/>
            </a:xfrm>
            <a:prstGeom prst="ellipse">
              <a:avLst/>
            </a:prstGeom>
            <a:solidFill>
              <a:srgbClr val="FF7900"/>
            </a:solidFill>
            <a:ln>
              <a:noFill/>
            </a:ln>
          </p:spPr>
        </p:sp>
        <p:sp>
          <p:nvSpPr>
            <p:cNvPr id="35" name="TextBox 35"/>
            <p:cNvSpPr txBox="1"/>
            <p:nvPr/>
          </p:nvSpPr>
          <p:spPr>
            <a:xfrm>
              <a:off x="4727448" y="2472214"/>
              <a:ext cx="2225497"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网络安全（罗马尼亚SCUT）</a:t>
              </a:r>
            </a:p>
          </p:txBody>
        </p:sp>
        <p:sp>
          <p:nvSpPr>
            <p:cNvPr id="36" name="Ellipse 36"/>
            <p:cNvSpPr/>
            <p:nvPr/>
          </p:nvSpPr>
          <p:spPr>
            <a:xfrm>
              <a:off x="4562475" y="2857500"/>
              <a:ext cx="76200" cy="76200"/>
            </a:xfrm>
            <a:prstGeom prst="ellipse">
              <a:avLst/>
            </a:prstGeom>
            <a:solidFill>
              <a:srgbClr val="FF7900"/>
            </a:solidFill>
            <a:ln>
              <a:noFill/>
            </a:ln>
          </p:spPr>
        </p:sp>
        <p:sp>
          <p:nvSpPr>
            <p:cNvPr id="37" name="TextBox 37"/>
            <p:cNvSpPr txBox="1"/>
            <p:nvPr/>
          </p:nvSpPr>
          <p:spPr>
            <a:xfrm>
              <a:off x="4727448" y="2815114"/>
              <a:ext cx="2347953"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IoT/5G专网（西班牙新签约）</a:t>
              </a:r>
            </a:p>
          </p:txBody>
        </p:sp>
        <p:sp>
          <p:nvSpPr>
            <p:cNvPr id="38" name="Line 38"/>
            <p:cNvSpPr/>
            <p:nvPr/>
          </p:nvSpPr>
          <p:spPr>
            <a:xfrm>
              <a:off x="4543425" y="32194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39" name="TextBox 39"/>
            <p:cNvSpPr txBox="1"/>
            <p:nvPr/>
          </p:nvSpPr>
          <p:spPr>
            <a:xfrm>
              <a:off x="4537710" y="3383756"/>
              <a:ext cx="1435608"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波兰ICT占B2B36%，</a:t>
              </a:r>
            </a:p>
          </p:txBody>
        </p:sp>
        <p:sp>
          <p:nvSpPr>
            <p:cNvPr id="40" name="TextBox 40"/>
            <p:cNvSpPr txBox="1"/>
            <p:nvPr/>
          </p:nvSpPr>
          <p:spPr>
            <a:xfrm>
              <a:off x="4537710" y="3593306"/>
              <a:ext cx="1525905"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其他国家仍偏连接为主</a:t>
              </a:r>
            </a:p>
          </p:txBody>
        </p:sp>
      </p:grpSp>
      <p:grpSp>
        <p:nvGrpSpPr>
          <p:cNvPr id="59" name="Group 59"/>
          <p:cNvGrpSpPr/>
          <p:nvPr/>
        </p:nvGrpSpPr>
        <p:grpSpPr>
          <a:xfrm>
            <a:off x="8096250" y="952500"/>
            <a:ext cx="3552825" cy="4667250"/>
            <a:chOff x="8096250" y="952500"/>
            <a:chExt cx="3552825" cy="4667250"/>
          </a:xfrm>
        </p:grpSpPr>
        <p:sp>
          <p:nvSpPr>
            <p:cNvPr id="42" name="Rectangle 42"/>
            <p:cNvSpPr/>
            <p:nvPr/>
          </p:nvSpPr>
          <p:spPr>
            <a:xfrm>
              <a:off x="8096250" y="952500"/>
              <a:ext cx="3552825" cy="4667250"/>
            </a:xfrm>
            <a:prstGeom prst="roundRect">
              <a:avLst>
                <a:gd name="adj" fmla="val 1072"/>
              </a:avLst>
            </a:prstGeom>
            <a:solidFill>
              <a:srgbClr val="FBF6F1"/>
            </a:solidFill>
            <a:ln w="9525">
              <a:solidFill>
                <a:srgbClr val="E8E2DA"/>
              </a:solidFill>
            </a:ln>
          </p:spPr>
        </p:sp>
        <p:sp>
          <p:nvSpPr>
            <p:cNvPr id="43" name="Rectangle 43"/>
            <p:cNvSpPr/>
            <p:nvPr/>
          </p:nvSpPr>
          <p:spPr>
            <a:xfrm>
              <a:off x="8096250" y="952500"/>
              <a:ext cx="3552825" cy="76200"/>
            </a:xfrm>
            <a:prstGeom prst="rect">
              <a:avLst/>
            </a:prstGeom>
            <a:solidFill>
              <a:srgbClr val="FFA640"/>
            </a:solidFill>
            <a:ln>
              <a:noFill/>
            </a:ln>
          </p:spPr>
        </p:sp>
        <p:sp>
          <p:nvSpPr>
            <p:cNvPr id="44" name="TextBox 44"/>
            <p:cNvSpPr txBox="1"/>
            <p:nvPr/>
          </p:nvSpPr>
          <p:spPr>
            <a:xfrm>
              <a:off x="8317230" y="1228725"/>
              <a:ext cx="2188312" cy="293370"/>
            </a:xfrm>
            <a:prstGeom prst="rect">
              <a:avLst/>
            </a:prstGeom>
            <a:noFill/>
            <a:ln>
              <a:noFill/>
            </a:ln>
          </p:spPr>
          <p:txBody>
            <a:bodyPr wrap="none" lIns="0" tIns="0" rIns="0" bIns="0" anchor="t" anchorCtr="0">
              <a:spAutoFit/>
            </a:bodyPr>
            <a:lstStyle/>
            <a:p>
              <a:pPr algn="l"/>
              <a:r>
                <a:rPr lang="zh-CN" sz="1500" b="1" dirty="0">
                  <a:solidFill>
                    <a:srgbClr val="E08A2E"/>
                  </a:solidFill>
                  <a:latin typeface="Arial"/>
                  <a:ea typeface="Microsoft YaHei"/>
                  <a:cs typeface="Arial"/>
                </a:rPr>
                <a:t>OMEA · 连接+ICT加速</a:t>
              </a:r>
            </a:p>
          </p:txBody>
        </p:sp>
        <p:sp>
          <p:nvSpPr>
            <p:cNvPr id="45" name="Line 45"/>
            <p:cNvSpPr/>
            <p:nvPr/>
          </p:nvSpPr>
          <p:spPr>
            <a:xfrm>
              <a:off x="8324850" y="15430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46" name="Ellipse 46"/>
            <p:cNvSpPr/>
            <p:nvPr/>
          </p:nvSpPr>
          <p:spPr>
            <a:xfrm>
              <a:off x="8343900" y="1828800"/>
              <a:ext cx="76200" cy="76200"/>
            </a:xfrm>
            <a:prstGeom prst="ellipse">
              <a:avLst/>
            </a:prstGeom>
            <a:solidFill>
              <a:srgbClr val="FFA640"/>
            </a:solidFill>
            <a:ln>
              <a:noFill/>
            </a:ln>
          </p:spPr>
        </p:sp>
        <p:sp>
          <p:nvSpPr>
            <p:cNvPr id="47" name="TextBox 47"/>
            <p:cNvSpPr txBox="1"/>
            <p:nvPr/>
          </p:nvSpPr>
          <p:spPr>
            <a:xfrm>
              <a:off x="8508873" y="1786414"/>
              <a:ext cx="2225497"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核心连接（移动数据+FBB）</a:t>
              </a:r>
            </a:p>
          </p:txBody>
        </p:sp>
        <p:sp>
          <p:nvSpPr>
            <p:cNvPr id="48" name="Ellipse 48"/>
            <p:cNvSpPr/>
            <p:nvPr/>
          </p:nvSpPr>
          <p:spPr>
            <a:xfrm>
              <a:off x="8343900" y="2171700"/>
              <a:ext cx="76200" cy="76200"/>
            </a:xfrm>
            <a:prstGeom prst="ellipse">
              <a:avLst/>
            </a:prstGeom>
            <a:solidFill>
              <a:srgbClr val="FFA640"/>
            </a:solidFill>
            <a:ln>
              <a:noFill/>
            </a:ln>
          </p:spPr>
        </p:sp>
        <p:sp>
          <p:nvSpPr>
            <p:cNvPr id="49" name="TextBox 49"/>
            <p:cNvSpPr txBox="1"/>
            <p:nvPr/>
          </p:nvSpPr>
          <p:spPr>
            <a:xfrm>
              <a:off x="8508873" y="2129314"/>
              <a:ext cx="2098548"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ICT标准化打包（G3计划）</a:t>
              </a:r>
            </a:p>
          </p:txBody>
        </p:sp>
        <p:sp>
          <p:nvSpPr>
            <p:cNvPr id="50" name="Ellipse 50"/>
            <p:cNvSpPr/>
            <p:nvPr/>
          </p:nvSpPr>
          <p:spPr>
            <a:xfrm>
              <a:off x="8343900" y="2514600"/>
              <a:ext cx="76200" cy="76200"/>
            </a:xfrm>
            <a:prstGeom prst="ellipse">
              <a:avLst/>
            </a:prstGeom>
            <a:solidFill>
              <a:srgbClr val="FFA640"/>
            </a:solidFill>
            <a:ln>
              <a:noFill/>
            </a:ln>
          </p:spPr>
        </p:sp>
        <p:sp>
          <p:nvSpPr>
            <p:cNvPr id="51" name="TextBox 51"/>
            <p:cNvSpPr txBox="1"/>
            <p:nvPr/>
          </p:nvSpPr>
          <p:spPr>
            <a:xfrm>
              <a:off x="8508873" y="2472214"/>
              <a:ext cx="1877079"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Orange Money金融科技</a:t>
              </a:r>
            </a:p>
          </p:txBody>
        </p:sp>
        <p:sp>
          <p:nvSpPr>
            <p:cNvPr id="52" name="Ellipse 52"/>
            <p:cNvSpPr/>
            <p:nvPr/>
          </p:nvSpPr>
          <p:spPr>
            <a:xfrm>
              <a:off x="8343900" y="2857500"/>
              <a:ext cx="76200" cy="76200"/>
            </a:xfrm>
            <a:prstGeom prst="ellipse">
              <a:avLst/>
            </a:prstGeom>
            <a:solidFill>
              <a:srgbClr val="FFA640"/>
            </a:solidFill>
            <a:ln>
              <a:noFill/>
            </a:ln>
          </p:spPr>
        </p:sp>
        <p:sp>
          <p:nvSpPr>
            <p:cNvPr id="53" name="TextBox 53"/>
            <p:cNvSpPr txBox="1"/>
            <p:nvPr/>
          </p:nvSpPr>
          <p:spPr>
            <a:xfrm>
              <a:off x="8508873" y="2815114"/>
              <a:ext cx="2080644"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Orange Energies能源服务</a:t>
              </a:r>
            </a:p>
          </p:txBody>
        </p:sp>
        <p:sp>
          <p:nvSpPr>
            <p:cNvPr id="54" name="Ellipse 54"/>
            <p:cNvSpPr/>
            <p:nvPr/>
          </p:nvSpPr>
          <p:spPr>
            <a:xfrm>
              <a:off x="8343900" y="3200400"/>
              <a:ext cx="76200" cy="76200"/>
            </a:xfrm>
            <a:prstGeom prst="ellipse">
              <a:avLst/>
            </a:prstGeom>
            <a:solidFill>
              <a:srgbClr val="FFA640"/>
            </a:solidFill>
            <a:ln>
              <a:noFill/>
            </a:ln>
          </p:spPr>
        </p:sp>
        <p:sp>
          <p:nvSpPr>
            <p:cNvPr id="55" name="TextBox 55"/>
            <p:cNvSpPr txBox="1"/>
            <p:nvPr/>
          </p:nvSpPr>
          <p:spPr>
            <a:xfrm>
              <a:off x="8508873" y="3158014"/>
              <a:ext cx="1872609" cy="249364"/>
            </a:xfrm>
            <a:prstGeom prst="rect">
              <a:avLst/>
            </a:prstGeom>
            <a:noFill/>
            <a:ln>
              <a:noFill/>
            </a:ln>
          </p:spPr>
          <p:txBody>
            <a:bodyPr wrap="none" lIns="0" tIns="0" rIns="0" bIns="0" anchor="t" anchorCtr="0">
              <a:spAutoFit/>
            </a:bodyPr>
            <a:lstStyle/>
            <a:p>
              <a:pPr algn="l"/>
              <a:r>
                <a:rPr lang="zh-CN" sz="1280" dirty="0">
                  <a:solidFill>
                    <a:srgbClr val="1A1A1A"/>
                  </a:solidFill>
                  <a:latin typeface="Arial"/>
                  <a:ea typeface="Microsoft YaHei"/>
                  <a:cs typeface="Arial"/>
                </a:rPr>
                <a:t>AI（Live Intelligence）</a:t>
              </a:r>
            </a:p>
          </p:txBody>
        </p:sp>
        <p:sp>
          <p:nvSpPr>
            <p:cNvPr id="56" name="Line 56"/>
            <p:cNvSpPr/>
            <p:nvPr/>
          </p:nvSpPr>
          <p:spPr>
            <a:xfrm>
              <a:off x="8324850" y="35623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57" name="TextBox 57"/>
            <p:cNvSpPr txBox="1"/>
            <p:nvPr/>
          </p:nvSpPr>
          <p:spPr>
            <a:xfrm>
              <a:off x="8319135" y="3726656"/>
              <a:ext cx="1643634"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ICT仅占8.3%但+28%，</a:t>
              </a:r>
            </a:p>
          </p:txBody>
        </p:sp>
        <p:sp>
          <p:nvSpPr>
            <p:cNvPr id="58" name="TextBox 58"/>
            <p:cNvSpPr txBox="1"/>
            <p:nvPr/>
          </p:nvSpPr>
          <p:spPr>
            <a:xfrm>
              <a:off x="8319135" y="3936206"/>
              <a:ext cx="1223010"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是弹性最大的市场</a:t>
              </a:r>
            </a:p>
          </p:txBody>
        </p:sp>
      </p:grpSp>
      <p:grpSp>
        <p:nvGrpSpPr>
          <p:cNvPr id="63" name="Group 63"/>
          <p:cNvGrpSpPr/>
          <p:nvPr/>
        </p:nvGrpSpPr>
        <p:grpSpPr>
          <a:xfrm>
            <a:off x="533400" y="5791200"/>
            <a:ext cx="11125200" cy="685800"/>
            <a:chOff x="533400" y="5791200"/>
            <a:chExt cx="11125200" cy="685800"/>
          </a:xfrm>
        </p:grpSpPr>
        <p:sp>
          <p:nvSpPr>
            <p:cNvPr id="60" name="Rectangle 60"/>
            <p:cNvSpPr/>
            <p:nvPr/>
          </p:nvSpPr>
          <p:spPr>
            <a:xfrm>
              <a:off x="533400" y="5791200"/>
              <a:ext cx="11125200" cy="685800"/>
            </a:xfrm>
            <a:prstGeom prst="roundRect">
              <a:avLst>
                <a:gd name="adj" fmla="val 5556"/>
              </a:avLst>
            </a:prstGeom>
            <a:solidFill>
              <a:srgbClr val="FBF6F1"/>
            </a:solidFill>
            <a:ln w="9525">
              <a:solidFill>
                <a:srgbClr val="E8E2DA"/>
              </a:solidFill>
            </a:ln>
          </p:spPr>
        </p:sp>
        <p:sp>
          <p:nvSpPr>
            <p:cNvPr id="61" name="TextBox 61"/>
            <p:cNvSpPr txBox="1"/>
            <p:nvPr/>
          </p:nvSpPr>
          <p:spPr>
            <a:xfrm>
              <a:off x="755142" y="5931218"/>
              <a:ext cx="9744430"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核心结论：OMEA的ICT占B2B收入仅</a:t>
              </a:r>
              <a:r>
                <a:rPr lang="en-US" sz="1350" b="1" dirty="0">
                  <a:solidFill>
                    <a:srgbClr val="C0392B"/>
                  </a:solidFill>
                  <a:latin typeface="Arial"/>
                  <a:ea typeface="Arial"/>
                  <a:cs typeface="Arial"/>
                </a:rPr>
                <a:t>8.3%</a:t>
              </a:r>
              <a:r>
                <a:rPr lang="zh-CN" sz="1350" b="1" dirty="0">
                  <a:solidFill>
                    <a:srgbClr val="1A1A1A"/>
                  </a:solidFill>
                  <a:latin typeface="Arial"/>
                  <a:ea typeface="Microsoft YaHei"/>
                  <a:cs typeface="Arial"/>
                </a:rPr>
                <a:t>（现状）但增速</a:t>
              </a:r>
              <a:r>
                <a:rPr lang="en-US" sz="1350" b="1" dirty="0">
                  <a:solidFill>
                    <a:srgbClr val="2E8B57"/>
                  </a:solidFill>
                  <a:latin typeface="Arial"/>
                  <a:ea typeface="Arial"/>
                  <a:cs typeface="Arial"/>
                </a:rPr>
                <a:t>28%</a:t>
              </a:r>
              <a:r>
                <a:rPr lang="zh-CN" sz="1350" b="1" dirty="0">
                  <a:solidFill>
                    <a:srgbClr val="1A1A1A"/>
                  </a:solidFill>
                  <a:latin typeface="Arial"/>
                  <a:ea typeface="Microsoft YaHei"/>
                  <a:cs typeface="Arial"/>
                </a:rPr>
                <a:t>，是Offering结构最"年轻"、增长弹性最大的市场</a:t>
              </a:r>
            </a:p>
          </p:txBody>
        </p:sp>
        <p:sp>
          <p:nvSpPr>
            <p:cNvPr id="62" name="TextBox 62"/>
            <p:cNvSpPr txBox="1"/>
            <p:nvPr/>
          </p:nvSpPr>
          <p:spPr>
            <a:xfrm>
              <a:off x="756285" y="6184106"/>
              <a:ext cx="4772025"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对比OB连接占比已降至37%，OMEA连接依赖度仍是三区域中最高的</a:t>
              </a:r>
            </a:p>
          </p:txBody>
        </p:sp>
      </p:grpSp>
      <p:grpSp>
        <p:nvGrpSpPr>
          <p:cNvPr id="66" name="Group 66"/>
          <p:cNvGrpSpPr/>
          <p:nvPr/>
        </p:nvGrpSpPr>
        <p:grpSpPr>
          <a:xfrm>
            <a:off x="528447" y="6562249"/>
            <a:ext cx="11135106" cy="190690"/>
            <a:chOff x="528447" y="6562249"/>
            <a:chExt cx="11135106" cy="190690"/>
          </a:xfrm>
        </p:grpSpPr>
        <p:sp>
          <p:nvSpPr>
            <p:cNvPr id="64" name="TextBox 64"/>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65" name="TextBox 65"/>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05</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5" name="Group 5"/>
          <p:cNvGrpSpPr/>
          <p:nvPr/>
        </p:nvGrpSpPr>
        <p:grpSpPr>
          <a:xfrm>
            <a:off x="521970" y="309562"/>
            <a:ext cx="11397882" cy="461963"/>
            <a:chOff x="521970" y="309562"/>
            <a:chExt cx="11397882" cy="461963"/>
          </a:xfrm>
        </p:grpSpPr>
        <p:sp>
          <p:nvSpPr>
            <p:cNvPr id="3" name="TextBox 3"/>
            <p:cNvSpPr txBox="1"/>
            <p:nvPr/>
          </p:nvSpPr>
          <p:spPr>
            <a:xfrm>
              <a:off x="521970" y="309562"/>
              <a:ext cx="11397882"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三区域商业模式权重不同——OB管理服务占73%，</a:t>
              </a:r>
              <a:r>
                <a:rPr lang="zh-CN" sz="2250" b="1" dirty="0">
                  <a:solidFill>
                    <a:srgbClr val="FF7900"/>
                  </a:solidFill>
                  <a:latin typeface="Arial"/>
                  <a:ea typeface="Microsoft YaHei"/>
                  <a:cs typeface="Arial"/>
                </a:rPr>
                <a:t>OMEA集成转售是未来突破口</a:t>
              </a:r>
            </a:p>
          </p:txBody>
        </p:sp>
        <p:sp>
          <p:nvSpPr>
            <p:cNvPr id="4" name="Line 4"/>
            <p:cNvSpPr/>
            <p:nvPr/>
          </p:nvSpPr>
          <p:spPr>
            <a:xfrm>
              <a:off x="533400" y="7620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8" name="Group 8"/>
          <p:cNvGrpSpPr/>
          <p:nvPr/>
        </p:nvGrpSpPr>
        <p:grpSpPr>
          <a:xfrm>
            <a:off x="5468729" y="803910"/>
            <a:ext cx="6215985" cy="234696"/>
            <a:chOff x="5468729" y="803910"/>
            <a:chExt cx="6215985" cy="234696"/>
          </a:xfrm>
        </p:grpSpPr>
        <p:sp>
          <p:nvSpPr>
            <p:cNvPr id="6" name="TextBox 6"/>
            <p:cNvSpPr txBox="1"/>
            <p:nvPr/>
          </p:nvSpPr>
          <p:spPr>
            <a:xfrm>
              <a:off x="5468729" y="803910"/>
              <a:ext cx="2397542" cy="234696"/>
            </a:xfrm>
            <a:prstGeom prst="rect">
              <a:avLst/>
            </a:prstGeom>
            <a:noFill/>
            <a:ln>
              <a:noFill/>
            </a:ln>
          </p:spPr>
          <p:txBody>
            <a:bodyPr wrap="none" lIns="0" tIns="0" rIns="0" bIns="0" anchor="t" anchorCtr="0">
              <a:spAutoFit/>
            </a:bodyPr>
            <a:lstStyle/>
            <a:p>
              <a:pPr algn="ctr"/>
              <a:r>
                <a:rPr lang="zh-CN" sz="1200" b="1" dirty="0">
                  <a:solidFill>
                    <a:srgbClr val="6B6B6B"/>
                  </a:solidFill>
                  <a:latin typeface="Arial"/>
                  <a:ea typeface="Microsoft YaHei"/>
                  <a:cs typeface="Arial"/>
                </a:rPr>
                <a:t>Managed Service（管理服务）</a:t>
              </a:r>
            </a:p>
          </p:txBody>
        </p:sp>
        <p:sp>
          <p:nvSpPr>
            <p:cNvPr id="7" name="TextBox 7"/>
            <p:cNvSpPr txBox="1"/>
            <p:nvPr/>
          </p:nvSpPr>
          <p:spPr>
            <a:xfrm>
              <a:off x="8889285" y="803910"/>
              <a:ext cx="2795429" cy="234696"/>
            </a:xfrm>
            <a:prstGeom prst="rect">
              <a:avLst/>
            </a:prstGeom>
            <a:noFill/>
            <a:ln>
              <a:noFill/>
            </a:ln>
          </p:spPr>
          <p:txBody>
            <a:bodyPr wrap="none" lIns="0" tIns="0" rIns="0" bIns="0" anchor="t" anchorCtr="0">
              <a:spAutoFit/>
            </a:bodyPr>
            <a:lstStyle/>
            <a:p>
              <a:pPr algn="ctr"/>
              <a:r>
                <a:rPr lang="zh-CN" sz="1200" b="1" dirty="0">
                  <a:solidFill>
                    <a:srgbClr val="6B6B6B"/>
                  </a:solidFill>
                  <a:latin typeface="Arial"/>
                  <a:ea typeface="Microsoft YaHei"/>
                  <a:cs typeface="Arial"/>
                </a:rPr>
                <a:t>集成/转售（Integration &amp; Resale）</a:t>
              </a:r>
            </a:p>
          </p:txBody>
        </p:sp>
      </p:grpSp>
      <p:grpSp>
        <p:nvGrpSpPr>
          <p:cNvPr id="24" name="Group 24"/>
          <p:cNvGrpSpPr/>
          <p:nvPr/>
        </p:nvGrpSpPr>
        <p:grpSpPr>
          <a:xfrm>
            <a:off x="533400" y="1009650"/>
            <a:ext cx="11125200" cy="1552575"/>
            <a:chOff x="533400" y="1009650"/>
            <a:chExt cx="11125200" cy="1552575"/>
          </a:xfrm>
        </p:grpSpPr>
        <p:sp>
          <p:nvSpPr>
            <p:cNvPr id="9" name="Rectangle 9"/>
            <p:cNvSpPr/>
            <p:nvPr/>
          </p:nvSpPr>
          <p:spPr>
            <a:xfrm>
              <a:off x="533400" y="1009650"/>
              <a:ext cx="11125200" cy="228600"/>
            </a:xfrm>
            <a:prstGeom prst="rect">
              <a:avLst/>
            </a:prstGeom>
            <a:solidFill>
              <a:srgbClr val="B85C00">
                <a:alpha val="12000"/>
              </a:srgbClr>
            </a:solidFill>
            <a:ln>
              <a:noFill/>
            </a:ln>
          </p:spPr>
        </p:sp>
        <p:sp>
          <p:nvSpPr>
            <p:cNvPr id="10" name="TextBox 10"/>
            <p:cNvSpPr txBox="1"/>
            <p:nvPr/>
          </p:nvSpPr>
          <p:spPr>
            <a:xfrm>
              <a:off x="661035" y="1050131"/>
              <a:ext cx="1688640" cy="220028"/>
            </a:xfrm>
            <a:prstGeom prst="rect">
              <a:avLst/>
            </a:prstGeom>
            <a:noFill/>
            <a:ln>
              <a:noFill/>
            </a:ln>
          </p:spPr>
          <p:txBody>
            <a:bodyPr wrap="none" lIns="0" tIns="0" rIns="0" bIns="0" anchor="t" anchorCtr="0">
              <a:spAutoFit/>
            </a:bodyPr>
            <a:lstStyle/>
            <a:p>
              <a:pPr algn="l"/>
              <a:r>
                <a:rPr lang="en-US" sz="1120" b="1" dirty="0">
                  <a:solidFill>
                    <a:srgbClr val="B85C00"/>
                  </a:solidFill>
                  <a:latin typeface="Arial"/>
                  <a:ea typeface="Arial"/>
                  <a:cs typeface="Arial"/>
                </a:rPr>
                <a:t>OB · Orange Business</a:t>
              </a:r>
            </a:p>
          </p:txBody>
        </p:sp>
        <p:sp>
          <p:nvSpPr>
            <p:cNvPr id="11" name="Rectangle 11"/>
            <p:cNvSpPr/>
            <p:nvPr/>
          </p:nvSpPr>
          <p:spPr>
            <a:xfrm>
              <a:off x="533400" y="1323975"/>
              <a:ext cx="5286375" cy="1238250"/>
            </a:xfrm>
            <a:prstGeom prst="roundRect">
              <a:avLst>
                <a:gd name="adj" fmla="val 3077"/>
              </a:avLst>
            </a:prstGeom>
            <a:solidFill>
              <a:srgbClr val="FBF6F1"/>
            </a:solidFill>
            <a:ln w="9525">
              <a:solidFill>
                <a:srgbClr val="E8E2DA"/>
              </a:solidFill>
            </a:ln>
          </p:spPr>
        </p:sp>
        <p:sp>
          <p:nvSpPr>
            <p:cNvPr id="12" name="Rectangle 12"/>
            <p:cNvSpPr/>
            <p:nvPr/>
          </p:nvSpPr>
          <p:spPr>
            <a:xfrm>
              <a:off x="533400" y="1323975"/>
              <a:ext cx="38100" cy="1238250"/>
            </a:xfrm>
            <a:prstGeom prst="rect">
              <a:avLst/>
            </a:prstGeom>
            <a:solidFill>
              <a:srgbClr val="B85C00"/>
            </a:solidFill>
            <a:ln>
              <a:noFill/>
            </a:ln>
          </p:spPr>
        </p:sp>
        <p:sp>
          <p:nvSpPr>
            <p:cNvPr id="13" name="TextBox 13"/>
            <p:cNvSpPr txBox="1"/>
            <p:nvPr/>
          </p:nvSpPr>
          <p:spPr>
            <a:xfrm>
              <a:off x="736092" y="1463992"/>
              <a:ext cx="1543033" cy="264033"/>
            </a:xfrm>
            <a:prstGeom prst="rect">
              <a:avLst/>
            </a:prstGeom>
            <a:noFill/>
            <a:ln>
              <a:noFill/>
            </a:ln>
          </p:spPr>
          <p:txBody>
            <a:bodyPr wrap="none" lIns="0" tIns="0" rIns="0" bIns="0" anchor="t" anchorCtr="0">
              <a:spAutoFit/>
            </a:bodyPr>
            <a:lstStyle/>
            <a:p>
              <a:pPr algn="l"/>
              <a:r>
                <a:rPr lang="en-US" sz="1350" b="1" dirty="0">
                  <a:solidFill>
                    <a:srgbClr val="1A1A1A"/>
                  </a:solidFill>
                  <a:latin typeface="Arial"/>
                  <a:ea typeface="Arial"/>
                  <a:cs typeface="Arial"/>
                </a:rPr>
                <a:t>Managed Service</a:t>
              </a:r>
            </a:p>
          </p:txBody>
        </p:sp>
        <p:sp>
          <p:nvSpPr>
            <p:cNvPr id="14" name="TextBox 14"/>
            <p:cNvSpPr txBox="1"/>
            <p:nvPr/>
          </p:nvSpPr>
          <p:spPr>
            <a:xfrm>
              <a:off x="734568" y="1726882"/>
              <a:ext cx="1754101" cy="322707"/>
            </a:xfrm>
            <a:prstGeom prst="rect">
              <a:avLst/>
            </a:prstGeom>
            <a:noFill/>
            <a:ln>
              <a:noFill/>
            </a:ln>
          </p:spPr>
          <p:txBody>
            <a:bodyPr wrap="none" lIns="0" tIns="0" rIns="0" bIns="0" anchor="t" anchorCtr="0">
              <a:spAutoFit/>
            </a:bodyPr>
            <a:lstStyle/>
            <a:p>
              <a:pPr algn="l"/>
              <a:r>
                <a:rPr lang="zh-CN" sz="1650" b="1" dirty="0">
                  <a:solidFill>
                    <a:srgbClr val="B85C00"/>
                  </a:solidFill>
                  <a:latin typeface="Arial"/>
                  <a:ea typeface="Microsoft YaHei"/>
                  <a:cs typeface="Arial"/>
                </a:rPr>
                <a:t>5,377M€（估）</a:t>
              </a:r>
            </a:p>
          </p:txBody>
        </p:sp>
        <p:sp>
          <p:nvSpPr>
            <p:cNvPr id="15" name="TextBox 15"/>
            <p:cNvSpPr txBox="1"/>
            <p:nvPr/>
          </p:nvSpPr>
          <p:spPr>
            <a:xfrm>
              <a:off x="736854" y="2042160"/>
              <a:ext cx="2294631"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WAN/LAN/Cloud/Security托管</a:t>
              </a:r>
            </a:p>
          </p:txBody>
        </p:sp>
        <p:sp>
          <p:nvSpPr>
            <p:cNvPr id="16" name="TextBox 16"/>
            <p:cNvSpPr txBox="1"/>
            <p:nvPr/>
          </p:nvSpPr>
          <p:spPr>
            <a:xfrm>
              <a:off x="736854" y="2251710"/>
              <a:ext cx="795680"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占比约73%</a:t>
              </a:r>
            </a:p>
          </p:txBody>
        </p:sp>
        <p:sp>
          <p:nvSpPr>
            <p:cNvPr id="17" name="Polygon 17"/>
            <p:cNvSpPr/>
            <p:nvPr/>
          </p:nvSpPr>
          <p:spPr>
            <a:xfrm>
              <a:off x="5905500" y="1857375"/>
              <a:ext cx="190500" cy="171450"/>
            </a:xfrm>
            <a:custGeom>
              <a:avLst/>
              <a:gdLst/>
              <a:ahLst/>
              <a:cxnLst/>
              <a:rect l="l" t="t" r="r" b="b"/>
              <a:pathLst>
                <a:path w="190500" h="171450">
                  <a:moveTo>
                    <a:pt x="0" y="0"/>
                  </a:moveTo>
                  <a:lnTo>
                    <a:pt x="190500" y="85725"/>
                  </a:lnTo>
                  <a:lnTo>
                    <a:pt x="0" y="171450"/>
                  </a:lnTo>
                  <a:close/>
                </a:path>
              </a:pathLst>
            </a:custGeom>
            <a:solidFill>
              <a:srgbClr val="B85C00"/>
            </a:solidFill>
            <a:ln>
              <a:noFill/>
            </a:ln>
          </p:spPr>
        </p:sp>
        <p:sp>
          <p:nvSpPr>
            <p:cNvPr id="18" name="Rectangle 18"/>
            <p:cNvSpPr/>
            <p:nvPr/>
          </p:nvSpPr>
          <p:spPr>
            <a:xfrm>
              <a:off x="6191250" y="1323975"/>
              <a:ext cx="5467350" cy="1238250"/>
            </a:xfrm>
            <a:prstGeom prst="roundRect">
              <a:avLst>
                <a:gd name="adj" fmla="val 3077"/>
              </a:avLst>
            </a:prstGeom>
            <a:solidFill>
              <a:srgbClr val="FBF6F1"/>
            </a:solidFill>
            <a:ln w="9525">
              <a:solidFill>
                <a:srgbClr val="E8E2DA"/>
              </a:solidFill>
            </a:ln>
          </p:spPr>
        </p:sp>
        <p:sp>
          <p:nvSpPr>
            <p:cNvPr id="19" name="Rectangle 19"/>
            <p:cNvSpPr/>
            <p:nvPr/>
          </p:nvSpPr>
          <p:spPr>
            <a:xfrm>
              <a:off x="6191250" y="1323975"/>
              <a:ext cx="38100" cy="1238250"/>
            </a:xfrm>
            <a:prstGeom prst="rect">
              <a:avLst/>
            </a:prstGeom>
            <a:solidFill>
              <a:srgbClr val="B85C00"/>
            </a:solidFill>
            <a:ln>
              <a:noFill/>
            </a:ln>
          </p:spPr>
        </p:sp>
        <p:sp>
          <p:nvSpPr>
            <p:cNvPr id="20" name="TextBox 20"/>
            <p:cNvSpPr txBox="1"/>
            <p:nvPr/>
          </p:nvSpPr>
          <p:spPr>
            <a:xfrm>
              <a:off x="6393942" y="1463992"/>
              <a:ext cx="881965"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集成/转售</a:t>
              </a:r>
            </a:p>
          </p:txBody>
        </p:sp>
        <p:sp>
          <p:nvSpPr>
            <p:cNvPr id="21" name="TextBox 21"/>
            <p:cNvSpPr txBox="1"/>
            <p:nvPr/>
          </p:nvSpPr>
          <p:spPr>
            <a:xfrm>
              <a:off x="6392418" y="1726882"/>
              <a:ext cx="1754101" cy="322707"/>
            </a:xfrm>
            <a:prstGeom prst="rect">
              <a:avLst/>
            </a:prstGeom>
            <a:noFill/>
            <a:ln>
              <a:noFill/>
            </a:ln>
          </p:spPr>
          <p:txBody>
            <a:bodyPr wrap="none" lIns="0" tIns="0" rIns="0" bIns="0" anchor="t" anchorCtr="0">
              <a:spAutoFit/>
            </a:bodyPr>
            <a:lstStyle/>
            <a:p>
              <a:pPr algn="l"/>
              <a:r>
                <a:rPr lang="zh-CN" sz="1650" b="1" dirty="0">
                  <a:solidFill>
                    <a:srgbClr val="B85C00"/>
                  </a:solidFill>
                  <a:latin typeface="Arial"/>
                  <a:ea typeface="Microsoft YaHei"/>
                  <a:cs typeface="Arial"/>
                </a:rPr>
                <a:t>1,950M€（估）</a:t>
              </a:r>
            </a:p>
          </p:txBody>
        </p:sp>
        <p:sp>
          <p:nvSpPr>
            <p:cNvPr id="22" name="TextBox 22"/>
            <p:cNvSpPr txBox="1"/>
            <p:nvPr/>
          </p:nvSpPr>
          <p:spPr>
            <a:xfrm>
              <a:off x="6394704" y="2042160"/>
              <a:ext cx="2376221"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IT硬件软件转售、垂直行业总集</a:t>
              </a:r>
            </a:p>
          </p:txBody>
        </p:sp>
        <p:sp>
          <p:nvSpPr>
            <p:cNvPr id="23" name="TextBox 23"/>
            <p:cNvSpPr txBox="1"/>
            <p:nvPr/>
          </p:nvSpPr>
          <p:spPr>
            <a:xfrm>
              <a:off x="6394704" y="2251710"/>
              <a:ext cx="795680"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占比约27%</a:t>
              </a:r>
            </a:p>
          </p:txBody>
        </p:sp>
      </p:grpSp>
      <p:grpSp>
        <p:nvGrpSpPr>
          <p:cNvPr id="40" name="Group 40"/>
          <p:cNvGrpSpPr/>
          <p:nvPr/>
        </p:nvGrpSpPr>
        <p:grpSpPr>
          <a:xfrm>
            <a:off x="533400" y="2705100"/>
            <a:ext cx="11125200" cy="1552575"/>
            <a:chOff x="533400" y="2705100"/>
            <a:chExt cx="11125200" cy="1552575"/>
          </a:xfrm>
        </p:grpSpPr>
        <p:sp>
          <p:nvSpPr>
            <p:cNvPr id="25" name="Rectangle 25"/>
            <p:cNvSpPr/>
            <p:nvPr/>
          </p:nvSpPr>
          <p:spPr>
            <a:xfrm>
              <a:off x="533400" y="2705100"/>
              <a:ext cx="11125200" cy="228600"/>
            </a:xfrm>
            <a:prstGeom prst="rect">
              <a:avLst/>
            </a:prstGeom>
            <a:solidFill>
              <a:srgbClr val="FF7900">
                <a:alpha val="12000"/>
              </a:srgbClr>
            </a:solidFill>
            <a:ln>
              <a:noFill/>
            </a:ln>
          </p:spPr>
        </p:sp>
        <p:sp>
          <p:nvSpPr>
            <p:cNvPr id="26" name="TextBox 26"/>
            <p:cNvSpPr txBox="1"/>
            <p:nvPr/>
          </p:nvSpPr>
          <p:spPr>
            <a:xfrm>
              <a:off x="661035" y="2745581"/>
              <a:ext cx="1647835" cy="220028"/>
            </a:xfrm>
            <a:prstGeom prst="rect">
              <a:avLst/>
            </a:prstGeom>
            <a:noFill/>
            <a:ln>
              <a:noFill/>
            </a:ln>
          </p:spPr>
          <p:txBody>
            <a:bodyPr wrap="none" lIns="0" tIns="0" rIns="0" bIns="0" anchor="t" anchorCtr="0">
              <a:spAutoFit/>
            </a:bodyPr>
            <a:lstStyle/>
            <a:p>
              <a:pPr algn="l"/>
              <a:r>
                <a:rPr lang="en-US" sz="1120" b="1" dirty="0">
                  <a:solidFill>
                    <a:srgbClr val="FF7900"/>
                  </a:solidFill>
                  <a:latin typeface="Arial"/>
                  <a:ea typeface="Arial"/>
                  <a:cs typeface="Arial"/>
                </a:rPr>
                <a:t>OEU · Orange Europe</a:t>
              </a:r>
            </a:p>
          </p:txBody>
        </p:sp>
        <p:sp>
          <p:nvSpPr>
            <p:cNvPr id="27" name="Rectangle 27"/>
            <p:cNvSpPr/>
            <p:nvPr/>
          </p:nvSpPr>
          <p:spPr>
            <a:xfrm>
              <a:off x="533400" y="3019425"/>
              <a:ext cx="5286375" cy="1238250"/>
            </a:xfrm>
            <a:prstGeom prst="roundRect">
              <a:avLst>
                <a:gd name="adj" fmla="val 3077"/>
              </a:avLst>
            </a:prstGeom>
            <a:solidFill>
              <a:srgbClr val="FBF6F1"/>
            </a:solidFill>
            <a:ln w="9525">
              <a:solidFill>
                <a:srgbClr val="E8E2DA"/>
              </a:solidFill>
            </a:ln>
          </p:spPr>
        </p:sp>
        <p:sp>
          <p:nvSpPr>
            <p:cNvPr id="28" name="Rectangle 28"/>
            <p:cNvSpPr/>
            <p:nvPr/>
          </p:nvSpPr>
          <p:spPr>
            <a:xfrm>
              <a:off x="533400" y="3019425"/>
              <a:ext cx="38100" cy="1238250"/>
            </a:xfrm>
            <a:prstGeom prst="rect">
              <a:avLst/>
            </a:prstGeom>
            <a:solidFill>
              <a:srgbClr val="FF7900"/>
            </a:solidFill>
            <a:ln>
              <a:noFill/>
            </a:ln>
          </p:spPr>
        </p:sp>
        <p:sp>
          <p:nvSpPr>
            <p:cNvPr id="29" name="TextBox 29"/>
            <p:cNvSpPr txBox="1"/>
            <p:nvPr/>
          </p:nvSpPr>
          <p:spPr>
            <a:xfrm>
              <a:off x="736092" y="3159442"/>
              <a:ext cx="1543033" cy="264033"/>
            </a:xfrm>
            <a:prstGeom prst="rect">
              <a:avLst/>
            </a:prstGeom>
            <a:noFill/>
            <a:ln>
              <a:noFill/>
            </a:ln>
          </p:spPr>
          <p:txBody>
            <a:bodyPr wrap="none" lIns="0" tIns="0" rIns="0" bIns="0" anchor="t" anchorCtr="0">
              <a:spAutoFit/>
            </a:bodyPr>
            <a:lstStyle/>
            <a:p>
              <a:pPr algn="l"/>
              <a:r>
                <a:rPr lang="en-US" sz="1350" b="1" dirty="0">
                  <a:solidFill>
                    <a:srgbClr val="1A1A1A"/>
                  </a:solidFill>
                  <a:latin typeface="Arial"/>
                  <a:ea typeface="Arial"/>
                  <a:cs typeface="Arial"/>
                </a:rPr>
                <a:t>Managed Service</a:t>
              </a:r>
            </a:p>
          </p:txBody>
        </p:sp>
        <p:sp>
          <p:nvSpPr>
            <p:cNvPr id="30" name="TextBox 30"/>
            <p:cNvSpPr txBox="1"/>
            <p:nvPr/>
          </p:nvSpPr>
          <p:spPr>
            <a:xfrm>
              <a:off x="734568" y="3422332"/>
              <a:ext cx="1952566" cy="322707"/>
            </a:xfrm>
            <a:prstGeom prst="rect">
              <a:avLst/>
            </a:prstGeom>
            <a:noFill/>
            <a:ln>
              <a:noFill/>
            </a:ln>
          </p:spPr>
          <p:txBody>
            <a:bodyPr wrap="none" lIns="0" tIns="0" rIns="0" bIns="0" anchor="t" anchorCtr="0">
              <a:spAutoFit/>
            </a:bodyPr>
            <a:lstStyle/>
            <a:p>
              <a:pPr algn="l"/>
              <a:r>
                <a:rPr lang="zh-CN" sz="1650" b="1" dirty="0">
                  <a:solidFill>
                    <a:srgbClr val="FF7900"/>
                  </a:solidFill>
                  <a:latin typeface="Arial"/>
                  <a:ea typeface="Microsoft YaHei"/>
                  <a:cs typeface="Arial"/>
                </a:rPr>
                <a:t>约19-20亿€（估）</a:t>
              </a:r>
            </a:p>
          </p:txBody>
        </p:sp>
        <p:sp>
          <p:nvSpPr>
            <p:cNvPr id="31" name="TextBox 31"/>
            <p:cNvSpPr txBox="1"/>
            <p:nvPr/>
          </p:nvSpPr>
          <p:spPr>
            <a:xfrm>
              <a:off x="736854" y="3737610"/>
              <a:ext cx="981456"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连接管理为主</a:t>
              </a:r>
            </a:p>
          </p:txBody>
        </p:sp>
        <p:sp>
          <p:nvSpPr>
            <p:cNvPr id="32" name="TextBox 32"/>
            <p:cNvSpPr txBox="1"/>
            <p:nvPr/>
          </p:nvSpPr>
          <p:spPr>
            <a:xfrm>
              <a:off x="736854" y="3947160"/>
              <a:ext cx="1546860"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占比约70-75%（估）</a:t>
              </a:r>
            </a:p>
          </p:txBody>
        </p:sp>
        <p:sp>
          <p:nvSpPr>
            <p:cNvPr id="33" name="Polygon 33"/>
            <p:cNvSpPr/>
            <p:nvPr/>
          </p:nvSpPr>
          <p:spPr>
            <a:xfrm>
              <a:off x="5905500" y="3552825"/>
              <a:ext cx="190500" cy="171450"/>
            </a:xfrm>
            <a:custGeom>
              <a:avLst/>
              <a:gdLst/>
              <a:ahLst/>
              <a:cxnLst/>
              <a:rect l="l" t="t" r="r" b="b"/>
              <a:pathLst>
                <a:path w="190500" h="171450">
                  <a:moveTo>
                    <a:pt x="0" y="0"/>
                  </a:moveTo>
                  <a:lnTo>
                    <a:pt x="190500" y="85725"/>
                  </a:lnTo>
                  <a:lnTo>
                    <a:pt x="0" y="171450"/>
                  </a:lnTo>
                  <a:close/>
                </a:path>
              </a:pathLst>
            </a:custGeom>
            <a:solidFill>
              <a:srgbClr val="FF7900"/>
            </a:solidFill>
            <a:ln>
              <a:noFill/>
            </a:ln>
          </p:spPr>
        </p:sp>
        <p:sp>
          <p:nvSpPr>
            <p:cNvPr id="34" name="Rectangle 34"/>
            <p:cNvSpPr/>
            <p:nvPr/>
          </p:nvSpPr>
          <p:spPr>
            <a:xfrm>
              <a:off x="6191250" y="3019425"/>
              <a:ext cx="5467350" cy="1238250"/>
            </a:xfrm>
            <a:prstGeom prst="roundRect">
              <a:avLst>
                <a:gd name="adj" fmla="val 3077"/>
              </a:avLst>
            </a:prstGeom>
            <a:solidFill>
              <a:srgbClr val="FBF6F1"/>
            </a:solidFill>
            <a:ln w="9525">
              <a:solidFill>
                <a:srgbClr val="E8E2DA"/>
              </a:solidFill>
            </a:ln>
          </p:spPr>
        </p:sp>
        <p:sp>
          <p:nvSpPr>
            <p:cNvPr id="35" name="Rectangle 35"/>
            <p:cNvSpPr/>
            <p:nvPr/>
          </p:nvSpPr>
          <p:spPr>
            <a:xfrm>
              <a:off x="6191250" y="3019425"/>
              <a:ext cx="38100" cy="1238250"/>
            </a:xfrm>
            <a:prstGeom prst="rect">
              <a:avLst/>
            </a:prstGeom>
            <a:solidFill>
              <a:srgbClr val="FF7900"/>
            </a:solidFill>
            <a:ln>
              <a:noFill/>
            </a:ln>
          </p:spPr>
        </p:sp>
        <p:sp>
          <p:nvSpPr>
            <p:cNvPr id="36" name="TextBox 36"/>
            <p:cNvSpPr txBox="1"/>
            <p:nvPr/>
          </p:nvSpPr>
          <p:spPr>
            <a:xfrm>
              <a:off x="6393942" y="3159442"/>
              <a:ext cx="881965"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集成/转售</a:t>
              </a:r>
            </a:p>
          </p:txBody>
        </p:sp>
        <p:sp>
          <p:nvSpPr>
            <p:cNvPr id="37" name="TextBox 37"/>
            <p:cNvSpPr txBox="1"/>
            <p:nvPr/>
          </p:nvSpPr>
          <p:spPr>
            <a:xfrm>
              <a:off x="6392418" y="3422332"/>
              <a:ext cx="1696014" cy="322707"/>
            </a:xfrm>
            <a:prstGeom prst="rect">
              <a:avLst/>
            </a:prstGeom>
            <a:noFill/>
            <a:ln>
              <a:noFill/>
            </a:ln>
          </p:spPr>
          <p:txBody>
            <a:bodyPr wrap="none" lIns="0" tIns="0" rIns="0" bIns="0" anchor="t" anchorCtr="0">
              <a:spAutoFit/>
            </a:bodyPr>
            <a:lstStyle/>
            <a:p>
              <a:pPr algn="l"/>
              <a:r>
                <a:rPr lang="zh-CN" sz="1650" b="1" dirty="0">
                  <a:solidFill>
                    <a:srgbClr val="FF7900"/>
                  </a:solidFill>
                  <a:latin typeface="Arial"/>
                  <a:ea typeface="Microsoft YaHei"/>
                  <a:cs typeface="Arial"/>
                </a:rPr>
                <a:t>约7-8亿€（估）</a:t>
              </a:r>
            </a:p>
          </p:txBody>
        </p:sp>
        <p:sp>
          <p:nvSpPr>
            <p:cNvPr id="38" name="TextBox 38"/>
            <p:cNvSpPr txBox="1"/>
            <p:nvPr/>
          </p:nvSpPr>
          <p:spPr>
            <a:xfrm>
              <a:off x="6394704" y="3737610"/>
              <a:ext cx="2602607"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波兰IT集成(BlueSoft/Craftware)</a:t>
              </a:r>
            </a:p>
          </p:txBody>
        </p:sp>
        <p:sp>
          <p:nvSpPr>
            <p:cNvPr id="39" name="TextBox 39"/>
            <p:cNvSpPr txBox="1"/>
            <p:nvPr/>
          </p:nvSpPr>
          <p:spPr>
            <a:xfrm>
              <a:off x="6394704" y="3947160"/>
              <a:ext cx="1797253"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+西班牙IoT/5G专网集成</a:t>
              </a:r>
            </a:p>
          </p:txBody>
        </p:sp>
      </p:grpSp>
      <p:grpSp>
        <p:nvGrpSpPr>
          <p:cNvPr id="56" name="Group 56"/>
          <p:cNvGrpSpPr/>
          <p:nvPr/>
        </p:nvGrpSpPr>
        <p:grpSpPr>
          <a:xfrm>
            <a:off x="533400" y="4400550"/>
            <a:ext cx="11125200" cy="1552575"/>
            <a:chOff x="533400" y="4400550"/>
            <a:chExt cx="11125200" cy="1552575"/>
          </a:xfrm>
        </p:grpSpPr>
        <p:sp>
          <p:nvSpPr>
            <p:cNvPr id="41" name="Rectangle 41"/>
            <p:cNvSpPr/>
            <p:nvPr/>
          </p:nvSpPr>
          <p:spPr>
            <a:xfrm>
              <a:off x="533400" y="4400550"/>
              <a:ext cx="11125200" cy="228600"/>
            </a:xfrm>
            <a:prstGeom prst="rect">
              <a:avLst/>
            </a:prstGeom>
            <a:solidFill>
              <a:srgbClr val="FFA640">
                <a:alpha val="18000"/>
              </a:srgbClr>
            </a:solidFill>
            <a:ln>
              <a:noFill/>
            </a:ln>
          </p:spPr>
        </p:sp>
        <p:sp>
          <p:nvSpPr>
            <p:cNvPr id="42" name="TextBox 42"/>
            <p:cNvSpPr txBox="1"/>
            <p:nvPr/>
          </p:nvSpPr>
          <p:spPr>
            <a:xfrm>
              <a:off x="661035" y="4441031"/>
              <a:ext cx="2192620" cy="220028"/>
            </a:xfrm>
            <a:prstGeom prst="rect">
              <a:avLst/>
            </a:prstGeom>
            <a:noFill/>
            <a:ln>
              <a:noFill/>
            </a:ln>
          </p:spPr>
          <p:txBody>
            <a:bodyPr wrap="none" lIns="0" tIns="0" rIns="0" bIns="0" anchor="t" anchorCtr="0">
              <a:spAutoFit/>
            </a:bodyPr>
            <a:lstStyle/>
            <a:p>
              <a:pPr algn="l"/>
              <a:r>
                <a:rPr lang="en-US" sz="1120" b="1" dirty="0">
                  <a:solidFill>
                    <a:srgbClr val="E08A2E"/>
                  </a:solidFill>
                  <a:latin typeface="Arial"/>
                  <a:ea typeface="Arial"/>
                  <a:cs typeface="Arial"/>
                </a:rPr>
                <a:t>OMEA · Middle East &amp; Africa</a:t>
              </a:r>
            </a:p>
          </p:txBody>
        </p:sp>
        <p:sp>
          <p:nvSpPr>
            <p:cNvPr id="43" name="Rectangle 43"/>
            <p:cNvSpPr/>
            <p:nvPr/>
          </p:nvSpPr>
          <p:spPr>
            <a:xfrm>
              <a:off x="533400" y="4714875"/>
              <a:ext cx="5286375" cy="1238250"/>
            </a:xfrm>
            <a:prstGeom prst="roundRect">
              <a:avLst>
                <a:gd name="adj" fmla="val 3077"/>
              </a:avLst>
            </a:prstGeom>
            <a:solidFill>
              <a:srgbClr val="FBF6F1"/>
            </a:solidFill>
            <a:ln w="9525">
              <a:solidFill>
                <a:srgbClr val="E8E2DA"/>
              </a:solidFill>
            </a:ln>
          </p:spPr>
        </p:sp>
        <p:sp>
          <p:nvSpPr>
            <p:cNvPr id="44" name="Rectangle 44"/>
            <p:cNvSpPr/>
            <p:nvPr/>
          </p:nvSpPr>
          <p:spPr>
            <a:xfrm>
              <a:off x="533400" y="4714875"/>
              <a:ext cx="38100" cy="1238250"/>
            </a:xfrm>
            <a:prstGeom prst="rect">
              <a:avLst/>
            </a:prstGeom>
            <a:solidFill>
              <a:srgbClr val="FFA640"/>
            </a:solidFill>
            <a:ln>
              <a:noFill/>
            </a:ln>
          </p:spPr>
        </p:sp>
        <p:sp>
          <p:nvSpPr>
            <p:cNvPr id="45" name="TextBox 45"/>
            <p:cNvSpPr txBox="1"/>
            <p:nvPr/>
          </p:nvSpPr>
          <p:spPr>
            <a:xfrm>
              <a:off x="736092" y="4854892"/>
              <a:ext cx="1543033" cy="264033"/>
            </a:xfrm>
            <a:prstGeom prst="rect">
              <a:avLst/>
            </a:prstGeom>
            <a:noFill/>
            <a:ln>
              <a:noFill/>
            </a:ln>
          </p:spPr>
          <p:txBody>
            <a:bodyPr wrap="none" lIns="0" tIns="0" rIns="0" bIns="0" anchor="t" anchorCtr="0">
              <a:spAutoFit/>
            </a:bodyPr>
            <a:lstStyle/>
            <a:p>
              <a:pPr algn="l"/>
              <a:r>
                <a:rPr lang="en-US" sz="1350" b="1" dirty="0">
                  <a:solidFill>
                    <a:srgbClr val="1A1A1A"/>
                  </a:solidFill>
                  <a:latin typeface="Arial"/>
                  <a:ea typeface="Arial"/>
                  <a:cs typeface="Arial"/>
                </a:rPr>
                <a:t>Managed Service</a:t>
              </a:r>
            </a:p>
          </p:txBody>
        </p:sp>
        <p:sp>
          <p:nvSpPr>
            <p:cNvPr id="46" name="TextBox 46"/>
            <p:cNvSpPr txBox="1"/>
            <p:nvPr/>
          </p:nvSpPr>
          <p:spPr>
            <a:xfrm>
              <a:off x="734568" y="5117782"/>
              <a:ext cx="1847613" cy="322707"/>
            </a:xfrm>
            <a:prstGeom prst="rect">
              <a:avLst/>
            </a:prstGeom>
            <a:noFill/>
            <a:ln>
              <a:noFill/>
            </a:ln>
          </p:spPr>
          <p:txBody>
            <a:bodyPr wrap="none" lIns="0" tIns="0" rIns="0" bIns="0" anchor="t" anchorCtr="0">
              <a:spAutoFit/>
            </a:bodyPr>
            <a:lstStyle/>
            <a:p>
              <a:pPr algn="l"/>
              <a:r>
                <a:rPr lang="zh-CN" sz="1650" b="1" dirty="0">
                  <a:solidFill>
                    <a:srgbClr val="E08A2E"/>
                  </a:solidFill>
                  <a:latin typeface="Arial"/>
                  <a:ea typeface="Microsoft YaHei"/>
                  <a:cs typeface="Arial"/>
                </a:rPr>
                <a:t>11.9亿€ / 91.7%</a:t>
              </a:r>
            </a:p>
          </p:txBody>
        </p:sp>
        <p:sp>
          <p:nvSpPr>
            <p:cNvPr id="47" name="TextBox 47"/>
            <p:cNvSpPr txBox="1"/>
            <p:nvPr/>
          </p:nvSpPr>
          <p:spPr>
            <a:xfrm>
              <a:off x="736854" y="5433060"/>
              <a:ext cx="1753210"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移动数据/FBB连接管理</a:t>
              </a:r>
            </a:p>
          </p:txBody>
        </p:sp>
        <p:sp>
          <p:nvSpPr>
            <p:cNvPr id="48" name="TextBox 48"/>
            <p:cNvSpPr txBox="1"/>
            <p:nvPr/>
          </p:nvSpPr>
          <p:spPr>
            <a:xfrm>
              <a:off x="736854" y="5642610"/>
              <a:ext cx="1304544"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三区域中占比最高</a:t>
              </a:r>
            </a:p>
          </p:txBody>
        </p:sp>
        <p:sp>
          <p:nvSpPr>
            <p:cNvPr id="49" name="Polygon 49"/>
            <p:cNvSpPr/>
            <p:nvPr/>
          </p:nvSpPr>
          <p:spPr>
            <a:xfrm>
              <a:off x="5905500" y="5248275"/>
              <a:ext cx="190500" cy="171450"/>
            </a:xfrm>
            <a:custGeom>
              <a:avLst/>
              <a:gdLst/>
              <a:ahLst/>
              <a:cxnLst/>
              <a:rect l="l" t="t" r="r" b="b"/>
              <a:pathLst>
                <a:path w="190500" h="171450">
                  <a:moveTo>
                    <a:pt x="0" y="0"/>
                  </a:moveTo>
                  <a:lnTo>
                    <a:pt x="190500" y="85725"/>
                  </a:lnTo>
                  <a:lnTo>
                    <a:pt x="0" y="171450"/>
                  </a:lnTo>
                  <a:close/>
                </a:path>
              </a:pathLst>
            </a:custGeom>
            <a:solidFill>
              <a:srgbClr val="E08A2E"/>
            </a:solidFill>
            <a:ln>
              <a:noFill/>
            </a:ln>
          </p:spPr>
        </p:sp>
        <p:sp>
          <p:nvSpPr>
            <p:cNvPr id="50" name="Rectangle 50"/>
            <p:cNvSpPr/>
            <p:nvPr/>
          </p:nvSpPr>
          <p:spPr>
            <a:xfrm>
              <a:off x="6191250" y="4714875"/>
              <a:ext cx="5467350" cy="1238250"/>
            </a:xfrm>
            <a:prstGeom prst="roundRect">
              <a:avLst>
                <a:gd name="adj" fmla="val 3077"/>
              </a:avLst>
            </a:prstGeom>
            <a:solidFill>
              <a:srgbClr val="FBF6F1"/>
            </a:solidFill>
            <a:ln w="9525">
              <a:solidFill>
                <a:srgbClr val="E8E2DA"/>
              </a:solidFill>
            </a:ln>
          </p:spPr>
        </p:sp>
        <p:sp>
          <p:nvSpPr>
            <p:cNvPr id="51" name="Rectangle 51"/>
            <p:cNvSpPr/>
            <p:nvPr/>
          </p:nvSpPr>
          <p:spPr>
            <a:xfrm>
              <a:off x="6191250" y="4714875"/>
              <a:ext cx="38100" cy="1238250"/>
            </a:xfrm>
            <a:prstGeom prst="rect">
              <a:avLst/>
            </a:prstGeom>
            <a:solidFill>
              <a:srgbClr val="FFA640"/>
            </a:solidFill>
            <a:ln>
              <a:noFill/>
            </a:ln>
          </p:spPr>
        </p:sp>
        <p:sp>
          <p:nvSpPr>
            <p:cNvPr id="52" name="TextBox 52"/>
            <p:cNvSpPr txBox="1"/>
            <p:nvPr/>
          </p:nvSpPr>
          <p:spPr>
            <a:xfrm>
              <a:off x="6393942" y="4854892"/>
              <a:ext cx="881965" cy="264033"/>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集成/转售</a:t>
              </a:r>
            </a:p>
          </p:txBody>
        </p:sp>
        <p:sp>
          <p:nvSpPr>
            <p:cNvPr id="53" name="TextBox 53"/>
            <p:cNvSpPr txBox="1"/>
            <p:nvPr/>
          </p:nvSpPr>
          <p:spPr>
            <a:xfrm>
              <a:off x="6392418" y="5117782"/>
              <a:ext cx="1591061" cy="322707"/>
            </a:xfrm>
            <a:prstGeom prst="rect">
              <a:avLst/>
            </a:prstGeom>
            <a:noFill/>
            <a:ln>
              <a:noFill/>
            </a:ln>
          </p:spPr>
          <p:txBody>
            <a:bodyPr wrap="none" lIns="0" tIns="0" rIns="0" bIns="0" anchor="t" anchorCtr="0">
              <a:spAutoFit/>
            </a:bodyPr>
            <a:lstStyle/>
            <a:p>
              <a:pPr algn="l"/>
              <a:r>
                <a:rPr lang="zh-CN" sz="1650" b="1" dirty="0">
                  <a:solidFill>
                    <a:srgbClr val="E08A2E"/>
                  </a:solidFill>
                  <a:latin typeface="Arial"/>
                  <a:ea typeface="Microsoft YaHei"/>
                  <a:cs typeface="Arial"/>
                </a:rPr>
                <a:t>1.1亿€ / 8.3%</a:t>
              </a:r>
            </a:p>
          </p:txBody>
        </p:sp>
        <p:sp>
          <p:nvSpPr>
            <p:cNvPr id="54" name="TextBox 54"/>
            <p:cNvSpPr txBox="1"/>
            <p:nvPr/>
          </p:nvSpPr>
          <p:spPr>
            <a:xfrm>
              <a:off x="6394704" y="5433060"/>
              <a:ext cx="2487701"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云/安全/IoT标准化打包(G3计划)</a:t>
              </a:r>
            </a:p>
          </p:txBody>
        </p:sp>
        <p:sp>
          <p:nvSpPr>
            <p:cNvPr id="55" name="TextBox 55"/>
            <p:cNvSpPr txBox="1"/>
            <p:nvPr/>
          </p:nvSpPr>
          <p:spPr>
            <a:xfrm>
              <a:off x="6394704" y="5642610"/>
              <a:ext cx="1360681"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2028目标3.01亿€</a:t>
              </a:r>
            </a:p>
          </p:txBody>
        </p:sp>
      </p:grpSp>
      <p:grpSp>
        <p:nvGrpSpPr>
          <p:cNvPr id="59" name="Group 59"/>
          <p:cNvGrpSpPr/>
          <p:nvPr/>
        </p:nvGrpSpPr>
        <p:grpSpPr>
          <a:xfrm>
            <a:off x="528447" y="6562249"/>
            <a:ext cx="11135106" cy="190690"/>
            <a:chOff x="528447" y="6562249"/>
            <a:chExt cx="11135106" cy="190690"/>
          </a:xfrm>
        </p:grpSpPr>
        <p:sp>
          <p:nvSpPr>
            <p:cNvPr id="57" name="TextBox 57"/>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8" name="TextBox 58"/>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06</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2641237" cy="747713"/>
            <a:chOff x="521970" y="252412"/>
            <a:chExt cx="12641237" cy="747713"/>
          </a:xfrm>
        </p:grpSpPr>
        <p:sp>
          <p:nvSpPr>
            <p:cNvPr id="3" name="TextBox 3"/>
            <p:cNvSpPr txBox="1"/>
            <p:nvPr/>
          </p:nvSpPr>
          <p:spPr>
            <a:xfrm>
              <a:off x="521970" y="252412"/>
              <a:ext cx="12641237"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WAN连接是三区域营收支柱，但华为的准入现实截然不同——</a:t>
              </a:r>
              <a:r>
                <a:rPr lang="zh-CN" sz="2250" b="1" dirty="0">
                  <a:solidFill>
                    <a:srgbClr val="FF7900"/>
                  </a:solidFill>
                  <a:latin typeface="Arial"/>
                  <a:ea typeface="Microsoft YaHei"/>
                  <a:cs typeface="Arial"/>
                </a:rPr>
                <a:t>OMEA是唯一实质性参与者</a:t>
              </a:r>
            </a:p>
          </p:txBody>
        </p:sp>
        <p:sp>
          <p:nvSpPr>
            <p:cNvPr id="4" name="TextBox 4"/>
            <p:cNvSpPr txBox="1"/>
            <p:nvPr/>
          </p:nvSpPr>
          <p:spPr>
            <a:xfrm>
              <a:off x="527304" y="708660"/>
              <a:ext cx="7930551"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Catalogue：Business VPN/IP-VPN · SD-WAN(Flexible SD-WAN/Evolution Platform) · 5G专网连接 · SASE</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28" name="Group 28"/>
          <p:cNvGrpSpPr/>
          <p:nvPr/>
        </p:nvGrpSpPr>
        <p:grpSpPr>
          <a:xfrm>
            <a:off x="525780" y="1333500"/>
            <a:ext cx="3560445" cy="3965734"/>
            <a:chOff x="525780" y="1333500"/>
            <a:chExt cx="3560445" cy="3965734"/>
          </a:xfrm>
        </p:grpSpPr>
        <p:sp>
          <p:nvSpPr>
            <p:cNvPr id="7" name="Rectangle 7"/>
            <p:cNvSpPr/>
            <p:nvPr/>
          </p:nvSpPr>
          <p:spPr>
            <a:xfrm>
              <a:off x="533400" y="1333500"/>
              <a:ext cx="3552825" cy="76200"/>
            </a:xfrm>
            <a:prstGeom prst="rect">
              <a:avLst/>
            </a:prstGeom>
            <a:solidFill>
              <a:srgbClr val="B85C00"/>
            </a:solidFill>
            <a:ln>
              <a:noFill/>
            </a:ln>
          </p:spPr>
        </p:sp>
        <p:sp>
          <p:nvSpPr>
            <p:cNvPr id="8" name="TextBox 8"/>
            <p:cNvSpPr txBox="1"/>
            <p:nvPr/>
          </p:nvSpPr>
          <p:spPr>
            <a:xfrm>
              <a:off x="525780" y="1504950"/>
              <a:ext cx="306476" cy="293370"/>
            </a:xfrm>
            <a:prstGeom prst="rect">
              <a:avLst/>
            </a:prstGeom>
            <a:noFill/>
            <a:ln>
              <a:noFill/>
            </a:ln>
          </p:spPr>
          <p:txBody>
            <a:bodyPr wrap="none" lIns="0" tIns="0" rIns="0" bIns="0" anchor="t" anchorCtr="0">
              <a:spAutoFit/>
            </a:bodyPr>
            <a:lstStyle/>
            <a:p>
              <a:pPr algn="l"/>
              <a:r>
                <a:rPr lang="en-US" sz="1500" b="1" dirty="0">
                  <a:solidFill>
                    <a:srgbClr val="B85C00"/>
                  </a:solidFill>
                  <a:latin typeface="Arial"/>
                  <a:ea typeface="Arial"/>
                  <a:cs typeface="Arial"/>
                </a:rPr>
                <a:t>OB</a:t>
              </a:r>
            </a:p>
          </p:txBody>
        </p:sp>
        <p:sp>
          <p:nvSpPr>
            <p:cNvPr id="9" name="TextBox 9"/>
            <p:cNvSpPr txBox="1"/>
            <p:nvPr/>
          </p:nvSpPr>
          <p:spPr>
            <a:xfrm>
              <a:off x="527304" y="1756410"/>
              <a:ext cx="2137258"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2,715M€/Y · 占OB收入37%</a:t>
              </a:r>
            </a:p>
          </p:txBody>
        </p:sp>
        <p:sp>
          <p:nvSpPr>
            <p:cNvPr id="10" name="Line 10"/>
            <p:cNvSpPr/>
            <p:nvPr/>
          </p:nvSpPr>
          <p:spPr>
            <a:xfrm>
              <a:off x="53340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11" name="TextBox 11"/>
            <p:cNvSpPr txBox="1"/>
            <p:nvPr/>
          </p:nvSpPr>
          <p:spPr>
            <a:xfrm>
              <a:off x="528066" y="2153602"/>
              <a:ext cx="1877568"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设备空间约180M$/年（估）</a:t>
              </a:r>
            </a:p>
          </p:txBody>
        </p:sp>
        <p:grpSp>
          <p:nvGrpSpPr>
            <p:cNvPr id="25" name="Group 25"/>
            <p:cNvGrpSpPr/>
            <p:nvPr/>
          </p:nvGrpSpPr>
          <p:grpSpPr>
            <a:xfrm>
              <a:off x="762000" y="2725102"/>
              <a:ext cx="3095625" cy="2027587"/>
              <a:chOff x="762000" y="2725102"/>
              <a:chExt cx="3095625" cy="2027587"/>
            </a:xfrm>
          </p:grpSpPr>
          <p:sp>
            <p:nvSpPr>
              <p:cNvPr id="12" name="Line 12"/>
              <p:cNvSpPr/>
              <p:nvPr/>
            </p:nvSpPr>
            <p:spPr>
              <a:xfrm>
                <a:off x="762000" y="44767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13" name="Rectangle 13"/>
              <p:cNvSpPr/>
              <p:nvPr/>
            </p:nvSpPr>
            <p:spPr>
              <a:xfrm>
                <a:off x="952500" y="2924175"/>
                <a:ext cx="571500" cy="1552575"/>
              </a:xfrm>
              <a:prstGeom prst="rect">
                <a:avLst/>
              </a:prstGeom>
              <a:solidFill>
                <a:srgbClr val="C7C2B8"/>
              </a:solidFill>
              <a:ln>
                <a:noFill/>
              </a:ln>
            </p:spPr>
          </p:sp>
          <p:sp>
            <p:nvSpPr>
              <p:cNvPr id="14" name="TextBox 14"/>
              <p:cNvSpPr txBox="1"/>
              <p:nvPr/>
            </p:nvSpPr>
            <p:spPr>
              <a:xfrm>
                <a:off x="1044732" y="2725102"/>
                <a:ext cx="387035" cy="205359"/>
              </a:xfrm>
              <a:prstGeom prst="rect">
                <a:avLst/>
              </a:prstGeom>
              <a:noFill/>
              <a:ln>
                <a:noFill/>
              </a:ln>
            </p:spPr>
            <p:txBody>
              <a:bodyPr wrap="none" lIns="0" tIns="0" rIns="0" bIns="0" anchor="t" anchorCtr="0">
                <a:spAutoFit/>
              </a:bodyPr>
              <a:lstStyle/>
              <a:p>
                <a:pPr algn="ctr"/>
                <a:r>
                  <a:rPr lang="en-US" sz="1050" b="1" dirty="0">
                    <a:solidFill>
                      <a:srgbClr val="1A1A1A"/>
                    </a:solidFill>
                    <a:latin typeface="Arial"/>
                    <a:ea typeface="Arial"/>
                    <a:cs typeface="Arial"/>
                  </a:rPr>
                  <a:t>70M$</a:t>
                </a:r>
              </a:p>
            </p:txBody>
          </p:sp>
          <p:sp>
            <p:nvSpPr>
              <p:cNvPr id="15" name="TextBox 15"/>
              <p:cNvSpPr txBox="1"/>
              <p:nvPr/>
            </p:nvSpPr>
            <p:spPr>
              <a:xfrm>
                <a:off x="1067372" y="4561999"/>
                <a:ext cx="341757" cy="190690"/>
              </a:xfrm>
              <a:prstGeom prst="rect">
                <a:avLst/>
              </a:prstGeom>
              <a:noFill/>
              <a:ln>
                <a:noFill/>
              </a:ln>
            </p:spPr>
            <p:txBody>
              <a:bodyPr wrap="none" lIns="0" tIns="0" rIns="0" bIns="0" anchor="t" anchorCtr="0">
                <a:spAutoFit/>
              </a:bodyPr>
              <a:lstStyle/>
              <a:p>
                <a:pPr algn="ctr"/>
                <a:r>
                  <a:rPr lang="en-US" sz="980" dirty="0">
                    <a:solidFill>
                      <a:srgbClr val="6B6B6B"/>
                    </a:solidFill>
                    <a:latin typeface="Arial"/>
                    <a:ea typeface="Arial"/>
                    <a:cs typeface="Arial"/>
                  </a:rPr>
                  <a:t>Cisco</a:t>
                </a:r>
              </a:p>
            </p:txBody>
          </p:sp>
          <p:sp>
            <p:nvSpPr>
              <p:cNvPr id="16" name="Rectangle 16"/>
              <p:cNvSpPr/>
              <p:nvPr/>
            </p:nvSpPr>
            <p:spPr>
              <a:xfrm>
                <a:off x="1666875" y="3362325"/>
                <a:ext cx="571500" cy="1114425"/>
              </a:xfrm>
              <a:prstGeom prst="rect">
                <a:avLst/>
              </a:prstGeom>
              <a:solidFill>
                <a:srgbClr val="C7C2B8"/>
              </a:solidFill>
              <a:ln>
                <a:noFill/>
              </a:ln>
            </p:spPr>
          </p:sp>
          <p:sp>
            <p:nvSpPr>
              <p:cNvPr id="17" name="TextBox 17"/>
              <p:cNvSpPr txBox="1"/>
              <p:nvPr/>
            </p:nvSpPr>
            <p:spPr>
              <a:xfrm>
                <a:off x="1759107" y="3163252"/>
                <a:ext cx="387035" cy="205359"/>
              </a:xfrm>
              <a:prstGeom prst="rect">
                <a:avLst/>
              </a:prstGeom>
              <a:noFill/>
              <a:ln>
                <a:noFill/>
              </a:ln>
            </p:spPr>
            <p:txBody>
              <a:bodyPr wrap="none" lIns="0" tIns="0" rIns="0" bIns="0" anchor="t" anchorCtr="0">
                <a:spAutoFit/>
              </a:bodyPr>
              <a:lstStyle/>
              <a:p>
                <a:pPr algn="ctr"/>
                <a:r>
                  <a:rPr lang="en-US" sz="1050" b="1" dirty="0">
                    <a:solidFill>
                      <a:srgbClr val="1A1A1A"/>
                    </a:solidFill>
                    <a:latin typeface="Arial"/>
                    <a:ea typeface="Arial"/>
                    <a:cs typeface="Arial"/>
                  </a:rPr>
                  <a:t>50M$</a:t>
                </a:r>
              </a:p>
            </p:txBody>
          </p:sp>
          <p:sp>
            <p:nvSpPr>
              <p:cNvPr id="18" name="TextBox 18"/>
              <p:cNvSpPr txBox="1"/>
              <p:nvPr/>
            </p:nvSpPr>
            <p:spPr>
              <a:xfrm>
                <a:off x="1673392" y="4561999"/>
                <a:ext cx="558466" cy="190690"/>
              </a:xfrm>
              <a:prstGeom prst="rect">
                <a:avLst/>
              </a:prstGeom>
              <a:noFill/>
              <a:ln>
                <a:noFill/>
              </a:ln>
            </p:spPr>
            <p:txBody>
              <a:bodyPr wrap="none" lIns="0" tIns="0" rIns="0" bIns="0" anchor="t" anchorCtr="0">
                <a:spAutoFit/>
              </a:bodyPr>
              <a:lstStyle/>
              <a:p>
                <a:pPr algn="ctr"/>
                <a:r>
                  <a:rPr lang="en-US" sz="980" dirty="0">
                    <a:solidFill>
                      <a:srgbClr val="6B6B6B"/>
                    </a:solidFill>
                    <a:latin typeface="Arial"/>
                    <a:ea typeface="Arial"/>
                    <a:cs typeface="Arial"/>
                  </a:rPr>
                  <a:t>Fortinet</a:t>
                </a:r>
              </a:p>
            </p:txBody>
          </p:sp>
          <p:sp>
            <p:nvSpPr>
              <p:cNvPr id="19" name="Rectangle 19"/>
              <p:cNvSpPr/>
              <p:nvPr/>
            </p:nvSpPr>
            <p:spPr>
              <a:xfrm>
                <a:off x="2381250" y="3695700"/>
                <a:ext cx="571500" cy="781050"/>
              </a:xfrm>
              <a:prstGeom prst="rect">
                <a:avLst/>
              </a:prstGeom>
              <a:solidFill>
                <a:srgbClr val="C7C2B8"/>
              </a:solidFill>
              <a:ln>
                <a:noFill/>
              </a:ln>
            </p:spPr>
          </p:sp>
          <p:sp>
            <p:nvSpPr>
              <p:cNvPr id="20" name="TextBox 20"/>
              <p:cNvSpPr txBox="1"/>
              <p:nvPr/>
            </p:nvSpPr>
            <p:spPr>
              <a:xfrm>
                <a:off x="2473482" y="3496628"/>
                <a:ext cx="387035" cy="205359"/>
              </a:xfrm>
              <a:prstGeom prst="rect">
                <a:avLst/>
              </a:prstGeom>
              <a:noFill/>
              <a:ln>
                <a:noFill/>
              </a:ln>
            </p:spPr>
            <p:txBody>
              <a:bodyPr wrap="none" lIns="0" tIns="0" rIns="0" bIns="0" anchor="t" anchorCtr="0">
                <a:spAutoFit/>
              </a:bodyPr>
              <a:lstStyle/>
              <a:p>
                <a:pPr algn="ctr"/>
                <a:r>
                  <a:rPr lang="en-US" sz="1050" b="1" dirty="0">
                    <a:solidFill>
                      <a:srgbClr val="1A1A1A"/>
                    </a:solidFill>
                    <a:latin typeface="Arial"/>
                    <a:ea typeface="Arial"/>
                    <a:cs typeface="Arial"/>
                  </a:rPr>
                  <a:t>35M$</a:t>
                </a:r>
              </a:p>
            </p:txBody>
          </p:sp>
          <p:sp>
            <p:nvSpPr>
              <p:cNvPr id="21" name="TextBox 21"/>
              <p:cNvSpPr txBox="1"/>
              <p:nvPr/>
            </p:nvSpPr>
            <p:spPr>
              <a:xfrm>
                <a:off x="2414645" y="4561999"/>
                <a:ext cx="504711" cy="190690"/>
              </a:xfrm>
              <a:prstGeom prst="rect">
                <a:avLst/>
              </a:prstGeom>
              <a:noFill/>
              <a:ln>
                <a:noFill/>
              </a:ln>
            </p:spPr>
            <p:txBody>
              <a:bodyPr wrap="none" lIns="0" tIns="0" rIns="0" bIns="0" anchor="t" anchorCtr="0">
                <a:spAutoFit/>
              </a:bodyPr>
              <a:lstStyle/>
              <a:p>
                <a:pPr algn="ctr"/>
                <a:r>
                  <a:rPr lang="en-US" sz="980" dirty="0">
                    <a:solidFill>
                      <a:srgbClr val="6B6B6B"/>
                    </a:solidFill>
                    <a:latin typeface="Arial"/>
                    <a:ea typeface="Arial"/>
                    <a:cs typeface="Arial"/>
                  </a:rPr>
                  <a:t>VMware</a:t>
                </a:r>
              </a:p>
            </p:txBody>
          </p:sp>
          <p:sp>
            <p:nvSpPr>
              <p:cNvPr id="22" name="Rectangle 22"/>
              <p:cNvSpPr/>
              <p:nvPr/>
            </p:nvSpPr>
            <p:spPr>
              <a:xfrm>
                <a:off x="3095625" y="3924300"/>
                <a:ext cx="571500" cy="552450"/>
              </a:xfrm>
              <a:prstGeom prst="rect">
                <a:avLst/>
              </a:prstGeom>
              <a:solidFill>
                <a:srgbClr val="C7C2B8"/>
              </a:solidFill>
              <a:ln>
                <a:noFill/>
              </a:ln>
            </p:spPr>
          </p:sp>
          <p:sp>
            <p:nvSpPr>
              <p:cNvPr id="23" name="TextBox 23"/>
              <p:cNvSpPr txBox="1"/>
              <p:nvPr/>
            </p:nvSpPr>
            <p:spPr>
              <a:xfrm>
                <a:off x="3187857" y="3725228"/>
                <a:ext cx="387035" cy="205359"/>
              </a:xfrm>
              <a:prstGeom prst="rect">
                <a:avLst/>
              </a:prstGeom>
              <a:noFill/>
              <a:ln>
                <a:noFill/>
              </a:ln>
            </p:spPr>
            <p:txBody>
              <a:bodyPr wrap="none" lIns="0" tIns="0" rIns="0" bIns="0" anchor="t" anchorCtr="0">
                <a:spAutoFit/>
              </a:bodyPr>
              <a:lstStyle/>
              <a:p>
                <a:pPr algn="ctr"/>
                <a:r>
                  <a:rPr lang="en-US" sz="1050" b="1" dirty="0">
                    <a:solidFill>
                      <a:srgbClr val="1A1A1A"/>
                    </a:solidFill>
                    <a:latin typeface="Arial"/>
                    <a:ea typeface="Arial"/>
                    <a:cs typeface="Arial"/>
                  </a:rPr>
                  <a:t>25M$</a:t>
                </a:r>
              </a:p>
            </p:txBody>
          </p:sp>
          <p:sp>
            <p:nvSpPr>
              <p:cNvPr id="24" name="TextBox 24"/>
              <p:cNvSpPr txBox="1"/>
              <p:nvPr/>
            </p:nvSpPr>
            <p:spPr>
              <a:xfrm>
                <a:off x="3034190" y="4561999"/>
                <a:ext cx="694369" cy="190690"/>
              </a:xfrm>
              <a:prstGeom prst="rect">
                <a:avLst/>
              </a:prstGeom>
              <a:noFill/>
              <a:ln>
                <a:noFill/>
              </a:ln>
            </p:spPr>
            <p:txBody>
              <a:bodyPr wrap="none" lIns="0" tIns="0" rIns="0" bIns="0" anchor="t" anchorCtr="0">
                <a:spAutoFit/>
              </a:bodyPr>
              <a:lstStyle/>
              <a:p>
                <a:pPr algn="ctr"/>
                <a:r>
                  <a:rPr lang="en-US" sz="980" dirty="0">
                    <a:solidFill>
                      <a:srgbClr val="6B6B6B"/>
                    </a:solidFill>
                    <a:latin typeface="Arial"/>
                    <a:ea typeface="Arial"/>
                    <a:cs typeface="Arial"/>
                  </a:rPr>
                  <a:t>OneAccess</a:t>
                </a:r>
              </a:p>
            </p:txBody>
          </p:sp>
        </p:grpSp>
        <p:sp>
          <p:nvSpPr>
            <p:cNvPr id="26" name="TextBox 26"/>
            <p:cNvSpPr txBox="1"/>
            <p:nvPr/>
          </p:nvSpPr>
          <p:spPr>
            <a:xfrm>
              <a:off x="527304" y="4823460"/>
              <a:ext cx="1199540"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华为：基本缺席</a:t>
              </a:r>
            </a:p>
          </p:txBody>
        </p:sp>
        <p:sp>
          <p:nvSpPr>
            <p:cNvPr id="27" name="TextBox 27"/>
            <p:cNvSpPr txBox="1"/>
            <p:nvPr/>
          </p:nvSpPr>
          <p:spPr>
            <a:xfrm>
              <a:off x="527685" y="5079206"/>
              <a:ext cx="1587627"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法国WAN目录不含华为</a:t>
              </a:r>
            </a:p>
          </p:txBody>
        </p:sp>
      </p:grpSp>
      <p:grpSp>
        <p:nvGrpSpPr>
          <p:cNvPr id="50" name="Group 50"/>
          <p:cNvGrpSpPr/>
          <p:nvPr/>
        </p:nvGrpSpPr>
        <p:grpSpPr>
          <a:xfrm>
            <a:off x="4307205" y="1333500"/>
            <a:ext cx="3560445" cy="3965734"/>
            <a:chOff x="4307205" y="1333500"/>
            <a:chExt cx="3560445" cy="3965734"/>
          </a:xfrm>
        </p:grpSpPr>
        <p:sp>
          <p:nvSpPr>
            <p:cNvPr id="29" name="Rectangle 29"/>
            <p:cNvSpPr/>
            <p:nvPr/>
          </p:nvSpPr>
          <p:spPr>
            <a:xfrm>
              <a:off x="4314825" y="1333500"/>
              <a:ext cx="3552825" cy="76200"/>
            </a:xfrm>
            <a:prstGeom prst="rect">
              <a:avLst/>
            </a:prstGeom>
            <a:solidFill>
              <a:srgbClr val="FF7900"/>
            </a:solidFill>
            <a:ln>
              <a:noFill/>
            </a:ln>
          </p:spPr>
        </p:sp>
        <p:sp>
          <p:nvSpPr>
            <p:cNvPr id="30" name="TextBox 30"/>
            <p:cNvSpPr txBox="1"/>
            <p:nvPr/>
          </p:nvSpPr>
          <p:spPr>
            <a:xfrm>
              <a:off x="4307205" y="1504950"/>
              <a:ext cx="429692" cy="293370"/>
            </a:xfrm>
            <a:prstGeom prst="rect">
              <a:avLst/>
            </a:prstGeom>
            <a:noFill/>
            <a:ln>
              <a:noFill/>
            </a:ln>
          </p:spPr>
          <p:txBody>
            <a:bodyPr wrap="none" lIns="0" tIns="0" rIns="0" bIns="0" anchor="t" anchorCtr="0">
              <a:spAutoFit/>
            </a:bodyPr>
            <a:lstStyle/>
            <a:p>
              <a:pPr algn="l"/>
              <a:r>
                <a:rPr lang="en-US" sz="1500" b="1" dirty="0">
                  <a:solidFill>
                    <a:srgbClr val="FF7900"/>
                  </a:solidFill>
                  <a:latin typeface="Arial"/>
                  <a:ea typeface="Arial"/>
                  <a:cs typeface="Arial"/>
                </a:rPr>
                <a:t>OEU</a:t>
              </a:r>
            </a:p>
          </p:txBody>
        </p:sp>
        <p:sp>
          <p:nvSpPr>
            <p:cNvPr id="31" name="TextBox 31"/>
            <p:cNvSpPr txBox="1"/>
            <p:nvPr/>
          </p:nvSpPr>
          <p:spPr>
            <a:xfrm>
              <a:off x="4308729" y="1756410"/>
              <a:ext cx="1428902"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约8-9亿€/Y（估）</a:t>
              </a:r>
            </a:p>
          </p:txBody>
        </p:sp>
        <p:sp>
          <p:nvSpPr>
            <p:cNvPr id="32" name="Line 32"/>
            <p:cNvSpPr/>
            <p:nvPr/>
          </p:nvSpPr>
          <p:spPr>
            <a:xfrm>
              <a:off x="4314825"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33" name="TextBox 33"/>
            <p:cNvSpPr txBox="1"/>
            <p:nvPr/>
          </p:nvSpPr>
          <p:spPr>
            <a:xfrm>
              <a:off x="4309491" y="2153602"/>
              <a:ext cx="1812817"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罗马尼亚推进Open RAN替代</a:t>
              </a:r>
            </a:p>
          </p:txBody>
        </p:sp>
        <p:grpSp>
          <p:nvGrpSpPr>
            <p:cNvPr id="47" name="Group 47"/>
            <p:cNvGrpSpPr/>
            <p:nvPr/>
          </p:nvGrpSpPr>
          <p:grpSpPr>
            <a:xfrm>
              <a:off x="4543425" y="3610928"/>
              <a:ext cx="3095625" cy="1141761"/>
              <a:chOff x="4543425" y="3610928"/>
              <a:chExt cx="3095625" cy="1141761"/>
            </a:xfrm>
          </p:grpSpPr>
          <p:sp>
            <p:nvSpPr>
              <p:cNvPr id="34" name="Line 34"/>
              <p:cNvSpPr/>
              <p:nvPr/>
            </p:nvSpPr>
            <p:spPr>
              <a:xfrm>
                <a:off x="4543425" y="44767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35" name="Rectangle 35"/>
              <p:cNvSpPr/>
              <p:nvPr/>
            </p:nvSpPr>
            <p:spPr>
              <a:xfrm>
                <a:off x="4733925" y="3810000"/>
                <a:ext cx="571500" cy="666750"/>
              </a:xfrm>
              <a:prstGeom prst="rect">
                <a:avLst/>
              </a:prstGeom>
              <a:solidFill>
                <a:srgbClr val="C7C2B8"/>
              </a:solidFill>
              <a:ln>
                <a:noFill/>
              </a:ln>
            </p:spPr>
          </p:sp>
          <p:sp>
            <p:nvSpPr>
              <p:cNvPr id="36" name="TextBox 36"/>
              <p:cNvSpPr txBox="1"/>
              <p:nvPr/>
            </p:nvSpPr>
            <p:spPr>
              <a:xfrm>
                <a:off x="4826157" y="3610928"/>
                <a:ext cx="387035" cy="205359"/>
              </a:xfrm>
              <a:prstGeom prst="rect">
                <a:avLst/>
              </a:prstGeom>
              <a:noFill/>
              <a:ln>
                <a:noFill/>
              </a:ln>
            </p:spPr>
            <p:txBody>
              <a:bodyPr wrap="none" lIns="0" tIns="0" rIns="0" bIns="0" anchor="t" anchorCtr="0">
                <a:spAutoFit/>
              </a:bodyPr>
              <a:lstStyle/>
              <a:p>
                <a:pPr algn="ctr"/>
                <a:r>
                  <a:rPr lang="en-US" sz="1050" b="1" dirty="0">
                    <a:solidFill>
                      <a:srgbClr val="1A1A1A"/>
                    </a:solidFill>
                    <a:latin typeface="Arial"/>
                    <a:ea typeface="Arial"/>
                    <a:cs typeface="Arial"/>
                  </a:rPr>
                  <a:t>30M$</a:t>
                </a:r>
              </a:p>
            </p:txBody>
          </p:sp>
          <p:sp>
            <p:nvSpPr>
              <p:cNvPr id="37" name="TextBox 37"/>
              <p:cNvSpPr txBox="1"/>
              <p:nvPr/>
            </p:nvSpPr>
            <p:spPr>
              <a:xfrm>
                <a:off x="4740442" y="4561999"/>
                <a:ext cx="558466" cy="190690"/>
              </a:xfrm>
              <a:prstGeom prst="rect">
                <a:avLst/>
              </a:prstGeom>
              <a:noFill/>
              <a:ln>
                <a:noFill/>
              </a:ln>
            </p:spPr>
            <p:txBody>
              <a:bodyPr wrap="none" lIns="0" tIns="0" rIns="0" bIns="0" anchor="t" anchorCtr="0">
                <a:spAutoFit/>
              </a:bodyPr>
              <a:lstStyle/>
              <a:p>
                <a:pPr algn="ctr"/>
                <a:r>
                  <a:rPr lang="en-US" sz="980" dirty="0">
                    <a:solidFill>
                      <a:srgbClr val="6B6B6B"/>
                    </a:solidFill>
                    <a:latin typeface="Arial"/>
                    <a:ea typeface="Arial"/>
                    <a:cs typeface="Arial"/>
                  </a:rPr>
                  <a:t>Ericsson</a:t>
                </a:r>
              </a:p>
            </p:txBody>
          </p:sp>
          <p:sp>
            <p:nvSpPr>
              <p:cNvPr id="38" name="Rectangle 38"/>
              <p:cNvSpPr/>
              <p:nvPr/>
            </p:nvSpPr>
            <p:spPr>
              <a:xfrm>
                <a:off x="5448300" y="3924300"/>
                <a:ext cx="571500" cy="552450"/>
              </a:xfrm>
              <a:prstGeom prst="rect">
                <a:avLst/>
              </a:prstGeom>
              <a:solidFill>
                <a:srgbClr val="C7C2B8"/>
              </a:solidFill>
              <a:ln>
                <a:noFill/>
              </a:ln>
            </p:spPr>
          </p:sp>
          <p:sp>
            <p:nvSpPr>
              <p:cNvPr id="39" name="TextBox 39"/>
              <p:cNvSpPr txBox="1"/>
              <p:nvPr/>
            </p:nvSpPr>
            <p:spPr>
              <a:xfrm>
                <a:off x="5540532" y="3725228"/>
                <a:ext cx="387035" cy="205359"/>
              </a:xfrm>
              <a:prstGeom prst="rect">
                <a:avLst/>
              </a:prstGeom>
              <a:noFill/>
              <a:ln>
                <a:noFill/>
              </a:ln>
            </p:spPr>
            <p:txBody>
              <a:bodyPr wrap="none" lIns="0" tIns="0" rIns="0" bIns="0" anchor="t" anchorCtr="0">
                <a:spAutoFit/>
              </a:bodyPr>
              <a:lstStyle/>
              <a:p>
                <a:pPr algn="ctr"/>
                <a:r>
                  <a:rPr lang="en-US" sz="1050" b="1" dirty="0">
                    <a:solidFill>
                      <a:srgbClr val="1A1A1A"/>
                    </a:solidFill>
                    <a:latin typeface="Arial"/>
                    <a:ea typeface="Arial"/>
                    <a:cs typeface="Arial"/>
                  </a:rPr>
                  <a:t>25M$</a:t>
                </a:r>
              </a:p>
            </p:txBody>
          </p:sp>
          <p:sp>
            <p:nvSpPr>
              <p:cNvPr id="40" name="TextBox 40"/>
              <p:cNvSpPr txBox="1"/>
              <p:nvPr/>
            </p:nvSpPr>
            <p:spPr>
              <a:xfrm>
                <a:off x="5563172" y="4561999"/>
                <a:ext cx="341757" cy="190690"/>
              </a:xfrm>
              <a:prstGeom prst="rect">
                <a:avLst/>
              </a:prstGeom>
              <a:noFill/>
              <a:ln>
                <a:noFill/>
              </a:ln>
            </p:spPr>
            <p:txBody>
              <a:bodyPr wrap="none" lIns="0" tIns="0" rIns="0" bIns="0" anchor="t" anchorCtr="0">
                <a:spAutoFit/>
              </a:bodyPr>
              <a:lstStyle/>
              <a:p>
                <a:pPr algn="ctr"/>
                <a:r>
                  <a:rPr lang="en-US" sz="980" dirty="0">
                    <a:solidFill>
                      <a:srgbClr val="6B6B6B"/>
                    </a:solidFill>
                    <a:latin typeface="Arial"/>
                    <a:ea typeface="Arial"/>
                    <a:cs typeface="Arial"/>
                  </a:rPr>
                  <a:t>Nokia</a:t>
                </a:r>
              </a:p>
            </p:txBody>
          </p:sp>
          <p:sp>
            <p:nvSpPr>
              <p:cNvPr id="41" name="Rectangle 41"/>
              <p:cNvSpPr/>
              <p:nvPr/>
            </p:nvSpPr>
            <p:spPr>
              <a:xfrm>
                <a:off x="6162675" y="4143375"/>
                <a:ext cx="571500" cy="333375"/>
              </a:xfrm>
              <a:prstGeom prst="rect">
                <a:avLst/>
              </a:prstGeom>
              <a:solidFill>
                <a:srgbClr val="C7C2B8"/>
              </a:solidFill>
              <a:ln>
                <a:noFill/>
              </a:ln>
            </p:spPr>
          </p:sp>
          <p:sp>
            <p:nvSpPr>
              <p:cNvPr id="42" name="TextBox 42"/>
              <p:cNvSpPr txBox="1"/>
              <p:nvPr/>
            </p:nvSpPr>
            <p:spPr>
              <a:xfrm>
                <a:off x="6254907" y="3944302"/>
                <a:ext cx="387035" cy="205359"/>
              </a:xfrm>
              <a:prstGeom prst="rect">
                <a:avLst/>
              </a:prstGeom>
              <a:noFill/>
              <a:ln>
                <a:noFill/>
              </a:ln>
            </p:spPr>
            <p:txBody>
              <a:bodyPr wrap="none" lIns="0" tIns="0" rIns="0" bIns="0" anchor="t" anchorCtr="0">
                <a:spAutoFit/>
              </a:bodyPr>
              <a:lstStyle/>
              <a:p>
                <a:pPr algn="ctr"/>
                <a:r>
                  <a:rPr lang="en-US" sz="1050" b="1" dirty="0">
                    <a:solidFill>
                      <a:srgbClr val="1A1A1A"/>
                    </a:solidFill>
                    <a:latin typeface="Arial"/>
                    <a:ea typeface="Arial"/>
                    <a:cs typeface="Arial"/>
                  </a:rPr>
                  <a:t>15M$</a:t>
                </a:r>
              </a:p>
            </p:txBody>
          </p:sp>
          <p:sp>
            <p:nvSpPr>
              <p:cNvPr id="43" name="TextBox 43"/>
              <p:cNvSpPr txBox="1"/>
              <p:nvPr/>
            </p:nvSpPr>
            <p:spPr>
              <a:xfrm>
                <a:off x="6175532" y="4561999"/>
                <a:ext cx="545785" cy="190690"/>
              </a:xfrm>
              <a:prstGeom prst="rect">
                <a:avLst/>
              </a:prstGeom>
              <a:noFill/>
              <a:ln>
                <a:noFill/>
              </a:ln>
            </p:spPr>
            <p:txBody>
              <a:bodyPr wrap="none" lIns="0" tIns="0" rIns="0" bIns="0" anchor="t" anchorCtr="0">
                <a:spAutoFit/>
              </a:bodyPr>
              <a:lstStyle/>
              <a:p>
                <a:pPr algn="ctr"/>
                <a:r>
                  <a:rPr lang="en-US" sz="980" dirty="0">
                    <a:solidFill>
                      <a:srgbClr val="6B6B6B"/>
                    </a:solidFill>
                    <a:latin typeface="Arial"/>
                    <a:ea typeface="Arial"/>
                    <a:cs typeface="Arial"/>
                  </a:rPr>
                  <a:t>Samsung</a:t>
                </a:r>
              </a:p>
            </p:txBody>
          </p:sp>
          <p:sp>
            <p:nvSpPr>
              <p:cNvPr id="44" name="Rectangle 44"/>
              <p:cNvSpPr/>
              <p:nvPr/>
            </p:nvSpPr>
            <p:spPr>
              <a:xfrm>
                <a:off x="6877050" y="4029075"/>
                <a:ext cx="571500" cy="447675"/>
              </a:xfrm>
              <a:prstGeom prst="rect">
                <a:avLst/>
              </a:prstGeom>
              <a:solidFill>
                <a:srgbClr val="C7C2B8"/>
              </a:solidFill>
              <a:ln>
                <a:noFill/>
              </a:ln>
            </p:spPr>
          </p:sp>
          <p:sp>
            <p:nvSpPr>
              <p:cNvPr id="45" name="TextBox 45"/>
              <p:cNvSpPr txBox="1"/>
              <p:nvPr/>
            </p:nvSpPr>
            <p:spPr>
              <a:xfrm>
                <a:off x="6969282" y="3830002"/>
                <a:ext cx="387035" cy="205359"/>
              </a:xfrm>
              <a:prstGeom prst="rect">
                <a:avLst/>
              </a:prstGeom>
              <a:noFill/>
              <a:ln>
                <a:noFill/>
              </a:ln>
            </p:spPr>
            <p:txBody>
              <a:bodyPr wrap="none" lIns="0" tIns="0" rIns="0" bIns="0" anchor="t" anchorCtr="0">
                <a:spAutoFit/>
              </a:bodyPr>
              <a:lstStyle/>
              <a:p>
                <a:pPr algn="ctr"/>
                <a:r>
                  <a:rPr lang="en-US" sz="1050" b="1" dirty="0">
                    <a:solidFill>
                      <a:srgbClr val="1A1A1A"/>
                    </a:solidFill>
                    <a:latin typeface="Arial"/>
                    <a:ea typeface="Arial"/>
                    <a:cs typeface="Arial"/>
                  </a:rPr>
                  <a:t>20M$</a:t>
                </a:r>
              </a:p>
            </p:txBody>
          </p:sp>
          <p:sp>
            <p:nvSpPr>
              <p:cNvPr id="46" name="TextBox 46"/>
              <p:cNvSpPr txBox="1"/>
              <p:nvPr/>
            </p:nvSpPr>
            <p:spPr>
              <a:xfrm>
                <a:off x="6815615" y="4561999"/>
                <a:ext cx="694369" cy="190690"/>
              </a:xfrm>
              <a:prstGeom prst="rect">
                <a:avLst/>
              </a:prstGeom>
              <a:noFill/>
              <a:ln>
                <a:noFill/>
              </a:ln>
            </p:spPr>
            <p:txBody>
              <a:bodyPr wrap="none" lIns="0" tIns="0" rIns="0" bIns="0" anchor="t" anchorCtr="0">
                <a:spAutoFit/>
              </a:bodyPr>
              <a:lstStyle/>
              <a:p>
                <a:pPr algn="ctr"/>
                <a:r>
                  <a:rPr lang="en-US" sz="980" dirty="0">
                    <a:solidFill>
                      <a:srgbClr val="6B6B6B"/>
                    </a:solidFill>
                    <a:latin typeface="Arial"/>
                    <a:ea typeface="Arial"/>
                    <a:cs typeface="Arial"/>
                  </a:rPr>
                  <a:t>OneAccess</a:t>
                </a:r>
              </a:p>
            </p:txBody>
          </p:sp>
        </p:grpSp>
        <p:sp>
          <p:nvSpPr>
            <p:cNvPr id="48" name="TextBox 48"/>
            <p:cNvSpPr txBox="1"/>
            <p:nvPr/>
          </p:nvSpPr>
          <p:spPr>
            <a:xfrm>
              <a:off x="4308729" y="4823460"/>
              <a:ext cx="1199540"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华为：完全排除</a:t>
              </a:r>
            </a:p>
          </p:txBody>
        </p:sp>
        <p:sp>
          <p:nvSpPr>
            <p:cNvPr id="49" name="TextBox 49"/>
            <p:cNvSpPr txBox="1"/>
            <p:nvPr/>
          </p:nvSpPr>
          <p:spPr>
            <a:xfrm>
              <a:off x="4309110" y="5079206"/>
              <a:ext cx="1609201"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波兰/罗马尼亚法律禁令</a:t>
              </a:r>
            </a:p>
          </p:txBody>
        </p:sp>
      </p:grpSp>
      <p:grpSp>
        <p:nvGrpSpPr>
          <p:cNvPr id="72" name="Group 72"/>
          <p:cNvGrpSpPr/>
          <p:nvPr/>
        </p:nvGrpSpPr>
        <p:grpSpPr>
          <a:xfrm>
            <a:off x="8088630" y="1333500"/>
            <a:ext cx="3560445" cy="3965734"/>
            <a:chOff x="8088630" y="1333500"/>
            <a:chExt cx="3560445" cy="3965734"/>
          </a:xfrm>
        </p:grpSpPr>
        <p:sp>
          <p:nvSpPr>
            <p:cNvPr id="51" name="Rectangle 51"/>
            <p:cNvSpPr/>
            <p:nvPr/>
          </p:nvSpPr>
          <p:spPr>
            <a:xfrm>
              <a:off x="8096250" y="1333500"/>
              <a:ext cx="3552825" cy="76200"/>
            </a:xfrm>
            <a:prstGeom prst="rect">
              <a:avLst/>
            </a:prstGeom>
            <a:solidFill>
              <a:srgbClr val="FFA640"/>
            </a:solidFill>
            <a:ln>
              <a:noFill/>
            </a:ln>
          </p:spPr>
        </p:sp>
        <p:sp>
          <p:nvSpPr>
            <p:cNvPr id="52" name="TextBox 52"/>
            <p:cNvSpPr txBox="1"/>
            <p:nvPr/>
          </p:nvSpPr>
          <p:spPr>
            <a:xfrm>
              <a:off x="8088630" y="1504950"/>
              <a:ext cx="597713" cy="293370"/>
            </a:xfrm>
            <a:prstGeom prst="rect">
              <a:avLst/>
            </a:prstGeom>
            <a:noFill/>
            <a:ln>
              <a:noFill/>
            </a:ln>
          </p:spPr>
          <p:txBody>
            <a:bodyPr wrap="none" lIns="0" tIns="0" rIns="0" bIns="0" anchor="t" anchorCtr="0">
              <a:spAutoFit/>
            </a:bodyPr>
            <a:lstStyle/>
            <a:p>
              <a:pPr algn="l"/>
              <a:r>
                <a:rPr lang="en-US" sz="1500" b="1" dirty="0">
                  <a:solidFill>
                    <a:srgbClr val="E08A2E"/>
                  </a:solidFill>
                  <a:latin typeface="Arial"/>
                  <a:ea typeface="Arial"/>
                  <a:cs typeface="Arial"/>
                </a:rPr>
                <a:t>OMEA</a:t>
              </a:r>
            </a:p>
          </p:txBody>
        </p:sp>
        <p:sp>
          <p:nvSpPr>
            <p:cNvPr id="53" name="TextBox 53"/>
            <p:cNvSpPr txBox="1"/>
            <p:nvPr/>
          </p:nvSpPr>
          <p:spPr>
            <a:xfrm>
              <a:off x="8090154" y="1756410"/>
              <a:ext cx="1428902"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约6-7亿€/Y（估）</a:t>
              </a:r>
            </a:p>
          </p:txBody>
        </p:sp>
        <p:sp>
          <p:nvSpPr>
            <p:cNvPr id="54" name="Line 54"/>
            <p:cNvSpPr/>
            <p:nvPr/>
          </p:nvSpPr>
          <p:spPr>
            <a:xfrm>
              <a:off x="809625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55" name="TextBox 55"/>
            <p:cNvSpPr txBox="1"/>
            <p:nvPr/>
          </p:nvSpPr>
          <p:spPr>
            <a:xfrm>
              <a:off x="8090916" y="2153602"/>
              <a:ext cx="2161337"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MPN移动专网场景（矿业/港口）</a:t>
              </a:r>
            </a:p>
          </p:txBody>
        </p:sp>
        <p:grpSp>
          <p:nvGrpSpPr>
            <p:cNvPr id="69" name="Group 69"/>
            <p:cNvGrpSpPr/>
            <p:nvPr/>
          </p:nvGrpSpPr>
          <p:grpSpPr>
            <a:xfrm>
              <a:off x="8324850" y="3277552"/>
              <a:ext cx="3095625" cy="1475137"/>
              <a:chOff x="8324850" y="3277552"/>
              <a:chExt cx="3095625" cy="1475137"/>
            </a:xfrm>
          </p:grpSpPr>
          <p:sp>
            <p:nvSpPr>
              <p:cNvPr id="56" name="Line 56"/>
              <p:cNvSpPr/>
              <p:nvPr/>
            </p:nvSpPr>
            <p:spPr>
              <a:xfrm>
                <a:off x="8324850" y="44767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57" name="Rectangle 57"/>
              <p:cNvSpPr/>
              <p:nvPr/>
            </p:nvSpPr>
            <p:spPr>
              <a:xfrm>
                <a:off x="8515350" y="3476625"/>
                <a:ext cx="571500" cy="1000125"/>
              </a:xfrm>
              <a:prstGeom prst="rect">
                <a:avLst/>
              </a:prstGeom>
              <a:solidFill>
                <a:srgbClr val="FF7900"/>
              </a:solidFill>
              <a:ln w="19050">
                <a:solidFill>
                  <a:srgbClr val="B85C00"/>
                </a:solidFill>
              </a:ln>
            </p:spPr>
          </p:sp>
          <p:sp>
            <p:nvSpPr>
              <p:cNvPr id="58" name="TextBox 58"/>
              <p:cNvSpPr txBox="1"/>
              <p:nvPr/>
            </p:nvSpPr>
            <p:spPr>
              <a:xfrm>
                <a:off x="8607582" y="3277552"/>
                <a:ext cx="387035"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45M$</a:t>
                </a:r>
              </a:p>
            </p:txBody>
          </p:sp>
          <p:sp>
            <p:nvSpPr>
              <p:cNvPr id="59" name="TextBox 59"/>
              <p:cNvSpPr txBox="1"/>
              <p:nvPr/>
            </p:nvSpPr>
            <p:spPr>
              <a:xfrm>
                <a:off x="8570081" y="4561999"/>
                <a:ext cx="462038" cy="190690"/>
              </a:xfrm>
              <a:prstGeom prst="rect">
                <a:avLst/>
              </a:prstGeom>
              <a:noFill/>
              <a:ln>
                <a:noFill/>
              </a:ln>
            </p:spPr>
            <p:txBody>
              <a:bodyPr wrap="none" lIns="0" tIns="0" rIns="0" bIns="0" anchor="t" anchorCtr="0">
                <a:spAutoFit/>
              </a:bodyPr>
              <a:lstStyle/>
              <a:p>
                <a:pPr algn="ctr"/>
                <a:r>
                  <a:rPr lang="en-US" sz="980" b="1" dirty="0">
                    <a:solidFill>
                      <a:srgbClr val="B85C00"/>
                    </a:solidFill>
                    <a:latin typeface="Arial"/>
                    <a:ea typeface="Arial"/>
                    <a:cs typeface="Arial"/>
                  </a:rPr>
                  <a:t>Huawei</a:t>
                </a:r>
              </a:p>
            </p:txBody>
          </p:sp>
          <p:sp>
            <p:nvSpPr>
              <p:cNvPr id="60" name="Rectangle 60"/>
              <p:cNvSpPr/>
              <p:nvPr/>
            </p:nvSpPr>
            <p:spPr>
              <a:xfrm>
                <a:off x="9229725" y="3590925"/>
                <a:ext cx="571500" cy="885825"/>
              </a:xfrm>
              <a:prstGeom prst="rect">
                <a:avLst/>
              </a:prstGeom>
              <a:solidFill>
                <a:srgbClr val="C7C2B8"/>
              </a:solidFill>
              <a:ln>
                <a:noFill/>
              </a:ln>
            </p:spPr>
          </p:sp>
          <p:sp>
            <p:nvSpPr>
              <p:cNvPr id="61" name="TextBox 61"/>
              <p:cNvSpPr txBox="1"/>
              <p:nvPr/>
            </p:nvSpPr>
            <p:spPr>
              <a:xfrm>
                <a:off x="9321957" y="3391852"/>
                <a:ext cx="387035" cy="205359"/>
              </a:xfrm>
              <a:prstGeom prst="rect">
                <a:avLst/>
              </a:prstGeom>
              <a:noFill/>
              <a:ln>
                <a:noFill/>
              </a:ln>
            </p:spPr>
            <p:txBody>
              <a:bodyPr wrap="none" lIns="0" tIns="0" rIns="0" bIns="0" anchor="t" anchorCtr="0">
                <a:spAutoFit/>
              </a:bodyPr>
              <a:lstStyle/>
              <a:p>
                <a:pPr algn="ctr"/>
                <a:r>
                  <a:rPr lang="en-US" sz="1050" b="1" dirty="0">
                    <a:solidFill>
                      <a:srgbClr val="1A1A1A"/>
                    </a:solidFill>
                    <a:latin typeface="Arial"/>
                    <a:ea typeface="Arial"/>
                    <a:cs typeface="Arial"/>
                  </a:rPr>
                  <a:t>40M$</a:t>
                </a:r>
              </a:p>
            </p:txBody>
          </p:sp>
          <p:sp>
            <p:nvSpPr>
              <p:cNvPr id="62" name="TextBox 62"/>
              <p:cNvSpPr txBox="1"/>
              <p:nvPr/>
            </p:nvSpPr>
            <p:spPr>
              <a:xfrm>
                <a:off x="9344596" y="4561999"/>
                <a:ext cx="341757" cy="190690"/>
              </a:xfrm>
              <a:prstGeom prst="rect">
                <a:avLst/>
              </a:prstGeom>
              <a:noFill/>
              <a:ln>
                <a:noFill/>
              </a:ln>
            </p:spPr>
            <p:txBody>
              <a:bodyPr wrap="none" lIns="0" tIns="0" rIns="0" bIns="0" anchor="t" anchorCtr="0">
                <a:spAutoFit/>
              </a:bodyPr>
              <a:lstStyle/>
              <a:p>
                <a:pPr algn="ctr"/>
                <a:r>
                  <a:rPr lang="en-US" sz="980" dirty="0">
                    <a:solidFill>
                      <a:srgbClr val="6B6B6B"/>
                    </a:solidFill>
                    <a:latin typeface="Arial"/>
                    <a:ea typeface="Arial"/>
                    <a:cs typeface="Arial"/>
                  </a:rPr>
                  <a:t>Nokia</a:t>
                </a:r>
              </a:p>
            </p:txBody>
          </p:sp>
          <p:sp>
            <p:nvSpPr>
              <p:cNvPr id="63" name="Rectangle 63"/>
              <p:cNvSpPr/>
              <p:nvPr/>
            </p:nvSpPr>
            <p:spPr>
              <a:xfrm>
                <a:off x="9944100" y="4029075"/>
                <a:ext cx="571500" cy="447675"/>
              </a:xfrm>
              <a:prstGeom prst="rect">
                <a:avLst/>
              </a:prstGeom>
              <a:solidFill>
                <a:srgbClr val="C7C2B8"/>
              </a:solidFill>
              <a:ln>
                <a:noFill/>
              </a:ln>
            </p:spPr>
          </p:sp>
          <p:sp>
            <p:nvSpPr>
              <p:cNvPr id="64" name="TextBox 64"/>
              <p:cNvSpPr txBox="1"/>
              <p:nvPr/>
            </p:nvSpPr>
            <p:spPr>
              <a:xfrm>
                <a:off x="10036332" y="3830002"/>
                <a:ext cx="387035" cy="205359"/>
              </a:xfrm>
              <a:prstGeom prst="rect">
                <a:avLst/>
              </a:prstGeom>
              <a:noFill/>
              <a:ln>
                <a:noFill/>
              </a:ln>
            </p:spPr>
            <p:txBody>
              <a:bodyPr wrap="none" lIns="0" tIns="0" rIns="0" bIns="0" anchor="t" anchorCtr="0">
                <a:spAutoFit/>
              </a:bodyPr>
              <a:lstStyle/>
              <a:p>
                <a:pPr algn="ctr"/>
                <a:r>
                  <a:rPr lang="en-US" sz="1050" b="1" dirty="0">
                    <a:solidFill>
                      <a:srgbClr val="1A1A1A"/>
                    </a:solidFill>
                    <a:latin typeface="Arial"/>
                    <a:ea typeface="Arial"/>
                    <a:cs typeface="Arial"/>
                  </a:rPr>
                  <a:t>20M$</a:t>
                </a:r>
              </a:p>
            </p:txBody>
          </p:sp>
          <p:sp>
            <p:nvSpPr>
              <p:cNvPr id="65" name="TextBox 65"/>
              <p:cNvSpPr txBox="1"/>
              <p:nvPr/>
            </p:nvSpPr>
            <p:spPr>
              <a:xfrm>
                <a:off x="9950617" y="4561999"/>
                <a:ext cx="558466" cy="190690"/>
              </a:xfrm>
              <a:prstGeom prst="rect">
                <a:avLst/>
              </a:prstGeom>
              <a:noFill/>
              <a:ln>
                <a:noFill/>
              </a:ln>
            </p:spPr>
            <p:txBody>
              <a:bodyPr wrap="none" lIns="0" tIns="0" rIns="0" bIns="0" anchor="t" anchorCtr="0">
                <a:spAutoFit/>
              </a:bodyPr>
              <a:lstStyle/>
              <a:p>
                <a:pPr algn="ctr"/>
                <a:r>
                  <a:rPr lang="en-US" sz="980" dirty="0">
                    <a:solidFill>
                      <a:srgbClr val="6B6B6B"/>
                    </a:solidFill>
                    <a:latin typeface="Arial"/>
                    <a:ea typeface="Arial"/>
                    <a:cs typeface="Arial"/>
                  </a:rPr>
                  <a:t>Ericsson</a:t>
                </a:r>
              </a:p>
            </p:txBody>
          </p:sp>
          <p:sp>
            <p:nvSpPr>
              <p:cNvPr id="66" name="Rectangle 66"/>
              <p:cNvSpPr/>
              <p:nvPr/>
            </p:nvSpPr>
            <p:spPr>
              <a:xfrm>
                <a:off x="10658475" y="4143375"/>
                <a:ext cx="571500" cy="333375"/>
              </a:xfrm>
              <a:prstGeom prst="rect">
                <a:avLst/>
              </a:prstGeom>
              <a:solidFill>
                <a:srgbClr val="C7C2B8"/>
              </a:solidFill>
              <a:ln>
                <a:noFill/>
              </a:ln>
            </p:spPr>
          </p:sp>
          <p:sp>
            <p:nvSpPr>
              <p:cNvPr id="67" name="TextBox 67"/>
              <p:cNvSpPr txBox="1"/>
              <p:nvPr/>
            </p:nvSpPr>
            <p:spPr>
              <a:xfrm>
                <a:off x="10750707" y="3944302"/>
                <a:ext cx="387035" cy="205359"/>
              </a:xfrm>
              <a:prstGeom prst="rect">
                <a:avLst/>
              </a:prstGeom>
              <a:noFill/>
              <a:ln>
                <a:noFill/>
              </a:ln>
            </p:spPr>
            <p:txBody>
              <a:bodyPr wrap="none" lIns="0" tIns="0" rIns="0" bIns="0" anchor="t" anchorCtr="0">
                <a:spAutoFit/>
              </a:bodyPr>
              <a:lstStyle/>
              <a:p>
                <a:pPr algn="ctr"/>
                <a:r>
                  <a:rPr lang="en-US" sz="1050" b="1" dirty="0">
                    <a:solidFill>
                      <a:srgbClr val="1A1A1A"/>
                    </a:solidFill>
                    <a:latin typeface="Arial"/>
                    <a:ea typeface="Arial"/>
                    <a:cs typeface="Arial"/>
                  </a:rPr>
                  <a:t>15M$</a:t>
                </a:r>
              </a:p>
            </p:txBody>
          </p:sp>
          <p:sp>
            <p:nvSpPr>
              <p:cNvPr id="68" name="TextBox 68"/>
              <p:cNvSpPr txBox="1"/>
              <p:nvPr/>
            </p:nvSpPr>
            <p:spPr>
              <a:xfrm>
                <a:off x="10808018" y="4561999"/>
                <a:ext cx="272415" cy="190690"/>
              </a:xfrm>
              <a:prstGeom prst="rect">
                <a:avLst/>
              </a:prstGeom>
              <a:noFill/>
              <a:ln>
                <a:noFill/>
              </a:ln>
            </p:spPr>
            <p:txBody>
              <a:bodyPr wrap="none" lIns="0" tIns="0" rIns="0" bIns="0" anchor="t" anchorCtr="0">
                <a:spAutoFit/>
              </a:bodyPr>
              <a:lstStyle/>
              <a:p>
                <a:pPr algn="ctr"/>
                <a:r>
                  <a:rPr lang="zh-CN" sz="980" dirty="0">
                    <a:solidFill>
                      <a:srgbClr val="6B6B6B"/>
                    </a:solidFill>
                    <a:latin typeface="Arial"/>
                    <a:ea typeface="Microsoft YaHei"/>
                    <a:cs typeface="Arial"/>
                  </a:rPr>
                  <a:t>其他</a:t>
                </a:r>
              </a:p>
            </p:txBody>
          </p:sp>
        </p:grpSp>
        <p:sp>
          <p:nvSpPr>
            <p:cNvPr id="70" name="TextBox 70"/>
            <p:cNvSpPr txBox="1"/>
            <p:nvPr/>
          </p:nvSpPr>
          <p:spPr>
            <a:xfrm>
              <a:off x="8090154" y="4823460"/>
              <a:ext cx="1813377"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华为：与Nokia并列主力</a:t>
              </a:r>
            </a:p>
          </p:txBody>
        </p:sp>
        <p:sp>
          <p:nvSpPr>
            <p:cNvPr id="71" name="TextBox 71"/>
            <p:cNvSpPr txBox="1"/>
            <p:nvPr/>
          </p:nvSpPr>
          <p:spPr>
            <a:xfrm>
              <a:off x="8090535" y="5079206"/>
              <a:ext cx="1587627"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矿业港口MPN实证案例</a:t>
              </a:r>
            </a:p>
          </p:txBody>
        </p:sp>
      </p:grpSp>
      <p:grpSp>
        <p:nvGrpSpPr>
          <p:cNvPr id="75" name="Group 75"/>
          <p:cNvGrpSpPr/>
          <p:nvPr/>
        </p:nvGrpSpPr>
        <p:grpSpPr>
          <a:xfrm>
            <a:off x="528447" y="6562249"/>
            <a:ext cx="11135106" cy="190690"/>
            <a:chOff x="528447" y="6562249"/>
            <a:chExt cx="11135106" cy="190690"/>
          </a:xfrm>
        </p:grpSpPr>
        <p:sp>
          <p:nvSpPr>
            <p:cNvPr id="73" name="TextBox 73"/>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74" name="TextBox 74"/>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07</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1136630" cy="747713"/>
            <a:chOff x="521970" y="252412"/>
            <a:chExt cx="11136630" cy="747713"/>
          </a:xfrm>
        </p:grpSpPr>
        <p:sp>
          <p:nvSpPr>
            <p:cNvPr id="3" name="TextBox 3"/>
            <p:cNvSpPr txBox="1"/>
            <p:nvPr/>
          </p:nvSpPr>
          <p:spPr>
            <a:xfrm>
              <a:off x="521970" y="252412"/>
              <a:ext cx="10692194"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LAN管理服务是数据洼地——三区域均缺乏精细拆分，但格局同样</a:t>
              </a:r>
              <a:r>
                <a:rPr lang="zh-CN" sz="2250" b="1" dirty="0">
                  <a:solidFill>
                    <a:srgbClr val="FF7900"/>
                  </a:solidFill>
                  <a:latin typeface="Arial"/>
                  <a:ea typeface="Microsoft YaHei"/>
                  <a:cs typeface="Arial"/>
                </a:rPr>
                <a:t>排除华为</a:t>
              </a:r>
            </a:p>
          </p:txBody>
        </p:sp>
        <p:sp>
          <p:nvSpPr>
            <p:cNvPr id="4" name="TextBox 4"/>
            <p:cNvSpPr txBox="1"/>
            <p:nvPr/>
          </p:nvSpPr>
          <p:spPr>
            <a:xfrm>
              <a:off x="527304" y="708660"/>
              <a:ext cx="3736238"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Catalogue：Managed LAN · SD-LAN · Cloud Wi-Fi</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24" name="Group 24"/>
          <p:cNvGrpSpPr/>
          <p:nvPr/>
        </p:nvGrpSpPr>
        <p:grpSpPr>
          <a:xfrm>
            <a:off x="525780" y="1333500"/>
            <a:ext cx="3560445" cy="3724656"/>
            <a:chOff x="525780" y="1333500"/>
            <a:chExt cx="3560445" cy="3724656"/>
          </a:xfrm>
        </p:grpSpPr>
        <p:sp>
          <p:nvSpPr>
            <p:cNvPr id="7" name="Rectangle 7"/>
            <p:cNvSpPr/>
            <p:nvPr/>
          </p:nvSpPr>
          <p:spPr>
            <a:xfrm>
              <a:off x="533400" y="1333500"/>
              <a:ext cx="3552825" cy="76200"/>
            </a:xfrm>
            <a:prstGeom prst="rect">
              <a:avLst/>
            </a:prstGeom>
            <a:solidFill>
              <a:srgbClr val="B85C00"/>
            </a:solidFill>
            <a:ln>
              <a:noFill/>
            </a:ln>
          </p:spPr>
        </p:sp>
        <p:sp>
          <p:nvSpPr>
            <p:cNvPr id="8" name="TextBox 8"/>
            <p:cNvSpPr txBox="1"/>
            <p:nvPr/>
          </p:nvSpPr>
          <p:spPr>
            <a:xfrm>
              <a:off x="525780" y="1504950"/>
              <a:ext cx="306476" cy="293370"/>
            </a:xfrm>
            <a:prstGeom prst="rect">
              <a:avLst/>
            </a:prstGeom>
            <a:noFill/>
            <a:ln>
              <a:noFill/>
            </a:ln>
          </p:spPr>
          <p:txBody>
            <a:bodyPr wrap="none" lIns="0" tIns="0" rIns="0" bIns="0" anchor="t" anchorCtr="0">
              <a:spAutoFit/>
            </a:bodyPr>
            <a:lstStyle/>
            <a:p>
              <a:pPr algn="l"/>
              <a:r>
                <a:rPr lang="en-US" sz="1500" b="1" dirty="0">
                  <a:solidFill>
                    <a:srgbClr val="B85C00"/>
                  </a:solidFill>
                  <a:latin typeface="Arial"/>
                  <a:ea typeface="Arial"/>
                  <a:cs typeface="Arial"/>
                </a:rPr>
                <a:t>OB</a:t>
              </a:r>
            </a:p>
          </p:txBody>
        </p:sp>
        <p:sp>
          <p:nvSpPr>
            <p:cNvPr id="9" name="TextBox 9"/>
            <p:cNvSpPr txBox="1"/>
            <p:nvPr/>
          </p:nvSpPr>
          <p:spPr>
            <a:xfrm>
              <a:off x="527304" y="1756410"/>
              <a:ext cx="1710538"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年收入约300M€（估）</a:t>
              </a:r>
            </a:p>
          </p:txBody>
        </p:sp>
        <p:sp>
          <p:nvSpPr>
            <p:cNvPr id="10" name="Line 10"/>
            <p:cNvSpPr/>
            <p:nvPr/>
          </p:nvSpPr>
          <p:spPr>
            <a:xfrm>
              <a:off x="53340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11" name="TextBox 11"/>
            <p:cNvSpPr txBox="1"/>
            <p:nvPr/>
          </p:nvSpPr>
          <p:spPr>
            <a:xfrm>
              <a:off x="528066" y="2153602"/>
              <a:ext cx="1563929"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设备空间约60M$（估）</a:t>
              </a:r>
            </a:p>
          </p:txBody>
        </p:sp>
        <p:grpSp>
          <p:nvGrpSpPr>
            <p:cNvPr id="22" name="Group 22"/>
            <p:cNvGrpSpPr/>
            <p:nvPr/>
          </p:nvGrpSpPr>
          <p:grpSpPr>
            <a:xfrm>
              <a:off x="762000" y="3134678"/>
              <a:ext cx="3095625" cy="1618011"/>
              <a:chOff x="762000" y="3134678"/>
              <a:chExt cx="3095625" cy="1618011"/>
            </a:xfrm>
          </p:grpSpPr>
          <p:sp>
            <p:nvSpPr>
              <p:cNvPr id="12" name="Line 12"/>
              <p:cNvSpPr/>
              <p:nvPr/>
            </p:nvSpPr>
            <p:spPr>
              <a:xfrm>
                <a:off x="762000" y="44767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13" name="Rectangle 13"/>
              <p:cNvSpPr/>
              <p:nvPr/>
            </p:nvSpPr>
            <p:spPr>
              <a:xfrm>
                <a:off x="1047750" y="3333750"/>
                <a:ext cx="666750" cy="1143000"/>
              </a:xfrm>
              <a:prstGeom prst="rect">
                <a:avLst/>
              </a:prstGeom>
              <a:solidFill>
                <a:srgbClr val="C7C2B8"/>
              </a:solidFill>
              <a:ln>
                <a:noFill/>
              </a:ln>
            </p:spPr>
          </p:sp>
          <p:sp>
            <p:nvSpPr>
              <p:cNvPr id="14" name="TextBox 14"/>
              <p:cNvSpPr txBox="1"/>
              <p:nvPr/>
            </p:nvSpPr>
            <p:spPr>
              <a:xfrm>
                <a:off x="1187607" y="3134678"/>
                <a:ext cx="387035" cy="205359"/>
              </a:xfrm>
              <a:prstGeom prst="rect">
                <a:avLst/>
              </a:prstGeom>
              <a:noFill/>
              <a:ln>
                <a:noFill/>
              </a:ln>
            </p:spPr>
            <p:txBody>
              <a:bodyPr wrap="none" lIns="0" tIns="0" rIns="0" bIns="0" anchor="t" anchorCtr="0">
                <a:spAutoFit/>
              </a:bodyPr>
              <a:lstStyle/>
              <a:p>
                <a:pPr algn="ctr"/>
                <a:r>
                  <a:rPr lang="en-US" sz="1050" b="1" dirty="0">
                    <a:solidFill>
                      <a:srgbClr val="1A1A1A"/>
                    </a:solidFill>
                    <a:latin typeface="Arial"/>
                    <a:ea typeface="Arial"/>
                    <a:cs typeface="Arial"/>
                  </a:rPr>
                  <a:t>30M$</a:t>
                </a:r>
              </a:p>
            </p:txBody>
          </p:sp>
          <p:sp>
            <p:nvSpPr>
              <p:cNvPr id="15" name="TextBox 15"/>
              <p:cNvSpPr txBox="1"/>
              <p:nvPr/>
            </p:nvSpPr>
            <p:spPr>
              <a:xfrm>
                <a:off x="1210246" y="4561999"/>
                <a:ext cx="341757" cy="190690"/>
              </a:xfrm>
              <a:prstGeom prst="rect">
                <a:avLst/>
              </a:prstGeom>
              <a:noFill/>
              <a:ln>
                <a:noFill/>
              </a:ln>
            </p:spPr>
            <p:txBody>
              <a:bodyPr wrap="none" lIns="0" tIns="0" rIns="0" bIns="0" anchor="t" anchorCtr="0">
                <a:spAutoFit/>
              </a:bodyPr>
              <a:lstStyle/>
              <a:p>
                <a:pPr algn="ctr"/>
                <a:r>
                  <a:rPr lang="en-US" sz="980" dirty="0">
                    <a:solidFill>
                      <a:srgbClr val="6B6B6B"/>
                    </a:solidFill>
                    <a:latin typeface="Arial"/>
                    <a:ea typeface="Arial"/>
                    <a:cs typeface="Arial"/>
                  </a:rPr>
                  <a:t>Cisco</a:t>
                </a:r>
              </a:p>
            </p:txBody>
          </p:sp>
          <p:sp>
            <p:nvSpPr>
              <p:cNvPr id="16" name="Rectangle 16"/>
              <p:cNvSpPr/>
              <p:nvPr/>
            </p:nvSpPr>
            <p:spPr>
              <a:xfrm>
                <a:off x="1905000" y="3714750"/>
                <a:ext cx="666750" cy="762000"/>
              </a:xfrm>
              <a:prstGeom prst="rect">
                <a:avLst/>
              </a:prstGeom>
              <a:solidFill>
                <a:srgbClr val="C7C2B8"/>
              </a:solidFill>
              <a:ln>
                <a:noFill/>
              </a:ln>
            </p:spPr>
          </p:sp>
          <p:sp>
            <p:nvSpPr>
              <p:cNvPr id="17" name="TextBox 17"/>
              <p:cNvSpPr txBox="1"/>
              <p:nvPr/>
            </p:nvSpPr>
            <p:spPr>
              <a:xfrm>
                <a:off x="2044857" y="3515678"/>
                <a:ext cx="387035" cy="205359"/>
              </a:xfrm>
              <a:prstGeom prst="rect">
                <a:avLst/>
              </a:prstGeom>
              <a:noFill/>
              <a:ln>
                <a:noFill/>
              </a:ln>
            </p:spPr>
            <p:txBody>
              <a:bodyPr wrap="none" lIns="0" tIns="0" rIns="0" bIns="0" anchor="t" anchorCtr="0">
                <a:spAutoFit/>
              </a:bodyPr>
              <a:lstStyle/>
              <a:p>
                <a:pPr algn="ctr"/>
                <a:r>
                  <a:rPr lang="en-US" sz="1050" b="1" dirty="0">
                    <a:solidFill>
                      <a:srgbClr val="1A1A1A"/>
                    </a:solidFill>
                    <a:latin typeface="Arial"/>
                    <a:ea typeface="Arial"/>
                    <a:cs typeface="Arial"/>
                  </a:rPr>
                  <a:t>20M$</a:t>
                </a:r>
              </a:p>
            </p:txBody>
          </p:sp>
          <p:sp>
            <p:nvSpPr>
              <p:cNvPr id="18" name="TextBox 18"/>
              <p:cNvSpPr txBox="1"/>
              <p:nvPr/>
            </p:nvSpPr>
            <p:spPr>
              <a:xfrm>
                <a:off x="2119008" y="4561999"/>
                <a:ext cx="238735" cy="190690"/>
              </a:xfrm>
              <a:prstGeom prst="rect">
                <a:avLst/>
              </a:prstGeom>
              <a:noFill/>
              <a:ln>
                <a:noFill/>
              </a:ln>
            </p:spPr>
            <p:txBody>
              <a:bodyPr wrap="none" lIns="0" tIns="0" rIns="0" bIns="0" anchor="t" anchorCtr="0">
                <a:spAutoFit/>
              </a:bodyPr>
              <a:lstStyle/>
              <a:p>
                <a:pPr algn="ctr"/>
                <a:r>
                  <a:rPr lang="en-US" sz="980" dirty="0">
                    <a:solidFill>
                      <a:srgbClr val="6B6B6B"/>
                    </a:solidFill>
                    <a:latin typeface="Arial"/>
                    <a:ea typeface="Arial"/>
                    <a:cs typeface="Arial"/>
                  </a:rPr>
                  <a:t>HPE</a:t>
                </a:r>
              </a:p>
            </p:txBody>
          </p:sp>
          <p:sp>
            <p:nvSpPr>
              <p:cNvPr id="19" name="Rectangle 19"/>
              <p:cNvSpPr/>
              <p:nvPr/>
            </p:nvSpPr>
            <p:spPr>
              <a:xfrm>
                <a:off x="2762250" y="4095750"/>
                <a:ext cx="666750" cy="381000"/>
              </a:xfrm>
              <a:prstGeom prst="rect">
                <a:avLst/>
              </a:prstGeom>
              <a:solidFill>
                <a:srgbClr val="C7C2B8"/>
              </a:solidFill>
              <a:ln>
                <a:noFill/>
              </a:ln>
            </p:spPr>
          </p:sp>
          <p:sp>
            <p:nvSpPr>
              <p:cNvPr id="20" name="TextBox 20"/>
              <p:cNvSpPr txBox="1"/>
              <p:nvPr/>
            </p:nvSpPr>
            <p:spPr>
              <a:xfrm>
                <a:off x="2902107" y="3896678"/>
                <a:ext cx="387035" cy="205359"/>
              </a:xfrm>
              <a:prstGeom prst="rect">
                <a:avLst/>
              </a:prstGeom>
              <a:noFill/>
              <a:ln>
                <a:noFill/>
              </a:ln>
            </p:spPr>
            <p:txBody>
              <a:bodyPr wrap="none" lIns="0" tIns="0" rIns="0" bIns="0" anchor="t" anchorCtr="0">
                <a:spAutoFit/>
              </a:bodyPr>
              <a:lstStyle/>
              <a:p>
                <a:pPr algn="ctr"/>
                <a:r>
                  <a:rPr lang="en-US" sz="1050" b="1" dirty="0">
                    <a:solidFill>
                      <a:srgbClr val="1A1A1A"/>
                    </a:solidFill>
                    <a:latin typeface="Arial"/>
                    <a:ea typeface="Arial"/>
                    <a:cs typeface="Arial"/>
                  </a:rPr>
                  <a:t>10M$</a:t>
                </a:r>
              </a:p>
            </p:txBody>
          </p:sp>
          <p:sp>
            <p:nvSpPr>
              <p:cNvPr id="21" name="TextBox 21"/>
              <p:cNvSpPr txBox="1"/>
              <p:nvPr/>
            </p:nvSpPr>
            <p:spPr>
              <a:xfrm>
                <a:off x="2816392" y="4561999"/>
                <a:ext cx="558466" cy="190690"/>
              </a:xfrm>
              <a:prstGeom prst="rect">
                <a:avLst/>
              </a:prstGeom>
              <a:noFill/>
              <a:ln>
                <a:noFill/>
              </a:ln>
            </p:spPr>
            <p:txBody>
              <a:bodyPr wrap="none" lIns="0" tIns="0" rIns="0" bIns="0" anchor="t" anchorCtr="0">
                <a:spAutoFit/>
              </a:bodyPr>
              <a:lstStyle/>
              <a:p>
                <a:pPr algn="ctr"/>
                <a:r>
                  <a:rPr lang="en-US" sz="980" dirty="0">
                    <a:solidFill>
                      <a:srgbClr val="6B6B6B"/>
                    </a:solidFill>
                    <a:latin typeface="Arial"/>
                    <a:ea typeface="Arial"/>
                    <a:cs typeface="Arial"/>
                  </a:rPr>
                  <a:t>Fortinet</a:t>
                </a:r>
              </a:p>
            </p:txBody>
          </p:sp>
        </p:grpSp>
        <p:sp>
          <p:nvSpPr>
            <p:cNvPr id="23" name="TextBox 23"/>
            <p:cNvSpPr txBox="1"/>
            <p:nvPr/>
          </p:nvSpPr>
          <p:spPr>
            <a:xfrm>
              <a:off x="527304" y="4823460"/>
              <a:ext cx="1029919"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华为：不可见</a:t>
              </a:r>
            </a:p>
          </p:txBody>
        </p:sp>
      </p:grpSp>
      <p:grpSp>
        <p:nvGrpSpPr>
          <p:cNvPr id="32" name="Group 32"/>
          <p:cNvGrpSpPr/>
          <p:nvPr/>
        </p:nvGrpSpPr>
        <p:grpSpPr>
          <a:xfrm>
            <a:off x="4307205" y="1333500"/>
            <a:ext cx="3560445" cy="3724656"/>
            <a:chOff x="4307205" y="1333500"/>
            <a:chExt cx="3560445" cy="3724656"/>
          </a:xfrm>
        </p:grpSpPr>
        <p:sp>
          <p:nvSpPr>
            <p:cNvPr id="25" name="Rectangle 25"/>
            <p:cNvSpPr/>
            <p:nvPr/>
          </p:nvSpPr>
          <p:spPr>
            <a:xfrm>
              <a:off x="4314825" y="1333500"/>
              <a:ext cx="3552825" cy="76200"/>
            </a:xfrm>
            <a:prstGeom prst="rect">
              <a:avLst/>
            </a:prstGeom>
            <a:solidFill>
              <a:srgbClr val="FF7900"/>
            </a:solidFill>
            <a:ln>
              <a:noFill/>
            </a:ln>
          </p:spPr>
        </p:sp>
        <p:sp>
          <p:nvSpPr>
            <p:cNvPr id="26" name="TextBox 26"/>
            <p:cNvSpPr txBox="1"/>
            <p:nvPr/>
          </p:nvSpPr>
          <p:spPr>
            <a:xfrm>
              <a:off x="4307205" y="1504950"/>
              <a:ext cx="429692" cy="293370"/>
            </a:xfrm>
            <a:prstGeom prst="rect">
              <a:avLst/>
            </a:prstGeom>
            <a:noFill/>
            <a:ln>
              <a:noFill/>
            </a:ln>
          </p:spPr>
          <p:txBody>
            <a:bodyPr wrap="none" lIns="0" tIns="0" rIns="0" bIns="0" anchor="t" anchorCtr="0">
              <a:spAutoFit/>
            </a:bodyPr>
            <a:lstStyle/>
            <a:p>
              <a:pPr algn="l"/>
              <a:r>
                <a:rPr lang="en-US" sz="1500" b="1" dirty="0">
                  <a:solidFill>
                    <a:srgbClr val="FF7900"/>
                  </a:solidFill>
                  <a:latin typeface="Arial"/>
                  <a:ea typeface="Arial"/>
                  <a:cs typeface="Arial"/>
                </a:rPr>
                <a:t>OEU</a:t>
              </a:r>
            </a:p>
          </p:txBody>
        </p:sp>
        <p:sp>
          <p:nvSpPr>
            <p:cNvPr id="27" name="TextBox 27"/>
            <p:cNvSpPr txBox="1"/>
            <p:nvPr/>
          </p:nvSpPr>
          <p:spPr>
            <a:xfrm>
              <a:off x="4308729" y="1756410"/>
              <a:ext cx="1070458"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估算约1亿€/Y</a:t>
              </a:r>
            </a:p>
          </p:txBody>
        </p:sp>
        <p:sp>
          <p:nvSpPr>
            <p:cNvPr id="28" name="Line 28"/>
            <p:cNvSpPr/>
            <p:nvPr/>
          </p:nvSpPr>
          <p:spPr>
            <a:xfrm>
              <a:off x="4314825"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29" name="Rectangle 29"/>
            <p:cNvSpPr/>
            <p:nvPr/>
          </p:nvSpPr>
          <p:spPr>
            <a:xfrm>
              <a:off x="4543425" y="2857500"/>
              <a:ext cx="3095625" cy="1619250"/>
            </a:xfrm>
            <a:prstGeom prst="roundRect">
              <a:avLst>
                <a:gd name="adj" fmla="val 2353"/>
              </a:avLst>
            </a:prstGeom>
            <a:noFill/>
            <a:ln w="19050">
              <a:solidFill>
                <a:srgbClr val="CBD5E1"/>
              </a:solidFill>
              <a:prstDash val="lgDash"/>
            </a:ln>
          </p:spPr>
        </p:sp>
        <p:sp>
          <p:nvSpPr>
            <p:cNvPr id="30" name="TextBox 30"/>
            <p:cNvSpPr txBox="1"/>
            <p:nvPr/>
          </p:nvSpPr>
          <p:spPr>
            <a:xfrm>
              <a:off x="5548789" y="3552825"/>
              <a:ext cx="1075372" cy="293370"/>
            </a:xfrm>
            <a:prstGeom prst="rect">
              <a:avLst/>
            </a:prstGeom>
            <a:noFill/>
            <a:ln>
              <a:noFill/>
            </a:ln>
          </p:spPr>
          <p:txBody>
            <a:bodyPr wrap="none" lIns="0" tIns="0" rIns="0" bIns="0" anchor="t" anchorCtr="0">
              <a:spAutoFit/>
            </a:bodyPr>
            <a:lstStyle/>
            <a:p>
              <a:pPr algn="ctr"/>
              <a:r>
                <a:rPr lang="zh-CN" sz="1500" b="1" dirty="0">
                  <a:solidFill>
                    <a:srgbClr val="9B9B9B"/>
                  </a:solidFill>
                  <a:latin typeface="Arial"/>
                  <a:ea typeface="Microsoft YaHei"/>
                  <a:cs typeface="Arial"/>
                </a:rPr>
                <a:t>数据待补充</a:t>
              </a:r>
            </a:p>
          </p:txBody>
        </p:sp>
        <p:sp>
          <p:nvSpPr>
            <p:cNvPr id="31" name="TextBox 31"/>
            <p:cNvSpPr txBox="1"/>
            <p:nvPr/>
          </p:nvSpPr>
          <p:spPr>
            <a:xfrm>
              <a:off x="4308729" y="4823460"/>
              <a:ext cx="1199540"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华为：法律排除</a:t>
              </a:r>
            </a:p>
          </p:txBody>
        </p:sp>
      </p:grpSp>
      <p:grpSp>
        <p:nvGrpSpPr>
          <p:cNvPr id="41" name="Group 41"/>
          <p:cNvGrpSpPr/>
          <p:nvPr/>
        </p:nvGrpSpPr>
        <p:grpSpPr>
          <a:xfrm>
            <a:off x="8088630" y="1333500"/>
            <a:ext cx="3560445" cy="3724656"/>
            <a:chOff x="8088630" y="1333500"/>
            <a:chExt cx="3560445" cy="3724656"/>
          </a:xfrm>
        </p:grpSpPr>
        <p:sp>
          <p:nvSpPr>
            <p:cNvPr id="33" name="Rectangle 33"/>
            <p:cNvSpPr/>
            <p:nvPr/>
          </p:nvSpPr>
          <p:spPr>
            <a:xfrm>
              <a:off x="8096250" y="1333500"/>
              <a:ext cx="3552825" cy="76200"/>
            </a:xfrm>
            <a:prstGeom prst="rect">
              <a:avLst/>
            </a:prstGeom>
            <a:solidFill>
              <a:srgbClr val="FFA640"/>
            </a:solidFill>
            <a:ln>
              <a:noFill/>
            </a:ln>
          </p:spPr>
        </p:sp>
        <p:sp>
          <p:nvSpPr>
            <p:cNvPr id="34" name="TextBox 34"/>
            <p:cNvSpPr txBox="1"/>
            <p:nvPr/>
          </p:nvSpPr>
          <p:spPr>
            <a:xfrm>
              <a:off x="8088630" y="1504950"/>
              <a:ext cx="597713" cy="293370"/>
            </a:xfrm>
            <a:prstGeom prst="rect">
              <a:avLst/>
            </a:prstGeom>
            <a:noFill/>
            <a:ln>
              <a:noFill/>
            </a:ln>
          </p:spPr>
          <p:txBody>
            <a:bodyPr wrap="none" lIns="0" tIns="0" rIns="0" bIns="0" anchor="t" anchorCtr="0">
              <a:spAutoFit/>
            </a:bodyPr>
            <a:lstStyle/>
            <a:p>
              <a:pPr algn="l"/>
              <a:r>
                <a:rPr lang="en-US" sz="1500" b="1" dirty="0">
                  <a:solidFill>
                    <a:srgbClr val="E08A2E"/>
                  </a:solidFill>
                  <a:latin typeface="Arial"/>
                  <a:ea typeface="Arial"/>
                  <a:cs typeface="Arial"/>
                </a:rPr>
                <a:t>OMEA</a:t>
              </a:r>
            </a:p>
          </p:txBody>
        </p:sp>
        <p:sp>
          <p:nvSpPr>
            <p:cNvPr id="35" name="TextBox 35"/>
            <p:cNvSpPr txBox="1"/>
            <p:nvPr/>
          </p:nvSpPr>
          <p:spPr>
            <a:xfrm>
              <a:off x="8090154" y="1756410"/>
              <a:ext cx="1143000"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非当前战略重点</a:t>
              </a:r>
            </a:p>
          </p:txBody>
        </p:sp>
        <p:sp>
          <p:nvSpPr>
            <p:cNvPr id="36" name="Line 36"/>
            <p:cNvSpPr/>
            <p:nvPr/>
          </p:nvSpPr>
          <p:spPr>
            <a:xfrm>
              <a:off x="809625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37" name="Rectangle 37"/>
            <p:cNvSpPr/>
            <p:nvPr/>
          </p:nvSpPr>
          <p:spPr>
            <a:xfrm>
              <a:off x="8324850" y="2857500"/>
              <a:ext cx="3095625" cy="1619250"/>
            </a:xfrm>
            <a:prstGeom prst="roundRect">
              <a:avLst>
                <a:gd name="adj" fmla="val 2353"/>
              </a:avLst>
            </a:prstGeom>
            <a:noFill/>
            <a:ln w="19050">
              <a:solidFill>
                <a:srgbClr val="CBD5E1"/>
              </a:solidFill>
              <a:prstDash val="lgDash"/>
            </a:ln>
          </p:spPr>
        </p:sp>
        <p:sp>
          <p:nvSpPr>
            <p:cNvPr id="38" name="TextBox 38"/>
            <p:cNvSpPr txBox="1"/>
            <p:nvPr/>
          </p:nvSpPr>
          <p:spPr>
            <a:xfrm>
              <a:off x="9436227" y="3457575"/>
              <a:ext cx="863346" cy="293370"/>
            </a:xfrm>
            <a:prstGeom prst="rect">
              <a:avLst/>
            </a:prstGeom>
            <a:noFill/>
            <a:ln>
              <a:noFill/>
            </a:ln>
          </p:spPr>
          <p:txBody>
            <a:bodyPr wrap="none" lIns="0" tIns="0" rIns="0" bIns="0" anchor="t" anchorCtr="0">
              <a:spAutoFit/>
            </a:bodyPr>
            <a:lstStyle/>
            <a:p>
              <a:pPr algn="ctr"/>
              <a:r>
                <a:rPr lang="zh-CN" sz="1500" b="1" dirty="0">
                  <a:solidFill>
                    <a:srgbClr val="9B9B9B"/>
                  </a:solidFill>
                  <a:latin typeface="Arial"/>
                  <a:ea typeface="Microsoft YaHei"/>
                  <a:cs typeface="Arial"/>
                </a:rPr>
                <a:t>新兴机会</a:t>
              </a:r>
            </a:p>
          </p:txBody>
        </p:sp>
        <p:sp>
          <p:nvSpPr>
            <p:cNvPr id="39" name="TextBox 39"/>
            <p:cNvSpPr txBox="1"/>
            <p:nvPr/>
          </p:nvSpPr>
          <p:spPr>
            <a:xfrm>
              <a:off x="9383982" y="3759518"/>
              <a:ext cx="967835" cy="264033"/>
            </a:xfrm>
            <a:prstGeom prst="rect">
              <a:avLst/>
            </a:prstGeom>
            <a:noFill/>
            <a:ln>
              <a:noFill/>
            </a:ln>
          </p:spPr>
          <p:txBody>
            <a:bodyPr wrap="none" lIns="0" tIns="0" rIns="0" bIns="0" anchor="t" anchorCtr="0">
              <a:spAutoFit/>
            </a:bodyPr>
            <a:lstStyle/>
            <a:p>
              <a:pPr algn="ctr"/>
              <a:r>
                <a:rPr lang="zh-CN" sz="1350" b="1" dirty="0">
                  <a:solidFill>
                    <a:srgbClr val="9B9B9B"/>
                  </a:solidFill>
                  <a:latin typeface="Arial"/>
                  <a:ea typeface="Microsoft YaHei"/>
                  <a:cs typeface="Arial"/>
                </a:rPr>
                <a:t>数据待补充</a:t>
              </a:r>
            </a:p>
          </p:txBody>
        </p:sp>
        <p:sp>
          <p:nvSpPr>
            <p:cNvPr id="40" name="TextBox 40"/>
            <p:cNvSpPr txBox="1"/>
            <p:nvPr/>
          </p:nvSpPr>
          <p:spPr>
            <a:xfrm>
              <a:off x="8090154" y="4823460"/>
              <a:ext cx="1661038" cy="234696"/>
            </a:xfrm>
            <a:prstGeom prst="rect">
              <a:avLst/>
            </a:prstGeom>
            <a:noFill/>
            <a:ln>
              <a:noFill/>
            </a:ln>
          </p:spPr>
          <p:txBody>
            <a:bodyPr wrap="none" lIns="0" tIns="0" rIns="0" bIns="0" anchor="t" anchorCtr="0">
              <a:spAutoFit/>
            </a:bodyPr>
            <a:lstStyle/>
            <a:p>
              <a:pPr algn="l"/>
              <a:r>
                <a:rPr lang="zh-CN" sz="1200" b="1" dirty="0">
                  <a:solidFill>
                    <a:srgbClr val="6B6B6B"/>
                  </a:solidFill>
                  <a:latin typeface="Arial"/>
                  <a:ea typeface="Microsoft YaHei"/>
                  <a:cs typeface="Arial"/>
                </a:rPr>
                <a:t>核心为移动数据/FBB</a:t>
              </a:r>
            </a:p>
          </p:txBody>
        </p:sp>
      </p:grpSp>
      <p:grpSp>
        <p:nvGrpSpPr>
          <p:cNvPr id="44" name="Group 44"/>
          <p:cNvGrpSpPr/>
          <p:nvPr/>
        </p:nvGrpSpPr>
        <p:grpSpPr>
          <a:xfrm>
            <a:off x="533400" y="5715000"/>
            <a:ext cx="11125200" cy="571500"/>
            <a:chOff x="533400" y="5715000"/>
            <a:chExt cx="11125200" cy="571500"/>
          </a:xfrm>
        </p:grpSpPr>
        <p:sp>
          <p:nvSpPr>
            <p:cNvPr id="42" name="Rectangle 42"/>
            <p:cNvSpPr/>
            <p:nvPr/>
          </p:nvSpPr>
          <p:spPr>
            <a:xfrm>
              <a:off x="533400" y="5715000"/>
              <a:ext cx="11125200" cy="571500"/>
            </a:xfrm>
            <a:prstGeom prst="roundRect">
              <a:avLst>
                <a:gd name="adj" fmla="val 6667"/>
              </a:avLst>
            </a:prstGeom>
            <a:solidFill>
              <a:srgbClr val="FBF6F1"/>
            </a:solidFill>
            <a:ln w="9525">
              <a:solidFill>
                <a:srgbClr val="E8E2DA"/>
              </a:solidFill>
            </a:ln>
          </p:spPr>
        </p:sp>
        <p:sp>
          <p:nvSpPr>
            <p:cNvPr id="43" name="TextBox 43"/>
            <p:cNvSpPr txBox="1"/>
            <p:nvPr/>
          </p:nvSpPr>
          <p:spPr>
            <a:xfrm>
              <a:off x="755523" y="5920264"/>
              <a:ext cx="6563533"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这是本次调研数据最薄弱的维度，OB之外均标注"数据待补充"，不做过度推断</a:t>
              </a:r>
            </a:p>
          </p:txBody>
        </p:sp>
      </p:grpSp>
      <p:grpSp>
        <p:nvGrpSpPr>
          <p:cNvPr id="47" name="Group 47"/>
          <p:cNvGrpSpPr/>
          <p:nvPr/>
        </p:nvGrpSpPr>
        <p:grpSpPr>
          <a:xfrm>
            <a:off x="528447" y="6562249"/>
            <a:ext cx="11135106" cy="190690"/>
            <a:chOff x="528447" y="6562249"/>
            <a:chExt cx="11135106" cy="190690"/>
          </a:xfrm>
        </p:grpSpPr>
        <p:sp>
          <p:nvSpPr>
            <p:cNvPr id="45" name="TextBox 45"/>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46" name="TextBox 46"/>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08</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1136630" cy="747713"/>
            <a:chOff x="521970" y="252412"/>
            <a:chExt cx="11136630" cy="747713"/>
          </a:xfrm>
        </p:grpSpPr>
        <p:sp>
          <p:nvSpPr>
            <p:cNvPr id="3" name="TextBox 3"/>
            <p:cNvSpPr txBox="1"/>
            <p:nvPr/>
          </p:nvSpPr>
          <p:spPr>
            <a:xfrm>
              <a:off x="521970" y="252412"/>
              <a:ext cx="9780080"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云服务是华为最深的存量锚点——</a:t>
              </a:r>
              <a:r>
                <a:rPr lang="zh-CN" sz="2250" b="1" dirty="0">
                  <a:solidFill>
                    <a:srgbClr val="FF7900"/>
                  </a:solidFill>
                  <a:latin typeface="Arial"/>
                  <a:ea typeface="Microsoft YaHei"/>
                  <a:cs typeface="Arial"/>
                </a:rPr>
                <a:t>Flexible Engine同时支撑OB与OMEA</a:t>
              </a:r>
            </a:p>
          </p:txBody>
        </p:sp>
        <p:sp>
          <p:nvSpPr>
            <p:cNvPr id="4" name="TextBox 4"/>
            <p:cNvSpPr txBox="1"/>
            <p:nvPr/>
          </p:nvSpPr>
          <p:spPr>
            <a:xfrm>
              <a:off x="527304" y="708660"/>
              <a:ext cx="4750326"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Catalogue：IaaS/PaaS转售 · 主权云 · 云迁移管理 · 混合云容器</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28" name="Group 28"/>
          <p:cNvGrpSpPr/>
          <p:nvPr/>
        </p:nvGrpSpPr>
        <p:grpSpPr>
          <a:xfrm>
            <a:off x="525780" y="1333500"/>
            <a:ext cx="3560445" cy="3965734"/>
            <a:chOff x="525780" y="1333500"/>
            <a:chExt cx="3560445" cy="3965734"/>
          </a:xfrm>
        </p:grpSpPr>
        <p:sp>
          <p:nvSpPr>
            <p:cNvPr id="7" name="Rectangle 7"/>
            <p:cNvSpPr/>
            <p:nvPr/>
          </p:nvSpPr>
          <p:spPr>
            <a:xfrm>
              <a:off x="533400" y="1333500"/>
              <a:ext cx="3552825" cy="76200"/>
            </a:xfrm>
            <a:prstGeom prst="rect">
              <a:avLst/>
            </a:prstGeom>
            <a:solidFill>
              <a:srgbClr val="B85C00"/>
            </a:solidFill>
            <a:ln>
              <a:noFill/>
            </a:ln>
          </p:spPr>
        </p:sp>
        <p:sp>
          <p:nvSpPr>
            <p:cNvPr id="8" name="TextBox 8"/>
            <p:cNvSpPr txBox="1"/>
            <p:nvPr/>
          </p:nvSpPr>
          <p:spPr>
            <a:xfrm>
              <a:off x="525780" y="1504950"/>
              <a:ext cx="306476" cy="293370"/>
            </a:xfrm>
            <a:prstGeom prst="rect">
              <a:avLst/>
            </a:prstGeom>
            <a:noFill/>
            <a:ln>
              <a:noFill/>
            </a:ln>
          </p:spPr>
          <p:txBody>
            <a:bodyPr wrap="none" lIns="0" tIns="0" rIns="0" bIns="0" anchor="t" anchorCtr="0">
              <a:spAutoFit/>
            </a:bodyPr>
            <a:lstStyle/>
            <a:p>
              <a:pPr algn="l"/>
              <a:r>
                <a:rPr lang="en-US" sz="1500" b="1" dirty="0">
                  <a:solidFill>
                    <a:srgbClr val="B85C00"/>
                  </a:solidFill>
                  <a:latin typeface="Arial"/>
                  <a:ea typeface="Arial"/>
                  <a:cs typeface="Arial"/>
                </a:rPr>
                <a:t>OB</a:t>
              </a:r>
            </a:p>
          </p:txBody>
        </p:sp>
        <p:sp>
          <p:nvSpPr>
            <p:cNvPr id="9" name="TextBox 9"/>
            <p:cNvSpPr txBox="1"/>
            <p:nvPr/>
          </p:nvSpPr>
          <p:spPr>
            <a:xfrm>
              <a:off x="527304" y="1756410"/>
              <a:ext cx="1710538"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年收入约650M€（估）</a:t>
              </a:r>
            </a:p>
          </p:txBody>
        </p:sp>
        <p:sp>
          <p:nvSpPr>
            <p:cNvPr id="10" name="Line 10"/>
            <p:cNvSpPr/>
            <p:nvPr/>
          </p:nvSpPr>
          <p:spPr>
            <a:xfrm>
              <a:off x="53340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11" name="TextBox 11"/>
            <p:cNvSpPr txBox="1"/>
            <p:nvPr/>
          </p:nvSpPr>
          <p:spPr>
            <a:xfrm>
              <a:off x="528066" y="2153602"/>
              <a:ext cx="2058453"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Cloud Avenue+FE+Bleu三层架构</a:t>
              </a:r>
            </a:p>
          </p:txBody>
        </p:sp>
        <p:grpSp>
          <p:nvGrpSpPr>
            <p:cNvPr id="25" name="Group 25"/>
            <p:cNvGrpSpPr/>
            <p:nvPr/>
          </p:nvGrpSpPr>
          <p:grpSpPr>
            <a:xfrm>
              <a:off x="762000" y="2790349"/>
              <a:ext cx="3095625" cy="1955958"/>
              <a:chOff x="762000" y="2790349"/>
              <a:chExt cx="3095625" cy="1955958"/>
            </a:xfrm>
          </p:grpSpPr>
          <p:sp>
            <p:nvSpPr>
              <p:cNvPr id="12" name="Line 12"/>
              <p:cNvSpPr/>
              <p:nvPr/>
            </p:nvSpPr>
            <p:spPr>
              <a:xfrm>
                <a:off x="762000" y="44767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13" name="Rectangle 13"/>
              <p:cNvSpPr/>
              <p:nvPr/>
            </p:nvSpPr>
            <p:spPr>
              <a:xfrm>
                <a:off x="904875" y="2981325"/>
                <a:ext cx="523875" cy="1495425"/>
              </a:xfrm>
              <a:prstGeom prst="rect">
                <a:avLst/>
              </a:prstGeom>
              <a:solidFill>
                <a:srgbClr val="C7C2B8"/>
              </a:solidFill>
              <a:ln>
                <a:noFill/>
              </a:ln>
            </p:spPr>
          </p:sp>
          <p:sp>
            <p:nvSpPr>
              <p:cNvPr id="14" name="TextBox 14"/>
              <p:cNvSpPr txBox="1"/>
              <p:nvPr/>
            </p:nvSpPr>
            <p:spPr>
              <a:xfrm>
                <a:off x="942310" y="2790349"/>
                <a:ext cx="439480" cy="190690"/>
              </a:xfrm>
              <a:prstGeom prst="rect">
                <a:avLst/>
              </a:prstGeom>
              <a:noFill/>
              <a:ln>
                <a:noFill/>
              </a:ln>
            </p:spPr>
            <p:txBody>
              <a:bodyPr wrap="none" lIns="0" tIns="0" rIns="0" bIns="0" anchor="t" anchorCtr="0">
                <a:spAutoFit/>
              </a:bodyPr>
              <a:lstStyle/>
              <a:p>
                <a:pPr algn="ctr"/>
                <a:r>
                  <a:rPr lang="en-US" sz="980" b="1" dirty="0">
                    <a:solidFill>
                      <a:srgbClr val="1A1A1A"/>
                    </a:solidFill>
                    <a:latin typeface="Arial"/>
                    <a:ea typeface="Arial"/>
                    <a:cs typeface="Arial"/>
                  </a:rPr>
                  <a:t>180M$</a:t>
                </a:r>
              </a:p>
            </p:txBody>
          </p:sp>
          <p:sp>
            <p:nvSpPr>
              <p:cNvPr id="15" name="TextBox 15"/>
              <p:cNvSpPr txBox="1"/>
              <p:nvPr/>
            </p:nvSpPr>
            <p:spPr>
              <a:xfrm>
                <a:off x="801510" y="4570095"/>
                <a:ext cx="721081"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Azure(Bleu)</a:t>
                </a:r>
              </a:p>
            </p:txBody>
          </p:sp>
          <p:sp>
            <p:nvSpPr>
              <p:cNvPr id="16" name="Rectangle 16"/>
              <p:cNvSpPr/>
              <p:nvPr/>
            </p:nvSpPr>
            <p:spPr>
              <a:xfrm>
                <a:off x="1571625" y="3228975"/>
                <a:ext cx="523875" cy="1247775"/>
              </a:xfrm>
              <a:prstGeom prst="rect">
                <a:avLst/>
              </a:prstGeom>
              <a:solidFill>
                <a:srgbClr val="FF7900"/>
              </a:solidFill>
              <a:ln w="19050">
                <a:solidFill>
                  <a:srgbClr val="B85C00"/>
                </a:solidFill>
              </a:ln>
            </p:spPr>
          </p:sp>
          <p:sp>
            <p:nvSpPr>
              <p:cNvPr id="17" name="TextBox 17"/>
              <p:cNvSpPr txBox="1"/>
              <p:nvPr/>
            </p:nvSpPr>
            <p:spPr>
              <a:xfrm>
                <a:off x="1609060" y="3037999"/>
                <a:ext cx="439480" cy="190690"/>
              </a:xfrm>
              <a:prstGeom prst="rect">
                <a:avLst/>
              </a:prstGeom>
              <a:noFill/>
              <a:ln>
                <a:noFill/>
              </a:ln>
            </p:spPr>
            <p:txBody>
              <a:bodyPr wrap="none" lIns="0" tIns="0" rIns="0" bIns="0" anchor="t" anchorCtr="0">
                <a:spAutoFit/>
              </a:bodyPr>
              <a:lstStyle/>
              <a:p>
                <a:pPr algn="ctr"/>
                <a:r>
                  <a:rPr lang="en-US" sz="980" b="1" dirty="0">
                    <a:solidFill>
                      <a:srgbClr val="B85C00"/>
                    </a:solidFill>
                    <a:latin typeface="Arial"/>
                    <a:ea typeface="Arial"/>
                    <a:cs typeface="Arial"/>
                  </a:rPr>
                  <a:t>150M$</a:t>
                </a:r>
              </a:p>
            </p:txBody>
          </p:sp>
          <p:sp>
            <p:nvSpPr>
              <p:cNvPr id="18" name="TextBox 18"/>
              <p:cNvSpPr txBox="1"/>
              <p:nvPr/>
            </p:nvSpPr>
            <p:spPr>
              <a:xfrm>
                <a:off x="1341905" y="4570095"/>
                <a:ext cx="973790" cy="176212"/>
              </a:xfrm>
              <a:prstGeom prst="rect">
                <a:avLst/>
              </a:prstGeom>
              <a:noFill/>
              <a:ln>
                <a:noFill/>
              </a:ln>
            </p:spPr>
            <p:txBody>
              <a:bodyPr wrap="none" lIns="0" tIns="0" rIns="0" bIns="0" anchor="t" anchorCtr="0">
                <a:spAutoFit/>
              </a:bodyPr>
              <a:lstStyle/>
              <a:p>
                <a:pPr algn="ctr"/>
                <a:r>
                  <a:rPr lang="en-US" sz="900" b="1" dirty="0">
                    <a:solidFill>
                      <a:srgbClr val="B85C00"/>
                    </a:solidFill>
                    <a:latin typeface="Arial"/>
                    <a:ea typeface="Arial"/>
                    <a:cs typeface="Arial"/>
                  </a:rPr>
                  <a:t>CloudAvenue/FE</a:t>
                </a:r>
              </a:p>
            </p:txBody>
          </p:sp>
          <p:sp>
            <p:nvSpPr>
              <p:cNvPr id="19" name="Rectangle 19"/>
              <p:cNvSpPr/>
              <p:nvPr/>
            </p:nvSpPr>
            <p:spPr>
              <a:xfrm>
                <a:off x="2238375" y="3981450"/>
                <a:ext cx="523875" cy="495300"/>
              </a:xfrm>
              <a:prstGeom prst="rect">
                <a:avLst/>
              </a:prstGeom>
              <a:solidFill>
                <a:srgbClr val="C7C2B8"/>
              </a:solidFill>
              <a:ln>
                <a:noFill/>
              </a:ln>
            </p:spPr>
          </p:sp>
          <p:sp>
            <p:nvSpPr>
              <p:cNvPr id="20" name="TextBox 20"/>
              <p:cNvSpPr txBox="1"/>
              <p:nvPr/>
            </p:nvSpPr>
            <p:spPr>
              <a:xfrm>
                <a:off x="2315855" y="3790474"/>
                <a:ext cx="359390" cy="190690"/>
              </a:xfrm>
              <a:prstGeom prst="rect">
                <a:avLst/>
              </a:prstGeom>
              <a:noFill/>
              <a:ln>
                <a:noFill/>
              </a:ln>
            </p:spPr>
            <p:txBody>
              <a:bodyPr wrap="none" lIns="0" tIns="0" rIns="0" bIns="0" anchor="t" anchorCtr="0">
                <a:spAutoFit/>
              </a:bodyPr>
              <a:lstStyle/>
              <a:p>
                <a:pPr algn="ctr"/>
                <a:r>
                  <a:rPr lang="en-US" sz="980" b="1" dirty="0">
                    <a:solidFill>
                      <a:srgbClr val="1A1A1A"/>
                    </a:solidFill>
                    <a:latin typeface="Arial"/>
                    <a:ea typeface="Arial"/>
                    <a:cs typeface="Arial"/>
                  </a:rPr>
                  <a:t>60M$</a:t>
                </a:r>
              </a:p>
            </p:txBody>
          </p:sp>
          <p:sp>
            <p:nvSpPr>
              <p:cNvPr id="21" name="TextBox 21"/>
              <p:cNvSpPr txBox="1"/>
              <p:nvPr/>
            </p:nvSpPr>
            <p:spPr>
              <a:xfrm>
                <a:off x="2372373" y="4570095"/>
                <a:ext cx="246355"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AWS</a:t>
                </a:r>
              </a:p>
            </p:txBody>
          </p:sp>
          <p:sp>
            <p:nvSpPr>
              <p:cNvPr id="22" name="Rectangle 22"/>
              <p:cNvSpPr/>
              <p:nvPr/>
            </p:nvSpPr>
            <p:spPr>
              <a:xfrm>
                <a:off x="2905125" y="4143375"/>
                <a:ext cx="523875" cy="333375"/>
              </a:xfrm>
              <a:prstGeom prst="rect">
                <a:avLst/>
              </a:prstGeom>
              <a:solidFill>
                <a:srgbClr val="C7C2B8"/>
              </a:solidFill>
              <a:ln>
                <a:noFill/>
              </a:ln>
            </p:spPr>
          </p:sp>
          <p:sp>
            <p:nvSpPr>
              <p:cNvPr id="23" name="TextBox 23"/>
              <p:cNvSpPr txBox="1"/>
              <p:nvPr/>
            </p:nvSpPr>
            <p:spPr>
              <a:xfrm>
                <a:off x="2982605" y="3952399"/>
                <a:ext cx="359390" cy="190690"/>
              </a:xfrm>
              <a:prstGeom prst="rect">
                <a:avLst/>
              </a:prstGeom>
              <a:noFill/>
              <a:ln>
                <a:noFill/>
              </a:ln>
            </p:spPr>
            <p:txBody>
              <a:bodyPr wrap="none" lIns="0" tIns="0" rIns="0" bIns="0" anchor="t" anchorCtr="0">
                <a:spAutoFit/>
              </a:bodyPr>
              <a:lstStyle/>
              <a:p>
                <a:pPr algn="ctr"/>
                <a:r>
                  <a:rPr lang="en-US" sz="980" b="1" dirty="0">
                    <a:solidFill>
                      <a:srgbClr val="1A1A1A"/>
                    </a:solidFill>
                    <a:latin typeface="Arial"/>
                    <a:ea typeface="Arial"/>
                    <a:cs typeface="Arial"/>
                  </a:rPr>
                  <a:t>40M$</a:t>
                </a:r>
              </a:p>
            </p:txBody>
          </p:sp>
          <p:sp>
            <p:nvSpPr>
              <p:cNvPr id="24" name="TextBox 24"/>
              <p:cNvSpPr txBox="1"/>
              <p:nvPr/>
            </p:nvSpPr>
            <p:spPr>
              <a:xfrm>
                <a:off x="3051924" y="4570095"/>
                <a:ext cx="220751" cy="176212"/>
              </a:xfrm>
              <a:prstGeom prst="rect">
                <a:avLst/>
              </a:prstGeom>
              <a:noFill/>
              <a:ln>
                <a:noFill/>
              </a:ln>
            </p:spPr>
            <p:txBody>
              <a:bodyPr wrap="none" lIns="0" tIns="0" rIns="0" bIns="0" anchor="t" anchorCtr="0">
                <a:spAutoFit/>
              </a:bodyPr>
              <a:lstStyle/>
              <a:p>
                <a:pPr algn="ctr"/>
                <a:r>
                  <a:rPr lang="en-US" sz="900" dirty="0">
                    <a:solidFill>
                      <a:srgbClr val="6B6B6B"/>
                    </a:solidFill>
                    <a:latin typeface="Arial"/>
                    <a:ea typeface="Arial"/>
                    <a:cs typeface="Arial"/>
                  </a:rPr>
                  <a:t>GCP</a:t>
                </a:r>
              </a:p>
            </p:txBody>
          </p:sp>
        </p:grpSp>
        <p:sp>
          <p:nvSpPr>
            <p:cNvPr id="26" name="TextBox 26"/>
            <p:cNvSpPr txBox="1"/>
            <p:nvPr/>
          </p:nvSpPr>
          <p:spPr>
            <a:xfrm>
              <a:off x="527304" y="4823460"/>
              <a:ext cx="2406091"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华为：Flexible Engine云栈底座</a:t>
              </a:r>
            </a:p>
          </p:txBody>
        </p:sp>
        <p:sp>
          <p:nvSpPr>
            <p:cNvPr id="27" name="TextBox 27"/>
            <p:cNvSpPr txBox="1"/>
            <p:nvPr/>
          </p:nvSpPr>
          <p:spPr>
            <a:xfrm>
              <a:off x="527685" y="5079206"/>
              <a:ext cx="2283142"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看不见的底层技术（非品牌可见）</a:t>
              </a:r>
            </a:p>
          </p:txBody>
        </p:sp>
      </p:grpSp>
      <p:grpSp>
        <p:nvGrpSpPr>
          <p:cNvPr id="42" name="Group 42"/>
          <p:cNvGrpSpPr/>
          <p:nvPr/>
        </p:nvGrpSpPr>
        <p:grpSpPr>
          <a:xfrm>
            <a:off x="4307205" y="1333500"/>
            <a:ext cx="3560445" cy="3724656"/>
            <a:chOff x="4307205" y="1333500"/>
            <a:chExt cx="3560445" cy="3724656"/>
          </a:xfrm>
        </p:grpSpPr>
        <p:sp>
          <p:nvSpPr>
            <p:cNvPr id="29" name="Rectangle 29"/>
            <p:cNvSpPr/>
            <p:nvPr/>
          </p:nvSpPr>
          <p:spPr>
            <a:xfrm>
              <a:off x="4314825" y="1333500"/>
              <a:ext cx="3552825" cy="76200"/>
            </a:xfrm>
            <a:prstGeom prst="rect">
              <a:avLst/>
            </a:prstGeom>
            <a:solidFill>
              <a:srgbClr val="FF7900"/>
            </a:solidFill>
            <a:ln>
              <a:noFill/>
            </a:ln>
          </p:spPr>
        </p:sp>
        <p:sp>
          <p:nvSpPr>
            <p:cNvPr id="30" name="TextBox 30"/>
            <p:cNvSpPr txBox="1"/>
            <p:nvPr/>
          </p:nvSpPr>
          <p:spPr>
            <a:xfrm>
              <a:off x="4307205" y="1504950"/>
              <a:ext cx="429692" cy="293370"/>
            </a:xfrm>
            <a:prstGeom prst="rect">
              <a:avLst/>
            </a:prstGeom>
            <a:noFill/>
            <a:ln>
              <a:noFill/>
            </a:ln>
          </p:spPr>
          <p:txBody>
            <a:bodyPr wrap="none" lIns="0" tIns="0" rIns="0" bIns="0" anchor="t" anchorCtr="0">
              <a:spAutoFit/>
            </a:bodyPr>
            <a:lstStyle/>
            <a:p>
              <a:pPr algn="l"/>
              <a:r>
                <a:rPr lang="en-US" sz="1500" b="1" dirty="0">
                  <a:solidFill>
                    <a:srgbClr val="FF7900"/>
                  </a:solidFill>
                  <a:latin typeface="Arial"/>
                  <a:ea typeface="Arial"/>
                  <a:cs typeface="Arial"/>
                </a:rPr>
                <a:t>OEU</a:t>
              </a:r>
            </a:p>
          </p:txBody>
        </p:sp>
        <p:sp>
          <p:nvSpPr>
            <p:cNvPr id="31" name="TextBox 31"/>
            <p:cNvSpPr txBox="1"/>
            <p:nvPr/>
          </p:nvSpPr>
          <p:spPr>
            <a:xfrm>
              <a:off x="4308729" y="1756410"/>
              <a:ext cx="1143000"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规模数据待补充</a:t>
              </a:r>
            </a:p>
          </p:txBody>
        </p:sp>
        <p:sp>
          <p:nvSpPr>
            <p:cNvPr id="32" name="Line 32"/>
            <p:cNvSpPr/>
            <p:nvPr/>
          </p:nvSpPr>
          <p:spPr>
            <a:xfrm>
              <a:off x="4314825"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33" name="Rectangle 33"/>
            <p:cNvSpPr/>
            <p:nvPr/>
          </p:nvSpPr>
          <p:spPr>
            <a:xfrm>
              <a:off x="4543425" y="2571750"/>
              <a:ext cx="3095625" cy="857250"/>
            </a:xfrm>
            <a:prstGeom prst="roundRect">
              <a:avLst>
                <a:gd name="adj" fmla="val 4444"/>
              </a:avLst>
            </a:prstGeom>
            <a:solidFill>
              <a:srgbClr val="FBF6F1"/>
            </a:solidFill>
            <a:ln w="9525">
              <a:solidFill>
                <a:srgbClr val="E8E2DA"/>
              </a:solidFill>
            </a:ln>
          </p:spPr>
        </p:sp>
        <p:sp>
          <p:nvSpPr>
            <p:cNvPr id="34" name="TextBox 34"/>
            <p:cNvSpPr txBox="1"/>
            <p:nvPr/>
          </p:nvSpPr>
          <p:spPr>
            <a:xfrm>
              <a:off x="4727829" y="2708910"/>
              <a:ext cx="351434"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Arial"/>
                  <a:ea typeface="Microsoft YaHei"/>
                  <a:cs typeface="Arial"/>
                </a:rPr>
                <a:t>波兰</a:t>
              </a:r>
            </a:p>
          </p:txBody>
        </p:sp>
        <p:sp>
          <p:nvSpPr>
            <p:cNvPr id="35" name="TextBox 35"/>
            <p:cNvSpPr txBox="1"/>
            <p:nvPr/>
          </p:nvSpPr>
          <p:spPr>
            <a:xfrm>
              <a:off x="4728210" y="2945606"/>
              <a:ext cx="2282890"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BlueSoft/Craftware云集成能力</a:t>
              </a:r>
            </a:p>
          </p:txBody>
        </p:sp>
        <p:sp>
          <p:nvSpPr>
            <p:cNvPr id="36" name="TextBox 36"/>
            <p:cNvSpPr txBox="1"/>
            <p:nvPr/>
          </p:nvSpPr>
          <p:spPr>
            <a:xfrm>
              <a:off x="4728210" y="3155156"/>
              <a:ext cx="1828800"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（估算规模，无独立披露）</a:t>
              </a:r>
            </a:p>
          </p:txBody>
        </p:sp>
        <p:sp>
          <p:nvSpPr>
            <p:cNvPr id="37" name="Rectangle 37"/>
            <p:cNvSpPr/>
            <p:nvPr/>
          </p:nvSpPr>
          <p:spPr>
            <a:xfrm>
              <a:off x="4543425" y="3562350"/>
              <a:ext cx="3095625" cy="857250"/>
            </a:xfrm>
            <a:prstGeom prst="roundRect">
              <a:avLst>
                <a:gd name="adj" fmla="val 4444"/>
              </a:avLst>
            </a:prstGeom>
            <a:solidFill>
              <a:srgbClr val="FBF6F1"/>
            </a:solidFill>
            <a:ln w="9525">
              <a:solidFill>
                <a:srgbClr val="E8E2DA"/>
              </a:solidFill>
            </a:ln>
          </p:spPr>
        </p:sp>
        <p:sp>
          <p:nvSpPr>
            <p:cNvPr id="38" name="TextBox 38"/>
            <p:cNvSpPr txBox="1"/>
            <p:nvPr/>
          </p:nvSpPr>
          <p:spPr>
            <a:xfrm>
              <a:off x="4727829" y="3699510"/>
              <a:ext cx="521056" cy="234696"/>
            </a:xfrm>
            <a:prstGeom prst="rect">
              <a:avLst/>
            </a:prstGeom>
            <a:noFill/>
            <a:ln>
              <a:noFill/>
            </a:ln>
          </p:spPr>
          <p:txBody>
            <a:bodyPr wrap="none" lIns="0" tIns="0" rIns="0" bIns="0" anchor="t" anchorCtr="0">
              <a:spAutoFit/>
            </a:bodyPr>
            <a:lstStyle/>
            <a:p>
              <a:pPr algn="l"/>
              <a:r>
                <a:rPr lang="zh-CN" sz="1200" b="1" dirty="0">
                  <a:solidFill>
                    <a:srgbClr val="1A1A1A"/>
                  </a:solidFill>
                  <a:latin typeface="Arial"/>
                  <a:ea typeface="Microsoft YaHei"/>
                  <a:cs typeface="Arial"/>
                </a:rPr>
                <a:t>西班牙</a:t>
              </a:r>
            </a:p>
          </p:txBody>
        </p:sp>
        <p:sp>
          <p:nvSpPr>
            <p:cNvPr id="39" name="TextBox 39"/>
            <p:cNvSpPr txBox="1"/>
            <p:nvPr/>
          </p:nvSpPr>
          <p:spPr>
            <a:xfrm>
              <a:off x="4728210" y="3936206"/>
              <a:ext cx="1905867"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MasOrange 5G专网+云关联</a:t>
              </a:r>
            </a:p>
          </p:txBody>
        </p:sp>
        <p:sp>
          <p:nvSpPr>
            <p:cNvPr id="40" name="TextBox 40"/>
            <p:cNvSpPr txBox="1"/>
            <p:nvPr/>
          </p:nvSpPr>
          <p:spPr>
            <a:xfrm>
              <a:off x="4728210" y="4145756"/>
              <a:ext cx="1667923"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项目（Correos等案例）</a:t>
              </a:r>
            </a:p>
          </p:txBody>
        </p:sp>
        <p:sp>
          <p:nvSpPr>
            <p:cNvPr id="41" name="TextBox 41"/>
            <p:cNvSpPr txBox="1"/>
            <p:nvPr/>
          </p:nvSpPr>
          <p:spPr>
            <a:xfrm>
              <a:off x="4308729" y="4823460"/>
              <a:ext cx="1199540"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华为：未见参与</a:t>
              </a:r>
            </a:p>
          </p:txBody>
        </p:sp>
      </p:grpSp>
      <p:grpSp>
        <p:nvGrpSpPr>
          <p:cNvPr id="55" name="Group 55"/>
          <p:cNvGrpSpPr/>
          <p:nvPr/>
        </p:nvGrpSpPr>
        <p:grpSpPr>
          <a:xfrm>
            <a:off x="8088630" y="1333500"/>
            <a:ext cx="3560445" cy="3724656"/>
            <a:chOff x="8088630" y="1333500"/>
            <a:chExt cx="3560445" cy="3724656"/>
          </a:xfrm>
        </p:grpSpPr>
        <p:sp>
          <p:nvSpPr>
            <p:cNvPr id="43" name="Rectangle 43"/>
            <p:cNvSpPr/>
            <p:nvPr/>
          </p:nvSpPr>
          <p:spPr>
            <a:xfrm>
              <a:off x="8096250" y="1333500"/>
              <a:ext cx="3552825" cy="76200"/>
            </a:xfrm>
            <a:prstGeom prst="rect">
              <a:avLst/>
            </a:prstGeom>
            <a:solidFill>
              <a:srgbClr val="FFA640"/>
            </a:solidFill>
            <a:ln>
              <a:noFill/>
            </a:ln>
          </p:spPr>
        </p:sp>
        <p:sp>
          <p:nvSpPr>
            <p:cNvPr id="44" name="TextBox 44"/>
            <p:cNvSpPr txBox="1"/>
            <p:nvPr/>
          </p:nvSpPr>
          <p:spPr>
            <a:xfrm>
              <a:off x="8088630" y="1504950"/>
              <a:ext cx="597713" cy="293370"/>
            </a:xfrm>
            <a:prstGeom prst="rect">
              <a:avLst/>
            </a:prstGeom>
            <a:noFill/>
            <a:ln>
              <a:noFill/>
            </a:ln>
          </p:spPr>
          <p:txBody>
            <a:bodyPr wrap="none" lIns="0" tIns="0" rIns="0" bIns="0" anchor="t" anchorCtr="0">
              <a:spAutoFit/>
            </a:bodyPr>
            <a:lstStyle/>
            <a:p>
              <a:pPr algn="l"/>
              <a:r>
                <a:rPr lang="en-US" sz="1500" b="1" dirty="0">
                  <a:solidFill>
                    <a:srgbClr val="E08A2E"/>
                  </a:solidFill>
                  <a:latin typeface="Arial"/>
                  <a:ea typeface="Arial"/>
                  <a:cs typeface="Arial"/>
                </a:rPr>
                <a:t>OMEA</a:t>
              </a:r>
            </a:p>
          </p:txBody>
        </p:sp>
        <p:sp>
          <p:nvSpPr>
            <p:cNvPr id="45" name="TextBox 45"/>
            <p:cNvSpPr txBox="1"/>
            <p:nvPr/>
          </p:nvSpPr>
          <p:spPr>
            <a:xfrm>
              <a:off x="8090154" y="1756410"/>
              <a:ext cx="1143000"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规模数据待补充</a:t>
              </a:r>
            </a:p>
          </p:txBody>
        </p:sp>
        <p:sp>
          <p:nvSpPr>
            <p:cNvPr id="46" name="Line 46"/>
            <p:cNvSpPr/>
            <p:nvPr/>
          </p:nvSpPr>
          <p:spPr>
            <a:xfrm>
              <a:off x="809625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47" name="Rectangle 47"/>
            <p:cNvSpPr/>
            <p:nvPr/>
          </p:nvSpPr>
          <p:spPr>
            <a:xfrm>
              <a:off x="8324850" y="2571750"/>
              <a:ext cx="3095625" cy="1847850"/>
            </a:xfrm>
            <a:prstGeom prst="roundRect">
              <a:avLst>
                <a:gd name="adj" fmla="val 2062"/>
              </a:avLst>
            </a:prstGeom>
            <a:solidFill>
              <a:srgbClr val="FFF6EC"/>
            </a:solidFill>
            <a:ln w="19050">
              <a:solidFill>
                <a:srgbClr val="FFA640"/>
              </a:solidFill>
            </a:ln>
          </p:spPr>
        </p:sp>
        <p:sp>
          <p:nvSpPr>
            <p:cNvPr id="48" name="TextBox 48"/>
            <p:cNvSpPr txBox="1"/>
            <p:nvPr/>
          </p:nvSpPr>
          <p:spPr>
            <a:xfrm>
              <a:off x="8509254" y="2708910"/>
              <a:ext cx="1551127" cy="234696"/>
            </a:xfrm>
            <a:prstGeom prst="rect">
              <a:avLst/>
            </a:prstGeom>
            <a:noFill/>
            <a:ln>
              <a:noFill/>
            </a:ln>
          </p:spPr>
          <p:txBody>
            <a:bodyPr wrap="none" lIns="0" tIns="0" rIns="0" bIns="0" anchor="t" anchorCtr="0">
              <a:spAutoFit/>
            </a:bodyPr>
            <a:lstStyle/>
            <a:p>
              <a:pPr algn="l"/>
              <a:r>
                <a:rPr lang="zh-CN" sz="1200" b="1" dirty="0">
                  <a:solidFill>
                    <a:srgbClr val="B85C00"/>
                  </a:solidFill>
                  <a:latin typeface="Arial"/>
                  <a:ea typeface="Microsoft YaHei"/>
                  <a:cs typeface="Arial"/>
                </a:rPr>
                <a:t>同源Flexible Engine</a:t>
              </a:r>
            </a:p>
          </p:txBody>
        </p:sp>
        <p:sp>
          <p:nvSpPr>
            <p:cNvPr id="49" name="TextBox 49"/>
            <p:cNvSpPr txBox="1"/>
            <p:nvPr/>
          </p:nvSpPr>
          <p:spPr>
            <a:xfrm>
              <a:off x="8509635" y="2964656"/>
              <a:ext cx="1691640"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华为AUTIN智能运维系统</a:t>
              </a:r>
            </a:p>
          </p:txBody>
        </p:sp>
        <p:sp>
          <p:nvSpPr>
            <p:cNvPr id="50" name="TextBox 50"/>
            <p:cNvSpPr txBox="1"/>
            <p:nvPr/>
          </p:nvSpPr>
          <p:spPr>
            <a:xfrm>
              <a:off x="8509635" y="3174206"/>
              <a:ext cx="1995678"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直接部署于其上，服务GNOC</a:t>
              </a:r>
            </a:p>
          </p:txBody>
        </p:sp>
        <p:sp>
          <p:nvSpPr>
            <p:cNvPr id="51" name="TextBox 51"/>
            <p:cNvSpPr txBox="1"/>
            <p:nvPr/>
          </p:nvSpPr>
          <p:spPr>
            <a:xfrm>
              <a:off x="8509635" y="3383756"/>
              <a:ext cx="1912096"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（达喀尔+阿比让双活运维）</a:t>
              </a:r>
            </a:p>
          </p:txBody>
        </p:sp>
        <p:sp>
          <p:nvSpPr>
            <p:cNvPr id="52" name="TextBox 52"/>
            <p:cNvSpPr txBox="1"/>
            <p:nvPr/>
          </p:nvSpPr>
          <p:spPr>
            <a:xfrm>
              <a:off x="8509635" y="3688556"/>
              <a:ext cx="1458511" cy="220028"/>
            </a:xfrm>
            <a:prstGeom prst="rect">
              <a:avLst/>
            </a:prstGeom>
            <a:noFill/>
            <a:ln>
              <a:noFill/>
            </a:ln>
          </p:spPr>
          <p:txBody>
            <a:bodyPr wrap="none" lIns="0" tIns="0" rIns="0" bIns="0" anchor="t" anchorCtr="0">
              <a:spAutoFit/>
            </a:bodyPr>
            <a:lstStyle/>
            <a:p>
              <a:pPr algn="l"/>
              <a:r>
                <a:rPr lang="zh-CN" sz="1120" b="1" dirty="0">
                  <a:solidFill>
                    <a:srgbClr val="B85C00"/>
                  </a:solidFill>
                  <a:latin typeface="Arial"/>
                  <a:ea typeface="Microsoft YaHei"/>
                  <a:cs typeface="Arial"/>
                </a:rPr>
                <a:t>从"底层技术"升级为</a:t>
              </a:r>
            </a:p>
          </p:txBody>
        </p:sp>
        <p:sp>
          <p:nvSpPr>
            <p:cNvPr id="53" name="TextBox 53"/>
            <p:cNvSpPr txBox="1"/>
            <p:nvPr/>
          </p:nvSpPr>
          <p:spPr>
            <a:xfrm>
              <a:off x="8509635" y="3898106"/>
              <a:ext cx="1776551" cy="220028"/>
            </a:xfrm>
            <a:prstGeom prst="rect">
              <a:avLst/>
            </a:prstGeom>
            <a:noFill/>
            <a:ln>
              <a:noFill/>
            </a:ln>
          </p:spPr>
          <p:txBody>
            <a:bodyPr wrap="none" lIns="0" tIns="0" rIns="0" bIns="0" anchor="t" anchorCtr="0">
              <a:spAutoFit/>
            </a:bodyPr>
            <a:lstStyle/>
            <a:p>
              <a:pPr algn="l"/>
              <a:r>
                <a:rPr lang="zh-CN" sz="1120" b="1" dirty="0">
                  <a:solidFill>
                    <a:srgbClr val="B85C00"/>
                  </a:solidFill>
                  <a:latin typeface="Arial"/>
                  <a:ea typeface="Microsoft YaHei"/>
                  <a:cs typeface="Arial"/>
                </a:rPr>
                <a:t>"看得见的联合运维平台"</a:t>
              </a:r>
            </a:p>
          </p:txBody>
        </p:sp>
        <p:sp>
          <p:nvSpPr>
            <p:cNvPr id="54" name="TextBox 54"/>
            <p:cNvSpPr txBox="1"/>
            <p:nvPr/>
          </p:nvSpPr>
          <p:spPr>
            <a:xfrm>
              <a:off x="8090154" y="4823460"/>
              <a:ext cx="1538783"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华为：深度联合运维</a:t>
              </a:r>
            </a:p>
          </p:txBody>
        </p:sp>
      </p:grpSp>
      <p:grpSp>
        <p:nvGrpSpPr>
          <p:cNvPr id="58" name="Group 58"/>
          <p:cNvGrpSpPr/>
          <p:nvPr/>
        </p:nvGrpSpPr>
        <p:grpSpPr>
          <a:xfrm>
            <a:off x="528447" y="6562249"/>
            <a:ext cx="11135106" cy="190690"/>
            <a:chOff x="528447" y="6562249"/>
            <a:chExt cx="11135106" cy="190690"/>
          </a:xfrm>
        </p:grpSpPr>
        <p:sp>
          <p:nvSpPr>
            <p:cNvPr id="56" name="TextBox 56"/>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7" name="TextBox 57"/>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09</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2468416" cy="747713"/>
            <a:chOff x="521970" y="252412"/>
            <a:chExt cx="12468416" cy="747713"/>
          </a:xfrm>
        </p:grpSpPr>
        <p:sp>
          <p:nvSpPr>
            <p:cNvPr id="3" name="TextBox 3"/>
            <p:cNvSpPr txBox="1"/>
            <p:nvPr/>
          </p:nvSpPr>
          <p:spPr>
            <a:xfrm>
              <a:off x="521970" y="252412"/>
              <a:ext cx="12468416"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安全托管服务是Orange Cyberdefense的协同网络——</a:t>
              </a:r>
              <a:r>
                <a:rPr lang="zh-CN" sz="2250" b="1" dirty="0">
                  <a:solidFill>
                    <a:srgbClr val="FF7900"/>
                  </a:solidFill>
                  <a:latin typeface="Arial"/>
                  <a:ea typeface="Microsoft YaHei"/>
                  <a:cs typeface="Arial"/>
                </a:rPr>
                <a:t>OB自营、OEU合资、OMEA孵化中</a:t>
              </a:r>
            </a:p>
          </p:txBody>
        </p:sp>
        <p:sp>
          <p:nvSpPr>
            <p:cNvPr id="4" name="TextBox 4"/>
            <p:cNvSpPr txBox="1"/>
            <p:nvPr/>
          </p:nvSpPr>
          <p:spPr>
            <a:xfrm>
              <a:off x="527304" y="708660"/>
              <a:ext cx="5871058"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Catalogue：MSSP(SOC/SIEM/威胁情报) · 终端安全 · 数据保护 · IoT/OT安全</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19" name="Group 19"/>
          <p:cNvGrpSpPr/>
          <p:nvPr/>
        </p:nvGrpSpPr>
        <p:grpSpPr>
          <a:xfrm>
            <a:off x="525780" y="1333500"/>
            <a:ext cx="3560445" cy="3724656"/>
            <a:chOff x="525780" y="1333500"/>
            <a:chExt cx="3560445" cy="3724656"/>
          </a:xfrm>
        </p:grpSpPr>
        <p:sp>
          <p:nvSpPr>
            <p:cNvPr id="7" name="Rectangle 7"/>
            <p:cNvSpPr/>
            <p:nvPr/>
          </p:nvSpPr>
          <p:spPr>
            <a:xfrm>
              <a:off x="533400" y="1333500"/>
              <a:ext cx="3552825" cy="76200"/>
            </a:xfrm>
            <a:prstGeom prst="rect">
              <a:avLst/>
            </a:prstGeom>
            <a:solidFill>
              <a:srgbClr val="B85C00"/>
            </a:solidFill>
            <a:ln>
              <a:noFill/>
            </a:ln>
          </p:spPr>
        </p:sp>
        <p:sp>
          <p:nvSpPr>
            <p:cNvPr id="8" name="TextBox 8"/>
            <p:cNvSpPr txBox="1"/>
            <p:nvPr/>
          </p:nvSpPr>
          <p:spPr>
            <a:xfrm>
              <a:off x="525780" y="1504950"/>
              <a:ext cx="1460221" cy="293370"/>
            </a:xfrm>
            <a:prstGeom prst="rect">
              <a:avLst/>
            </a:prstGeom>
            <a:noFill/>
            <a:ln>
              <a:noFill/>
            </a:ln>
          </p:spPr>
          <p:txBody>
            <a:bodyPr wrap="none" lIns="0" tIns="0" rIns="0" bIns="0" anchor="t" anchorCtr="0">
              <a:spAutoFit/>
            </a:bodyPr>
            <a:lstStyle/>
            <a:p>
              <a:pPr algn="l"/>
              <a:r>
                <a:rPr lang="zh-CN" sz="1500" b="1" dirty="0">
                  <a:solidFill>
                    <a:srgbClr val="B85C00"/>
                  </a:solidFill>
                  <a:latin typeface="Arial"/>
                  <a:ea typeface="Microsoft YaHei"/>
                  <a:cs typeface="Arial"/>
                </a:rPr>
                <a:t>OB · 自营巨头</a:t>
              </a:r>
            </a:p>
          </p:txBody>
        </p:sp>
        <p:sp>
          <p:nvSpPr>
            <p:cNvPr id="9" name="TextBox 9"/>
            <p:cNvSpPr txBox="1"/>
            <p:nvPr/>
          </p:nvSpPr>
          <p:spPr>
            <a:xfrm>
              <a:off x="527304" y="1756410"/>
              <a:ext cx="3410346"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Orange Cyberdefense 1,300M€/Y（+6.8%）</a:t>
              </a:r>
            </a:p>
          </p:txBody>
        </p:sp>
        <p:sp>
          <p:nvSpPr>
            <p:cNvPr id="10" name="Line 10"/>
            <p:cNvSpPr/>
            <p:nvPr/>
          </p:nvSpPr>
          <p:spPr>
            <a:xfrm>
              <a:off x="53340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11" name="Rectangle 11"/>
            <p:cNvSpPr/>
            <p:nvPr/>
          </p:nvSpPr>
          <p:spPr>
            <a:xfrm>
              <a:off x="533400" y="2190750"/>
              <a:ext cx="3552825" cy="857250"/>
            </a:xfrm>
            <a:prstGeom prst="roundRect">
              <a:avLst>
                <a:gd name="adj" fmla="val 4444"/>
              </a:avLst>
            </a:prstGeom>
            <a:solidFill>
              <a:srgbClr val="FBF6F1"/>
            </a:solidFill>
            <a:ln w="9525">
              <a:solidFill>
                <a:srgbClr val="E8E2DA"/>
              </a:solidFill>
            </a:ln>
          </p:spPr>
        </p:sp>
        <p:sp>
          <p:nvSpPr>
            <p:cNvPr id="12" name="TextBox 12"/>
            <p:cNvSpPr txBox="1"/>
            <p:nvPr/>
          </p:nvSpPr>
          <p:spPr>
            <a:xfrm>
              <a:off x="712470" y="2195512"/>
              <a:ext cx="1072391" cy="440055"/>
            </a:xfrm>
            <a:prstGeom prst="rect">
              <a:avLst/>
            </a:prstGeom>
            <a:noFill/>
            <a:ln>
              <a:noFill/>
            </a:ln>
          </p:spPr>
          <p:txBody>
            <a:bodyPr wrap="none" lIns="0" tIns="0" rIns="0" bIns="0" anchor="t" anchorCtr="0">
              <a:spAutoFit/>
            </a:bodyPr>
            <a:lstStyle/>
            <a:p>
              <a:pPr algn="l"/>
              <a:r>
                <a:rPr lang="en-US" sz="2250" b="1" dirty="0">
                  <a:solidFill>
                    <a:srgbClr val="B85C00"/>
                  </a:solidFill>
                  <a:latin typeface="Arial"/>
                  <a:ea typeface="Arial"/>
                  <a:cs typeface="Arial"/>
                </a:rPr>
                <a:t>3,300+</a:t>
              </a:r>
            </a:p>
          </p:txBody>
        </p:sp>
        <p:sp>
          <p:nvSpPr>
            <p:cNvPr id="13" name="TextBox 13"/>
            <p:cNvSpPr txBox="1"/>
            <p:nvPr/>
          </p:nvSpPr>
          <p:spPr>
            <a:xfrm>
              <a:off x="1898904" y="2308860"/>
              <a:ext cx="1869948"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专家 · 23国 · 36检测中心</a:t>
              </a:r>
            </a:p>
          </p:txBody>
        </p:sp>
        <p:sp>
          <p:nvSpPr>
            <p:cNvPr id="14" name="TextBox 14"/>
            <p:cNvSpPr txBox="1"/>
            <p:nvPr/>
          </p:nvSpPr>
          <p:spPr>
            <a:xfrm>
              <a:off x="717804" y="2632710"/>
              <a:ext cx="1174097"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2030目标20亿€</a:t>
              </a:r>
            </a:p>
          </p:txBody>
        </p:sp>
        <p:sp>
          <p:nvSpPr>
            <p:cNvPr id="15" name="TextBox 15"/>
            <p:cNvSpPr txBox="1"/>
            <p:nvPr/>
          </p:nvSpPr>
          <p:spPr>
            <a:xfrm>
              <a:off x="2184654" y="2632710"/>
              <a:ext cx="1104595"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欧洲第一MSSP</a:t>
              </a:r>
            </a:p>
          </p:txBody>
        </p:sp>
        <p:sp>
          <p:nvSpPr>
            <p:cNvPr id="16" name="TextBox 16"/>
            <p:cNvSpPr txBox="1"/>
            <p:nvPr/>
          </p:nvSpPr>
          <p:spPr>
            <a:xfrm>
              <a:off x="527304" y="3223260"/>
              <a:ext cx="3034589"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主要Vendor：CrowdStrike、Palo Alto、</a:t>
              </a:r>
            </a:p>
          </p:txBody>
        </p:sp>
        <p:sp>
          <p:nvSpPr>
            <p:cNvPr id="17" name="TextBox 17"/>
            <p:cNvSpPr txBox="1"/>
            <p:nvPr/>
          </p:nvSpPr>
          <p:spPr>
            <a:xfrm>
              <a:off x="527304" y="3470910"/>
              <a:ext cx="2445502"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Microsoft、Thales（数据保护）</a:t>
              </a:r>
            </a:p>
          </p:txBody>
        </p:sp>
        <p:sp>
          <p:nvSpPr>
            <p:cNvPr id="18" name="TextBox 18"/>
            <p:cNvSpPr txBox="1"/>
            <p:nvPr/>
          </p:nvSpPr>
          <p:spPr>
            <a:xfrm>
              <a:off x="527304" y="4823460"/>
              <a:ext cx="1775772"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华为：不在Vendor目录</a:t>
              </a:r>
            </a:p>
          </p:txBody>
        </p:sp>
      </p:grpSp>
      <p:grpSp>
        <p:nvGrpSpPr>
          <p:cNvPr id="32" name="Group 32"/>
          <p:cNvGrpSpPr/>
          <p:nvPr/>
        </p:nvGrpSpPr>
        <p:grpSpPr>
          <a:xfrm>
            <a:off x="4307205" y="1333500"/>
            <a:ext cx="3560445" cy="3724656"/>
            <a:chOff x="4307205" y="1333500"/>
            <a:chExt cx="3560445" cy="3724656"/>
          </a:xfrm>
        </p:grpSpPr>
        <p:sp>
          <p:nvSpPr>
            <p:cNvPr id="20" name="Rectangle 20"/>
            <p:cNvSpPr/>
            <p:nvPr/>
          </p:nvSpPr>
          <p:spPr>
            <a:xfrm>
              <a:off x="4314825" y="1333500"/>
              <a:ext cx="3552825" cy="76200"/>
            </a:xfrm>
            <a:prstGeom prst="rect">
              <a:avLst/>
            </a:prstGeom>
            <a:solidFill>
              <a:srgbClr val="FF7900"/>
            </a:solidFill>
            <a:ln>
              <a:noFill/>
            </a:ln>
          </p:spPr>
        </p:sp>
        <p:sp>
          <p:nvSpPr>
            <p:cNvPr id="21" name="TextBox 21"/>
            <p:cNvSpPr txBox="1"/>
            <p:nvPr/>
          </p:nvSpPr>
          <p:spPr>
            <a:xfrm>
              <a:off x="4307205" y="1504950"/>
              <a:ext cx="1583436" cy="293370"/>
            </a:xfrm>
            <a:prstGeom prst="rect">
              <a:avLst/>
            </a:prstGeom>
            <a:noFill/>
            <a:ln>
              <a:noFill/>
            </a:ln>
          </p:spPr>
          <p:txBody>
            <a:bodyPr wrap="none" lIns="0" tIns="0" rIns="0" bIns="0" anchor="t" anchorCtr="0">
              <a:spAutoFit/>
            </a:bodyPr>
            <a:lstStyle/>
            <a:p>
              <a:pPr algn="l"/>
              <a:r>
                <a:rPr lang="zh-CN" sz="1500" b="1" dirty="0">
                  <a:solidFill>
                    <a:srgbClr val="FF7900"/>
                  </a:solidFill>
                  <a:latin typeface="Arial"/>
                  <a:ea typeface="Microsoft YaHei"/>
                  <a:cs typeface="Arial"/>
                </a:rPr>
                <a:t>OEU · 合资节点</a:t>
              </a:r>
            </a:p>
          </p:txBody>
        </p:sp>
        <p:sp>
          <p:nvSpPr>
            <p:cNvPr id="22" name="TextBox 22"/>
            <p:cNvSpPr txBox="1"/>
            <p:nvPr/>
          </p:nvSpPr>
          <p:spPr>
            <a:xfrm>
              <a:off x="4308729" y="1756410"/>
              <a:ext cx="1143000"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规模数据待补充</a:t>
              </a:r>
            </a:p>
          </p:txBody>
        </p:sp>
        <p:sp>
          <p:nvSpPr>
            <p:cNvPr id="23" name="Line 23"/>
            <p:cNvSpPr/>
            <p:nvPr/>
          </p:nvSpPr>
          <p:spPr>
            <a:xfrm>
              <a:off x="4314825"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24" name="Rectangle 24"/>
            <p:cNvSpPr/>
            <p:nvPr/>
          </p:nvSpPr>
          <p:spPr>
            <a:xfrm>
              <a:off x="4314825" y="2190750"/>
              <a:ext cx="3552825" cy="857250"/>
            </a:xfrm>
            <a:prstGeom prst="roundRect">
              <a:avLst>
                <a:gd name="adj" fmla="val 4444"/>
              </a:avLst>
            </a:prstGeom>
            <a:solidFill>
              <a:srgbClr val="FBF6F1"/>
            </a:solidFill>
            <a:ln w="9525">
              <a:solidFill>
                <a:srgbClr val="E8E2DA"/>
              </a:solidFill>
            </a:ln>
          </p:spPr>
        </p:sp>
        <p:sp>
          <p:nvSpPr>
            <p:cNvPr id="25" name="TextBox 25"/>
            <p:cNvSpPr txBox="1"/>
            <p:nvPr/>
          </p:nvSpPr>
          <p:spPr>
            <a:xfrm>
              <a:off x="4498848" y="2338864"/>
              <a:ext cx="1574429"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SCUT（罗马尼亚）</a:t>
              </a:r>
            </a:p>
          </p:txBody>
        </p:sp>
        <p:sp>
          <p:nvSpPr>
            <p:cNvPr id="26" name="TextBox 26"/>
            <p:cNvSpPr txBox="1"/>
            <p:nvPr/>
          </p:nvSpPr>
          <p:spPr>
            <a:xfrm>
              <a:off x="4499610" y="2583656"/>
              <a:ext cx="2358390"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与Orange Cyberdefense合资成立</a:t>
              </a:r>
            </a:p>
          </p:txBody>
        </p:sp>
        <p:sp>
          <p:nvSpPr>
            <p:cNvPr id="27" name="TextBox 27"/>
            <p:cNvSpPr txBox="1"/>
            <p:nvPr/>
          </p:nvSpPr>
          <p:spPr>
            <a:xfrm>
              <a:off x="4499610" y="2774156"/>
              <a:ext cx="1071563"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的网络安全公司</a:t>
              </a:r>
            </a:p>
          </p:txBody>
        </p:sp>
        <p:sp>
          <p:nvSpPr>
            <p:cNvPr id="28" name="Rectangle 28"/>
            <p:cNvSpPr/>
            <p:nvPr/>
          </p:nvSpPr>
          <p:spPr>
            <a:xfrm>
              <a:off x="4314825" y="3143250"/>
              <a:ext cx="3552825" cy="666750"/>
            </a:xfrm>
            <a:prstGeom prst="roundRect">
              <a:avLst>
                <a:gd name="adj" fmla="val 5714"/>
              </a:avLst>
            </a:prstGeom>
            <a:solidFill>
              <a:srgbClr val="FBF6F1"/>
            </a:solidFill>
            <a:ln w="9525">
              <a:solidFill>
                <a:srgbClr val="E8E2DA"/>
              </a:solidFill>
            </a:ln>
          </p:spPr>
        </p:sp>
        <p:sp>
          <p:nvSpPr>
            <p:cNvPr id="29" name="TextBox 29"/>
            <p:cNvSpPr txBox="1"/>
            <p:nvPr/>
          </p:nvSpPr>
          <p:spPr>
            <a:xfrm>
              <a:off x="4498848" y="3272314"/>
              <a:ext cx="1121323"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波兰 / 比利时</a:t>
              </a:r>
            </a:p>
          </p:txBody>
        </p:sp>
        <p:sp>
          <p:nvSpPr>
            <p:cNvPr id="30" name="TextBox 30"/>
            <p:cNvSpPr txBox="1"/>
            <p:nvPr/>
          </p:nvSpPr>
          <p:spPr>
            <a:xfrm>
              <a:off x="4499610" y="3517106"/>
              <a:ext cx="1587627"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OCD区域协同网络节点</a:t>
              </a:r>
            </a:p>
          </p:txBody>
        </p:sp>
        <p:sp>
          <p:nvSpPr>
            <p:cNvPr id="31" name="TextBox 31"/>
            <p:cNvSpPr txBox="1"/>
            <p:nvPr/>
          </p:nvSpPr>
          <p:spPr>
            <a:xfrm>
              <a:off x="4308729" y="4823460"/>
              <a:ext cx="1199540"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华为：未见参与</a:t>
              </a:r>
            </a:p>
          </p:txBody>
        </p:sp>
      </p:grpSp>
      <p:grpSp>
        <p:nvGrpSpPr>
          <p:cNvPr id="42" name="Group 42"/>
          <p:cNvGrpSpPr/>
          <p:nvPr/>
        </p:nvGrpSpPr>
        <p:grpSpPr>
          <a:xfrm>
            <a:off x="8088630" y="1333500"/>
            <a:ext cx="3560445" cy="3724656"/>
            <a:chOff x="8088630" y="1333500"/>
            <a:chExt cx="3560445" cy="3724656"/>
          </a:xfrm>
        </p:grpSpPr>
        <p:sp>
          <p:nvSpPr>
            <p:cNvPr id="33" name="Rectangle 33"/>
            <p:cNvSpPr/>
            <p:nvPr/>
          </p:nvSpPr>
          <p:spPr>
            <a:xfrm>
              <a:off x="8096250" y="1333500"/>
              <a:ext cx="3552825" cy="76200"/>
            </a:xfrm>
            <a:prstGeom prst="rect">
              <a:avLst/>
            </a:prstGeom>
            <a:solidFill>
              <a:srgbClr val="FFA640"/>
            </a:solidFill>
            <a:ln>
              <a:noFill/>
            </a:ln>
          </p:spPr>
        </p:sp>
        <p:sp>
          <p:nvSpPr>
            <p:cNvPr id="34" name="TextBox 34"/>
            <p:cNvSpPr txBox="1"/>
            <p:nvPr/>
          </p:nvSpPr>
          <p:spPr>
            <a:xfrm>
              <a:off x="8088630" y="1504950"/>
              <a:ext cx="1527429" cy="293370"/>
            </a:xfrm>
            <a:prstGeom prst="rect">
              <a:avLst/>
            </a:prstGeom>
            <a:noFill/>
            <a:ln>
              <a:noFill/>
            </a:ln>
          </p:spPr>
          <p:txBody>
            <a:bodyPr wrap="none" lIns="0" tIns="0" rIns="0" bIns="0" anchor="t" anchorCtr="0">
              <a:spAutoFit/>
            </a:bodyPr>
            <a:lstStyle/>
            <a:p>
              <a:pPr algn="l"/>
              <a:r>
                <a:rPr lang="zh-CN" sz="1500" b="1" dirty="0">
                  <a:solidFill>
                    <a:srgbClr val="E08A2E"/>
                  </a:solidFill>
                  <a:latin typeface="Arial"/>
                  <a:ea typeface="Microsoft YaHei"/>
                  <a:cs typeface="Arial"/>
                </a:rPr>
                <a:t>OMEA · 孵化中</a:t>
              </a:r>
            </a:p>
          </p:txBody>
        </p:sp>
        <p:sp>
          <p:nvSpPr>
            <p:cNvPr id="35" name="TextBox 35"/>
            <p:cNvSpPr txBox="1"/>
            <p:nvPr/>
          </p:nvSpPr>
          <p:spPr>
            <a:xfrm>
              <a:off x="8090154" y="1756410"/>
              <a:ext cx="1789176"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安全独立收入数据待补充</a:t>
              </a:r>
            </a:p>
          </p:txBody>
        </p:sp>
        <p:sp>
          <p:nvSpPr>
            <p:cNvPr id="36" name="Line 36"/>
            <p:cNvSpPr/>
            <p:nvPr/>
          </p:nvSpPr>
          <p:spPr>
            <a:xfrm>
              <a:off x="809625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37" name="Rectangle 37"/>
            <p:cNvSpPr/>
            <p:nvPr/>
          </p:nvSpPr>
          <p:spPr>
            <a:xfrm>
              <a:off x="8096250" y="2190750"/>
              <a:ext cx="3552825" cy="857250"/>
            </a:xfrm>
            <a:prstGeom prst="roundRect">
              <a:avLst>
                <a:gd name="adj" fmla="val 4444"/>
              </a:avLst>
            </a:prstGeom>
            <a:solidFill>
              <a:srgbClr val="FBF6F1"/>
            </a:solidFill>
            <a:ln w="9525">
              <a:solidFill>
                <a:srgbClr val="E8E2DA"/>
              </a:solidFill>
            </a:ln>
          </p:spPr>
        </p:sp>
        <p:sp>
          <p:nvSpPr>
            <p:cNvPr id="38" name="TextBox 38"/>
            <p:cNvSpPr txBox="1"/>
            <p:nvPr/>
          </p:nvSpPr>
          <p:spPr>
            <a:xfrm>
              <a:off x="8280273" y="2319814"/>
              <a:ext cx="2069531"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G3 ICT加速计划组成部分</a:t>
              </a:r>
            </a:p>
          </p:txBody>
        </p:sp>
        <p:sp>
          <p:nvSpPr>
            <p:cNvPr id="39" name="TextBox 39"/>
            <p:cNvSpPr txBox="1"/>
            <p:nvPr/>
          </p:nvSpPr>
          <p:spPr>
            <a:xfrm>
              <a:off x="8281035" y="2564606"/>
              <a:ext cx="2133124"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云/安全/IoT标准化即开即售包</a:t>
              </a:r>
            </a:p>
          </p:txBody>
        </p:sp>
        <p:sp>
          <p:nvSpPr>
            <p:cNvPr id="40" name="TextBox 40"/>
            <p:cNvSpPr txBox="1"/>
            <p:nvPr/>
          </p:nvSpPr>
          <p:spPr>
            <a:xfrm>
              <a:off x="8281035" y="2774156"/>
              <a:ext cx="1321994" cy="220028"/>
            </a:xfrm>
            <a:prstGeom prst="rect">
              <a:avLst/>
            </a:prstGeom>
            <a:noFill/>
            <a:ln>
              <a:noFill/>
            </a:ln>
          </p:spPr>
          <p:txBody>
            <a:bodyPr wrap="none" lIns="0" tIns="0" rIns="0" bIns="0" anchor="t" anchorCtr="0">
              <a:spAutoFit/>
            </a:bodyPr>
            <a:lstStyle/>
            <a:p>
              <a:pPr algn="l"/>
              <a:r>
                <a:rPr lang="zh-CN" sz="1120" b="1" dirty="0">
                  <a:solidFill>
                    <a:srgbClr val="2E8B57"/>
                  </a:solidFill>
                  <a:latin typeface="Arial"/>
                  <a:ea typeface="Microsoft YaHei"/>
                  <a:cs typeface="Arial"/>
                </a:rPr>
                <a:t>ICT整体收入+28%</a:t>
              </a:r>
            </a:p>
          </p:txBody>
        </p:sp>
        <p:sp>
          <p:nvSpPr>
            <p:cNvPr id="41" name="TextBox 41"/>
            <p:cNvSpPr txBox="1"/>
            <p:nvPr/>
          </p:nvSpPr>
          <p:spPr>
            <a:xfrm>
              <a:off x="8090154" y="4823460"/>
              <a:ext cx="1369162" cy="234696"/>
            </a:xfrm>
            <a:prstGeom prst="rect">
              <a:avLst/>
            </a:prstGeom>
            <a:noFill/>
            <a:ln>
              <a:noFill/>
            </a:ln>
          </p:spPr>
          <p:txBody>
            <a:bodyPr wrap="none" lIns="0" tIns="0" rIns="0" bIns="0" anchor="t" anchorCtr="0">
              <a:spAutoFit/>
            </a:bodyPr>
            <a:lstStyle/>
            <a:p>
              <a:pPr algn="l"/>
              <a:r>
                <a:rPr lang="zh-CN" sz="1200" b="1" dirty="0">
                  <a:solidFill>
                    <a:srgbClr val="6B6B6B"/>
                  </a:solidFill>
                  <a:latin typeface="Arial"/>
                  <a:ea typeface="Microsoft YaHei"/>
                  <a:cs typeface="Arial"/>
                </a:rPr>
                <a:t>华为：数据待补充</a:t>
              </a:r>
            </a:p>
          </p:txBody>
        </p:sp>
      </p:grpSp>
      <p:grpSp>
        <p:nvGrpSpPr>
          <p:cNvPr id="45" name="Group 45"/>
          <p:cNvGrpSpPr/>
          <p:nvPr/>
        </p:nvGrpSpPr>
        <p:grpSpPr>
          <a:xfrm>
            <a:off x="533400" y="5715000"/>
            <a:ext cx="11125200" cy="571500"/>
            <a:chOff x="533400" y="5715000"/>
            <a:chExt cx="11125200" cy="571500"/>
          </a:xfrm>
        </p:grpSpPr>
        <p:sp>
          <p:nvSpPr>
            <p:cNvPr id="43" name="Rectangle 43"/>
            <p:cNvSpPr/>
            <p:nvPr/>
          </p:nvSpPr>
          <p:spPr>
            <a:xfrm>
              <a:off x="533400" y="5715000"/>
              <a:ext cx="11125200" cy="571500"/>
            </a:xfrm>
            <a:prstGeom prst="roundRect">
              <a:avLst>
                <a:gd name="adj" fmla="val 6667"/>
              </a:avLst>
            </a:prstGeom>
            <a:solidFill>
              <a:srgbClr val="FBF6F1"/>
            </a:solidFill>
            <a:ln w="9525">
              <a:solidFill>
                <a:srgbClr val="E8E2DA"/>
              </a:solidFill>
            </a:ln>
          </p:spPr>
        </p:sp>
        <p:sp>
          <p:nvSpPr>
            <p:cNvPr id="44" name="TextBox 44"/>
            <p:cNvSpPr txBox="1"/>
            <p:nvPr/>
          </p:nvSpPr>
          <p:spPr>
            <a:xfrm>
              <a:off x="755523" y="5920264"/>
              <a:ext cx="6287418"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三区域安全模式各异——</a:t>
              </a:r>
              <a:r>
                <a:rPr lang="zh-CN" sz="1280" b="1" dirty="0">
                  <a:solidFill>
                    <a:srgbClr val="B85C00"/>
                  </a:solidFill>
                  <a:latin typeface="Arial"/>
                  <a:ea typeface="Microsoft YaHei"/>
                  <a:cs typeface="Arial"/>
                </a:rPr>
                <a:t>OB自营巨头</a:t>
              </a:r>
              <a:r>
                <a:rPr lang="zh-CN" sz="1280" b="1" dirty="0">
                  <a:solidFill>
                    <a:srgbClr val="1A1A1A"/>
                  </a:solidFill>
                  <a:latin typeface="Arial"/>
                  <a:ea typeface="Microsoft YaHei"/>
                  <a:cs typeface="Arial"/>
                </a:rPr>
                <a:t>、</a:t>
              </a:r>
              <a:r>
                <a:rPr lang="zh-CN" sz="1280" b="1" dirty="0">
                  <a:solidFill>
                    <a:srgbClr val="FF7900"/>
                  </a:solidFill>
                  <a:latin typeface="Arial"/>
                  <a:ea typeface="Microsoft YaHei"/>
                  <a:cs typeface="Arial"/>
                </a:rPr>
                <a:t>OEU合资节点</a:t>
              </a:r>
              <a:r>
                <a:rPr lang="zh-CN" sz="1280" b="1" dirty="0">
                  <a:solidFill>
                    <a:srgbClr val="1A1A1A"/>
                  </a:solidFill>
                  <a:latin typeface="Arial"/>
                  <a:ea typeface="Microsoft YaHei"/>
                  <a:cs typeface="Arial"/>
                </a:rPr>
                <a:t>、</a:t>
              </a:r>
              <a:r>
                <a:rPr lang="zh-CN" sz="1280" b="1" dirty="0">
                  <a:solidFill>
                    <a:srgbClr val="E08A2E"/>
                  </a:solidFill>
                  <a:latin typeface="Arial"/>
                  <a:ea typeface="Microsoft YaHei"/>
                  <a:cs typeface="Arial"/>
                </a:rPr>
                <a:t>OMEA尚在G3计划孵化</a:t>
              </a:r>
            </a:p>
          </p:txBody>
        </p:sp>
      </p:grpSp>
      <p:grpSp>
        <p:nvGrpSpPr>
          <p:cNvPr id="48" name="Group 48"/>
          <p:cNvGrpSpPr/>
          <p:nvPr/>
        </p:nvGrpSpPr>
        <p:grpSpPr>
          <a:xfrm>
            <a:off x="528447" y="6562249"/>
            <a:ext cx="11135106" cy="190690"/>
            <a:chOff x="528447" y="6562249"/>
            <a:chExt cx="11135106" cy="190690"/>
          </a:xfrm>
        </p:grpSpPr>
        <p:sp>
          <p:nvSpPr>
            <p:cNvPr id="46" name="TextBox 46"/>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47" name="TextBox 47"/>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10</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1136630" cy="747713"/>
            <a:chOff x="521970" y="252412"/>
            <a:chExt cx="11136630" cy="747713"/>
          </a:xfrm>
        </p:grpSpPr>
        <p:sp>
          <p:nvSpPr>
            <p:cNvPr id="3" name="TextBox 3"/>
            <p:cNvSpPr txBox="1"/>
            <p:nvPr/>
          </p:nvSpPr>
          <p:spPr>
            <a:xfrm>
              <a:off x="521970" y="252412"/>
              <a:ext cx="10879744"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项目集成能力是波兰与OB的共同护城河，</a:t>
              </a:r>
              <a:r>
                <a:rPr lang="zh-CN" sz="2250" b="1" dirty="0">
                  <a:solidFill>
                    <a:srgbClr val="FF7900"/>
                  </a:solidFill>
                  <a:latin typeface="Arial"/>
                  <a:ea typeface="Microsoft YaHei"/>
                  <a:cs typeface="Arial"/>
                </a:rPr>
                <a:t>OMEA仍依赖华为/Nokia联合交付</a:t>
              </a:r>
            </a:p>
          </p:txBody>
        </p:sp>
        <p:sp>
          <p:nvSpPr>
            <p:cNvPr id="4" name="TextBox 4"/>
            <p:cNvSpPr txBox="1"/>
            <p:nvPr/>
          </p:nvSpPr>
          <p:spPr>
            <a:xfrm>
              <a:off x="527304" y="708660"/>
              <a:ext cx="6585976"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Catalogue：企业硬件转售(网络设备/服务器/终端) · 企业软件license · 垂直行业系统集成</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28" name="Group 28"/>
          <p:cNvGrpSpPr/>
          <p:nvPr/>
        </p:nvGrpSpPr>
        <p:grpSpPr>
          <a:xfrm>
            <a:off x="525780" y="1333500"/>
            <a:ext cx="3560445" cy="3724656"/>
            <a:chOff x="525780" y="1333500"/>
            <a:chExt cx="3560445" cy="3724656"/>
          </a:xfrm>
        </p:grpSpPr>
        <p:sp>
          <p:nvSpPr>
            <p:cNvPr id="7" name="Rectangle 7"/>
            <p:cNvSpPr/>
            <p:nvPr/>
          </p:nvSpPr>
          <p:spPr>
            <a:xfrm>
              <a:off x="533400" y="1333500"/>
              <a:ext cx="3552825" cy="76200"/>
            </a:xfrm>
            <a:prstGeom prst="rect">
              <a:avLst/>
            </a:prstGeom>
            <a:solidFill>
              <a:srgbClr val="B85C00"/>
            </a:solidFill>
            <a:ln>
              <a:noFill/>
            </a:ln>
          </p:spPr>
        </p:sp>
        <p:sp>
          <p:nvSpPr>
            <p:cNvPr id="8" name="TextBox 8"/>
            <p:cNvSpPr txBox="1"/>
            <p:nvPr/>
          </p:nvSpPr>
          <p:spPr>
            <a:xfrm>
              <a:off x="525780" y="1504950"/>
              <a:ext cx="306476" cy="293370"/>
            </a:xfrm>
            <a:prstGeom prst="rect">
              <a:avLst/>
            </a:prstGeom>
            <a:noFill/>
            <a:ln>
              <a:noFill/>
            </a:ln>
          </p:spPr>
          <p:txBody>
            <a:bodyPr wrap="none" lIns="0" tIns="0" rIns="0" bIns="0" anchor="t" anchorCtr="0">
              <a:spAutoFit/>
            </a:bodyPr>
            <a:lstStyle/>
            <a:p>
              <a:pPr algn="l"/>
              <a:r>
                <a:rPr lang="en-US" sz="1500" b="1" dirty="0">
                  <a:solidFill>
                    <a:srgbClr val="B85C00"/>
                  </a:solidFill>
                  <a:latin typeface="Arial"/>
                  <a:ea typeface="Arial"/>
                  <a:cs typeface="Arial"/>
                </a:rPr>
                <a:t>OB</a:t>
              </a:r>
            </a:p>
          </p:txBody>
        </p:sp>
        <p:sp>
          <p:nvSpPr>
            <p:cNvPr id="9" name="TextBox 9"/>
            <p:cNvSpPr txBox="1"/>
            <p:nvPr/>
          </p:nvSpPr>
          <p:spPr>
            <a:xfrm>
              <a:off x="527304" y="1756410"/>
              <a:ext cx="1573987"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约1,950M€/Y（估）</a:t>
              </a:r>
            </a:p>
          </p:txBody>
        </p:sp>
        <p:sp>
          <p:nvSpPr>
            <p:cNvPr id="10" name="Line 10"/>
            <p:cNvSpPr/>
            <p:nvPr/>
          </p:nvSpPr>
          <p:spPr>
            <a:xfrm>
              <a:off x="53340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11" name="TextBox 11"/>
            <p:cNvSpPr txBox="1"/>
            <p:nvPr/>
          </p:nvSpPr>
          <p:spPr>
            <a:xfrm>
              <a:off x="528066" y="2153602"/>
              <a:ext cx="1989582"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案例：法国军队部卫星通信框架</a:t>
              </a:r>
            </a:p>
          </p:txBody>
        </p:sp>
        <p:sp>
          <p:nvSpPr>
            <p:cNvPr id="12" name="TextBox 12"/>
            <p:cNvSpPr txBox="1"/>
            <p:nvPr/>
          </p:nvSpPr>
          <p:spPr>
            <a:xfrm>
              <a:off x="528066" y="2458402"/>
              <a:ext cx="1643272" cy="205359"/>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办公终端厂商份额（估）</a:t>
              </a:r>
            </a:p>
          </p:txBody>
        </p:sp>
        <p:grpSp>
          <p:nvGrpSpPr>
            <p:cNvPr id="26" name="Group 26"/>
            <p:cNvGrpSpPr/>
            <p:nvPr/>
          </p:nvGrpSpPr>
          <p:grpSpPr>
            <a:xfrm>
              <a:off x="762000" y="2944178"/>
              <a:ext cx="3095625" cy="1808511"/>
              <a:chOff x="762000" y="2944178"/>
              <a:chExt cx="3095625" cy="1808511"/>
            </a:xfrm>
          </p:grpSpPr>
          <p:sp>
            <p:nvSpPr>
              <p:cNvPr id="13" name="Line 13"/>
              <p:cNvSpPr/>
              <p:nvPr/>
            </p:nvSpPr>
            <p:spPr>
              <a:xfrm>
                <a:off x="762000" y="44767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14" name="Rectangle 14"/>
              <p:cNvSpPr/>
              <p:nvPr/>
            </p:nvSpPr>
            <p:spPr>
              <a:xfrm>
                <a:off x="904875" y="3143250"/>
                <a:ext cx="523875" cy="1333500"/>
              </a:xfrm>
              <a:prstGeom prst="rect">
                <a:avLst/>
              </a:prstGeom>
              <a:solidFill>
                <a:srgbClr val="C7C2B8"/>
              </a:solidFill>
              <a:ln>
                <a:noFill/>
              </a:ln>
            </p:spPr>
          </p:sp>
          <p:sp>
            <p:nvSpPr>
              <p:cNvPr id="15" name="TextBox 15"/>
              <p:cNvSpPr txBox="1"/>
              <p:nvPr/>
            </p:nvSpPr>
            <p:spPr>
              <a:xfrm>
                <a:off x="1019429" y="2944178"/>
                <a:ext cx="285242" cy="205359"/>
              </a:xfrm>
              <a:prstGeom prst="rect">
                <a:avLst/>
              </a:prstGeom>
              <a:noFill/>
              <a:ln>
                <a:noFill/>
              </a:ln>
            </p:spPr>
            <p:txBody>
              <a:bodyPr wrap="none" lIns="0" tIns="0" rIns="0" bIns="0" anchor="t" anchorCtr="0">
                <a:spAutoFit/>
              </a:bodyPr>
              <a:lstStyle/>
              <a:p>
                <a:pPr algn="ctr"/>
                <a:r>
                  <a:rPr lang="en-US" sz="1050" b="1" dirty="0">
                    <a:solidFill>
                      <a:srgbClr val="1A1A1A"/>
                    </a:solidFill>
                    <a:latin typeface="Arial"/>
                    <a:ea typeface="Arial"/>
                    <a:cs typeface="Arial"/>
                  </a:rPr>
                  <a:t>35%</a:t>
                </a:r>
              </a:p>
            </p:txBody>
          </p:sp>
          <p:sp>
            <p:nvSpPr>
              <p:cNvPr id="16" name="TextBox 16"/>
              <p:cNvSpPr txBox="1"/>
              <p:nvPr/>
            </p:nvSpPr>
            <p:spPr>
              <a:xfrm>
                <a:off x="1080821" y="4561999"/>
                <a:ext cx="162458" cy="190690"/>
              </a:xfrm>
              <a:prstGeom prst="rect">
                <a:avLst/>
              </a:prstGeom>
              <a:noFill/>
              <a:ln>
                <a:noFill/>
              </a:ln>
            </p:spPr>
            <p:txBody>
              <a:bodyPr wrap="none" lIns="0" tIns="0" rIns="0" bIns="0" anchor="t" anchorCtr="0">
                <a:spAutoFit/>
              </a:bodyPr>
              <a:lstStyle/>
              <a:p>
                <a:pPr algn="ctr"/>
                <a:r>
                  <a:rPr lang="en-US" sz="980" dirty="0">
                    <a:solidFill>
                      <a:srgbClr val="6B6B6B"/>
                    </a:solidFill>
                    <a:latin typeface="Arial"/>
                    <a:ea typeface="Arial"/>
                    <a:cs typeface="Arial"/>
                  </a:rPr>
                  <a:t>HP</a:t>
                </a:r>
              </a:p>
            </p:txBody>
          </p:sp>
          <p:sp>
            <p:nvSpPr>
              <p:cNvPr id="17" name="Rectangle 17"/>
              <p:cNvSpPr/>
              <p:nvPr/>
            </p:nvSpPr>
            <p:spPr>
              <a:xfrm>
                <a:off x="1571625" y="3524250"/>
                <a:ext cx="523875" cy="952500"/>
              </a:xfrm>
              <a:prstGeom prst="rect">
                <a:avLst/>
              </a:prstGeom>
              <a:solidFill>
                <a:srgbClr val="C7C2B8"/>
              </a:solidFill>
              <a:ln>
                <a:noFill/>
              </a:ln>
            </p:spPr>
          </p:sp>
          <p:sp>
            <p:nvSpPr>
              <p:cNvPr id="18" name="TextBox 18"/>
              <p:cNvSpPr txBox="1"/>
              <p:nvPr/>
            </p:nvSpPr>
            <p:spPr>
              <a:xfrm>
                <a:off x="1686179" y="3325178"/>
                <a:ext cx="285242" cy="205359"/>
              </a:xfrm>
              <a:prstGeom prst="rect">
                <a:avLst/>
              </a:prstGeom>
              <a:noFill/>
              <a:ln>
                <a:noFill/>
              </a:ln>
            </p:spPr>
            <p:txBody>
              <a:bodyPr wrap="none" lIns="0" tIns="0" rIns="0" bIns="0" anchor="t" anchorCtr="0">
                <a:spAutoFit/>
              </a:bodyPr>
              <a:lstStyle/>
              <a:p>
                <a:pPr algn="ctr"/>
                <a:r>
                  <a:rPr lang="en-US" sz="1050" b="1" dirty="0">
                    <a:solidFill>
                      <a:srgbClr val="1A1A1A"/>
                    </a:solidFill>
                    <a:latin typeface="Arial"/>
                    <a:ea typeface="Arial"/>
                    <a:cs typeface="Arial"/>
                  </a:rPr>
                  <a:t>25%</a:t>
                </a:r>
              </a:p>
            </p:txBody>
          </p:sp>
          <p:sp>
            <p:nvSpPr>
              <p:cNvPr id="19" name="TextBox 19"/>
              <p:cNvSpPr txBox="1"/>
              <p:nvPr/>
            </p:nvSpPr>
            <p:spPr>
              <a:xfrm>
                <a:off x="1710702" y="4561999"/>
                <a:ext cx="236196" cy="190690"/>
              </a:xfrm>
              <a:prstGeom prst="rect">
                <a:avLst/>
              </a:prstGeom>
              <a:noFill/>
              <a:ln>
                <a:noFill/>
              </a:ln>
            </p:spPr>
            <p:txBody>
              <a:bodyPr wrap="none" lIns="0" tIns="0" rIns="0" bIns="0" anchor="t" anchorCtr="0">
                <a:spAutoFit/>
              </a:bodyPr>
              <a:lstStyle/>
              <a:p>
                <a:pPr algn="ctr"/>
                <a:r>
                  <a:rPr lang="en-US" sz="980" dirty="0">
                    <a:solidFill>
                      <a:srgbClr val="6B6B6B"/>
                    </a:solidFill>
                    <a:latin typeface="Arial"/>
                    <a:ea typeface="Arial"/>
                    <a:cs typeface="Arial"/>
                  </a:rPr>
                  <a:t>Dell</a:t>
                </a:r>
              </a:p>
            </p:txBody>
          </p:sp>
          <p:sp>
            <p:nvSpPr>
              <p:cNvPr id="20" name="Rectangle 20"/>
              <p:cNvSpPr/>
              <p:nvPr/>
            </p:nvSpPr>
            <p:spPr>
              <a:xfrm>
                <a:off x="2238375" y="3714750"/>
                <a:ext cx="523875" cy="762000"/>
              </a:xfrm>
              <a:prstGeom prst="rect">
                <a:avLst/>
              </a:prstGeom>
              <a:solidFill>
                <a:srgbClr val="C7C2B8"/>
              </a:solidFill>
              <a:ln>
                <a:noFill/>
              </a:ln>
            </p:spPr>
          </p:sp>
          <p:sp>
            <p:nvSpPr>
              <p:cNvPr id="21" name="TextBox 21"/>
              <p:cNvSpPr txBox="1"/>
              <p:nvPr/>
            </p:nvSpPr>
            <p:spPr>
              <a:xfrm>
                <a:off x="2352929" y="3515678"/>
                <a:ext cx="285242" cy="205359"/>
              </a:xfrm>
              <a:prstGeom prst="rect">
                <a:avLst/>
              </a:prstGeom>
              <a:noFill/>
              <a:ln>
                <a:noFill/>
              </a:ln>
            </p:spPr>
            <p:txBody>
              <a:bodyPr wrap="none" lIns="0" tIns="0" rIns="0" bIns="0" anchor="t" anchorCtr="0">
                <a:spAutoFit/>
              </a:bodyPr>
              <a:lstStyle/>
              <a:p>
                <a:pPr algn="ctr"/>
                <a:r>
                  <a:rPr lang="en-US" sz="1050" b="1" dirty="0">
                    <a:solidFill>
                      <a:srgbClr val="1A1A1A"/>
                    </a:solidFill>
                    <a:latin typeface="Arial"/>
                    <a:ea typeface="Arial"/>
                    <a:cs typeface="Arial"/>
                  </a:rPr>
                  <a:t>20%</a:t>
                </a:r>
              </a:p>
            </p:txBody>
          </p:sp>
          <p:sp>
            <p:nvSpPr>
              <p:cNvPr id="22" name="TextBox 22"/>
              <p:cNvSpPr txBox="1"/>
              <p:nvPr/>
            </p:nvSpPr>
            <p:spPr>
              <a:xfrm>
                <a:off x="2271984" y="4561999"/>
                <a:ext cx="447132" cy="190690"/>
              </a:xfrm>
              <a:prstGeom prst="rect">
                <a:avLst/>
              </a:prstGeom>
              <a:noFill/>
              <a:ln>
                <a:noFill/>
              </a:ln>
            </p:spPr>
            <p:txBody>
              <a:bodyPr wrap="none" lIns="0" tIns="0" rIns="0" bIns="0" anchor="t" anchorCtr="0">
                <a:spAutoFit/>
              </a:bodyPr>
              <a:lstStyle/>
              <a:p>
                <a:pPr algn="ctr"/>
                <a:r>
                  <a:rPr lang="en-US" sz="980" dirty="0">
                    <a:solidFill>
                      <a:srgbClr val="6B6B6B"/>
                    </a:solidFill>
                    <a:latin typeface="Arial"/>
                    <a:ea typeface="Arial"/>
                    <a:cs typeface="Arial"/>
                  </a:rPr>
                  <a:t>Lenovo</a:t>
                </a:r>
              </a:p>
            </p:txBody>
          </p:sp>
          <p:sp>
            <p:nvSpPr>
              <p:cNvPr id="23" name="Rectangle 23"/>
              <p:cNvSpPr/>
              <p:nvPr/>
            </p:nvSpPr>
            <p:spPr>
              <a:xfrm>
                <a:off x="2905125" y="3905250"/>
                <a:ext cx="523875" cy="571500"/>
              </a:xfrm>
              <a:prstGeom prst="rect">
                <a:avLst/>
              </a:prstGeom>
              <a:solidFill>
                <a:srgbClr val="C7C2B8"/>
              </a:solidFill>
              <a:ln>
                <a:noFill/>
              </a:ln>
            </p:spPr>
          </p:sp>
          <p:sp>
            <p:nvSpPr>
              <p:cNvPr id="24" name="TextBox 24"/>
              <p:cNvSpPr txBox="1"/>
              <p:nvPr/>
            </p:nvSpPr>
            <p:spPr>
              <a:xfrm>
                <a:off x="3019679" y="3706178"/>
                <a:ext cx="285242" cy="205359"/>
              </a:xfrm>
              <a:prstGeom prst="rect">
                <a:avLst/>
              </a:prstGeom>
              <a:noFill/>
              <a:ln>
                <a:noFill/>
              </a:ln>
            </p:spPr>
            <p:txBody>
              <a:bodyPr wrap="none" lIns="0" tIns="0" rIns="0" bIns="0" anchor="t" anchorCtr="0">
                <a:spAutoFit/>
              </a:bodyPr>
              <a:lstStyle/>
              <a:p>
                <a:pPr algn="ctr"/>
                <a:r>
                  <a:rPr lang="en-US" sz="1050" b="1" dirty="0">
                    <a:solidFill>
                      <a:srgbClr val="1A1A1A"/>
                    </a:solidFill>
                    <a:latin typeface="Arial"/>
                    <a:ea typeface="Arial"/>
                    <a:cs typeface="Arial"/>
                  </a:rPr>
                  <a:t>15%</a:t>
                </a:r>
              </a:p>
            </p:txBody>
          </p:sp>
          <p:sp>
            <p:nvSpPr>
              <p:cNvPr id="25" name="TextBox 25"/>
              <p:cNvSpPr txBox="1"/>
              <p:nvPr/>
            </p:nvSpPr>
            <p:spPr>
              <a:xfrm>
                <a:off x="2991422" y="4561999"/>
                <a:ext cx="341757" cy="190690"/>
              </a:xfrm>
              <a:prstGeom prst="rect">
                <a:avLst/>
              </a:prstGeom>
              <a:noFill/>
              <a:ln>
                <a:noFill/>
              </a:ln>
            </p:spPr>
            <p:txBody>
              <a:bodyPr wrap="none" lIns="0" tIns="0" rIns="0" bIns="0" anchor="t" anchorCtr="0">
                <a:spAutoFit/>
              </a:bodyPr>
              <a:lstStyle/>
              <a:p>
                <a:pPr algn="ctr"/>
                <a:r>
                  <a:rPr lang="en-US" sz="980" dirty="0">
                    <a:solidFill>
                      <a:srgbClr val="6B6B6B"/>
                    </a:solidFill>
                    <a:latin typeface="Arial"/>
                    <a:ea typeface="Arial"/>
                    <a:cs typeface="Arial"/>
                  </a:rPr>
                  <a:t>Apple</a:t>
                </a:r>
              </a:p>
            </p:txBody>
          </p:sp>
        </p:grpSp>
        <p:sp>
          <p:nvSpPr>
            <p:cNvPr id="27" name="TextBox 27"/>
            <p:cNvSpPr txBox="1"/>
            <p:nvPr/>
          </p:nvSpPr>
          <p:spPr>
            <a:xfrm>
              <a:off x="527304" y="4823460"/>
              <a:ext cx="1708404"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华为：终端目录不可见</a:t>
              </a:r>
            </a:p>
          </p:txBody>
        </p:sp>
      </p:grpSp>
      <p:grpSp>
        <p:nvGrpSpPr>
          <p:cNvPr id="45" name="Group 45"/>
          <p:cNvGrpSpPr/>
          <p:nvPr/>
        </p:nvGrpSpPr>
        <p:grpSpPr>
          <a:xfrm>
            <a:off x="4307205" y="1333500"/>
            <a:ext cx="3560445" cy="3724656"/>
            <a:chOff x="4307205" y="1333500"/>
            <a:chExt cx="3560445" cy="3724656"/>
          </a:xfrm>
        </p:grpSpPr>
        <p:sp>
          <p:nvSpPr>
            <p:cNvPr id="29" name="Rectangle 29"/>
            <p:cNvSpPr/>
            <p:nvPr/>
          </p:nvSpPr>
          <p:spPr>
            <a:xfrm>
              <a:off x="4314825" y="1333500"/>
              <a:ext cx="3552825" cy="76200"/>
            </a:xfrm>
            <a:prstGeom prst="rect">
              <a:avLst/>
            </a:prstGeom>
            <a:solidFill>
              <a:srgbClr val="FF7900"/>
            </a:solidFill>
            <a:ln>
              <a:noFill/>
            </a:ln>
          </p:spPr>
        </p:sp>
        <p:sp>
          <p:nvSpPr>
            <p:cNvPr id="30" name="TextBox 30"/>
            <p:cNvSpPr txBox="1"/>
            <p:nvPr/>
          </p:nvSpPr>
          <p:spPr>
            <a:xfrm>
              <a:off x="4307205" y="1504950"/>
              <a:ext cx="429692" cy="293370"/>
            </a:xfrm>
            <a:prstGeom prst="rect">
              <a:avLst/>
            </a:prstGeom>
            <a:noFill/>
            <a:ln>
              <a:noFill/>
            </a:ln>
          </p:spPr>
          <p:txBody>
            <a:bodyPr wrap="none" lIns="0" tIns="0" rIns="0" bIns="0" anchor="t" anchorCtr="0">
              <a:spAutoFit/>
            </a:bodyPr>
            <a:lstStyle/>
            <a:p>
              <a:pPr algn="l"/>
              <a:r>
                <a:rPr lang="en-US" sz="1500" b="1" dirty="0">
                  <a:solidFill>
                    <a:srgbClr val="FF7900"/>
                  </a:solidFill>
                  <a:latin typeface="Arial"/>
                  <a:ea typeface="Arial"/>
                  <a:cs typeface="Arial"/>
                </a:rPr>
                <a:t>OEU</a:t>
              </a:r>
            </a:p>
          </p:txBody>
        </p:sp>
        <p:sp>
          <p:nvSpPr>
            <p:cNvPr id="31" name="TextBox 31"/>
            <p:cNvSpPr txBox="1"/>
            <p:nvPr/>
          </p:nvSpPr>
          <p:spPr>
            <a:xfrm>
              <a:off x="4308729" y="1756410"/>
              <a:ext cx="2043379"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波兰ICT占B2B36%主要驱动</a:t>
              </a:r>
            </a:p>
          </p:txBody>
        </p:sp>
        <p:sp>
          <p:nvSpPr>
            <p:cNvPr id="32" name="Line 32"/>
            <p:cNvSpPr/>
            <p:nvPr/>
          </p:nvSpPr>
          <p:spPr>
            <a:xfrm>
              <a:off x="4314825"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33" name="TextBox 33"/>
            <p:cNvSpPr txBox="1"/>
            <p:nvPr/>
          </p:nvSpPr>
          <p:spPr>
            <a:xfrm>
              <a:off x="4309110" y="2183606"/>
              <a:ext cx="2075247"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Arial"/>
                  <a:ea typeface="Microsoft YaHei"/>
                  <a:cs typeface="Arial"/>
                </a:rPr>
                <a:t>波兰：BlueSoft/Craftware</a:t>
              </a:r>
            </a:p>
          </p:txBody>
        </p:sp>
        <p:sp>
          <p:nvSpPr>
            <p:cNvPr id="34" name="TextBox 34"/>
            <p:cNvSpPr txBox="1"/>
            <p:nvPr/>
          </p:nvSpPr>
          <p:spPr>
            <a:xfrm>
              <a:off x="4309110" y="2393156"/>
              <a:ext cx="1907667"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并购构建的IT系统集成能力</a:t>
              </a:r>
            </a:p>
          </p:txBody>
        </p:sp>
        <p:sp>
          <p:nvSpPr>
            <p:cNvPr id="35" name="TextBox 35"/>
            <p:cNvSpPr txBox="1"/>
            <p:nvPr/>
          </p:nvSpPr>
          <p:spPr>
            <a:xfrm>
              <a:off x="4309110" y="2717006"/>
              <a:ext cx="1919668" cy="220028"/>
            </a:xfrm>
            <a:prstGeom prst="rect">
              <a:avLst/>
            </a:prstGeom>
            <a:noFill/>
            <a:ln>
              <a:noFill/>
            </a:ln>
          </p:spPr>
          <p:txBody>
            <a:bodyPr wrap="none" lIns="0" tIns="0" rIns="0" bIns="0" anchor="t" anchorCtr="0">
              <a:spAutoFit/>
            </a:bodyPr>
            <a:lstStyle/>
            <a:p>
              <a:pPr algn="l"/>
              <a:r>
                <a:rPr lang="zh-CN" sz="1120" b="1" dirty="0">
                  <a:solidFill>
                    <a:srgbClr val="1A1A1A"/>
                  </a:solidFill>
                  <a:latin typeface="Arial"/>
                  <a:ea typeface="Microsoft YaHei"/>
                  <a:cs typeface="Arial"/>
                </a:rPr>
                <a:t>西班牙大型项目集成案例：</a:t>
              </a:r>
            </a:p>
          </p:txBody>
        </p:sp>
        <p:sp>
          <p:nvSpPr>
            <p:cNvPr id="36" name="Ellipse 36"/>
            <p:cNvSpPr/>
            <p:nvPr/>
          </p:nvSpPr>
          <p:spPr>
            <a:xfrm>
              <a:off x="4343400" y="2981325"/>
              <a:ext cx="57150" cy="57150"/>
            </a:xfrm>
            <a:prstGeom prst="ellipse">
              <a:avLst/>
            </a:prstGeom>
            <a:solidFill>
              <a:srgbClr val="FF7900"/>
            </a:solidFill>
            <a:ln>
              <a:noFill/>
            </a:ln>
          </p:spPr>
        </p:sp>
        <p:sp>
          <p:nvSpPr>
            <p:cNvPr id="37" name="TextBox 37"/>
            <p:cNvSpPr txBox="1"/>
            <p:nvPr/>
          </p:nvSpPr>
          <p:spPr>
            <a:xfrm>
              <a:off x="4490085" y="2926556"/>
              <a:ext cx="1209906"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Correos（邮政）</a:t>
              </a:r>
            </a:p>
          </p:txBody>
        </p:sp>
        <p:sp>
          <p:nvSpPr>
            <p:cNvPr id="38" name="Ellipse 38"/>
            <p:cNvSpPr/>
            <p:nvPr/>
          </p:nvSpPr>
          <p:spPr>
            <a:xfrm>
              <a:off x="4343400" y="3209925"/>
              <a:ext cx="57150" cy="57150"/>
            </a:xfrm>
            <a:prstGeom prst="ellipse">
              <a:avLst/>
            </a:prstGeom>
            <a:solidFill>
              <a:srgbClr val="FF7900"/>
            </a:solidFill>
            <a:ln>
              <a:noFill/>
            </a:ln>
          </p:spPr>
        </p:sp>
        <p:sp>
          <p:nvSpPr>
            <p:cNvPr id="39" name="TextBox 39"/>
            <p:cNvSpPr txBox="1"/>
            <p:nvPr/>
          </p:nvSpPr>
          <p:spPr>
            <a:xfrm>
              <a:off x="4490085" y="3155156"/>
              <a:ext cx="2230636"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Merlin（地产）/ OHLA（建筑）</a:t>
              </a:r>
            </a:p>
          </p:txBody>
        </p:sp>
        <p:sp>
          <p:nvSpPr>
            <p:cNvPr id="40" name="Ellipse 40"/>
            <p:cNvSpPr/>
            <p:nvPr/>
          </p:nvSpPr>
          <p:spPr>
            <a:xfrm>
              <a:off x="4343400" y="3438525"/>
              <a:ext cx="57150" cy="57150"/>
            </a:xfrm>
            <a:prstGeom prst="ellipse">
              <a:avLst/>
            </a:prstGeom>
            <a:solidFill>
              <a:srgbClr val="FF7900"/>
            </a:solidFill>
            <a:ln>
              <a:noFill/>
            </a:ln>
          </p:spPr>
        </p:sp>
        <p:sp>
          <p:nvSpPr>
            <p:cNvPr id="41" name="TextBox 41"/>
            <p:cNvSpPr txBox="1"/>
            <p:nvPr/>
          </p:nvSpPr>
          <p:spPr>
            <a:xfrm>
              <a:off x="4490085" y="3383756"/>
              <a:ext cx="1292590"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Loterías（博彩）</a:t>
              </a:r>
            </a:p>
          </p:txBody>
        </p:sp>
        <p:sp>
          <p:nvSpPr>
            <p:cNvPr id="42" name="Ellipse 42"/>
            <p:cNvSpPr/>
            <p:nvPr/>
          </p:nvSpPr>
          <p:spPr>
            <a:xfrm>
              <a:off x="4343400" y="3667125"/>
              <a:ext cx="57150" cy="57150"/>
            </a:xfrm>
            <a:prstGeom prst="ellipse">
              <a:avLst/>
            </a:prstGeom>
            <a:solidFill>
              <a:srgbClr val="FF7900"/>
            </a:solidFill>
            <a:ln>
              <a:noFill/>
            </a:ln>
          </p:spPr>
        </p:sp>
        <p:sp>
          <p:nvSpPr>
            <p:cNvPr id="43" name="TextBox 43"/>
            <p:cNvSpPr txBox="1"/>
            <p:nvPr/>
          </p:nvSpPr>
          <p:spPr>
            <a:xfrm>
              <a:off x="4490085" y="3612356"/>
              <a:ext cx="1638392" cy="220028"/>
            </a:xfrm>
            <a:prstGeom prst="rect">
              <a:avLst/>
            </a:prstGeom>
            <a:noFill/>
            <a:ln>
              <a:noFill/>
            </a:ln>
          </p:spPr>
          <p:txBody>
            <a:bodyPr wrap="none" lIns="0" tIns="0" rIns="0" bIns="0" anchor="t" anchorCtr="0">
              <a:spAutoFit/>
            </a:bodyPr>
            <a:lstStyle/>
            <a:p>
              <a:pPr algn="l"/>
              <a:r>
                <a:rPr lang="zh-CN" sz="1120" dirty="0">
                  <a:solidFill>
                    <a:srgbClr val="1A1A1A"/>
                  </a:solidFill>
                  <a:latin typeface="Arial"/>
                  <a:ea typeface="Microsoft YaHei"/>
                  <a:cs typeface="Arial"/>
                </a:rPr>
                <a:t>TotalEnergies（能源）</a:t>
              </a:r>
            </a:p>
          </p:txBody>
        </p:sp>
        <p:sp>
          <p:nvSpPr>
            <p:cNvPr id="44" name="TextBox 44"/>
            <p:cNvSpPr txBox="1"/>
            <p:nvPr/>
          </p:nvSpPr>
          <p:spPr>
            <a:xfrm>
              <a:off x="4308729" y="4823460"/>
              <a:ext cx="1538783"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华为：生态未见身影</a:t>
              </a:r>
            </a:p>
          </p:txBody>
        </p:sp>
      </p:grpSp>
      <p:grpSp>
        <p:nvGrpSpPr>
          <p:cNvPr id="60" name="Group 60"/>
          <p:cNvGrpSpPr/>
          <p:nvPr/>
        </p:nvGrpSpPr>
        <p:grpSpPr>
          <a:xfrm>
            <a:off x="8088630" y="1333500"/>
            <a:ext cx="3560445" cy="3724656"/>
            <a:chOff x="8088630" y="1333500"/>
            <a:chExt cx="3560445" cy="3724656"/>
          </a:xfrm>
        </p:grpSpPr>
        <p:sp>
          <p:nvSpPr>
            <p:cNvPr id="46" name="Rectangle 46"/>
            <p:cNvSpPr/>
            <p:nvPr/>
          </p:nvSpPr>
          <p:spPr>
            <a:xfrm>
              <a:off x="8096250" y="1333500"/>
              <a:ext cx="3552825" cy="76200"/>
            </a:xfrm>
            <a:prstGeom prst="rect">
              <a:avLst/>
            </a:prstGeom>
            <a:solidFill>
              <a:srgbClr val="FFA640"/>
            </a:solidFill>
            <a:ln>
              <a:noFill/>
            </a:ln>
          </p:spPr>
        </p:sp>
        <p:sp>
          <p:nvSpPr>
            <p:cNvPr id="47" name="TextBox 47"/>
            <p:cNvSpPr txBox="1"/>
            <p:nvPr/>
          </p:nvSpPr>
          <p:spPr>
            <a:xfrm>
              <a:off x="8088630" y="1504950"/>
              <a:ext cx="597713" cy="293370"/>
            </a:xfrm>
            <a:prstGeom prst="rect">
              <a:avLst/>
            </a:prstGeom>
            <a:noFill/>
            <a:ln>
              <a:noFill/>
            </a:ln>
          </p:spPr>
          <p:txBody>
            <a:bodyPr wrap="none" lIns="0" tIns="0" rIns="0" bIns="0" anchor="t" anchorCtr="0">
              <a:spAutoFit/>
            </a:bodyPr>
            <a:lstStyle/>
            <a:p>
              <a:pPr algn="l"/>
              <a:r>
                <a:rPr lang="en-US" sz="1500" b="1" dirty="0">
                  <a:solidFill>
                    <a:srgbClr val="E08A2E"/>
                  </a:solidFill>
                  <a:latin typeface="Arial"/>
                  <a:ea typeface="Arial"/>
                  <a:cs typeface="Arial"/>
                </a:rPr>
                <a:t>OMEA</a:t>
              </a:r>
            </a:p>
          </p:txBody>
        </p:sp>
        <p:sp>
          <p:nvSpPr>
            <p:cNvPr id="48" name="TextBox 48"/>
            <p:cNvSpPr txBox="1"/>
            <p:nvPr/>
          </p:nvSpPr>
          <p:spPr>
            <a:xfrm>
              <a:off x="8090154" y="1756410"/>
              <a:ext cx="1693469"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矿业港口MPN项目集成</a:t>
              </a:r>
            </a:p>
          </p:txBody>
        </p:sp>
        <p:sp>
          <p:nvSpPr>
            <p:cNvPr id="49" name="Line 49"/>
            <p:cNvSpPr/>
            <p:nvPr/>
          </p:nvSpPr>
          <p:spPr>
            <a:xfrm>
              <a:off x="809625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50" name="TextBox 50"/>
            <p:cNvSpPr txBox="1"/>
            <p:nvPr/>
          </p:nvSpPr>
          <p:spPr>
            <a:xfrm>
              <a:off x="8090916" y="2172652"/>
              <a:ext cx="3177206"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Tanger Port马士基 / Essakane Mine / Aqaba CT</a:t>
              </a:r>
            </a:p>
          </p:txBody>
        </p:sp>
        <p:grpSp>
          <p:nvGrpSpPr>
            <p:cNvPr id="58" name="Group 58"/>
            <p:cNvGrpSpPr/>
            <p:nvPr/>
          </p:nvGrpSpPr>
          <p:grpSpPr>
            <a:xfrm>
              <a:off x="8515350" y="3269456"/>
              <a:ext cx="2333625" cy="1489805"/>
              <a:chOff x="8515350" y="3269456"/>
              <a:chExt cx="2333625" cy="1489805"/>
            </a:xfrm>
          </p:grpSpPr>
          <p:sp>
            <p:nvSpPr>
              <p:cNvPr id="51" name="Line 51"/>
              <p:cNvSpPr/>
              <p:nvPr/>
            </p:nvSpPr>
            <p:spPr>
              <a:xfrm>
                <a:off x="8515350" y="4476750"/>
                <a:ext cx="2333625" cy="9525"/>
              </a:xfrm>
              <a:custGeom>
                <a:avLst/>
                <a:gdLst/>
                <a:ahLst/>
                <a:cxnLst/>
                <a:rect l="l" t="t" r="r" b="b"/>
                <a:pathLst>
                  <a:path w="2333625" h="9525">
                    <a:moveTo>
                      <a:pt x="0" y="0"/>
                    </a:moveTo>
                    <a:lnTo>
                      <a:pt x="2333625" y="0"/>
                    </a:lnTo>
                  </a:path>
                </a:pathLst>
              </a:custGeom>
              <a:noFill/>
              <a:ln w="9525">
                <a:solidFill>
                  <a:srgbClr val="E8E2DA"/>
                </a:solidFill>
              </a:ln>
            </p:spPr>
          </p:sp>
          <p:sp>
            <p:nvSpPr>
              <p:cNvPr id="52" name="Rectangle 52"/>
              <p:cNvSpPr/>
              <p:nvPr/>
            </p:nvSpPr>
            <p:spPr>
              <a:xfrm>
                <a:off x="8763000" y="3476625"/>
                <a:ext cx="762000" cy="1000125"/>
              </a:xfrm>
              <a:prstGeom prst="rect">
                <a:avLst/>
              </a:prstGeom>
              <a:solidFill>
                <a:srgbClr val="FF7900"/>
              </a:solidFill>
              <a:ln w="19050">
                <a:solidFill>
                  <a:srgbClr val="B85C00"/>
                </a:solidFill>
              </a:ln>
            </p:spPr>
          </p:sp>
          <p:sp>
            <p:nvSpPr>
              <p:cNvPr id="53" name="TextBox 53"/>
              <p:cNvSpPr txBox="1"/>
              <p:nvPr/>
            </p:nvSpPr>
            <p:spPr>
              <a:xfrm>
                <a:off x="8752662" y="3269456"/>
                <a:ext cx="782676" cy="220028"/>
              </a:xfrm>
              <a:prstGeom prst="rect">
                <a:avLst/>
              </a:prstGeom>
              <a:noFill/>
              <a:ln>
                <a:noFill/>
              </a:ln>
            </p:spPr>
            <p:txBody>
              <a:bodyPr wrap="none" lIns="0" tIns="0" rIns="0" bIns="0" anchor="t" anchorCtr="0">
                <a:spAutoFit/>
              </a:bodyPr>
              <a:lstStyle/>
              <a:p>
                <a:pPr algn="ctr"/>
                <a:r>
                  <a:rPr lang="zh-CN" sz="1120" b="1" dirty="0">
                    <a:solidFill>
                      <a:srgbClr val="B85C00"/>
                    </a:solidFill>
                    <a:latin typeface="Arial"/>
                    <a:ea typeface="Microsoft YaHei"/>
                    <a:cs typeface="Arial"/>
                  </a:rPr>
                  <a:t>45%（估）</a:t>
                </a:r>
              </a:p>
            </p:txBody>
          </p:sp>
          <p:sp>
            <p:nvSpPr>
              <p:cNvPr id="54" name="TextBox 54"/>
              <p:cNvSpPr txBox="1"/>
              <p:nvPr/>
            </p:nvSpPr>
            <p:spPr>
              <a:xfrm>
                <a:off x="8895211" y="4553902"/>
                <a:ext cx="497579"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Huawei</a:t>
                </a:r>
              </a:p>
            </p:txBody>
          </p:sp>
          <p:sp>
            <p:nvSpPr>
              <p:cNvPr id="55" name="Rectangle 55"/>
              <p:cNvSpPr/>
              <p:nvPr/>
            </p:nvSpPr>
            <p:spPr>
              <a:xfrm>
                <a:off x="9810750" y="3590925"/>
                <a:ext cx="762000" cy="885825"/>
              </a:xfrm>
              <a:prstGeom prst="rect">
                <a:avLst/>
              </a:prstGeom>
              <a:solidFill>
                <a:srgbClr val="C7C2B8"/>
              </a:solidFill>
              <a:ln>
                <a:noFill/>
              </a:ln>
            </p:spPr>
          </p:sp>
          <p:sp>
            <p:nvSpPr>
              <p:cNvPr id="56" name="TextBox 56"/>
              <p:cNvSpPr txBox="1"/>
              <p:nvPr/>
            </p:nvSpPr>
            <p:spPr>
              <a:xfrm>
                <a:off x="9800412" y="3383756"/>
                <a:ext cx="782676" cy="220028"/>
              </a:xfrm>
              <a:prstGeom prst="rect">
                <a:avLst/>
              </a:prstGeom>
              <a:noFill/>
              <a:ln>
                <a:noFill/>
              </a:ln>
            </p:spPr>
            <p:txBody>
              <a:bodyPr wrap="none" lIns="0" tIns="0" rIns="0" bIns="0" anchor="t" anchorCtr="0">
                <a:spAutoFit/>
              </a:bodyPr>
              <a:lstStyle/>
              <a:p>
                <a:pPr algn="ctr"/>
                <a:r>
                  <a:rPr lang="zh-CN" sz="1120" b="1" dirty="0">
                    <a:solidFill>
                      <a:srgbClr val="1A1A1A"/>
                    </a:solidFill>
                    <a:latin typeface="Arial"/>
                    <a:ea typeface="Microsoft YaHei"/>
                    <a:cs typeface="Arial"/>
                  </a:rPr>
                  <a:t>40%（估）</a:t>
                </a:r>
              </a:p>
            </p:txBody>
          </p:sp>
          <p:sp>
            <p:nvSpPr>
              <p:cNvPr id="57" name="TextBox 57"/>
              <p:cNvSpPr txBox="1"/>
              <p:nvPr/>
            </p:nvSpPr>
            <p:spPr>
              <a:xfrm>
                <a:off x="10007727" y="4553902"/>
                <a:ext cx="368046" cy="205359"/>
              </a:xfrm>
              <a:prstGeom prst="rect">
                <a:avLst/>
              </a:prstGeom>
              <a:noFill/>
              <a:ln>
                <a:noFill/>
              </a:ln>
            </p:spPr>
            <p:txBody>
              <a:bodyPr wrap="none" lIns="0" tIns="0" rIns="0" bIns="0" anchor="t" anchorCtr="0">
                <a:spAutoFit/>
              </a:bodyPr>
              <a:lstStyle/>
              <a:p>
                <a:pPr algn="ctr"/>
                <a:r>
                  <a:rPr lang="en-US" sz="1050" dirty="0">
                    <a:solidFill>
                      <a:srgbClr val="6B6B6B"/>
                    </a:solidFill>
                    <a:latin typeface="Arial"/>
                    <a:ea typeface="Arial"/>
                    <a:cs typeface="Arial"/>
                  </a:rPr>
                  <a:t>Nokia</a:t>
                </a:r>
              </a:p>
            </p:txBody>
          </p:sp>
        </p:grpSp>
        <p:sp>
          <p:nvSpPr>
            <p:cNvPr id="59" name="TextBox 59"/>
            <p:cNvSpPr txBox="1"/>
            <p:nvPr/>
          </p:nvSpPr>
          <p:spPr>
            <a:xfrm>
              <a:off x="8090154" y="4823460"/>
              <a:ext cx="1813377"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华为：与Nokia并列主力</a:t>
              </a:r>
            </a:p>
          </p:txBody>
        </p:sp>
      </p:grpSp>
      <p:grpSp>
        <p:nvGrpSpPr>
          <p:cNvPr id="63" name="Group 63"/>
          <p:cNvGrpSpPr/>
          <p:nvPr/>
        </p:nvGrpSpPr>
        <p:grpSpPr>
          <a:xfrm>
            <a:off x="528447" y="6562249"/>
            <a:ext cx="11135106" cy="190690"/>
            <a:chOff x="528447" y="6562249"/>
            <a:chExt cx="11135106" cy="190690"/>
          </a:xfrm>
        </p:grpSpPr>
        <p:sp>
          <p:nvSpPr>
            <p:cNvPr id="61" name="TextBox 61"/>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62" name="TextBox 62"/>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11</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1136630" cy="747713"/>
            <a:chOff x="521970" y="252412"/>
            <a:chExt cx="11136630" cy="747713"/>
          </a:xfrm>
        </p:grpSpPr>
        <p:sp>
          <p:nvSpPr>
            <p:cNvPr id="3" name="TextBox 3"/>
            <p:cNvSpPr txBox="1"/>
            <p:nvPr/>
          </p:nvSpPr>
          <p:spPr>
            <a:xfrm>
              <a:off x="521970" y="252412"/>
              <a:ext cx="10813845"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移动专网MPN是本次调研最重要的发现——</a:t>
              </a:r>
              <a:r>
                <a:rPr lang="zh-CN" sz="2250" b="1" dirty="0">
                  <a:solidFill>
                    <a:srgbClr val="FF7900"/>
                  </a:solidFill>
                  <a:latin typeface="Arial"/>
                  <a:ea typeface="Microsoft YaHei"/>
                  <a:cs typeface="Arial"/>
                </a:rPr>
                <a:t>华为在OMEA的参与度全deck最高</a:t>
              </a:r>
            </a:p>
          </p:txBody>
        </p:sp>
        <p:sp>
          <p:nvSpPr>
            <p:cNvPr id="4" name="TextBox 4"/>
            <p:cNvSpPr txBox="1"/>
            <p:nvPr/>
          </p:nvSpPr>
          <p:spPr>
            <a:xfrm>
              <a:off x="527304" y="708660"/>
              <a:ext cx="6990893"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说明：原始输入材料无此维度，本次调研新增 · Catalogue：工业MPN专网 · 港口/矿业连接方案</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15" name="Group 15"/>
          <p:cNvGrpSpPr/>
          <p:nvPr/>
        </p:nvGrpSpPr>
        <p:grpSpPr>
          <a:xfrm>
            <a:off x="525780" y="1333500"/>
            <a:ext cx="3560445" cy="3724656"/>
            <a:chOff x="525780" y="1333500"/>
            <a:chExt cx="3560445" cy="3724656"/>
          </a:xfrm>
        </p:grpSpPr>
        <p:sp>
          <p:nvSpPr>
            <p:cNvPr id="7" name="Rectangle 7"/>
            <p:cNvSpPr/>
            <p:nvPr/>
          </p:nvSpPr>
          <p:spPr>
            <a:xfrm>
              <a:off x="533400" y="1333500"/>
              <a:ext cx="3552825" cy="76200"/>
            </a:xfrm>
            <a:prstGeom prst="rect">
              <a:avLst/>
            </a:prstGeom>
            <a:solidFill>
              <a:srgbClr val="B85C00">
                <a:alpha val="50000"/>
              </a:srgbClr>
            </a:solidFill>
            <a:ln>
              <a:noFill/>
            </a:ln>
          </p:spPr>
        </p:sp>
        <p:sp>
          <p:nvSpPr>
            <p:cNvPr id="8" name="TextBox 8"/>
            <p:cNvSpPr txBox="1"/>
            <p:nvPr/>
          </p:nvSpPr>
          <p:spPr>
            <a:xfrm>
              <a:off x="525780" y="1504950"/>
              <a:ext cx="306476" cy="293370"/>
            </a:xfrm>
            <a:prstGeom prst="rect">
              <a:avLst/>
            </a:prstGeom>
            <a:noFill/>
            <a:ln>
              <a:noFill/>
            </a:ln>
          </p:spPr>
          <p:txBody>
            <a:bodyPr wrap="none" lIns="0" tIns="0" rIns="0" bIns="0" anchor="t" anchorCtr="0">
              <a:spAutoFit/>
            </a:bodyPr>
            <a:lstStyle/>
            <a:p>
              <a:pPr algn="l"/>
              <a:r>
                <a:rPr lang="en-US" sz="1500" b="1" dirty="0">
                  <a:solidFill>
                    <a:srgbClr val="B85C00"/>
                  </a:solidFill>
                  <a:latin typeface="Arial"/>
                  <a:ea typeface="Arial"/>
                  <a:cs typeface="Arial"/>
                </a:rPr>
                <a:t>OB</a:t>
              </a:r>
            </a:p>
          </p:txBody>
        </p:sp>
        <p:sp>
          <p:nvSpPr>
            <p:cNvPr id="9" name="TextBox 9"/>
            <p:cNvSpPr txBox="1"/>
            <p:nvPr/>
          </p:nvSpPr>
          <p:spPr>
            <a:xfrm>
              <a:off x="527304" y="1756410"/>
              <a:ext cx="819912"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非战略重心</a:t>
              </a:r>
            </a:p>
          </p:txBody>
        </p:sp>
        <p:sp>
          <p:nvSpPr>
            <p:cNvPr id="10" name="Line 10"/>
            <p:cNvSpPr/>
            <p:nvPr/>
          </p:nvSpPr>
          <p:spPr>
            <a:xfrm>
              <a:off x="53340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11" name="Rectangle 11"/>
            <p:cNvSpPr/>
            <p:nvPr/>
          </p:nvSpPr>
          <p:spPr>
            <a:xfrm>
              <a:off x="533400" y="2667000"/>
              <a:ext cx="3552825" cy="1905000"/>
            </a:xfrm>
            <a:prstGeom prst="roundRect">
              <a:avLst>
                <a:gd name="adj" fmla="val 2000"/>
              </a:avLst>
            </a:prstGeom>
            <a:noFill/>
            <a:ln w="19050">
              <a:solidFill>
                <a:srgbClr val="CBD5E1"/>
              </a:solidFill>
              <a:prstDash val="lgDash"/>
            </a:ln>
          </p:spPr>
        </p:sp>
        <p:sp>
          <p:nvSpPr>
            <p:cNvPr id="12" name="TextBox 12"/>
            <p:cNvSpPr txBox="1"/>
            <p:nvPr/>
          </p:nvSpPr>
          <p:spPr>
            <a:xfrm>
              <a:off x="1514932" y="3314700"/>
              <a:ext cx="1580236" cy="293370"/>
            </a:xfrm>
            <a:prstGeom prst="rect">
              <a:avLst/>
            </a:prstGeom>
            <a:noFill/>
            <a:ln>
              <a:noFill/>
            </a:ln>
          </p:spPr>
          <p:txBody>
            <a:bodyPr wrap="none" lIns="0" tIns="0" rIns="0" bIns="0" anchor="t" anchorCtr="0">
              <a:spAutoFit/>
            </a:bodyPr>
            <a:lstStyle/>
            <a:p>
              <a:pPr algn="ctr"/>
              <a:r>
                <a:rPr lang="zh-CN" sz="1500" b="1" dirty="0">
                  <a:solidFill>
                    <a:srgbClr val="9B9B9B"/>
                  </a:solidFill>
                  <a:latin typeface="Arial"/>
                  <a:ea typeface="Microsoft YaHei"/>
                  <a:cs typeface="Arial"/>
                </a:rPr>
                <a:t>Hybrid MPN试点</a:t>
              </a:r>
            </a:p>
          </p:txBody>
        </p:sp>
        <p:sp>
          <p:nvSpPr>
            <p:cNvPr id="13" name="TextBox 13"/>
            <p:cNvSpPr txBox="1"/>
            <p:nvPr/>
          </p:nvSpPr>
          <p:spPr>
            <a:xfrm>
              <a:off x="1491234" y="3632835"/>
              <a:ext cx="1627632" cy="234696"/>
            </a:xfrm>
            <a:prstGeom prst="rect">
              <a:avLst/>
            </a:prstGeom>
            <a:noFill/>
            <a:ln>
              <a:noFill/>
            </a:ln>
          </p:spPr>
          <p:txBody>
            <a:bodyPr wrap="none" lIns="0" tIns="0" rIns="0" bIns="0" anchor="t" anchorCtr="0">
              <a:spAutoFit/>
            </a:bodyPr>
            <a:lstStyle/>
            <a:p>
              <a:pPr algn="ctr"/>
              <a:r>
                <a:rPr lang="zh-CN" sz="1200" dirty="0">
                  <a:solidFill>
                    <a:srgbClr val="9B9B9B"/>
                  </a:solidFill>
                  <a:latin typeface="Arial"/>
                  <a:ea typeface="Microsoft YaHei"/>
                  <a:cs typeface="Arial"/>
                </a:rPr>
                <a:t>法国有试点但规模极小</a:t>
              </a:r>
            </a:p>
          </p:txBody>
        </p:sp>
        <p:sp>
          <p:nvSpPr>
            <p:cNvPr id="14" name="TextBox 14"/>
            <p:cNvSpPr txBox="1"/>
            <p:nvPr/>
          </p:nvSpPr>
          <p:spPr>
            <a:xfrm>
              <a:off x="527304" y="4823460"/>
              <a:ext cx="1369162" cy="234696"/>
            </a:xfrm>
            <a:prstGeom prst="rect">
              <a:avLst/>
            </a:prstGeom>
            <a:noFill/>
            <a:ln>
              <a:noFill/>
            </a:ln>
          </p:spPr>
          <p:txBody>
            <a:bodyPr wrap="none" lIns="0" tIns="0" rIns="0" bIns="0" anchor="t" anchorCtr="0">
              <a:spAutoFit/>
            </a:bodyPr>
            <a:lstStyle/>
            <a:p>
              <a:pPr algn="l"/>
              <a:r>
                <a:rPr lang="zh-CN" sz="1200" b="1" dirty="0">
                  <a:solidFill>
                    <a:srgbClr val="6B6B6B"/>
                  </a:solidFill>
                  <a:latin typeface="Arial"/>
                  <a:ea typeface="Microsoft YaHei"/>
                  <a:cs typeface="Arial"/>
                </a:rPr>
                <a:t>华为：无相关信息</a:t>
              </a:r>
            </a:p>
          </p:txBody>
        </p:sp>
      </p:grpSp>
      <p:grpSp>
        <p:nvGrpSpPr>
          <p:cNvPr id="28" name="Group 28"/>
          <p:cNvGrpSpPr/>
          <p:nvPr/>
        </p:nvGrpSpPr>
        <p:grpSpPr>
          <a:xfrm>
            <a:off x="4307205" y="1333500"/>
            <a:ext cx="3560445" cy="3724656"/>
            <a:chOff x="4307205" y="1333500"/>
            <a:chExt cx="3560445" cy="3724656"/>
          </a:xfrm>
        </p:grpSpPr>
        <p:sp>
          <p:nvSpPr>
            <p:cNvPr id="16" name="Rectangle 16"/>
            <p:cNvSpPr/>
            <p:nvPr/>
          </p:nvSpPr>
          <p:spPr>
            <a:xfrm>
              <a:off x="4314825" y="1333500"/>
              <a:ext cx="3552825" cy="76200"/>
            </a:xfrm>
            <a:prstGeom prst="rect">
              <a:avLst/>
            </a:prstGeom>
            <a:solidFill>
              <a:srgbClr val="FF7900">
                <a:alpha val="50000"/>
              </a:srgbClr>
            </a:solidFill>
            <a:ln>
              <a:noFill/>
            </a:ln>
          </p:spPr>
        </p:sp>
        <p:sp>
          <p:nvSpPr>
            <p:cNvPr id="17" name="TextBox 17"/>
            <p:cNvSpPr txBox="1"/>
            <p:nvPr/>
          </p:nvSpPr>
          <p:spPr>
            <a:xfrm>
              <a:off x="4307205" y="1504950"/>
              <a:ext cx="429692" cy="293370"/>
            </a:xfrm>
            <a:prstGeom prst="rect">
              <a:avLst/>
            </a:prstGeom>
            <a:noFill/>
            <a:ln>
              <a:noFill/>
            </a:ln>
          </p:spPr>
          <p:txBody>
            <a:bodyPr wrap="none" lIns="0" tIns="0" rIns="0" bIns="0" anchor="t" anchorCtr="0">
              <a:spAutoFit/>
            </a:bodyPr>
            <a:lstStyle/>
            <a:p>
              <a:pPr algn="l"/>
              <a:r>
                <a:rPr lang="en-US" sz="1500" b="1" dirty="0">
                  <a:solidFill>
                    <a:srgbClr val="FF7900"/>
                  </a:solidFill>
                  <a:latin typeface="Arial"/>
                  <a:ea typeface="Arial"/>
                  <a:cs typeface="Arial"/>
                </a:rPr>
                <a:t>OEU</a:t>
              </a:r>
            </a:p>
          </p:txBody>
        </p:sp>
        <p:sp>
          <p:nvSpPr>
            <p:cNvPr id="18" name="TextBox 18"/>
            <p:cNvSpPr txBox="1"/>
            <p:nvPr/>
          </p:nvSpPr>
          <p:spPr>
            <a:xfrm>
              <a:off x="4308729" y="1756410"/>
              <a:ext cx="658368"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起步阶段</a:t>
              </a:r>
            </a:p>
          </p:txBody>
        </p:sp>
        <p:sp>
          <p:nvSpPr>
            <p:cNvPr id="19" name="Line 19"/>
            <p:cNvSpPr/>
            <p:nvPr/>
          </p:nvSpPr>
          <p:spPr>
            <a:xfrm>
              <a:off x="4314825"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20" name="Rectangle 20"/>
            <p:cNvSpPr/>
            <p:nvPr/>
          </p:nvSpPr>
          <p:spPr>
            <a:xfrm>
              <a:off x="4314825" y="2667000"/>
              <a:ext cx="3552825" cy="1905000"/>
            </a:xfrm>
            <a:prstGeom prst="roundRect">
              <a:avLst>
                <a:gd name="adj" fmla="val 2000"/>
              </a:avLst>
            </a:prstGeom>
            <a:solidFill>
              <a:srgbClr val="FBF6F1"/>
            </a:solidFill>
            <a:ln w="9525">
              <a:solidFill>
                <a:srgbClr val="E8E2DA"/>
              </a:solidFill>
            </a:ln>
          </p:spPr>
        </p:sp>
        <p:sp>
          <p:nvSpPr>
            <p:cNvPr id="21" name="TextBox 21"/>
            <p:cNvSpPr txBox="1"/>
            <p:nvPr/>
          </p:nvSpPr>
          <p:spPr>
            <a:xfrm>
              <a:off x="4498848" y="2862739"/>
              <a:ext cx="1591488"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西班牙 MasOrange</a:t>
              </a:r>
            </a:p>
          </p:txBody>
        </p:sp>
        <p:sp>
          <p:nvSpPr>
            <p:cNvPr id="22" name="TextBox 22"/>
            <p:cNvSpPr txBox="1"/>
            <p:nvPr/>
          </p:nvSpPr>
          <p:spPr>
            <a:xfrm>
              <a:off x="4499610" y="3117056"/>
              <a:ext cx="1147572"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新签5G专网合同</a:t>
              </a:r>
            </a:p>
          </p:txBody>
        </p:sp>
        <p:sp>
          <p:nvSpPr>
            <p:cNvPr id="23" name="TextBox 23"/>
            <p:cNvSpPr txBox="1"/>
            <p:nvPr/>
          </p:nvSpPr>
          <p:spPr>
            <a:xfrm>
              <a:off x="4499610" y="3326606"/>
              <a:ext cx="1485625"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（TotalEnergies等）</a:t>
              </a:r>
            </a:p>
          </p:txBody>
        </p:sp>
        <p:sp>
          <p:nvSpPr>
            <p:cNvPr id="24" name="Line 24"/>
            <p:cNvSpPr/>
            <p:nvPr/>
          </p:nvSpPr>
          <p:spPr>
            <a:xfrm>
              <a:off x="4505325" y="3714750"/>
              <a:ext cx="3171825" cy="9525"/>
            </a:xfrm>
            <a:custGeom>
              <a:avLst/>
              <a:gdLst/>
              <a:ahLst/>
              <a:cxnLst/>
              <a:rect l="l" t="t" r="r" b="b"/>
              <a:pathLst>
                <a:path w="3171825" h="9525">
                  <a:moveTo>
                    <a:pt x="0" y="0"/>
                  </a:moveTo>
                  <a:lnTo>
                    <a:pt x="3171825" y="0"/>
                  </a:lnTo>
                </a:path>
              </a:pathLst>
            </a:custGeom>
            <a:noFill/>
            <a:ln w="9525">
              <a:solidFill>
                <a:srgbClr val="E8E2DA"/>
              </a:solidFill>
            </a:ln>
          </p:spPr>
        </p:sp>
        <p:sp>
          <p:nvSpPr>
            <p:cNvPr id="25" name="TextBox 25"/>
            <p:cNvSpPr txBox="1"/>
            <p:nvPr/>
          </p:nvSpPr>
          <p:spPr>
            <a:xfrm>
              <a:off x="4498848" y="3862864"/>
              <a:ext cx="373399"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波兰</a:t>
              </a:r>
            </a:p>
          </p:txBody>
        </p:sp>
        <p:sp>
          <p:nvSpPr>
            <p:cNvPr id="26" name="TextBox 26"/>
            <p:cNvSpPr txBox="1"/>
            <p:nvPr/>
          </p:nvSpPr>
          <p:spPr>
            <a:xfrm>
              <a:off x="4499610" y="4117181"/>
              <a:ext cx="768668"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无实证数据</a:t>
              </a:r>
            </a:p>
          </p:txBody>
        </p:sp>
        <p:sp>
          <p:nvSpPr>
            <p:cNvPr id="27" name="TextBox 27"/>
            <p:cNvSpPr txBox="1"/>
            <p:nvPr/>
          </p:nvSpPr>
          <p:spPr>
            <a:xfrm>
              <a:off x="4308729" y="4823460"/>
              <a:ext cx="1369162" cy="234696"/>
            </a:xfrm>
            <a:prstGeom prst="rect">
              <a:avLst/>
            </a:prstGeom>
            <a:noFill/>
            <a:ln>
              <a:noFill/>
            </a:ln>
          </p:spPr>
          <p:txBody>
            <a:bodyPr wrap="none" lIns="0" tIns="0" rIns="0" bIns="0" anchor="t" anchorCtr="0">
              <a:spAutoFit/>
            </a:bodyPr>
            <a:lstStyle/>
            <a:p>
              <a:pPr algn="l"/>
              <a:r>
                <a:rPr lang="zh-CN" sz="1200" b="1" dirty="0">
                  <a:solidFill>
                    <a:srgbClr val="6B6B6B"/>
                  </a:solidFill>
                  <a:latin typeface="Arial"/>
                  <a:ea typeface="Microsoft YaHei"/>
                  <a:cs typeface="Arial"/>
                </a:rPr>
                <a:t>华为：数据待补充</a:t>
              </a:r>
            </a:p>
          </p:txBody>
        </p:sp>
      </p:grpSp>
      <p:grpSp>
        <p:nvGrpSpPr>
          <p:cNvPr id="46" name="Group 46"/>
          <p:cNvGrpSpPr/>
          <p:nvPr/>
        </p:nvGrpSpPr>
        <p:grpSpPr>
          <a:xfrm>
            <a:off x="8088630" y="1333500"/>
            <a:ext cx="3752621" cy="3724656"/>
            <a:chOff x="8088630" y="1333500"/>
            <a:chExt cx="3752621" cy="3724656"/>
          </a:xfrm>
        </p:grpSpPr>
        <p:sp>
          <p:nvSpPr>
            <p:cNvPr id="29" name="Rectangle 29"/>
            <p:cNvSpPr/>
            <p:nvPr/>
          </p:nvSpPr>
          <p:spPr>
            <a:xfrm>
              <a:off x="8096250" y="1333500"/>
              <a:ext cx="3552825" cy="76200"/>
            </a:xfrm>
            <a:prstGeom prst="rect">
              <a:avLst/>
            </a:prstGeom>
            <a:solidFill>
              <a:srgbClr val="FFA640"/>
            </a:solidFill>
            <a:ln>
              <a:noFill/>
            </a:ln>
          </p:spPr>
        </p:sp>
        <p:sp>
          <p:nvSpPr>
            <p:cNvPr id="30" name="TextBox 30"/>
            <p:cNvSpPr txBox="1"/>
            <p:nvPr/>
          </p:nvSpPr>
          <p:spPr>
            <a:xfrm>
              <a:off x="8088630" y="1504950"/>
              <a:ext cx="2199513" cy="293370"/>
            </a:xfrm>
            <a:prstGeom prst="rect">
              <a:avLst/>
            </a:prstGeom>
            <a:noFill/>
            <a:ln>
              <a:noFill/>
            </a:ln>
          </p:spPr>
          <p:txBody>
            <a:bodyPr wrap="none" lIns="0" tIns="0" rIns="0" bIns="0" anchor="t" anchorCtr="0">
              <a:spAutoFit/>
            </a:bodyPr>
            <a:lstStyle/>
            <a:p>
              <a:pPr algn="l"/>
              <a:r>
                <a:rPr lang="zh-CN" sz="1500" b="1" dirty="0">
                  <a:solidFill>
                    <a:srgbClr val="E08A2E"/>
                  </a:solidFill>
                  <a:latin typeface="Arial"/>
                  <a:ea typeface="Microsoft YaHei"/>
                  <a:cs typeface="Arial"/>
                </a:rPr>
                <a:t>OMEA · 核心增长引擎</a:t>
              </a:r>
            </a:p>
          </p:txBody>
        </p:sp>
        <p:sp>
          <p:nvSpPr>
            <p:cNvPr id="31" name="TextBox 31"/>
            <p:cNvSpPr txBox="1"/>
            <p:nvPr/>
          </p:nvSpPr>
          <p:spPr>
            <a:xfrm>
              <a:off x="8090154" y="1756410"/>
              <a:ext cx="1554937"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矿业+港口双典型场景</a:t>
              </a:r>
            </a:p>
          </p:txBody>
        </p:sp>
        <p:sp>
          <p:nvSpPr>
            <p:cNvPr id="32" name="Line 32"/>
            <p:cNvSpPr/>
            <p:nvPr/>
          </p:nvSpPr>
          <p:spPr>
            <a:xfrm>
              <a:off x="8096250" y="2038350"/>
              <a:ext cx="3552825" cy="9525"/>
            </a:xfrm>
            <a:custGeom>
              <a:avLst/>
              <a:gdLst/>
              <a:ahLst/>
              <a:cxnLst/>
              <a:rect l="l" t="t" r="r" b="b"/>
              <a:pathLst>
                <a:path w="3552825" h="9525">
                  <a:moveTo>
                    <a:pt x="0" y="0"/>
                  </a:moveTo>
                  <a:lnTo>
                    <a:pt x="3552825" y="0"/>
                  </a:lnTo>
                </a:path>
              </a:pathLst>
            </a:custGeom>
            <a:noFill/>
            <a:ln w="9525">
              <a:solidFill>
                <a:srgbClr val="E8E2DA"/>
              </a:solidFill>
            </a:ln>
          </p:spPr>
        </p:sp>
        <p:sp>
          <p:nvSpPr>
            <p:cNvPr id="33" name="TextBox 33"/>
            <p:cNvSpPr txBox="1"/>
            <p:nvPr/>
          </p:nvSpPr>
          <p:spPr>
            <a:xfrm>
              <a:off x="8090916" y="2153602"/>
              <a:ext cx="3750335"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Essakane Mine马里 · Tanger Port马士基 · Aqaba CT约旦</a:t>
              </a:r>
            </a:p>
          </p:txBody>
        </p:sp>
        <p:grpSp>
          <p:nvGrpSpPr>
            <p:cNvPr id="44" name="Group 44"/>
            <p:cNvGrpSpPr/>
            <p:nvPr/>
          </p:nvGrpSpPr>
          <p:grpSpPr>
            <a:xfrm>
              <a:off x="8324850" y="2804160"/>
              <a:ext cx="3095625" cy="1961674"/>
              <a:chOff x="8324850" y="2804160"/>
              <a:chExt cx="3095625" cy="1961674"/>
            </a:xfrm>
          </p:grpSpPr>
          <p:sp>
            <p:nvSpPr>
              <p:cNvPr id="34" name="Line 34"/>
              <p:cNvSpPr/>
              <p:nvPr/>
            </p:nvSpPr>
            <p:spPr>
              <a:xfrm>
                <a:off x="8324850" y="4476750"/>
                <a:ext cx="3095625" cy="9525"/>
              </a:xfrm>
              <a:custGeom>
                <a:avLst/>
                <a:gdLst/>
                <a:ahLst/>
                <a:cxnLst/>
                <a:rect l="l" t="t" r="r" b="b"/>
                <a:pathLst>
                  <a:path w="3095625" h="9525">
                    <a:moveTo>
                      <a:pt x="0" y="0"/>
                    </a:moveTo>
                    <a:lnTo>
                      <a:pt x="3095625" y="0"/>
                    </a:lnTo>
                  </a:path>
                </a:pathLst>
              </a:custGeom>
              <a:noFill/>
              <a:ln w="9525">
                <a:solidFill>
                  <a:srgbClr val="E8E2DA"/>
                </a:solidFill>
              </a:ln>
            </p:spPr>
          </p:sp>
          <p:sp>
            <p:nvSpPr>
              <p:cNvPr id="35" name="Rectangle 35"/>
              <p:cNvSpPr/>
              <p:nvPr/>
            </p:nvSpPr>
            <p:spPr>
              <a:xfrm>
                <a:off x="8515350" y="3019425"/>
                <a:ext cx="666750" cy="1457325"/>
              </a:xfrm>
              <a:prstGeom prst="rect">
                <a:avLst/>
              </a:prstGeom>
              <a:solidFill>
                <a:srgbClr val="FF7900"/>
              </a:solidFill>
              <a:ln w="19050">
                <a:solidFill>
                  <a:srgbClr val="B85C00"/>
                </a:solidFill>
              </a:ln>
            </p:spPr>
          </p:sp>
          <p:sp>
            <p:nvSpPr>
              <p:cNvPr id="36" name="TextBox 36"/>
              <p:cNvSpPr txBox="1"/>
              <p:nvPr/>
            </p:nvSpPr>
            <p:spPr>
              <a:xfrm>
                <a:off x="8431298" y="2804160"/>
                <a:ext cx="834855" cy="234696"/>
              </a:xfrm>
              <a:prstGeom prst="rect">
                <a:avLst/>
              </a:prstGeom>
              <a:noFill/>
              <a:ln>
                <a:noFill/>
              </a:ln>
            </p:spPr>
            <p:txBody>
              <a:bodyPr wrap="none" lIns="0" tIns="0" rIns="0" bIns="0" anchor="t" anchorCtr="0">
                <a:spAutoFit/>
              </a:bodyPr>
              <a:lstStyle/>
              <a:p>
                <a:pPr algn="ctr"/>
                <a:r>
                  <a:rPr lang="zh-CN" sz="1200" b="1" dirty="0">
                    <a:solidFill>
                      <a:srgbClr val="B85C00"/>
                    </a:solidFill>
                    <a:latin typeface="Arial"/>
                    <a:ea typeface="Microsoft YaHei"/>
                    <a:cs typeface="Arial"/>
                  </a:rPr>
                  <a:t>45%（估）</a:t>
                </a:r>
              </a:p>
            </p:txBody>
          </p:sp>
          <p:sp>
            <p:nvSpPr>
              <p:cNvPr id="37" name="TextBox 37"/>
              <p:cNvSpPr txBox="1"/>
              <p:nvPr/>
            </p:nvSpPr>
            <p:spPr>
              <a:xfrm>
                <a:off x="8582165" y="4545806"/>
                <a:ext cx="533120" cy="220028"/>
              </a:xfrm>
              <a:prstGeom prst="rect">
                <a:avLst/>
              </a:prstGeom>
              <a:noFill/>
              <a:ln>
                <a:noFill/>
              </a:ln>
            </p:spPr>
            <p:txBody>
              <a:bodyPr wrap="none" lIns="0" tIns="0" rIns="0" bIns="0" anchor="t" anchorCtr="0">
                <a:spAutoFit/>
              </a:bodyPr>
              <a:lstStyle/>
              <a:p>
                <a:pPr algn="ctr"/>
                <a:r>
                  <a:rPr lang="en-US" sz="1120" b="1" dirty="0">
                    <a:solidFill>
                      <a:srgbClr val="B85C00"/>
                    </a:solidFill>
                    <a:latin typeface="Arial"/>
                    <a:ea typeface="Arial"/>
                    <a:cs typeface="Arial"/>
                  </a:rPr>
                  <a:t>Huawei</a:t>
                </a:r>
              </a:p>
            </p:txBody>
          </p:sp>
          <p:sp>
            <p:nvSpPr>
              <p:cNvPr id="38" name="Rectangle 38"/>
              <p:cNvSpPr/>
              <p:nvPr/>
            </p:nvSpPr>
            <p:spPr>
              <a:xfrm>
                <a:off x="9372600" y="3114675"/>
                <a:ext cx="666750" cy="1362075"/>
              </a:xfrm>
              <a:prstGeom prst="rect">
                <a:avLst/>
              </a:prstGeom>
              <a:solidFill>
                <a:srgbClr val="C7C2B8"/>
              </a:solidFill>
              <a:ln>
                <a:noFill/>
              </a:ln>
            </p:spPr>
          </p:sp>
          <p:sp>
            <p:nvSpPr>
              <p:cNvPr id="39" name="TextBox 39"/>
              <p:cNvSpPr txBox="1"/>
              <p:nvPr/>
            </p:nvSpPr>
            <p:spPr>
              <a:xfrm>
                <a:off x="9288548" y="2899410"/>
                <a:ext cx="834855"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Arial"/>
                    <a:ea typeface="Microsoft YaHei"/>
                    <a:cs typeface="Arial"/>
                  </a:rPr>
                  <a:t>42%（估）</a:t>
                </a:r>
              </a:p>
            </p:txBody>
          </p:sp>
          <p:sp>
            <p:nvSpPr>
              <p:cNvPr id="40" name="TextBox 40"/>
              <p:cNvSpPr txBox="1"/>
              <p:nvPr/>
            </p:nvSpPr>
            <p:spPr>
              <a:xfrm>
                <a:off x="9508808" y="4545806"/>
                <a:ext cx="394335" cy="220028"/>
              </a:xfrm>
              <a:prstGeom prst="rect">
                <a:avLst/>
              </a:prstGeom>
              <a:noFill/>
              <a:ln>
                <a:noFill/>
              </a:ln>
            </p:spPr>
            <p:txBody>
              <a:bodyPr wrap="none" lIns="0" tIns="0" rIns="0" bIns="0" anchor="t" anchorCtr="0">
                <a:spAutoFit/>
              </a:bodyPr>
              <a:lstStyle/>
              <a:p>
                <a:pPr algn="ctr"/>
                <a:r>
                  <a:rPr lang="en-US" sz="1120" dirty="0">
                    <a:solidFill>
                      <a:srgbClr val="6B6B6B"/>
                    </a:solidFill>
                    <a:latin typeface="Arial"/>
                    <a:ea typeface="Arial"/>
                    <a:cs typeface="Arial"/>
                  </a:rPr>
                  <a:t>Nokia</a:t>
                </a:r>
              </a:p>
            </p:txBody>
          </p:sp>
          <p:sp>
            <p:nvSpPr>
              <p:cNvPr id="41" name="Rectangle 41"/>
              <p:cNvSpPr/>
              <p:nvPr/>
            </p:nvSpPr>
            <p:spPr>
              <a:xfrm>
                <a:off x="10229850" y="4048125"/>
                <a:ext cx="666750" cy="428625"/>
              </a:xfrm>
              <a:prstGeom prst="rect">
                <a:avLst/>
              </a:prstGeom>
              <a:solidFill>
                <a:srgbClr val="C7C2B8"/>
              </a:solidFill>
              <a:ln>
                <a:noFill/>
              </a:ln>
            </p:spPr>
          </p:sp>
          <p:sp>
            <p:nvSpPr>
              <p:cNvPr id="42" name="TextBox 42"/>
              <p:cNvSpPr txBox="1"/>
              <p:nvPr/>
            </p:nvSpPr>
            <p:spPr>
              <a:xfrm>
                <a:off x="10145798" y="3832860"/>
                <a:ext cx="834855"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Arial"/>
                    <a:ea typeface="Microsoft YaHei"/>
                    <a:cs typeface="Arial"/>
                  </a:rPr>
                  <a:t>13%（估）</a:t>
                </a:r>
              </a:p>
            </p:txBody>
          </p:sp>
          <p:sp>
            <p:nvSpPr>
              <p:cNvPr id="43" name="TextBox 43"/>
              <p:cNvSpPr txBox="1"/>
              <p:nvPr/>
            </p:nvSpPr>
            <p:spPr>
              <a:xfrm>
                <a:off x="10406062" y="4545806"/>
                <a:ext cx="314325" cy="220028"/>
              </a:xfrm>
              <a:prstGeom prst="rect">
                <a:avLst/>
              </a:prstGeom>
              <a:noFill/>
              <a:ln>
                <a:noFill/>
              </a:ln>
            </p:spPr>
            <p:txBody>
              <a:bodyPr wrap="none" lIns="0" tIns="0" rIns="0" bIns="0" anchor="t" anchorCtr="0">
                <a:spAutoFit/>
              </a:bodyPr>
              <a:lstStyle/>
              <a:p>
                <a:pPr algn="ctr"/>
                <a:r>
                  <a:rPr lang="zh-CN" sz="1120" dirty="0">
                    <a:solidFill>
                      <a:srgbClr val="6B6B6B"/>
                    </a:solidFill>
                    <a:latin typeface="Arial"/>
                    <a:ea typeface="Microsoft YaHei"/>
                    <a:cs typeface="Arial"/>
                  </a:rPr>
                  <a:t>其他</a:t>
                </a:r>
              </a:p>
            </p:txBody>
          </p:sp>
        </p:grpSp>
        <p:sp>
          <p:nvSpPr>
            <p:cNvPr id="45" name="TextBox 45"/>
            <p:cNvSpPr txBox="1"/>
            <p:nvPr/>
          </p:nvSpPr>
          <p:spPr>
            <a:xfrm>
              <a:off x="8090154" y="4823460"/>
              <a:ext cx="2328001"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华为：与Nokia并列供应商主力</a:t>
              </a:r>
            </a:p>
          </p:txBody>
        </p:sp>
      </p:grpSp>
      <p:grpSp>
        <p:nvGrpSpPr>
          <p:cNvPr id="49" name="Group 49"/>
          <p:cNvGrpSpPr/>
          <p:nvPr/>
        </p:nvGrpSpPr>
        <p:grpSpPr>
          <a:xfrm>
            <a:off x="533400" y="5715000"/>
            <a:ext cx="11125200" cy="571500"/>
            <a:chOff x="533400" y="5715000"/>
            <a:chExt cx="11125200" cy="571500"/>
          </a:xfrm>
        </p:grpSpPr>
        <p:sp>
          <p:nvSpPr>
            <p:cNvPr id="47" name="Rectangle 47"/>
            <p:cNvSpPr/>
            <p:nvPr/>
          </p:nvSpPr>
          <p:spPr>
            <a:xfrm>
              <a:off x="533400" y="5715000"/>
              <a:ext cx="11125200" cy="571500"/>
            </a:xfrm>
            <a:prstGeom prst="roundRect">
              <a:avLst>
                <a:gd name="adj" fmla="val 6667"/>
              </a:avLst>
            </a:prstGeom>
            <a:solidFill>
              <a:srgbClr val="FFF6EC"/>
            </a:solidFill>
            <a:ln w="14288">
              <a:solidFill>
                <a:srgbClr val="FFA640"/>
              </a:solidFill>
            </a:ln>
          </p:spPr>
        </p:sp>
        <p:sp>
          <p:nvSpPr>
            <p:cNvPr id="48" name="TextBox 48"/>
            <p:cNvSpPr txBox="1"/>
            <p:nvPr/>
          </p:nvSpPr>
          <p:spPr>
            <a:xfrm>
              <a:off x="755523" y="5920264"/>
              <a:ext cx="6764576" cy="249364"/>
            </a:xfrm>
            <a:prstGeom prst="rect">
              <a:avLst/>
            </a:prstGeom>
            <a:noFill/>
            <a:ln>
              <a:noFill/>
            </a:ln>
          </p:spPr>
          <p:txBody>
            <a:bodyPr wrap="none" lIns="0" tIns="0" rIns="0" bIns="0" anchor="t" anchorCtr="0">
              <a:spAutoFit/>
            </a:bodyPr>
            <a:lstStyle/>
            <a:p>
              <a:pPr algn="l"/>
              <a:r>
                <a:rPr lang="zh-CN" sz="1280" b="1" dirty="0">
                  <a:solidFill>
                    <a:srgbClr val="B85C00"/>
                  </a:solidFill>
                  <a:latin typeface="Arial"/>
                  <a:ea typeface="Microsoft YaHei"/>
                  <a:cs typeface="Arial"/>
                </a:rPr>
                <a:t>MPN是唯一华为与Nokia并列主力供应商的场景，值得作为对OB/OEU的突破口参考</a:t>
              </a:r>
            </a:p>
          </p:txBody>
        </p:sp>
      </p:grpSp>
      <p:grpSp>
        <p:nvGrpSpPr>
          <p:cNvPr id="52" name="Group 52"/>
          <p:cNvGrpSpPr/>
          <p:nvPr/>
        </p:nvGrpSpPr>
        <p:grpSpPr>
          <a:xfrm>
            <a:off x="528447" y="6562249"/>
            <a:ext cx="11135106" cy="190690"/>
            <a:chOff x="528447" y="6562249"/>
            <a:chExt cx="11135106" cy="190690"/>
          </a:xfrm>
        </p:grpSpPr>
        <p:sp>
          <p:nvSpPr>
            <p:cNvPr id="50" name="TextBox 50"/>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1" name="TextBox 51"/>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12</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1440787" cy="747713"/>
            <a:chOff x="521970" y="252412"/>
            <a:chExt cx="11440787" cy="747713"/>
          </a:xfrm>
        </p:grpSpPr>
        <p:sp>
          <p:nvSpPr>
            <p:cNvPr id="3" name="TextBox 3"/>
            <p:cNvSpPr txBox="1"/>
            <p:nvPr/>
          </p:nvSpPr>
          <p:spPr>
            <a:xfrm>
              <a:off x="521970" y="252412"/>
              <a:ext cx="11440787"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OB是生态位竞争排除区——华为唯一存量锚点是</a:t>
              </a:r>
              <a:r>
                <a:rPr lang="zh-CN" sz="2250" b="1" dirty="0">
                  <a:solidFill>
                    <a:srgbClr val="FF7900"/>
                  </a:solidFill>
                  <a:latin typeface="Arial"/>
                  <a:ea typeface="Microsoft YaHei"/>
                  <a:cs typeface="Arial"/>
                </a:rPr>
                <a:t>看不见的Flexible Engine云栈底层</a:t>
              </a:r>
            </a:p>
          </p:txBody>
        </p:sp>
        <p:sp>
          <p:nvSpPr>
            <p:cNvPr id="4" name="TextBox 4"/>
            <p:cNvSpPr txBox="1"/>
            <p:nvPr/>
          </p:nvSpPr>
          <p:spPr>
            <a:xfrm>
              <a:off x="527304" y="708660"/>
              <a:ext cx="6088685"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法国WAN/LAN/安全目录基本不在准入清单，排除是市场化竞争结果而非行政禁令</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47" name="Group 47"/>
          <p:cNvGrpSpPr/>
          <p:nvPr/>
        </p:nvGrpSpPr>
        <p:grpSpPr>
          <a:xfrm>
            <a:off x="533400" y="1315402"/>
            <a:ext cx="11125200" cy="3653409"/>
            <a:chOff x="533400" y="1315402"/>
            <a:chExt cx="11125200" cy="3653409"/>
          </a:xfrm>
        </p:grpSpPr>
        <p:sp>
          <p:nvSpPr>
            <p:cNvPr id="7" name="Line 7"/>
            <p:cNvSpPr/>
            <p:nvPr/>
          </p:nvSpPr>
          <p:spPr>
            <a:xfrm>
              <a:off x="533400" y="1552575"/>
              <a:ext cx="11125200" cy="9525"/>
            </a:xfrm>
            <a:custGeom>
              <a:avLst/>
              <a:gdLst/>
              <a:ahLst/>
              <a:cxnLst/>
              <a:rect l="l" t="t" r="r" b="b"/>
              <a:pathLst>
                <a:path w="11125200" h="9525">
                  <a:moveTo>
                    <a:pt x="0" y="0"/>
                  </a:moveTo>
                  <a:lnTo>
                    <a:pt x="11125200" y="0"/>
                  </a:lnTo>
                </a:path>
              </a:pathLst>
            </a:custGeom>
            <a:noFill/>
            <a:ln w="19050">
              <a:solidFill>
                <a:srgbClr val="CBD5E1"/>
              </a:solidFill>
            </a:ln>
          </p:spPr>
        </p:sp>
        <p:sp>
          <p:nvSpPr>
            <p:cNvPr id="8" name="TextBox 8"/>
            <p:cNvSpPr txBox="1"/>
            <p:nvPr/>
          </p:nvSpPr>
          <p:spPr>
            <a:xfrm>
              <a:off x="718566" y="1315402"/>
              <a:ext cx="1006472"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OFFERING维度</a:t>
              </a:r>
            </a:p>
          </p:txBody>
        </p:sp>
        <p:sp>
          <p:nvSpPr>
            <p:cNvPr id="9" name="TextBox 9"/>
            <p:cNvSpPr txBox="1"/>
            <p:nvPr/>
          </p:nvSpPr>
          <p:spPr>
            <a:xfrm>
              <a:off x="3042666" y="1315402"/>
              <a:ext cx="873176"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主要VENDOR</a:t>
              </a:r>
            </a:p>
          </p:txBody>
        </p:sp>
        <p:sp>
          <p:nvSpPr>
            <p:cNvPr id="10" name="TextBox 10"/>
            <p:cNvSpPr txBox="1"/>
            <p:nvPr/>
          </p:nvSpPr>
          <p:spPr>
            <a:xfrm>
              <a:off x="7043166" y="1315402"/>
              <a:ext cx="604342"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华为现状</a:t>
              </a:r>
            </a:p>
          </p:txBody>
        </p:sp>
        <p:sp>
          <p:nvSpPr>
            <p:cNvPr id="11" name="TextBox 11"/>
            <p:cNvSpPr txBox="1"/>
            <p:nvPr/>
          </p:nvSpPr>
          <p:spPr>
            <a:xfrm>
              <a:off x="9995916" y="1315402"/>
              <a:ext cx="901179"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参与度（估）</a:t>
              </a:r>
            </a:p>
          </p:txBody>
        </p:sp>
        <p:sp>
          <p:nvSpPr>
            <p:cNvPr id="12" name="Rectangle 12"/>
            <p:cNvSpPr/>
            <p:nvPr/>
          </p:nvSpPr>
          <p:spPr>
            <a:xfrm>
              <a:off x="533400" y="1647825"/>
              <a:ext cx="11125200" cy="552450"/>
            </a:xfrm>
            <a:prstGeom prst="rect">
              <a:avLst/>
            </a:prstGeom>
            <a:solidFill>
              <a:srgbClr val="FBF6F1"/>
            </a:solidFill>
            <a:ln>
              <a:noFill/>
            </a:ln>
          </p:spPr>
        </p:sp>
        <p:sp>
          <p:nvSpPr>
            <p:cNvPr id="13" name="TextBox 13"/>
            <p:cNvSpPr txBox="1"/>
            <p:nvPr/>
          </p:nvSpPr>
          <p:spPr>
            <a:xfrm>
              <a:off x="717423" y="1834039"/>
              <a:ext cx="746086"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WAN连接</a:t>
              </a:r>
            </a:p>
          </p:txBody>
        </p:sp>
        <p:sp>
          <p:nvSpPr>
            <p:cNvPr id="14" name="TextBox 14"/>
            <p:cNvSpPr txBox="1"/>
            <p:nvPr/>
          </p:nvSpPr>
          <p:spPr>
            <a:xfrm>
              <a:off x="3041904" y="1842135"/>
              <a:ext cx="3110582" cy="234696"/>
            </a:xfrm>
            <a:prstGeom prst="rect">
              <a:avLst/>
            </a:prstGeom>
            <a:noFill/>
            <a:ln>
              <a:noFill/>
            </a:ln>
          </p:spPr>
          <p:txBody>
            <a:bodyPr wrap="none" lIns="0" tIns="0" rIns="0" bIns="0" anchor="t" anchorCtr="0">
              <a:spAutoFit/>
            </a:bodyPr>
            <a:lstStyle/>
            <a:p>
              <a:pPr algn="l"/>
              <a:r>
                <a:rPr lang="en-US" sz="1200" dirty="0">
                  <a:solidFill>
                    <a:srgbClr val="1A1A1A"/>
                  </a:solidFill>
                  <a:latin typeface="Arial"/>
                  <a:ea typeface="Arial"/>
                  <a:cs typeface="Arial"/>
                </a:rPr>
                <a:t>Cisco / Fortinet / VMware / OneAccess</a:t>
              </a:r>
            </a:p>
          </p:txBody>
        </p:sp>
        <p:sp>
          <p:nvSpPr>
            <p:cNvPr id="15" name="TextBox 15"/>
            <p:cNvSpPr txBox="1"/>
            <p:nvPr/>
          </p:nvSpPr>
          <p:spPr>
            <a:xfrm>
              <a:off x="7042404" y="1842135"/>
              <a:ext cx="521056"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不可见</a:t>
              </a:r>
            </a:p>
          </p:txBody>
        </p:sp>
        <p:sp>
          <p:nvSpPr>
            <p:cNvPr id="16" name="Rectangle 16"/>
            <p:cNvSpPr/>
            <p:nvPr/>
          </p:nvSpPr>
          <p:spPr>
            <a:xfrm>
              <a:off x="9525000" y="1828800"/>
              <a:ext cx="1714500" cy="114300"/>
            </a:xfrm>
            <a:prstGeom prst="roundRect">
              <a:avLst>
                <a:gd name="adj" fmla="val 50000"/>
              </a:avLst>
            </a:prstGeom>
            <a:solidFill>
              <a:srgbClr val="E8E2DA"/>
            </a:solidFill>
            <a:ln>
              <a:noFill/>
            </a:ln>
          </p:spPr>
        </p:sp>
        <p:sp>
          <p:nvSpPr>
            <p:cNvPr id="17" name="TextBox 17"/>
            <p:cNvSpPr txBox="1"/>
            <p:nvPr/>
          </p:nvSpPr>
          <p:spPr>
            <a:xfrm>
              <a:off x="10285038" y="200120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18" name="TextBox 18"/>
            <p:cNvSpPr txBox="1"/>
            <p:nvPr/>
          </p:nvSpPr>
          <p:spPr>
            <a:xfrm>
              <a:off x="717423" y="2386489"/>
              <a:ext cx="708001"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LAN管理</a:t>
              </a:r>
            </a:p>
          </p:txBody>
        </p:sp>
        <p:sp>
          <p:nvSpPr>
            <p:cNvPr id="19" name="TextBox 19"/>
            <p:cNvSpPr txBox="1"/>
            <p:nvPr/>
          </p:nvSpPr>
          <p:spPr>
            <a:xfrm>
              <a:off x="3041904" y="2394585"/>
              <a:ext cx="1754848" cy="234696"/>
            </a:xfrm>
            <a:prstGeom prst="rect">
              <a:avLst/>
            </a:prstGeom>
            <a:noFill/>
            <a:ln>
              <a:noFill/>
            </a:ln>
          </p:spPr>
          <p:txBody>
            <a:bodyPr wrap="none" lIns="0" tIns="0" rIns="0" bIns="0" anchor="t" anchorCtr="0">
              <a:spAutoFit/>
            </a:bodyPr>
            <a:lstStyle/>
            <a:p>
              <a:pPr algn="l"/>
              <a:r>
                <a:rPr lang="en-US" sz="1200" dirty="0">
                  <a:solidFill>
                    <a:srgbClr val="1A1A1A"/>
                  </a:solidFill>
                  <a:latin typeface="Arial"/>
                  <a:ea typeface="Arial"/>
                  <a:cs typeface="Arial"/>
                </a:rPr>
                <a:t>Cisco / HPE / Fortinet</a:t>
              </a:r>
            </a:p>
          </p:txBody>
        </p:sp>
        <p:sp>
          <p:nvSpPr>
            <p:cNvPr id="20" name="TextBox 20"/>
            <p:cNvSpPr txBox="1"/>
            <p:nvPr/>
          </p:nvSpPr>
          <p:spPr>
            <a:xfrm>
              <a:off x="7042404" y="2394585"/>
              <a:ext cx="521056"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不可见</a:t>
              </a:r>
            </a:p>
          </p:txBody>
        </p:sp>
        <p:sp>
          <p:nvSpPr>
            <p:cNvPr id="21" name="Rectangle 21"/>
            <p:cNvSpPr/>
            <p:nvPr/>
          </p:nvSpPr>
          <p:spPr>
            <a:xfrm>
              <a:off x="9525000" y="2381250"/>
              <a:ext cx="1714500" cy="114300"/>
            </a:xfrm>
            <a:prstGeom prst="roundRect">
              <a:avLst>
                <a:gd name="adj" fmla="val 50000"/>
              </a:avLst>
            </a:prstGeom>
            <a:solidFill>
              <a:srgbClr val="E8E2DA"/>
            </a:solidFill>
            <a:ln>
              <a:noFill/>
            </a:ln>
          </p:spPr>
        </p:sp>
        <p:sp>
          <p:nvSpPr>
            <p:cNvPr id="22" name="TextBox 22"/>
            <p:cNvSpPr txBox="1"/>
            <p:nvPr/>
          </p:nvSpPr>
          <p:spPr>
            <a:xfrm>
              <a:off x="10285038" y="255365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23" name="Rectangle 23"/>
            <p:cNvSpPr/>
            <p:nvPr/>
          </p:nvSpPr>
          <p:spPr>
            <a:xfrm>
              <a:off x="533400" y="2752725"/>
              <a:ext cx="11125200" cy="552450"/>
            </a:xfrm>
            <a:prstGeom prst="rect">
              <a:avLst/>
            </a:prstGeom>
            <a:solidFill>
              <a:srgbClr val="FBF6F1"/>
            </a:solidFill>
            <a:ln>
              <a:noFill/>
            </a:ln>
          </p:spPr>
        </p:sp>
        <p:sp>
          <p:nvSpPr>
            <p:cNvPr id="24" name="TextBox 24"/>
            <p:cNvSpPr txBox="1"/>
            <p:nvPr/>
          </p:nvSpPr>
          <p:spPr>
            <a:xfrm>
              <a:off x="717423" y="2938939"/>
              <a:ext cx="553622"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云服务</a:t>
              </a:r>
            </a:p>
          </p:txBody>
        </p:sp>
        <p:sp>
          <p:nvSpPr>
            <p:cNvPr id="25" name="TextBox 25"/>
            <p:cNvSpPr txBox="1"/>
            <p:nvPr/>
          </p:nvSpPr>
          <p:spPr>
            <a:xfrm>
              <a:off x="3041904" y="2870835"/>
              <a:ext cx="3168575"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自有Cloud Avenue / Flexible Engine / Bleu</a:t>
              </a:r>
            </a:p>
          </p:txBody>
        </p:sp>
        <p:sp>
          <p:nvSpPr>
            <p:cNvPr id="26" name="TextBox 26"/>
            <p:cNvSpPr txBox="1"/>
            <p:nvPr/>
          </p:nvSpPr>
          <p:spPr>
            <a:xfrm>
              <a:off x="7042404" y="2870835"/>
              <a:ext cx="1029919"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云栈底层技术</a:t>
              </a:r>
            </a:p>
          </p:txBody>
        </p:sp>
        <p:sp>
          <p:nvSpPr>
            <p:cNvPr id="27" name="TextBox 27"/>
            <p:cNvSpPr txBox="1"/>
            <p:nvPr/>
          </p:nvSpPr>
          <p:spPr>
            <a:xfrm>
              <a:off x="7043166" y="3077528"/>
              <a:ext cx="1000125" cy="205359"/>
            </a:xfrm>
            <a:prstGeom prst="rect">
              <a:avLst/>
            </a:prstGeom>
            <a:noFill/>
            <a:ln>
              <a:noFill/>
            </a:ln>
          </p:spPr>
          <p:txBody>
            <a:bodyPr wrap="none" lIns="0" tIns="0" rIns="0" bIns="0" anchor="t" anchorCtr="0">
              <a:spAutoFit/>
            </a:bodyPr>
            <a:lstStyle/>
            <a:p>
              <a:pPr algn="l"/>
              <a:r>
                <a:rPr lang="zh-CN" sz="1050" dirty="0">
                  <a:solidFill>
                    <a:srgbClr val="6B6B6B"/>
                  </a:solidFill>
                  <a:latin typeface="Arial"/>
                  <a:ea typeface="Microsoft YaHei"/>
                  <a:cs typeface="Arial"/>
                </a:rPr>
                <a:t>（非品牌可见）</a:t>
              </a:r>
            </a:p>
          </p:txBody>
        </p:sp>
        <p:sp>
          <p:nvSpPr>
            <p:cNvPr id="28" name="Rectangle 28"/>
            <p:cNvSpPr/>
            <p:nvPr/>
          </p:nvSpPr>
          <p:spPr>
            <a:xfrm>
              <a:off x="9525000" y="2933700"/>
              <a:ext cx="1714500" cy="114300"/>
            </a:xfrm>
            <a:prstGeom prst="roundRect">
              <a:avLst>
                <a:gd name="adj" fmla="val 50000"/>
              </a:avLst>
            </a:prstGeom>
            <a:solidFill>
              <a:srgbClr val="E8E2DA"/>
            </a:solidFill>
            <a:ln>
              <a:noFill/>
            </a:ln>
          </p:spPr>
        </p:sp>
        <p:sp>
          <p:nvSpPr>
            <p:cNvPr id="29" name="Rectangle 29"/>
            <p:cNvSpPr/>
            <p:nvPr/>
          </p:nvSpPr>
          <p:spPr>
            <a:xfrm>
              <a:off x="9525000" y="2933700"/>
              <a:ext cx="514350" cy="114300"/>
            </a:xfrm>
            <a:prstGeom prst="roundRect">
              <a:avLst>
                <a:gd name="adj" fmla="val 50000"/>
              </a:avLst>
            </a:prstGeom>
            <a:solidFill>
              <a:srgbClr val="FF7900"/>
            </a:solidFill>
            <a:ln>
              <a:noFill/>
            </a:ln>
          </p:spPr>
        </p:sp>
        <p:sp>
          <p:nvSpPr>
            <p:cNvPr id="30" name="TextBox 30"/>
            <p:cNvSpPr txBox="1"/>
            <p:nvPr/>
          </p:nvSpPr>
          <p:spPr>
            <a:xfrm>
              <a:off x="10239629" y="3106102"/>
              <a:ext cx="285242"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30%</a:t>
              </a:r>
            </a:p>
          </p:txBody>
        </p:sp>
        <p:sp>
          <p:nvSpPr>
            <p:cNvPr id="31" name="TextBox 31"/>
            <p:cNvSpPr txBox="1"/>
            <p:nvPr/>
          </p:nvSpPr>
          <p:spPr>
            <a:xfrm>
              <a:off x="717423" y="3491389"/>
              <a:ext cx="733844"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安全托管</a:t>
              </a:r>
            </a:p>
          </p:txBody>
        </p:sp>
        <p:sp>
          <p:nvSpPr>
            <p:cNvPr id="32" name="TextBox 32"/>
            <p:cNvSpPr txBox="1"/>
            <p:nvPr/>
          </p:nvSpPr>
          <p:spPr>
            <a:xfrm>
              <a:off x="3041904" y="3499485"/>
              <a:ext cx="2851469" cy="234696"/>
            </a:xfrm>
            <a:prstGeom prst="rect">
              <a:avLst/>
            </a:prstGeom>
            <a:noFill/>
            <a:ln>
              <a:noFill/>
            </a:ln>
          </p:spPr>
          <p:txBody>
            <a:bodyPr wrap="none" lIns="0" tIns="0" rIns="0" bIns="0" anchor="t" anchorCtr="0">
              <a:spAutoFit/>
            </a:bodyPr>
            <a:lstStyle/>
            <a:p>
              <a:pPr algn="l"/>
              <a:r>
                <a:rPr lang="en-US" sz="1200" dirty="0">
                  <a:solidFill>
                    <a:srgbClr val="1A1A1A"/>
                  </a:solidFill>
                  <a:latin typeface="Arial"/>
                  <a:ea typeface="Arial"/>
                  <a:cs typeface="Arial"/>
                </a:rPr>
                <a:t>CrowdStrike / Palo Alto / Microsoft</a:t>
              </a:r>
            </a:p>
          </p:txBody>
        </p:sp>
        <p:sp>
          <p:nvSpPr>
            <p:cNvPr id="33" name="TextBox 33"/>
            <p:cNvSpPr txBox="1"/>
            <p:nvPr/>
          </p:nvSpPr>
          <p:spPr>
            <a:xfrm>
              <a:off x="7042404" y="3499485"/>
              <a:ext cx="1262108"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不在Vendor目录</a:t>
              </a:r>
            </a:p>
          </p:txBody>
        </p:sp>
        <p:sp>
          <p:nvSpPr>
            <p:cNvPr id="34" name="Rectangle 34"/>
            <p:cNvSpPr/>
            <p:nvPr/>
          </p:nvSpPr>
          <p:spPr>
            <a:xfrm>
              <a:off x="9525000" y="3486150"/>
              <a:ext cx="1714500" cy="114300"/>
            </a:xfrm>
            <a:prstGeom prst="roundRect">
              <a:avLst>
                <a:gd name="adj" fmla="val 50000"/>
              </a:avLst>
            </a:prstGeom>
            <a:solidFill>
              <a:srgbClr val="E8E2DA"/>
            </a:solidFill>
            <a:ln>
              <a:noFill/>
            </a:ln>
          </p:spPr>
        </p:sp>
        <p:sp>
          <p:nvSpPr>
            <p:cNvPr id="35" name="TextBox 35"/>
            <p:cNvSpPr txBox="1"/>
            <p:nvPr/>
          </p:nvSpPr>
          <p:spPr>
            <a:xfrm>
              <a:off x="10285038" y="365855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36" name="Rectangle 36"/>
            <p:cNvSpPr/>
            <p:nvPr/>
          </p:nvSpPr>
          <p:spPr>
            <a:xfrm>
              <a:off x="533400" y="3857625"/>
              <a:ext cx="11125200" cy="552450"/>
            </a:xfrm>
            <a:prstGeom prst="rect">
              <a:avLst/>
            </a:prstGeom>
            <a:solidFill>
              <a:srgbClr val="FBF6F1"/>
            </a:solidFill>
            <a:ln>
              <a:noFill/>
            </a:ln>
          </p:spPr>
        </p:sp>
        <p:sp>
          <p:nvSpPr>
            <p:cNvPr id="37" name="TextBox 37"/>
            <p:cNvSpPr txBox="1"/>
            <p:nvPr/>
          </p:nvSpPr>
          <p:spPr>
            <a:xfrm>
              <a:off x="717423" y="4043839"/>
              <a:ext cx="832966"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集成/转售</a:t>
              </a:r>
            </a:p>
          </p:txBody>
        </p:sp>
        <p:sp>
          <p:nvSpPr>
            <p:cNvPr id="38" name="TextBox 38"/>
            <p:cNvSpPr txBox="1"/>
            <p:nvPr/>
          </p:nvSpPr>
          <p:spPr>
            <a:xfrm>
              <a:off x="3041904" y="4051935"/>
              <a:ext cx="1991205" cy="234696"/>
            </a:xfrm>
            <a:prstGeom prst="rect">
              <a:avLst/>
            </a:prstGeom>
            <a:noFill/>
            <a:ln>
              <a:noFill/>
            </a:ln>
          </p:spPr>
          <p:txBody>
            <a:bodyPr wrap="none" lIns="0" tIns="0" rIns="0" bIns="0" anchor="t" anchorCtr="0">
              <a:spAutoFit/>
            </a:bodyPr>
            <a:lstStyle/>
            <a:p>
              <a:pPr algn="l"/>
              <a:r>
                <a:rPr lang="en-US" sz="1200" dirty="0">
                  <a:solidFill>
                    <a:srgbClr val="1A1A1A"/>
                  </a:solidFill>
                  <a:latin typeface="Arial"/>
                  <a:ea typeface="Arial"/>
                  <a:cs typeface="Arial"/>
                </a:rPr>
                <a:t>HP / Dell / Lenovo / Apple</a:t>
              </a:r>
            </a:p>
          </p:txBody>
        </p:sp>
        <p:sp>
          <p:nvSpPr>
            <p:cNvPr id="39" name="TextBox 39"/>
            <p:cNvSpPr txBox="1"/>
            <p:nvPr/>
          </p:nvSpPr>
          <p:spPr>
            <a:xfrm>
              <a:off x="7042404" y="4051935"/>
              <a:ext cx="1199540"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终端目录不可见</a:t>
              </a:r>
            </a:p>
          </p:txBody>
        </p:sp>
        <p:sp>
          <p:nvSpPr>
            <p:cNvPr id="40" name="Rectangle 40"/>
            <p:cNvSpPr/>
            <p:nvPr/>
          </p:nvSpPr>
          <p:spPr>
            <a:xfrm>
              <a:off x="9525000" y="4038600"/>
              <a:ext cx="1714500" cy="114300"/>
            </a:xfrm>
            <a:prstGeom prst="roundRect">
              <a:avLst>
                <a:gd name="adj" fmla="val 50000"/>
              </a:avLst>
            </a:prstGeom>
            <a:solidFill>
              <a:srgbClr val="E8E2DA"/>
            </a:solidFill>
            <a:ln>
              <a:noFill/>
            </a:ln>
          </p:spPr>
        </p:sp>
        <p:sp>
          <p:nvSpPr>
            <p:cNvPr id="41" name="TextBox 41"/>
            <p:cNvSpPr txBox="1"/>
            <p:nvPr/>
          </p:nvSpPr>
          <p:spPr>
            <a:xfrm>
              <a:off x="10285038" y="421100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42" name="TextBox 42"/>
            <p:cNvSpPr txBox="1"/>
            <p:nvPr/>
          </p:nvSpPr>
          <p:spPr>
            <a:xfrm>
              <a:off x="717423" y="4596289"/>
              <a:ext cx="1126933"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移动专网MPN</a:t>
              </a:r>
            </a:p>
          </p:txBody>
        </p:sp>
        <p:sp>
          <p:nvSpPr>
            <p:cNvPr id="43" name="TextBox 43"/>
            <p:cNvSpPr txBox="1"/>
            <p:nvPr/>
          </p:nvSpPr>
          <p:spPr>
            <a:xfrm>
              <a:off x="3041904" y="4604385"/>
              <a:ext cx="2695042"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法国Hybrid MPN试点（非战略重心）</a:t>
              </a:r>
            </a:p>
          </p:txBody>
        </p:sp>
        <p:sp>
          <p:nvSpPr>
            <p:cNvPr id="44" name="TextBox 44"/>
            <p:cNvSpPr txBox="1"/>
            <p:nvPr/>
          </p:nvSpPr>
          <p:spPr>
            <a:xfrm>
              <a:off x="7042404" y="4604385"/>
              <a:ext cx="860298" cy="234696"/>
            </a:xfrm>
            <a:prstGeom prst="rect">
              <a:avLst/>
            </a:prstGeom>
            <a:noFill/>
            <a:ln>
              <a:noFill/>
            </a:ln>
          </p:spPr>
          <p:txBody>
            <a:bodyPr wrap="none" lIns="0" tIns="0" rIns="0" bIns="0" anchor="t" anchorCtr="0">
              <a:spAutoFit/>
            </a:bodyPr>
            <a:lstStyle/>
            <a:p>
              <a:pPr algn="l"/>
              <a:r>
                <a:rPr lang="zh-CN" sz="1200" b="1" dirty="0">
                  <a:solidFill>
                    <a:srgbClr val="9B9B9B"/>
                  </a:solidFill>
                  <a:latin typeface="Arial"/>
                  <a:ea typeface="Microsoft YaHei"/>
                  <a:cs typeface="Arial"/>
                </a:rPr>
                <a:t>无相关信息</a:t>
              </a:r>
            </a:p>
          </p:txBody>
        </p:sp>
        <p:sp>
          <p:nvSpPr>
            <p:cNvPr id="45" name="Rectangle 45"/>
            <p:cNvSpPr/>
            <p:nvPr/>
          </p:nvSpPr>
          <p:spPr>
            <a:xfrm>
              <a:off x="9525000" y="4591050"/>
              <a:ext cx="1714500" cy="114300"/>
            </a:xfrm>
            <a:prstGeom prst="roundRect">
              <a:avLst>
                <a:gd name="adj" fmla="val 50000"/>
              </a:avLst>
            </a:prstGeom>
            <a:solidFill>
              <a:srgbClr val="E8E2DA"/>
            </a:solidFill>
            <a:ln>
              <a:noFill/>
            </a:ln>
          </p:spPr>
        </p:sp>
        <p:sp>
          <p:nvSpPr>
            <p:cNvPr id="46" name="TextBox 46"/>
            <p:cNvSpPr txBox="1"/>
            <p:nvPr/>
          </p:nvSpPr>
          <p:spPr>
            <a:xfrm>
              <a:off x="10338044" y="4763452"/>
              <a:ext cx="88411"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a:t>
              </a:r>
            </a:p>
          </p:txBody>
        </p:sp>
      </p:grpSp>
      <p:grpSp>
        <p:nvGrpSpPr>
          <p:cNvPr id="53" name="Group 53"/>
          <p:cNvGrpSpPr/>
          <p:nvPr/>
        </p:nvGrpSpPr>
        <p:grpSpPr>
          <a:xfrm>
            <a:off x="533400" y="5143500"/>
            <a:ext cx="11125200" cy="762000"/>
            <a:chOff x="533400" y="5143500"/>
            <a:chExt cx="11125200" cy="762000"/>
          </a:xfrm>
        </p:grpSpPr>
        <p:sp>
          <p:nvSpPr>
            <p:cNvPr id="48" name="Line 48"/>
            <p:cNvSpPr/>
            <p:nvPr/>
          </p:nvSpPr>
          <p:spPr>
            <a:xfrm>
              <a:off x="533400" y="5143500"/>
              <a:ext cx="11125200" cy="9525"/>
            </a:xfrm>
            <a:custGeom>
              <a:avLst/>
              <a:gdLst/>
              <a:ahLst/>
              <a:cxnLst/>
              <a:rect l="l" t="t" r="r" b="b"/>
              <a:pathLst>
                <a:path w="11125200" h="9525">
                  <a:moveTo>
                    <a:pt x="0" y="0"/>
                  </a:moveTo>
                  <a:lnTo>
                    <a:pt x="11125200" y="0"/>
                  </a:lnTo>
                </a:path>
              </a:pathLst>
            </a:custGeom>
            <a:noFill/>
            <a:ln w="28575">
              <a:solidFill>
                <a:srgbClr val="1A1A1A"/>
              </a:solidFill>
            </a:ln>
          </p:spPr>
        </p:sp>
        <p:sp>
          <p:nvSpPr>
            <p:cNvPr id="49" name="Rectangle 49"/>
            <p:cNvSpPr/>
            <p:nvPr/>
          </p:nvSpPr>
          <p:spPr>
            <a:xfrm>
              <a:off x="533400" y="5314950"/>
              <a:ext cx="11125200" cy="590550"/>
            </a:xfrm>
            <a:prstGeom prst="roundRect">
              <a:avLst>
                <a:gd name="adj" fmla="val 6452"/>
              </a:avLst>
            </a:prstGeom>
            <a:solidFill>
              <a:srgbClr val="1A1A1A"/>
            </a:solidFill>
            <a:ln>
              <a:noFill/>
            </a:ln>
          </p:spPr>
        </p:sp>
        <p:sp>
          <p:nvSpPr>
            <p:cNvPr id="50" name="Rectangle 50"/>
            <p:cNvSpPr/>
            <p:nvPr/>
          </p:nvSpPr>
          <p:spPr>
            <a:xfrm>
              <a:off x="533400" y="5314950"/>
              <a:ext cx="57150" cy="590550"/>
            </a:xfrm>
            <a:prstGeom prst="rect">
              <a:avLst/>
            </a:prstGeom>
            <a:solidFill>
              <a:srgbClr val="FF7900"/>
            </a:solidFill>
            <a:ln>
              <a:noFill/>
            </a:ln>
          </p:spPr>
        </p:sp>
        <p:sp>
          <p:nvSpPr>
            <p:cNvPr id="51" name="TextBox 51"/>
            <p:cNvSpPr txBox="1"/>
            <p:nvPr/>
          </p:nvSpPr>
          <p:spPr>
            <a:xfrm>
              <a:off x="755904" y="5423535"/>
              <a:ext cx="4252722"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Arial"/>
                  <a:ea typeface="Microsoft YaHei"/>
                  <a:cs typeface="Arial"/>
                </a:rPr>
                <a:t>定性：生态位竞争排除（市场化竞争结果，非行政禁令）</a:t>
              </a:r>
            </a:p>
          </p:txBody>
        </p:sp>
        <p:sp>
          <p:nvSpPr>
            <p:cNvPr id="52" name="TextBox 52"/>
            <p:cNvSpPr txBox="1"/>
            <p:nvPr/>
          </p:nvSpPr>
          <p:spPr>
            <a:xfrm>
              <a:off x="756285" y="5650706"/>
              <a:ext cx="5385489" cy="220028"/>
            </a:xfrm>
            <a:prstGeom prst="rect">
              <a:avLst/>
            </a:prstGeom>
            <a:noFill/>
            <a:ln>
              <a:noFill/>
            </a:ln>
          </p:spPr>
          <p:txBody>
            <a:bodyPr wrap="none" lIns="0" tIns="0" rIns="0" bIns="0" anchor="t" anchorCtr="0">
              <a:spAutoFit/>
            </a:bodyPr>
            <a:lstStyle/>
            <a:p>
              <a:pPr algn="l"/>
              <a:r>
                <a:rPr lang="zh-CN" sz="1120" dirty="0">
                  <a:solidFill>
                    <a:srgbClr val="B0B0B0"/>
                  </a:solidFill>
                  <a:latin typeface="Arial"/>
                  <a:ea typeface="Microsoft YaHei"/>
                  <a:cs typeface="Arial"/>
                </a:rPr>
                <a:t>唯一存量锚点：Flexible Engine云平台底座（2016年起技术合作，非品牌可见）</a:t>
              </a:r>
            </a:p>
          </p:txBody>
        </p:sp>
      </p:grpSp>
      <p:grpSp>
        <p:nvGrpSpPr>
          <p:cNvPr id="56" name="Group 56"/>
          <p:cNvGrpSpPr/>
          <p:nvPr/>
        </p:nvGrpSpPr>
        <p:grpSpPr>
          <a:xfrm>
            <a:off x="528447" y="6562249"/>
            <a:ext cx="11135106" cy="190690"/>
            <a:chOff x="528447" y="6562249"/>
            <a:chExt cx="11135106" cy="190690"/>
          </a:xfrm>
        </p:grpSpPr>
        <p:sp>
          <p:nvSpPr>
            <p:cNvPr id="54" name="TextBox 54"/>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5" name="TextBox 55"/>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13</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1616309" cy="747713"/>
            <a:chOff x="521970" y="252412"/>
            <a:chExt cx="11616309" cy="747713"/>
          </a:xfrm>
        </p:grpSpPr>
        <p:sp>
          <p:nvSpPr>
            <p:cNvPr id="3" name="TextBox 3"/>
            <p:cNvSpPr txBox="1"/>
            <p:nvPr/>
          </p:nvSpPr>
          <p:spPr>
            <a:xfrm>
              <a:off x="521970" y="252412"/>
              <a:ext cx="11616309"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OEU是三区域中对华为最不友好的法律环境——</a:t>
              </a:r>
              <a:r>
                <a:rPr lang="zh-CN" sz="2250" b="1" dirty="0">
                  <a:solidFill>
                    <a:srgbClr val="FF7900"/>
                  </a:solidFill>
                  <a:latin typeface="Arial"/>
                  <a:ea typeface="Microsoft YaHei"/>
                  <a:cs typeface="Arial"/>
                </a:rPr>
                <a:t>国家安全立法+对美协议强制退出</a:t>
              </a:r>
            </a:p>
          </p:txBody>
        </p:sp>
        <p:sp>
          <p:nvSpPr>
            <p:cNvPr id="4" name="TextBox 4"/>
            <p:cNvSpPr txBox="1"/>
            <p:nvPr/>
          </p:nvSpPr>
          <p:spPr>
            <a:xfrm>
              <a:off x="527304" y="708660"/>
              <a:ext cx="6974738"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波兰与罗马尼亚均已完成对华为的法律层面排除，罗马尼亚更在进行"拆除并更换"的存量替换工程</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47" name="Group 47"/>
          <p:cNvGrpSpPr/>
          <p:nvPr/>
        </p:nvGrpSpPr>
        <p:grpSpPr>
          <a:xfrm>
            <a:off x="533400" y="1315402"/>
            <a:ext cx="11125200" cy="3653409"/>
            <a:chOff x="533400" y="1315402"/>
            <a:chExt cx="11125200" cy="3653409"/>
          </a:xfrm>
        </p:grpSpPr>
        <p:sp>
          <p:nvSpPr>
            <p:cNvPr id="7" name="Line 7"/>
            <p:cNvSpPr/>
            <p:nvPr/>
          </p:nvSpPr>
          <p:spPr>
            <a:xfrm>
              <a:off x="533400" y="1552575"/>
              <a:ext cx="11125200" cy="9525"/>
            </a:xfrm>
            <a:custGeom>
              <a:avLst/>
              <a:gdLst/>
              <a:ahLst/>
              <a:cxnLst/>
              <a:rect l="l" t="t" r="r" b="b"/>
              <a:pathLst>
                <a:path w="11125200" h="9525">
                  <a:moveTo>
                    <a:pt x="0" y="0"/>
                  </a:moveTo>
                  <a:lnTo>
                    <a:pt x="11125200" y="0"/>
                  </a:lnTo>
                </a:path>
              </a:pathLst>
            </a:custGeom>
            <a:noFill/>
            <a:ln w="19050">
              <a:solidFill>
                <a:srgbClr val="CBD5E1"/>
              </a:solidFill>
            </a:ln>
          </p:spPr>
        </p:sp>
        <p:sp>
          <p:nvSpPr>
            <p:cNvPr id="8" name="TextBox 8"/>
            <p:cNvSpPr txBox="1"/>
            <p:nvPr/>
          </p:nvSpPr>
          <p:spPr>
            <a:xfrm>
              <a:off x="718566" y="1315402"/>
              <a:ext cx="1006472"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OFFERING维度</a:t>
              </a:r>
            </a:p>
          </p:txBody>
        </p:sp>
        <p:sp>
          <p:nvSpPr>
            <p:cNvPr id="9" name="TextBox 9"/>
            <p:cNvSpPr txBox="1"/>
            <p:nvPr/>
          </p:nvSpPr>
          <p:spPr>
            <a:xfrm>
              <a:off x="3042666" y="1315402"/>
              <a:ext cx="873176"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主要VENDOR</a:t>
              </a:r>
            </a:p>
          </p:txBody>
        </p:sp>
        <p:sp>
          <p:nvSpPr>
            <p:cNvPr id="10" name="TextBox 10"/>
            <p:cNvSpPr txBox="1"/>
            <p:nvPr/>
          </p:nvSpPr>
          <p:spPr>
            <a:xfrm>
              <a:off x="7043166" y="1315402"/>
              <a:ext cx="604342"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华为现状</a:t>
              </a:r>
            </a:p>
          </p:txBody>
        </p:sp>
        <p:sp>
          <p:nvSpPr>
            <p:cNvPr id="11" name="TextBox 11"/>
            <p:cNvSpPr txBox="1"/>
            <p:nvPr/>
          </p:nvSpPr>
          <p:spPr>
            <a:xfrm>
              <a:off x="9995916" y="1315402"/>
              <a:ext cx="901179"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参与度（估）</a:t>
              </a:r>
            </a:p>
          </p:txBody>
        </p:sp>
        <p:sp>
          <p:nvSpPr>
            <p:cNvPr id="12" name="Rectangle 12"/>
            <p:cNvSpPr/>
            <p:nvPr/>
          </p:nvSpPr>
          <p:spPr>
            <a:xfrm>
              <a:off x="533400" y="1647825"/>
              <a:ext cx="11125200" cy="552450"/>
            </a:xfrm>
            <a:prstGeom prst="rect">
              <a:avLst/>
            </a:prstGeom>
            <a:solidFill>
              <a:srgbClr val="FBF6F1"/>
            </a:solidFill>
            <a:ln>
              <a:noFill/>
            </a:ln>
          </p:spPr>
        </p:sp>
        <p:sp>
          <p:nvSpPr>
            <p:cNvPr id="13" name="TextBox 13"/>
            <p:cNvSpPr txBox="1"/>
            <p:nvPr/>
          </p:nvSpPr>
          <p:spPr>
            <a:xfrm>
              <a:off x="717423" y="1767364"/>
              <a:ext cx="1165018"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WAN连接/RAN</a:t>
              </a:r>
            </a:p>
          </p:txBody>
        </p:sp>
        <p:sp>
          <p:nvSpPr>
            <p:cNvPr id="14" name="TextBox 14"/>
            <p:cNvSpPr txBox="1"/>
            <p:nvPr/>
          </p:nvSpPr>
          <p:spPr>
            <a:xfrm>
              <a:off x="3041904" y="1775460"/>
              <a:ext cx="2224713" cy="234696"/>
            </a:xfrm>
            <a:prstGeom prst="rect">
              <a:avLst/>
            </a:prstGeom>
            <a:noFill/>
            <a:ln>
              <a:noFill/>
            </a:ln>
          </p:spPr>
          <p:txBody>
            <a:bodyPr wrap="none" lIns="0" tIns="0" rIns="0" bIns="0" anchor="t" anchorCtr="0">
              <a:spAutoFit/>
            </a:bodyPr>
            <a:lstStyle/>
            <a:p>
              <a:pPr algn="l"/>
              <a:r>
                <a:rPr lang="en-US" sz="1200" dirty="0">
                  <a:solidFill>
                    <a:srgbClr val="1A1A1A"/>
                  </a:solidFill>
                  <a:latin typeface="Arial"/>
                  <a:ea typeface="Arial"/>
                  <a:cs typeface="Arial"/>
                </a:rPr>
                <a:t>OneAccess / Cisco / Juniper</a:t>
              </a:r>
            </a:p>
          </p:txBody>
        </p:sp>
        <p:sp>
          <p:nvSpPr>
            <p:cNvPr id="15" name="TextBox 15"/>
            <p:cNvSpPr txBox="1"/>
            <p:nvPr/>
          </p:nvSpPr>
          <p:spPr>
            <a:xfrm>
              <a:off x="3042285" y="1974056"/>
              <a:ext cx="2275804"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 Ericsson（罗马尼亚RAN替换）</a:t>
              </a:r>
            </a:p>
          </p:txBody>
        </p:sp>
        <p:sp>
          <p:nvSpPr>
            <p:cNvPr id="16" name="TextBox 16"/>
            <p:cNvSpPr txBox="1"/>
            <p:nvPr/>
          </p:nvSpPr>
          <p:spPr>
            <a:xfrm>
              <a:off x="7042404" y="1842135"/>
              <a:ext cx="1369162"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完全排除（法律）</a:t>
              </a:r>
            </a:p>
          </p:txBody>
        </p:sp>
        <p:sp>
          <p:nvSpPr>
            <p:cNvPr id="17" name="Rectangle 17"/>
            <p:cNvSpPr/>
            <p:nvPr/>
          </p:nvSpPr>
          <p:spPr>
            <a:xfrm>
              <a:off x="9525000" y="1828800"/>
              <a:ext cx="1714500" cy="114300"/>
            </a:xfrm>
            <a:prstGeom prst="roundRect">
              <a:avLst>
                <a:gd name="adj" fmla="val 50000"/>
              </a:avLst>
            </a:prstGeom>
            <a:solidFill>
              <a:srgbClr val="E8E2DA"/>
            </a:solidFill>
            <a:ln>
              <a:noFill/>
            </a:ln>
          </p:spPr>
        </p:sp>
        <p:sp>
          <p:nvSpPr>
            <p:cNvPr id="18" name="TextBox 18"/>
            <p:cNvSpPr txBox="1"/>
            <p:nvPr/>
          </p:nvSpPr>
          <p:spPr>
            <a:xfrm>
              <a:off x="10285038" y="200120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19" name="TextBox 19"/>
            <p:cNvSpPr txBox="1"/>
            <p:nvPr/>
          </p:nvSpPr>
          <p:spPr>
            <a:xfrm>
              <a:off x="717423" y="2386489"/>
              <a:ext cx="708001"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LAN管理</a:t>
              </a:r>
            </a:p>
          </p:txBody>
        </p:sp>
        <p:sp>
          <p:nvSpPr>
            <p:cNvPr id="20" name="TextBox 20"/>
            <p:cNvSpPr txBox="1"/>
            <p:nvPr/>
          </p:nvSpPr>
          <p:spPr>
            <a:xfrm>
              <a:off x="3041904" y="2394585"/>
              <a:ext cx="819912" cy="234696"/>
            </a:xfrm>
            <a:prstGeom prst="rect">
              <a:avLst/>
            </a:prstGeom>
            <a:noFill/>
            <a:ln>
              <a:noFill/>
            </a:ln>
          </p:spPr>
          <p:txBody>
            <a:bodyPr wrap="none" lIns="0" tIns="0" rIns="0" bIns="0" anchor="t" anchorCtr="0">
              <a:spAutoFit/>
            </a:bodyPr>
            <a:lstStyle/>
            <a:p>
              <a:pPr algn="l"/>
              <a:r>
                <a:rPr lang="zh-CN" sz="1200" dirty="0">
                  <a:solidFill>
                    <a:srgbClr val="9B9B9B"/>
                  </a:solidFill>
                  <a:latin typeface="Arial"/>
                  <a:ea typeface="Microsoft YaHei"/>
                  <a:cs typeface="Arial"/>
                </a:rPr>
                <a:t>数据待补充</a:t>
              </a:r>
            </a:p>
          </p:txBody>
        </p:sp>
        <p:sp>
          <p:nvSpPr>
            <p:cNvPr id="21" name="TextBox 21"/>
            <p:cNvSpPr txBox="1"/>
            <p:nvPr/>
          </p:nvSpPr>
          <p:spPr>
            <a:xfrm>
              <a:off x="7042404" y="2394585"/>
              <a:ext cx="690677"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法律排除</a:t>
              </a:r>
            </a:p>
          </p:txBody>
        </p:sp>
        <p:sp>
          <p:nvSpPr>
            <p:cNvPr id="22" name="Rectangle 22"/>
            <p:cNvSpPr/>
            <p:nvPr/>
          </p:nvSpPr>
          <p:spPr>
            <a:xfrm>
              <a:off x="9525000" y="2381250"/>
              <a:ext cx="1714500" cy="114300"/>
            </a:xfrm>
            <a:prstGeom prst="roundRect">
              <a:avLst>
                <a:gd name="adj" fmla="val 50000"/>
              </a:avLst>
            </a:prstGeom>
            <a:solidFill>
              <a:srgbClr val="E8E2DA"/>
            </a:solidFill>
            <a:ln>
              <a:noFill/>
            </a:ln>
          </p:spPr>
        </p:sp>
        <p:sp>
          <p:nvSpPr>
            <p:cNvPr id="23" name="TextBox 23"/>
            <p:cNvSpPr txBox="1"/>
            <p:nvPr/>
          </p:nvSpPr>
          <p:spPr>
            <a:xfrm>
              <a:off x="10285038" y="255365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24" name="Rectangle 24"/>
            <p:cNvSpPr/>
            <p:nvPr/>
          </p:nvSpPr>
          <p:spPr>
            <a:xfrm>
              <a:off x="533400" y="2752725"/>
              <a:ext cx="11125200" cy="552450"/>
            </a:xfrm>
            <a:prstGeom prst="rect">
              <a:avLst/>
            </a:prstGeom>
            <a:solidFill>
              <a:srgbClr val="FBF6F1"/>
            </a:solidFill>
            <a:ln>
              <a:noFill/>
            </a:ln>
          </p:spPr>
        </p:sp>
        <p:sp>
          <p:nvSpPr>
            <p:cNvPr id="25" name="TextBox 25"/>
            <p:cNvSpPr txBox="1"/>
            <p:nvPr/>
          </p:nvSpPr>
          <p:spPr>
            <a:xfrm>
              <a:off x="717423" y="2938939"/>
              <a:ext cx="553622"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云服务</a:t>
              </a:r>
            </a:p>
          </p:txBody>
        </p:sp>
        <p:sp>
          <p:nvSpPr>
            <p:cNvPr id="26" name="TextBox 26"/>
            <p:cNvSpPr txBox="1"/>
            <p:nvPr/>
          </p:nvSpPr>
          <p:spPr>
            <a:xfrm>
              <a:off x="3041904" y="2947035"/>
              <a:ext cx="2043505"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波兰BlueSoft / Craftware</a:t>
              </a:r>
            </a:p>
          </p:txBody>
        </p:sp>
        <p:sp>
          <p:nvSpPr>
            <p:cNvPr id="27" name="TextBox 27"/>
            <p:cNvSpPr txBox="1"/>
            <p:nvPr/>
          </p:nvSpPr>
          <p:spPr>
            <a:xfrm>
              <a:off x="7042404" y="2947035"/>
              <a:ext cx="690677"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未见参与</a:t>
              </a:r>
            </a:p>
          </p:txBody>
        </p:sp>
        <p:sp>
          <p:nvSpPr>
            <p:cNvPr id="28" name="Rectangle 28"/>
            <p:cNvSpPr/>
            <p:nvPr/>
          </p:nvSpPr>
          <p:spPr>
            <a:xfrm>
              <a:off x="9525000" y="2933700"/>
              <a:ext cx="1714500" cy="114300"/>
            </a:xfrm>
            <a:prstGeom prst="roundRect">
              <a:avLst>
                <a:gd name="adj" fmla="val 50000"/>
              </a:avLst>
            </a:prstGeom>
            <a:solidFill>
              <a:srgbClr val="E8E2DA"/>
            </a:solidFill>
            <a:ln>
              <a:noFill/>
            </a:ln>
          </p:spPr>
        </p:sp>
        <p:sp>
          <p:nvSpPr>
            <p:cNvPr id="29" name="TextBox 29"/>
            <p:cNvSpPr txBox="1"/>
            <p:nvPr/>
          </p:nvSpPr>
          <p:spPr>
            <a:xfrm>
              <a:off x="10285038" y="310610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30" name="TextBox 30"/>
            <p:cNvSpPr txBox="1"/>
            <p:nvPr/>
          </p:nvSpPr>
          <p:spPr>
            <a:xfrm>
              <a:off x="717423" y="3491389"/>
              <a:ext cx="733844"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安全托管</a:t>
              </a:r>
            </a:p>
          </p:txBody>
        </p:sp>
        <p:sp>
          <p:nvSpPr>
            <p:cNvPr id="31" name="TextBox 31"/>
            <p:cNvSpPr txBox="1"/>
            <p:nvPr/>
          </p:nvSpPr>
          <p:spPr>
            <a:xfrm>
              <a:off x="3041904" y="3499485"/>
              <a:ext cx="2265274"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罗马尼亚SCUT / OCD区域节点</a:t>
              </a:r>
            </a:p>
          </p:txBody>
        </p:sp>
        <p:sp>
          <p:nvSpPr>
            <p:cNvPr id="32" name="TextBox 32"/>
            <p:cNvSpPr txBox="1"/>
            <p:nvPr/>
          </p:nvSpPr>
          <p:spPr>
            <a:xfrm>
              <a:off x="7042404" y="3499485"/>
              <a:ext cx="690677"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未见参与</a:t>
              </a:r>
            </a:p>
          </p:txBody>
        </p:sp>
        <p:sp>
          <p:nvSpPr>
            <p:cNvPr id="33" name="Rectangle 33"/>
            <p:cNvSpPr/>
            <p:nvPr/>
          </p:nvSpPr>
          <p:spPr>
            <a:xfrm>
              <a:off x="9525000" y="3486150"/>
              <a:ext cx="1714500" cy="114300"/>
            </a:xfrm>
            <a:prstGeom prst="roundRect">
              <a:avLst>
                <a:gd name="adj" fmla="val 50000"/>
              </a:avLst>
            </a:prstGeom>
            <a:solidFill>
              <a:srgbClr val="E8E2DA"/>
            </a:solidFill>
            <a:ln>
              <a:noFill/>
            </a:ln>
          </p:spPr>
        </p:sp>
        <p:sp>
          <p:nvSpPr>
            <p:cNvPr id="34" name="TextBox 34"/>
            <p:cNvSpPr txBox="1"/>
            <p:nvPr/>
          </p:nvSpPr>
          <p:spPr>
            <a:xfrm>
              <a:off x="10285038" y="365855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35" name="Rectangle 35"/>
            <p:cNvSpPr/>
            <p:nvPr/>
          </p:nvSpPr>
          <p:spPr>
            <a:xfrm>
              <a:off x="533400" y="3857625"/>
              <a:ext cx="11125200" cy="552450"/>
            </a:xfrm>
            <a:prstGeom prst="rect">
              <a:avLst/>
            </a:prstGeom>
            <a:solidFill>
              <a:srgbClr val="FBF6F1"/>
            </a:solidFill>
            <a:ln>
              <a:noFill/>
            </a:ln>
          </p:spPr>
        </p:sp>
        <p:sp>
          <p:nvSpPr>
            <p:cNvPr id="36" name="TextBox 36"/>
            <p:cNvSpPr txBox="1"/>
            <p:nvPr/>
          </p:nvSpPr>
          <p:spPr>
            <a:xfrm>
              <a:off x="717423" y="3977164"/>
              <a:ext cx="832966"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集成/转售</a:t>
              </a:r>
            </a:p>
          </p:txBody>
        </p:sp>
        <p:sp>
          <p:nvSpPr>
            <p:cNvPr id="37" name="TextBox 37"/>
            <p:cNvSpPr txBox="1"/>
            <p:nvPr/>
          </p:nvSpPr>
          <p:spPr>
            <a:xfrm>
              <a:off x="3041904" y="3985260"/>
              <a:ext cx="1688846"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OneAccess(法国自研)</a:t>
              </a:r>
            </a:p>
          </p:txBody>
        </p:sp>
        <p:sp>
          <p:nvSpPr>
            <p:cNvPr id="38" name="TextBox 38"/>
            <p:cNvSpPr txBox="1"/>
            <p:nvPr/>
          </p:nvSpPr>
          <p:spPr>
            <a:xfrm>
              <a:off x="3042285" y="4183856"/>
              <a:ext cx="1503188" cy="220028"/>
            </a:xfrm>
            <a:prstGeom prst="rect">
              <a:avLst/>
            </a:prstGeom>
            <a:noFill/>
            <a:ln>
              <a:noFill/>
            </a:ln>
          </p:spPr>
          <p:txBody>
            <a:bodyPr wrap="none" lIns="0" tIns="0" rIns="0" bIns="0" anchor="t" anchorCtr="0">
              <a:spAutoFit/>
            </a:bodyPr>
            <a:lstStyle/>
            <a:p>
              <a:pPr algn="l"/>
              <a:r>
                <a:rPr lang="zh-CN" sz="1120" dirty="0">
                  <a:solidFill>
                    <a:srgbClr val="6B6B6B"/>
                  </a:solidFill>
                  <a:latin typeface="Arial"/>
                  <a:ea typeface="Microsoft YaHei"/>
                  <a:cs typeface="Arial"/>
                </a:rPr>
                <a:t>/ 西班牙大型项目案例</a:t>
              </a:r>
            </a:p>
          </p:txBody>
        </p:sp>
        <p:sp>
          <p:nvSpPr>
            <p:cNvPr id="39" name="TextBox 39"/>
            <p:cNvSpPr txBox="1"/>
            <p:nvPr/>
          </p:nvSpPr>
          <p:spPr>
            <a:xfrm>
              <a:off x="7042404" y="4051935"/>
              <a:ext cx="1029919" cy="234696"/>
            </a:xfrm>
            <a:prstGeom prst="rect">
              <a:avLst/>
            </a:prstGeom>
            <a:noFill/>
            <a:ln>
              <a:noFill/>
            </a:ln>
          </p:spPr>
          <p:txBody>
            <a:bodyPr wrap="none" lIns="0" tIns="0" rIns="0" bIns="0" anchor="t" anchorCtr="0">
              <a:spAutoFit/>
            </a:bodyPr>
            <a:lstStyle/>
            <a:p>
              <a:pPr algn="l"/>
              <a:r>
                <a:rPr lang="zh-CN" sz="1200" b="1" dirty="0">
                  <a:solidFill>
                    <a:srgbClr val="C0392B"/>
                  </a:solidFill>
                  <a:latin typeface="Arial"/>
                  <a:ea typeface="Microsoft YaHei"/>
                  <a:cs typeface="Arial"/>
                </a:rPr>
                <a:t>生态未见身影</a:t>
              </a:r>
            </a:p>
          </p:txBody>
        </p:sp>
        <p:sp>
          <p:nvSpPr>
            <p:cNvPr id="40" name="Rectangle 40"/>
            <p:cNvSpPr/>
            <p:nvPr/>
          </p:nvSpPr>
          <p:spPr>
            <a:xfrm>
              <a:off x="9525000" y="4038600"/>
              <a:ext cx="1714500" cy="114300"/>
            </a:xfrm>
            <a:prstGeom prst="roundRect">
              <a:avLst>
                <a:gd name="adj" fmla="val 50000"/>
              </a:avLst>
            </a:prstGeom>
            <a:solidFill>
              <a:srgbClr val="E8E2DA"/>
            </a:solidFill>
            <a:ln>
              <a:noFill/>
            </a:ln>
          </p:spPr>
        </p:sp>
        <p:sp>
          <p:nvSpPr>
            <p:cNvPr id="41" name="TextBox 41"/>
            <p:cNvSpPr txBox="1"/>
            <p:nvPr/>
          </p:nvSpPr>
          <p:spPr>
            <a:xfrm>
              <a:off x="10285038" y="4211002"/>
              <a:ext cx="194424"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0%</a:t>
              </a:r>
            </a:p>
          </p:txBody>
        </p:sp>
        <p:sp>
          <p:nvSpPr>
            <p:cNvPr id="42" name="TextBox 42"/>
            <p:cNvSpPr txBox="1"/>
            <p:nvPr/>
          </p:nvSpPr>
          <p:spPr>
            <a:xfrm>
              <a:off x="717423" y="4596289"/>
              <a:ext cx="1126933"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移动专网MPN</a:t>
              </a:r>
            </a:p>
          </p:txBody>
        </p:sp>
        <p:sp>
          <p:nvSpPr>
            <p:cNvPr id="43" name="TextBox 43"/>
            <p:cNvSpPr txBox="1"/>
            <p:nvPr/>
          </p:nvSpPr>
          <p:spPr>
            <a:xfrm>
              <a:off x="3041904" y="4604385"/>
              <a:ext cx="2032356"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西班牙MasOrange新签合同</a:t>
              </a:r>
            </a:p>
          </p:txBody>
        </p:sp>
        <p:sp>
          <p:nvSpPr>
            <p:cNvPr id="44" name="TextBox 44"/>
            <p:cNvSpPr txBox="1"/>
            <p:nvPr/>
          </p:nvSpPr>
          <p:spPr>
            <a:xfrm>
              <a:off x="7042404" y="4604385"/>
              <a:ext cx="860298" cy="234696"/>
            </a:xfrm>
            <a:prstGeom prst="rect">
              <a:avLst/>
            </a:prstGeom>
            <a:noFill/>
            <a:ln>
              <a:noFill/>
            </a:ln>
          </p:spPr>
          <p:txBody>
            <a:bodyPr wrap="none" lIns="0" tIns="0" rIns="0" bIns="0" anchor="t" anchorCtr="0">
              <a:spAutoFit/>
            </a:bodyPr>
            <a:lstStyle/>
            <a:p>
              <a:pPr algn="l"/>
              <a:r>
                <a:rPr lang="zh-CN" sz="1200" b="1" dirty="0">
                  <a:solidFill>
                    <a:srgbClr val="9B9B9B"/>
                  </a:solidFill>
                  <a:latin typeface="Arial"/>
                  <a:ea typeface="Microsoft YaHei"/>
                  <a:cs typeface="Arial"/>
                </a:rPr>
                <a:t>数据待补充</a:t>
              </a:r>
            </a:p>
          </p:txBody>
        </p:sp>
        <p:sp>
          <p:nvSpPr>
            <p:cNvPr id="45" name="Rectangle 45"/>
            <p:cNvSpPr/>
            <p:nvPr/>
          </p:nvSpPr>
          <p:spPr>
            <a:xfrm>
              <a:off x="9525000" y="4591050"/>
              <a:ext cx="1714500" cy="114300"/>
            </a:xfrm>
            <a:prstGeom prst="roundRect">
              <a:avLst>
                <a:gd name="adj" fmla="val 50000"/>
              </a:avLst>
            </a:prstGeom>
            <a:solidFill>
              <a:srgbClr val="E8E2DA"/>
            </a:solidFill>
            <a:ln>
              <a:noFill/>
            </a:ln>
          </p:spPr>
        </p:sp>
        <p:sp>
          <p:nvSpPr>
            <p:cNvPr id="46" name="TextBox 46"/>
            <p:cNvSpPr txBox="1"/>
            <p:nvPr/>
          </p:nvSpPr>
          <p:spPr>
            <a:xfrm>
              <a:off x="10338044" y="4763452"/>
              <a:ext cx="88411"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a:t>
              </a:r>
            </a:p>
          </p:txBody>
        </p:sp>
      </p:grpSp>
      <p:grpSp>
        <p:nvGrpSpPr>
          <p:cNvPr id="53" name="Group 53"/>
          <p:cNvGrpSpPr/>
          <p:nvPr/>
        </p:nvGrpSpPr>
        <p:grpSpPr>
          <a:xfrm>
            <a:off x="533400" y="5143500"/>
            <a:ext cx="11125200" cy="762000"/>
            <a:chOff x="533400" y="5143500"/>
            <a:chExt cx="11125200" cy="762000"/>
          </a:xfrm>
        </p:grpSpPr>
        <p:sp>
          <p:nvSpPr>
            <p:cNvPr id="48" name="Line 48"/>
            <p:cNvSpPr/>
            <p:nvPr/>
          </p:nvSpPr>
          <p:spPr>
            <a:xfrm>
              <a:off x="533400" y="5143500"/>
              <a:ext cx="11125200" cy="9525"/>
            </a:xfrm>
            <a:custGeom>
              <a:avLst/>
              <a:gdLst/>
              <a:ahLst/>
              <a:cxnLst/>
              <a:rect l="l" t="t" r="r" b="b"/>
              <a:pathLst>
                <a:path w="11125200" h="9525">
                  <a:moveTo>
                    <a:pt x="0" y="0"/>
                  </a:moveTo>
                  <a:lnTo>
                    <a:pt x="11125200" y="0"/>
                  </a:lnTo>
                </a:path>
              </a:pathLst>
            </a:custGeom>
            <a:noFill/>
            <a:ln w="28575">
              <a:solidFill>
                <a:srgbClr val="1A1A1A"/>
              </a:solidFill>
            </a:ln>
          </p:spPr>
        </p:sp>
        <p:sp>
          <p:nvSpPr>
            <p:cNvPr id="49" name="Rectangle 49"/>
            <p:cNvSpPr/>
            <p:nvPr/>
          </p:nvSpPr>
          <p:spPr>
            <a:xfrm>
              <a:off x="533400" y="5314950"/>
              <a:ext cx="11125200" cy="590550"/>
            </a:xfrm>
            <a:prstGeom prst="roundRect">
              <a:avLst>
                <a:gd name="adj" fmla="val 6452"/>
              </a:avLst>
            </a:prstGeom>
            <a:solidFill>
              <a:srgbClr val="1A1A1A"/>
            </a:solidFill>
            <a:ln>
              <a:noFill/>
            </a:ln>
          </p:spPr>
        </p:sp>
        <p:sp>
          <p:nvSpPr>
            <p:cNvPr id="50" name="Rectangle 50"/>
            <p:cNvSpPr/>
            <p:nvPr/>
          </p:nvSpPr>
          <p:spPr>
            <a:xfrm>
              <a:off x="533400" y="5314950"/>
              <a:ext cx="57150" cy="590550"/>
            </a:xfrm>
            <a:prstGeom prst="rect">
              <a:avLst/>
            </a:prstGeom>
            <a:solidFill>
              <a:srgbClr val="FF7900"/>
            </a:solidFill>
            <a:ln>
              <a:noFill/>
            </a:ln>
          </p:spPr>
        </p:sp>
        <p:sp>
          <p:nvSpPr>
            <p:cNvPr id="51" name="TextBox 51"/>
            <p:cNvSpPr txBox="1"/>
            <p:nvPr/>
          </p:nvSpPr>
          <p:spPr>
            <a:xfrm>
              <a:off x="755904" y="5394960"/>
              <a:ext cx="2989044"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Arial"/>
                  <a:ea typeface="Microsoft YaHei"/>
                  <a:cs typeface="Arial"/>
                </a:rPr>
                <a:t>定性：国家安全立法+对美协议强制退出</a:t>
              </a:r>
            </a:p>
          </p:txBody>
        </p:sp>
        <p:sp>
          <p:nvSpPr>
            <p:cNvPr id="52" name="TextBox 52"/>
            <p:cNvSpPr txBox="1"/>
            <p:nvPr/>
          </p:nvSpPr>
          <p:spPr>
            <a:xfrm>
              <a:off x="756285" y="5612606"/>
              <a:ext cx="6444567" cy="220028"/>
            </a:xfrm>
            <a:prstGeom prst="rect">
              <a:avLst/>
            </a:prstGeom>
            <a:noFill/>
            <a:ln>
              <a:noFill/>
            </a:ln>
          </p:spPr>
          <p:txBody>
            <a:bodyPr wrap="none" lIns="0" tIns="0" rIns="0" bIns="0" anchor="t" anchorCtr="0">
              <a:spAutoFit/>
            </a:bodyPr>
            <a:lstStyle/>
            <a:p>
              <a:pPr algn="l"/>
              <a:r>
                <a:rPr lang="zh-CN" sz="1120" dirty="0">
                  <a:solidFill>
                    <a:srgbClr val="B0B0B0"/>
                  </a:solidFill>
                  <a:latin typeface="Arial"/>
                  <a:ea typeface="Microsoft YaHei"/>
                  <a:cs typeface="Arial"/>
                </a:rPr>
                <a:t>波兰2024.11高风险供应商认定 · 罗马尼亚2021.6 5G安全法禁令，正"拆除并更换"至Ericsson</a:t>
              </a:r>
            </a:p>
          </p:txBody>
        </p:sp>
      </p:grpSp>
      <p:grpSp>
        <p:nvGrpSpPr>
          <p:cNvPr id="56" name="Group 56"/>
          <p:cNvGrpSpPr/>
          <p:nvPr/>
        </p:nvGrpSpPr>
        <p:grpSpPr>
          <a:xfrm>
            <a:off x="528447" y="6562249"/>
            <a:ext cx="11135106" cy="190690"/>
            <a:chOff x="528447" y="6562249"/>
            <a:chExt cx="11135106" cy="190690"/>
          </a:xfrm>
        </p:grpSpPr>
        <p:sp>
          <p:nvSpPr>
            <p:cNvPr id="54" name="TextBox 54"/>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5" name="TextBox 55"/>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14</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1970" y="252412"/>
            <a:ext cx="11409283" cy="747713"/>
            <a:chOff x="521970" y="252412"/>
            <a:chExt cx="11409283" cy="747713"/>
          </a:xfrm>
        </p:grpSpPr>
        <p:sp>
          <p:nvSpPr>
            <p:cNvPr id="3" name="TextBox 3"/>
            <p:cNvSpPr txBox="1"/>
            <p:nvPr/>
          </p:nvSpPr>
          <p:spPr>
            <a:xfrm>
              <a:off x="521970" y="252412"/>
              <a:ext cx="11409283" cy="440055"/>
            </a:xfrm>
            <a:prstGeom prst="rect">
              <a:avLst/>
            </a:prstGeom>
            <a:noFill/>
            <a:ln>
              <a:noFill/>
            </a:ln>
          </p:spPr>
          <p:txBody>
            <a:bodyPr wrap="none" lIns="0" tIns="0" rIns="0" bIns="0" anchor="t" anchorCtr="0">
              <a:spAutoFit/>
            </a:bodyPr>
            <a:lstStyle/>
            <a:p>
              <a:pPr algn="l"/>
              <a:r>
                <a:rPr lang="zh-CN" sz="2250" b="1" dirty="0">
                  <a:solidFill>
                    <a:srgbClr val="1A1A1A"/>
                  </a:solidFill>
                  <a:latin typeface="Arial"/>
                  <a:ea typeface="Microsoft YaHei"/>
                  <a:cs typeface="Arial"/>
                </a:rPr>
                <a:t>OMEA是华为在Orange集团B2B中的</a:t>
              </a:r>
              <a:r>
                <a:rPr lang="zh-CN" sz="2250" b="1" dirty="0">
                  <a:solidFill>
                    <a:srgbClr val="FF7900"/>
                  </a:solidFill>
                  <a:latin typeface="Arial"/>
                  <a:ea typeface="Microsoft YaHei"/>
                  <a:cs typeface="Arial"/>
                </a:rPr>
                <a:t>核心阵地</a:t>
              </a:r>
              <a:r>
                <a:rPr lang="zh-CN" sz="2250" b="1" dirty="0">
                  <a:solidFill>
                    <a:srgbClr val="1A1A1A"/>
                  </a:solidFill>
                  <a:latin typeface="Arial"/>
                  <a:ea typeface="Microsoft YaHei"/>
                  <a:cs typeface="Arial"/>
                </a:rPr>
                <a:t>——从RAN到云运维的全栈深度绑定</a:t>
              </a:r>
            </a:p>
          </p:txBody>
        </p:sp>
        <p:sp>
          <p:nvSpPr>
            <p:cNvPr id="4" name="TextBox 4"/>
            <p:cNvSpPr txBox="1"/>
            <p:nvPr/>
          </p:nvSpPr>
          <p:spPr>
            <a:xfrm>
              <a:off x="527304" y="708660"/>
              <a:ext cx="8150066" cy="234696"/>
            </a:xfrm>
            <a:prstGeom prst="rect">
              <a:avLst/>
            </a:prstGeom>
            <a:noFill/>
            <a:ln>
              <a:noFill/>
            </a:ln>
          </p:spPr>
          <p:txBody>
            <a:bodyPr wrap="none" lIns="0" tIns="0" rIns="0" bIns="0" anchor="t" anchorCtr="0">
              <a:spAutoFit/>
            </a:bodyPr>
            <a:lstStyle/>
            <a:p>
              <a:pPr algn="l"/>
              <a:r>
                <a:rPr lang="zh-CN" sz="1200" dirty="0">
                  <a:solidFill>
                    <a:srgbClr val="6B6B6B"/>
                  </a:solidFill>
                  <a:latin typeface="Arial"/>
                  <a:ea typeface="Microsoft YaHei"/>
                  <a:cs typeface="Arial"/>
                </a:rPr>
                <a:t>华为占非洲4G骨干网份额约70%，Huawei AUTIN直接部署在Orange自有Flexible Engine云上，三区域中独一无二</a:t>
              </a:r>
            </a:p>
          </p:txBody>
        </p:sp>
        <p:sp>
          <p:nvSpPr>
            <p:cNvPr id="5" name="Line 5"/>
            <p:cNvSpPr/>
            <p:nvPr/>
          </p:nvSpPr>
          <p:spPr>
            <a:xfrm>
              <a:off x="533400" y="9906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50" name="Group 50"/>
          <p:cNvGrpSpPr/>
          <p:nvPr/>
        </p:nvGrpSpPr>
        <p:grpSpPr>
          <a:xfrm>
            <a:off x="533400" y="1315402"/>
            <a:ext cx="11125200" cy="3653409"/>
            <a:chOff x="533400" y="1315402"/>
            <a:chExt cx="11125200" cy="3653409"/>
          </a:xfrm>
        </p:grpSpPr>
        <p:sp>
          <p:nvSpPr>
            <p:cNvPr id="7" name="Line 7"/>
            <p:cNvSpPr/>
            <p:nvPr/>
          </p:nvSpPr>
          <p:spPr>
            <a:xfrm>
              <a:off x="533400" y="1552575"/>
              <a:ext cx="11125200" cy="9525"/>
            </a:xfrm>
            <a:custGeom>
              <a:avLst/>
              <a:gdLst/>
              <a:ahLst/>
              <a:cxnLst/>
              <a:rect l="l" t="t" r="r" b="b"/>
              <a:pathLst>
                <a:path w="11125200" h="9525">
                  <a:moveTo>
                    <a:pt x="0" y="0"/>
                  </a:moveTo>
                  <a:lnTo>
                    <a:pt x="11125200" y="0"/>
                  </a:lnTo>
                </a:path>
              </a:pathLst>
            </a:custGeom>
            <a:noFill/>
            <a:ln w="19050">
              <a:solidFill>
                <a:srgbClr val="CBD5E1"/>
              </a:solidFill>
            </a:ln>
          </p:spPr>
        </p:sp>
        <p:sp>
          <p:nvSpPr>
            <p:cNvPr id="8" name="TextBox 8"/>
            <p:cNvSpPr txBox="1"/>
            <p:nvPr/>
          </p:nvSpPr>
          <p:spPr>
            <a:xfrm>
              <a:off x="718566" y="1315402"/>
              <a:ext cx="307505"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维度</a:t>
              </a:r>
            </a:p>
          </p:txBody>
        </p:sp>
        <p:sp>
          <p:nvSpPr>
            <p:cNvPr id="9" name="TextBox 9"/>
            <p:cNvSpPr txBox="1"/>
            <p:nvPr/>
          </p:nvSpPr>
          <p:spPr>
            <a:xfrm>
              <a:off x="3042666" y="1315402"/>
              <a:ext cx="604342"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华为角色</a:t>
              </a:r>
            </a:p>
          </p:txBody>
        </p:sp>
        <p:sp>
          <p:nvSpPr>
            <p:cNvPr id="10" name="TextBox 10"/>
            <p:cNvSpPr txBox="1"/>
            <p:nvPr/>
          </p:nvSpPr>
          <p:spPr>
            <a:xfrm>
              <a:off x="7043166" y="1315402"/>
              <a:ext cx="307505"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现状</a:t>
              </a:r>
            </a:p>
          </p:txBody>
        </p:sp>
        <p:sp>
          <p:nvSpPr>
            <p:cNvPr id="11" name="TextBox 11"/>
            <p:cNvSpPr txBox="1"/>
            <p:nvPr/>
          </p:nvSpPr>
          <p:spPr>
            <a:xfrm>
              <a:off x="9995916" y="1315402"/>
              <a:ext cx="901179" cy="205359"/>
            </a:xfrm>
            <a:prstGeom prst="rect">
              <a:avLst/>
            </a:prstGeom>
            <a:noFill/>
            <a:ln>
              <a:noFill/>
            </a:ln>
          </p:spPr>
          <p:txBody>
            <a:bodyPr wrap="none" lIns="0" tIns="0" rIns="0" bIns="0" anchor="t" anchorCtr="0">
              <a:spAutoFit/>
            </a:bodyPr>
            <a:lstStyle/>
            <a:p>
              <a:pPr algn="l"/>
              <a:r>
                <a:rPr lang="zh-CN" sz="1050" b="1" dirty="0">
                  <a:solidFill>
                    <a:srgbClr val="6B6B6B"/>
                  </a:solidFill>
                  <a:latin typeface="Arial"/>
                  <a:ea typeface="Microsoft YaHei"/>
                  <a:cs typeface="Arial"/>
                </a:rPr>
                <a:t>参与度（估）</a:t>
              </a:r>
            </a:p>
          </p:txBody>
        </p:sp>
        <p:sp>
          <p:nvSpPr>
            <p:cNvPr id="12" name="Rectangle 12"/>
            <p:cNvSpPr/>
            <p:nvPr/>
          </p:nvSpPr>
          <p:spPr>
            <a:xfrm>
              <a:off x="533400" y="1647825"/>
              <a:ext cx="11125200" cy="552450"/>
            </a:xfrm>
            <a:prstGeom prst="rect">
              <a:avLst/>
            </a:prstGeom>
            <a:solidFill>
              <a:srgbClr val="FFF6EC"/>
            </a:solidFill>
            <a:ln>
              <a:noFill/>
            </a:ln>
          </p:spPr>
        </p:sp>
        <p:sp>
          <p:nvSpPr>
            <p:cNvPr id="13" name="TextBox 13"/>
            <p:cNvSpPr txBox="1"/>
            <p:nvPr/>
          </p:nvSpPr>
          <p:spPr>
            <a:xfrm>
              <a:off x="717423" y="1834039"/>
              <a:ext cx="1203103"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WAN连接/MPN</a:t>
              </a:r>
            </a:p>
          </p:txBody>
        </p:sp>
        <p:sp>
          <p:nvSpPr>
            <p:cNvPr id="14" name="TextBox 14"/>
            <p:cNvSpPr txBox="1"/>
            <p:nvPr/>
          </p:nvSpPr>
          <p:spPr>
            <a:xfrm>
              <a:off x="3041904" y="1842135"/>
              <a:ext cx="1727606"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与Nokia并列主力供应商</a:t>
              </a:r>
            </a:p>
          </p:txBody>
        </p:sp>
        <p:sp>
          <p:nvSpPr>
            <p:cNvPr id="15" name="TextBox 15"/>
            <p:cNvSpPr txBox="1"/>
            <p:nvPr/>
          </p:nvSpPr>
          <p:spPr>
            <a:xfrm>
              <a:off x="7042404" y="1842135"/>
              <a:ext cx="1369162"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矿业港口实证案例</a:t>
              </a:r>
            </a:p>
          </p:txBody>
        </p:sp>
        <p:sp>
          <p:nvSpPr>
            <p:cNvPr id="16" name="Rectangle 16"/>
            <p:cNvSpPr/>
            <p:nvPr/>
          </p:nvSpPr>
          <p:spPr>
            <a:xfrm>
              <a:off x="9525000" y="1828800"/>
              <a:ext cx="1714500" cy="114300"/>
            </a:xfrm>
            <a:prstGeom prst="roundRect">
              <a:avLst>
                <a:gd name="adj" fmla="val 50000"/>
              </a:avLst>
            </a:prstGeom>
            <a:solidFill>
              <a:srgbClr val="E8E2DA"/>
            </a:solidFill>
            <a:ln>
              <a:noFill/>
            </a:ln>
          </p:spPr>
        </p:sp>
        <p:sp>
          <p:nvSpPr>
            <p:cNvPr id="17" name="Rectangle 17"/>
            <p:cNvSpPr/>
            <p:nvPr/>
          </p:nvSpPr>
          <p:spPr>
            <a:xfrm>
              <a:off x="9525000" y="1828800"/>
              <a:ext cx="771525" cy="114300"/>
            </a:xfrm>
            <a:prstGeom prst="roundRect">
              <a:avLst>
                <a:gd name="adj" fmla="val 50000"/>
              </a:avLst>
            </a:prstGeom>
            <a:solidFill>
              <a:srgbClr val="FF7900"/>
            </a:solidFill>
            <a:ln>
              <a:noFill/>
            </a:ln>
          </p:spPr>
        </p:sp>
        <p:sp>
          <p:nvSpPr>
            <p:cNvPr id="18" name="TextBox 18"/>
            <p:cNvSpPr txBox="1"/>
            <p:nvPr/>
          </p:nvSpPr>
          <p:spPr>
            <a:xfrm>
              <a:off x="10239629" y="2001202"/>
              <a:ext cx="285242"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45%</a:t>
              </a:r>
            </a:p>
          </p:txBody>
        </p:sp>
        <p:sp>
          <p:nvSpPr>
            <p:cNvPr id="19" name="TextBox 19"/>
            <p:cNvSpPr txBox="1"/>
            <p:nvPr/>
          </p:nvSpPr>
          <p:spPr>
            <a:xfrm>
              <a:off x="717423" y="2386489"/>
              <a:ext cx="553622"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云服务</a:t>
              </a:r>
            </a:p>
          </p:txBody>
        </p:sp>
        <p:sp>
          <p:nvSpPr>
            <p:cNvPr id="20" name="TextBox 20"/>
            <p:cNvSpPr txBox="1"/>
            <p:nvPr/>
          </p:nvSpPr>
          <p:spPr>
            <a:xfrm>
              <a:off x="3041904" y="2394585"/>
              <a:ext cx="2027301"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Flexible Engine（同源OB）</a:t>
              </a:r>
            </a:p>
          </p:txBody>
        </p:sp>
        <p:sp>
          <p:nvSpPr>
            <p:cNvPr id="21" name="TextBox 21"/>
            <p:cNvSpPr txBox="1"/>
            <p:nvPr/>
          </p:nvSpPr>
          <p:spPr>
            <a:xfrm>
              <a:off x="7042404" y="2394585"/>
              <a:ext cx="1607271"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AUTIN联合运维GNOC</a:t>
              </a:r>
            </a:p>
          </p:txBody>
        </p:sp>
        <p:sp>
          <p:nvSpPr>
            <p:cNvPr id="22" name="Rectangle 22"/>
            <p:cNvSpPr/>
            <p:nvPr/>
          </p:nvSpPr>
          <p:spPr>
            <a:xfrm>
              <a:off x="9525000" y="2381250"/>
              <a:ext cx="1714500" cy="114300"/>
            </a:xfrm>
            <a:prstGeom prst="roundRect">
              <a:avLst>
                <a:gd name="adj" fmla="val 50000"/>
              </a:avLst>
            </a:prstGeom>
            <a:solidFill>
              <a:srgbClr val="E8E2DA"/>
            </a:solidFill>
            <a:ln>
              <a:noFill/>
            </a:ln>
          </p:spPr>
        </p:sp>
        <p:sp>
          <p:nvSpPr>
            <p:cNvPr id="23" name="Rectangle 23"/>
            <p:cNvSpPr/>
            <p:nvPr/>
          </p:nvSpPr>
          <p:spPr>
            <a:xfrm>
              <a:off x="9525000" y="2381250"/>
              <a:ext cx="1200150" cy="114300"/>
            </a:xfrm>
            <a:prstGeom prst="roundRect">
              <a:avLst>
                <a:gd name="adj" fmla="val 50000"/>
              </a:avLst>
            </a:prstGeom>
            <a:solidFill>
              <a:srgbClr val="FF7900"/>
            </a:solidFill>
            <a:ln>
              <a:noFill/>
            </a:ln>
          </p:spPr>
        </p:sp>
        <p:sp>
          <p:nvSpPr>
            <p:cNvPr id="24" name="TextBox 24"/>
            <p:cNvSpPr txBox="1"/>
            <p:nvPr/>
          </p:nvSpPr>
          <p:spPr>
            <a:xfrm>
              <a:off x="10239629" y="2553652"/>
              <a:ext cx="285242"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70%</a:t>
              </a:r>
            </a:p>
          </p:txBody>
        </p:sp>
        <p:sp>
          <p:nvSpPr>
            <p:cNvPr id="25" name="Rectangle 25"/>
            <p:cNvSpPr/>
            <p:nvPr/>
          </p:nvSpPr>
          <p:spPr>
            <a:xfrm>
              <a:off x="533400" y="2752725"/>
              <a:ext cx="11125200" cy="552450"/>
            </a:xfrm>
            <a:prstGeom prst="rect">
              <a:avLst/>
            </a:prstGeom>
            <a:solidFill>
              <a:srgbClr val="FFF6EC"/>
            </a:solidFill>
            <a:ln>
              <a:noFill/>
            </a:ln>
          </p:spPr>
        </p:sp>
        <p:sp>
          <p:nvSpPr>
            <p:cNvPr id="26" name="TextBox 26"/>
            <p:cNvSpPr txBox="1"/>
            <p:nvPr/>
          </p:nvSpPr>
          <p:spPr>
            <a:xfrm>
              <a:off x="717423" y="2938939"/>
              <a:ext cx="793692"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4G骨干网</a:t>
              </a:r>
            </a:p>
          </p:txBody>
        </p:sp>
        <p:sp>
          <p:nvSpPr>
            <p:cNvPr id="27" name="TextBox 27"/>
            <p:cNvSpPr txBox="1"/>
            <p:nvPr/>
          </p:nvSpPr>
          <p:spPr>
            <a:xfrm>
              <a:off x="3041904" y="2947035"/>
              <a:ext cx="819912"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主导供应商</a:t>
              </a:r>
            </a:p>
          </p:txBody>
        </p:sp>
        <p:sp>
          <p:nvSpPr>
            <p:cNvPr id="28" name="TextBox 28"/>
            <p:cNvSpPr txBox="1"/>
            <p:nvPr/>
          </p:nvSpPr>
          <p:spPr>
            <a:xfrm>
              <a:off x="7042404" y="2947035"/>
              <a:ext cx="1974677"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非洲4G骨干网份额约70%</a:t>
              </a:r>
            </a:p>
          </p:txBody>
        </p:sp>
        <p:sp>
          <p:nvSpPr>
            <p:cNvPr id="29" name="Rectangle 29"/>
            <p:cNvSpPr/>
            <p:nvPr/>
          </p:nvSpPr>
          <p:spPr>
            <a:xfrm>
              <a:off x="9525000" y="2933700"/>
              <a:ext cx="1714500" cy="114300"/>
            </a:xfrm>
            <a:prstGeom prst="roundRect">
              <a:avLst>
                <a:gd name="adj" fmla="val 50000"/>
              </a:avLst>
            </a:prstGeom>
            <a:solidFill>
              <a:srgbClr val="E8E2DA"/>
            </a:solidFill>
            <a:ln>
              <a:noFill/>
            </a:ln>
          </p:spPr>
        </p:sp>
        <p:sp>
          <p:nvSpPr>
            <p:cNvPr id="30" name="Rectangle 30"/>
            <p:cNvSpPr/>
            <p:nvPr/>
          </p:nvSpPr>
          <p:spPr>
            <a:xfrm>
              <a:off x="9525000" y="2933700"/>
              <a:ext cx="1200150" cy="114300"/>
            </a:xfrm>
            <a:prstGeom prst="roundRect">
              <a:avLst>
                <a:gd name="adj" fmla="val 50000"/>
              </a:avLst>
            </a:prstGeom>
            <a:solidFill>
              <a:srgbClr val="FF7900"/>
            </a:solidFill>
            <a:ln>
              <a:noFill/>
            </a:ln>
          </p:spPr>
        </p:sp>
        <p:sp>
          <p:nvSpPr>
            <p:cNvPr id="31" name="TextBox 31"/>
            <p:cNvSpPr txBox="1"/>
            <p:nvPr/>
          </p:nvSpPr>
          <p:spPr>
            <a:xfrm>
              <a:off x="10239629" y="3106102"/>
              <a:ext cx="285242"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70%</a:t>
              </a:r>
            </a:p>
          </p:txBody>
        </p:sp>
        <p:sp>
          <p:nvSpPr>
            <p:cNvPr id="32" name="TextBox 32"/>
            <p:cNvSpPr txBox="1"/>
            <p:nvPr/>
          </p:nvSpPr>
          <p:spPr>
            <a:xfrm>
              <a:off x="717423" y="3491389"/>
              <a:ext cx="1094289"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乡村基站建设</a:t>
              </a:r>
            </a:p>
          </p:txBody>
        </p:sp>
        <p:sp>
          <p:nvSpPr>
            <p:cNvPr id="33" name="TextBox 33"/>
            <p:cNvSpPr txBox="1"/>
            <p:nvPr/>
          </p:nvSpPr>
          <p:spPr>
            <a:xfrm>
              <a:off x="3041904" y="3499485"/>
              <a:ext cx="1505712"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华为+HEHA电源系统</a:t>
              </a:r>
            </a:p>
          </p:txBody>
        </p:sp>
        <p:sp>
          <p:nvSpPr>
            <p:cNvPr id="34" name="TextBox 34"/>
            <p:cNvSpPr txBox="1"/>
            <p:nvPr/>
          </p:nvSpPr>
          <p:spPr>
            <a:xfrm>
              <a:off x="7042404" y="3499485"/>
              <a:ext cx="2412332"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联合部署2,000个(目标15,000)</a:t>
              </a:r>
            </a:p>
          </p:txBody>
        </p:sp>
        <p:sp>
          <p:nvSpPr>
            <p:cNvPr id="35" name="Rectangle 35"/>
            <p:cNvSpPr/>
            <p:nvPr/>
          </p:nvSpPr>
          <p:spPr>
            <a:xfrm>
              <a:off x="9525000" y="3486150"/>
              <a:ext cx="1714500" cy="114300"/>
            </a:xfrm>
            <a:prstGeom prst="roundRect">
              <a:avLst>
                <a:gd name="adj" fmla="val 50000"/>
              </a:avLst>
            </a:prstGeom>
            <a:solidFill>
              <a:srgbClr val="E8E2DA"/>
            </a:solidFill>
            <a:ln>
              <a:noFill/>
            </a:ln>
          </p:spPr>
        </p:sp>
        <p:sp>
          <p:nvSpPr>
            <p:cNvPr id="36" name="Rectangle 36"/>
            <p:cNvSpPr/>
            <p:nvPr/>
          </p:nvSpPr>
          <p:spPr>
            <a:xfrm>
              <a:off x="9525000" y="3486150"/>
              <a:ext cx="1028700" cy="114300"/>
            </a:xfrm>
            <a:prstGeom prst="roundRect">
              <a:avLst>
                <a:gd name="adj" fmla="val 50000"/>
              </a:avLst>
            </a:prstGeom>
            <a:solidFill>
              <a:srgbClr val="FF7900"/>
            </a:solidFill>
            <a:ln>
              <a:noFill/>
            </a:ln>
          </p:spPr>
        </p:sp>
        <p:sp>
          <p:nvSpPr>
            <p:cNvPr id="37" name="TextBox 37"/>
            <p:cNvSpPr txBox="1"/>
            <p:nvPr/>
          </p:nvSpPr>
          <p:spPr>
            <a:xfrm>
              <a:off x="10239629" y="3658552"/>
              <a:ext cx="285242"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60%</a:t>
              </a:r>
            </a:p>
          </p:txBody>
        </p:sp>
        <p:sp>
          <p:nvSpPr>
            <p:cNvPr id="38" name="Rectangle 38"/>
            <p:cNvSpPr/>
            <p:nvPr/>
          </p:nvSpPr>
          <p:spPr>
            <a:xfrm>
              <a:off x="533400" y="3857625"/>
              <a:ext cx="11125200" cy="552450"/>
            </a:xfrm>
            <a:prstGeom prst="rect">
              <a:avLst/>
            </a:prstGeom>
            <a:solidFill>
              <a:srgbClr val="FFF6EC"/>
            </a:solidFill>
            <a:ln>
              <a:noFill/>
            </a:ln>
          </p:spPr>
        </p:sp>
        <p:sp>
          <p:nvSpPr>
            <p:cNvPr id="39" name="TextBox 39"/>
            <p:cNvSpPr txBox="1"/>
            <p:nvPr/>
          </p:nvSpPr>
          <p:spPr>
            <a:xfrm>
              <a:off x="717423" y="4043839"/>
              <a:ext cx="1564908"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安全/ICT(G3计划)</a:t>
              </a:r>
            </a:p>
          </p:txBody>
        </p:sp>
        <p:sp>
          <p:nvSpPr>
            <p:cNvPr id="40" name="TextBox 40"/>
            <p:cNvSpPr txBox="1"/>
            <p:nvPr/>
          </p:nvSpPr>
          <p:spPr>
            <a:xfrm>
              <a:off x="3041904" y="4051935"/>
              <a:ext cx="819912" cy="234696"/>
            </a:xfrm>
            <a:prstGeom prst="rect">
              <a:avLst/>
            </a:prstGeom>
            <a:noFill/>
            <a:ln>
              <a:noFill/>
            </a:ln>
          </p:spPr>
          <p:txBody>
            <a:bodyPr wrap="none" lIns="0" tIns="0" rIns="0" bIns="0" anchor="t" anchorCtr="0">
              <a:spAutoFit/>
            </a:bodyPr>
            <a:lstStyle/>
            <a:p>
              <a:pPr algn="l"/>
              <a:r>
                <a:rPr lang="zh-CN" sz="1200" dirty="0">
                  <a:solidFill>
                    <a:srgbClr val="9B9B9B"/>
                  </a:solidFill>
                  <a:latin typeface="Arial"/>
                  <a:ea typeface="Microsoft YaHei"/>
                  <a:cs typeface="Arial"/>
                </a:rPr>
                <a:t>数据待补充</a:t>
              </a:r>
            </a:p>
          </p:txBody>
        </p:sp>
        <p:sp>
          <p:nvSpPr>
            <p:cNvPr id="41" name="TextBox 41"/>
            <p:cNvSpPr txBox="1"/>
            <p:nvPr/>
          </p:nvSpPr>
          <p:spPr>
            <a:xfrm>
              <a:off x="7042404" y="4051935"/>
              <a:ext cx="860298" cy="234696"/>
            </a:xfrm>
            <a:prstGeom prst="rect">
              <a:avLst/>
            </a:prstGeom>
            <a:noFill/>
            <a:ln>
              <a:noFill/>
            </a:ln>
          </p:spPr>
          <p:txBody>
            <a:bodyPr wrap="none" lIns="0" tIns="0" rIns="0" bIns="0" anchor="t" anchorCtr="0">
              <a:spAutoFit/>
            </a:bodyPr>
            <a:lstStyle/>
            <a:p>
              <a:pPr algn="l"/>
              <a:r>
                <a:rPr lang="zh-CN" sz="1200" b="1" dirty="0">
                  <a:solidFill>
                    <a:srgbClr val="9B9B9B"/>
                  </a:solidFill>
                  <a:latin typeface="Arial"/>
                  <a:ea typeface="Microsoft YaHei"/>
                  <a:cs typeface="Arial"/>
                </a:rPr>
                <a:t>数据待补充</a:t>
              </a:r>
            </a:p>
          </p:txBody>
        </p:sp>
        <p:sp>
          <p:nvSpPr>
            <p:cNvPr id="42" name="Rectangle 42"/>
            <p:cNvSpPr/>
            <p:nvPr/>
          </p:nvSpPr>
          <p:spPr>
            <a:xfrm>
              <a:off x="9525000" y="4038600"/>
              <a:ext cx="1714500" cy="114300"/>
            </a:xfrm>
            <a:prstGeom prst="roundRect">
              <a:avLst>
                <a:gd name="adj" fmla="val 50000"/>
              </a:avLst>
            </a:prstGeom>
            <a:solidFill>
              <a:srgbClr val="E8E2DA"/>
            </a:solidFill>
            <a:ln>
              <a:noFill/>
            </a:ln>
          </p:spPr>
        </p:sp>
        <p:sp>
          <p:nvSpPr>
            <p:cNvPr id="43" name="TextBox 43"/>
            <p:cNvSpPr txBox="1"/>
            <p:nvPr/>
          </p:nvSpPr>
          <p:spPr>
            <a:xfrm>
              <a:off x="10338044" y="4211002"/>
              <a:ext cx="88411" cy="205359"/>
            </a:xfrm>
            <a:prstGeom prst="rect">
              <a:avLst/>
            </a:prstGeom>
            <a:noFill/>
            <a:ln>
              <a:noFill/>
            </a:ln>
          </p:spPr>
          <p:txBody>
            <a:bodyPr wrap="none" lIns="0" tIns="0" rIns="0" bIns="0" anchor="t" anchorCtr="0">
              <a:spAutoFit/>
            </a:bodyPr>
            <a:lstStyle/>
            <a:p>
              <a:pPr algn="ctr"/>
              <a:r>
                <a:rPr lang="en-US" sz="1050" dirty="0">
                  <a:solidFill>
                    <a:srgbClr val="9B9B9B"/>
                  </a:solidFill>
                  <a:latin typeface="Arial"/>
                  <a:ea typeface="Arial"/>
                  <a:cs typeface="Arial"/>
                </a:rPr>
                <a:t>-</a:t>
              </a:r>
            </a:p>
          </p:txBody>
        </p:sp>
        <p:sp>
          <p:nvSpPr>
            <p:cNvPr id="44" name="TextBox 44"/>
            <p:cNvSpPr txBox="1"/>
            <p:nvPr/>
          </p:nvSpPr>
          <p:spPr>
            <a:xfrm>
              <a:off x="717423" y="4596289"/>
              <a:ext cx="1821980" cy="249364"/>
            </a:xfrm>
            <a:prstGeom prst="rect">
              <a:avLst/>
            </a:prstGeom>
            <a:noFill/>
            <a:ln>
              <a:noFill/>
            </a:ln>
          </p:spPr>
          <p:txBody>
            <a:bodyPr wrap="none" lIns="0" tIns="0" rIns="0" bIns="0" anchor="t" anchorCtr="0">
              <a:spAutoFit/>
            </a:bodyPr>
            <a:lstStyle/>
            <a:p>
              <a:pPr algn="l"/>
              <a:r>
                <a:rPr lang="zh-CN" sz="1280" b="1" dirty="0">
                  <a:solidFill>
                    <a:srgbClr val="1A1A1A"/>
                  </a:solidFill>
                  <a:latin typeface="Arial"/>
                  <a:ea typeface="Microsoft YaHei"/>
                  <a:cs typeface="Arial"/>
                </a:rPr>
                <a:t>RUN OMEA/GNOC运维</a:t>
              </a:r>
            </a:p>
          </p:txBody>
        </p:sp>
        <p:sp>
          <p:nvSpPr>
            <p:cNvPr id="45" name="TextBox 45"/>
            <p:cNvSpPr txBox="1"/>
            <p:nvPr/>
          </p:nvSpPr>
          <p:spPr>
            <a:xfrm>
              <a:off x="3041904" y="4604385"/>
              <a:ext cx="2639587" cy="234696"/>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与Orange共建Mutualized Services</a:t>
              </a:r>
            </a:p>
          </p:txBody>
        </p:sp>
        <p:sp>
          <p:nvSpPr>
            <p:cNvPr id="46" name="TextBox 46"/>
            <p:cNvSpPr txBox="1"/>
            <p:nvPr/>
          </p:nvSpPr>
          <p:spPr>
            <a:xfrm>
              <a:off x="7042404" y="4604385"/>
              <a:ext cx="1801696" cy="234696"/>
            </a:xfrm>
            <a:prstGeom prst="rect">
              <a:avLst/>
            </a:prstGeom>
            <a:noFill/>
            <a:ln>
              <a:noFill/>
            </a:ln>
          </p:spPr>
          <p:txBody>
            <a:bodyPr wrap="none" lIns="0" tIns="0" rIns="0" bIns="0" anchor="t" anchorCtr="0">
              <a:spAutoFit/>
            </a:bodyPr>
            <a:lstStyle/>
            <a:p>
              <a:pPr algn="l"/>
              <a:r>
                <a:rPr lang="zh-CN" sz="1200" b="1" dirty="0">
                  <a:solidFill>
                    <a:srgbClr val="2E8B57"/>
                  </a:solidFill>
                  <a:latin typeface="Arial"/>
                  <a:ea typeface="Microsoft YaHei"/>
                  <a:cs typeface="Arial"/>
                </a:rPr>
                <a:t>达喀尔+阿比让双活运维</a:t>
              </a:r>
            </a:p>
          </p:txBody>
        </p:sp>
        <p:sp>
          <p:nvSpPr>
            <p:cNvPr id="47" name="Rectangle 47"/>
            <p:cNvSpPr/>
            <p:nvPr/>
          </p:nvSpPr>
          <p:spPr>
            <a:xfrm>
              <a:off x="9525000" y="4591050"/>
              <a:ext cx="1714500" cy="114300"/>
            </a:xfrm>
            <a:prstGeom prst="roundRect">
              <a:avLst>
                <a:gd name="adj" fmla="val 50000"/>
              </a:avLst>
            </a:prstGeom>
            <a:solidFill>
              <a:srgbClr val="E8E2DA"/>
            </a:solidFill>
            <a:ln>
              <a:noFill/>
            </a:ln>
          </p:spPr>
        </p:sp>
        <p:sp>
          <p:nvSpPr>
            <p:cNvPr id="48" name="Rectangle 48"/>
            <p:cNvSpPr/>
            <p:nvPr/>
          </p:nvSpPr>
          <p:spPr>
            <a:xfrm>
              <a:off x="9525000" y="4591050"/>
              <a:ext cx="1371600" cy="114300"/>
            </a:xfrm>
            <a:prstGeom prst="roundRect">
              <a:avLst>
                <a:gd name="adj" fmla="val 50000"/>
              </a:avLst>
            </a:prstGeom>
            <a:solidFill>
              <a:srgbClr val="FF7900"/>
            </a:solidFill>
            <a:ln>
              <a:noFill/>
            </a:ln>
          </p:spPr>
        </p:sp>
        <p:sp>
          <p:nvSpPr>
            <p:cNvPr id="49" name="TextBox 49"/>
            <p:cNvSpPr txBox="1"/>
            <p:nvPr/>
          </p:nvSpPr>
          <p:spPr>
            <a:xfrm>
              <a:off x="10239629" y="4763452"/>
              <a:ext cx="285242" cy="205359"/>
            </a:xfrm>
            <a:prstGeom prst="rect">
              <a:avLst/>
            </a:prstGeom>
            <a:noFill/>
            <a:ln>
              <a:noFill/>
            </a:ln>
          </p:spPr>
          <p:txBody>
            <a:bodyPr wrap="none" lIns="0" tIns="0" rIns="0" bIns="0" anchor="t" anchorCtr="0">
              <a:spAutoFit/>
            </a:bodyPr>
            <a:lstStyle/>
            <a:p>
              <a:pPr algn="ctr"/>
              <a:r>
                <a:rPr lang="en-US" sz="1050" b="1" dirty="0">
                  <a:solidFill>
                    <a:srgbClr val="B85C00"/>
                  </a:solidFill>
                  <a:latin typeface="Arial"/>
                  <a:ea typeface="Arial"/>
                  <a:cs typeface="Arial"/>
                </a:rPr>
                <a:t>80%</a:t>
              </a:r>
            </a:p>
          </p:txBody>
        </p:sp>
      </p:grpSp>
      <p:grpSp>
        <p:nvGrpSpPr>
          <p:cNvPr id="56" name="Group 56"/>
          <p:cNvGrpSpPr/>
          <p:nvPr/>
        </p:nvGrpSpPr>
        <p:grpSpPr>
          <a:xfrm>
            <a:off x="533400" y="5143500"/>
            <a:ext cx="11125200" cy="762000"/>
            <a:chOff x="533400" y="5143500"/>
            <a:chExt cx="11125200" cy="762000"/>
          </a:xfrm>
        </p:grpSpPr>
        <p:sp>
          <p:nvSpPr>
            <p:cNvPr id="51" name="Line 51"/>
            <p:cNvSpPr/>
            <p:nvPr/>
          </p:nvSpPr>
          <p:spPr>
            <a:xfrm>
              <a:off x="533400" y="5143500"/>
              <a:ext cx="11125200" cy="9525"/>
            </a:xfrm>
            <a:custGeom>
              <a:avLst/>
              <a:gdLst/>
              <a:ahLst/>
              <a:cxnLst/>
              <a:rect l="l" t="t" r="r" b="b"/>
              <a:pathLst>
                <a:path w="11125200" h="9525">
                  <a:moveTo>
                    <a:pt x="0" y="0"/>
                  </a:moveTo>
                  <a:lnTo>
                    <a:pt x="11125200" y="0"/>
                  </a:lnTo>
                </a:path>
              </a:pathLst>
            </a:custGeom>
            <a:noFill/>
            <a:ln w="28575">
              <a:solidFill>
                <a:srgbClr val="1A1A1A"/>
              </a:solidFill>
            </a:ln>
          </p:spPr>
        </p:sp>
        <p:sp>
          <p:nvSpPr>
            <p:cNvPr id="52" name="Rectangle 52"/>
            <p:cNvSpPr/>
            <p:nvPr/>
          </p:nvSpPr>
          <p:spPr>
            <a:xfrm>
              <a:off x="533400" y="5314950"/>
              <a:ext cx="11125200" cy="590550"/>
            </a:xfrm>
            <a:prstGeom prst="roundRect">
              <a:avLst>
                <a:gd name="adj" fmla="val 6452"/>
              </a:avLst>
            </a:prstGeom>
            <a:solidFill>
              <a:srgbClr val="1A1A1A"/>
            </a:solidFill>
            <a:ln>
              <a:noFill/>
            </a:ln>
          </p:spPr>
        </p:sp>
        <p:sp>
          <p:nvSpPr>
            <p:cNvPr id="53" name="Rectangle 53"/>
            <p:cNvSpPr/>
            <p:nvPr/>
          </p:nvSpPr>
          <p:spPr>
            <a:xfrm>
              <a:off x="533400" y="5314950"/>
              <a:ext cx="57150" cy="590550"/>
            </a:xfrm>
            <a:prstGeom prst="rect">
              <a:avLst/>
            </a:prstGeom>
            <a:solidFill>
              <a:srgbClr val="FFA640"/>
            </a:solidFill>
            <a:ln>
              <a:noFill/>
            </a:ln>
          </p:spPr>
        </p:sp>
        <p:sp>
          <p:nvSpPr>
            <p:cNvPr id="54" name="TextBox 54"/>
            <p:cNvSpPr txBox="1"/>
            <p:nvPr/>
          </p:nvSpPr>
          <p:spPr>
            <a:xfrm>
              <a:off x="755904" y="5394960"/>
              <a:ext cx="3328286"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Arial"/>
                  <a:ea typeface="Microsoft YaHei"/>
                  <a:cs typeface="Arial"/>
                </a:rPr>
                <a:t>定性：技术底层深度绑定+基础设施合作伙伴</a:t>
              </a:r>
            </a:p>
          </p:txBody>
        </p:sp>
        <p:sp>
          <p:nvSpPr>
            <p:cNvPr id="55" name="TextBox 55"/>
            <p:cNvSpPr txBox="1"/>
            <p:nvPr/>
          </p:nvSpPr>
          <p:spPr>
            <a:xfrm>
              <a:off x="756285" y="5612606"/>
              <a:ext cx="6692265" cy="220028"/>
            </a:xfrm>
            <a:prstGeom prst="rect">
              <a:avLst/>
            </a:prstGeom>
            <a:noFill/>
            <a:ln>
              <a:noFill/>
            </a:ln>
          </p:spPr>
          <p:txBody>
            <a:bodyPr wrap="none" lIns="0" tIns="0" rIns="0" bIns="0" anchor="t" anchorCtr="0">
              <a:spAutoFit/>
            </a:bodyPr>
            <a:lstStyle/>
            <a:p>
              <a:pPr algn="l"/>
              <a:r>
                <a:rPr lang="zh-CN" sz="1120" dirty="0">
                  <a:solidFill>
                    <a:srgbClr val="B0B0B0"/>
                  </a:solidFill>
                  <a:latin typeface="Arial"/>
                  <a:ea typeface="Microsoft YaHei"/>
                  <a:cs typeface="Arial"/>
                </a:rPr>
                <a:t>RUN OMEA计划、GNOC双活站点、AUTIN运维、HEHA电源系统——是本次调研最强的华为叙事支点</a:t>
              </a:r>
            </a:p>
          </p:txBody>
        </p:sp>
      </p:grpSp>
      <p:grpSp>
        <p:nvGrpSpPr>
          <p:cNvPr id="59" name="Group 59"/>
          <p:cNvGrpSpPr/>
          <p:nvPr/>
        </p:nvGrpSpPr>
        <p:grpSpPr>
          <a:xfrm>
            <a:off x="528447" y="6562249"/>
            <a:ext cx="11135106" cy="190690"/>
            <a:chOff x="528447" y="6562249"/>
            <a:chExt cx="11135106" cy="190690"/>
          </a:xfrm>
        </p:grpSpPr>
        <p:sp>
          <p:nvSpPr>
            <p:cNvPr id="57" name="TextBox 57"/>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8" name="TextBox 58"/>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15</a:t>
              </a:r>
            </a:p>
          </p:txBody>
        </p:sp>
      </p:gr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grpSp>
        <p:nvGrpSpPr>
          <p:cNvPr id="6" name="Group 6"/>
          <p:cNvGrpSpPr/>
          <p:nvPr/>
        </p:nvGrpSpPr>
        <p:grpSpPr>
          <a:xfrm>
            <a:off x="523494" y="284798"/>
            <a:ext cx="11596459" cy="639127"/>
            <a:chOff x="523494" y="284798"/>
            <a:chExt cx="11596459" cy="639127"/>
          </a:xfrm>
        </p:grpSpPr>
        <p:sp>
          <p:nvSpPr>
            <p:cNvPr id="3" name="TextBox 3"/>
            <p:cNvSpPr txBox="1"/>
            <p:nvPr/>
          </p:nvSpPr>
          <p:spPr>
            <a:xfrm>
              <a:off x="523494" y="284798"/>
              <a:ext cx="11596459" cy="381381"/>
            </a:xfrm>
            <a:prstGeom prst="rect">
              <a:avLst/>
            </a:prstGeom>
            <a:noFill/>
            <a:ln>
              <a:noFill/>
            </a:ln>
          </p:spPr>
          <p:txBody>
            <a:bodyPr wrap="none" lIns="0" tIns="0" rIns="0" bIns="0" anchor="t" anchorCtr="0">
              <a:spAutoFit/>
            </a:bodyPr>
            <a:lstStyle/>
            <a:p>
              <a:pPr algn="l"/>
              <a:r>
                <a:rPr lang="zh-CN" sz="1950" b="1" dirty="0">
                  <a:solidFill>
                    <a:srgbClr val="1A1A1A"/>
                  </a:solidFill>
                  <a:latin typeface="Arial"/>
                  <a:ea typeface="Microsoft YaHei"/>
                  <a:cs typeface="Arial"/>
                </a:rPr>
                <a:t>OMEA是华为核心阵地与增长引擎，OEU是</a:t>
              </a:r>
              <a:r>
                <a:rPr lang="zh-CN" sz="1950" b="1" dirty="0">
                  <a:solidFill>
                    <a:srgbClr val="FF7900"/>
                  </a:solidFill>
                  <a:latin typeface="Arial"/>
                  <a:ea typeface="Microsoft YaHei"/>
                  <a:cs typeface="Arial"/>
                </a:rPr>
                <a:t>法律强制退出的收缩区</a:t>
              </a:r>
              <a:r>
                <a:rPr lang="zh-CN" sz="1950" b="1" dirty="0">
                  <a:solidFill>
                    <a:srgbClr val="1A1A1A"/>
                  </a:solidFill>
                  <a:latin typeface="Arial"/>
                  <a:ea typeface="Microsoft YaHei"/>
                  <a:cs typeface="Arial"/>
                </a:rPr>
                <a:t>，OB是生态位竞争排除区</a:t>
              </a:r>
            </a:p>
          </p:txBody>
        </p:sp>
        <p:sp>
          <p:nvSpPr>
            <p:cNvPr id="4" name="TextBox 4"/>
            <p:cNvSpPr txBox="1"/>
            <p:nvPr/>
          </p:nvSpPr>
          <p:spPr>
            <a:xfrm>
              <a:off x="526923" y="624364"/>
              <a:ext cx="4287968" cy="249364"/>
            </a:xfrm>
            <a:prstGeom prst="rect">
              <a:avLst/>
            </a:prstGeom>
            <a:noFill/>
            <a:ln>
              <a:noFill/>
            </a:ln>
          </p:spPr>
          <p:txBody>
            <a:bodyPr wrap="none" lIns="0" tIns="0" rIns="0" bIns="0" anchor="t" anchorCtr="0">
              <a:spAutoFit/>
            </a:bodyPr>
            <a:lstStyle/>
            <a:p>
              <a:pPr algn="l"/>
              <a:r>
                <a:rPr lang="zh-CN" sz="1280" b="1" dirty="0">
                  <a:solidFill>
                    <a:srgbClr val="B85C00"/>
                  </a:solidFill>
                  <a:latin typeface="Arial"/>
                  <a:ea typeface="Microsoft YaHei"/>
                  <a:cs typeface="Arial"/>
                </a:rPr>
                <a:t>资源应向OMEA倾斜，尤其是MPN与云运维协同场景</a:t>
              </a:r>
            </a:p>
          </p:txBody>
        </p:sp>
        <p:sp>
          <p:nvSpPr>
            <p:cNvPr id="5" name="Line 5"/>
            <p:cNvSpPr/>
            <p:nvPr/>
          </p:nvSpPr>
          <p:spPr>
            <a:xfrm>
              <a:off x="533400" y="914400"/>
              <a:ext cx="11125200" cy="9525"/>
            </a:xfrm>
            <a:custGeom>
              <a:avLst/>
              <a:gdLst/>
              <a:ahLst/>
              <a:cxnLst/>
              <a:rect l="l" t="t" r="r" b="b"/>
              <a:pathLst>
                <a:path w="11125200" h="9525">
                  <a:moveTo>
                    <a:pt x="0" y="0"/>
                  </a:moveTo>
                  <a:lnTo>
                    <a:pt x="11125200" y="0"/>
                  </a:lnTo>
                </a:path>
              </a:pathLst>
            </a:custGeom>
            <a:noFill/>
            <a:ln w="14288">
              <a:solidFill>
                <a:srgbClr val="E8E2DA"/>
              </a:solidFill>
            </a:ln>
          </p:spPr>
        </p:sp>
      </p:grpSp>
      <p:grpSp>
        <p:nvGrpSpPr>
          <p:cNvPr id="27" name="Group 27"/>
          <p:cNvGrpSpPr/>
          <p:nvPr/>
        </p:nvGrpSpPr>
        <p:grpSpPr>
          <a:xfrm>
            <a:off x="23470" y="1524000"/>
            <a:ext cx="9930155" cy="5077206"/>
            <a:chOff x="23470" y="1524000"/>
            <a:chExt cx="9930155" cy="5077206"/>
          </a:xfrm>
        </p:grpSpPr>
        <p:sp>
          <p:nvSpPr>
            <p:cNvPr id="7" name="Rectangle 7"/>
            <p:cNvSpPr/>
            <p:nvPr/>
          </p:nvSpPr>
          <p:spPr>
            <a:xfrm>
              <a:off x="5381625" y="1619250"/>
              <a:ext cx="4572000" cy="2286000"/>
            </a:xfrm>
            <a:prstGeom prst="rect">
              <a:avLst/>
            </a:prstGeom>
            <a:solidFill>
              <a:srgbClr val="FFA640">
                <a:alpha val="28000"/>
              </a:srgbClr>
            </a:solidFill>
            <a:ln w="38100">
              <a:solidFill>
                <a:srgbClr val="FFFFFF"/>
              </a:solidFill>
            </a:ln>
          </p:spPr>
        </p:sp>
        <p:sp>
          <p:nvSpPr>
            <p:cNvPr id="8" name="Rectangle 8"/>
            <p:cNvSpPr/>
            <p:nvPr/>
          </p:nvSpPr>
          <p:spPr>
            <a:xfrm>
              <a:off x="809625" y="1619250"/>
              <a:ext cx="4572000" cy="2286000"/>
            </a:xfrm>
            <a:prstGeom prst="rect">
              <a:avLst/>
            </a:prstGeom>
            <a:solidFill>
              <a:srgbClr val="FFA640">
                <a:alpha val="14000"/>
              </a:srgbClr>
            </a:solidFill>
            <a:ln w="38100">
              <a:solidFill>
                <a:srgbClr val="FFFFFF"/>
              </a:solidFill>
            </a:ln>
          </p:spPr>
        </p:sp>
        <p:sp>
          <p:nvSpPr>
            <p:cNvPr id="9" name="Rectangle 9"/>
            <p:cNvSpPr/>
            <p:nvPr/>
          </p:nvSpPr>
          <p:spPr>
            <a:xfrm>
              <a:off x="809625" y="3905250"/>
              <a:ext cx="4572000" cy="2286000"/>
            </a:xfrm>
            <a:prstGeom prst="rect">
              <a:avLst/>
            </a:prstGeom>
            <a:solidFill>
              <a:srgbClr val="E8E2DA">
                <a:alpha val="50000"/>
              </a:srgbClr>
            </a:solidFill>
            <a:ln w="38100">
              <a:solidFill>
                <a:srgbClr val="FFFFFF"/>
              </a:solidFill>
            </a:ln>
          </p:spPr>
        </p:sp>
        <p:sp>
          <p:nvSpPr>
            <p:cNvPr id="10" name="Rectangle 10"/>
            <p:cNvSpPr/>
            <p:nvPr/>
          </p:nvSpPr>
          <p:spPr>
            <a:xfrm>
              <a:off x="5381625" y="3905250"/>
              <a:ext cx="4572000" cy="2286000"/>
            </a:xfrm>
            <a:prstGeom prst="rect">
              <a:avLst/>
            </a:prstGeom>
            <a:solidFill>
              <a:srgbClr val="FFA640">
                <a:alpha val="14000"/>
              </a:srgbClr>
            </a:solidFill>
            <a:ln w="38100">
              <a:solidFill>
                <a:srgbClr val="FFFFFF"/>
              </a:solidFill>
            </a:ln>
          </p:spPr>
        </p:sp>
        <p:sp>
          <p:nvSpPr>
            <p:cNvPr id="11" name="Line 11"/>
            <p:cNvSpPr/>
            <p:nvPr/>
          </p:nvSpPr>
          <p:spPr>
            <a:xfrm>
              <a:off x="809625" y="3905250"/>
              <a:ext cx="9144000" cy="1"/>
            </a:xfrm>
            <a:prstGeom prst="line">
              <a:avLst/>
            </a:prstGeom>
            <a:noFill/>
            <a:ln w="23812">
              <a:solidFill>
                <a:srgbClr val="1A1A1A"/>
              </a:solidFill>
              <a:tailEnd type="triangle" w="lg" len="lg"/>
            </a:ln>
          </p:spPr>
        </p:sp>
        <p:sp>
          <p:nvSpPr>
            <p:cNvPr id="12" name="Line 12"/>
            <p:cNvSpPr/>
            <p:nvPr/>
          </p:nvSpPr>
          <p:spPr>
            <a:xfrm>
              <a:off x="5381625" y="1524000"/>
              <a:ext cx="1" cy="4667250"/>
            </a:xfrm>
            <a:prstGeom prst="line">
              <a:avLst/>
            </a:prstGeom>
            <a:noFill/>
            <a:ln w="23812">
              <a:solidFill>
                <a:srgbClr val="1A1A1A"/>
              </a:solidFill>
              <a:headEnd type="triangle" w="lg" len="lg"/>
            </a:ln>
          </p:spPr>
        </p:sp>
        <p:sp>
          <p:nvSpPr>
            <p:cNvPr id="13" name="TextBox 13"/>
            <p:cNvSpPr txBox="1"/>
            <p:nvPr/>
          </p:nvSpPr>
          <p:spPr>
            <a:xfrm>
              <a:off x="5036287" y="6366510"/>
              <a:ext cx="690677"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Arial"/>
                  <a:ea typeface="Microsoft YaHei"/>
                  <a:cs typeface="Arial"/>
                </a:rPr>
                <a:t>销售空间</a:t>
              </a:r>
            </a:p>
          </p:txBody>
        </p:sp>
        <p:sp>
          <p:nvSpPr>
            <p:cNvPr id="14" name="TextBox 14"/>
            <p:cNvSpPr txBox="1"/>
            <p:nvPr/>
          </p:nvSpPr>
          <p:spPr>
            <a:xfrm>
              <a:off x="1863338" y="6382702"/>
              <a:ext cx="464325" cy="205359"/>
            </a:xfrm>
            <a:prstGeom prst="rect">
              <a:avLst/>
            </a:prstGeom>
            <a:noFill/>
            <a:ln>
              <a:noFill/>
            </a:ln>
          </p:spPr>
          <p:txBody>
            <a:bodyPr wrap="none" lIns="0" tIns="0" rIns="0" bIns="0" anchor="t" anchorCtr="0">
              <a:spAutoFit/>
            </a:bodyPr>
            <a:lstStyle/>
            <a:p>
              <a:pPr algn="ctr"/>
              <a:r>
                <a:rPr lang="zh-CN" sz="1050" dirty="0">
                  <a:solidFill>
                    <a:srgbClr val="6B6B6B"/>
                  </a:solidFill>
                  <a:latin typeface="Arial"/>
                  <a:ea typeface="Microsoft YaHei"/>
                  <a:cs typeface="Arial"/>
                </a:rPr>
                <a:t>低 Low</a:t>
              </a:r>
            </a:p>
          </p:txBody>
        </p:sp>
        <p:sp>
          <p:nvSpPr>
            <p:cNvPr id="15" name="TextBox 15"/>
            <p:cNvSpPr txBox="1"/>
            <p:nvPr/>
          </p:nvSpPr>
          <p:spPr>
            <a:xfrm>
              <a:off x="8429470" y="6382702"/>
              <a:ext cx="476560" cy="205359"/>
            </a:xfrm>
            <a:prstGeom prst="rect">
              <a:avLst/>
            </a:prstGeom>
            <a:noFill/>
            <a:ln>
              <a:noFill/>
            </a:ln>
          </p:spPr>
          <p:txBody>
            <a:bodyPr wrap="none" lIns="0" tIns="0" rIns="0" bIns="0" anchor="t" anchorCtr="0">
              <a:spAutoFit/>
            </a:bodyPr>
            <a:lstStyle/>
            <a:p>
              <a:pPr algn="ctr"/>
              <a:r>
                <a:rPr lang="zh-CN" sz="1050" dirty="0">
                  <a:solidFill>
                    <a:srgbClr val="6B6B6B"/>
                  </a:solidFill>
                  <a:latin typeface="Arial"/>
                  <a:ea typeface="Microsoft YaHei"/>
                  <a:cs typeface="Arial"/>
                </a:rPr>
                <a:t>高 High</a:t>
              </a:r>
            </a:p>
          </p:txBody>
        </p:sp>
        <p:sp>
          <p:nvSpPr>
            <p:cNvPr id="16" name="TextBox 16"/>
            <p:cNvSpPr txBox="1"/>
            <p:nvPr/>
          </p:nvSpPr>
          <p:spPr>
            <a:xfrm rot="-5400000">
              <a:off x="23470" y="3787902"/>
              <a:ext cx="690677" cy="234696"/>
            </a:xfrm>
            <a:prstGeom prst="rect">
              <a:avLst/>
            </a:prstGeom>
            <a:noFill/>
            <a:ln>
              <a:noFill/>
            </a:ln>
          </p:spPr>
          <p:txBody>
            <a:bodyPr wrap="none" lIns="0" tIns="0" rIns="0" bIns="0" anchor="t" anchorCtr="0">
              <a:spAutoFit/>
            </a:bodyPr>
            <a:lstStyle/>
            <a:p>
              <a:pPr algn="ctr"/>
              <a:r>
                <a:rPr lang="zh-CN" sz="1200" b="1" dirty="0">
                  <a:solidFill>
                    <a:srgbClr val="1A1A1A"/>
                  </a:solidFill>
                  <a:latin typeface="Arial"/>
                  <a:ea typeface="Microsoft YaHei"/>
                  <a:cs typeface="Arial"/>
                </a:rPr>
                <a:t>场景价值</a:t>
              </a:r>
            </a:p>
          </p:txBody>
        </p:sp>
        <p:sp>
          <p:nvSpPr>
            <p:cNvPr id="17" name="TextBox 17"/>
            <p:cNvSpPr txBox="1"/>
            <p:nvPr/>
          </p:nvSpPr>
          <p:spPr>
            <a:xfrm>
              <a:off x="112509" y="5982652"/>
              <a:ext cx="464325" cy="205359"/>
            </a:xfrm>
            <a:prstGeom prst="rect">
              <a:avLst/>
            </a:prstGeom>
            <a:noFill/>
            <a:ln>
              <a:noFill/>
            </a:ln>
          </p:spPr>
          <p:txBody>
            <a:bodyPr wrap="none" lIns="0" tIns="0" rIns="0" bIns="0" anchor="t" anchorCtr="0">
              <a:spAutoFit/>
            </a:bodyPr>
            <a:lstStyle/>
            <a:p>
              <a:pPr algn="r"/>
              <a:r>
                <a:rPr lang="zh-CN" sz="1050" dirty="0">
                  <a:solidFill>
                    <a:srgbClr val="6B6B6B"/>
                  </a:solidFill>
                  <a:latin typeface="Arial"/>
                  <a:ea typeface="Microsoft YaHei"/>
                  <a:cs typeface="Arial"/>
                </a:rPr>
                <a:t>低 Low</a:t>
              </a:r>
            </a:p>
          </p:txBody>
        </p:sp>
        <p:sp>
          <p:nvSpPr>
            <p:cNvPr id="18" name="TextBox 18"/>
            <p:cNvSpPr txBox="1"/>
            <p:nvPr/>
          </p:nvSpPr>
          <p:spPr>
            <a:xfrm>
              <a:off x="100274" y="1601152"/>
              <a:ext cx="476560" cy="205359"/>
            </a:xfrm>
            <a:prstGeom prst="rect">
              <a:avLst/>
            </a:prstGeom>
            <a:noFill/>
            <a:ln>
              <a:noFill/>
            </a:ln>
          </p:spPr>
          <p:txBody>
            <a:bodyPr wrap="none" lIns="0" tIns="0" rIns="0" bIns="0" anchor="t" anchorCtr="0">
              <a:spAutoFit/>
            </a:bodyPr>
            <a:lstStyle/>
            <a:p>
              <a:pPr algn="r"/>
              <a:r>
                <a:rPr lang="zh-CN" sz="1050" dirty="0">
                  <a:solidFill>
                    <a:srgbClr val="6B6B6B"/>
                  </a:solidFill>
                  <a:latin typeface="Arial"/>
                  <a:ea typeface="Microsoft YaHei"/>
                  <a:cs typeface="Arial"/>
                </a:rPr>
                <a:t>高 High</a:t>
              </a:r>
            </a:p>
          </p:txBody>
        </p:sp>
        <p:sp>
          <p:nvSpPr>
            <p:cNvPr id="19" name="TextBox 19"/>
            <p:cNvSpPr txBox="1"/>
            <p:nvPr/>
          </p:nvSpPr>
          <p:spPr>
            <a:xfrm>
              <a:off x="5754243" y="1774508"/>
              <a:ext cx="716451" cy="322707"/>
            </a:xfrm>
            <a:prstGeom prst="rect">
              <a:avLst/>
            </a:prstGeom>
            <a:noFill/>
            <a:ln>
              <a:noFill/>
            </a:ln>
          </p:spPr>
          <p:txBody>
            <a:bodyPr wrap="none" lIns="0" tIns="0" rIns="0" bIns="0" anchor="t" anchorCtr="0">
              <a:spAutoFit/>
            </a:bodyPr>
            <a:lstStyle/>
            <a:p>
              <a:pPr algn="l"/>
              <a:r>
                <a:rPr lang="zh-CN" sz="1650" b="1" dirty="0">
                  <a:solidFill>
                    <a:srgbClr val="B85C00"/>
                  </a:solidFill>
                  <a:latin typeface="Arial"/>
                  <a:ea typeface="Microsoft YaHei"/>
                  <a:cs typeface="Arial"/>
                </a:rPr>
                <a:t>肥肉区</a:t>
              </a:r>
            </a:p>
          </p:txBody>
        </p:sp>
        <p:sp>
          <p:nvSpPr>
            <p:cNvPr id="20" name="TextBox 20"/>
            <p:cNvSpPr txBox="1"/>
            <p:nvPr/>
          </p:nvSpPr>
          <p:spPr>
            <a:xfrm>
              <a:off x="5757862" y="2045970"/>
              <a:ext cx="999891" cy="176212"/>
            </a:xfrm>
            <a:prstGeom prst="rect">
              <a:avLst/>
            </a:prstGeom>
            <a:noFill/>
            <a:ln>
              <a:noFill/>
            </a:ln>
          </p:spPr>
          <p:txBody>
            <a:bodyPr wrap="none" lIns="0" tIns="0" rIns="0" bIns="0" anchor="t" anchorCtr="0">
              <a:spAutoFit/>
            </a:bodyPr>
            <a:lstStyle/>
            <a:p>
              <a:pPr algn="l"/>
              <a:r>
                <a:rPr lang="zh-CN" sz="900" b="1" spc="75" dirty="0">
                  <a:solidFill>
                    <a:srgbClr val="B85C00"/>
                  </a:solidFill>
                  <a:latin typeface="Arial"/>
                  <a:ea typeface="Microsoft YaHei"/>
                  <a:cs typeface="Arial"/>
                </a:rPr>
                <a:t>高价值 · 高空间</a:t>
              </a:r>
            </a:p>
          </p:txBody>
        </p:sp>
        <p:sp>
          <p:nvSpPr>
            <p:cNvPr id="21" name="TextBox 21"/>
            <p:cNvSpPr txBox="1"/>
            <p:nvPr/>
          </p:nvSpPr>
          <p:spPr>
            <a:xfrm>
              <a:off x="1182243" y="1774508"/>
              <a:ext cx="716451" cy="322707"/>
            </a:xfrm>
            <a:prstGeom prst="rect">
              <a:avLst/>
            </a:prstGeom>
            <a:noFill/>
            <a:ln>
              <a:noFill/>
            </a:ln>
          </p:spPr>
          <p:txBody>
            <a:bodyPr wrap="none" lIns="0" tIns="0" rIns="0" bIns="0" anchor="t" anchorCtr="0">
              <a:spAutoFit/>
            </a:bodyPr>
            <a:lstStyle/>
            <a:p>
              <a:pPr algn="l"/>
              <a:r>
                <a:rPr lang="zh-CN" sz="1650" b="1" dirty="0">
                  <a:solidFill>
                    <a:srgbClr val="B85C00"/>
                  </a:solidFill>
                  <a:latin typeface="Arial"/>
                  <a:ea typeface="Microsoft YaHei"/>
                  <a:cs typeface="Arial"/>
                </a:rPr>
                <a:t>瘦肉区</a:t>
              </a:r>
            </a:p>
          </p:txBody>
        </p:sp>
        <p:sp>
          <p:nvSpPr>
            <p:cNvPr id="22" name="TextBox 22"/>
            <p:cNvSpPr txBox="1"/>
            <p:nvPr/>
          </p:nvSpPr>
          <p:spPr>
            <a:xfrm>
              <a:off x="1185862" y="2045970"/>
              <a:ext cx="999891" cy="176212"/>
            </a:xfrm>
            <a:prstGeom prst="rect">
              <a:avLst/>
            </a:prstGeom>
            <a:noFill/>
            <a:ln>
              <a:noFill/>
            </a:ln>
          </p:spPr>
          <p:txBody>
            <a:bodyPr wrap="none" lIns="0" tIns="0" rIns="0" bIns="0" anchor="t" anchorCtr="0">
              <a:spAutoFit/>
            </a:bodyPr>
            <a:lstStyle/>
            <a:p>
              <a:pPr algn="l"/>
              <a:r>
                <a:rPr lang="zh-CN" sz="900" b="1" spc="75" dirty="0">
                  <a:solidFill>
                    <a:srgbClr val="B85C00"/>
                  </a:solidFill>
                  <a:latin typeface="Arial"/>
                  <a:ea typeface="Microsoft YaHei"/>
                  <a:cs typeface="Arial"/>
                </a:rPr>
                <a:t>高价值 · 低空间</a:t>
              </a:r>
            </a:p>
          </p:txBody>
        </p:sp>
        <p:sp>
          <p:nvSpPr>
            <p:cNvPr id="23" name="TextBox 23"/>
            <p:cNvSpPr txBox="1"/>
            <p:nvPr/>
          </p:nvSpPr>
          <p:spPr>
            <a:xfrm>
              <a:off x="5754243" y="5679758"/>
              <a:ext cx="716451" cy="322707"/>
            </a:xfrm>
            <a:prstGeom prst="rect">
              <a:avLst/>
            </a:prstGeom>
            <a:noFill/>
            <a:ln>
              <a:noFill/>
            </a:ln>
          </p:spPr>
          <p:txBody>
            <a:bodyPr wrap="none" lIns="0" tIns="0" rIns="0" bIns="0" anchor="t" anchorCtr="0">
              <a:spAutoFit/>
            </a:bodyPr>
            <a:lstStyle/>
            <a:p>
              <a:pPr algn="l"/>
              <a:r>
                <a:rPr lang="zh-CN" sz="1650" b="1" dirty="0">
                  <a:solidFill>
                    <a:srgbClr val="B85C00"/>
                  </a:solidFill>
                  <a:latin typeface="Arial"/>
                  <a:ea typeface="Microsoft YaHei"/>
                  <a:cs typeface="Arial"/>
                </a:rPr>
                <a:t>瘦肉区</a:t>
              </a:r>
            </a:p>
          </p:txBody>
        </p:sp>
        <p:sp>
          <p:nvSpPr>
            <p:cNvPr id="24" name="TextBox 24"/>
            <p:cNvSpPr txBox="1"/>
            <p:nvPr/>
          </p:nvSpPr>
          <p:spPr>
            <a:xfrm>
              <a:off x="5757862" y="5951220"/>
              <a:ext cx="999891" cy="176212"/>
            </a:xfrm>
            <a:prstGeom prst="rect">
              <a:avLst/>
            </a:prstGeom>
            <a:noFill/>
            <a:ln>
              <a:noFill/>
            </a:ln>
          </p:spPr>
          <p:txBody>
            <a:bodyPr wrap="none" lIns="0" tIns="0" rIns="0" bIns="0" anchor="t" anchorCtr="0">
              <a:spAutoFit/>
            </a:bodyPr>
            <a:lstStyle/>
            <a:p>
              <a:pPr algn="l"/>
              <a:r>
                <a:rPr lang="zh-CN" sz="900" b="1" spc="75" dirty="0">
                  <a:solidFill>
                    <a:srgbClr val="B85C00"/>
                  </a:solidFill>
                  <a:latin typeface="Arial"/>
                  <a:ea typeface="Microsoft YaHei"/>
                  <a:cs typeface="Arial"/>
                </a:rPr>
                <a:t>低价值 · 高空间</a:t>
              </a:r>
            </a:p>
          </p:txBody>
        </p:sp>
        <p:sp>
          <p:nvSpPr>
            <p:cNvPr id="25" name="TextBox 25"/>
            <p:cNvSpPr txBox="1"/>
            <p:nvPr/>
          </p:nvSpPr>
          <p:spPr>
            <a:xfrm>
              <a:off x="1182243" y="5679758"/>
              <a:ext cx="716451" cy="322707"/>
            </a:xfrm>
            <a:prstGeom prst="rect">
              <a:avLst/>
            </a:prstGeom>
            <a:noFill/>
            <a:ln>
              <a:noFill/>
            </a:ln>
          </p:spPr>
          <p:txBody>
            <a:bodyPr wrap="none" lIns="0" tIns="0" rIns="0" bIns="0" anchor="t" anchorCtr="0">
              <a:spAutoFit/>
            </a:bodyPr>
            <a:lstStyle/>
            <a:p>
              <a:pPr algn="l"/>
              <a:r>
                <a:rPr lang="zh-CN" sz="1650" b="1" dirty="0">
                  <a:solidFill>
                    <a:srgbClr val="6B6B6B"/>
                  </a:solidFill>
                  <a:latin typeface="Arial"/>
                  <a:ea typeface="Microsoft YaHei"/>
                  <a:cs typeface="Arial"/>
                </a:rPr>
                <a:t>骨头区</a:t>
              </a:r>
            </a:p>
          </p:txBody>
        </p:sp>
        <p:sp>
          <p:nvSpPr>
            <p:cNvPr id="26" name="TextBox 26"/>
            <p:cNvSpPr txBox="1"/>
            <p:nvPr/>
          </p:nvSpPr>
          <p:spPr>
            <a:xfrm>
              <a:off x="1185862" y="5951220"/>
              <a:ext cx="999891" cy="176212"/>
            </a:xfrm>
            <a:prstGeom prst="rect">
              <a:avLst/>
            </a:prstGeom>
            <a:noFill/>
            <a:ln>
              <a:noFill/>
            </a:ln>
          </p:spPr>
          <p:txBody>
            <a:bodyPr wrap="none" lIns="0" tIns="0" rIns="0" bIns="0" anchor="t" anchorCtr="0">
              <a:spAutoFit/>
            </a:bodyPr>
            <a:lstStyle/>
            <a:p>
              <a:pPr algn="l"/>
              <a:r>
                <a:rPr lang="zh-CN" sz="900" b="1" spc="75" dirty="0">
                  <a:solidFill>
                    <a:srgbClr val="6B6B6B"/>
                  </a:solidFill>
                  <a:latin typeface="Arial"/>
                  <a:ea typeface="Microsoft YaHei"/>
                  <a:cs typeface="Arial"/>
                </a:rPr>
                <a:t>低价值 · 低空间</a:t>
              </a:r>
            </a:p>
          </p:txBody>
        </p:sp>
      </p:grpSp>
      <p:grpSp>
        <p:nvGrpSpPr>
          <p:cNvPr id="49" name="Group 49"/>
          <p:cNvGrpSpPr/>
          <p:nvPr/>
        </p:nvGrpSpPr>
        <p:grpSpPr>
          <a:xfrm>
            <a:off x="1809750" y="1876425"/>
            <a:ext cx="7010400" cy="4124325"/>
            <a:chOff x="1809750" y="1876425"/>
            <a:chExt cx="7010400" cy="4124325"/>
          </a:xfrm>
        </p:grpSpPr>
        <p:sp>
          <p:nvSpPr>
            <p:cNvPr id="28" name="Ellipse 28"/>
            <p:cNvSpPr/>
            <p:nvPr/>
          </p:nvSpPr>
          <p:spPr>
            <a:xfrm>
              <a:off x="7639050" y="1876425"/>
              <a:ext cx="1104900" cy="1104900"/>
            </a:xfrm>
            <a:prstGeom prst="ellipse">
              <a:avLst/>
            </a:prstGeom>
            <a:solidFill>
              <a:srgbClr val="FFA640"/>
            </a:solidFill>
            <a:ln w="19050">
              <a:solidFill>
                <a:srgbClr val="B85C00"/>
              </a:solidFill>
            </a:ln>
          </p:spPr>
        </p:sp>
        <p:sp>
          <p:nvSpPr>
            <p:cNvPr id="29" name="TextBox 29"/>
            <p:cNvSpPr txBox="1"/>
            <p:nvPr/>
          </p:nvSpPr>
          <p:spPr>
            <a:xfrm>
              <a:off x="7967358" y="2240756"/>
              <a:ext cx="448285" cy="220028"/>
            </a:xfrm>
            <a:prstGeom prst="rect">
              <a:avLst/>
            </a:prstGeom>
            <a:noFill/>
            <a:ln>
              <a:noFill/>
            </a:ln>
          </p:spPr>
          <p:txBody>
            <a:bodyPr wrap="none" lIns="0" tIns="0" rIns="0" bIns="0" anchor="t" anchorCtr="0">
              <a:spAutoFit/>
            </a:bodyPr>
            <a:lstStyle/>
            <a:p>
              <a:pPr algn="ctr"/>
              <a:r>
                <a:rPr lang="en-US" sz="1120" b="1" dirty="0">
                  <a:solidFill>
                    <a:srgbClr val="5A3200"/>
                  </a:solidFill>
                  <a:latin typeface="Arial"/>
                  <a:ea typeface="Arial"/>
                  <a:cs typeface="Arial"/>
                </a:rPr>
                <a:t>OMEA</a:t>
              </a:r>
            </a:p>
          </p:txBody>
        </p:sp>
        <p:sp>
          <p:nvSpPr>
            <p:cNvPr id="30" name="TextBox 30"/>
            <p:cNvSpPr txBox="1"/>
            <p:nvPr/>
          </p:nvSpPr>
          <p:spPr>
            <a:xfrm>
              <a:off x="7793378" y="2428399"/>
              <a:ext cx="796244" cy="190690"/>
            </a:xfrm>
            <a:prstGeom prst="rect">
              <a:avLst/>
            </a:prstGeom>
            <a:noFill/>
            <a:ln>
              <a:noFill/>
            </a:ln>
          </p:spPr>
          <p:txBody>
            <a:bodyPr wrap="none" lIns="0" tIns="0" rIns="0" bIns="0" anchor="t" anchorCtr="0">
              <a:spAutoFit/>
            </a:bodyPr>
            <a:lstStyle/>
            <a:p>
              <a:pPr algn="ctr"/>
              <a:r>
                <a:rPr lang="zh-CN" sz="980" b="1" dirty="0">
                  <a:solidFill>
                    <a:srgbClr val="5A3200"/>
                  </a:solidFill>
                  <a:latin typeface="Arial"/>
                  <a:ea typeface="Microsoft YaHei"/>
                  <a:cs typeface="Arial"/>
                </a:rPr>
                <a:t>MPN/云运维</a:t>
              </a:r>
            </a:p>
          </p:txBody>
        </p:sp>
        <p:sp>
          <p:nvSpPr>
            <p:cNvPr id="31" name="Ellipse 31"/>
            <p:cNvSpPr/>
            <p:nvPr/>
          </p:nvSpPr>
          <p:spPr>
            <a:xfrm>
              <a:off x="7943850" y="4895850"/>
              <a:ext cx="876300" cy="876300"/>
            </a:xfrm>
            <a:prstGeom prst="ellipse">
              <a:avLst/>
            </a:prstGeom>
            <a:solidFill>
              <a:srgbClr val="FFA640"/>
            </a:solidFill>
            <a:ln w="19050">
              <a:solidFill>
                <a:srgbClr val="B85C00"/>
              </a:solidFill>
            </a:ln>
          </p:spPr>
        </p:sp>
        <p:sp>
          <p:nvSpPr>
            <p:cNvPr id="32" name="TextBox 32"/>
            <p:cNvSpPr txBox="1"/>
            <p:nvPr/>
          </p:nvSpPr>
          <p:spPr>
            <a:xfrm>
              <a:off x="8187743" y="5171599"/>
              <a:ext cx="388513" cy="190690"/>
            </a:xfrm>
            <a:prstGeom prst="rect">
              <a:avLst/>
            </a:prstGeom>
            <a:noFill/>
            <a:ln>
              <a:noFill/>
            </a:ln>
          </p:spPr>
          <p:txBody>
            <a:bodyPr wrap="none" lIns="0" tIns="0" rIns="0" bIns="0" anchor="t" anchorCtr="0">
              <a:spAutoFit/>
            </a:bodyPr>
            <a:lstStyle/>
            <a:p>
              <a:pPr algn="ctr"/>
              <a:r>
                <a:rPr lang="en-US" sz="980" b="1" dirty="0">
                  <a:solidFill>
                    <a:srgbClr val="5A3200"/>
                  </a:solidFill>
                  <a:latin typeface="Arial"/>
                  <a:ea typeface="Arial"/>
                  <a:cs typeface="Arial"/>
                </a:rPr>
                <a:t>OMEA</a:t>
              </a:r>
            </a:p>
          </p:txBody>
        </p:sp>
        <p:sp>
          <p:nvSpPr>
            <p:cNvPr id="33" name="TextBox 33"/>
            <p:cNvSpPr txBox="1"/>
            <p:nvPr/>
          </p:nvSpPr>
          <p:spPr>
            <a:xfrm>
              <a:off x="8134921" y="5332095"/>
              <a:ext cx="494157" cy="176212"/>
            </a:xfrm>
            <a:prstGeom prst="rect">
              <a:avLst/>
            </a:prstGeom>
            <a:noFill/>
            <a:ln>
              <a:noFill/>
            </a:ln>
          </p:spPr>
          <p:txBody>
            <a:bodyPr wrap="none" lIns="0" tIns="0" rIns="0" bIns="0" anchor="t" anchorCtr="0">
              <a:spAutoFit/>
            </a:bodyPr>
            <a:lstStyle/>
            <a:p>
              <a:pPr algn="ctr"/>
              <a:r>
                <a:rPr lang="zh-CN" sz="900" dirty="0">
                  <a:solidFill>
                    <a:srgbClr val="5A3200"/>
                  </a:solidFill>
                  <a:latin typeface="Arial"/>
                  <a:ea typeface="Microsoft YaHei"/>
                  <a:cs typeface="Arial"/>
                </a:rPr>
                <a:t>核心连接</a:t>
              </a:r>
            </a:p>
          </p:txBody>
        </p:sp>
        <p:sp>
          <p:nvSpPr>
            <p:cNvPr id="34" name="Ellipse 34"/>
            <p:cNvSpPr/>
            <p:nvPr/>
          </p:nvSpPr>
          <p:spPr>
            <a:xfrm>
              <a:off x="5981700" y="2362200"/>
              <a:ext cx="800100" cy="800100"/>
            </a:xfrm>
            <a:prstGeom prst="ellipse">
              <a:avLst/>
            </a:prstGeom>
            <a:solidFill>
              <a:srgbClr val="FFA640"/>
            </a:solidFill>
            <a:ln w="19050">
              <a:solidFill>
                <a:srgbClr val="B85C00"/>
              </a:solidFill>
            </a:ln>
          </p:spPr>
        </p:sp>
        <p:sp>
          <p:nvSpPr>
            <p:cNvPr id="35" name="TextBox 35"/>
            <p:cNvSpPr txBox="1"/>
            <p:nvPr/>
          </p:nvSpPr>
          <p:spPr>
            <a:xfrm>
              <a:off x="6202246" y="2607945"/>
              <a:ext cx="359009" cy="176212"/>
            </a:xfrm>
            <a:prstGeom prst="rect">
              <a:avLst/>
            </a:prstGeom>
            <a:noFill/>
            <a:ln>
              <a:noFill/>
            </a:ln>
          </p:spPr>
          <p:txBody>
            <a:bodyPr wrap="none" lIns="0" tIns="0" rIns="0" bIns="0" anchor="t" anchorCtr="0">
              <a:spAutoFit/>
            </a:bodyPr>
            <a:lstStyle/>
            <a:p>
              <a:pPr algn="ctr"/>
              <a:r>
                <a:rPr lang="en-US" sz="900" b="1" dirty="0">
                  <a:solidFill>
                    <a:srgbClr val="5A3200"/>
                  </a:solidFill>
                  <a:latin typeface="Arial"/>
                  <a:ea typeface="Arial"/>
                  <a:cs typeface="Arial"/>
                </a:rPr>
                <a:t>OMEA</a:t>
              </a:r>
            </a:p>
          </p:txBody>
        </p:sp>
        <p:sp>
          <p:nvSpPr>
            <p:cNvPr id="36" name="TextBox 36"/>
            <p:cNvSpPr txBox="1"/>
            <p:nvPr/>
          </p:nvSpPr>
          <p:spPr>
            <a:xfrm>
              <a:off x="6016142" y="2758916"/>
              <a:ext cx="731215" cy="161925"/>
            </a:xfrm>
            <a:prstGeom prst="rect">
              <a:avLst/>
            </a:prstGeom>
            <a:noFill/>
            <a:ln>
              <a:noFill/>
            </a:ln>
          </p:spPr>
          <p:txBody>
            <a:bodyPr wrap="none" lIns="0" tIns="0" rIns="0" bIns="0" anchor="t" anchorCtr="0">
              <a:spAutoFit/>
            </a:bodyPr>
            <a:lstStyle/>
            <a:p>
              <a:pPr algn="ctr"/>
              <a:r>
                <a:rPr lang="zh-CN" sz="820" dirty="0">
                  <a:solidFill>
                    <a:srgbClr val="5A3200"/>
                  </a:solidFill>
                  <a:latin typeface="Arial"/>
                  <a:ea typeface="Microsoft YaHei"/>
                  <a:cs typeface="Arial"/>
                </a:rPr>
                <a:t>安全/ICT(G3)</a:t>
              </a:r>
            </a:p>
          </p:txBody>
        </p:sp>
        <p:sp>
          <p:nvSpPr>
            <p:cNvPr id="37" name="Ellipse 37"/>
            <p:cNvSpPr/>
            <p:nvPr/>
          </p:nvSpPr>
          <p:spPr>
            <a:xfrm>
              <a:off x="2171700" y="2171700"/>
              <a:ext cx="800100" cy="800100"/>
            </a:xfrm>
            <a:prstGeom prst="ellipse">
              <a:avLst/>
            </a:prstGeom>
            <a:solidFill>
              <a:srgbClr val="FF7900"/>
            </a:solidFill>
            <a:ln w="19050">
              <a:solidFill>
                <a:srgbClr val="B85C00"/>
              </a:solidFill>
            </a:ln>
          </p:spPr>
        </p:sp>
        <p:sp>
          <p:nvSpPr>
            <p:cNvPr id="38" name="TextBox 38"/>
            <p:cNvSpPr txBox="1"/>
            <p:nvPr/>
          </p:nvSpPr>
          <p:spPr>
            <a:xfrm>
              <a:off x="2442652" y="2417445"/>
              <a:ext cx="258196"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Arial"/>
                  <a:ea typeface="Arial"/>
                  <a:cs typeface="Arial"/>
                </a:rPr>
                <a:t>OEU</a:t>
              </a:r>
            </a:p>
          </p:txBody>
        </p:sp>
        <p:sp>
          <p:nvSpPr>
            <p:cNvPr id="39" name="TextBox 39"/>
            <p:cNvSpPr txBox="1"/>
            <p:nvPr/>
          </p:nvSpPr>
          <p:spPr>
            <a:xfrm>
              <a:off x="2282419" y="2568416"/>
              <a:ext cx="578663"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Arial"/>
                  <a:ea typeface="Microsoft YaHei"/>
                  <a:cs typeface="Arial"/>
                </a:rPr>
                <a:t>波兰IT集成</a:t>
              </a:r>
            </a:p>
          </p:txBody>
        </p:sp>
        <p:sp>
          <p:nvSpPr>
            <p:cNvPr id="40" name="Ellipse 40"/>
            <p:cNvSpPr/>
            <p:nvPr/>
          </p:nvSpPr>
          <p:spPr>
            <a:xfrm>
              <a:off x="1809750" y="3048000"/>
              <a:ext cx="762000" cy="762000"/>
            </a:xfrm>
            <a:prstGeom prst="ellipse">
              <a:avLst/>
            </a:prstGeom>
            <a:solidFill>
              <a:srgbClr val="B85C00"/>
            </a:solidFill>
            <a:ln w="19050">
              <a:solidFill>
                <a:srgbClr val="7A3D00"/>
              </a:solidFill>
            </a:ln>
          </p:spPr>
        </p:sp>
        <p:sp>
          <p:nvSpPr>
            <p:cNvPr id="41" name="TextBox 41"/>
            <p:cNvSpPr txBox="1"/>
            <p:nvPr/>
          </p:nvSpPr>
          <p:spPr>
            <a:xfrm>
              <a:off x="2098617" y="3274695"/>
              <a:ext cx="184267"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Arial"/>
                  <a:ea typeface="Arial"/>
                  <a:cs typeface="Arial"/>
                </a:rPr>
                <a:t>OB</a:t>
              </a:r>
            </a:p>
          </p:txBody>
        </p:sp>
        <p:sp>
          <p:nvSpPr>
            <p:cNvPr id="42" name="TextBox 42"/>
            <p:cNvSpPr txBox="1"/>
            <p:nvPr/>
          </p:nvSpPr>
          <p:spPr>
            <a:xfrm>
              <a:off x="1963864" y="3425666"/>
              <a:ext cx="453771" cy="161925"/>
            </a:xfrm>
            <a:prstGeom prst="rect">
              <a:avLst/>
            </a:prstGeom>
            <a:noFill/>
            <a:ln>
              <a:noFill/>
            </a:ln>
          </p:spPr>
          <p:txBody>
            <a:bodyPr wrap="none" lIns="0" tIns="0" rIns="0" bIns="0" anchor="t" anchorCtr="0">
              <a:spAutoFit/>
            </a:bodyPr>
            <a:lstStyle/>
            <a:p>
              <a:pPr algn="ctr"/>
              <a:r>
                <a:rPr lang="zh-CN" sz="820" dirty="0">
                  <a:solidFill>
                    <a:srgbClr val="FFFFFF"/>
                  </a:solidFill>
                  <a:latin typeface="Arial"/>
                  <a:ea typeface="Microsoft YaHei"/>
                  <a:cs typeface="Arial"/>
                </a:rPr>
                <a:t>云栈存量</a:t>
              </a:r>
            </a:p>
          </p:txBody>
        </p:sp>
        <p:sp>
          <p:nvSpPr>
            <p:cNvPr id="43" name="Ellipse 43"/>
            <p:cNvSpPr/>
            <p:nvPr/>
          </p:nvSpPr>
          <p:spPr>
            <a:xfrm>
              <a:off x="1809750" y="4953000"/>
              <a:ext cx="762000" cy="762000"/>
            </a:xfrm>
            <a:prstGeom prst="ellipse">
              <a:avLst/>
            </a:prstGeom>
            <a:solidFill>
              <a:srgbClr val="9B9B9B"/>
            </a:solidFill>
            <a:ln w="19050">
              <a:solidFill>
                <a:srgbClr val="6B6B6B"/>
              </a:solidFill>
            </a:ln>
          </p:spPr>
        </p:sp>
        <p:sp>
          <p:nvSpPr>
            <p:cNvPr id="44" name="TextBox 44"/>
            <p:cNvSpPr txBox="1"/>
            <p:nvPr/>
          </p:nvSpPr>
          <p:spPr>
            <a:xfrm>
              <a:off x="2098617" y="5179695"/>
              <a:ext cx="184267"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Arial"/>
                  <a:ea typeface="Arial"/>
                  <a:cs typeface="Arial"/>
                </a:rPr>
                <a:t>OB</a:t>
              </a:r>
            </a:p>
          </p:txBody>
        </p:sp>
        <p:sp>
          <p:nvSpPr>
            <p:cNvPr id="45" name="TextBox 45"/>
            <p:cNvSpPr txBox="1"/>
            <p:nvPr/>
          </p:nvSpPr>
          <p:spPr>
            <a:xfrm>
              <a:off x="1948358" y="5330666"/>
              <a:ext cx="484784" cy="161925"/>
            </a:xfrm>
            <a:prstGeom prst="rect">
              <a:avLst/>
            </a:prstGeom>
            <a:noFill/>
            <a:ln>
              <a:noFill/>
            </a:ln>
          </p:spPr>
          <p:txBody>
            <a:bodyPr wrap="none" lIns="0" tIns="0" rIns="0" bIns="0" anchor="t" anchorCtr="0">
              <a:spAutoFit/>
            </a:bodyPr>
            <a:lstStyle/>
            <a:p>
              <a:pPr algn="ctr"/>
              <a:r>
                <a:rPr lang="en-US" sz="820" dirty="0">
                  <a:solidFill>
                    <a:srgbClr val="FFFFFF"/>
                  </a:solidFill>
                  <a:latin typeface="Arial"/>
                  <a:ea typeface="Arial"/>
                  <a:cs typeface="Arial"/>
                </a:rPr>
                <a:t>WAN/LAN</a:t>
              </a:r>
            </a:p>
          </p:txBody>
        </p:sp>
        <p:sp>
          <p:nvSpPr>
            <p:cNvPr id="46" name="Ellipse 46"/>
            <p:cNvSpPr/>
            <p:nvPr/>
          </p:nvSpPr>
          <p:spPr>
            <a:xfrm>
              <a:off x="3429000" y="5238750"/>
              <a:ext cx="762000" cy="762000"/>
            </a:xfrm>
            <a:prstGeom prst="ellipse">
              <a:avLst/>
            </a:prstGeom>
            <a:solidFill>
              <a:srgbClr val="9B9B9B"/>
            </a:solidFill>
            <a:ln w="19050">
              <a:solidFill>
                <a:srgbClr val="6B6B6B"/>
              </a:solidFill>
            </a:ln>
          </p:spPr>
        </p:sp>
        <p:sp>
          <p:nvSpPr>
            <p:cNvPr id="47" name="TextBox 47"/>
            <p:cNvSpPr txBox="1"/>
            <p:nvPr/>
          </p:nvSpPr>
          <p:spPr>
            <a:xfrm>
              <a:off x="3680902" y="5465445"/>
              <a:ext cx="258196"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Arial"/>
                  <a:ea typeface="Arial"/>
                  <a:cs typeface="Arial"/>
                </a:rPr>
                <a:t>OEU</a:t>
              </a:r>
            </a:p>
          </p:txBody>
        </p:sp>
        <p:sp>
          <p:nvSpPr>
            <p:cNvPr id="48" name="TextBox 48"/>
            <p:cNvSpPr txBox="1"/>
            <p:nvPr/>
          </p:nvSpPr>
          <p:spPr>
            <a:xfrm>
              <a:off x="3376917" y="5616416"/>
              <a:ext cx="866165" cy="161925"/>
            </a:xfrm>
            <a:prstGeom prst="rect">
              <a:avLst/>
            </a:prstGeom>
            <a:noFill/>
            <a:ln>
              <a:noFill/>
            </a:ln>
          </p:spPr>
          <p:txBody>
            <a:bodyPr wrap="none" lIns="0" tIns="0" rIns="0" bIns="0" anchor="t" anchorCtr="0">
              <a:spAutoFit/>
            </a:bodyPr>
            <a:lstStyle/>
            <a:p>
              <a:pPr algn="ctr"/>
              <a:r>
                <a:rPr lang="en-US" sz="820" dirty="0">
                  <a:solidFill>
                    <a:srgbClr val="FFFFFF"/>
                  </a:solidFill>
                  <a:latin typeface="Arial"/>
                  <a:ea typeface="Arial"/>
                  <a:cs typeface="Arial"/>
                </a:rPr>
                <a:t>RO/PL WAN-RAN</a:t>
              </a:r>
            </a:p>
          </p:txBody>
        </p:sp>
      </p:grpSp>
      <p:grpSp>
        <p:nvGrpSpPr>
          <p:cNvPr id="52" name="Group 52"/>
          <p:cNvGrpSpPr/>
          <p:nvPr/>
        </p:nvGrpSpPr>
        <p:grpSpPr>
          <a:xfrm>
            <a:off x="528447" y="6562249"/>
            <a:ext cx="11135106" cy="190690"/>
            <a:chOff x="528447" y="6562249"/>
            <a:chExt cx="11135106" cy="190690"/>
          </a:xfrm>
        </p:grpSpPr>
        <p:sp>
          <p:nvSpPr>
            <p:cNvPr id="50" name="TextBox 50"/>
            <p:cNvSpPr txBox="1"/>
            <p:nvPr/>
          </p:nvSpPr>
          <p:spPr>
            <a:xfrm>
              <a:off x="528447" y="6562249"/>
              <a:ext cx="1251458" cy="190690"/>
            </a:xfrm>
            <a:prstGeom prst="rect">
              <a:avLst/>
            </a:prstGeom>
            <a:noFill/>
            <a:ln>
              <a:noFill/>
            </a:ln>
          </p:spPr>
          <p:txBody>
            <a:bodyPr wrap="none" lIns="0" tIns="0" rIns="0" bIns="0" anchor="t" anchorCtr="0">
              <a:spAutoFit/>
            </a:bodyPr>
            <a:lstStyle/>
            <a:p>
              <a:pPr algn="l"/>
              <a:r>
                <a:rPr lang="en-US" sz="980" dirty="0">
                  <a:solidFill>
                    <a:srgbClr val="9B9B9B"/>
                  </a:solidFill>
                  <a:latin typeface="Arial"/>
                  <a:ea typeface="Arial"/>
                  <a:cs typeface="Arial"/>
                </a:rPr>
                <a:t>Huawei Confidential</a:t>
              </a:r>
            </a:p>
          </p:txBody>
        </p:sp>
        <p:sp>
          <p:nvSpPr>
            <p:cNvPr id="51" name="TextBox 51"/>
            <p:cNvSpPr txBox="1"/>
            <p:nvPr/>
          </p:nvSpPr>
          <p:spPr>
            <a:xfrm>
              <a:off x="11509267" y="6562249"/>
              <a:ext cx="154286" cy="190690"/>
            </a:xfrm>
            <a:prstGeom prst="rect">
              <a:avLst/>
            </a:prstGeom>
            <a:noFill/>
            <a:ln>
              <a:noFill/>
            </a:ln>
          </p:spPr>
          <p:txBody>
            <a:bodyPr wrap="none" lIns="0" tIns="0" rIns="0" bIns="0" anchor="t" anchorCtr="0">
              <a:spAutoFit/>
            </a:bodyPr>
            <a:lstStyle/>
            <a:p>
              <a:pPr algn="r"/>
              <a:r>
                <a:rPr lang="en-US" sz="980" dirty="0">
                  <a:solidFill>
                    <a:srgbClr val="9B9B9B"/>
                  </a:solidFill>
                  <a:latin typeface="Arial"/>
                  <a:ea typeface="Arial"/>
                  <a:cs typeface="Arial"/>
                </a:rPr>
                <a:t>16</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16</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
  <cp:lastModifiedBy/>
  <cp:revision>1</cp:revision>
  <dcterms:created xsi:type="dcterms:W3CDTF">2026-07-03T21:07:18Z</dcterms:created>
  <dcterms:modified xsi:type="dcterms:W3CDTF">2026-07-03T21:07:18Z</dcterms:modified>
  <cp:category/>
  <cp:contentStatus/>
</cp:coreProperties>
</file>