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p:txBody>
          <a:bodyPr/>
          <a:lstStyle/>
          <a:p>
            <a:endParaRPr lang="en-US"/>
          </a:p>
        </p:txBody>
      </p:sp>
      <p:sp>
        <p:nvSpPr>
          <p:cNvPr id="3" name="Date Placeholder 2"/>
          <p:cNvSpPr>
            <a:spLocks noGrp="1"/>
          </p:cNvSpPr>
          <p:nvPr>
            <p:ph type="dt" sz="half" idx="1"/>
          </p:nvPr>
        </p:nvSpPr>
        <p:spPr/>
        <p:txBody>
          <a:bodyPr/>
          <a:lstStyle/>
          <a:p>
            <a:endParaRPr lang="en-US"/>
          </a:p>
        </p:txBody>
      </p:sp>
      <p:sp>
        <p:nvSpPr>
          <p:cNvPr id="4" name="Slide Image Placeholder 3"/>
          <p:cNvSpPr>
            <a:spLocks noGrp="1" noRot="1" noChangeAspect="1"/>
          </p:cNvSpPr>
          <p:nvPr>
            <p:ph type="sldImg" idx="2"/>
          </p:nvPr>
        </p:nvSpPr>
        <p:spPr/>
      </p:sp>
      <p:sp>
        <p:nvSpPr>
          <p:cNvPr id="5" name="Notes Placeholder 4"/>
          <p:cNvSpPr>
            <a:spLocks noGrp="1"/>
          </p:cNvSpPr>
          <p:nvPr>
            <p:ph type="body" sz="quarter" idx="3"/>
          </p:nvPr>
        </p:nvSpPr>
        <p:spPr/>
        <p:txBody>
          <a:bodyPr/>
          <a:lstStyle/>
          <a:p>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欢迎各位。这份材料是对Orange集团三大B2B区域业务——OB、OEU和OMEA——的横向对比洞察，核心目的是回答一个问题：华为在这三个区域中的参与空间到底有什么不同。接下来的十六页，会从收入结构、商业模式、五大产品维度、华为参与视角、以及最终的价值场景建议，逐层拆解这三种截然不同的现实。</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三个区域合计约四十七亿欧元的B2B收入，但体量最大的OB恰恰是华为参与度最低的市场，体量最小的OMEA反而是华为深度绑定的核心阵地。OB是法国总部加全球大客户业务，财年收入七十三亿欧元但同比下滑百分之四点八；OEU覆盖比利时、波兰、罗马尼亚等欧洲国家加西班牙，合计约二十七亿欧元，多为估算；OMEA是中东与非洲，规模最小但增长最快，二零三零年目标要翻到二十亿欧元。这就是接下来所有分析的起点。</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客户结构上，三个区域走的是完全不同的路。OB以大企业和跨国客户为主，占比超过一半；而OMEA最值得关注的问题是，SOHO客户数量在增长，但每户平均收入却下降了百分之十九——这是一个增量不增值的结构性矛盾，也是OMEA接下来必须解决的短板。</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行业打法上，OB深耕金融、国防、医疗这些成熟垂直行业，走的是存量深耕的逻辑；OEU的波兰通过并购构建IT集成能力，是能力建设逻辑；OMEA则完全不同，矿业和港口的基础设施项目是打开增长的钥匙，这也正是华为参与度最高的行业切入点。</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从产品组合看，OB已经是一个连接、安全、云、数字化办公、数据智能全谱系的DICT服务商，连接收入占比已经降到百分之三十七；OMEA则还处在以连接为基座的阶段，ICT只占百分之八点三，但增速高达百分之二十八，是三个区域中弹性最大的市场。</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再看两种商业模式——管理服务和集成转售的收入结构。OB的管理服务占比约七成三，OMEA的管理服务占比更高，达到百分之九十一点七，但集成转售的目标是从百分之八点三提升到二零二八年的三亿零一百万欧元，这正是OMEA下一步要重点突破的方向。</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进入五个标准产品维度的第一个——WAN连接。这是三个区域共同的营收支柱，但华为的准入现实完全不同。OB的连接市场里，华为基本看不见踪影；OEU由于波兰和罗马尼亚的法律禁令，华为被完全排除；只有在OMEA，凭借矿业和港口的移动专网案例，华为才和诺基亚并列成为主力供应商。</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LAN管理服务是本次调研数据最薄弱的一个维度。除了OB有相对完整的信息之外，OEU和OMEA我们都诚实地标注为数据待补充，不做过度推断——这也提醒我们，这个维度值得后续做定向调研补齐。</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云服务是华为在这份材料里最深的一个存量锚点。OB和OMEA共用同一套Flexible Engine云技术底座，但两者的呈现方式完全不同——在OB，它是一项看不见的底层技术；而在OMEA，华为的AUTIN智能运维系统直接部署在这套云平台之上，支撑达喀尔和阿比让的联合运维中心，从幕后走到了台前。</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安全托管服务上，三个区域各有各的打法。OB是Orange Cyberdefense的自营主场，年收入十三亿欧元；OEU通过罗马尼亚的SCUT合资公司切入；OMEA的安全能力还在G3加速计划里孵化，独立的收入数据目前还拿不到，但ICT整体百分之二十八的增速说明这个方向值得持续跟踪。</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项目集成与转售领域，波兰走出了一条和OB相似的路——通过并购构建集成能力。而在OMEA，矿业和港口的移动专网集成项目里，华为再次和诺基亚并列成为主力供应商，这与OB和OEU完全排除华为的局面形成鲜明对比。</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这一页是本次调研新增的维度，也是最重要的发现。移动专网在原始材料里并不存在，但OMEA的资料显示，这恰恰是华为参与度最高的场景——在矿业和港口的实际案例里，华为和诺基亚的供应商份额几乎并驾齐驱。这个维度值得作为对OB和OEU寻找突破口的重要参考。</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现在从华为视角逐区域复盘。OB是一个生态位竞争排除区——法国的WAN、LAN、安全目录里基本看不到华为的身影，这是市场化竞争的结果，而不是行政禁令。华为唯一的存量锚点，是那套看不见的Flexible Engine云栈底层技术。</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OEU是三个区域里对华为最不友好的法律环境。波兰在二零二四年十一月设立了高风险供应商认定机制，罗马尼亚早在二零二一年六月就通过法律正式禁止华为，目前正在把存量设备替换为爱立信。这是国家安全立法加对美协议共同作用的结果，几乎没有回旋余地。</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OMEA是华为在Orange集团B2B业务里真正的核心阵地。从RAN到云运维的全栈深度绑定——华为占据非洲百分之七十的四G骨干网份额，联合部署了两千个乡村基站，AUTIN运维系统直接跑在Orange自己的云平台上，双方还共建了达喀尔和阿比让的联合运维中心。这是本次调研里，华为叙事最强的一页。</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最后，把三个区域的业务模块放进同一张销售空间和场景价值的矩阵里看。OMEA的移动专网和云运维协同，毫无疑问是肥肉区；OB的WAN和LAN是骨头区；OEU的罗马尼亚和波兰WAN-RAN也因为法律排除落入骨头区。今天的核心结论只有一句话——资源应该向OMEA倾斜，尤其是移动专网和云运维协同这两个场景，这是华为在Orange集团B2B业务里最值得投入的方向。谢谢大家。</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9" name="Group 9"/>
          <p:cNvGrpSpPr/>
          <p:nvPr/>
        </p:nvGrpSpPr>
        <p:grpSpPr>
          <a:xfrm>
            <a:off x="8191500" y="0"/>
            <a:ext cx="4000500" cy="6858000"/>
            <a:chOff x="8191500" y="0"/>
            <a:chExt cx="4000500" cy="6858000"/>
          </a:xfrm>
        </p:grpSpPr>
        <p:sp>
          <p:nvSpPr>
            <p:cNvPr id="3" name="Rectangle 3"/>
            <p:cNvSpPr/>
            <p:nvPr/>
          </p:nvSpPr>
          <p:spPr>
            <a:xfrm>
              <a:off x="8191500" y="0"/>
              <a:ext cx="1333500" cy="6858000"/>
            </a:xfrm>
            <a:prstGeom prst="rect">
              <a:avLst/>
            </a:prstGeom>
            <a:solidFill>
              <a:srgbClr val="B85C00"/>
            </a:solidFill>
            <a:ln>
              <a:noFill/>
            </a:ln>
          </p:spPr>
        </p:sp>
        <p:sp>
          <p:nvSpPr>
            <p:cNvPr id="4" name="Rectangle 4"/>
            <p:cNvSpPr/>
            <p:nvPr/>
          </p:nvSpPr>
          <p:spPr>
            <a:xfrm>
              <a:off x="9525000" y="0"/>
              <a:ext cx="1333500" cy="6858000"/>
            </a:xfrm>
            <a:prstGeom prst="rect">
              <a:avLst/>
            </a:prstGeom>
            <a:solidFill>
              <a:srgbClr val="FF7900"/>
            </a:solidFill>
            <a:ln>
              <a:noFill/>
            </a:ln>
          </p:spPr>
        </p:sp>
        <p:sp>
          <p:nvSpPr>
            <p:cNvPr id="5" name="Rectangle 5"/>
            <p:cNvSpPr/>
            <p:nvPr/>
          </p:nvSpPr>
          <p:spPr>
            <a:xfrm>
              <a:off x="10858500" y="0"/>
              <a:ext cx="1333500" cy="6858000"/>
            </a:xfrm>
            <a:prstGeom prst="rect">
              <a:avLst/>
            </a:prstGeom>
            <a:solidFill>
              <a:srgbClr val="FFA640"/>
            </a:solidFill>
            <a:ln>
              <a:noFill/>
            </a:ln>
          </p:spPr>
        </p:sp>
        <p:sp>
          <p:nvSpPr>
            <p:cNvPr id="6" name="TextBox 6"/>
            <p:cNvSpPr txBox="1"/>
            <p:nvPr/>
          </p:nvSpPr>
          <p:spPr>
            <a:xfrm>
              <a:off x="8705012" y="6124575"/>
              <a:ext cx="306476"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OB</a:t>
              </a:r>
            </a:p>
          </p:txBody>
        </p:sp>
        <p:sp>
          <p:nvSpPr>
            <p:cNvPr id="7" name="TextBox 7"/>
            <p:cNvSpPr txBox="1"/>
            <p:nvPr/>
          </p:nvSpPr>
          <p:spPr>
            <a:xfrm>
              <a:off x="9976904" y="6124575"/>
              <a:ext cx="429692"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OEU</a:t>
              </a:r>
            </a:p>
          </p:txBody>
        </p:sp>
        <p:sp>
          <p:nvSpPr>
            <p:cNvPr id="8" name="TextBox 8"/>
            <p:cNvSpPr txBox="1"/>
            <p:nvPr/>
          </p:nvSpPr>
          <p:spPr>
            <a:xfrm>
              <a:off x="11226394" y="6124575"/>
              <a:ext cx="597713"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OMEA</a:t>
              </a:r>
            </a:p>
          </p:txBody>
        </p:sp>
      </p:grpSp>
      <p:grpSp>
        <p:nvGrpSpPr>
          <p:cNvPr id="16" name="Group 16"/>
          <p:cNvGrpSpPr/>
          <p:nvPr/>
        </p:nvGrpSpPr>
        <p:grpSpPr>
          <a:xfrm>
            <a:off x="533400" y="2274570"/>
            <a:ext cx="8391677" cy="2653855"/>
            <a:chOff x="533400" y="2274570"/>
            <a:chExt cx="8391677" cy="2653855"/>
          </a:xfrm>
        </p:grpSpPr>
        <p:sp>
          <p:nvSpPr>
            <p:cNvPr id="10" name="Rectangle 10"/>
            <p:cNvSpPr/>
            <p:nvPr/>
          </p:nvSpPr>
          <p:spPr>
            <a:xfrm>
              <a:off x="533400" y="2362200"/>
              <a:ext cx="76200" cy="1428750"/>
            </a:xfrm>
            <a:prstGeom prst="rect">
              <a:avLst/>
            </a:prstGeom>
            <a:solidFill>
              <a:srgbClr val="FF7900"/>
            </a:solidFill>
            <a:ln>
              <a:noFill/>
            </a:ln>
          </p:spPr>
        </p:sp>
        <p:sp>
          <p:nvSpPr>
            <p:cNvPr id="11" name="TextBox 11"/>
            <p:cNvSpPr txBox="1"/>
            <p:nvPr/>
          </p:nvSpPr>
          <p:spPr>
            <a:xfrm>
              <a:off x="819150" y="2274570"/>
              <a:ext cx="5611507" cy="1047750"/>
            </a:xfrm>
            <a:prstGeom prst="rect">
              <a:avLst/>
            </a:prstGeom>
            <a:noFill/>
            <a:ln>
              <a:noFill/>
            </a:ln>
          </p:spPr>
          <p:txBody>
            <a:bodyPr wrap="none" lIns="0" tIns="0" rIns="0" bIns="0" anchor="t" anchorCtr="0">
              <a:spAutoFit/>
            </a:bodyPr>
            <a:lstStyle/>
            <a:p>
              <a:pPr algn="l"/>
              <a:r>
                <a:rPr lang="zh-CN" sz="5400" b="1" dirty="0">
                  <a:solidFill>
                    <a:srgbClr val="1A1A1A"/>
                  </a:solidFill>
                  <a:latin typeface="Arial"/>
                  <a:ea typeface="Microsoft YaHei"/>
                  <a:cs typeface="Arial"/>
                </a:rPr>
                <a:t>Orange集团B2B</a:t>
              </a:r>
            </a:p>
          </p:txBody>
        </p:sp>
        <p:sp>
          <p:nvSpPr>
            <p:cNvPr id="12" name="TextBox 12"/>
            <p:cNvSpPr txBox="1"/>
            <p:nvPr/>
          </p:nvSpPr>
          <p:spPr>
            <a:xfrm>
              <a:off x="819150" y="3036570"/>
              <a:ext cx="6144463" cy="1047750"/>
            </a:xfrm>
            <a:prstGeom prst="rect">
              <a:avLst/>
            </a:prstGeom>
            <a:noFill/>
            <a:ln>
              <a:noFill/>
            </a:ln>
          </p:spPr>
          <p:txBody>
            <a:bodyPr wrap="none" lIns="0" tIns="0" rIns="0" bIns="0" anchor="t" anchorCtr="0">
              <a:spAutoFit/>
            </a:bodyPr>
            <a:lstStyle/>
            <a:p>
              <a:pPr algn="l"/>
              <a:r>
                <a:rPr lang="zh-CN" sz="5400" b="1" dirty="0">
                  <a:solidFill>
                    <a:srgbClr val="1A1A1A"/>
                  </a:solidFill>
                  <a:latin typeface="Arial"/>
                  <a:ea typeface="Microsoft YaHei"/>
                  <a:cs typeface="Arial"/>
                </a:rPr>
                <a:t>三大区域业务洞察</a:t>
              </a:r>
            </a:p>
          </p:txBody>
        </p:sp>
        <p:sp>
          <p:nvSpPr>
            <p:cNvPr id="13" name="TextBox 13"/>
            <p:cNvSpPr txBox="1"/>
            <p:nvPr/>
          </p:nvSpPr>
          <p:spPr>
            <a:xfrm>
              <a:off x="827532" y="3964305"/>
              <a:ext cx="8097545" cy="410718"/>
            </a:xfrm>
            <a:prstGeom prst="rect">
              <a:avLst/>
            </a:prstGeom>
            <a:noFill/>
            <a:ln>
              <a:noFill/>
            </a:ln>
          </p:spPr>
          <p:txBody>
            <a:bodyPr wrap="none" lIns="0" tIns="0" rIns="0" bIns="0" anchor="t" anchorCtr="0">
              <a:spAutoFit/>
            </a:bodyPr>
            <a:lstStyle/>
            <a:p>
              <a:pPr algn="l"/>
              <a:r>
                <a:rPr lang="zh-CN" sz="2100" b="1" dirty="0">
                  <a:solidFill>
                    <a:srgbClr val="FF7900"/>
                  </a:solidFill>
                  <a:latin typeface="Arial"/>
                  <a:ea typeface="Microsoft YaHei"/>
                  <a:cs typeface="Arial"/>
                </a:rPr>
                <a:t>OB · OEU · OMEA —— 华为参与空间的三种截然不同的现实</a:t>
              </a:r>
            </a:p>
          </p:txBody>
        </p:sp>
        <p:sp>
          <p:nvSpPr>
            <p:cNvPr id="14" name="Line 14"/>
            <p:cNvSpPr/>
            <p:nvPr/>
          </p:nvSpPr>
          <p:spPr>
            <a:xfrm>
              <a:off x="838200" y="4476750"/>
              <a:ext cx="5829300" cy="9525"/>
            </a:xfrm>
            <a:custGeom>
              <a:avLst/>
              <a:gdLst/>
              <a:ahLst/>
              <a:cxnLst/>
              <a:rect l="l" t="t" r="r" b="b"/>
              <a:pathLst>
                <a:path w="5829300" h="9525">
                  <a:moveTo>
                    <a:pt x="0" y="0"/>
                  </a:moveTo>
                  <a:lnTo>
                    <a:pt x="5829300" y="0"/>
                  </a:lnTo>
                </a:path>
              </a:pathLst>
            </a:custGeom>
            <a:noFill/>
            <a:ln w="19050">
              <a:solidFill>
                <a:srgbClr val="E8E2DA"/>
              </a:solidFill>
            </a:ln>
          </p:spPr>
        </p:sp>
        <p:sp>
          <p:nvSpPr>
            <p:cNvPr id="15" name="TextBox 15"/>
            <p:cNvSpPr txBox="1"/>
            <p:nvPr/>
          </p:nvSpPr>
          <p:spPr>
            <a:xfrm>
              <a:off x="831342" y="4664392"/>
              <a:ext cx="7100990" cy="264033"/>
            </a:xfrm>
            <a:prstGeom prst="rect">
              <a:avLst/>
            </a:prstGeom>
            <a:noFill/>
            <a:ln>
              <a:noFill/>
            </a:ln>
          </p:spPr>
          <p:txBody>
            <a:bodyPr wrap="none" lIns="0" tIns="0" rIns="0" bIns="0" anchor="t" anchorCtr="0">
              <a:spAutoFit/>
            </a:bodyPr>
            <a:lstStyle/>
            <a:p>
              <a:pPr algn="l"/>
              <a:r>
                <a:rPr lang="en-US" sz="1350" dirty="0">
                  <a:solidFill>
                    <a:srgbClr val="6B6B6B"/>
                  </a:solidFill>
                  <a:latin typeface="Arial"/>
                  <a:ea typeface="Arial"/>
                  <a:cs typeface="Arial"/>
                </a:rPr>
                <a:t>OB · Orange Business OEU · Orange Europe OMEA · Orange Middle East &amp; Africa</a:t>
              </a:r>
            </a:p>
          </p:txBody>
        </p:sp>
      </p:grpSp>
      <p:grpSp>
        <p:nvGrpSpPr>
          <p:cNvPr id="19" name="Group 19"/>
          <p:cNvGrpSpPr/>
          <p:nvPr/>
        </p:nvGrpSpPr>
        <p:grpSpPr>
          <a:xfrm>
            <a:off x="528447" y="6428899"/>
            <a:ext cx="6649336" cy="190690"/>
            <a:chOff x="528447" y="6428899"/>
            <a:chExt cx="6649336" cy="190690"/>
          </a:xfrm>
        </p:grpSpPr>
        <p:sp>
          <p:nvSpPr>
            <p:cNvPr id="17" name="TextBox 17"/>
            <p:cNvSpPr txBox="1"/>
            <p:nvPr/>
          </p:nvSpPr>
          <p:spPr>
            <a:xfrm>
              <a:off x="528447" y="642889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18" name="TextBox 18"/>
            <p:cNvSpPr txBox="1"/>
            <p:nvPr/>
          </p:nvSpPr>
          <p:spPr>
            <a:xfrm>
              <a:off x="6662547" y="6428899"/>
              <a:ext cx="515236"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2026.07</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309562"/>
            <a:ext cx="11136630" cy="802005"/>
            <a:chOff x="521970" y="309562"/>
            <a:chExt cx="11136630" cy="802005"/>
          </a:xfrm>
        </p:grpSpPr>
        <p:sp>
          <p:nvSpPr>
            <p:cNvPr id="3" name="TextBox 3"/>
            <p:cNvSpPr txBox="1"/>
            <p:nvPr/>
          </p:nvSpPr>
          <p:spPr>
            <a:xfrm>
              <a:off x="521970" y="309562"/>
              <a:ext cx="10010508"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Orange集团B2B三大区域合计约</a:t>
              </a:r>
              <a:r>
                <a:rPr lang="zh-CN" sz="2250" b="1" dirty="0">
                  <a:solidFill>
                    <a:srgbClr val="FF7900"/>
                  </a:solidFill>
                  <a:latin typeface="Arial"/>
                  <a:ea typeface="Microsoft YaHei"/>
                  <a:cs typeface="Arial"/>
                </a:rPr>
                <a:t>47亿€</a:t>
              </a:r>
              <a:r>
                <a:rPr lang="zh-CN" sz="2250" b="1" dirty="0">
                  <a:solidFill>
                    <a:srgbClr val="1A1A1A"/>
                  </a:solidFill>
                  <a:latin typeface="Arial"/>
                  <a:ea typeface="Microsoft YaHei"/>
                  <a:cs typeface="Arial"/>
                </a:rPr>
                <a:t>，OMEA是华为的核心增长阵地</a:t>
              </a:r>
            </a:p>
          </p:txBody>
        </p:sp>
        <p:sp>
          <p:nvSpPr>
            <p:cNvPr id="4" name="TextBox 4"/>
            <p:cNvSpPr txBox="1"/>
            <p:nvPr/>
          </p:nvSpPr>
          <p:spPr>
            <a:xfrm>
              <a:off x="521970" y="671512"/>
              <a:ext cx="333287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OEU是</a:t>
              </a:r>
              <a:r>
                <a:rPr lang="zh-CN" sz="2250" b="1" dirty="0">
                  <a:solidFill>
                    <a:srgbClr val="FF7900"/>
                  </a:solidFill>
                  <a:latin typeface="Arial"/>
                  <a:ea typeface="Microsoft YaHei"/>
                  <a:cs typeface="Arial"/>
                </a:rPr>
                <a:t>法律强制退出区</a:t>
              </a:r>
            </a:p>
          </p:txBody>
        </p:sp>
        <p:sp>
          <p:nvSpPr>
            <p:cNvPr id="5" name="Line 5"/>
            <p:cNvSpPr/>
            <p:nvPr/>
          </p:nvSpPr>
          <p:spPr>
            <a:xfrm>
              <a:off x="533400" y="10668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50" name="Group 50"/>
          <p:cNvGrpSpPr/>
          <p:nvPr/>
        </p:nvGrpSpPr>
        <p:grpSpPr>
          <a:xfrm>
            <a:off x="533400" y="1333500"/>
            <a:ext cx="10972800" cy="2476500"/>
            <a:chOff x="533400" y="1333500"/>
            <a:chExt cx="10972800" cy="2476500"/>
          </a:xfrm>
        </p:grpSpPr>
        <p:sp>
          <p:nvSpPr>
            <p:cNvPr id="7" name="Rectangle 7"/>
            <p:cNvSpPr/>
            <p:nvPr/>
          </p:nvSpPr>
          <p:spPr>
            <a:xfrm>
              <a:off x="533400" y="1333500"/>
              <a:ext cx="2571750" cy="2476500"/>
            </a:xfrm>
            <a:prstGeom prst="roundRect">
              <a:avLst>
                <a:gd name="adj" fmla="val 1538"/>
              </a:avLst>
            </a:prstGeom>
            <a:solidFill>
              <a:srgbClr val="FBF6F1"/>
            </a:solidFill>
            <a:ln w="9525">
              <a:solidFill>
                <a:srgbClr val="E8E2DA"/>
              </a:solidFill>
            </a:ln>
          </p:spPr>
        </p:sp>
        <p:sp>
          <p:nvSpPr>
            <p:cNvPr id="8" name="Rectangle 8"/>
            <p:cNvSpPr/>
            <p:nvPr/>
          </p:nvSpPr>
          <p:spPr>
            <a:xfrm>
              <a:off x="762000" y="1562100"/>
              <a:ext cx="57150" cy="419100"/>
            </a:xfrm>
            <a:prstGeom prst="rect">
              <a:avLst/>
            </a:prstGeom>
            <a:solidFill>
              <a:srgbClr val="B85C00"/>
            </a:solidFill>
            <a:ln>
              <a:noFill/>
            </a:ln>
          </p:spPr>
        </p:sp>
        <p:sp>
          <p:nvSpPr>
            <p:cNvPr id="9" name="TextBox 9"/>
            <p:cNvSpPr txBox="1"/>
            <p:nvPr/>
          </p:nvSpPr>
          <p:spPr>
            <a:xfrm>
              <a:off x="944880" y="1600200"/>
              <a:ext cx="1714481"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Business</a:t>
              </a:r>
            </a:p>
          </p:txBody>
        </p:sp>
        <p:sp>
          <p:nvSpPr>
            <p:cNvPr id="10" name="TextBox 10"/>
            <p:cNvSpPr txBox="1"/>
            <p:nvPr/>
          </p:nvSpPr>
          <p:spPr>
            <a:xfrm>
              <a:off x="946404" y="1832610"/>
              <a:ext cx="1864157"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法国+全球大客户（OB）</a:t>
              </a:r>
            </a:p>
          </p:txBody>
        </p:sp>
        <p:sp>
          <p:nvSpPr>
            <p:cNvPr id="11" name="TextBox 11"/>
            <p:cNvSpPr txBox="1"/>
            <p:nvPr/>
          </p:nvSpPr>
          <p:spPr>
            <a:xfrm>
              <a:off x="935736" y="2358390"/>
              <a:ext cx="1316288" cy="645414"/>
            </a:xfrm>
            <a:prstGeom prst="rect">
              <a:avLst/>
            </a:prstGeom>
            <a:noFill/>
            <a:ln>
              <a:noFill/>
            </a:ln>
          </p:spPr>
          <p:txBody>
            <a:bodyPr wrap="none" lIns="0" tIns="0" rIns="0" bIns="0" anchor="t" anchorCtr="0">
              <a:spAutoFit/>
            </a:bodyPr>
            <a:lstStyle/>
            <a:p>
              <a:pPr algn="l"/>
              <a:r>
                <a:rPr lang="en-US" sz="3300" b="1" dirty="0">
                  <a:solidFill>
                    <a:srgbClr val="B85C00"/>
                  </a:solidFill>
                  <a:latin typeface="Arial"/>
                  <a:ea typeface="Arial"/>
                  <a:cs typeface="Arial"/>
                </a:rPr>
                <a:t>7,325</a:t>
              </a:r>
            </a:p>
          </p:txBody>
        </p:sp>
        <p:sp>
          <p:nvSpPr>
            <p:cNvPr id="12" name="TextBox 12"/>
            <p:cNvSpPr txBox="1"/>
            <p:nvPr/>
          </p:nvSpPr>
          <p:spPr>
            <a:xfrm>
              <a:off x="2277618" y="2536508"/>
              <a:ext cx="337124" cy="322707"/>
            </a:xfrm>
            <a:prstGeom prst="rect">
              <a:avLst/>
            </a:prstGeom>
            <a:noFill/>
            <a:ln>
              <a:noFill/>
            </a:ln>
          </p:spPr>
          <p:txBody>
            <a:bodyPr wrap="none" lIns="0" tIns="0" rIns="0" bIns="0" anchor="t" anchorCtr="0">
              <a:spAutoFit/>
            </a:bodyPr>
            <a:lstStyle/>
            <a:p>
              <a:pPr algn="l"/>
              <a:r>
                <a:rPr lang="en-US" sz="1650" b="1" dirty="0">
                  <a:solidFill>
                    <a:srgbClr val="6B6B6B"/>
                  </a:solidFill>
                  <a:latin typeface="Arial"/>
                  <a:ea typeface="Arial"/>
                  <a:cs typeface="Arial"/>
                </a:rPr>
                <a:t>M€</a:t>
              </a:r>
            </a:p>
          </p:txBody>
        </p:sp>
        <p:sp>
          <p:nvSpPr>
            <p:cNvPr id="13" name="TextBox 13"/>
            <p:cNvSpPr txBox="1"/>
            <p:nvPr/>
          </p:nvSpPr>
          <p:spPr>
            <a:xfrm>
              <a:off x="945642" y="2902268"/>
              <a:ext cx="984037" cy="264033"/>
            </a:xfrm>
            <a:prstGeom prst="rect">
              <a:avLst/>
            </a:prstGeom>
            <a:noFill/>
            <a:ln>
              <a:noFill/>
            </a:ln>
          </p:spPr>
          <p:txBody>
            <a:bodyPr wrap="none" lIns="0" tIns="0" rIns="0" bIns="0" anchor="t" anchorCtr="0">
              <a:spAutoFit/>
            </a:bodyPr>
            <a:lstStyle/>
            <a:p>
              <a:pPr algn="l"/>
              <a:r>
                <a:rPr lang="en-US" sz="1350" b="1" dirty="0">
                  <a:solidFill>
                    <a:srgbClr val="C0392B"/>
                  </a:solidFill>
                  <a:latin typeface="Arial"/>
                  <a:ea typeface="Arial"/>
                  <a:cs typeface="Arial"/>
                </a:rPr>
                <a:t>-4.8% YoY</a:t>
              </a:r>
            </a:p>
          </p:txBody>
        </p:sp>
        <p:sp>
          <p:nvSpPr>
            <p:cNvPr id="14" name="Line 14"/>
            <p:cNvSpPr/>
            <p:nvPr/>
          </p:nvSpPr>
          <p:spPr>
            <a:xfrm>
              <a:off x="952500" y="3162300"/>
              <a:ext cx="1905000" cy="9525"/>
            </a:xfrm>
            <a:custGeom>
              <a:avLst/>
              <a:gdLst/>
              <a:ahLst/>
              <a:cxnLst/>
              <a:rect l="l" t="t" r="r" b="b"/>
              <a:pathLst>
                <a:path w="1905000" h="9525">
                  <a:moveTo>
                    <a:pt x="0" y="0"/>
                  </a:moveTo>
                  <a:lnTo>
                    <a:pt x="1905000" y="0"/>
                  </a:lnTo>
                </a:path>
              </a:pathLst>
            </a:custGeom>
            <a:noFill/>
            <a:ln w="9525">
              <a:solidFill>
                <a:srgbClr val="E8E2DA"/>
              </a:solidFill>
            </a:ln>
          </p:spPr>
        </p:sp>
        <p:sp>
          <p:nvSpPr>
            <p:cNvPr id="15" name="TextBox 15"/>
            <p:cNvSpPr txBox="1"/>
            <p:nvPr/>
          </p:nvSpPr>
          <p:spPr>
            <a:xfrm>
              <a:off x="947738" y="3236595"/>
              <a:ext cx="1481709"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连接3,627 · IT集成3,698</a:t>
              </a:r>
            </a:p>
          </p:txBody>
        </p:sp>
        <p:sp>
          <p:nvSpPr>
            <p:cNvPr id="16" name="TextBox 16"/>
            <p:cNvSpPr txBox="1"/>
            <p:nvPr/>
          </p:nvSpPr>
          <p:spPr>
            <a:xfrm>
              <a:off x="947738" y="3408045"/>
              <a:ext cx="1093889"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固定2,715+移动912</a:t>
              </a:r>
            </a:p>
          </p:txBody>
        </p:sp>
        <p:sp>
          <p:nvSpPr>
            <p:cNvPr id="17" name="TextBox 17"/>
            <p:cNvSpPr txBox="1"/>
            <p:nvPr/>
          </p:nvSpPr>
          <p:spPr>
            <a:xfrm>
              <a:off x="947738" y="3579495"/>
              <a:ext cx="1072058"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FY2025，实证数据</a:t>
              </a:r>
            </a:p>
          </p:txBody>
        </p:sp>
        <p:sp>
          <p:nvSpPr>
            <p:cNvPr id="18" name="Rectangle 18"/>
            <p:cNvSpPr/>
            <p:nvPr/>
          </p:nvSpPr>
          <p:spPr>
            <a:xfrm>
              <a:off x="3333750" y="1333500"/>
              <a:ext cx="2571750" cy="2476500"/>
            </a:xfrm>
            <a:prstGeom prst="roundRect">
              <a:avLst>
                <a:gd name="adj" fmla="val 1538"/>
              </a:avLst>
            </a:prstGeom>
            <a:solidFill>
              <a:srgbClr val="FBF6F1"/>
            </a:solidFill>
            <a:ln w="9525">
              <a:solidFill>
                <a:srgbClr val="E8E2DA"/>
              </a:solidFill>
            </a:ln>
          </p:spPr>
        </p:sp>
        <p:sp>
          <p:nvSpPr>
            <p:cNvPr id="19" name="Rectangle 19"/>
            <p:cNvSpPr/>
            <p:nvPr/>
          </p:nvSpPr>
          <p:spPr>
            <a:xfrm>
              <a:off x="3562350" y="1562100"/>
              <a:ext cx="57150" cy="419100"/>
            </a:xfrm>
            <a:prstGeom prst="rect">
              <a:avLst/>
            </a:prstGeom>
            <a:solidFill>
              <a:srgbClr val="FF7900"/>
            </a:solidFill>
            <a:ln>
              <a:noFill/>
            </a:ln>
          </p:spPr>
        </p:sp>
        <p:sp>
          <p:nvSpPr>
            <p:cNvPr id="20" name="TextBox 20"/>
            <p:cNvSpPr txBox="1"/>
            <p:nvPr/>
          </p:nvSpPr>
          <p:spPr>
            <a:xfrm>
              <a:off x="3745230" y="1600200"/>
              <a:ext cx="1534830"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Europe</a:t>
              </a:r>
            </a:p>
          </p:txBody>
        </p:sp>
        <p:sp>
          <p:nvSpPr>
            <p:cNvPr id="21" name="TextBox 21"/>
            <p:cNvSpPr txBox="1"/>
            <p:nvPr/>
          </p:nvSpPr>
          <p:spPr>
            <a:xfrm>
              <a:off x="3746754" y="1832610"/>
              <a:ext cx="2299411"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欧洲其他国家+西班牙（OEU）</a:t>
              </a:r>
            </a:p>
          </p:txBody>
        </p:sp>
        <p:sp>
          <p:nvSpPr>
            <p:cNvPr id="22" name="TextBox 22"/>
            <p:cNvSpPr txBox="1"/>
            <p:nvPr/>
          </p:nvSpPr>
          <p:spPr>
            <a:xfrm>
              <a:off x="3736086" y="2358390"/>
              <a:ext cx="546632" cy="645414"/>
            </a:xfrm>
            <a:prstGeom prst="rect">
              <a:avLst/>
            </a:prstGeom>
            <a:noFill/>
            <a:ln>
              <a:noFill/>
            </a:ln>
          </p:spPr>
          <p:txBody>
            <a:bodyPr wrap="none" lIns="0" tIns="0" rIns="0" bIns="0" anchor="t" anchorCtr="0">
              <a:spAutoFit/>
            </a:bodyPr>
            <a:lstStyle/>
            <a:p>
              <a:pPr algn="l"/>
              <a:r>
                <a:rPr lang="en-US" sz="3300" b="1" dirty="0">
                  <a:solidFill>
                    <a:srgbClr val="FF7900"/>
                  </a:solidFill>
                  <a:latin typeface="Arial"/>
                  <a:ea typeface="Arial"/>
                  <a:cs typeface="Arial"/>
                </a:rPr>
                <a:t>27</a:t>
              </a:r>
            </a:p>
          </p:txBody>
        </p:sp>
        <p:sp>
          <p:nvSpPr>
            <p:cNvPr id="23" name="TextBox 23"/>
            <p:cNvSpPr txBox="1"/>
            <p:nvPr/>
          </p:nvSpPr>
          <p:spPr>
            <a:xfrm>
              <a:off x="4277868" y="2536508"/>
              <a:ext cx="378269"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亿€</a:t>
              </a:r>
            </a:p>
          </p:txBody>
        </p:sp>
        <p:sp>
          <p:nvSpPr>
            <p:cNvPr id="24" name="TextBox 24"/>
            <p:cNvSpPr txBox="1"/>
            <p:nvPr/>
          </p:nvSpPr>
          <p:spPr>
            <a:xfrm>
              <a:off x="3745992" y="2902268"/>
              <a:ext cx="586188" cy="264033"/>
            </a:xfrm>
            <a:prstGeom prst="rect">
              <a:avLst/>
            </a:prstGeom>
            <a:noFill/>
            <a:ln>
              <a:noFill/>
            </a:ln>
          </p:spPr>
          <p:txBody>
            <a:bodyPr wrap="none" lIns="0" tIns="0" rIns="0" bIns="0" anchor="t" anchorCtr="0">
              <a:spAutoFit/>
            </a:bodyPr>
            <a:lstStyle/>
            <a:p>
              <a:pPr algn="l"/>
              <a:r>
                <a:rPr lang="zh-CN" sz="1350" b="1" dirty="0">
                  <a:solidFill>
                    <a:srgbClr val="6B6B6B"/>
                  </a:solidFill>
                  <a:latin typeface="Arial"/>
                  <a:ea typeface="Microsoft YaHei"/>
                  <a:cs typeface="Arial"/>
                </a:rPr>
                <a:t>（估）</a:t>
              </a:r>
            </a:p>
          </p:txBody>
        </p:sp>
        <p:sp>
          <p:nvSpPr>
            <p:cNvPr id="25" name="Line 25"/>
            <p:cNvSpPr/>
            <p:nvPr/>
          </p:nvSpPr>
          <p:spPr>
            <a:xfrm>
              <a:off x="3752850" y="3162300"/>
              <a:ext cx="1905000" cy="9525"/>
            </a:xfrm>
            <a:custGeom>
              <a:avLst/>
              <a:gdLst/>
              <a:ahLst/>
              <a:cxnLst/>
              <a:rect l="l" t="t" r="r" b="b"/>
              <a:pathLst>
                <a:path w="1905000" h="9525">
                  <a:moveTo>
                    <a:pt x="0" y="0"/>
                  </a:moveTo>
                  <a:lnTo>
                    <a:pt x="1905000" y="0"/>
                  </a:lnTo>
                </a:path>
              </a:pathLst>
            </a:custGeom>
            <a:noFill/>
            <a:ln w="9525">
              <a:solidFill>
                <a:srgbClr val="E8E2DA"/>
              </a:solidFill>
            </a:ln>
          </p:spPr>
        </p:sp>
        <p:sp>
          <p:nvSpPr>
            <p:cNvPr id="26" name="TextBox 26"/>
            <p:cNvSpPr txBox="1"/>
            <p:nvPr/>
          </p:nvSpPr>
          <p:spPr>
            <a:xfrm>
              <a:off x="3748088" y="3236595"/>
              <a:ext cx="1020851"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波兰ICT占B2B36%</a:t>
              </a:r>
            </a:p>
          </p:txBody>
        </p:sp>
        <p:sp>
          <p:nvSpPr>
            <p:cNvPr id="27" name="TextBox 27"/>
            <p:cNvSpPr txBox="1"/>
            <p:nvPr/>
          </p:nvSpPr>
          <p:spPr>
            <a:xfrm>
              <a:off x="3748088" y="3408045"/>
              <a:ext cx="1040054"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罗马尼亚B2B+14%</a:t>
              </a:r>
            </a:p>
          </p:txBody>
        </p:sp>
        <p:sp>
          <p:nvSpPr>
            <p:cNvPr id="28" name="TextBox 28"/>
            <p:cNvSpPr txBox="1"/>
            <p:nvPr/>
          </p:nvSpPr>
          <p:spPr>
            <a:xfrm>
              <a:off x="3748088" y="3579495"/>
              <a:ext cx="1487653"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19亿不含西班牙+8亿西班牙</a:t>
              </a:r>
            </a:p>
          </p:txBody>
        </p:sp>
        <p:sp>
          <p:nvSpPr>
            <p:cNvPr id="29" name="Rectangle 29"/>
            <p:cNvSpPr/>
            <p:nvPr/>
          </p:nvSpPr>
          <p:spPr>
            <a:xfrm>
              <a:off x="6134100" y="1333500"/>
              <a:ext cx="2571750" cy="2476500"/>
            </a:xfrm>
            <a:prstGeom prst="roundRect">
              <a:avLst>
                <a:gd name="adj" fmla="val 1538"/>
              </a:avLst>
            </a:prstGeom>
            <a:solidFill>
              <a:srgbClr val="FBF6F1"/>
            </a:solidFill>
            <a:ln w="9525">
              <a:solidFill>
                <a:srgbClr val="E8E2DA"/>
              </a:solidFill>
            </a:ln>
          </p:spPr>
        </p:sp>
        <p:sp>
          <p:nvSpPr>
            <p:cNvPr id="30" name="Rectangle 30"/>
            <p:cNvSpPr/>
            <p:nvPr/>
          </p:nvSpPr>
          <p:spPr>
            <a:xfrm>
              <a:off x="6362700" y="1562100"/>
              <a:ext cx="57150" cy="419100"/>
            </a:xfrm>
            <a:prstGeom prst="rect">
              <a:avLst/>
            </a:prstGeom>
            <a:solidFill>
              <a:srgbClr val="FFA640"/>
            </a:solidFill>
            <a:ln>
              <a:noFill/>
            </a:ln>
          </p:spPr>
        </p:sp>
        <p:sp>
          <p:nvSpPr>
            <p:cNvPr id="31" name="TextBox 31"/>
            <p:cNvSpPr txBox="1"/>
            <p:nvPr/>
          </p:nvSpPr>
          <p:spPr>
            <a:xfrm>
              <a:off x="6545580" y="1600200"/>
              <a:ext cx="1243327"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MEA</a:t>
              </a:r>
            </a:p>
          </p:txBody>
        </p:sp>
        <p:sp>
          <p:nvSpPr>
            <p:cNvPr id="32" name="TextBox 32"/>
            <p:cNvSpPr txBox="1"/>
            <p:nvPr/>
          </p:nvSpPr>
          <p:spPr>
            <a:xfrm>
              <a:off x="6547104" y="1832610"/>
              <a:ext cx="1650797"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中东与非洲（OMEA）</a:t>
              </a:r>
            </a:p>
          </p:txBody>
        </p:sp>
        <p:sp>
          <p:nvSpPr>
            <p:cNvPr id="33" name="TextBox 33"/>
            <p:cNvSpPr txBox="1"/>
            <p:nvPr/>
          </p:nvSpPr>
          <p:spPr>
            <a:xfrm>
              <a:off x="6536436" y="2358390"/>
              <a:ext cx="546632" cy="645414"/>
            </a:xfrm>
            <a:prstGeom prst="rect">
              <a:avLst/>
            </a:prstGeom>
            <a:noFill/>
            <a:ln>
              <a:noFill/>
            </a:ln>
          </p:spPr>
          <p:txBody>
            <a:bodyPr wrap="none" lIns="0" tIns="0" rIns="0" bIns="0" anchor="t" anchorCtr="0">
              <a:spAutoFit/>
            </a:bodyPr>
            <a:lstStyle/>
            <a:p>
              <a:pPr algn="l"/>
              <a:r>
                <a:rPr lang="en-US" sz="3300" b="1" dirty="0">
                  <a:solidFill>
                    <a:srgbClr val="FFA640"/>
                  </a:solidFill>
                  <a:latin typeface="Arial"/>
                  <a:ea typeface="Arial"/>
                  <a:cs typeface="Arial"/>
                </a:rPr>
                <a:t>13</a:t>
              </a:r>
            </a:p>
          </p:txBody>
        </p:sp>
        <p:sp>
          <p:nvSpPr>
            <p:cNvPr id="34" name="TextBox 34"/>
            <p:cNvSpPr txBox="1"/>
            <p:nvPr/>
          </p:nvSpPr>
          <p:spPr>
            <a:xfrm>
              <a:off x="7078218" y="2536508"/>
              <a:ext cx="378269"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亿€</a:t>
              </a:r>
            </a:p>
          </p:txBody>
        </p:sp>
        <p:sp>
          <p:nvSpPr>
            <p:cNvPr id="35" name="TextBox 35"/>
            <p:cNvSpPr txBox="1"/>
            <p:nvPr/>
          </p:nvSpPr>
          <p:spPr>
            <a:xfrm>
              <a:off x="6546342" y="2902268"/>
              <a:ext cx="1215906" cy="264033"/>
            </a:xfrm>
            <a:prstGeom prst="rect">
              <a:avLst/>
            </a:prstGeom>
            <a:noFill/>
            <a:ln>
              <a:noFill/>
            </a:ln>
          </p:spPr>
          <p:txBody>
            <a:bodyPr wrap="none" lIns="0" tIns="0" rIns="0" bIns="0" anchor="t" anchorCtr="0">
              <a:spAutoFit/>
            </a:bodyPr>
            <a:lstStyle/>
            <a:p>
              <a:pPr algn="l"/>
              <a:r>
                <a:rPr lang="zh-CN" sz="1350" b="1" dirty="0">
                  <a:solidFill>
                    <a:srgbClr val="2E8B57"/>
                  </a:solidFill>
                  <a:latin typeface="Arial"/>
                  <a:ea typeface="Microsoft YaHei"/>
                  <a:cs typeface="Arial"/>
                </a:rPr>
                <a:t>2030目标20亿</a:t>
              </a:r>
            </a:p>
          </p:txBody>
        </p:sp>
        <p:sp>
          <p:nvSpPr>
            <p:cNvPr id="36" name="Line 36"/>
            <p:cNvSpPr/>
            <p:nvPr/>
          </p:nvSpPr>
          <p:spPr>
            <a:xfrm>
              <a:off x="6553200" y="3162300"/>
              <a:ext cx="1905000" cy="9525"/>
            </a:xfrm>
            <a:custGeom>
              <a:avLst/>
              <a:gdLst/>
              <a:ahLst/>
              <a:cxnLst/>
              <a:rect l="l" t="t" r="r" b="b"/>
              <a:pathLst>
                <a:path w="1905000" h="9525">
                  <a:moveTo>
                    <a:pt x="0" y="0"/>
                  </a:moveTo>
                  <a:lnTo>
                    <a:pt x="1905000" y="0"/>
                  </a:lnTo>
                </a:path>
              </a:pathLst>
            </a:custGeom>
            <a:noFill/>
            <a:ln w="9525">
              <a:solidFill>
                <a:srgbClr val="E8E2DA"/>
              </a:solidFill>
            </a:ln>
          </p:spPr>
        </p:sp>
        <p:sp>
          <p:nvSpPr>
            <p:cNvPr id="37" name="TextBox 37"/>
            <p:cNvSpPr txBox="1"/>
            <p:nvPr/>
          </p:nvSpPr>
          <p:spPr>
            <a:xfrm>
              <a:off x="6548438" y="3236595"/>
              <a:ext cx="1059256" cy="176212"/>
            </a:xfrm>
            <a:prstGeom prst="rect">
              <a:avLst/>
            </a:prstGeom>
            <a:noFill/>
            <a:ln>
              <a:noFill/>
            </a:ln>
          </p:spPr>
          <p:txBody>
            <a:bodyPr wrap="none" lIns="0" tIns="0" rIns="0" bIns="0" anchor="t" anchorCtr="0">
              <a:spAutoFit/>
            </a:bodyPr>
            <a:lstStyle/>
            <a:p>
              <a:pPr algn="l"/>
              <a:r>
                <a:rPr lang="zh-CN" sz="900" dirty="0">
                  <a:solidFill>
                    <a:srgbClr val="6B6B6B"/>
                  </a:solidFill>
                  <a:latin typeface="Arial"/>
                  <a:ea typeface="Microsoft YaHei"/>
                  <a:cs typeface="Arial"/>
                </a:rPr>
                <a:t>ICT占8.3%但+28%</a:t>
              </a:r>
            </a:p>
          </p:txBody>
        </p:sp>
        <p:sp>
          <p:nvSpPr>
            <p:cNvPr id="38" name="TextBox 38"/>
            <p:cNvSpPr txBox="1"/>
            <p:nvPr/>
          </p:nvSpPr>
          <p:spPr>
            <a:xfrm>
              <a:off x="6548438" y="3408045"/>
              <a:ext cx="1008050" cy="176212"/>
            </a:xfrm>
            <a:prstGeom prst="rect">
              <a:avLst/>
            </a:prstGeom>
            <a:noFill/>
            <a:ln>
              <a:noFill/>
            </a:ln>
          </p:spPr>
          <p:txBody>
            <a:bodyPr wrap="none" lIns="0" tIns="0" rIns="0" bIns="0" anchor="t" anchorCtr="0">
              <a:spAutoFit/>
            </a:bodyPr>
            <a:lstStyle/>
            <a:p>
              <a:pPr algn="l"/>
              <a:r>
                <a:rPr lang="en-US" sz="900" dirty="0">
                  <a:solidFill>
                    <a:srgbClr val="6B6B6B"/>
                  </a:solidFill>
                  <a:latin typeface="Arial"/>
                  <a:ea typeface="Arial"/>
                  <a:cs typeface="Arial"/>
                </a:rPr>
                <a:t>SOHO ARPA -19%</a:t>
              </a:r>
            </a:p>
          </p:txBody>
        </p:sp>
        <p:sp>
          <p:nvSpPr>
            <p:cNvPr id="39" name="TextBox 39"/>
            <p:cNvSpPr txBox="1"/>
            <p:nvPr/>
          </p:nvSpPr>
          <p:spPr>
            <a:xfrm>
              <a:off x="6548438" y="3579495"/>
              <a:ext cx="1334491"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2025基线，CAGR+9.2%</a:t>
              </a:r>
            </a:p>
          </p:txBody>
        </p:sp>
        <p:sp>
          <p:nvSpPr>
            <p:cNvPr id="40" name="Rectangle 40"/>
            <p:cNvSpPr/>
            <p:nvPr/>
          </p:nvSpPr>
          <p:spPr>
            <a:xfrm>
              <a:off x="8934450" y="1333500"/>
              <a:ext cx="2571750" cy="2476500"/>
            </a:xfrm>
            <a:prstGeom prst="roundRect">
              <a:avLst>
                <a:gd name="adj" fmla="val 1538"/>
              </a:avLst>
            </a:prstGeom>
            <a:solidFill>
              <a:srgbClr val="1A1A1A"/>
            </a:solidFill>
            <a:ln>
              <a:noFill/>
            </a:ln>
          </p:spPr>
        </p:sp>
        <p:sp>
          <p:nvSpPr>
            <p:cNvPr id="41" name="Rectangle 41"/>
            <p:cNvSpPr/>
            <p:nvPr/>
          </p:nvSpPr>
          <p:spPr>
            <a:xfrm>
              <a:off x="8934450" y="1333500"/>
              <a:ext cx="57150" cy="2476500"/>
            </a:xfrm>
            <a:prstGeom prst="rect">
              <a:avLst/>
            </a:prstGeom>
            <a:solidFill>
              <a:srgbClr val="FF7900"/>
            </a:solidFill>
            <a:ln>
              <a:noFill/>
            </a:ln>
          </p:spPr>
        </p:sp>
        <p:sp>
          <p:nvSpPr>
            <p:cNvPr id="42" name="TextBox 42"/>
            <p:cNvSpPr txBox="1"/>
            <p:nvPr/>
          </p:nvSpPr>
          <p:spPr>
            <a:xfrm>
              <a:off x="9155430" y="1600200"/>
              <a:ext cx="1075372"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a:ea typeface="Microsoft YaHei"/>
                  <a:cs typeface="Arial"/>
                </a:rPr>
                <a:t>三区域合计</a:t>
              </a:r>
            </a:p>
          </p:txBody>
        </p:sp>
        <p:sp>
          <p:nvSpPr>
            <p:cNvPr id="43" name="TextBox 43"/>
            <p:cNvSpPr txBox="1"/>
            <p:nvPr/>
          </p:nvSpPr>
          <p:spPr>
            <a:xfrm>
              <a:off x="9156954" y="1832610"/>
              <a:ext cx="1246632" cy="234696"/>
            </a:xfrm>
            <a:prstGeom prst="rect">
              <a:avLst/>
            </a:prstGeom>
            <a:noFill/>
            <a:ln>
              <a:noFill/>
            </a:ln>
          </p:spPr>
          <p:txBody>
            <a:bodyPr wrap="none" lIns="0" tIns="0" rIns="0" bIns="0" anchor="t" anchorCtr="0">
              <a:spAutoFit/>
            </a:bodyPr>
            <a:lstStyle/>
            <a:p>
              <a:pPr algn="l"/>
              <a:r>
                <a:rPr lang="en-US" sz="1200" dirty="0">
                  <a:solidFill>
                    <a:srgbClr val="B0B0B0"/>
                  </a:solidFill>
                  <a:latin typeface="Arial"/>
                  <a:ea typeface="Arial"/>
                  <a:cs typeface="Arial"/>
                </a:rPr>
                <a:t>Group Total B2B</a:t>
              </a:r>
            </a:p>
          </p:txBody>
        </p:sp>
        <p:sp>
          <p:nvSpPr>
            <p:cNvPr id="44" name="TextBox 44"/>
            <p:cNvSpPr txBox="1"/>
            <p:nvPr/>
          </p:nvSpPr>
          <p:spPr>
            <a:xfrm>
              <a:off x="9146286" y="2358390"/>
              <a:ext cx="803184" cy="645414"/>
            </a:xfrm>
            <a:prstGeom prst="rect">
              <a:avLst/>
            </a:prstGeom>
            <a:noFill/>
            <a:ln>
              <a:noFill/>
            </a:ln>
          </p:spPr>
          <p:txBody>
            <a:bodyPr wrap="none" lIns="0" tIns="0" rIns="0" bIns="0" anchor="t" anchorCtr="0">
              <a:spAutoFit/>
            </a:bodyPr>
            <a:lstStyle/>
            <a:p>
              <a:pPr algn="l"/>
              <a:r>
                <a:rPr lang="en-US" sz="3300" b="1" dirty="0">
                  <a:solidFill>
                    <a:srgbClr val="FFA640"/>
                  </a:solidFill>
                  <a:latin typeface="Arial"/>
                  <a:ea typeface="Arial"/>
                  <a:cs typeface="Arial"/>
                </a:rPr>
                <a:t>113</a:t>
              </a:r>
            </a:p>
          </p:txBody>
        </p:sp>
        <p:sp>
          <p:nvSpPr>
            <p:cNvPr id="45" name="TextBox 45"/>
            <p:cNvSpPr txBox="1"/>
            <p:nvPr/>
          </p:nvSpPr>
          <p:spPr>
            <a:xfrm>
              <a:off x="10040493" y="2536508"/>
              <a:ext cx="378269" cy="322707"/>
            </a:xfrm>
            <a:prstGeom prst="rect">
              <a:avLst/>
            </a:prstGeom>
            <a:noFill/>
            <a:ln>
              <a:noFill/>
            </a:ln>
          </p:spPr>
          <p:txBody>
            <a:bodyPr wrap="none" lIns="0" tIns="0" rIns="0" bIns="0" anchor="t" anchorCtr="0">
              <a:spAutoFit/>
            </a:bodyPr>
            <a:lstStyle/>
            <a:p>
              <a:pPr algn="l"/>
              <a:r>
                <a:rPr lang="zh-CN" sz="1650" b="1" dirty="0">
                  <a:solidFill>
                    <a:srgbClr val="B0B0B0"/>
                  </a:solidFill>
                  <a:latin typeface="Arial"/>
                  <a:ea typeface="Microsoft YaHei"/>
                  <a:cs typeface="Arial"/>
                </a:rPr>
                <a:t>亿€</a:t>
              </a:r>
            </a:p>
          </p:txBody>
        </p:sp>
        <p:sp>
          <p:nvSpPr>
            <p:cNvPr id="46" name="TextBox 46"/>
            <p:cNvSpPr txBox="1"/>
            <p:nvPr/>
          </p:nvSpPr>
          <p:spPr>
            <a:xfrm>
              <a:off x="9156954" y="2918460"/>
              <a:ext cx="1538783"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体量与参与度成反比</a:t>
              </a:r>
            </a:p>
          </p:txBody>
        </p:sp>
        <p:sp>
          <p:nvSpPr>
            <p:cNvPr id="47" name="TextBox 47"/>
            <p:cNvSpPr txBox="1"/>
            <p:nvPr/>
          </p:nvSpPr>
          <p:spPr>
            <a:xfrm>
              <a:off x="9158288" y="3236595"/>
              <a:ext cx="1081773"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占集团总收入约28%</a:t>
              </a:r>
            </a:p>
          </p:txBody>
        </p:sp>
        <p:sp>
          <p:nvSpPr>
            <p:cNvPr id="48" name="TextBox 48"/>
            <p:cNvSpPr txBox="1"/>
            <p:nvPr/>
          </p:nvSpPr>
          <p:spPr>
            <a:xfrm>
              <a:off x="9158288" y="3408045"/>
              <a:ext cx="1396784"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7,325+2,700(估)+1,300</a:t>
              </a:r>
            </a:p>
          </p:txBody>
        </p:sp>
        <p:sp>
          <p:nvSpPr>
            <p:cNvPr id="49" name="TextBox 49"/>
            <p:cNvSpPr txBox="1"/>
            <p:nvPr/>
          </p:nvSpPr>
          <p:spPr>
            <a:xfrm>
              <a:off x="9158288" y="3579495"/>
              <a:ext cx="1705737"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(M€，403.96亿€集团总收入)</a:t>
              </a:r>
            </a:p>
          </p:txBody>
        </p:sp>
      </p:grpSp>
      <p:grpSp>
        <p:nvGrpSpPr>
          <p:cNvPr id="71" name="Group 71"/>
          <p:cNvGrpSpPr/>
          <p:nvPr/>
        </p:nvGrpSpPr>
        <p:grpSpPr>
          <a:xfrm>
            <a:off x="525780" y="4048125"/>
            <a:ext cx="11222584" cy="2257425"/>
            <a:chOff x="525780" y="4048125"/>
            <a:chExt cx="11222584" cy="2257425"/>
          </a:xfrm>
        </p:grpSpPr>
        <p:sp>
          <p:nvSpPr>
            <p:cNvPr id="51" name="Line 51"/>
            <p:cNvSpPr/>
            <p:nvPr/>
          </p:nvSpPr>
          <p:spPr>
            <a:xfrm>
              <a:off x="533400" y="4048125"/>
              <a:ext cx="11125200" cy="9525"/>
            </a:xfrm>
            <a:custGeom>
              <a:avLst/>
              <a:gdLst/>
              <a:ahLst/>
              <a:cxnLst/>
              <a:rect l="l" t="t" r="r" b="b"/>
              <a:pathLst>
                <a:path w="11125200" h="9525">
                  <a:moveTo>
                    <a:pt x="0" y="0"/>
                  </a:moveTo>
                  <a:lnTo>
                    <a:pt x="11125200" y="0"/>
                  </a:lnTo>
                </a:path>
              </a:pathLst>
            </a:custGeom>
            <a:noFill/>
            <a:ln w="9525">
              <a:solidFill>
                <a:srgbClr val="E8E2DA"/>
              </a:solidFill>
            </a:ln>
          </p:spPr>
        </p:sp>
        <p:sp>
          <p:nvSpPr>
            <p:cNvPr id="52" name="TextBox 52"/>
            <p:cNvSpPr txBox="1"/>
            <p:nvPr/>
          </p:nvSpPr>
          <p:spPr>
            <a:xfrm>
              <a:off x="525780" y="4143375"/>
              <a:ext cx="2251520"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 · Orange Business</a:t>
              </a:r>
            </a:p>
          </p:txBody>
        </p:sp>
        <p:sp>
          <p:nvSpPr>
            <p:cNvPr id="53" name="TextBox 53"/>
            <p:cNvSpPr txBox="1"/>
            <p:nvPr/>
          </p:nvSpPr>
          <p:spPr>
            <a:xfrm>
              <a:off x="526923" y="4415314"/>
              <a:ext cx="1480480"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法国总部+全球跨国</a:t>
              </a:r>
            </a:p>
          </p:txBody>
        </p:sp>
        <p:sp>
          <p:nvSpPr>
            <p:cNvPr id="54" name="TextBox 54"/>
            <p:cNvSpPr txBox="1"/>
            <p:nvPr/>
          </p:nvSpPr>
          <p:spPr>
            <a:xfrm>
              <a:off x="526923" y="4624864"/>
              <a:ext cx="169956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企业服务，FY2025收</a:t>
              </a:r>
            </a:p>
          </p:txBody>
        </p:sp>
        <p:sp>
          <p:nvSpPr>
            <p:cNvPr id="55" name="TextBox 55"/>
            <p:cNvSpPr txBox="1"/>
            <p:nvPr/>
          </p:nvSpPr>
          <p:spPr>
            <a:xfrm>
              <a:off x="526923" y="4834414"/>
              <a:ext cx="1826514"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入7,325M€（-4.8%）</a:t>
              </a:r>
            </a:p>
          </p:txBody>
        </p:sp>
        <p:sp>
          <p:nvSpPr>
            <p:cNvPr id="56" name="TextBox 56"/>
            <p:cNvSpPr txBox="1"/>
            <p:nvPr/>
          </p:nvSpPr>
          <p:spPr>
            <a:xfrm>
              <a:off x="528066" y="5068252"/>
              <a:ext cx="3363620"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占集团总收入18.1%，占集团B2B整体约73%（估）</a:t>
              </a:r>
            </a:p>
          </p:txBody>
        </p:sp>
        <p:sp>
          <p:nvSpPr>
            <p:cNvPr id="57" name="TextBox 57"/>
            <p:cNvSpPr txBox="1"/>
            <p:nvPr/>
          </p:nvSpPr>
          <p:spPr>
            <a:xfrm>
              <a:off x="4278630" y="4143375"/>
              <a:ext cx="2197113"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 · Orange Europe</a:t>
              </a:r>
            </a:p>
          </p:txBody>
        </p:sp>
        <p:sp>
          <p:nvSpPr>
            <p:cNvPr id="58" name="TextBox 58"/>
            <p:cNvSpPr txBox="1"/>
            <p:nvPr/>
          </p:nvSpPr>
          <p:spPr>
            <a:xfrm>
              <a:off x="4279773" y="4415314"/>
              <a:ext cx="157488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比利时/波兰/罗马尼</a:t>
              </a:r>
            </a:p>
          </p:txBody>
        </p:sp>
        <p:sp>
          <p:nvSpPr>
            <p:cNvPr id="59" name="TextBox 59"/>
            <p:cNvSpPr txBox="1"/>
            <p:nvPr/>
          </p:nvSpPr>
          <p:spPr>
            <a:xfrm>
              <a:off x="4279773" y="4624864"/>
              <a:ext cx="166928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亚/斯洛伐克/卢森堡/</a:t>
              </a:r>
            </a:p>
          </p:txBody>
        </p:sp>
        <p:sp>
          <p:nvSpPr>
            <p:cNvPr id="60" name="TextBox 60"/>
            <p:cNvSpPr txBox="1"/>
            <p:nvPr/>
          </p:nvSpPr>
          <p:spPr>
            <a:xfrm>
              <a:off x="4279773" y="4834414"/>
              <a:ext cx="1308840"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摩尔多瓦+西班牙</a:t>
              </a:r>
            </a:p>
          </p:txBody>
        </p:sp>
        <p:sp>
          <p:nvSpPr>
            <p:cNvPr id="61" name="TextBox 61"/>
            <p:cNvSpPr txBox="1"/>
            <p:nvPr/>
          </p:nvSpPr>
          <p:spPr>
            <a:xfrm>
              <a:off x="4280916" y="5068252"/>
              <a:ext cx="3191866"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B2B合计约27亿€（估）；西班牙口径需补充调研</a:t>
              </a:r>
            </a:p>
          </p:txBody>
        </p:sp>
        <p:sp>
          <p:nvSpPr>
            <p:cNvPr id="62" name="TextBox 62"/>
            <p:cNvSpPr txBox="1"/>
            <p:nvPr/>
          </p:nvSpPr>
          <p:spPr>
            <a:xfrm>
              <a:off x="8031480" y="4143375"/>
              <a:ext cx="2923493" cy="293370"/>
            </a:xfrm>
            <a:prstGeom prst="rect">
              <a:avLst/>
            </a:prstGeom>
            <a:noFill/>
            <a:ln>
              <a:noFill/>
            </a:ln>
          </p:spPr>
          <p:txBody>
            <a:bodyPr wrap="none" lIns="0" tIns="0" rIns="0" bIns="0" anchor="t" anchorCtr="0">
              <a:spAutoFit/>
            </a:bodyPr>
            <a:lstStyle/>
            <a:p>
              <a:pPr algn="l"/>
              <a:r>
                <a:rPr lang="en-US" sz="1500" b="1" dirty="0">
                  <a:solidFill>
                    <a:srgbClr val="FFA640"/>
                  </a:solidFill>
                  <a:latin typeface="Arial"/>
                  <a:ea typeface="Arial"/>
                  <a:cs typeface="Arial"/>
                </a:rPr>
                <a:t>OMEA · Middle East &amp; Africa</a:t>
              </a:r>
            </a:p>
          </p:txBody>
        </p:sp>
        <p:sp>
          <p:nvSpPr>
            <p:cNvPr id="63" name="TextBox 63"/>
            <p:cNvSpPr txBox="1"/>
            <p:nvPr/>
          </p:nvSpPr>
          <p:spPr>
            <a:xfrm>
              <a:off x="8032623" y="4415314"/>
              <a:ext cx="1386078"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中东与非洲全境，</a:t>
              </a:r>
            </a:p>
          </p:txBody>
        </p:sp>
        <p:sp>
          <p:nvSpPr>
            <p:cNvPr id="64" name="TextBox 64"/>
            <p:cNvSpPr txBox="1"/>
            <p:nvPr/>
          </p:nvSpPr>
          <p:spPr>
            <a:xfrm>
              <a:off x="8032623" y="4624864"/>
              <a:ext cx="133685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B2B总收入13亿€</a:t>
              </a:r>
            </a:p>
          </p:txBody>
        </p:sp>
        <p:sp>
          <p:nvSpPr>
            <p:cNvPr id="65" name="TextBox 65"/>
            <p:cNvSpPr txBox="1"/>
            <p:nvPr/>
          </p:nvSpPr>
          <p:spPr>
            <a:xfrm>
              <a:off x="8032623" y="4834414"/>
              <a:ext cx="162637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（2025基线），2030</a:t>
              </a:r>
            </a:p>
          </p:txBody>
        </p:sp>
        <p:sp>
          <p:nvSpPr>
            <p:cNvPr id="66" name="TextBox 66"/>
            <p:cNvSpPr txBox="1"/>
            <p:nvPr/>
          </p:nvSpPr>
          <p:spPr>
            <a:xfrm>
              <a:off x="8033766" y="5068252"/>
              <a:ext cx="3714598"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目标20亿€（+9.2%）；Q1'26季度3.27亿€/+8.6%验证</a:t>
              </a:r>
            </a:p>
          </p:txBody>
        </p:sp>
        <p:sp>
          <p:nvSpPr>
            <p:cNvPr id="67" name="Rectangle 67"/>
            <p:cNvSpPr/>
            <p:nvPr/>
          </p:nvSpPr>
          <p:spPr>
            <a:xfrm>
              <a:off x="533400" y="5486400"/>
              <a:ext cx="11125200" cy="819150"/>
            </a:xfrm>
            <a:prstGeom prst="roundRect">
              <a:avLst>
                <a:gd name="adj" fmla="val 4651"/>
              </a:avLst>
            </a:prstGeom>
            <a:solidFill>
              <a:srgbClr val="FBF6F1"/>
            </a:solidFill>
            <a:ln w="9525">
              <a:solidFill>
                <a:srgbClr val="E8E2DA"/>
              </a:solidFill>
            </a:ln>
          </p:spPr>
        </p:sp>
        <p:sp>
          <p:nvSpPr>
            <p:cNvPr id="68" name="TextBox 68"/>
            <p:cNvSpPr txBox="1"/>
            <p:nvPr/>
          </p:nvSpPr>
          <p:spPr>
            <a:xfrm>
              <a:off x="755523" y="5634514"/>
              <a:ext cx="9743610"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核心结论：三区域体量与华为参与度呈反比——</a:t>
              </a:r>
              <a:r>
                <a:rPr lang="zh-CN" sz="1280" b="1" dirty="0">
                  <a:solidFill>
                    <a:srgbClr val="B85C00"/>
                  </a:solidFill>
                  <a:latin typeface="Arial"/>
                  <a:ea typeface="Microsoft YaHei"/>
                  <a:cs typeface="Arial"/>
                </a:rPr>
                <a:t>OB(73亿€)华为缺席</a:t>
              </a:r>
              <a:r>
                <a:rPr lang="zh-CN" sz="1280" b="1" dirty="0">
                  <a:solidFill>
                    <a:srgbClr val="1A1A1A"/>
                  </a:solidFill>
                  <a:latin typeface="Arial"/>
                  <a:ea typeface="Microsoft YaHei"/>
                  <a:cs typeface="Arial"/>
                </a:rPr>
                <a:t>，</a:t>
              </a:r>
              <a:r>
                <a:rPr lang="zh-CN" sz="1280" b="1" dirty="0">
                  <a:solidFill>
                    <a:srgbClr val="FF7900"/>
                  </a:solidFill>
                  <a:latin typeface="Arial"/>
                  <a:ea typeface="Microsoft YaHei"/>
                  <a:cs typeface="Arial"/>
                </a:rPr>
                <a:t>OEU(27亿€)法律排除</a:t>
              </a:r>
              <a:r>
                <a:rPr lang="zh-CN" sz="1280" b="1" dirty="0">
                  <a:solidFill>
                    <a:srgbClr val="1A1A1A"/>
                  </a:solidFill>
                  <a:latin typeface="Arial"/>
                  <a:ea typeface="Microsoft YaHei"/>
                  <a:cs typeface="Arial"/>
                </a:rPr>
                <a:t>，</a:t>
              </a:r>
              <a:r>
                <a:rPr lang="zh-CN" sz="1280" b="1" dirty="0">
                  <a:solidFill>
                    <a:srgbClr val="FFA640"/>
                  </a:solidFill>
                  <a:latin typeface="Arial"/>
                  <a:ea typeface="Microsoft YaHei"/>
                  <a:cs typeface="Arial"/>
                </a:rPr>
                <a:t>OMEA(13亿€)深度绑定</a:t>
              </a:r>
            </a:p>
          </p:txBody>
        </p:sp>
        <p:sp>
          <p:nvSpPr>
            <p:cNvPr id="69" name="TextBox 69"/>
            <p:cNvSpPr txBox="1"/>
            <p:nvPr/>
          </p:nvSpPr>
          <p:spPr>
            <a:xfrm>
              <a:off x="756285" y="5898356"/>
              <a:ext cx="7935528"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体量最小的OMEA恰恰是华为最应聚焦的战略阵地；三区域B2B合计占Orange集团总收入约28%（113/403.96亿€）</a:t>
              </a:r>
            </a:p>
          </p:txBody>
        </p:sp>
        <p:sp>
          <p:nvSpPr>
            <p:cNvPr id="70" name="TextBox 70"/>
            <p:cNvSpPr txBox="1"/>
            <p:nvPr/>
          </p:nvSpPr>
          <p:spPr>
            <a:xfrm>
              <a:off x="757238" y="6113145"/>
              <a:ext cx="6161065"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数据来源：Orange FY2025财报(2026.2.18)、OMEA战略材料(2026.4)、公开市场调研；估算项已标注（估）</a:t>
              </a:r>
            </a:p>
          </p:txBody>
        </p:sp>
      </p:grpSp>
      <p:grpSp>
        <p:nvGrpSpPr>
          <p:cNvPr id="74" name="Group 74"/>
          <p:cNvGrpSpPr/>
          <p:nvPr/>
        </p:nvGrpSpPr>
        <p:grpSpPr>
          <a:xfrm>
            <a:off x="528447" y="6562249"/>
            <a:ext cx="11135106" cy="190690"/>
            <a:chOff x="528447" y="6562249"/>
            <a:chExt cx="11135106" cy="190690"/>
          </a:xfrm>
        </p:grpSpPr>
        <p:sp>
          <p:nvSpPr>
            <p:cNvPr id="72" name="TextBox 72"/>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73" name="TextBox 73"/>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2321997" cy="461963"/>
            <a:chOff x="521970" y="309562"/>
            <a:chExt cx="12321997" cy="461963"/>
          </a:xfrm>
        </p:grpSpPr>
        <p:sp>
          <p:nvSpPr>
            <p:cNvPr id="3" name="TextBox 3"/>
            <p:cNvSpPr txBox="1"/>
            <p:nvPr/>
          </p:nvSpPr>
          <p:spPr>
            <a:xfrm>
              <a:off x="521970" y="309562"/>
              <a:ext cx="12321997"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客户结构差异巨大——OB以大企业跨国为主，</a:t>
              </a:r>
              <a:r>
                <a:rPr lang="zh-CN" sz="2250" b="1" dirty="0">
                  <a:solidFill>
                    <a:srgbClr val="FF7900"/>
                  </a:solidFill>
                  <a:latin typeface="Arial"/>
                  <a:ea typeface="Microsoft YaHei"/>
                  <a:cs typeface="Arial"/>
                </a:rPr>
                <a:t>OMEA的SOHO规模效应尚未转化为价值</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4" name="Group 14"/>
          <p:cNvGrpSpPr/>
          <p:nvPr/>
        </p:nvGrpSpPr>
        <p:grpSpPr>
          <a:xfrm>
            <a:off x="6667500" y="914400"/>
            <a:ext cx="5015865" cy="222409"/>
            <a:chOff x="6667500" y="914400"/>
            <a:chExt cx="5015865" cy="222409"/>
          </a:xfrm>
        </p:grpSpPr>
        <p:sp>
          <p:nvSpPr>
            <p:cNvPr id="6" name="Rectangle 6"/>
            <p:cNvSpPr/>
            <p:nvPr/>
          </p:nvSpPr>
          <p:spPr>
            <a:xfrm>
              <a:off x="6667500" y="914400"/>
              <a:ext cx="152400" cy="152400"/>
            </a:xfrm>
            <a:prstGeom prst="rect">
              <a:avLst/>
            </a:prstGeom>
            <a:solidFill>
              <a:srgbClr val="B85C00"/>
            </a:solidFill>
            <a:ln>
              <a:noFill/>
            </a:ln>
          </p:spPr>
        </p:sp>
        <p:sp>
          <p:nvSpPr>
            <p:cNvPr id="7" name="TextBox 7"/>
            <p:cNvSpPr txBox="1"/>
            <p:nvPr/>
          </p:nvSpPr>
          <p:spPr>
            <a:xfrm>
              <a:off x="6871335" y="916781"/>
              <a:ext cx="85196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大企业/跨国</a:t>
              </a:r>
            </a:p>
          </p:txBody>
        </p:sp>
        <p:sp>
          <p:nvSpPr>
            <p:cNvPr id="8" name="Rectangle 8"/>
            <p:cNvSpPr/>
            <p:nvPr/>
          </p:nvSpPr>
          <p:spPr>
            <a:xfrm>
              <a:off x="8096250" y="914400"/>
              <a:ext cx="152400" cy="152400"/>
            </a:xfrm>
            <a:prstGeom prst="rect">
              <a:avLst/>
            </a:prstGeom>
            <a:solidFill>
              <a:srgbClr val="D97B2E"/>
            </a:solidFill>
            <a:ln>
              <a:noFill/>
            </a:ln>
          </p:spPr>
        </p:sp>
        <p:sp>
          <p:nvSpPr>
            <p:cNvPr id="9" name="TextBox 9"/>
            <p:cNvSpPr txBox="1"/>
            <p:nvPr/>
          </p:nvSpPr>
          <p:spPr>
            <a:xfrm>
              <a:off x="8300085" y="916781"/>
              <a:ext cx="61722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公共部门</a:t>
              </a:r>
            </a:p>
          </p:txBody>
        </p:sp>
        <p:sp>
          <p:nvSpPr>
            <p:cNvPr id="10" name="Rectangle 10"/>
            <p:cNvSpPr/>
            <p:nvPr/>
          </p:nvSpPr>
          <p:spPr>
            <a:xfrm>
              <a:off x="9429750" y="914400"/>
              <a:ext cx="152400" cy="152400"/>
            </a:xfrm>
            <a:prstGeom prst="rect">
              <a:avLst/>
            </a:prstGeom>
            <a:solidFill>
              <a:srgbClr val="FFA640"/>
            </a:solidFill>
            <a:ln>
              <a:noFill/>
            </a:ln>
          </p:spPr>
        </p:sp>
        <p:sp>
          <p:nvSpPr>
            <p:cNvPr id="11" name="TextBox 11"/>
            <p:cNvSpPr txBox="1"/>
            <p:nvPr/>
          </p:nvSpPr>
          <p:spPr>
            <a:xfrm>
              <a:off x="9633585" y="916781"/>
              <a:ext cx="61722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中型企业</a:t>
              </a:r>
            </a:p>
          </p:txBody>
        </p:sp>
        <p:sp>
          <p:nvSpPr>
            <p:cNvPr id="12" name="Rectangle 12"/>
            <p:cNvSpPr/>
            <p:nvPr/>
          </p:nvSpPr>
          <p:spPr>
            <a:xfrm>
              <a:off x="10668000" y="914400"/>
              <a:ext cx="152400" cy="152400"/>
            </a:xfrm>
            <a:prstGeom prst="rect">
              <a:avLst/>
            </a:prstGeom>
            <a:solidFill>
              <a:srgbClr val="FFD9A8"/>
            </a:solidFill>
            <a:ln>
              <a:noFill/>
            </a:ln>
          </p:spPr>
        </p:sp>
        <p:sp>
          <p:nvSpPr>
            <p:cNvPr id="13" name="TextBox 13"/>
            <p:cNvSpPr txBox="1"/>
            <p:nvPr/>
          </p:nvSpPr>
          <p:spPr>
            <a:xfrm>
              <a:off x="10871835" y="916781"/>
              <a:ext cx="811530" cy="220028"/>
            </a:xfrm>
            <a:prstGeom prst="rect">
              <a:avLst/>
            </a:prstGeom>
            <a:noFill/>
            <a:ln>
              <a:noFill/>
            </a:ln>
          </p:spPr>
          <p:txBody>
            <a:bodyPr wrap="none" lIns="0" tIns="0" rIns="0" bIns="0" anchor="t" anchorCtr="0">
              <a:spAutoFit/>
            </a:bodyPr>
            <a:lstStyle/>
            <a:p>
              <a:pPr algn="l"/>
              <a:r>
                <a:rPr lang="en-US" sz="1120" dirty="0">
                  <a:solidFill>
                    <a:srgbClr val="1A1A1A"/>
                  </a:solidFill>
                  <a:latin typeface="Arial"/>
                  <a:ea typeface="Arial"/>
                  <a:cs typeface="Arial"/>
                </a:rPr>
                <a:t>SOHO/SME</a:t>
              </a:r>
            </a:p>
          </p:txBody>
        </p:sp>
      </p:grpSp>
      <p:grpSp>
        <p:nvGrpSpPr>
          <p:cNvPr id="45" name="Group 45"/>
          <p:cNvGrpSpPr/>
          <p:nvPr/>
        </p:nvGrpSpPr>
        <p:grpSpPr>
          <a:xfrm>
            <a:off x="823036" y="1561624"/>
            <a:ext cx="10416464" cy="4033551"/>
            <a:chOff x="823036" y="1561624"/>
            <a:chExt cx="10416464" cy="4033551"/>
          </a:xfrm>
        </p:grpSpPr>
        <p:grpSp>
          <p:nvGrpSpPr>
            <p:cNvPr id="44" name="Group 44"/>
            <p:cNvGrpSpPr/>
            <p:nvPr/>
          </p:nvGrpSpPr>
          <p:grpSpPr>
            <a:xfrm>
              <a:off x="823036" y="1561624"/>
              <a:ext cx="10416464" cy="4033551"/>
              <a:chOff x="823036" y="1561624"/>
              <a:chExt cx="10416464" cy="4033551"/>
            </a:xfrm>
          </p:grpSpPr>
          <p:sp>
            <p:nvSpPr>
              <p:cNvPr id="15" name="Line 15"/>
              <p:cNvSpPr/>
              <p:nvPr/>
            </p:nvSpPr>
            <p:spPr>
              <a:xfrm>
                <a:off x="1333500" y="1619250"/>
                <a:ext cx="9525" cy="3619500"/>
              </a:xfrm>
              <a:custGeom>
                <a:avLst/>
                <a:gdLst/>
                <a:ahLst/>
                <a:cxnLst/>
                <a:rect l="l" t="t" r="r" b="b"/>
                <a:pathLst>
                  <a:path w="9525" h="3619500">
                    <a:moveTo>
                      <a:pt x="0" y="0"/>
                    </a:moveTo>
                    <a:lnTo>
                      <a:pt x="0" y="3619500"/>
                    </a:lnTo>
                  </a:path>
                </a:pathLst>
              </a:custGeom>
              <a:noFill/>
              <a:ln w="14288">
                <a:solidFill>
                  <a:srgbClr val="E8E2DA"/>
                </a:solidFill>
              </a:ln>
            </p:spPr>
          </p:sp>
          <p:sp>
            <p:nvSpPr>
              <p:cNvPr id="16" name="Line 16"/>
              <p:cNvSpPr/>
              <p:nvPr/>
            </p:nvSpPr>
            <p:spPr>
              <a:xfrm>
                <a:off x="1333500" y="5238750"/>
                <a:ext cx="9906000" cy="9525"/>
              </a:xfrm>
              <a:custGeom>
                <a:avLst/>
                <a:gdLst/>
                <a:ahLst/>
                <a:cxnLst/>
                <a:rect l="l" t="t" r="r" b="b"/>
                <a:pathLst>
                  <a:path w="9906000" h="9525">
                    <a:moveTo>
                      <a:pt x="0" y="0"/>
                    </a:moveTo>
                    <a:lnTo>
                      <a:pt x="9906000" y="0"/>
                    </a:lnTo>
                  </a:path>
                </a:pathLst>
              </a:custGeom>
              <a:noFill/>
              <a:ln w="14288">
                <a:solidFill>
                  <a:srgbClr val="E8E2DA"/>
                </a:solidFill>
              </a:ln>
            </p:spPr>
          </p:sp>
          <p:sp>
            <p:nvSpPr>
              <p:cNvPr id="17" name="TextBox 17"/>
              <p:cNvSpPr txBox="1"/>
              <p:nvPr/>
            </p:nvSpPr>
            <p:spPr>
              <a:xfrm>
                <a:off x="823036" y="1561624"/>
                <a:ext cx="32491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100%</a:t>
                </a:r>
              </a:p>
            </p:txBody>
          </p:sp>
          <p:sp>
            <p:nvSpPr>
              <p:cNvPr id="18" name="TextBox 18"/>
              <p:cNvSpPr txBox="1"/>
              <p:nvPr/>
            </p:nvSpPr>
            <p:spPr>
              <a:xfrm>
                <a:off x="895226" y="3371374"/>
                <a:ext cx="25272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50%</a:t>
                </a:r>
              </a:p>
            </p:txBody>
          </p:sp>
          <p:sp>
            <p:nvSpPr>
              <p:cNvPr id="19" name="TextBox 19"/>
              <p:cNvSpPr txBox="1"/>
              <p:nvPr/>
            </p:nvSpPr>
            <p:spPr>
              <a:xfrm>
                <a:off x="967416" y="5171599"/>
                <a:ext cx="18053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0%</a:t>
                </a:r>
              </a:p>
            </p:txBody>
          </p:sp>
          <p:sp>
            <p:nvSpPr>
              <p:cNvPr id="20" name="Line 20"/>
              <p:cNvSpPr/>
              <p:nvPr/>
            </p:nvSpPr>
            <p:spPr>
              <a:xfrm>
                <a:off x="1333500" y="3429000"/>
                <a:ext cx="9906000" cy="9525"/>
              </a:xfrm>
              <a:custGeom>
                <a:avLst/>
                <a:gdLst/>
                <a:ahLst/>
                <a:cxnLst/>
                <a:rect l="l" t="t" r="r" b="b"/>
                <a:pathLst>
                  <a:path w="9906000" h="9525">
                    <a:moveTo>
                      <a:pt x="0" y="0"/>
                    </a:moveTo>
                    <a:lnTo>
                      <a:pt x="9906000" y="0"/>
                    </a:lnTo>
                  </a:path>
                </a:pathLst>
              </a:custGeom>
              <a:noFill/>
              <a:ln w="9525">
                <a:solidFill>
                  <a:srgbClr val="F1EDE6"/>
                </a:solidFill>
                <a:prstDash val="dash"/>
              </a:ln>
            </p:spPr>
          </p:sp>
          <p:sp>
            <p:nvSpPr>
              <p:cNvPr id="21" name="Rectangle 21"/>
              <p:cNvSpPr/>
              <p:nvPr/>
            </p:nvSpPr>
            <p:spPr>
              <a:xfrm>
                <a:off x="2228850" y="3609975"/>
                <a:ext cx="1524000" cy="1628775"/>
              </a:xfrm>
              <a:prstGeom prst="rect">
                <a:avLst/>
              </a:prstGeom>
              <a:solidFill>
                <a:srgbClr val="B85C00"/>
              </a:solidFill>
              <a:ln>
                <a:noFill/>
              </a:ln>
            </p:spPr>
          </p:sp>
          <p:sp>
            <p:nvSpPr>
              <p:cNvPr id="22" name="TextBox 22"/>
              <p:cNvSpPr txBox="1"/>
              <p:nvPr/>
            </p:nvSpPr>
            <p:spPr>
              <a:xfrm>
                <a:off x="2827854" y="434721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55%</a:t>
                </a:r>
              </a:p>
            </p:txBody>
          </p:sp>
          <p:sp>
            <p:nvSpPr>
              <p:cNvPr id="23" name="Rectangle 23"/>
              <p:cNvSpPr/>
              <p:nvPr/>
            </p:nvSpPr>
            <p:spPr>
              <a:xfrm>
                <a:off x="2228850" y="2524125"/>
                <a:ext cx="1524000" cy="1085850"/>
              </a:xfrm>
              <a:prstGeom prst="rect">
                <a:avLst/>
              </a:prstGeom>
              <a:solidFill>
                <a:srgbClr val="D97B2E"/>
              </a:solidFill>
              <a:ln>
                <a:noFill/>
              </a:ln>
            </p:spPr>
          </p:sp>
          <p:sp>
            <p:nvSpPr>
              <p:cNvPr id="24" name="TextBox 24"/>
              <p:cNvSpPr txBox="1"/>
              <p:nvPr/>
            </p:nvSpPr>
            <p:spPr>
              <a:xfrm>
                <a:off x="2827854" y="298513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30%</a:t>
                </a:r>
              </a:p>
            </p:txBody>
          </p:sp>
          <p:sp>
            <p:nvSpPr>
              <p:cNvPr id="25" name="Rectangle 25"/>
              <p:cNvSpPr/>
              <p:nvPr/>
            </p:nvSpPr>
            <p:spPr>
              <a:xfrm>
                <a:off x="2228850" y="1981200"/>
                <a:ext cx="1524000" cy="542925"/>
              </a:xfrm>
              <a:prstGeom prst="rect">
                <a:avLst/>
              </a:prstGeom>
              <a:solidFill>
                <a:srgbClr val="FFA640"/>
              </a:solidFill>
              <a:ln>
                <a:noFill/>
              </a:ln>
            </p:spPr>
          </p:sp>
          <p:sp>
            <p:nvSpPr>
              <p:cNvPr id="26" name="TextBox 26"/>
              <p:cNvSpPr txBox="1"/>
              <p:nvPr/>
            </p:nvSpPr>
            <p:spPr>
              <a:xfrm>
                <a:off x="2838042" y="2174081"/>
                <a:ext cx="305617" cy="220028"/>
              </a:xfrm>
              <a:prstGeom prst="rect">
                <a:avLst/>
              </a:prstGeom>
              <a:noFill/>
              <a:ln>
                <a:noFill/>
              </a:ln>
            </p:spPr>
            <p:txBody>
              <a:bodyPr wrap="none" lIns="0" tIns="0" rIns="0" bIns="0" anchor="t" anchorCtr="0">
                <a:spAutoFit/>
              </a:bodyPr>
              <a:lstStyle/>
              <a:p>
                <a:pPr algn="ctr"/>
                <a:r>
                  <a:rPr lang="en-US" sz="1120" b="1" dirty="0">
                    <a:solidFill>
                      <a:srgbClr val="1A1A1A"/>
                    </a:solidFill>
                    <a:latin typeface="Arial"/>
                    <a:ea typeface="Arial"/>
                    <a:cs typeface="Arial"/>
                  </a:rPr>
                  <a:t>15%</a:t>
                </a:r>
              </a:p>
            </p:txBody>
          </p:sp>
          <p:sp>
            <p:nvSpPr>
              <p:cNvPr id="27" name="TextBox 27"/>
              <p:cNvSpPr txBox="1"/>
              <p:nvPr/>
            </p:nvSpPr>
            <p:spPr>
              <a:xfrm>
                <a:off x="2852936" y="5331142"/>
                <a:ext cx="275829" cy="264033"/>
              </a:xfrm>
              <a:prstGeom prst="rect">
                <a:avLst/>
              </a:prstGeom>
              <a:noFill/>
              <a:ln>
                <a:noFill/>
              </a:ln>
            </p:spPr>
            <p:txBody>
              <a:bodyPr wrap="none" lIns="0" tIns="0" rIns="0" bIns="0" anchor="t" anchorCtr="0">
                <a:spAutoFit/>
              </a:bodyPr>
              <a:lstStyle/>
              <a:p>
                <a:pPr algn="ctr"/>
                <a:r>
                  <a:rPr lang="en-US" sz="1350" b="1" dirty="0">
                    <a:solidFill>
                      <a:srgbClr val="B85C00"/>
                    </a:solidFill>
                    <a:latin typeface="Arial"/>
                    <a:ea typeface="Arial"/>
                    <a:cs typeface="Arial"/>
                  </a:rPr>
                  <a:t>OB</a:t>
                </a:r>
              </a:p>
            </p:txBody>
          </p:sp>
          <p:sp>
            <p:nvSpPr>
              <p:cNvPr id="28" name="Rectangle 28"/>
              <p:cNvSpPr/>
              <p:nvPr/>
            </p:nvSpPr>
            <p:spPr>
              <a:xfrm>
                <a:off x="5524500" y="4152900"/>
                <a:ext cx="1524000" cy="1085850"/>
              </a:xfrm>
              <a:prstGeom prst="rect">
                <a:avLst/>
              </a:prstGeom>
              <a:solidFill>
                <a:srgbClr val="FFA640"/>
              </a:solidFill>
              <a:ln>
                <a:noFill/>
              </a:ln>
            </p:spPr>
          </p:sp>
          <p:sp>
            <p:nvSpPr>
              <p:cNvPr id="29" name="TextBox 29"/>
              <p:cNvSpPr txBox="1"/>
              <p:nvPr/>
            </p:nvSpPr>
            <p:spPr>
              <a:xfrm>
                <a:off x="6123504" y="4604385"/>
                <a:ext cx="325991" cy="234696"/>
              </a:xfrm>
              <a:prstGeom prst="rect">
                <a:avLst/>
              </a:prstGeom>
              <a:noFill/>
              <a:ln>
                <a:noFill/>
              </a:ln>
            </p:spPr>
            <p:txBody>
              <a:bodyPr wrap="none" lIns="0" tIns="0" rIns="0" bIns="0" anchor="t" anchorCtr="0">
                <a:spAutoFit/>
              </a:bodyPr>
              <a:lstStyle/>
              <a:p>
                <a:pPr algn="ctr"/>
                <a:r>
                  <a:rPr lang="en-US" sz="1200" b="1" dirty="0">
                    <a:solidFill>
                      <a:srgbClr val="1A1A1A"/>
                    </a:solidFill>
                    <a:latin typeface="Arial"/>
                    <a:ea typeface="Arial"/>
                    <a:cs typeface="Arial"/>
                  </a:rPr>
                  <a:t>30%</a:t>
                </a:r>
              </a:p>
            </p:txBody>
          </p:sp>
          <p:sp>
            <p:nvSpPr>
              <p:cNvPr id="30" name="Rectangle 30"/>
              <p:cNvSpPr/>
              <p:nvPr/>
            </p:nvSpPr>
            <p:spPr>
              <a:xfrm>
                <a:off x="5524500" y="3248025"/>
                <a:ext cx="1524000" cy="904875"/>
              </a:xfrm>
              <a:prstGeom prst="rect">
                <a:avLst/>
              </a:prstGeom>
              <a:solidFill>
                <a:srgbClr val="D97B2E"/>
              </a:solidFill>
              <a:ln>
                <a:noFill/>
              </a:ln>
            </p:spPr>
          </p:sp>
          <p:sp>
            <p:nvSpPr>
              <p:cNvPr id="31" name="TextBox 31"/>
              <p:cNvSpPr txBox="1"/>
              <p:nvPr/>
            </p:nvSpPr>
            <p:spPr>
              <a:xfrm>
                <a:off x="6123504" y="361378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25%</a:t>
                </a:r>
              </a:p>
            </p:txBody>
          </p:sp>
          <p:sp>
            <p:nvSpPr>
              <p:cNvPr id="32" name="Rectangle 32"/>
              <p:cNvSpPr/>
              <p:nvPr/>
            </p:nvSpPr>
            <p:spPr>
              <a:xfrm>
                <a:off x="5524500" y="1619250"/>
                <a:ext cx="1524000" cy="1628775"/>
              </a:xfrm>
              <a:prstGeom prst="rect">
                <a:avLst/>
              </a:prstGeom>
              <a:solidFill>
                <a:srgbClr val="B85C00"/>
              </a:solidFill>
              <a:ln>
                <a:noFill/>
              </a:ln>
            </p:spPr>
          </p:sp>
          <p:sp>
            <p:nvSpPr>
              <p:cNvPr id="33" name="TextBox 33"/>
              <p:cNvSpPr txBox="1"/>
              <p:nvPr/>
            </p:nvSpPr>
            <p:spPr>
              <a:xfrm>
                <a:off x="6123504" y="234696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45%</a:t>
                </a:r>
              </a:p>
            </p:txBody>
          </p:sp>
          <p:sp>
            <p:nvSpPr>
              <p:cNvPr id="34" name="TextBox 34"/>
              <p:cNvSpPr txBox="1"/>
              <p:nvPr/>
            </p:nvSpPr>
            <p:spPr>
              <a:xfrm>
                <a:off x="6093139" y="5331142"/>
                <a:ext cx="386723" cy="264033"/>
              </a:xfrm>
              <a:prstGeom prst="rect">
                <a:avLst/>
              </a:prstGeom>
              <a:noFill/>
              <a:ln>
                <a:noFill/>
              </a:ln>
            </p:spPr>
            <p:txBody>
              <a:bodyPr wrap="none" lIns="0" tIns="0" rIns="0" bIns="0" anchor="t" anchorCtr="0">
                <a:spAutoFit/>
              </a:bodyPr>
              <a:lstStyle/>
              <a:p>
                <a:pPr algn="ctr"/>
                <a:r>
                  <a:rPr lang="en-US" sz="1350" b="1" dirty="0">
                    <a:solidFill>
                      <a:srgbClr val="FF7900"/>
                    </a:solidFill>
                    <a:latin typeface="Arial"/>
                    <a:ea typeface="Arial"/>
                    <a:cs typeface="Arial"/>
                  </a:rPr>
                  <a:t>OEU</a:t>
                </a:r>
              </a:p>
            </p:txBody>
          </p:sp>
          <p:sp>
            <p:nvSpPr>
              <p:cNvPr id="35" name="Rectangle 35"/>
              <p:cNvSpPr/>
              <p:nvPr/>
            </p:nvSpPr>
            <p:spPr>
              <a:xfrm>
                <a:off x="8829675" y="4152900"/>
                <a:ext cx="1524000" cy="1085850"/>
              </a:xfrm>
              <a:prstGeom prst="rect">
                <a:avLst/>
              </a:prstGeom>
              <a:solidFill>
                <a:srgbClr val="FFD9A8"/>
              </a:solidFill>
              <a:ln>
                <a:noFill/>
              </a:ln>
            </p:spPr>
          </p:sp>
          <p:sp>
            <p:nvSpPr>
              <p:cNvPr id="36" name="TextBox 36"/>
              <p:cNvSpPr txBox="1"/>
              <p:nvPr/>
            </p:nvSpPr>
            <p:spPr>
              <a:xfrm>
                <a:off x="9428679" y="4604385"/>
                <a:ext cx="325991" cy="234696"/>
              </a:xfrm>
              <a:prstGeom prst="rect">
                <a:avLst/>
              </a:prstGeom>
              <a:noFill/>
              <a:ln>
                <a:noFill/>
              </a:ln>
            </p:spPr>
            <p:txBody>
              <a:bodyPr wrap="none" lIns="0" tIns="0" rIns="0" bIns="0" anchor="t" anchorCtr="0">
                <a:spAutoFit/>
              </a:bodyPr>
              <a:lstStyle/>
              <a:p>
                <a:pPr algn="ctr"/>
                <a:r>
                  <a:rPr lang="en-US" sz="1200" b="1" dirty="0">
                    <a:solidFill>
                      <a:srgbClr val="1A1A1A"/>
                    </a:solidFill>
                    <a:latin typeface="Arial"/>
                    <a:ea typeface="Arial"/>
                    <a:cs typeface="Arial"/>
                  </a:rPr>
                  <a:t>30%</a:t>
                </a:r>
              </a:p>
            </p:txBody>
          </p:sp>
          <p:sp>
            <p:nvSpPr>
              <p:cNvPr id="37" name="Rectangle 37"/>
              <p:cNvSpPr/>
              <p:nvPr/>
            </p:nvSpPr>
            <p:spPr>
              <a:xfrm>
                <a:off x="8829675" y="3609975"/>
                <a:ext cx="1524000" cy="542925"/>
              </a:xfrm>
              <a:prstGeom prst="rect">
                <a:avLst/>
              </a:prstGeom>
              <a:solidFill>
                <a:srgbClr val="FFA640"/>
              </a:solidFill>
              <a:ln>
                <a:noFill/>
              </a:ln>
            </p:spPr>
          </p:sp>
          <p:sp>
            <p:nvSpPr>
              <p:cNvPr id="38" name="TextBox 38"/>
              <p:cNvSpPr txBox="1"/>
              <p:nvPr/>
            </p:nvSpPr>
            <p:spPr>
              <a:xfrm>
                <a:off x="9438867" y="3793331"/>
                <a:ext cx="305617" cy="220028"/>
              </a:xfrm>
              <a:prstGeom prst="rect">
                <a:avLst/>
              </a:prstGeom>
              <a:noFill/>
              <a:ln>
                <a:noFill/>
              </a:ln>
            </p:spPr>
            <p:txBody>
              <a:bodyPr wrap="none" lIns="0" tIns="0" rIns="0" bIns="0" anchor="t" anchorCtr="0">
                <a:spAutoFit/>
              </a:bodyPr>
              <a:lstStyle/>
              <a:p>
                <a:pPr algn="ctr"/>
                <a:r>
                  <a:rPr lang="en-US" sz="1120" b="1" dirty="0">
                    <a:solidFill>
                      <a:srgbClr val="1A1A1A"/>
                    </a:solidFill>
                    <a:latin typeface="Arial"/>
                    <a:ea typeface="Arial"/>
                    <a:cs typeface="Arial"/>
                  </a:rPr>
                  <a:t>15%</a:t>
                </a:r>
              </a:p>
            </p:txBody>
          </p:sp>
          <p:sp>
            <p:nvSpPr>
              <p:cNvPr id="39" name="Rectangle 39"/>
              <p:cNvSpPr/>
              <p:nvPr/>
            </p:nvSpPr>
            <p:spPr>
              <a:xfrm>
                <a:off x="8829675" y="2705100"/>
                <a:ext cx="1524000" cy="904875"/>
              </a:xfrm>
              <a:prstGeom prst="rect">
                <a:avLst/>
              </a:prstGeom>
              <a:solidFill>
                <a:srgbClr val="D97B2E"/>
              </a:solidFill>
              <a:ln>
                <a:noFill/>
              </a:ln>
            </p:spPr>
          </p:sp>
          <p:sp>
            <p:nvSpPr>
              <p:cNvPr id="40" name="TextBox 40"/>
              <p:cNvSpPr txBox="1"/>
              <p:nvPr/>
            </p:nvSpPr>
            <p:spPr>
              <a:xfrm>
                <a:off x="9428679" y="307086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25%</a:t>
                </a:r>
              </a:p>
            </p:txBody>
          </p:sp>
          <p:sp>
            <p:nvSpPr>
              <p:cNvPr id="41" name="Rectangle 41"/>
              <p:cNvSpPr/>
              <p:nvPr/>
            </p:nvSpPr>
            <p:spPr>
              <a:xfrm>
                <a:off x="8829675" y="1619250"/>
                <a:ext cx="1524000" cy="1085850"/>
              </a:xfrm>
              <a:prstGeom prst="rect">
                <a:avLst/>
              </a:prstGeom>
              <a:solidFill>
                <a:srgbClr val="B85C00"/>
              </a:solidFill>
              <a:ln>
                <a:noFill/>
              </a:ln>
            </p:spPr>
          </p:sp>
          <p:sp>
            <p:nvSpPr>
              <p:cNvPr id="42" name="TextBox 42"/>
              <p:cNvSpPr txBox="1"/>
              <p:nvPr/>
            </p:nvSpPr>
            <p:spPr>
              <a:xfrm>
                <a:off x="9428679" y="207073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30%</a:t>
                </a:r>
              </a:p>
            </p:txBody>
          </p:sp>
          <p:sp>
            <p:nvSpPr>
              <p:cNvPr id="43" name="TextBox 43"/>
              <p:cNvSpPr txBox="1"/>
              <p:nvPr/>
            </p:nvSpPr>
            <p:spPr>
              <a:xfrm>
                <a:off x="9322704" y="5331142"/>
                <a:ext cx="537942" cy="264033"/>
              </a:xfrm>
              <a:prstGeom prst="rect">
                <a:avLst/>
              </a:prstGeom>
              <a:noFill/>
              <a:ln>
                <a:noFill/>
              </a:ln>
            </p:spPr>
            <p:txBody>
              <a:bodyPr wrap="none" lIns="0" tIns="0" rIns="0" bIns="0" anchor="t" anchorCtr="0">
                <a:spAutoFit/>
              </a:bodyPr>
              <a:lstStyle/>
              <a:p>
                <a:pPr algn="ctr"/>
                <a:r>
                  <a:rPr lang="en-US" sz="1350" b="1" dirty="0">
                    <a:solidFill>
                      <a:srgbClr val="FFA640"/>
                    </a:solidFill>
                    <a:latin typeface="Arial"/>
                    <a:ea typeface="Arial"/>
                    <a:cs typeface="Arial"/>
                  </a:rPr>
                  <a:t>OMEA</a:t>
                </a:r>
              </a:p>
            </p:txBody>
          </p:sp>
        </p:grpSp>
      </p:grpSp>
      <p:grpSp>
        <p:nvGrpSpPr>
          <p:cNvPr id="49" name="Group 49"/>
          <p:cNvGrpSpPr/>
          <p:nvPr/>
        </p:nvGrpSpPr>
        <p:grpSpPr>
          <a:xfrm>
            <a:off x="533400" y="5715000"/>
            <a:ext cx="11125200" cy="762000"/>
            <a:chOff x="533400" y="5715000"/>
            <a:chExt cx="11125200" cy="762000"/>
          </a:xfrm>
        </p:grpSpPr>
        <p:sp>
          <p:nvSpPr>
            <p:cNvPr id="46" name="Rectangle 46"/>
            <p:cNvSpPr/>
            <p:nvPr/>
          </p:nvSpPr>
          <p:spPr>
            <a:xfrm>
              <a:off x="533400" y="5715000"/>
              <a:ext cx="11125200" cy="762000"/>
            </a:xfrm>
            <a:prstGeom prst="roundRect">
              <a:avLst>
                <a:gd name="adj" fmla="val 5000"/>
              </a:avLst>
            </a:prstGeom>
            <a:solidFill>
              <a:srgbClr val="FBF6F1"/>
            </a:solidFill>
            <a:ln w="9525">
              <a:solidFill>
                <a:srgbClr val="E8E2DA"/>
              </a:solidFill>
            </a:ln>
          </p:spPr>
        </p:sp>
        <p:sp>
          <p:nvSpPr>
            <p:cNvPr id="47" name="TextBox 47"/>
            <p:cNvSpPr txBox="1"/>
            <p:nvPr/>
          </p:nvSpPr>
          <p:spPr>
            <a:xfrm>
              <a:off x="755142" y="5874068"/>
              <a:ext cx="1024619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核心结论：OMEA客户数量增长但单户价值（ARPA）</a:t>
              </a:r>
              <a:r>
                <a:rPr lang="zh-CN" sz="1350" b="1" dirty="0">
                  <a:solidFill>
                    <a:srgbClr val="C0392B"/>
                  </a:solidFill>
                  <a:latin typeface="Arial"/>
                  <a:ea typeface="Microsoft YaHei"/>
                  <a:cs typeface="Arial"/>
                </a:rPr>
                <a:t>下滑19%</a:t>
              </a:r>
              <a:r>
                <a:rPr lang="zh-CN" sz="1350" b="1" dirty="0">
                  <a:solidFill>
                    <a:srgbClr val="1A1A1A"/>
                  </a:solidFill>
                  <a:latin typeface="Arial"/>
                  <a:ea typeface="Microsoft YaHei"/>
                  <a:cs typeface="Arial"/>
                </a:rPr>
                <a:t>，是三区域中唯一呈现"增量不增值"结构性矛盾的市场</a:t>
              </a:r>
            </a:p>
          </p:txBody>
        </p:sp>
        <p:sp>
          <p:nvSpPr>
            <p:cNvPr id="48" name="TextBox 48"/>
            <p:cNvSpPr txBox="1"/>
            <p:nvPr/>
          </p:nvSpPr>
          <p:spPr>
            <a:xfrm>
              <a:off x="756285" y="6165056"/>
              <a:ext cx="772439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OEU波兰ICT占B2B36%（实证）；西班牙大企业+公共部门约70%（估）；罗马尼亚B2B+14%增速跑赢集团均值</a:t>
              </a:r>
            </a:p>
          </p:txBody>
        </p:sp>
      </p:grpSp>
      <p:grpSp>
        <p:nvGrpSpPr>
          <p:cNvPr id="52" name="Group 52"/>
          <p:cNvGrpSpPr/>
          <p:nvPr/>
        </p:nvGrpSpPr>
        <p:grpSpPr>
          <a:xfrm>
            <a:off x="528447" y="6562249"/>
            <a:ext cx="11135106" cy="190690"/>
            <a:chOff x="528447" y="6562249"/>
            <a:chExt cx="11135106" cy="190690"/>
          </a:xfrm>
        </p:grpSpPr>
        <p:sp>
          <p:nvSpPr>
            <p:cNvPr id="50" name="TextBox 50"/>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1" name="TextBox 51"/>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448288" cy="461963"/>
            <a:chOff x="521970" y="309562"/>
            <a:chExt cx="11448288" cy="461963"/>
          </a:xfrm>
        </p:grpSpPr>
        <p:sp>
          <p:nvSpPr>
            <p:cNvPr id="3" name="TextBox 3"/>
            <p:cNvSpPr txBox="1"/>
            <p:nvPr/>
          </p:nvSpPr>
          <p:spPr>
            <a:xfrm>
              <a:off x="521970" y="309562"/>
              <a:ext cx="11448288"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行业打法分化——OB深耕金融国防等成熟垂直，</a:t>
              </a:r>
              <a:r>
                <a:rPr lang="zh-CN" sz="2250" b="1" dirty="0">
                  <a:solidFill>
                    <a:srgbClr val="FF7900"/>
                  </a:solidFill>
                  <a:latin typeface="Arial"/>
                  <a:ea typeface="Microsoft YaHei"/>
                  <a:cs typeface="Arial"/>
                </a:rPr>
                <a:t>OMEA靠矿业港口基建打开增长</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30" name="Group 30"/>
          <p:cNvGrpSpPr/>
          <p:nvPr/>
        </p:nvGrpSpPr>
        <p:grpSpPr>
          <a:xfrm>
            <a:off x="533400" y="952500"/>
            <a:ext cx="3747478" cy="4667250"/>
            <a:chOff x="533400" y="952500"/>
            <a:chExt cx="3747478" cy="4667250"/>
          </a:xfrm>
        </p:grpSpPr>
        <p:sp>
          <p:nvSpPr>
            <p:cNvPr id="6" name="Rectangle 6"/>
            <p:cNvSpPr/>
            <p:nvPr/>
          </p:nvSpPr>
          <p:spPr>
            <a:xfrm>
              <a:off x="533400" y="952500"/>
              <a:ext cx="3552825" cy="4667250"/>
            </a:xfrm>
            <a:prstGeom prst="roundRect">
              <a:avLst>
                <a:gd name="adj" fmla="val 1072"/>
              </a:avLst>
            </a:prstGeom>
            <a:solidFill>
              <a:srgbClr val="FBF6F1"/>
            </a:solidFill>
            <a:ln w="9525">
              <a:solidFill>
                <a:srgbClr val="E8E2DA"/>
              </a:solidFill>
            </a:ln>
          </p:spPr>
        </p:sp>
        <p:sp>
          <p:nvSpPr>
            <p:cNvPr id="7" name="Rectangle 7"/>
            <p:cNvSpPr/>
            <p:nvPr/>
          </p:nvSpPr>
          <p:spPr>
            <a:xfrm>
              <a:off x="533400" y="952500"/>
              <a:ext cx="3552825" cy="76200"/>
            </a:xfrm>
            <a:prstGeom prst="rect">
              <a:avLst/>
            </a:prstGeom>
            <a:solidFill>
              <a:srgbClr val="B85C00"/>
            </a:solidFill>
            <a:ln>
              <a:noFill/>
            </a:ln>
          </p:spPr>
        </p:sp>
        <p:sp>
          <p:nvSpPr>
            <p:cNvPr id="8" name="TextBox 8"/>
            <p:cNvSpPr txBox="1"/>
            <p:nvPr/>
          </p:nvSpPr>
          <p:spPr>
            <a:xfrm>
              <a:off x="754761" y="1179671"/>
              <a:ext cx="3526117" cy="278702"/>
            </a:xfrm>
            <a:prstGeom prst="rect">
              <a:avLst/>
            </a:prstGeom>
            <a:noFill/>
            <a:ln>
              <a:noFill/>
            </a:ln>
          </p:spPr>
          <p:txBody>
            <a:bodyPr wrap="none" lIns="0" tIns="0" rIns="0" bIns="0" anchor="t" anchorCtr="0">
              <a:spAutoFit/>
            </a:bodyPr>
            <a:lstStyle/>
            <a:p>
              <a:pPr algn="l"/>
              <a:r>
                <a:rPr lang="zh-CN" sz="1420" b="1" dirty="0">
                  <a:solidFill>
                    <a:srgbClr val="B85C00"/>
                  </a:solidFill>
                  <a:latin typeface="Arial"/>
                  <a:ea typeface="Microsoft YaHei"/>
                  <a:cs typeface="Arial"/>
                </a:rPr>
                <a:t>OB · 存量深耕（1,950M€集成业务）</a:t>
              </a:r>
            </a:p>
          </p:txBody>
        </p:sp>
        <p:sp>
          <p:nvSpPr>
            <p:cNvPr id="9" name="Line 9"/>
            <p:cNvSpPr/>
            <p:nvPr/>
          </p:nvSpPr>
          <p:spPr>
            <a:xfrm>
              <a:off x="762000"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0" name="Ellipse 10"/>
            <p:cNvSpPr/>
            <p:nvPr/>
          </p:nvSpPr>
          <p:spPr>
            <a:xfrm>
              <a:off x="781050" y="1695450"/>
              <a:ext cx="76200" cy="76200"/>
            </a:xfrm>
            <a:prstGeom prst="ellipse">
              <a:avLst/>
            </a:prstGeom>
            <a:solidFill>
              <a:srgbClr val="B85C00"/>
            </a:solidFill>
            <a:ln>
              <a:noFill/>
            </a:ln>
          </p:spPr>
        </p:sp>
        <p:sp>
          <p:nvSpPr>
            <p:cNvPr id="11" name="TextBox 11"/>
            <p:cNvSpPr txBox="1"/>
            <p:nvPr/>
          </p:nvSpPr>
          <p:spPr>
            <a:xfrm>
              <a:off x="946785" y="1669256"/>
              <a:ext cx="245973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国防安全（新设BU）</a:t>
              </a:r>
              <a:r>
                <a:rPr lang="en-US" sz="1120" dirty="0">
                  <a:solidFill>
                    <a:srgbClr val="6B6B6B"/>
                  </a:solidFill>
                  <a:latin typeface="Arial"/>
                  <a:ea typeface="Arial"/>
                  <a:cs typeface="Arial"/>
                </a:rPr>
                <a:t>— 20%/390M€</a:t>
              </a:r>
            </a:p>
          </p:txBody>
        </p:sp>
        <p:sp>
          <p:nvSpPr>
            <p:cNvPr id="12" name="Ellipse 12"/>
            <p:cNvSpPr/>
            <p:nvPr/>
          </p:nvSpPr>
          <p:spPr>
            <a:xfrm>
              <a:off x="781050" y="1981200"/>
              <a:ext cx="76200" cy="76200"/>
            </a:xfrm>
            <a:prstGeom prst="ellipse">
              <a:avLst/>
            </a:prstGeom>
            <a:solidFill>
              <a:srgbClr val="B85C00"/>
            </a:solidFill>
            <a:ln>
              <a:noFill/>
            </a:ln>
          </p:spPr>
        </p:sp>
        <p:sp>
          <p:nvSpPr>
            <p:cNvPr id="13" name="TextBox 13"/>
            <p:cNvSpPr txBox="1"/>
            <p:nvPr/>
          </p:nvSpPr>
          <p:spPr>
            <a:xfrm>
              <a:off x="946785" y="1955006"/>
              <a:ext cx="196367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公共部门政务</a:t>
              </a:r>
              <a:r>
                <a:rPr lang="en-US" sz="1120" dirty="0">
                  <a:solidFill>
                    <a:srgbClr val="6B6B6B"/>
                  </a:solidFill>
                  <a:latin typeface="Arial"/>
                  <a:ea typeface="Arial"/>
                  <a:cs typeface="Arial"/>
                </a:rPr>
                <a:t>— 18%/350M€</a:t>
              </a:r>
            </a:p>
          </p:txBody>
        </p:sp>
        <p:sp>
          <p:nvSpPr>
            <p:cNvPr id="14" name="Ellipse 14"/>
            <p:cNvSpPr/>
            <p:nvPr/>
          </p:nvSpPr>
          <p:spPr>
            <a:xfrm>
              <a:off x="781050" y="2266950"/>
              <a:ext cx="76200" cy="76200"/>
            </a:xfrm>
            <a:prstGeom prst="ellipse">
              <a:avLst/>
            </a:prstGeom>
            <a:solidFill>
              <a:srgbClr val="B85C00"/>
            </a:solidFill>
            <a:ln>
              <a:noFill/>
            </a:ln>
          </p:spPr>
        </p:sp>
        <p:sp>
          <p:nvSpPr>
            <p:cNvPr id="15" name="TextBox 15"/>
            <p:cNvSpPr txBox="1"/>
            <p:nvPr/>
          </p:nvSpPr>
          <p:spPr>
            <a:xfrm>
              <a:off x="946785" y="2240756"/>
              <a:ext cx="272376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医疗健康(医院集团GHT)</a:t>
              </a:r>
              <a:r>
                <a:rPr lang="en-US" sz="1120" dirty="0">
                  <a:solidFill>
                    <a:srgbClr val="6B6B6B"/>
                  </a:solidFill>
                  <a:latin typeface="Arial"/>
                  <a:ea typeface="Arial"/>
                  <a:cs typeface="Arial"/>
                </a:rPr>
                <a:t>— 12%/235M€</a:t>
              </a:r>
            </a:p>
          </p:txBody>
        </p:sp>
        <p:sp>
          <p:nvSpPr>
            <p:cNvPr id="16" name="Ellipse 16"/>
            <p:cNvSpPr/>
            <p:nvPr/>
          </p:nvSpPr>
          <p:spPr>
            <a:xfrm>
              <a:off x="781050" y="2552700"/>
              <a:ext cx="76200" cy="76200"/>
            </a:xfrm>
            <a:prstGeom prst="ellipse">
              <a:avLst/>
            </a:prstGeom>
            <a:solidFill>
              <a:srgbClr val="B85C00"/>
            </a:solidFill>
            <a:ln>
              <a:noFill/>
            </a:ln>
          </p:spPr>
        </p:sp>
        <p:sp>
          <p:nvSpPr>
            <p:cNvPr id="17" name="TextBox 17"/>
            <p:cNvSpPr txBox="1"/>
            <p:nvPr/>
          </p:nvSpPr>
          <p:spPr>
            <a:xfrm>
              <a:off x="946785" y="2526506"/>
              <a:ext cx="164363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金融保险</a:t>
              </a:r>
              <a:r>
                <a:rPr lang="en-US" sz="1120" dirty="0">
                  <a:solidFill>
                    <a:srgbClr val="6B6B6B"/>
                  </a:solidFill>
                  <a:latin typeface="Arial"/>
                  <a:ea typeface="Arial"/>
                  <a:cs typeface="Arial"/>
                </a:rPr>
                <a:t>— 10%/195M€</a:t>
              </a:r>
            </a:p>
          </p:txBody>
        </p:sp>
        <p:sp>
          <p:nvSpPr>
            <p:cNvPr id="18" name="Ellipse 18"/>
            <p:cNvSpPr/>
            <p:nvPr/>
          </p:nvSpPr>
          <p:spPr>
            <a:xfrm>
              <a:off x="781050" y="2838450"/>
              <a:ext cx="76200" cy="76200"/>
            </a:xfrm>
            <a:prstGeom prst="ellipse">
              <a:avLst/>
            </a:prstGeom>
            <a:solidFill>
              <a:srgbClr val="B85C00"/>
            </a:solidFill>
            <a:ln>
              <a:noFill/>
            </a:ln>
          </p:spPr>
        </p:sp>
        <p:sp>
          <p:nvSpPr>
            <p:cNvPr id="19" name="TextBox 19"/>
            <p:cNvSpPr txBox="1"/>
            <p:nvPr/>
          </p:nvSpPr>
          <p:spPr>
            <a:xfrm>
              <a:off x="946785" y="2812256"/>
              <a:ext cx="228371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交通运输/机场枢纽</a:t>
              </a:r>
              <a:r>
                <a:rPr lang="en-US" sz="1120" dirty="0">
                  <a:solidFill>
                    <a:srgbClr val="6B6B6B"/>
                  </a:solidFill>
                  <a:latin typeface="Arial"/>
                  <a:ea typeface="Arial"/>
                  <a:cs typeface="Arial"/>
                </a:rPr>
                <a:t>— 8%/155M€</a:t>
              </a:r>
            </a:p>
          </p:txBody>
        </p:sp>
        <p:sp>
          <p:nvSpPr>
            <p:cNvPr id="20" name="Ellipse 20"/>
            <p:cNvSpPr/>
            <p:nvPr/>
          </p:nvSpPr>
          <p:spPr>
            <a:xfrm>
              <a:off x="781050" y="3124200"/>
              <a:ext cx="76200" cy="76200"/>
            </a:xfrm>
            <a:prstGeom prst="ellipse">
              <a:avLst/>
            </a:prstGeom>
            <a:solidFill>
              <a:srgbClr val="B85C00"/>
            </a:solidFill>
            <a:ln>
              <a:noFill/>
            </a:ln>
          </p:spPr>
        </p:sp>
        <p:sp>
          <p:nvSpPr>
            <p:cNvPr id="21" name="TextBox 21"/>
            <p:cNvSpPr txBox="1"/>
            <p:nvPr/>
          </p:nvSpPr>
          <p:spPr>
            <a:xfrm>
              <a:off x="946785" y="3098006"/>
              <a:ext cx="155562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零售物流</a:t>
              </a:r>
              <a:r>
                <a:rPr lang="en-US" sz="1120" dirty="0">
                  <a:solidFill>
                    <a:srgbClr val="6B6B6B"/>
                  </a:solidFill>
                  <a:latin typeface="Arial"/>
                  <a:ea typeface="Arial"/>
                  <a:cs typeface="Arial"/>
                </a:rPr>
                <a:t>— 8%/155M€</a:t>
              </a:r>
            </a:p>
          </p:txBody>
        </p:sp>
        <p:sp>
          <p:nvSpPr>
            <p:cNvPr id="22" name="Ellipse 22"/>
            <p:cNvSpPr/>
            <p:nvPr/>
          </p:nvSpPr>
          <p:spPr>
            <a:xfrm>
              <a:off x="781050" y="3409950"/>
              <a:ext cx="76200" cy="76200"/>
            </a:xfrm>
            <a:prstGeom prst="ellipse">
              <a:avLst/>
            </a:prstGeom>
            <a:solidFill>
              <a:srgbClr val="B85C00"/>
            </a:solidFill>
            <a:ln>
              <a:noFill/>
            </a:ln>
          </p:spPr>
        </p:sp>
        <p:sp>
          <p:nvSpPr>
            <p:cNvPr id="23" name="TextBox 23"/>
            <p:cNvSpPr txBox="1"/>
            <p:nvPr/>
          </p:nvSpPr>
          <p:spPr>
            <a:xfrm>
              <a:off x="946785" y="3383756"/>
              <a:ext cx="187566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能源公用事业</a:t>
              </a:r>
              <a:r>
                <a:rPr lang="en-US" sz="1120" dirty="0">
                  <a:solidFill>
                    <a:srgbClr val="6B6B6B"/>
                  </a:solidFill>
                  <a:latin typeface="Arial"/>
                  <a:ea typeface="Arial"/>
                  <a:cs typeface="Arial"/>
                </a:rPr>
                <a:t>— 8%/155M€</a:t>
              </a:r>
            </a:p>
          </p:txBody>
        </p:sp>
        <p:sp>
          <p:nvSpPr>
            <p:cNvPr id="24" name="Ellipse 24"/>
            <p:cNvSpPr/>
            <p:nvPr/>
          </p:nvSpPr>
          <p:spPr>
            <a:xfrm>
              <a:off x="781050" y="3695700"/>
              <a:ext cx="76200" cy="76200"/>
            </a:xfrm>
            <a:prstGeom prst="ellipse">
              <a:avLst/>
            </a:prstGeom>
            <a:solidFill>
              <a:srgbClr val="B85C00"/>
            </a:solidFill>
            <a:ln>
              <a:noFill/>
            </a:ln>
          </p:spPr>
        </p:sp>
        <p:sp>
          <p:nvSpPr>
            <p:cNvPr id="25" name="TextBox 25"/>
            <p:cNvSpPr txBox="1"/>
            <p:nvPr/>
          </p:nvSpPr>
          <p:spPr>
            <a:xfrm>
              <a:off x="946785" y="3669506"/>
              <a:ext cx="228371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工业制造/汽车航空</a:t>
              </a:r>
              <a:r>
                <a:rPr lang="en-US" sz="1120" dirty="0">
                  <a:solidFill>
                    <a:srgbClr val="6B6B6B"/>
                  </a:solidFill>
                  <a:latin typeface="Arial"/>
                  <a:ea typeface="Arial"/>
                  <a:cs typeface="Arial"/>
                </a:rPr>
                <a:t>— 7%/135M€</a:t>
              </a:r>
            </a:p>
          </p:txBody>
        </p:sp>
        <p:sp>
          <p:nvSpPr>
            <p:cNvPr id="26" name="Line 26"/>
            <p:cNvSpPr/>
            <p:nvPr/>
          </p:nvSpPr>
          <p:spPr>
            <a:xfrm>
              <a:off x="762000" y="4000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27" name="TextBox 27"/>
            <p:cNvSpPr txBox="1"/>
            <p:nvPr/>
          </p:nvSpPr>
          <p:spPr>
            <a:xfrm>
              <a:off x="756666" y="4115752"/>
              <a:ext cx="2979039"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逻辑：存量客户深耕，成熟垂直行业稳固经营；</a:t>
              </a:r>
            </a:p>
          </p:txBody>
        </p:sp>
        <p:sp>
          <p:nvSpPr>
            <p:cNvPr id="28" name="TextBox 28"/>
            <p:cNvSpPr txBox="1"/>
            <p:nvPr/>
          </p:nvSpPr>
          <p:spPr>
            <a:xfrm>
              <a:off x="756666" y="4306252"/>
              <a:ext cx="3453232"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国防+公共部门合计38%为最大单一板块（详见P11）</a:t>
              </a:r>
            </a:p>
          </p:txBody>
        </p:sp>
        <p:sp>
          <p:nvSpPr>
            <p:cNvPr id="29" name="TextBox 29"/>
            <p:cNvSpPr txBox="1"/>
            <p:nvPr/>
          </p:nvSpPr>
          <p:spPr>
            <a:xfrm>
              <a:off x="757238" y="4531995"/>
              <a:ext cx="3384004"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案例：法国军队部卫星通信框架(Telespazio)、UGAP电信框架</a:t>
              </a:r>
            </a:p>
          </p:txBody>
        </p:sp>
      </p:grpSp>
      <p:grpSp>
        <p:nvGrpSpPr>
          <p:cNvPr id="55" name="Group 55"/>
          <p:cNvGrpSpPr/>
          <p:nvPr/>
        </p:nvGrpSpPr>
        <p:grpSpPr>
          <a:xfrm>
            <a:off x="4314825" y="952500"/>
            <a:ext cx="3753068" cy="4667250"/>
            <a:chOff x="4314825" y="952500"/>
            <a:chExt cx="3753068" cy="4667250"/>
          </a:xfrm>
        </p:grpSpPr>
        <p:sp>
          <p:nvSpPr>
            <p:cNvPr id="31" name="Rectangle 31"/>
            <p:cNvSpPr/>
            <p:nvPr/>
          </p:nvSpPr>
          <p:spPr>
            <a:xfrm>
              <a:off x="4314825" y="952500"/>
              <a:ext cx="3552825" cy="4667250"/>
            </a:xfrm>
            <a:prstGeom prst="roundRect">
              <a:avLst>
                <a:gd name="adj" fmla="val 1072"/>
              </a:avLst>
            </a:prstGeom>
            <a:solidFill>
              <a:srgbClr val="FBF6F1"/>
            </a:solidFill>
            <a:ln w="9525">
              <a:solidFill>
                <a:srgbClr val="E8E2DA"/>
              </a:solidFill>
            </a:ln>
          </p:spPr>
        </p:sp>
        <p:sp>
          <p:nvSpPr>
            <p:cNvPr id="32" name="Rectangle 32"/>
            <p:cNvSpPr/>
            <p:nvPr/>
          </p:nvSpPr>
          <p:spPr>
            <a:xfrm>
              <a:off x="4314825" y="952500"/>
              <a:ext cx="3552825" cy="76200"/>
            </a:xfrm>
            <a:prstGeom prst="rect">
              <a:avLst/>
            </a:prstGeom>
            <a:solidFill>
              <a:srgbClr val="FF7900"/>
            </a:solidFill>
            <a:ln>
              <a:noFill/>
            </a:ln>
          </p:spPr>
        </p:sp>
        <p:sp>
          <p:nvSpPr>
            <p:cNvPr id="33" name="TextBox 33"/>
            <p:cNvSpPr txBox="1"/>
            <p:nvPr/>
          </p:nvSpPr>
          <p:spPr>
            <a:xfrm>
              <a:off x="4536186" y="1179671"/>
              <a:ext cx="1929917" cy="278702"/>
            </a:xfrm>
            <a:prstGeom prst="rect">
              <a:avLst/>
            </a:prstGeom>
            <a:noFill/>
            <a:ln>
              <a:noFill/>
            </a:ln>
          </p:spPr>
          <p:txBody>
            <a:bodyPr wrap="none" lIns="0" tIns="0" rIns="0" bIns="0" anchor="t" anchorCtr="0">
              <a:spAutoFit/>
            </a:bodyPr>
            <a:lstStyle/>
            <a:p>
              <a:pPr algn="l"/>
              <a:r>
                <a:rPr lang="zh-CN" sz="1420" b="1" dirty="0">
                  <a:solidFill>
                    <a:srgbClr val="FF7900"/>
                  </a:solidFill>
                  <a:latin typeface="Arial"/>
                  <a:ea typeface="Microsoft YaHei"/>
                  <a:cs typeface="Arial"/>
                </a:rPr>
                <a:t>OEU · 集成能力建设</a:t>
              </a:r>
            </a:p>
          </p:txBody>
        </p:sp>
        <p:sp>
          <p:nvSpPr>
            <p:cNvPr id="34" name="Line 34"/>
            <p:cNvSpPr/>
            <p:nvPr/>
          </p:nvSpPr>
          <p:spPr>
            <a:xfrm>
              <a:off x="4543425"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5" name="Ellipse 35"/>
            <p:cNvSpPr/>
            <p:nvPr/>
          </p:nvSpPr>
          <p:spPr>
            <a:xfrm>
              <a:off x="4562475" y="1676400"/>
              <a:ext cx="76200" cy="76200"/>
            </a:xfrm>
            <a:prstGeom prst="ellipse">
              <a:avLst/>
            </a:prstGeom>
            <a:solidFill>
              <a:srgbClr val="FF7900"/>
            </a:solidFill>
            <a:ln>
              <a:noFill/>
            </a:ln>
          </p:spPr>
        </p:sp>
        <p:sp>
          <p:nvSpPr>
            <p:cNvPr id="36" name="TextBox 36"/>
            <p:cNvSpPr txBox="1"/>
            <p:nvPr/>
          </p:nvSpPr>
          <p:spPr>
            <a:xfrm>
              <a:off x="4728210" y="1650206"/>
              <a:ext cx="1747647"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波兰：IT系统集成商定位</a:t>
              </a:r>
            </a:p>
          </p:txBody>
        </p:sp>
        <p:sp>
          <p:nvSpPr>
            <p:cNvPr id="37" name="TextBox 37"/>
            <p:cNvSpPr txBox="1"/>
            <p:nvPr/>
          </p:nvSpPr>
          <p:spPr>
            <a:xfrm>
              <a:off x="4728972" y="1837849"/>
              <a:ext cx="252158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BlueSoft/Craftware并购，ICT占B2B36%</a:t>
              </a:r>
            </a:p>
          </p:txBody>
        </p:sp>
        <p:sp>
          <p:nvSpPr>
            <p:cNvPr id="38" name="Ellipse 38"/>
            <p:cNvSpPr/>
            <p:nvPr/>
          </p:nvSpPr>
          <p:spPr>
            <a:xfrm>
              <a:off x="4562475" y="2171700"/>
              <a:ext cx="76200" cy="76200"/>
            </a:xfrm>
            <a:prstGeom prst="ellipse">
              <a:avLst/>
            </a:prstGeom>
            <a:solidFill>
              <a:srgbClr val="FF7900"/>
            </a:solidFill>
            <a:ln>
              <a:noFill/>
            </a:ln>
          </p:spPr>
        </p:sp>
        <p:sp>
          <p:nvSpPr>
            <p:cNvPr id="39" name="TextBox 39"/>
            <p:cNvSpPr txBox="1"/>
            <p:nvPr/>
          </p:nvSpPr>
          <p:spPr>
            <a:xfrm>
              <a:off x="4728210" y="2145506"/>
              <a:ext cx="229387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西班牙：邮政(Correos)中标框架</a:t>
              </a:r>
            </a:p>
          </p:txBody>
        </p:sp>
        <p:sp>
          <p:nvSpPr>
            <p:cNvPr id="40" name="Ellipse 40"/>
            <p:cNvSpPr/>
            <p:nvPr/>
          </p:nvSpPr>
          <p:spPr>
            <a:xfrm>
              <a:off x="4562475" y="2457450"/>
              <a:ext cx="76200" cy="76200"/>
            </a:xfrm>
            <a:prstGeom prst="ellipse">
              <a:avLst/>
            </a:prstGeom>
            <a:solidFill>
              <a:srgbClr val="FF7900"/>
            </a:solidFill>
            <a:ln>
              <a:noFill/>
            </a:ln>
          </p:spPr>
        </p:sp>
        <p:sp>
          <p:nvSpPr>
            <p:cNvPr id="41" name="TextBox 41"/>
            <p:cNvSpPr txBox="1"/>
            <p:nvPr/>
          </p:nvSpPr>
          <p:spPr>
            <a:xfrm>
              <a:off x="4728210" y="2431256"/>
              <a:ext cx="252653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西班牙：地产(Merlin)/建筑(OHLA)</a:t>
              </a:r>
            </a:p>
          </p:txBody>
        </p:sp>
        <p:sp>
          <p:nvSpPr>
            <p:cNvPr id="42" name="Ellipse 42"/>
            <p:cNvSpPr/>
            <p:nvPr/>
          </p:nvSpPr>
          <p:spPr>
            <a:xfrm>
              <a:off x="4562475" y="2743200"/>
              <a:ext cx="76200" cy="76200"/>
            </a:xfrm>
            <a:prstGeom prst="ellipse">
              <a:avLst/>
            </a:prstGeom>
            <a:solidFill>
              <a:srgbClr val="FF7900"/>
            </a:solidFill>
            <a:ln>
              <a:noFill/>
            </a:ln>
          </p:spPr>
        </p:sp>
        <p:sp>
          <p:nvSpPr>
            <p:cNvPr id="43" name="TextBox 43"/>
            <p:cNvSpPr txBox="1"/>
            <p:nvPr/>
          </p:nvSpPr>
          <p:spPr>
            <a:xfrm>
              <a:off x="4728210" y="2717006"/>
              <a:ext cx="333968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西班牙：博彩(Loterías)/能源(TotalEnergies)</a:t>
              </a:r>
            </a:p>
          </p:txBody>
        </p:sp>
        <p:sp>
          <p:nvSpPr>
            <p:cNvPr id="44" name="Ellipse 44"/>
            <p:cNvSpPr/>
            <p:nvPr/>
          </p:nvSpPr>
          <p:spPr>
            <a:xfrm>
              <a:off x="4562475" y="3028950"/>
              <a:ext cx="76200" cy="76200"/>
            </a:xfrm>
            <a:prstGeom prst="ellipse">
              <a:avLst/>
            </a:prstGeom>
            <a:solidFill>
              <a:srgbClr val="FF7900"/>
            </a:solidFill>
            <a:ln>
              <a:noFill/>
            </a:ln>
          </p:spPr>
        </p:sp>
        <p:sp>
          <p:nvSpPr>
            <p:cNvPr id="45" name="TextBox 45"/>
            <p:cNvSpPr txBox="1"/>
            <p:nvPr/>
          </p:nvSpPr>
          <p:spPr>
            <a:xfrm>
              <a:off x="4728210" y="3002756"/>
              <a:ext cx="261975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罗马尼亚：网络安全(SCUT合资公司)</a:t>
              </a:r>
            </a:p>
          </p:txBody>
        </p:sp>
        <p:sp>
          <p:nvSpPr>
            <p:cNvPr id="46" name="TextBox 46"/>
            <p:cNvSpPr txBox="1"/>
            <p:nvPr/>
          </p:nvSpPr>
          <p:spPr>
            <a:xfrm>
              <a:off x="4728972" y="3190399"/>
              <a:ext cx="272444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与Orange Cyberdefense共建，B2B收入+14%</a:t>
              </a:r>
            </a:p>
          </p:txBody>
        </p:sp>
        <p:sp>
          <p:nvSpPr>
            <p:cNvPr id="47" name="Ellipse 47"/>
            <p:cNvSpPr/>
            <p:nvPr/>
          </p:nvSpPr>
          <p:spPr>
            <a:xfrm>
              <a:off x="4562475" y="3524250"/>
              <a:ext cx="76200" cy="76200"/>
            </a:xfrm>
            <a:prstGeom prst="ellipse">
              <a:avLst/>
            </a:prstGeom>
            <a:solidFill>
              <a:srgbClr val="FF7900"/>
            </a:solidFill>
            <a:ln>
              <a:noFill/>
            </a:ln>
          </p:spPr>
        </p:sp>
        <p:sp>
          <p:nvSpPr>
            <p:cNvPr id="48" name="TextBox 48"/>
            <p:cNvSpPr txBox="1"/>
            <p:nvPr/>
          </p:nvSpPr>
          <p:spPr>
            <a:xfrm>
              <a:off x="4728210" y="3498056"/>
              <a:ext cx="244373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比利时/卢森堡：统一B2B品牌整合</a:t>
              </a:r>
            </a:p>
          </p:txBody>
        </p:sp>
        <p:sp>
          <p:nvSpPr>
            <p:cNvPr id="49" name="Ellipse 49"/>
            <p:cNvSpPr/>
            <p:nvPr/>
          </p:nvSpPr>
          <p:spPr>
            <a:xfrm>
              <a:off x="4562475" y="3810000"/>
              <a:ext cx="76200" cy="76200"/>
            </a:xfrm>
            <a:prstGeom prst="ellipse">
              <a:avLst/>
            </a:prstGeom>
            <a:solidFill>
              <a:srgbClr val="FF7900"/>
            </a:solidFill>
            <a:ln>
              <a:noFill/>
            </a:ln>
          </p:spPr>
        </p:sp>
        <p:sp>
          <p:nvSpPr>
            <p:cNvPr id="50" name="TextBox 50"/>
            <p:cNvSpPr txBox="1"/>
            <p:nvPr/>
          </p:nvSpPr>
          <p:spPr>
            <a:xfrm>
              <a:off x="4728210" y="3783806"/>
              <a:ext cx="198024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摩尔多瓦：跨国服务交付枢纽</a:t>
              </a:r>
            </a:p>
          </p:txBody>
        </p:sp>
        <p:sp>
          <p:nvSpPr>
            <p:cNvPr id="51" name="Line 51"/>
            <p:cNvSpPr/>
            <p:nvPr/>
          </p:nvSpPr>
          <p:spPr>
            <a:xfrm>
              <a:off x="4543425" y="40767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52" name="TextBox 52"/>
            <p:cNvSpPr txBox="1"/>
            <p:nvPr/>
          </p:nvSpPr>
          <p:spPr>
            <a:xfrm>
              <a:off x="4538091" y="4191952"/>
              <a:ext cx="297530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逻辑：并购构建IT集成能力，复制到新市场；</a:t>
              </a:r>
            </a:p>
          </p:txBody>
        </p:sp>
        <p:sp>
          <p:nvSpPr>
            <p:cNvPr id="53" name="TextBox 53"/>
            <p:cNvSpPr txBox="1"/>
            <p:nvPr/>
          </p:nvSpPr>
          <p:spPr>
            <a:xfrm>
              <a:off x="4538091" y="4382452"/>
              <a:ext cx="263926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波兰模式是OMEA可借鉴的外部对标案例</a:t>
              </a:r>
            </a:p>
          </p:txBody>
        </p:sp>
        <p:sp>
          <p:nvSpPr>
            <p:cNvPr id="54" name="TextBox 54"/>
            <p:cNvSpPr txBox="1"/>
            <p:nvPr/>
          </p:nvSpPr>
          <p:spPr>
            <a:xfrm>
              <a:off x="4538662" y="4531995"/>
              <a:ext cx="1705737"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行业收入占比拆分：数据待补充</a:t>
              </a:r>
            </a:p>
          </p:txBody>
        </p:sp>
      </p:grpSp>
      <p:grpSp>
        <p:nvGrpSpPr>
          <p:cNvPr id="80" name="Group 80"/>
          <p:cNvGrpSpPr/>
          <p:nvPr/>
        </p:nvGrpSpPr>
        <p:grpSpPr>
          <a:xfrm>
            <a:off x="8096250" y="952500"/>
            <a:ext cx="3552825" cy="4667250"/>
            <a:chOff x="8096250" y="952500"/>
            <a:chExt cx="3552825" cy="4667250"/>
          </a:xfrm>
        </p:grpSpPr>
        <p:sp>
          <p:nvSpPr>
            <p:cNvPr id="56" name="Rectangle 56"/>
            <p:cNvSpPr/>
            <p:nvPr/>
          </p:nvSpPr>
          <p:spPr>
            <a:xfrm>
              <a:off x="8096250" y="952500"/>
              <a:ext cx="3552825" cy="4667250"/>
            </a:xfrm>
            <a:prstGeom prst="roundRect">
              <a:avLst>
                <a:gd name="adj" fmla="val 1072"/>
              </a:avLst>
            </a:prstGeom>
            <a:solidFill>
              <a:srgbClr val="FBF6F1"/>
            </a:solidFill>
            <a:ln w="9525">
              <a:solidFill>
                <a:srgbClr val="E8E2DA"/>
              </a:solidFill>
            </a:ln>
          </p:spPr>
        </p:sp>
        <p:sp>
          <p:nvSpPr>
            <p:cNvPr id="57" name="Rectangle 57"/>
            <p:cNvSpPr/>
            <p:nvPr/>
          </p:nvSpPr>
          <p:spPr>
            <a:xfrm>
              <a:off x="8096250" y="952500"/>
              <a:ext cx="3552825" cy="76200"/>
            </a:xfrm>
            <a:prstGeom prst="rect">
              <a:avLst/>
            </a:prstGeom>
            <a:solidFill>
              <a:srgbClr val="FFA640"/>
            </a:solidFill>
            <a:ln>
              <a:noFill/>
            </a:ln>
          </p:spPr>
        </p:sp>
        <p:sp>
          <p:nvSpPr>
            <p:cNvPr id="58" name="TextBox 58"/>
            <p:cNvSpPr txBox="1"/>
            <p:nvPr/>
          </p:nvSpPr>
          <p:spPr>
            <a:xfrm>
              <a:off x="8317611" y="1179671"/>
              <a:ext cx="2089537" cy="278702"/>
            </a:xfrm>
            <a:prstGeom prst="rect">
              <a:avLst/>
            </a:prstGeom>
            <a:noFill/>
            <a:ln>
              <a:noFill/>
            </a:ln>
          </p:spPr>
          <p:txBody>
            <a:bodyPr wrap="none" lIns="0" tIns="0" rIns="0" bIns="0" anchor="t" anchorCtr="0">
              <a:spAutoFit/>
            </a:bodyPr>
            <a:lstStyle/>
            <a:p>
              <a:pPr algn="l"/>
              <a:r>
                <a:rPr lang="zh-CN" sz="1420" b="1" dirty="0">
                  <a:solidFill>
                    <a:srgbClr val="E08A2E"/>
                  </a:solidFill>
                  <a:latin typeface="Arial"/>
                  <a:ea typeface="Microsoft YaHei"/>
                  <a:cs typeface="Arial"/>
                </a:rPr>
                <a:t>OMEA · 基础设施跃迁</a:t>
              </a:r>
            </a:p>
          </p:txBody>
        </p:sp>
        <p:sp>
          <p:nvSpPr>
            <p:cNvPr id="59" name="Line 59"/>
            <p:cNvSpPr/>
            <p:nvPr/>
          </p:nvSpPr>
          <p:spPr>
            <a:xfrm>
              <a:off x="8324850"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60" name="Ellipse 60"/>
            <p:cNvSpPr/>
            <p:nvPr/>
          </p:nvSpPr>
          <p:spPr>
            <a:xfrm>
              <a:off x="8343900" y="1676400"/>
              <a:ext cx="76200" cy="76200"/>
            </a:xfrm>
            <a:prstGeom prst="ellipse">
              <a:avLst/>
            </a:prstGeom>
            <a:solidFill>
              <a:srgbClr val="FFA640"/>
            </a:solidFill>
            <a:ln>
              <a:noFill/>
            </a:ln>
          </p:spPr>
        </p:sp>
        <p:sp>
          <p:nvSpPr>
            <p:cNvPr id="61" name="TextBox 61"/>
            <p:cNvSpPr txBox="1"/>
            <p:nvPr/>
          </p:nvSpPr>
          <p:spPr>
            <a:xfrm>
              <a:off x="8509635" y="1650206"/>
              <a:ext cx="3138021"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矿业(Essakane Mine马里) — 华为/Nokia MPN</a:t>
              </a:r>
            </a:p>
          </p:txBody>
        </p:sp>
        <p:sp>
          <p:nvSpPr>
            <p:cNvPr id="62" name="Ellipse 62"/>
            <p:cNvSpPr/>
            <p:nvPr/>
          </p:nvSpPr>
          <p:spPr>
            <a:xfrm>
              <a:off x="8343900" y="1962150"/>
              <a:ext cx="76200" cy="76200"/>
            </a:xfrm>
            <a:prstGeom prst="ellipse">
              <a:avLst/>
            </a:prstGeom>
            <a:solidFill>
              <a:srgbClr val="FFA640"/>
            </a:solidFill>
            <a:ln>
              <a:noFill/>
            </a:ln>
          </p:spPr>
        </p:sp>
        <p:sp>
          <p:nvSpPr>
            <p:cNvPr id="63" name="TextBox 63"/>
            <p:cNvSpPr txBox="1"/>
            <p:nvPr/>
          </p:nvSpPr>
          <p:spPr>
            <a:xfrm>
              <a:off x="8509635" y="1935956"/>
              <a:ext cx="292916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港口(Tanger Port马士基) — 智慧港口连接</a:t>
              </a:r>
            </a:p>
          </p:txBody>
        </p:sp>
        <p:sp>
          <p:nvSpPr>
            <p:cNvPr id="64" name="Ellipse 64"/>
            <p:cNvSpPr/>
            <p:nvPr/>
          </p:nvSpPr>
          <p:spPr>
            <a:xfrm>
              <a:off x="8343900" y="2247900"/>
              <a:ext cx="76200" cy="76200"/>
            </a:xfrm>
            <a:prstGeom prst="ellipse">
              <a:avLst/>
            </a:prstGeom>
            <a:solidFill>
              <a:srgbClr val="FFA640"/>
            </a:solidFill>
            <a:ln>
              <a:noFill/>
            </a:ln>
          </p:spPr>
        </p:sp>
        <p:sp>
          <p:nvSpPr>
            <p:cNvPr id="65" name="TextBox 65"/>
            <p:cNvSpPr txBox="1"/>
            <p:nvPr/>
          </p:nvSpPr>
          <p:spPr>
            <a:xfrm>
              <a:off x="8509635" y="2221706"/>
              <a:ext cx="271054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港口(Aqaba CT约旦) — 集装箱码头专网</a:t>
              </a:r>
            </a:p>
          </p:txBody>
        </p:sp>
        <p:sp>
          <p:nvSpPr>
            <p:cNvPr id="66" name="Ellipse 66"/>
            <p:cNvSpPr/>
            <p:nvPr/>
          </p:nvSpPr>
          <p:spPr>
            <a:xfrm>
              <a:off x="8343900" y="2533650"/>
              <a:ext cx="76200" cy="76200"/>
            </a:xfrm>
            <a:prstGeom prst="ellipse">
              <a:avLst/>
            </a:prstGeom>
            <a:solidFill>
              <a:srgbClr val="FFA640"/>
            </a:solidFill>
            <a:ln>
              <a:noFill/>
            </a:ln>
          </p:spPr>
        </p:sp>
        <p:sp>
          <p:nvSpPr>
            <p:cNvPr id="67" name="TextBox 67"/>
            <p:cNvSpPr txBox="1"/>
            <p:nvPr/>
          </p:nvSpPr>
          <p:spPr>
            <a:xfrm>
              <a:off x="8509635" y="2507456"/>
              <a:ext cx="262389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电子政务(塞内加尔) — 新技术协议红利</a:t>
              </a:r>
            </a:p>
          </p:txBody>
        </p:sp>
        <p:sp>
          <p:nvSpPr>
            <p:cNvPr id="68" name="Ellipse 68"/>
            <p:cNvSpPr/>
            <p:nvPr/>
          </p:nvSpPr>
          <p:spPr>
            <a:xfrm>
              <a:off x="8343900" y="2819400"/>
              <a:ext cx="76200" cy="76200"/>
            </a:xfrm>
            <a:prstGeom prst="ellipse">
              <a:avLst/>
            </a:prstGeom>
            <a:solidFill>
              <a:srgbClr val="FFA640"/>
            </a:solidFill>
            <a:ln>
              <a:noFill/>
            </a:ln>
          </p:spPr>
        </p:sp>
        <p:sp>
          <p:nvSpPr>
            <p:cNvPr id="69" name="TextBox 69"/>
            <p:cNvSpPr txBox="1"/>
            <p:nvPr/>
          </p:nvSpPr>
          <p:spPr>
            <a:xfrm>
              <a:off x="8509635" y="2793206"/>
              <a:ext cx="2923927"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金融科技(Orange Money信贷) — SME融资</a:t>
              </a:r>
            </a:p>
          </p:txBody>
        </p:sp>
        <p:sp>
          <p:nvSpPr>
            <p:cNvPr id="70" name="Ellipse 70"/>
            <p:cNvSpPr/>
            <p:nvPr/>
          </p:nvSpPr>
          <p:spPr>
            <a:xfrm>
              <a:off x="8343900" y="3105150"/>
              <a:ext cx="76200" cy="76200"/>
            </a:xfrm>
            <a:prstGeom prst="ellipse">
              <a:avLst/>
            </a:prstGeom>
            <a:solidFill>
              <a:srgbClr val="FFA640"/>
            </a:solidFill>
            <a:ln>
              <a:noFill/>
            </a:ln>
          </p:spPr>
        </p:sp>
        <p:sp>
          <p:nvSpPr>
            <p:cNvPr id="71" name="TextBox 71"/>
            <p:cNvSpPr txBox="1"/>
            <p:nvPr/>
          </p:nvSpPr>
          <p:spPr>
            <a:xfrm>
              <a:off x="8509635" y="3078956"/>
              <a:ext cx="298646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能源(Orange Energies太阳能) — SoHo套件</a:t>
              </a:r>
            </a:p>
          </p:txBody>
        </p:sp>
        <p:sp>
          <p:nvSpPr>
            <p:cNvPr id="72" name="Ellipse 72"/>
            <p:cNvSpPr/>
            <p:nvPr/>
          </p:nvSpPr>
          <p:spPr>
            <a:xfrm>
              <a:off x="8343900" y="3390900"/>
              <a:ext cx="76200" cy="76200"/>
            </a:xfrm>
            <a:prstGeom prst="ellipse">
              <a:avLst/>
            </a:prstGeom>
            <a:solidFill>
              <a:srgbClr val="FFA640"/>
            </a:solidFill>
            <a:ln>
              <a:noFill/>
            </a:ln>
          </p:spPr>
        </p:sp>
        <p:sp>
          <p:nvSpPr>
            <p:cNvPr id="73" name="TextBox 73"/>
            <p:cNvSpPr txBox="1"/>
            <p:nvPr/>
          </p:nvSpPr>
          <p:spPr>
            <a:xfrm>
              <a:off x="8509635" y="3364706"/>
              <a:ext cx="268376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波兰OPL模式借鉴：IT集成商转型路径</a:t>
              </a:r>
            </a:p>
          </p:txBody>
        </p:sp>
        <p:sp>
          <p:nvSpPr>
            <p:cNvPr id="74" name="Ellipse 74"/>
            <p:cNvSpPr/>
            <p:nvPr/>
          </p:nvSpPr>
          <p:spPr>
            <a:xfrm>
              <a:off x="8343900" y="3676650"/>
              <a:ext cx="76200" cy="76200"/>
            </a:xfrm>
            <a:prstGeom prst="ellipse">
              <a:avLst/>
            </a:prstGeom>
            <a:solidFill>
              <a:srgbClr val="FFA640"/>
            </a:solidFill>
            <a:ln>
              <a:noFill/>
            </a:ln>
          </p:spPr>
        </p:sp>
        <p:sp>
          <p:nvSpPr>
            <p:cNvPr id="75" name="TextBox 75"/>
            <p:cNvSpPr txBox="1"/>
            <p:nvPr/>
          </p:nvSpPr>
          <p:spPr>
            <a:xfrm>
              <a:off x="8509635" y="3650456"/>
              <a:ext cx="2611755"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埃及OEG：混合架构+AI赋能垂直行业</a:t>
              </a:r>
            </a:p>
          </p:txBody>
        </p:sp>
        <p:sp>
          <p:nvSpPr>
            <p:cNvPr id="76" name="Line 76"/>
            <p:cNvSpPr/>
            <p:nvPr/>
          </p:nvSpPr>
          <p:spPr>
            <a:xfrm>
              <a:off x="8324850" y="39814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77" name="TextBox 77"/>
            <p:cNvSpPr txBox="1"/>
            <p:nvPr/>
          </p:nvSpPr>
          <p:spPr>
            <a:xfrm>
              <a:off x="8319516" y="4096702"/>
              <a:ext cx="2837688"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逻辑：靠基建案例打开增长，华为深度参与；</a:t>
              </a:r>
            </a:p>
          </p:txBody>
        </p:sp>
        <p:sp>
          <p:nvSpPr>
            <p:cNvPr id="78" name="TextBox 78"/>
            <p:cNvSpPr txBox="1"/>
            <p:nvPr/>
          </p:nvSpPr>
          <p:spPr>
            <a:xfrm>
              <a:off x="8319516" y="4287202"/>
              <a:ext cx="2878226"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G3计划推动矿业/港口/公共行业标准化打包</a:t>
              </a:r>
            </a:p>
          </p:txBody>
        </p:sp>
        <p:sp>
          <p:nvSpPr>
            <p:cNvPr id="79" name="TextBox 79"/>
            <p:cNvSpPr txBox="1"/>
            <p:nvPr/>
          </p:nvSpPr>
          <p:spPr>
            <a:xfrm>
              <a:off x="8320088" y="4531995"/>
              <a:ext cx="1705737"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行业收入占比拆分：数据待补充</a:t>
              </a:r>
            </a:p>
          </p:txBody>
        </p:sp>
      </p:grpSp>
      <p:grpSp>
        <p:nvGrpSpPr>
          <p:cNvPr id="84" name="Group 84"/>
          <p:cNvGrpSpPr/>
          <p:nvPr/>
        </p:nvGrpSpPr>
        <p:grpSpPr>
          <a:xfrm>
            <a:off x="533400" y="5791200"/>
            <a:ext cx="11125200" cy="685800"/>
            <a:chOff x="533400" y="5791200"/>
            <a:chExt cx="11125200" cy="685800"/>
          </a:xfrm>
        </p:grpSpPr>
        <p:sp>
          <p:nvSpPr>
            <p:cNvPr id="81" name="Rectangle 81"/>
            <p:cNvSpPr/>
            <p:nvPr/>
          </p:nvSpPr>
          <p:spPr>
            <a:xfrm>
              <a:off x="533400" y="5791200"/>
              <a:ext cx="11125200" cy="685800"/>
            </a:xfrm>
            <a:prstGeom prst="roundRect">
              <a:avLst>
                <a:gd name="adj" fmla="val 5556"/>
              </a:avLst>
            </a:prstGeom>
            <a:solidFill>
              <a:srgbClr val="FBF6F1"/>
            </a:solidFill>
            <a:ln w="9525">
              <a:solidFill>
                <a:srgbClr val="E8E2DA"/>
              </a:solidFill>
            </a:ln>
          </p:spPr>
        </p:sp>
        <p:sp>
          <p:nvSpPr>
            <p:cNvPr id="82" name="TextBox 82"/>
            <p:cNvSpPr txBox="1"/>
            <p:nvPr/>
          </p:nvSpPr>
          <p:spPr>
            <a:xfrm>
              <a:off x="755142" y="5931218"/>
              <a:ext cx="9520344"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核心结论：三区域行业叙事逻辑不同——OB是</a:t>
              </a:r>
              <a:r>
                <a:rPr lang="zh-CN" sz="1350" b="1" dirty="0">
                  <a:solidFill>
                    <a:srgbClr val="B85C00"/>
                  </a:solidFill>
                  <a:latin typeface="Arial"/>
                  <a:ea typeface="Microsoft YaHei"/>
                  <a:cs typeface="Arial"/>
                </a:rPr>
                <a:t>"存量深耕"</a:t>
              </a:r>
              <a:r>
                <a:rPr lang="zh-CN" sz="1350" b="1" dirty="0">
                  <a:solidFill>
                    <a:srgbClr val="1A1A1A"/>
                  </a:solidFill>
                  <a:latin typeface="Arial"/>
                  <a:ea typeface="Microsoft YaHei"/>
                  <a:cs typeface="Arial"/>
                </a:rPr>
                <a:t>，OEU是</a:t>
              </a:r>
              <a:r>
                <a:rPr lang="zh-CN" sz="1350" b="1" dirty="0">
                  <a:solidFill>
                    <a:srgbClr val="FF7900"/>
                  </a:solidFill>
                  <a:latin typeface="Arial"/>
                  <a:ea typeface="Microsoft YaHei"/>
                  <a:cs typeface="Arial"/>
                </a:rPr>
                <a:t>"集成能力建设"</a:t>
              </a:r>
              <a:r>
                <a:rPr lang="zh-CN" sz="1350" b="1" dirty="0">
                  <a:solidFill>
                    <a:srgbClr val="1A1A1A"/>
                  </a:solidFill>
                  <a:latin typeface="Arial"/>
                  <a:ea typeface="Microsoft YaHei"/>
                  <a:cs typeface="Arial"/>
                </a:rPr>
                <a:t>，OMEA是</a:t>
              </a:r>
              <a:r>
                <a:rPr lang="zh-CN" sz="1350" b="1" dirty="0">
                  <a:solidFill>
                    <a:srgbClr val="E08A2E"/>
                  </a:solidFill>
                  <a:latin typeface="Arial"/>
                  <a:ea typeface="Microsoft YaHei"/>
                  <a:cs typeface="Arial"/>
                </a:rPr>
                <a:t>"基础设施跃迁"</a:t>
              </a:r>
            </a:p>
          </p:txBody>
        </p:sp>
        <p:sp>
          <p:nvSpPr>
            <p:cNvPr id="83" name="TextBox 83"/>
            <p:cNvSpPr txBox="1"/>
            <p:nvPr/>
          </p:nvSpPr>
          <p:spPr>
            <a:xfrm>
              <a:off x="756285" y="6184106"/>
              <a:ext cx="378790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OMEA的矿业港口场景是华为参与度最高的行业切入点</a:t>
              </a:r>
            </a:p>
          </p:txBody>
        </p:sp>
      </p:grpSp>
      <p:grpSp>
        <p:nvGrpSpPr>
          <p:cNvPr id="87" name="Group 87"/>
          <p:cNvGrpSpPr/>
          <p:nvPr/>
        </p:nvGrpSpPr>
        <p:grpSpPr>
          <a:xfrm>
            <a:off x="528447" y="6562249"/>
            <a:ext cx="11135106" cy="190690"/>
            <a:chOff x="528447" y="6562249"/>
            <a:chExt cx="11135106" cy="190690"/>
          </a:xfrm>
        </p:grpSpPr>
        <p:sp>
          <p:nvSpPr>
            <p:cNvPr id="85" name="TextBox 85"/>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86" name="TextBox 86"/>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136630" cy="461963"/>
            <a:chOff x="521970" y="309562"/>
            <a:chExt cx="11136630" cy="461963"/>
          </a:xfrm>
        </p:grpSpPr>
        <p:sp>
          <p:nvSpPr>
            <p:cNvPr id="3" name="TextBox 3"/>
            <p:cNvSpPr txBox="1"/>
            <p:nvPr/>
          </p:nvSpPr>
          <p:spPr>
            <a:xfrm>
              <a:off x="521970" y="309562"/>
              <a:ext cx="10321847"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Offering组合看差异——OB是全谱系DICT服务商，</a:t>
              </a:r>
              <a:r>
                <a:rPr lang="zh-CN" sz="2250" b="1" dirty="0">
                  <a:solidFill>
                    <a:srgbClr val="FF7900"/>
                  </a:solidFill>
                  <a:latin typeface="Arial"/>
                  <a:ea typeface="Microsoft YaHei"/>
                  <a:cs typeface="Arial"/>
                </a:rPr>
                <a:t>OMEA仍以连接为基座</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9" name="Group 29"/>
          <p:cNvGrpSpPr/>
          <p:nvPr/>
        </p:nvGrpSpPr>
        <p:grpSpPr>
          <a:xfrm>
            <a:off x="533400" y="952500"/>
            <a:ext cx="3552825" cy="4667250"/>
            <a:chOff x="533400" y="952500"/>
            <a:chExt cx="3552825" cy="4667250"/>
          </a:xfrm>
        </p:grpSpPr>
        <p:sp>
          <p:nvSpPr>
            <p:cNvPr id="6" name="Rectangle 6"/>
            <p:cNvSpPr/>
            <p:nvPr/>
          </p:nvSpPr>
          <p:spPr>
            <a:xfrm>
              <a:off x="533400" y="952500"/>
              <a:ext cx="3552825" cy="4667250"/>
            </a:xfrm>
            <a:prstGeom prst="roundRect">
              <a:avLst>
                <a:gd name="adj" fmla="val 1072"/>
              </a:avLst>
            </a:prstGeom>
            <a:solidFill>
              <a:srgbClr val="FBF6F1"/>
            </a:solidFill>
            <a:ln w="9525">
              <a:solidFill>
                <a:srgbClr val="E8E2DA"/>
              </a:solidFill>
            </a:ln>
          </p:spPr>
        </p:sp>
        <p:sp>
          <p:nvSpPr>
            <p:cNvPr id="7" name="Rectangle 7"/>
            <p:cNvSpPr/>
            <p:nvPr/>
          </p:nvSpPr>
          <p:spPr>
            <a:xfrm>
              <a:off x="533400" y="952500"/>
              <a:ext cx="3552825" cy="76200"/>
            </a:xfrm>
            <a:prstGeom prst="rect">
              <a:avLst/>
            </a:prstGeom>
            <a:solidFill>
              <a:srgbClr val="B85C00"/>
            </a:solidFill>
            <a:ln>
              <a:noFill/>
            </a:ln>
          </p:spPr>
        </p:sp>
        <p:sp>
          <p:nvSpPr>
            <p:cNvPr id="8" name="TextBox 8"/>
            <p:cNvSpPr txBox="1"/>
            <p:nvPr/>
          </p:nvSpPr>
          <p:spPr>
            <a:xfrm>
              <a:off x="754761" y="1179671"/>
              <a:ext cx="2876996" cy="278702"/>
            </a:xfrm>
            <a:prstGeom prst="rect">
              <a:avLst/>
            </a:prstGeom>
            <a:noFill/>
            <a:ln>
              <a:noFill/>
            </a:ln>
          </p:spPr>
          <p:txBody>
            <a:bodyPr wrap="none" lIns="0" tIns="0" rIns="0" bIns="0" anchor="t" anchorCtr="0">
              <a:spAutoFit/>
            </a:bodyPr>
            <a:lstStyle/>
            <a:p>
              <a:pPr algn="l"/>
              <a:r>
                <a:rPr lang="zh-CN" sz="1420" b="1" dirty="0">
                  <a:solidFill>
                    <a:srgbClr val="B85C00"/>
                  </a:solidFill>
                  <a:latin typeface="Arial"/>
                  <a:ea typeface="Microsoft YaHei"/>
                  <a:cs typeface="Arial"/>
                </a:rPr>
                <a:t>OB · 全谱系DICT（7,325M€）</a:t>
              </a:r>
            </a:p>
          </p:txBody>
        </p:sp>
        <p:sp>
          <p:nvSpPr>
            <p:cNvPr id="9" name="Line 9"/>
            <p:cNvSpPr/>
            <p:nvPr/>
          </p:nvSpPr>
          <p:spPr>
            <a:xfrm>
              <a:off x="762000"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0" name="Ellipse 10"/>
            <p:cNvSpPr/>
            <p:nvPr/>
          </p:nvSpPr>
          <p:spPr>
            <a:xfrm>
              <a:off x="781050" y="1695450"/>
              <a:ext cx="76200" cy="76200"/>
            </a:xfrm>
            <a:prstGeom prst="ellipse">
              <a:avLst/>
            </a:prstGeom>
            <a:solidFill>
              <a:srgbClr val="B85C00"/>
            </a:solidFill>
            <a:ln>
              <a:noFill/>
            </a:ln>
          </p:spPr>
        </p:sp>
        <p:sp>
          <p:nvSpPr>
            <p:cNvPr id="11" name="TextBox 11"/>
            <p:cNvSpPr txBox="1"/>
            <p:nvPr/>
          </p:nvSpPr>
          <p:spPr>
            <a:xfrm>
              <a:off x="946785" y="1669256"/>
              <a:ext cx="306313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Connectivity（WAN/移动）</a:t>
              </a:r>
              <a:r>
                <a:rPr lang="en-US" sz="1120" dirty="0">
                  <a:solidFill>
                    <a:srgbClr val="6B6B6B"/>
                  </a:solidFill>
                  <a:latin typeface="Arial"/>
                  <a:ea typeface="Arial"/>
                  <a:cs typeface="Arial"/>
                </a:rPr>
                <a:t>— 3,627M€/50%</a:t>
              </a:r>
            </a:p>
          </p:txBody>
        </p:sp>
        <p:sp>
          <p:nvSpPr>
            <p:cNvPr id="12" name="Ellipse 12"/>
            <p:cNvSpPr/>
            <p:nvPr/>
          </p:nvSpPr>
          <p:spPr>
            <a:xfrm>
              <a:off x="781050" y="1981200"/>
              <a:ext cx="76200" cy="76200"/>
            </a:xfrm>
            <a:prstGeom prst="ellipse">
              <a:avLst/>
            </a:prstGeom>
            <a:solidFill>
              <a:srgbClr val="B85C00"/>
            </a:solidFill>
            <a:ln>
              <a:noFill/>
            </a:ln>
          </p:spPr>
        </p:sp>
        <p:sp>
          <p:nvSpPr>
            <p:cNvPr id="13" name="TextBox 13"/>
            <p:cNvSpPr txBox="1"/>
            <p:nvPr/>
          </p:nvSpPr>
          <p:spPr>
            <a:xfrm>
              <a:off x="946785" y="1955006"/>
              <a:ext cx="307250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Security（Cyberdefense）</a:t>
              </a:r>
              <a:r>
                <a:rPr lang="en-US" sz="1120" dirty="0">
                  <a:solidFill>
                    <a:srgbClr val="6B6B6B"/>
                  </a:solidFill>
                  <a:latin typeface="Arial"/>
                  <a:ea typeface="Arial"/>
                  <a:cs typeface="Arial"/>
                </a:rPr>
                <a:t>— 1,300M€/18%</a:t>
              </a:r>
            </a:p>
          </p:txBody>
        </p:sp>
        <p:sp>
          <p:nvSpPr>
            <p:cNvPr id="14" name="Ellipse 14"/>
            <p:cNvSpPr/>
            <p:nvPr/>
          </p:nvSpPr>
          <p:spPr>
            <a:xfrm>
              <a:off x="781050" y="2266950"/>
              <a:ext cx="76200" cy="76200"/>
            </a:xfrm>
            <a:prstGeom prst="ellipse">
              <a:avLst/>
            </a:prstGeom>
            <a:solidFill>
              <a:srgbClr val="B85C00"/>
            </a:solidFill>
            <a:ln>
              <a:noFill/>
            </a:ln>
          </p:spPr>
        </p:sp>
        <p:sp>
          <p:nvSpPr>
            <p:cNvPr id="15" name="TextBox 15"/>
            <p:cNvSpPr txBox="1"/>
            <p:nvPr/>
          </p:nvSpPr>
          <p:spPr>
            <a:xfrm>
              <a:off x="946785" y="2240756"/>
              <a:ext cx="272719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Cloud（Avenue/FE/Bleu）</a:t>
              </a:r>
              <a:r>
                <a:rPr lang="en-US" sz="1120" dirty="0">
                  <a:solidFill>
                    <a:srgbClr val="6B6B6B"/>
                  </a:solidFill>
                  <a:latin typeface="Arial"/>
                  <a:ea typeface="Arial"/>
                  <a:cs typeface="Arial"/>
                </a:rPr>
                <a:t>— 650M€/9%</a:t>
              </a:r>
            </a:p>
          </p:txBody>
        </p:sp>
        <p:sp>
          <p:nvSpPr>
            <p:cNvPr id="16" name="Ellipse 16"/>
            <p:cNvSpPr/>
            <p:nvPr/>
          </p:nvSpPr>
          <p:spPr>
            <a:xfrm>
              <a:off x="781050" y="2552700"/>
              <a:ext cx="76200" cy="76200"/>
            </a:xfrm>
            <a:prstGeom prst="ellipse">
              <a:avLst/>
            </a:prstGeom>
            <a:solidFill>
              <a:srgbClr val="B85C00"/>
            </a:solidFill>
            <a:ln>
              <a:noFill/>
            </a:ln>
          </p:spPr>
        </p:sp>
        <p:sp>
          <p:nvSpPr>
            <p:cNvPr id="17" name="TextBox 17"/>
            <p:cNvSpPr txBox="1"/>
            <p:nvPr/>
          </p:nvSpPr>
          <p:spPr>
            <a:xfrm>
              <a:off x="946785" y="2526506"/>
              <a:ext cx="3027807"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集成/转售（含终端软件）</a:t>
              </a:r>
              <a:r>
                <a:rPr lang="en-US" sz="1120" dirty="0">
                  <a:solidFill>
                    <a:srgbClr val="6B6B6B"/>
                  </a:solidFill>
                  <a:latin typeface="Arial"/>
                  <a:ea typeface="Arial"/>
                  <a:cs typeface="Arial"/>
                </a:rPr>
                <a:t>— 1,950M€/27%</a:t>
              </a:r>
            </a:p>
          </p:txBody>
        </p:sp>
        <p:sp>
          <p:nvSpPr>
            <p:cNvPr id="18" name="Ellipse 18"/>
            <p:cNvSpPr/>
            <p:nvPr/>
          </p:nvSpPr>
          <p:spPr>
            <a:xfrm>
              <a:off x="781050" y="2838450"/>
              <a:ext cx="76200" cy="76200"/>
            </a:xfrm>
            <a:prstGeom prst="ellipse">
              <a:avLst/>
            </a:prstGeom>
            <a:solidFill>
              <a:srgbClr val="B85C00"/>
            </a:solidFill>
            <a:ln>
              <a:noFill/>
            </a:ln>
          </p:spPr>
        </p:sp>
        <p:sp>
          <p:nvSpPr>
            <p:cNvPr id="19" name="TextBox 19"/>
            <p:cNvSpPr txBox="1"/>
            <p:nvPr/>
          </p:nvSpPr>
          <p:spPr>
            <a:xfrm>
              <a:off x="946785" y="2812256"/>
              <a:ext cx="1277338" cy="220028"/>
            </a:xfrm>
            <a:prstGeom prst="rect">
              <a:avLst/>
            </a:prstGeom>
            <a:noFill/>
            <a:ln>
              <a:noFill/>
            </a:ln>
          </p:spPr>
          <p:txBody>
            <a:bodyPr wrap="none" lIns="0" tIns="0" rIns="0" bIns="0" anchor="t" anchorCtr="0">
              <a:spAutoFit/>
            </a:bodyPr>
            <a:lstStyle/>
            <a:p>
              <a:pPr algn="l"/>
              <a:r>
                <a:rPr lang="en-US" sz="1120" dirty="0">
                  <a:solidFill>
                    <a:srgbClr val="1A1A1A"/>
                  </a:solidFill>
                  <a:latin typeface="Arial"/>
                  <a:ea typeface="Arial"/>
                  <a:cs typeface="Arial"/>
                </a:rPr>
                <a:t>Digital Workplace</a:t>
              </a:r>
            </a:p>
          </p:txBody>
        </p:sp>
        <p:sp>
          <p:nvSpPr>
            <p:cNvPr id="20" name="Ellipse 20"/>
            <p:cNvSpPr/>
            <p:nvPr/>
          </p:nvSpPr>
          <p:spPr>
            <a:xfrm>
              <a:off x="781050" y="3124200"/>
              <a:ext cx="76200" cy="76200"/>
            </a:xfrm>
            <a:prstGeom prst="ellipse">
              <a:avLst/>
            </a:prstGeom>
            <a:solidFill>
              <a:srgbClr val="B85C00"/>
            </a:solidFill>
            <a:ln>
              <a:noFill/>
            </a:ln>
          </p:spPr>
        </p:sp>
        <p:sp>
          <p:nvSpPr>
            <p:cNvPr id="21" name="TextBox 21"/>
            <p:cNvSpPr txBox="1"/>
            <p:nvPr/>
          </p:nvSpPr>
          <p:spPr>
            <a:xfrm>
              <a:off x="946785" y="3098006"/>
              <a:ext cx="665512" cy="220028"/>
            </a:xfrm>
            <a:prstGeom prst="rect">
              <a:avLst/>
            </a:prstGeom>
            <a:noFill/>
            <a:ln>
              <a:noFill/>
            </a:ln>
          </p:spPr>
          <p:txBody>
            <a:bodyPr wrap="none" lIns="0" tIns="0" rIns="0" bIns="0" anchor="t" anchorCtr="0">
              <a:spAutoFit/>
            </a:bodyPr>
            <a:lstStyle/>
            <a:p>
              <a:pPr algn="l"/>
              <a:r>
                <a:rPr lang="en-US" sz="1120" dirty="0">
                  <a:solidFill>
                    <a:srgbClr val="1A1A1A"/>
                  </a:solidFill>
                  <a:latin typeface="Arial"/>
                  <a:ea typeface="Arial"/>
                  <a:cs typeface="Arial"/>
                </a:rPr>
                <a:t>Data &amp; AI</a:t>
              </a:r>
            </a:p>
          </p:txBody>
        </p:sp>
        <p:sp>
          <p:nvSpPr>
            <p:cNvPr id="22" name="Ellipse 22"/>
            <p:cNvSpPr/>
            <p:nvPr/>
          </p:nvSpPr>
          <p:spPr>
            <a:xfrm>
              <a:off x="781050" y="3409950"/>
              <a:ext cx="76200" cy="76200"/>
            </a:xfrm>
            <a:prstGeom prst="ellipse">
              <a:avLst/>
            </a:prstGeom>
            <a:solidFill>
              <a:srgbClr val="B85C00"/>
            </a:solidFill>
            <a:ln>
              <a:noFill/>
            </a:ln>
          </p:spPr>
        </p:sp>
        <p:sp>
          <p:nvSpPr>
            <p:cNvPr id="23" name="TextBox 23"/>
            <p:cNvSpPr txBox="1"/>
            <p:nvPr/>
          </p:nvSpPr>
          <p:spPr>
            <a:xfrm>
              <a:off x="946785" y="3383756"/>
              <a:ext cx="1709628" cy="220028"/>
            </a:xfrm>
            <a:prstGeom prst="rect">
              <a:avLst/>
            </a:prstGeom>
            <a:noFill/>
            <a:ln>
              <a:noFill/>
            </a:ln>
          </p:spPr>
          <p:txBody>
            <a:bodyPr wrap="none" lIns="0" tIns="0" rIns="0" bIns="0" anchor="t" anchorCtr="0">
              <a:spAutoFit/>
            </a:bodyPr>
            <a:lstStyle/>
            <a:p>
              <a:pPr algn="l"/>
              <a:r>
                <a:rPr lang="en-US" sz="1120" dirty="0">
                  <a:solidFill>
                    <a:srgbClr val="1A1A1A"/>
                  </a:solidFill>
                  <a:latin typeface="Arial"/>
                  <a:ea typeface="Arial"/>
                  <a:cs typeface="Arial"/>
                </a:rPr>
                <a:t>Consulting &amp; Innovation</a:t>
              </a:r>
            </a:p>
          </p:txBody>
        </p:sp>
        <p:sp>
          <p:nvSpPr>
            <p:cNvPr id="24" name="Line 24"/>
            <p:cNvSpPr/>
            <p:nvPr/>
          </p:nvSpPr>
          <p:spPr>
            <a:xfrm>
              <a:off x="762000" y="37338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25" name="TextBox 25"/>
            <p:cNvSpPr txBox="1"/>
            <p:nvPr/>
          </p:nvSpPr>
          <p:spPr>
            <a:xfrm>
              <a:off x="756666" y="3830002"/>
              <a:ext cx="2679752"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7大Offering并行，连接占比已降至37%；</a:t>
              </a:r>
            </a:p>
          </p:txBody>
        </p:sp>
        <p:sp>
          <p:nvSpPr>
            <p:cNvPr id="26" name="TextBox 26"/>
            <p:cNvSpPr txBox="1"/>
            <p:nvPr/>
          </p:nvSpPr>
          <p:spPr>
            <a:xfrm>
              <a:off x="756666" y="4020502"/>
              <a:ext cx="3255774"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Cyberdefense连续6-8%动态增长，2030目标20亿€</a:t>
              </a:r>
            </a:p>
          </p:txBody>
        </p:sp>
        <p:sp>
          <p:nvSpPr>
            <p:cNvPr id="27" name="TextBox 27"/>
            <p:cNvSpPr txBox="1"/>
            <p:nvPr/>
          </p:nvSpPr>
          <p:spPr>
            <a:xfrm>
              <a:off x="756666" y="4230052"/>
              <a:ext cx="2356378"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Digital/Data/AI服务2024年+7% YoY</a:t>
              </a:r>
            </a:p>
          </p:txBody>
        </p:sp>
        <p:sp>
          <p:nvSpPr>
            <p:cNvPr id="28" name="TextBox 28"/>
            <p:cNvSpPr txBox="1"/>
            <p:nvPr/>
          </p:nvSpPr>
          <p:spPr>
            <a:xfrm>
              <a:off x="757238" y="4455795"/>
              <a:ext cx="2645140"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Offering拆分参照Orange FY2025财报口径估算</a:t>
              </a:r>
            </a:p>
          </p:txBody>
        </p:sp>
      </p:grpSp>
      <p:grpSp>
        <p:nvGrpSpPr>
          <p:cNvPr id="50" name="Group 50"/>
          <p:cNvGrpSpPr/>
          <p:nvPr/>
        </p:nvGrpSpPr>
        <p:grpSpPr>
          <a:xfrm>
            <a:off x="4314825" y="952500"/>
            <a:ext cx="3552825" cy="4667250"/>
            <a:chOff x="4314825" y="952500"/>
            <a:chExt cx="3552825" cy="4667250"/>
          </a:xfrm>
        </p:grpSpPr>
        <p:sp>
          <p:nvSpPr>
            <p:cNvPr id="30" name="Rectangle 30"/>
            <p:cNvSpPr/>
            <p:nvPr/>
          </p:nvSpPr>
          <p:spPr>
            <a:xfrm>
              <a:off x="4314825" y="952500"/>
              <a:ext cx="3552825" cy="4667250"/>
            </a:xfrm>
            <a:prstGeom prst="roundRect">
              <a:avLst>
                <a:gd name="adj" fmla="val 1072"/>
              </a:avLst>
            </a:prstGeom>
            <a:solidFill>
              <a:srgbClr val="FBF6F1"/>
            </a:solidFill>
            <a:ln w="9525">
              <a:solidFill>
                <a:srgbClr val="E8E2DA"/>
              </a:solidFill>
            </a:ln>
          </p:spPr>
        </p:sp>
        <p:sp>
          <p:nvSpPr>
            <p:cNvPr id="31" name="Rectangle 31"/>
            <p:cNvSpPr/>
            <p:nvPr/>
          </p:nvSpPr>
          <p:spPr>
            <a:xfrm>
              <a:off x="4314825" y="952500"/>
              <a:ext cx="3552825" cy="76200"/>
            </a:xfrm>
            <a:prstGeom prst="rect">
              <a:avLst/>
            </a:prstGeom>
            <a:solidFill>
              <a:srgbClr val="FF7900"/>
            </a:solidFill>
            <a:ln>
              <a:noFill/>
            </a:ln>
          </p:spPr>
        </p:sp>
        <p:sp>
          <p:nvSpPr>
            <p:cNvPr id="32" name="TextBox 32"/>
            <p:cNvSpPr txBox="1"/>
            <p:nvPr/>
          </p:nvSpPr>
          <p:spPr>
            <a:xfrm>
              <a:off x="4536186" y="1179671"/>
              <a:ext cx="3249442" cy="278702"/>
            </a:xfrm>
            <a:prstGeom prst="rect">
              <a:avLst/>
            </a:prstGeom>
            <a:noFill/>
            <a:ln>
              <a:noFill/>
            </a:ln>
          </p:spPr>
          <p:txBody>
            <a:bodyPr wrap="none" lIns="0" tIns="0" rIns="0" bIns="0" anchor="t" anchorCtr="0">
              <a:spAutoFit/>
            </a:bodyPr>
            <a:lstStyle/>
            <a:p>
              <a:pPr algn="l"/>
              <a:r>
                <a:rPr lang="zh-CN" sz="1420" b="1" dirty="0">
                  <a:solidFill>
                    <a:srgbClr val="FF7900"/>
                  </a:solidFill>
                  <a:latin typeface="Arial"/>
                  <a:ea typeface="Microsoft YaHei"/>
                  <a:cs typeface="Arial"/>
                </a:rPr>
                <a:t>OEU · 连接+集成起步（27亿€估）</a:t>
              </a:r>
            </a:p>
          </p:txBody>
        </p:sp>
        <p:sp>
          <p:nvSpPr>
            <p:cNvPr id="33" name="Line 33"/>
            <p:cNvSpPr/>
            <p:nvPr/>
          </p:nvSpPr>
          <p:spPr>
            <a:xfrm>
              <a:off x="4543425"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4" name="Ellipse 34"/>
            <p:cNvSpPr/>
            <p:nvPr/>
          </p:nvSpPr>
          <p:spPr>
            <a:xfrm>
              <a:off x="4562475" y="1695450"/>
              <a:ext cx="76200" cy="76200"/>
            </a:xfrm>
            <a:prstGeom prst="ellipse">
              <a:avLst/>
            </a:prstGeom>
            <a:solidFill>
              <a:srgbClr val="FF7900"/>
            </a:solidFill>
            <a:ln>
              <a:noFill/>
            </a:ln>
          </p:spPr>
        </p:sp>
        <p:sp>
          <p:nvSpPr>
            <p:cNvPr id="35" name="TextBox 35"/>
            <p:cNvSpPr txBox="1"/>
            <p:nvPr/>
          </p:nvSpPr>
          <p:spPr>
            <a:xfrm>
              <a:off x="4728210" y="1669256"/>
              <a:ext cx="2611755"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连接为基座（WAN/移动）</a:t>
              </a:r>
              <a:r>
                <a:rPr lang="zh-CN" sz="1120" dirty="0">
                  <a:solidFill>
                    <a:srgbClr val="6B6B6B"/>
                  </a:solidFill>
                  <a:latin typeface="Arial"/>
                  <a:ea typeface="Microsoft YaHei"/>
                  <a:cs typeface="Arial"/>
                </a:rPr>
                <a:t>— 主导品类</a:t>
              </a:r>
            </a:p>
          </p:txBody>
        </p:sp>
        <p:sp>
          <p:nvSpPr>
            <p:cNvPr id="36" name="Ellipse 36"/>
            <p:cNvSpPr/>
            <p:nvPr/>
          </p:nvSpPr>
          <p:spPr>
            <a:xfrm>
              <a:off x="4562475" y="1981200"/>
              <a:ext cx="76200" cy="76200"/>
            </a:xfrm>
            <a:prstGeom prst="ellipse">
              <a:avLst/>
            </a:prstGeom>
            <a:solidFill>
              <a:srgbClr val="FF7900"/>
            </a:solidFill>
            <a:ln>
              <a:noFill/>
            </a:ln>
          </p:spPr>
        </p:sp>
        <p:sp>
          <p:nvSpPr>
            <p:cNvPr id="37" name="TextBox 37"/>
            <p:cNvSpPr txBox="1"/>
            <p:nvPr/>
          </p:nvSpPr>
          <p:spPr>
            <a:xfrm>
              <a:off x="4728210" y="1955006"/>
              <a:ext cx="299327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IT集成（波兰BlueSoft/Craftware）</a:t>
              </a:r>
              <a:r>
                <a:rPr lang="en-US" sz="1120" dirty="0">
                  <a:solidFill>
                    <a:srgbClr val="6B6B6B"/>
                  </a:solidFill>
                  <a:latin typeface="Arial"/>
                  <a:ea typeface="Arial"/>
                  <a:cs typeface="Arial"/>
                </a:rPr>
                <a:t>— 36%</a:t>
              </a:r>
            </a:p>
          </p:txBody>
        </p:sp>
        <p:sp>
          <p:nvSpPr>
            <p:cNvPr id="38" name="Ellipse 38"/>
            <p:cNvSpPr/>
            <p:nvPr/>
          </p:nvSpPr>
          <p:spPr>
            <a:xfrm>
              <a:off x="4562475" y="2266950"/>
              <a:ext cx="76200" cy="76200"/>
            </a:xfrm>
            <a:prstGeom prst="ellipse">
              <a:avLst/>
            </a:prstGeom>
            <a:solidFill>
              <a:srgbClr val="FF7900"/>
            </a:solidFill>
            <a:ln>
              <a:noFill/>
            </a:ln>
          </p:spPr>
        </p:sp>
        <p:sp>
          <p:nvSpPr>
            <p:cNvPr id="39" name="TextBox 39"/>
            <p:cNvSpPr txBox="1"/>
            <p:nvPr/>
          </p:nvSpPr>
          <p:spPr>
            <a:xfrm>
              <a:off x="4728210" y="2240756"/>
              <a:ext cx="228371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网络安全（罗马尼亚SCUT合资）</a:t>
              </a:r>
            </a:p>
          </p:txBody>
        </p:sp>
        <p:sp>
          <p:nvSpPr>
            <p:cNvPr id="40" name="Ellipse 40"/>
            <p:cNvSpPr/>
            <p:nvPr/>
          </p:nvSpPr>
          <p:spPr>
            <a:xfrm>
              <a:off x="4562475" y="2552700"/>
              <a:ext cx="76200" cy="76200"/>
            </a:xfrm>
            <a:prstGeom prst="ellipse">
              <a:avLst/>
            </a:prstGeom>
            <a:solidFill>
              <a:srgbClr val="FF7900"/>
            </a:solidFill>
            <a:ln>
              <a:noFill/>
            </a:ln>
          </p:spPr>
        </p:sp>
        <p:sp>
          <p:nvSpPr>
            <p:cNvPr id="41" name="TextBox 41"/>
            <p:cNvSpPr txBox="1"/>
            <p:nvPr/>
          </p:nvSpPr>
          <p:spPr>
            <a:xfrm>
              <a:off x="4728210" y="2526506"/>
              <a:ext cx="2071723"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IoT/5G专网（西班牙新签约）</a:t>
              </a:r>
            </a:p>
          </p:txBody>
        </p:sp>
        <p:sp>
          <p:nvSpPr>
            <p:cNvPr id="42" name="Ellipse 42"/>
            <p:cNvSpPr/>
            <p:nvPr/>
          </p:nvSpPr>
          <p:spPr>
            <a:xfrm>
              <a:off x="4562475" y="2838450"/>
              <a:ext cx="76200" cy="76200"/>
            </a:xfrm>
            <a:prstGeom prst="ellipse">
              <a:avLst/>
            </a:prstGeom>
            <a:solidFill>
              <a:srgbClr val="FF7900"/>
            </a:solidFill>
            <a:ln>
              <a:noFill/>
            </a:ln>
          </p:spPr>
        </p:sp>
        <p:sp>
          <p:nvSpPr>
            <p:cNvPr id="43" name="TextBox 43"/>
            <p:cNvSpPr txBox="1"/>
            <p:nvPr/>
          </p:nvSpPr>
          <p:spPr>
            <a:xfrm>
              <a:off x="4728210" y="2812256"/>
              <a:ext cx="257175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统一B2B品牌（比利时+OBDS+OCD）</a:t>
              </a:r>
            </a:p>
          </p:txBody>
        </p:sp>
        <p:sp>
          <p:nvSpPr>
            <p:cNvPr id="44" name="Ellipse 44"/>
            <p:cNvSpPr/>
            <p:nvPr/>
          </p:nvSpPr>
          <p:spPr>
            <a:xfrm>
              <a:off x="4562475" y="3124200"/>
              <a:ext cx="76200" cy="76200"/>
            </a:xfrm>
            <a:prstGeom prst="ellipse">
              <a:avLst/>
            </a:prstGeom>
            <a:solidFill>
              <a:srgbClr val="FF7900"/>
            </a:solidFill>
            <a:ln>
              <a:noFill/>
            </a:ln>
          </p:spPr>
        </p:sp>
        <p:sp>
          <p:nvSpPr>
            <p:cNvPr id="45" name="TextBox 45"/>
            <p:cNvSpPr txBox="1"/>
            <p:nvPr/>
          </p:nvSpPr>
          <p:spPr>
            <a:xfrm>
              <a:off x="4728210" y="3098006"/>
              <a:ext cx="217170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5G SA企业应用（比利时先行）</a:t>
              </a:r>
            </a:p>
          </p:txBody>
        </p:sp>
        <p:sp>
          <p:nvSpPr>
            <p:cNvPr id="46" name="Line 46"/>
            <p:cNvSpPr/>
            <p:nvPr/>
          </p:nvSpPr>
          <p:spPr>
            <a:xfrm>
              <a:off x="4543425" y="34290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47" name="TextBox 47"/>
            <p:cNvSpPr txBox="1"/>
            <p:nvPr/>
          </p:nvSpPr>
          <p:spPr>
            <a:xfrm>
              <a:off x="4538091" y="3544252"/>
              <a:ext cx="3288944"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波兰ICT占B2B36%（实证），罗马尼亚B2B+14%；</a:t>
              </a:r>
            </a:p>
          </p:txBody>
        </p:sp>
        <p:sp>
          <p:nvSpPr>
            <p:cNvPr id="48" name="TextBox 48"/>
            <p:cNvSpPr txBox="1"/>
            <p:nvPr/>
          </p:nvSpPr>
          <p:spPr>
            <a:xfrm>
              <a:off x="4538091" y="3734752"/>
              <a:ext cx="2915431"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其他国家（比利时/斯洛伐克等）仍偏连接为主</a:t>
              </a:r>
            </a:p>
          </p:txBody>
        </p:sp>
        <p:sp>
          <p:nvSpPr>
            <p:cNvPr id="49" name="TextBox 49"/>
            <p:cNvSpPr txBox="1"/>
            <p:nvPr/>
          </p:nvSpPr>
          <p:spPr>
            <a:xfrm>
              <a:off x="4538662" y="3960495"/>
              <a:ext cx="2004474"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各国Offering收入拆分：数据待补充</a:t>
              </a:r>
            </a:p>
          </p:txBody>
        </p:sp>
      </p:grpSp>
      <p:grpSp>
        <p:nvGrpSpPr>
          <p:cNvPr id="71" name="Group 71"/>
          <p:cNvGrpSpPr/>
          <p:nvPr/>
        </p:nvGrpSpPr>
        <p:grpSpPr>
          <a:xfrm>
            <a:off x="8096250" y="952500"/>
            <a:ext cx="3552825" cy="4667250"/>
            <a:chOff x="8096250" y="952500"/>
            <a:chExt cx="3552825" cy="4667250"/>
          </a:xfrm>
        </p:grpSpPr>
        <p:sp>
          <p:nvSpPr>
            <p:cNvPr id="51" name="Rectangle 51"/>
            <p:cNvSpPr/>
            <p:nvPr/>
          </p:nvSpPr>
          <p:spPr>
            <a:xfrm>
              <a:off x="8096250" y="952500"/>
              <a:ext cx="3552825" cy="4667250"/>
            </a:xfrm>
            <a:prstGeom prst="roundRect">
              <a:avLst>
                <a:gd name="adj" fmla="val 1072"/>
              </a:avLst>
            </a:prstGeom>
            <a:solidFill>
              <a:srgbClr val="FBF6F1"/>
            </a:solidFill>
            <a:ln w="9525">
              <a:solidFill>
                <a:srgbClr val="E8E2DA"/>
              </a:solidFill>
            </a:ln>
          </p:spPr>
        </p:sp>
        <p:sp>
          <p:nvSpPr>
            <p:cNvPr id="52" name="Rectangle 52"/>
            <p:cNvSpPr/>
            <p:nvPr/>
          </p:nvSpPr>
          <p:spPr>
            <a:xfrm>
              <a:off x="8096250" y="952500"/>
              <a:ext cx="3552825" cy="76200"/>
            </a:xfrm>
            <a:prstGeom prst="rect">
              <a:avLst/>
            </a:prstGeom>
            <a:solidFill>
              <a:srgbClr val="FFA640"/>
            </a:solidFill>
            <a:ln>
              <a:noFill/>
            </a:ln>
          </p:spPr>
        </p:sp>
        <p:sp>
          <p:nvSpPr>
            <p:cNvPr id="53" name="TextBox 53"/>
            <p:cNvSpPr txBox="1"/>
            <p:nvPr/>
          </p:nvSpPr>
          <p:spPr>
            <a:xfrm>
              <a:off x="8317611" y="1179671"/>
              <a:ext cx="3068540" cy="278702"/>
            </a:xfrm>
            <a:prstGeom prst="rect">
              <a:avLst/>
            </a:prstGeom>
            <a:noFill/>
            <a:ln>
              <a:noFill/>
            </a:ln>
          </p:spPr>
          <p:txBody>
            <a:bodyPr wrap="none" lIns="0" tIns="0" rIns="0" bIns="0" anchor="t" anchorCtr="0">
              <a:spAutoFit/>
            </a:bodyPr>
            <a:lstStyle/>
            <a:p>
              <a:pPr algn="l"/>
              <a:r>
                <a:rPr lang="zh-CN" sz="1420" b="1" dirty="0">
                  <a:solidFill>
                    <a:srgbClr val="E08A2E"/>
                  </a:solidFill>
                  <a:latin typeface="Arial"/>
                  <a:ea typeface="Microsoft YaHei"/>
                  <a:cs typeface="Arial"/>
                </a:rPr>
                <a:t>OMEA · 连接+ICT加速（13亿€）</a:t>
              </a:r>
            </a:p>
          </p:txBody>
        </p:sp>
        <p:sp>
          <p:nvSpPr>
            <p:cNvPr id="54" name="Line 54"/>
            <p:cNvSpPr/>
            <p:nvPr/>
          </p:nvSpPr>
          <p:spPr>
            <a:xfrm>
              <a:off x="8324850" y="1466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55" name="Ellipse 55"/>
            <p:cNvSpPr/>
            <p:nvPr/>
          </p:nvSpPr>
          <p:spPr>
            <a:xfrm>
              <a:off x="8343900" y="1695450"/>
              <a:ext cx="76200" cy="76200"/>
            </a:xfrm>
            <a:prstGeom prst="ellipse">
              <a:avLst/>
            </a:prstGeom>
            <a:solidFill>
              <a:srgbClr val="FFA640"/>
            </a:solidFill>
            <a:ln>
              <a:noFill/>
            </a:ln>
          </p:spPr>
        </p:sp>
        <p:sp>
          <p:nvSpPr>
            <p:cNvPr id="56" name="TextBox 56"/>
            <p:cNvSpPr txBox="1"/>
            <p:nvPr/>
          </p:nvSpPr>
          <p:spPr>
            <a:xfrm>
              <a:off x="8509635" y="1669256"/>
              <a:ext cx="257175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核心连接（移动数据+FBB）</a:t>
              </a:r>
              <a:r>
                <a:rPr lang="en-US" sz="1120" dirty="0">
                  <a:solidFill>
                    <a:srgbClr val="6B6B6B"/>
                  </a:solidFill>
                  <a:latin typeface="Arial"/>
                  <a:ea typeface="Arial"/>
                  <a:cs typeface="Arial"/>
                </a:rPr>
                <a:t>— 91.7%</a:t>
              </a:r>
            </a:p>
          </p:txBody>
        </p:sp>
        <p:sp>
          <p:nvSpPr>
            <p:cNvPr id="57" name="Ellipse 57"/>
            <p:cNvSpPr/>
            <p:nvPr/>
          </p:nvSpPr>
          <p:spPr>
            <a:xfrm>
              <a:off x="8343900" y="1981200"/>
              <a:ext cx="76200" cy="76200"/>
            </a:xfrm>
            <a:prstGeom prst="ellipse">
              <a:avLst/>
            </a:prstGeom>
            <a:solidFill>
              <a:srgbClr val="FFA640"/>
            </a:solidFill>
            <a:ln>
              <a:noFill/>
            </a:ln>
          </p:spPr>
        </p:sp>
        <p:sp>
          <p:nvSpPr>
            <p:cNvPr id="58" name="TextBox 58"/>
            <p:cNvSpPr txBox="1"/>
            <p:nvPr/>
          </p:nvSpPr>
          <p:spPr>
            <a:xfrm>
              <a:off x="8509635" y="1955006"/>
              <a:ext cx="284378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ICT标准化打包（G3计划）</a:t>
              </a:r>
              <a:r>
                <a:rPr lang="en-US" sz="1120" dirty="0">
                  <a:solidFill>
                    <a:srgbClr val="6B6B6B"/>
                  </a:solidFill>
                  <a:latin typeface="Arial"/>
                  <a:ea typeface="Arial"/>
                  <a:cs typeface="Arial"/>
                </a:rPr>
                <a:t>— 8.3%/+28%</a:t>
              </a:r>
            </a:p>
          </p:txBody>
        </p:sp>
        <p:sp>
          <p:nvSpPr>
            <p:cNvPr id="59" name="Ellipse 59"/>
            <p:cNvSpPr/>
            <p:nvPr/>
          </p:nvSpPr>
          <p:spPr>
            <a:xfrm>
              <a:off x="8343900" y="2266950"/>
              <a:ext cx="76200" cy="76200"/>
            </a:xfrm>
            <a:prstGeom prst="ellipse">
              <a:avLst/>
            </a:prstGeom>
            <a:solidFill>
              <a:srgbClr val="FFA640"/>
            </a:solidFill>
            <a:ln>
              <a:noFill/>
            </a:ln>
          </p:spPr>
        </p:sp>
        <p:sp>
          <p:nvSpPr>
            <p:cNvPr id="60" name="TextBox 60"/>
            <p:cNvSpPr txBox="1"/>
            <p:nvPr/>
          </p:nvSpPr>
          <p:spPr>
            <a:xfrm>
              <a:off x="8509635" y="2240756"/>
              <a:ext cx="273103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Orange Money金融科技</a:t>
              </a:r>
              <a:r>
                <a:rPr lang="zh-CN" sz="1120" dirty="0">
                  <a:solidFill>
                    <a:srgbClr val="6B6B6B"/>
                  </a:solidFill>
                  <a:latin typeface="Arial"/>
                  <a:ea typeface="Microsoft YaHei"/>
                  <a:cs typeface="Arial"/>
                </a:rPr>
                <a:t>— B2B信贷+21%</a:t>
              </a:r>
            </a:p>
          </p:txBody>
        </p:sp>
        <p:sp>
          <p:nvSpPr>
            <p:cNvPr id="61" name="Ellipse 61"/>
            <p:cNvSpPr/>
            <p:nvPr/>
          </p:nvSpPr>
          <p:spPr>
            <a:xfrm>
              <a:off x="8343900" y="2552700"/>
              <a:ext cx="76200" cy="76200"/>
            </a:xfrm>
            <a:prstGeom prst="ellipse">
              <a:avLst/>
            </a:prstGeom>
            <a:solidFill>
              <a:srgbClr val="FFA640"/>
            </a:solidFill>
            <a:ln>
              <a:noFill/>
            </a:ln>
          </p:spPr>
        </p:sp>
        <p:sp>
          <p:nvSpPr>
            <p:cNvPr id="62" name="TextBox 62"/>
            <p:cNvSpPr txBox="1"/>
            <p:nvPr/>
          </p:nvSpPr>
          <p:spPr>
            <a:xfrm>
              <a:off x="8509635" y="2526506"/>
              <a:ext cx="1835862"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Orange Energies能源服务</a:t>
              </a:r>
            </a:p>
          </p:txBody>
        </p:sp>
        <p:sp>
          <p:nvSpPr>
            <p:cNvPr id="63" name="Ellipse 63"/>
            <p:cNvSpPr/>
            <p:nvPr/>
          </p:nvSpPr>
          <p:spPr>
            <a:xfrm>
              <a:off x="8343900" y="2838450"/>
              <a:ext cx="76200" cy="76200"/>
            </a:xfrm>
            <a:prstGeom prst="ellipse">
              <a:avLst/>
            </a:prstGeom>
            <a:solidFill>
              <a:srgbClr val="FFA640"/>
            </a:solidFill>
            <a:ln>
              <a:noFill/>
            </a:ln>
          </p:spPr>
        </p:sp>
        <p:sp>
          <p:nvSpPr>
            <p:cNvPr id="64" name="TextBox 64"/>
            <p:cNvSpPr txBox="1"/>
            <p:nvPr/>
          </p:nvSpPr>
          <p:spPr>
            <a:xfrm>
              <a:off x="8509635" y="2812256"/>
              <a:ext cx="270276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AI（Live Intelligence，2025.10发布）</a:t>
              </a:r>
            </a:p>
          </p:txBody>
        </p:sp>
        <p:sp>
          <p:nvSpPr>
            <p:cNvPr id="65" name="Ellipse 65"/>
            <p:cNvSpPr/>
            <p:nvPr/>
          </p:nvSpPr>
          <p:spPr>
            <a:xfrm>
              <a:off x="8343900" y="3124200"/>
              <a:ext cx="76200" cy="76200"/>
            </a:xfrm>
            <a:prstGeom prst="ellipse">
              <a:avLst/>
            </a:prstGeom>
            <a:solidFill>
              <a:srgbClr val="FFA640"/>
            </a:solidFill>
            <a:ln>
              <a:noFill/>
            </a:ln>
          </p:spPr>
        </p:sp>
        <p:sp>
          <p:nvSpPr>
            <p:cNvPr id="66" name="TextBox 66"/>
            <p:cNvSpPr txBox="1"/>
            <p:nvPr/>
          </p:nvSpPr>
          <p:spPr>
            <a:xfrm>
              <a:off x="8509635" y="3098006"/>
              <a:ext cx="2576305"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MEA Marketplace（标准化ICT零售）</a:t>
              </a:r>
            </a:p>
          </p:txBody>
        </p:sp>
        <p:sp>
          <p:nvSpPr>
            <p:cNvPr id="67" name="Line 67"/>
            <p:cNvSpPr/>
            <p:nvPr/>
          </p:nvSpPr>
          <p:spPr>
            <a:xfrm>
              <a:off x="8324850" y="34290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68" name="TextBox 68"/>
            <p:cNvSpPr txBox="1"/>
            <p:nvPr/>
          </p:nvSpPr>
          <p:spPr>
            <a:xfrm>
              <a:off x="8319516" y="3544252"/>
              <a:ext cx="2878226"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ICT仅占8.3%但+28%，是弹性最大的市场；</a:t>
              </a:r>
            </a:p>
          </p:txBody>
        </p:sp>
        <p:sp>
          <p:nvSpPr>
            <p:cNvPr id="69" name="TextBox 69"/>
            <p:cNvSpPr txBox="1"/>
            <p:nvPr/>
          </p:nvSpPr>
          <p:spPr>
            <a:xfrm>
              <a:off x="8319516" y="3734752"/>
              <a:ext cx="2967838"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G3计划2028目标ICT收入3.01亿€，CAGR 35%</a:t>
              </a:r>
            </a:p>
          </p:txBody>
        </p:sp>
        <p:sp>
          <p:nvSpPr>
            <p:cNvPr id="70" name="TextBox 70"/>
            <p:cNvSpPr txBox="1"/>
            <p:nvPr/>
          </p:nvSpPr>
          <p:spPr>
            <a:xfrm>
              <a:off x="8320088" y="3960495"/>
              <a:ext cx="3126715"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Q1'26 SOHO 0.98亿€(+9%)｜SME 0.49亿€(+7.36%)</a:t>
              </a:r>
            </a:p>
          </p:txBody>
        </p:sp>
      </p:grpSp>
      <p:grpSp>
        <p:nvGrpSpPr>
          <p:cNvPr id="75" name="Group 75"/>
          <p:cNvGrpSpPr/>
          <p:nvPr/>
        </p:nvGrpSpPr>
        <p:grpSpPr>
          <a:xfrm>
            <a:off x="533400" y="5791200"/>
            <a:ext cx="11125200" cy="685800"/>
            <a:chOff x="533400" y="5791200"/>
            <a:chExt cx="11125200" cy="685800"/>
          </a:xfrm>
        </p:grpSpPr>
        <p:sp>
          <p:nvSpPr>
            <p:cNvPr id="72" name="Rectangle 72"/>
            <p:cNvSpPr/>
            <p:nvPr/>
          </p:nvSpPr>
          <p:spPr>
            <a:xfrm>
              <a:off x="533400" y="5791200"/>
              <a:ext cx="11125200" cy="685800"/>
            </a:xfrm>
            <a:prstGeom prst="roundRect">
              <a:avLst>
                <a:gd name="adj" fmla="val 5556"/>
              </a:avLst>
            </a:prstGeom>
            <a:solidFill>
              <a:srgbClr val="FBF6F1"/>
            </a:solidFill>
            <a:ln w="9525">
              <a:solidFill>
                <a:srgbClr val="E8E2DA"/>
              </a:solidFill>
            </a:ln>
          </p:spPr>
        </p:sp>
        <p:sp>
          <p:nvSpPr>
            <p:cNvPr id="73" name="TextBox 73"/>
            <p:cNvSpPr txBox="1"/>
            <p:nvPr/>
          </p:nvSpPr>
          <p:spPr>
            <a:xfrm>
              <a:off x="755142" y="5931218"/>
              <a:ext cx="9744430"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核心结论：OMEA的ICT占B2B收入仅</a:t>
              </a:r>
              <a:r>
                <a:rPr lang="en-US" sz="1350" b="1" dirty="0">
                  <a:solidFill>
                    <a:srgbClr val="C0392B"/>
                  </a:solidFill>
                  <a:latin typeface="Arial"/>
                  <a:ea typeface="Arial"/>
                  <a:cs typeface="Arial"/>
                </a:rPr>
                <a:t>8.3%</a:t>
              </a:r>
              <a:r>
                <a:rPr lang="zh-CN" sz="1350" b="1" dirty="0">
                  <a:solidFill>
                    <a:srgbClr val="1A1A1A"/>
                  </a:solidFill>
                  <a:latin typeface="Arial"/>
                  <a:ea typeface="Microsoft YaHei"/>
                  <a:cs typeface="Arial"/>
                </a:rPr>
                <a:t>（现状）但增速</a:t>
              </a:r>
              <a:r>
                <a:rPr lang="en-US" sz="1350" b="1" dirty="0">
                  <a:solidFill>
                    <a:srgbClr val="2E8B57"/>
                  </a:solidFill>
                  <a:latin typeface="Arial"/>
                  <a:ea typeface="Arial"/>
                  <a:cs typeface="Arial"/>
                </a:rPr>
                <a:t>28%</a:t>
              </a:r>
              <a:r>
                <a:rPr lang="zh-CN" sz="1350" b="1" dirty="0">
                  <a:solidFill>
                    <a:srgbClr val="1A1A1A"/>
                  </a:solidFill>
                  <a:latin typeface="Arial"/>
                  <a:ea typeface="Microsoft YaHei"/>
                  <a:cs typeface="Arial"/>
                </a:rPr>
                <a:t>，是Offering结构最"年轻"、增长弹性最大的市场</a:t>
              </a:r>
            </a:p>
          </p:txBody>
        </p:sp>
        <p:sp>
          <p:nvSpPr>
            <p:cNvPr id="74" name="TextBox 74"/>
            <p:cNvSpPr txBox="1"/>
            <p:nvPr/>
          </p:nvSpPr>
          <p:spPr>
            <a:xfrm>
              <a:off x="756285" y="6184106"/>
              <a:ext cx="477202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对比OB连接占比已降至37%，OMEA连接依赖度仍是三区域中最高的</a:t>
              </a:r>
            </a:p>
          </p:txBody>
        </p:sp>
      </p:grpSp>
      <p:grpSp>
        <p:nvGrpSpPr>
          <p:cNvPr id="78" name="Group 78"/>
          <p:cNvGrpSpPr/>
          <p:nvPr/>
        </p:nvGrpSpPr>
        <p:grpSpPr>
          <a:xfrm>
            <a:off x="528447" y="6562249"/>
            <a:ext cx="11135106" cy="190690"/>
            <a:chOff x="528447" y="6562249"/>
            <a:chExt cx="11135106" cy="190690"/>
          </a:xfrm>
        </p:grpSpPr>
        <p:sp>
          <p:nvSpPr>
            <p:cNvPr id="76" name="TextBox 76"/>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77" name="TextBox 77"/>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397882" cy="461963"/>
            <a:chOff x="521970" y="309562"/>
            <a:chExt cx="11397882" cy="461963"/>
          </a:xfrm>
        </p:grpSpPr>
        <p:sp>
          <p:nvSpPr>
            <p:cNvPr id="3" name="TextBox 3"/>
            <p:cNvSpPr txBox="1"/>
            <p:nvPr/>
          </p:nvSpPr>
          <p:spPr>
            <a:xfrm>
              <a:off x="521970" y="309562"/>
              <a:ext cx="11397882"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三区域商业模式权重不同——OB管理服务占73%，</a:t>
              </a:r>
              <a:r>
                <a:rPr lang="zh-CN" sz="2250" b="1" dirty="0">
                  <a:solidFill>
                    <a:srgbClr val="FF7900"/>
                  </a:solidFill>
                  <a:latin typeface="Arial"/>
                  <a:ea typeface="Microsoft YaHei"/>
                  <a:cs typeface="Arial"/>
                </a:rPr>
                <a:t>OMEA集成转售是未来突破口</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8" name="Group 8"/>
          <p:cNvGrpSpPr/>
          <p:nvPr/>
        </p:nvGrpSpPr>
        <p:grpSpPr>
          <a:xfrm>
            <a:off x="5468729" y="803910"/>
            <a:ext cx="6215985" cy="234696"/>
            <a:chOff x="5468729" y="803910"/>
            <a:chExt cx="6215985" cy="234696"/>
          </a:xfrm>
        </p:grpSpPr>
        <p:sp>
          <p:nvSpPr>
            <p:cNvPr id="6" name="TextBox 6"/>
            <p:cNvSpPr txBox="1"/>
            <p:nvPr/>
          </p:nvSpPr>
          <p:spPr>
            <a:xfrm>
              <a:off x="5468729" y="803910"/>
              <a:ext cx="2397542" cy="234696"/>
            </a:xfrm>
            <a:prstGeom prst="rect">
              <a:avLst/>
            </a:prstGeom>
            <a:noFill/>
            <a:ln>
              <a:noFill/>
            </a:ln>
          </p:spPr>
          <p:txBody>
            <a:bodyPr wrap="none" lIns="0" tIns="0" rIns="0" bIns="0" anchor="t" anchorCtr="0">
              <a:spAutoFit/>
            </a:bodyPr>
            <a:lstStyle/>
            <a:p>
              <a:pPr algn="ctr"/>
              <a:r>
                <a:rPr lang="zh-CN" sz="1200" b="1" dirty="0">
                  <a:solidFill>
                    <a:srgbClr val="6B6B6B"/>
                  </a:solidFill>
                  <a:latin typeface="Arial"/>
                  <a:ea typeface="Microsoft YaHei"/>
                  <a:cs typeface="Arial"/>
                </a:rPr>
                <a:t>Managed Service（管理服务）</a:t>
              </a:r>
            </a:p>
          </p:txBody>
        </p:sp>
        <p:sp>
          <p:nvSpPr>
            <p:cNvPr id="7" name="TextBox 7"/>
            <p:cNvSpPr txBox="1"/>
            <p:nvPr/>
          </p:nvSpPr>
          <p:spPr>
            <a:xfrm>
              <a:off x="8889285" y="803910"/>
              <a:ext cx="2795429" cy="234696"/>
            </a:xfrm>
            <a:prstGeom prst="rect">
              <a:avLst/>
            </a:prstGeom>
            <a:noFill/>
            <a:ln>
              <a:noFill/>
            </a:ln>
          </p:spPr>
          <p:txBody>
            <a:bodyPr wrap="none" lIns="0" tIns="0" rIns="0" bIns="0" anchor="t" anchorCtr="0">
              <a:spAutoFit/>
            </a:bodyPr>
            <a:lstStyle/>
            <a:p>
              <a:pPr algn="ctr"/>
              <a:r>
                <a:rPr lang="zh-CN" sz="1200" b="1" dirty="0">
                  <a:solidFill>
                    <a:srgbClr val="6B6B6B"/>
                  </a:solidFill>
                  <a:latin typeface="Arial"/>
                  <a:ea typeface="Microsoft YaHei"/>
                  <a:cs typeface="Arial"/>
                </a:rPr>
                <a:t>集成/转售（Integration &amp; Resale）</a:t>
              </a:r>
            </a:p>
          </p:txBody>
        </p:sp>
      </p:grpSp>
      <p:grpSp>
        <p:nvGrpSpPr>
          <p:cNvPr id="28" name="Group 28"/>
          <p:cNvGrpSpPr/>
          <p:nvPr/>
        </p:nvGrpSpPr>
        <p:grpSpPr>
          <a:xfrm>
            <a:off x="533400" y="1009650"/>
            <a:ext cx="11125200" cy="1552575"/>
            <a:chOff x="533400" y="1009650"/>
            <a:chExt cx="11125200" cy="1552575"/>
          </a:xfrm>
        </p:grpSpPr>
        <p:sp>
          <p:nvSpPr>
            <p:cNvPr id="9" name="Rectangle 9"/>
            <p:cNvSpPr/>
            <p:nvPr/>
          </p:nvSpPr>
          <p:spPr>
            <a:xfrm>
              <a:off x="533400" y="1009650"/>
              <a:ext cx="11125200" cy="228600"/>
            </a:xfrm>
            <a:prstGeom prst="rect">
              <a:avLst/>
            </a:prstGeom>
            <a:solidFill>
              <a:srgbClr val="B85C00">
                <a:alpha val="12000"/>
              </a:srgbClr>
            </a:solidFill>
            <a:ln>
              <a:noFill/>
            </a:ln>
          </p:spPr>
        </p:sp>
        <p:sp>
          <p:nvSpPr>
            <p:cNvPr id="10" name="TextBox 10"/>
            <p:cNvSpPr txBox="1"/>
            <p:nvPr/>
          </p:nvSpPr>
          <p:spPr>
            <a:xfrm>
              <a:off x="661035" y="1050131"/>
              <a:ext cx="1688640" cy="220028"/>
            </a:xfrm>
            <a:prstGeom prst="rect">
              <a:avLst/>
            </a:prstGeom>
            <a:noFill/>
            <a:ln>
              <a:noFill/>
            </a:ln>
          </p:spPr>
          <p:txBody>
            <a:bodyPr wrap="none" lIns="0" tIns="0" rIns="0" bIns="0" anchor="t" anchorCtr="0">
              <a:spAutoFit/>
            </a:bodyPr>
            <a:lstStyle/>
            <a:p>
              <a:pPr algn="l"/>
              <a:r>
                <a:rPr lang="en-US" sz="1120" b="1" dirty="0">
                  <a:solidFill>
                    <a:srgbClr val="B85C00"/>
                  </a:solidFill>
                  <a:latin typeface="Arial"/>
                  <a:ea typeface="Arial"/>
                  <a:cs typeface="Arial"/>
                </a:rPr>
                <a:t>OB · Orange Business</a:t>
              </a:r>
            </a:p>
          </p:txBody>
        </p:sp>
        <p:sp>
          <p:nvSpPr>
            <p:cNvPr id="11" name="Rectangle 11"/>
            <p:cNvSpPr/>
            <p:nvPr/>
          </p:nvSpPr>
          <p:spPr>
            <a:xfrm>
              <a:off x="533400" y="1323975"/>
              <a:ext cx="5286375" cy="1238250"/>
            </a:xfrm>
            <a:prstGeom prst="roundRect">
              <a:avLst>
                <a:gd name="adj" fmla="val 3077"/>
              </a:avLst>
            </a:prstGeom>
            <a:solidFill>
              <a:srgbClr val="FBF6F1"/>
            </a:solidFill>
            <a:ln w="9525">
              <a:solidFill>
                <a:srgbClr val="E8E2DA"/>
              </a:solidFill>
            </a:ln>
          </p:spPr>
        </p:sp>
        <p:sp>
          <p:nvSpPr>
            <p:cNvPr id="12" name="Rectangle 12"/>
            <p:cNvSpPr/>
            <p:nvPr/>
          </p:nvSpPr>
          <p:spPr>
            <a:xfrm>
              <a:off x="533400" y="1323975"/>
              <a:ext cx="38100" cy="1238250"/>
            </a:xfrm>
            <a:prstGeom prst="rect">
              <a:avLst/>
            </a:prstGeom>
            <a:solidFill>
              <a:srgbClr val="B85C00"/>
            </a:solidFill>
            <a:ln>
              <a:noFill/>
            </a:ln>
          </p:spPr>
        </p:sp>
        <p:sp>
          <p:nvSpPr>
            <p:cNvPr id="13" name="TextBox 13"/>
            <p:cNvSpPr txBox="1"/>
            <p:nvPr/>
          </p:nvSpPr>
          <p:spPr>
            <a:xfrm>
              <a:off x="736092" y="146399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14" name="TextBox 14"/>
            <p:cNvSpPr txBox="1"/>
            <p:nvPr/>
          </p:nvSpPr>
          <p:spPr>
            <a:xfrm>
              <a:off x="734568" y="1726882"/>
              <a:ext cx="175410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5,377M€（估）</a:t>
              </a:r>
            </a:p>
          </p:txBody>
        </p:sp>
        <p:sp>
          <p:nvSpPr>
            <p:cNvPr id="15" name="TextBox 15"/>
            <p:cNvSpPr txBox="1"/>
            <p:nvPr/>
          </p:nvSpPr>
          <p:spPr>
            <a:xfrm>
              <a:off x="737997" y="2009299"/>
              <a:ext cx="373357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占OB收入73%｜WAN2,715+安全1,300+云650+其他712(M€)</a:t>
              </a:r>
            </a:p>
          </p:txBody>
        </p:sp>
        <p:sp>
          <p:nvSpPr>
            <p:cNvPr id="16" name="Rectangle 16"/>
            <p:cNvSpPr/>
            <p:nvPr/>
          </p:nvSpPr>
          <p:spPr>
            <a:xfrm>
              <a:off x="742950" y="2228850"/>
              <a:ext cx="1428750" cy="95250"/>
            </a:xfrm>
            <a:prstGeom prst="rect">
              <a:avLst/>
            </a:prstGeom>
            <a:solidFill>
              <a:srgbClr val="B85C00"/>
            </a:solidFill>
            <a:ln>
              <a:noFill/>
            </a:ln>
          </p:spPr>
        </p:sp>
        <p:sp>
          <p:nvSpPr>
            <p:cNvPr id="17" name="Rectangle 17"/>
            <p:cNvSpPr/>
            <p:nvPr/>
          </p:nvSpPr>
          <p:spPr>
            <a:xfrm>
              <a:off x="2171700" y="2228850"/>
              <a:ext cx="685800" cy="95250"/>
            </a:xfrm>
            <a:prstGeom prst="rect">
              <a:avLst/>
            </a:prstGeom>
            <a:solidFill>
              <a:srgbClr val="D97B2E"/>
            </a:solidFill>
            <a:ln>
              <a:noFill/>
            </a:ln>
          </p:spPr>
        </p:sp>
        <p:sp>
          <p:nvSpPr>
            <p:cNvPr id="18" name="Rectangle 18"/>
            <p:cNvSpPr/>
            <p:nvPr/>
          </p:nvSpPr>
          <p:spPr>
            <a:xfrm>
              <a:off x="2857500" y="2228850"/>
              <a:ext cx="342900" cy="95250"/>
            </a:xfrm>
            <a:prstGeom prst="rect">
              <a:avLst/>
            </a:prstGeom>
            <a:solidFill>
              <a:srgbClr val="FFA640"/>
            </a:solidFill>
            <a:ln>
              <a:noFill/>
            </a:ln>
          </p:spPr>
        </p:sp>
        <p:sp>
          <p:nvSpPr>
            <p:cNvPr id="19" name="Rectangle 19"/>
            <p:cNvSpPr/>
            <p:nvPr/>
          </p:nvSpPr>
          <p:spPr>
            <a:xfrm>
              <a:off x="3200400" y="2228850"/>
              <a:ext cx="381000" cy="95250"/>
            </a:xfrm>
            <a:prstGeom prst="rect">
              <a:avLst/>
            </a:prstGeom>
            <a:solidFill>
              <a:srgbClr val="FFD9A8"/>
            </a:solidFill>
            <a:ln>
              <a:noFill/>
            </a:ln>
          </p:spPr>
        </p:sp>
        <p:sp>
          <p:nvSpPr>
            <p:cNvPr id="20" name="TextBox 20"/>
            <p:cNvSpPr txBox="1"/>
            <p:nvPr/>
          </p:nvSpPr>
          <p:spPr>
            <a:xfrm>
              <a:off x="738188" y="2341245"/>
              <a:ext cx="1948967"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WAN50% 安全24% 云12% 其他14%</a:t>
              </a:r>
            </a:p>
          </p:txBody>
        </p:sp>
        <p:sp>
          <p:nvSpPr>
            <p:cNvPr id="21" name="Polygon 21"/>
            <p:cNvSpPr/>
            <p:nvPr/>
          </p:nvSpPr>
          <p:spPr>
            <a:xfrm>
              <a:off x="5905500" y="1857375"/>
              <a:ext cx="190500" cy="171450"/>
            </a:xfrm>
            <a:custGeom>
              <a:avLst/>
              <a:gdLst/>
              <a:ahLst/>
              <a:cxnLst/>
              <a:rect l="l" t="t" r="r" b="b"/>
              <a:pathLst>
                <a:path w="190500" h="171450">
                  <a:moveTo>
                    <a:pt x="0" y="0"/>
                  </a:moveTo>
                  <a:lnTo>
                    <a:pt x="190500" y="85725"/>
                  </a:lnTo>
                  <a:lnTo>
                    <a:pt x="0" y="171450"/>
                  </a:lnTo>
                  <a:close/>
                </a:path>
              </a:pathLst>
            </a:custGeom>
            <a:solidFill>
              <a:srgbClr val="B85C00"/>
            </a:solidFill>
            <a:ln>
              <a:noFill/>
            </a:ln>
          </p:spPr>
        </p:sp>
        <p:sp>
          <p:nvSpPr>
            <p:cNvPr id="22" name="Rectangle 22"/>
            <p:cNvSpPr/>
            <p:nvPr/>
          </p:nvSpPr>
          <p:spPr>
            <a:xfrm>
              <a:off x="6191250" y="1323975"/>
              <a:ext cx="5467350" cy="1238250"/>
            </a:xfrm>
            <a:prstGeom prst="roundRect">
              <a:avLst>
                <a:gd name="adj" fmla="val 3077"/>
              </a:avLst>
            </a:prstGeom>
            <a:solidFill>
              <a:srgbClr val="FBF6F1"/>
            </a:solidFill>
            <a:ln w="9525">
              <a:solidFill>
                <a:srgbClr val="E8E2DA"/>
              </a:solidFill>
            </a:ln>
          </p:spPr>
        </p:sp>
        <p:sp>
          <p:nvSpPr>
            <p:cNvPr id="23" name="Rectangle 23"/>
            <p:cNvSpPr/>
            <p:nvPr/>
          </p:nvSpPr>
          <p:spPr>
            <a:xfrm>
              <a:off x="6191250" y="1323975"/>
              <a:ext cx="38100" cy="1238250"/>
            </a:xfrm>
            <a:prstGeom prst="rect">
              <a:avLst/>
            </a:prstGeom>
            <a:solidFill>
              <a:srgbClr val="B85C00"/>
            </a:solidFill>
            <a:ln>
              <a:noFill/>
            </a:ln>
          </p:spPr>
        </p:sp>
        <p:sp>
          <p:nvSpPr>
            <p:cNvPr id="24" name="TextBox 24"/>
            <p:cNvSpPr txBox="1"/>
            <p:nvPr/>
          </p:nvSpPr>
          <p:spPr>
            <a:xfrm>
              <a:off x="6393942" y="146399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25" name="TextBox 25"/>
            <p:cNvSpPr txBox="1"/>
            <p:nvPr/>
          </p:nvSpPr>
          <p:spPr>
            <a:xfrm>
              <a:off x="6392418" y="1726882"/>
              <a:ext cx="175410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1,950M€（估）</a:t>
              </a:r>
            </a:p>
          </p:txBody>
        </p:sp>
        <p:sp>
          <p:nvSpPr>
            <p:cNvPr id="26" name="TextBox 26"/>
            <p:cNvSpPr txBox="1"/>
            <p:nvPr/>
          </p:nvSpPr>
          <p:spPr>
            <a:xfrm>
              <a:off x="6395847" y="2009299"/>
              <a:ext cx="383065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占比27%｜国防20%+公共18%+医疗12%+其他50%（详见P11）</a:t>
              </a:r>
            </a:p>
          </p:txBody>
        </p:sp>
        <p:sp>
          <p:nvSpPr>
            <p:cNvPr id="27" name="TextBox 27"/>
            <p:cNvSpPr txBox="1"/>
            <p:nvPr/>
          </p:nvSpPr>
          <p:spPr>
            <a:xfrm>
              <a:off x="6395847" y="2218849"/>
              <a:ext cx="2672639"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案例：军队部卫星通信框架、UGAP电信框架</a:t>
              </a:r>
            </a:p>
          </p:txBody>
        </p:sp>
      </p:grpSp>
      <p:grpSp>
        <p:nvGrpSpPr>
          <p:cNvPr id="44" name="Group 44"/>
          <p:cNvGrpSpPr/>
          <p:nvPr/>
        </p:nvGrpSpPr>
        <p:grpSpPr>
          <a:xfrm>
            <a:off x="533400" y="2705100"/>
            <a:ext cx="11125200" cy="1552575"/>
            <a:chOff x="533400" y="2705100"/>
            <a:chExt cx="11125200" cy="1552575"/>
          </a:xfrm>
        </p:grpSpPr>
        <p:sp>
          <p:nvSpPr>
            <p:cNvPr id="29" name="Rectangle 29"/>
            <p:cNvSpPr/>
            <p:nvPr/>
          </p:nvSpPr>
          <p:spPr>
            <a:xfrm>
              <a:off x="533400" y="2705100"/>
              <a:ext cx="11125200" cy="228600"/>
            </a:xfrm>
            <a:prstGeom prst="rect">
              <a:avLst/>
            </a:prstGeom>
            <a:solidFill>
              <a:srgbClr val="FF7900">
                <a:alpha val="12000"/>
              </a:srgbClr>
            </a:solidFill>
            <a:ln>
              <a:noFill/>
            </a:ln>
          </p:spPr>
        </p:sp>
        <p:sp>
          <p:nvSpPr>
            <p:cNvPr id="30" name="TextBox 30"/>
            <p:cNvSpPr txBox="1"/>
            <p:nvPr/>
          </p:nvSpPr>
          <p:spPr>
            <a:xfrm>
              <a:off x="661035" y="2745581"/>
              <a:ext cx="1647835" cy="220028"/>
            </a:xfrm>
            <a:prstGeom prst="rect">
              <a:avLst/>
            </a:prstGeom>
            <a:noFill/>
            <a:ln>
              <a:noFill/>
            </a:ln>
          </p:spPr>
          <p:txBody>
            <a:bodyPr wrap="none" lIns="0" tIns="0" rIns="0" bIns="0" anchor="t" anchorCtr="0">
              <a:spAutoFit/>
            </a:bodyPr>
            <a:lstStyle/>
            <a:p>
              <a:pPr algn="l"/>
              <a:r>
                <a:rPr lang="en-US" sz="1120" b="1" dirty="0">
                  <a:solidFill>
                    <a:srgbClr val="FF7900"/>
                  </a:solidFill>
                  <a:latin typeface="Arial"/>
                  <a:ea typeface="Arial"/>
                  <a:cs typeface="Arial"/>
                </a:rPr>
                <a:t>OEU · Orange Europe</a:t>
              </a:r>
            </a:p>
          </p:txBody>
        </p:sp>
        <p:sp>
          <p:nvSpPr>
            <p:cNvPr id="31" name="Rectangle 31"/>
            <p:cNvSpPr/>
            <p:nvPr/>
          </p:nvSpPr>
          <p:spPr>
            <a:xfrm>
              <a:off x="533400" y="3019425"/>
              <a:ext cx="5286375" cy="1238250"/>
            </a:xfrm>
            <a:prstGeom prst="roundRect">
              <a:avLst>
                <a:gd name="adj" fmla="val 3077"/>
              </a:avLst>
            </a:prstGeom>
            <a:solidFill>
              <a:srgbClr val="FBF6F1"/>
            </a:solidFill>
            <a:ln w="9525">
              <a:solidFill>
                <a:srgbClr val="E8E2DA"/>
              </a:solidFill>
            </a:ln>
          </p:spPr>
        </p:sp>
        <p:sp>
          <p:nvSpPr>
            <p:cNvPr id="32" name="Rectangle 32"/>
            <p:cNvSpPr/>
            <p:nvPr/>
          </p:nvSpPr>
          <p:spPr>
            <a:xfrm>
              <a:off x="533400" y="3019425"/>
              <a:ext cx="38100" cy="1238250"/>
            </a:xfrm>
            <a:prstGeom prst="rect">
              <a:avLst/>
            </a:prstGeom>
            <a:solidFill>
              <a:srgbClr val="FF7900"/>
            </a:solidFill>
            <a:ln>
              <a:noFill/>
            </a:ln>
          </p:spPr>
        </p:sp>
        <p:sp>
          <p:nvSpPr>
            <p:cNvPr id="33" name="TextBox 33"/>
            <p:cNvSpPr txBox="1"/>
            <p:nvPr/>
          </p:nvSpPr>
          <p:spPr>
            <a:xfrm>
              <a:off x="736092" y="315944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34" name="TextBox 34"/>
            <p:cNvSpPr txBox="1"/>
            <p:nvPr/>
          </p:nvSpPr>
          <p:spPr>
            <a:xfrm>
              <a:off x="734568" y="3422332"/>
              <a:ext cx="1952566" cy="322707"/>
            </a:xfrm>
            <a:prstGeom prst="rect">
              <a:avLst/>
            </a:prstGeom>
            <a:noFill/>
            <a:ln>
              <a:noFill/>
            </a:ln>
          </p:spPr>
          <p:txBody>
            <a:bodyPr wrap="none" lIns="0" tIns="0" rIns="0" bIns="0" anchor="t" anchorCtr="0">
              <a:spAutoFit/>
            </a:bodyPr>
            <a:lstStyle/>
            <a:p>
              <a:pPr algn="l"/>
              <a:r>
                <a:rPr lang="zh-CN" sz="1650" b="1" dirty="0">
                  <a:solidFill>
                    <a:srgbClr val="FF7900"/>
                  </a:solidFill>
                  <a:latin typeface="Arial"/>
                  <a:ea typeface="Microsoft YaHei"/>
                  <a:cs typeface="Arial"/>
                </a:rPr>
                <a:t>约19-20亿€（估）</a:t>
              </a:r>
            </a:p>
          </p:txBody>
        </p:sp>
        <p:sp>
          <p:nvSpPr>
            <p:cNvPr id="35" name="TextBox 35"/>
            <p:cNvSpPr txBox="1"/>
            <p:nvPr/>
          </p:nvSpPr>
          <p:spPr>
            <a:xfrm>
              <a:off x="737616" y="3696652"/>
              <a:ext cx="2342959"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连接管理为主，占比约70-75%（估）</a:t>
              </a:r>
            </a:p>
          </p:txBody>
        </p:sp>
        <p:sp>
          <p:nvSpPr>
            <p:cNvPr id="36" name="TextBox 36"/>
            <p:cNvSpPr txBox="1"/>
            <p:nvPr/>
          </p:nvSpPr>
          <p:spPr>
            <a:xfrm>
              <a:off x="737997" y="3914299"/>
              <a:ext cx="251686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波兰/罗马尼亚/西班牙国别构成数据待补充</a:t>
              </a:r>
            </a:p>
          </p:txBody>
        </p:sp>
        <p:sp>
          <p:nvSpPr>
            <p:cNvPr id="37" name="Polygon 37"/>
            <p:cNvSpPr/>
            <p:nvPr/>
          </p:nvSpPr>
          <p:spPr>
            <a:xfrm>
              <a:off x="5905500" y="3552825"/>
              <a:ext cx="190500" cy="171450"/>
            </a:xfrm>
            <a:custGeom>
              <a:avLst/>
              <a:gdLst/>
              <a:ahLst/>
              <a:cxnLst/>
              <a:rect l="l" t="t" r="r" b="b"/>
              <a:pathLst>
                <a:path w="190500" h="171450">
                  <a:moveTo>
                    <a:pt x="0" y="0"/>
                  </a:moveTo>
                  <a:lnTo>
                    <a:pt x="190500" y="85725"/>
                  </a:lnTo>
                  <a:lnTo>
                    <a:pt x="0" y="171450"/>
                  </a:lnTo>
                  <a:close/>
                </a:path>
              </a:pathLst>
            </a:custGeom>
            <a:solidFill>
              <a:srgbClr val="FF7900"/>
            </a:solidFill>
            <a:ln>
              <a:noFill/>
            </a:ln>
          </p:spPr>
        </p:sp>
        <p:sp>
          <p:nvSpPr>
            <p:cNvPr id="38" name="Rectangle 38"/>
            <p:cNvSpPr/>
            <p:nvPr/>
          </p:nvSpPr>
          <p:spPr>
            <a:xfrm>
              <a:off x="6191250" y="3019425"/>
              <a:ext cx="5467350" cy="1238250"/>
            </a:xfrm>
            <a:prstGeom prst="roundRect">
              <a:avLst>
                <a:gd name="adj" fmla="val 3077"/>
              </a:avLst>
            </a:prstGeom>
            <a:solidFill>
              <a:srgbClr val="FBF6F1"/>
            </a:solidFill>
            <a:ln w="9525">
              <a:solidFill>
                <a:srgbClr val="E8E2DA"/>
              </a:solidFill>
            </a:ln>
          </p:spPr>
        </p:sp>
        <p:sp>
          <p:nvSpPr>
            <p:cNvPr id="39" name="Rectangle 39"/>
            <p:cNvSpPr/>
            <p:nvPr/>
          </p:nvSpPr>
          <p:spPr>
            <a:xfrm>
              <a:off x="6191250" y="3019425"/>
              <a:ext cx="38100" cy="1238250"/>
            </a:xfrm>
            <a:prstGeom prst="rect">
              <a:avLst/>
            </a:prstGeom>
            <a:solidFill>
              <a:srgbClr val="FF7900"/>
            </a:solidFill>
            <a:ln>
              <a:noFill/>
            </a:ln>
          </p:spPr>
        </p:sp>
        <p:sp>
          <p:nvSpPr>
            <p:cNvPr id="40" name="TextBox 40"/>
            <p:cNvSpPr txBox="1"/>
            <p:nvPr/>
          </p:nvSpPr>
          <p:spPr>
            <a:xfrm>
              <a:off x="6393942" y="315944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41" name="TextBox 41"/>
            <p:cNvSpPr txBox="1"/>
            <p:nvPr/>
          </p:nvSpPr>
          <p:spPr>
            <a:xfrm>
              <a:off x="6392418" y="3422332"/>
              <a:ext cx="1696014" cy="322707"/>
            </a:xfrm>
            <a:prstGeom prst="rect">
              <a:avLst/>
            </a:prstGeom>
            <a:noFill/>
            <a:ln>
              <a:noFill/>
            </a:ln>
          </p:spPr>
          <p:txBody>
            <a:bodyPr wrap="none" lIns="0" tIns="0" rIns="0" bIns="0" anchor="t" anchorCtr="0">
              <a:spAutoFit/>
            </a:bodyPr>
            <a:lstStyle/>
            <a:p>
              <a:pPr algn="l"/>
              <a:r>
                <a:rPr lang="zh-CN" sz="1650" b="1" dirty="0">
                  <a:solidFill>
                    <a:srgbClr val="FF7900"/>
                  </a:solidFill>
                  <a:latin typeface="Arial"/>
                  <a:ea typeface="Microsoft YaHei"/>
                  <a:cs typeface="Arial"/>
                </a:rPr>
                <a:t>约7-8亿€（估）</a:t>
              </a:r>
            </a:p>
          </p:txBody>
        </p:sp>
        <p:sp>
          <p:nvSpPr>
            <p:cNvPr id="42" name="TextBox 42"/>
            <p:cNvSpPr txBox="1"/>
            <p:nvPr/>
          </p:nvSpPr>
          <p:spPr>
            <a:xfrm>
              <a:off x="6395466" y="3696652"/>
              <a:ext cx="2786552"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波兰IT集成(BlueSoft/Craftware)+西班牙</a:t>
              </a:r>
            </a:p>
          </p:txBody>
        </p:sp>
        <p:sp>
          <p:nvSpPr>
            <p:cNvPr id="43" name="TextBox 43"/>
            <p:cNvSpPr txBox="1"/>
            <p:nvPr/>
          </p:nvSpPr>
          <p:spPr>
            <a:xfrm>
              <a:off x="6395466" y="3887152"/>
              <a:ext cx="3035379"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IoT/5G专网集成（Correos/TotalEnergies等）</a:t>
              </a:r>
            </a:p>
          </p:txBody>
        </p:sp>
      </p:grpSp>
      <p:grpSp>
        <p:nvGrpSpPr>
          <p:cNvPr id="60" name="Group 60"/>
          <p:cNvGrpSpPr/>
          <p:nvPr/>
        </p:nvGrpSpPr>
        <p:grpSpPr>
          <a:xfrm>
            <a:off x="533400" y="4400550"/>
            <a:ext cx="11125200" cy="1552575"/>
            <a:chOff x="533400" y="4400550"/>
            <a:chExt cx="11125200" cy="1552575"/>
          </a:xfrm>
        </p:grpSpPr>
        <p:sp>
          <p:nvSpPr>
            <p:cNvPr id="45" name="Rectangle 45"/>
            <p:cNvSpPr/>
            <p:nvPr/>
          </p:nvSpPr>
          <p:spPr>
            <a:xfrm>
              <a:off x="533400" y="4400550"/>
              <a:ext cx="11125200" cy="228600"/>
            </a:xfrm>
            <a:prstGeom prst="rect">
              <a:avLst/>
            </a:prstGeom>
            <a:solidFill>
              <a:srgbClr val="FFA640">
                <a:alpha val="18000"/>
              </a:srgbClr>
            </a:solidFill>
            <a:ln>
              <a:noFill/>
            </a:ln>
          </p:spPr>
        </p:sp>
        <p:sp>
          <p:nvSpPr>
            <p:cNvPr id="46" name="TextBox 46"/>
            <p:cNvSpPr txBox="1"/>
            <p:nvPr/>
          </p:nvSpPr>
          <p:spPr>
            <a:xfrm>
              <a:off x="661035" y="4441031"/>
              <a:ext cx="2192620" cy="220028"/>
            </a:xfrm>
            <a:prstGeom prst="rect">
              <a:avLst/>
            </a:prstGeom>
            <a:noFill/>
            <a:ln>
              <a:noFill/>
            </a:ln>
          </p:spPr>
          <p:txBody>
            <a:bodyPr wrap="none" lIns="0" tIns="0" rIns="0" bIns="0" anchor="t" anchorCtr="0">
              <a:spAutoFit/>
            </a:bodyPr>
            <a:lstStyle/>
            <a:p>
              <a:pPr algn="l"/>
              <a:r>
                <a:rPr lang="en-US" sz="1120" b="1" dirty="0">
                  <a:solidFill>
                    <a:srgbClr val="E08A2E"/>
                  </a:solidFill>
                  <a:latin typeface="Arial"/>
                  <a:ea typeface="Arial"/>
                  <a:cs typeface="Arial"/>
                </a:rPr>
                <a:t>OMEA · Middle East &amp; Africa</a:t>
              </a:r>
            </a:p>
          </p:txBody>
        </p:sp>
        <p:sp>
          <p:nvSpPr>
            <p:cNvPr id="47" name="Rectangle 47"/>
            <p:cNvSpPr/>
            <p:nvPr/>
          </p:nvSpPr>
          <p:spPr>
            <a:xfrm>
              <a:off x="533400" y="4714875"/>
              <a:ext cx="5286375" cy="1238250"/>
            </a:xfrm>
            <a:prstGeom prst="roundRect">
              <a:avLst>
                <a:gd name="adj" fmla="val 3077"/>
              </a:avLst>
            </a:prstGeom>
            <a:solidFill>
              <a:srgbClr val="FBF6F1"/>
            </a:solidFill>
            <a:ln w="9525">
              <a:solidFill>
                <a:srgbClr val="E8E2DA"/>
              </a:solidFill>
            </a:ln>
          </p:spPr>
        </p:sp>
        <p:sp>
          <p:nvSpPr>
            <p:cNvPr id="48" name="Rectangle 48"/>
            <p:cNvSpPr/>
            <p:nvPr/>
          </p:nvSpPr>
          <p:spPr>
            <a:xfrm>
              <a:off x="533400" y="4714875"/>
              <a:ext cx="38100" cy="1238250"/>
            </a:xfrm>
            <a:prstGeom prst="rect">
              <a:avLst/>
            </a:prstGeom>
            <a:solidFill>
              <a:srgbClr val="FFA640"/>
            </a:solidFill>
            <a:ln>
              <a:noFill/>
            </a:ln>
          </p:spPr>
        </p:sp>
        <p:sp>
          <p:nvSpPr>
            <p:cNvPr id="49" name="TextBox 49"/>
            <p:cNvSpPr txBox="1"/>
            <p:nvPr/>
          </p:nvSpPr>
          <p:spPr>
            <a:xfrm>
              <a:off x="736092" y="485489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50" name="TextBox 50"/>
            <p:cNvSpPr txBox="1"/>
            <p:nvPr/>
          </p:nvSpPr>
          <p:spPr>
            <a:xfrm>
              <a:off x="734568" y="5117782"/>
              <a:ext cx="1847613" cy="322707"/>
            </a:xfrm>
            <a:prstGeom prst="rect">
              <a:avLst/>
            </a:prstGeom>
            <a:noFill/>
            <a:ln>
              <a:noFill/>
            </a:ln>
          </p:spPr>
          <p:txBody>
            <a:bodyPr wrap="none" lIns="0" tIns="0" rIns="0" bIns="0" anchor="t" anchorCtr="0">
              <a:spAutoFit/>
            </a:bodyPr>
            <a:lstStyle/>
            <a:p>
              <a:pPr algn="l"/>
              <a:r>
                <a:rPr lang="zh-CN" sz="1650" b="1" dirty="0">
                  <a:solidFill>
                    <a:srgbClr val="E08A2E"/>
                  </a:solidFill>
                  <a:latin typeface="Arial"/>
                  <a:ea typeface="Microsoft YaHei"/>
                  <a:cs typeface="Arial"/>
                </a:rPr>
                <a:t>11.9亿€ / 91.7%</a:t>
              </a:r>
            </a:p>
          </p:txBody>
        </p:sp>
        <p:sp>
          <p:nvSpPr>
            <p:cNvPr id="51" name="TextBox 51"/>
            <p:cNvSpPr txBox="1"/>
            <p:nvPr/>
          </p:nvSpPr>
          <p:spPr>
            <a:xfrm>
              <a:off x="737616" y="5392102"/>
              <a:ext cx="2878226"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移动数据/FBB连接管理，三区域中占比最高</a:t>
              </a:r>
            </a:p>
          </p:txBody>
        </p:sp>
        <p:sp>
          <p:nvSpPr>
            <p:cNvPr id="52" name="TextBox 52"/>
            <p:cNvSpPr txBox="1"/>
            <p:nvPr/>
          </p:nvSpPr>
          <p:spPr>
            <a:xfrm>
              <a:off x="737997" y="5609749"/>
              <a:ext cx="2936138"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SOHO 98M€/季(+9%) · SME 49M€/季(+7.4%)</a:t>
              </a:r>
            </a:p>
          </p:txBody>
        </p:sp>
        <p:sp>
          <p:nvSpPr>
            <p:cNvPr id="53" name="Polygon 53"/>
            <p:cNvSpPr/>
            <p:nvPr/>
          </p:nvSpPr>
          <p:spPr>
            <a:xfrm>
              <a:off x="5905500" y="5248275"/>
              <a:ext cx="190500" cy="171450"/>
            </a:xfrm>
            <a:custGeom>
              <a:avLst/>
              <a:gdLst/>
              <a:ahLst/>
              <a:cxnLst/>
              <a:rect l="l" t="t" r="r" b="b"/>
              <a:pathLst>
                <a:path w="190500" h="171450">
                  <a:moveTo>
                    <a:pt x="0" y="0"/>
                  </a:moveTo>
                  <a:lnTo>
                    <a:pt x="190500" y="85725"/>
                  </a:lnTo>
                  <a:lnTo>
                    <a:pt x="0" y="171450"/>
                  </a:lnTo>
                  <a:close/>
                </a:path>
              </a:pathLst>
            </a:custGeom>
            <a:solidFill>
              <a:srgbClr val="E08A2E"/>
            </a:solidFill>
            <a:ln>
              <a:noFill/>
            </a:ln>
          </p:spPr>
        </p:sp>
        <p:sp>
          <p:nvSpPr>
            <p:cNvPr id="54" name="Rectangle 54"/>
            <p:cNvSpPr/>
            <p:nvPr/>
          </p:nvSpPr>
          <p:spPr>
            <a:xfrm>
              <a:off x="6191250" y="4714875"/>
              <a:ext cx="5467350" cy="1238250"/>
            </a:xfrm>
            <a:prstGeom prst="roundRect">
              <a:avLst>
                <a:gd name="adj" fmla="val 3077"/>
              </a:avLst>
            </a:prstGeom>
            <a:solidFill>
              <a:srgbClr val="FBF6F1"/>
            </a:solidFill>
            <a:ln w="9525">
              <a:solidFill>
                <a:srgbClr val="E8E2DA"/>
              </a:solidFill>
            </a:ln>
          </p:spPr>
        </p:sp>
        <p:sp>
          <p:nvSpPr>
            <p:cNvPr id="55" name="Rectangle 55"/>
            <p:cNvSpPr/>
            <p:nvPr/>
          </p:nvSpPr>
          <p:spPr>
            <a:xfrm>
              <a:off x="6191250" y="4714875"/>
              <a:ext cx="38100" cy="1238250"/>
            </a:xfrm>
            <a:prstGeom prst="rect">
              <a:avLst/>
            </a:prstGeom>
            <a:solidFill>
              <a:srgbClr val="FFA640"/>
            </a:solidFill>
            <a:ln>
              <a:noFill/>
            </a:ln>
          </p:spPr>
        </p:sp>
        <p:sp>
          <p:nvSpPr>
            <p:cNvPr id="56" name="TextBox 56"/>
            <p:cNvSpPr txBox="1"/>
            <p:nvPr/>
          </p:nvSpPr>
          <p:spPr>
            <a:xfrm>
              <a:off x="6393942" y="485489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57" name="TextBox 57"/>
            <p:cNvSpPr txBox="1"/>
            <p:nvPr/>
          </p:nvSpPr>
          <p:spPr>
            <a:xfrm>
              <a:off x="6392418" y="5117782"/>
              <a:ext cx="1591061" cy="322707"/>
            </a:xfrm>
            <a:prstGeom prst="rect">
              <a:avLst/>
            </a:prstGeom>
            <a:noFill/>
            <a:ln>
              <a:noFill/>
            </a:ln>
          </p:spPr>
          <p:txBody>
            <a:bodyPr wrap="none" lIns="0" tIns="0" rIns="0" bIns="0" anchor="t" anchorCtr="0">
              <a:spAutoFit/>
            </a:bodyPr>
            <a:lstStyle/>
            <a:p>
              <a:pPr algn="l"/>
              <a:r>
                <a:rPr lang="zh-CN" sz="1650" b="1" dirty="0">
                  <a:solidFill>
                    <a:srgbClr val="E08A2E"/>
                  </a:solidFill>
                  <a:latin typeface="Arial"/>
                  <a:ea typeface="Microsoft YaHei"/>
                  <a:cs typeface="Arial"/>
                </a:rPr>
                <a:t>1.1亿€ / 8.3%</a:t>
              </a:r>
            </a:p>
          </p:txBody>
        </p:sp>
        <p:sp>
          <p:nvSpPr>
            <p:cNvPr id="58" name="TextBox 58"/>
            <p:cNvSpPr txBox="1"/>
            <p:nvPr/>
          </p:nvSpPr>
          <p:spPr>
            <a:xfrm>
              <a:off x="6395466" y="5392102"/>
              <a:ext cx="2176739"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云/安全/IoT标准化打包(G3计划)</a:t>
              </a:r>
            </a:p>
          </p:txBody>
        </p:sp>
        <p:sp>
          <p:nvSpPr>
            <p:cNvPr id="59" name="TextBox 59"/>
            <p:cNvSpPr txBox="1"/>
            <p:nvPr/>
          </p:nvSpPr>
          <p:spPr>
            <a:xfrm>
              <a:off x="6395466" y="5601652"/>
              <a:ext cx="2096369" cy="205359"/>
            </a:xfrm>
            <a:prstGeom prst="rect">
              <a:avLst/>
            </a:prstGeom>
            <a:noFill/>
            <a:ln>
              <a:noFill/>
            </a:ln>
          </p:spPr>
          <p:txBody>
            <a:bodyPr wrap="none" lIns="0" tIns="0" rIns="0" bIns="0" anchor="t" anchorCtr="0">
              <a:spAutoFit/>
            </a:bodyPr>
            <a:lstStyle/>
            <a:p>
              <a:pPr algn="l"/>
              <a:r>
                <a:rPr lang="zh-CN" sz="1050" b="1" dirty="0">
                  <a:solidFill>
                    <a:srgbClr val="2E8B57"/>
                  </a:solidFill>
                  <a:latin typeface="Arial"/>
                  <a:ea typeface="Microsoft YaHei"/>
                  <a:cs typeface="Arial"/>
                </a:rPr>
                <a:t>2028目标3.01亿€，CAGR 35%</a:t>
              </a:r>
            </a:p>
          </p:txBody>
        </p:sp>
      </p:grpSp>
      <p:grpSp>
        <p:nvGrpSpPr>
          <p:cNvPr id="63" name="Group 63"/>
          <p:cNvGrpSpPr/>
          <p:nvPr/>
        </p:nvGrpSpPr>
        <p:grpSpPr>
          <a:xfrm>
            <a:off x="528447" y="6562249"/>
            <a:ext cx="11135106" cy="190690"/>
            <a:chOff x="528447" y="6562249"/>
            <a:chExt cx="11135106" cy="190690"/>
          </a:xfrm>
        </p:grpSpPr>
        <p:sp>
          <p:nvSpPr>
            <p:cNvPr id="61" name="TextBox 61"/>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62" name="TextBox 62"/>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27648"/>
            <a:ext cx="12309988" cy="562927"/>
            <a:chOff x="523494" y="227648"/>
            <a:chExt cx="12309988" cy="562927"/>
          </a:xfrm>
        </p:grpSpPr>
        <p:sp>
          <p:nvSpPr>
            <p:cNvPr id="3" name="TextBox 3"/>
            <p:cNvSpPr txBox="1"/>
            <p:nvPr/>
          </p:nvSpPr>
          <p:spPr>
            <a:xfrm>
              <a:off x="523494" y="227648"/>
              <a:ext cx="12309988"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WAN连接（企业连接产品）是三区域营收支柱，但OB之外</a:t>
              </a:r>
              <a:r>
                <a:rPr lang="zh-CN" sz="1950" b="1" dirty="0">
                  <a:solidFill>
                    <a:srgbClr val="FF7900"/>
                  </a:solidFill>
                  <a:latin typeface="Arial"/>
                  <a:ea typeface="Microsoft YaHei"/>
                  <a:cs typeface="Arial"/>
                </a:rPr>
                <a:t>缺乏国别厂商数据，不与RAN/MPN混同</a:t>
              </a:r>
            </a:p>
          </p:txBody>
        </p:sp>
        <p:sp>
          <p:nvSpPr>
            <p:cNvPr id="4" name="TextBox 4"/>
            <p:cNvSpPr txBox="1"/>
            <p:nvPr/>
          </p:nvSpPr>
          <p:spPr>
            <a:xfrm>
              <a:off x="527685" y="545306"/>
              <a:ext cx="4647091"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Catalogue：Business VPN/IP-VPN · SD-WAN · 5G专网连接 · SASE</a:t>
              </a:r>
            </a:p>
          </p:txBody>
        </p:sp>
        <p:sp>
          <p:nvSpPr>
            <p:cNvPr id="5" name="Line 5"/>
            <p:cNvSpPr/>
            <p:nvPr/>
          </p:nvSpPr>
          <p:spPr>
            <a:xfrm>
              <a:off x="533400" y="78105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6" name="Group 16"/>
          <p:cNvGrpSpPr/>
          <p:nvPr/>
        </p:nvGrpSpPr>
        <p:grpSpPr>
          <a:xfrm>
            <a:off x="528447" y="847249"/>
            <a:ext cx="6958203" cy="203358"/>
            <a:chOff x="528447" y="847249"/>
            <a:chExt cx="6958203" cy="203358"/>
          </a:xfrm>
        </p:grpSpPr>
        <p:sp>
          <p:nvSpPr>
            <p:cNvPr id="7" name="TextBox 7"/>
            <p:cNvSpPr txBox="1"/>
            <p:nvPr/>
          </p:nvSpPr>
          <p:spPr>
            <a:xfrm>
              <a:off x="528447" y="847249"/>
              <a:ext cx="2682000" cy="190690"/>
            </a:xfrm>
            <a:prstGeom prst="rect">
              <a:avLst/>
            </a:prstGeom>
            <a:noFill/>
            <a:ln>
              <a:noFill/>
            </a:ln>
          </p:spPr>
          <p:txBody>
            <a:bodyPr wrap="none" lIns="0" tIns="0" rIns="0" bIns="0" anchor="t" anchorCtr="0">
              <a:spAutoFit/>
            </a:bodyPr>
            <a:lstStyle/>
            <a:p>
              <a:pPr algn="l"/>
              <a:r>
                <a:rPr lang="zh-CN" sz="980" b="1" dirty="0">
                  <a:solidFill>
                    <a:srgbClr val="6B6B6B"/>
                  </a:solidFill>
                  <a:latin typeface="Arial"/>
                  <a:ea typeface="Microsoft YaHei"/>
                  <a:cs typeface="Arial"/>
                </a:rPr>
                <a:t>OB内部产品构成（2,715M€拆分，估）：</a:t>
              </a:r>
            </a:p>
          </p:txBody>
        </p:sp>
        <p:sp>
          <p:nvSpPr>
            <p:cNvPr id="8" name="Rectangle 8"/>
            <p:cNvSpPr/>
            <p:nvPr/>
          </p:nvSpPr>
          <p:spPr>
            <a:xfrm>
              <a:off x="3143250" y="857250"/>
              <a:ext cx="1714500" cy="152400"/>
            </a:xfrm>
            <a:prstGeom prst="rect">
              <a:avLst/>
            </a:prstGeom>
            <a:solidFill>
              <a:srgbClr val="B85C00"/>
            </a:solidFill>
            <a:ln>
              <a:noFill/>
            </a:ln>
          </p:spPr>
        </p:sp>
        <p:sp>
          <p:nvSpPr>
            <p:cNvPr id="9" name="TextBox 9"/>
            <p:cNvSpPr txBox="1"/>
            <p:nvPr/>
          </p:nvSpPr>
          <p:spPr>
            <a:xfrm>
              <a:off x="3646254" y="874395"/>
              <a:ext cx="708492"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IP-VPN 45%</a:t>
              </a:r>
            </a:p>
          </p:txBody>
        </p:sp>
        <p:sp>
          <p:nvSpPr>
            <p:cNvPr id="10" name="Rectangle 10"/>
            <p:cNvSpPr/>
            <p:nvPr/>
          </p:nvSpPr>
          <p:spPr>
            <a:xfrm>
              <a:off x="4876800" y="857250"/>
              <a:ext cx="1143000" cy="152400"/>
            </a:xfrm>
            <a:prstGeom prst="rect">
              <a:avLst/>
            </a:prstGeom>
            <a:solidFill>
              <a:srgbClr val="D97B2E"/>
            </a:solidFill>
            <a:ln>
              <a:noFill/>
            </a:ln>
          </p:spPr>
        </p:sp>
        <p:sp>
          <p:nvSpPr>
            <p:cNvPr id="11" name="TextBox 11"/>
            <p:cNvSpPr txBox="1"/>
            <p:nvPr/>
          </p:nvSpPr>
          <p:spPr>
            <a:xfrm>
              <a:off x="5063810" y="874395"/>
              <a:ext cx="768980"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SD-WAN 30%</a:t>
              </a:r>
            </a:p>
          </p:txBody>
        </p:sp>
        <p:sp>
          <p:nvSpPr>
            <p:cNvPr id="12" name="Rectangle 12"/>
            <p:cNvSpPr/>
            <p:nvPr/>
          </p:nvSpPr>
          <p:spPr>
            <a:xfrm>
              <a:off x="6038850" y="857250"/>
              <a:ext cx="571500" cy="152400"/>
            </a:xfrm>
            <a:prstGeom prst="rect">
              <a:avLst/>
            </a:prstGeom>
            <a:solidFill>
              <a:srgbClr val="FFA640"/>
            </a:solidFill>
            <a:ln>
              <a:noFill/>
            </a:ln>
          </p:spPr>
        </p:sp>
        <p:sp>
          <p:nvSpPr>
            <p:cNvPr id="13" name="TextBox 13"/>
            <p:cNvSpPr txBox="1"/>
            <p:nvPr/>
          </p:nvSpPr>
          <p:spPr>
            <a:xfrm>
              <a:off x="6119612" y="882491"/>
              <a:ext cx="409975" cy="161925"/>
            </a:xfrm>
            <a:prstGeom prst="rect">
              <a:avLst/>
            </a:prstGeom>
            <a:noFill/>
            <a:ln>
              <a:noFill/>
            </a:ln>
          </p:spPr>
          <p:txBody>
            <a:bodyPr wrap="none" lIns="0" tIns="0" rIns="0" bIns="0" anchor="t" anchorCtr="0">
              <a:spAutoFit/>
            </a:bodyPr>
            <a:lstStyle/>
            <a:p>
              <a:pPr algn="ctr"/>
              <a:r>
                <a:rPr lang="en-US" sz="820" b="1" dirty="0">
                  <a:solidFill>
                    <a:srgbClr val="1A1A1A"/>
                  </a:solidFill>
                  <a:latin typeface="Arial"/>
                  <a:ea typeface="Arial"/>
                  <a:cs typeface="Arial"/>
                </a:rPr>
                <a:t>5G 10%</a:t>
              </a:r>
            </a:p>
          </p:txBody>
        </p:sp>
        <p:sp>
          <p:nvSpPr>
            <p:cNvPr id="14" name="Rectangle 14"/>
            <p:cNvSpPr/>
            <p:nvPr/>
          </p:nvSpPr>
          <p:spPr>
            <a:xfrm>
              <a:off x="6629400" y="857250"/>
              <a:ext cx="857250" cy="152400"/>
            </a:xfrm>
            <a:prstGeom prst="rect">
              <a:avLst/>
            </a:prstGeom>
            <a:solidFill>
              <a:srgbClr val="FFD9A8"/>
            </a:solidFill>
            <a:ln>
              <a:noFill/>
            </a:ln>
          </p:spPr>
        </p:sp>
        <p:sp>
          <p:nvSpPr>
            <p:cNvPr id="15" name="TextBox 15"/>
            <p:cNvSpPr txBox="1"/>
            <p:nvPr/>
          </p:nvSpPr>
          <p:spPr>
            <a:xfrm>
              <a:off x="6760906" y="874395"/>
              <a:ext cx="594238"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SASE 15%</a:t>
              </a:r>
            </a:p>
          </p:txBody>
        </p:sp>
      </p:grpSp>
      <p:sp>
        <p:nvSpPr>
          <p:cNvPr id="17" name="Line 17"/>
          <p:cNvSpPr/>
          <p:nvPr/>
        </p:nvSpPr>
        <p:spPr>
          <a:xfrm>
            <a:off x="533400" y="1123950"/>
            <a:ext cx="11125200" cy="9525"/>
          </a:xfrm>
          <a:custGeom>
            <a:avLst/>
            <a:gdLst/>
            <a:ahLst/>
            <a:cxnLst/>
            <a:rect l="l" t="t" r="r" b="b"/>
            <a:pathLst>
              <a:path w="11125200" h="9525">
                <a:moveTo>
                  <a:pt x="0" y="0"/>
                </a:moveTo>
                <a:lnTo>
                  <a:pt x="11125200" y="0"/>
                </a:lnTo>
              </a:path>
            </a:pathLst>
          </a:custGeom>
          <a:noFill/>
          <a:ln w="9525">
            <a:solidFill>
              <a:srgbClr val="E8E2DA"/>
            </a:solidFill>
          </a:ln>
        </p:spPr>
      </p:sp>
      <p:grpSp>
        <p:nvGrpSpPr>
          <p:cNvPr id="41" name="Group 41"/>
          <p:cNvGrpSpPr/>
          <p:nvPr/>
        </p:nvGrpSpPr>
        <p:grpSpPr>
          <a:xfrm>
            <a:off x="526161" y="1219200"/>
            <a:ext cx="3560064" cy="4162139"/>
            <a:chOff x="526161" y="1219200"/>
            <a:chExt cx="3560064" cy="4162139"/>
          </a:xfrm>
        </p:grpSpPr>
        <p:sp>
          <p:nvSpPr>
            <p:cNvPr id="18" name="Rectangle 18"/>
            <p:cNvSpPr/>
            <p:nvPr/>
          </p:nvSpPr>
          <p:spPr>
            <a:xfrm>
              <a:off x="533400" y="1219200"/>
              <a:ext cx="3552825" cy="76200"/>
            </a:xfrm>
            <a:prstGeom prst="rect">
              <a:avLst/>
            </a:prstGeom>
            <a:solidFill>
              <a:srgbClr val="B85C00"/>
            </a:solidFill>
            <a:ln>
              <a:noFill/>
            </a:ln>
          </p:spPr>
        </p:sp>
        <p:sp>
          <p:nvSpPr>
            <p:cNvPr id="19" name="TextBox 19"/>
            <p:cNvSpPr txBox="1"/>
            <p:nvPr/>
          </p:nvSpPr>
          <p:spPr>
            <a:xfrm>
              <a:off x="526161" y="1370171"/>
              <a:ext cx="291153" cy="278702"/>
            </a:xfrm>
            <a:prstGeom prst="rect">
              <a:avLst/>
            </a:prstGeom>
            <a:noFill/>
            <a:ln>
              <a:noFill/>
            </a:ln>
          </p:spPr>
          <p:txBody>
            <a:bodyPr wrap="none" lIns="0" tIns="0" rIns="0" bIns="0" anchor="t" anchorCtr="0">
              <a:spAutoFit/>
            </a:bodyPr>
            <a:lstStyle/>
            <a:p>
              <a:pPr algn="l"/>
              <a:r>
                <a:rPr lang="en-US" sz="1420" b="1" dirty="0">
                  <a:solidFill>
                    <a:srgbClr val="B85C00"/>
                  </a:solidFill>
                  <a:latin typeface="Arial"/>
                  <a:ea typeface="Arial"/>
                  <a:cs typeface="Arial"/>
                </a:rPr>
                <a:t>OB</a:t>
              </a:r>
            </a:p>
          </p:txBody>
        </p:sp>
        <p:sp>
          <p:nvSpPr>
            <p:cNvPr id="20" name="TextBox 20"/>
            <p:cNvSpPr txBox="1"/>
            <p:nvPr/>
          </p:nvSpPr>
          <p:spPr>
            <a:xfrm>
              <a:off x="527685" y="1612106"/>
              <a:ext cx="2003679"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2,715M€/Y · 占OB收入37%</a:t>
              </a:r>
            </a:p>
          </p:txBody>
        </p:sp>
        <p:sp>
          <p:nvSpPr>
            <p:cNvPr id="21" name="TextBox 21"/>
            <p:cNvSpPr txBox="1"/>
            <p:nvPr/>
          </p:nvSpPr>
          <p:spPr>
            <a:xfrm>
              <a:off x="528447" y="1818799"/>
              <a:ext cx="345620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设备空间约180M$/年（估）· 法国企业连接份额60-65%</a:t>
              </a:r>
            </a:p>
          </p:txBody>
        </p:sp>
        <p:sp>
          <p:nvSpPr>
            <p:cNvPr id="22" name="Line 22"/>
            <p:cNvSpPr/>
            <p:nvPr/>
          </p:nvSpPr>
          <p:spPr>
            <a:xfrm>
              <a:off x="533400" y="2019300"/>
              <a:ext cx="3552825" cy="9525"/>
            </a:xfrm>
            <a:custGeom>
              <a:avLst/>
              <a:gdLst/>
              <a:ahLst/>
              <a:cxnLst/>
              <a:rect l="l" t="t" r="r" b="b"/>
              <a:pathLst>
                <a:path w="3552825" h="9525">
                  <a:moveTo>
                    <a:pt x="0" y="0"/>
                  </a:moveTo>
                  <a:lnTo>
                    <a:pt x="3552825" y="0"/>
                  </a:lnTo>
                </a:path>
              </a:pathLst>
            </a:custGeom>
            <a:noFill/>
            <a:ln w="9525">
              <a:solidFill>
                <a:srgbClr val="E8E2DA"/>
              </a:solidFill>
            </a:ln>
          </p:spPr>
        </p:sp>
        <p:grpSp>
          <p:nvGrpSpPr>
            <p:cNvPr id="36" name="Group 36"/>
            <p:cNvGrpSpPr/>
            <p:nvPr/>
          </p:nvGrpSpPr>
          <p:grpSpPr>
            <a:xfrm>
              <a:off x="762000" y="2742724"/>
              <a:ext cx="3095625" cy="1908333"/>
              <a:chOff x="762000" y="2742724"/>
              <a:chExt cx="3095625" cy="1908333"/>
            </a:xfrm>
          </p:grpSpPr>
          <p:sp>
            <p:nvSpPr>
              <p:cNvPr id="23" name="Line 23"/>
              <p:cNvSpPr/>
              <p:nvPr/>
            </p:nvSpPr>
            <p:spPr>
              <a:xfrm>
                <a:off x="762000" y="438150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24" name="Rectangle 24"/>
              <p:cNvSpPr/>
              <p:nvPr/>
            </p:nvSpPr>
            <p:spPr>
              <a:xfrm>
                <a:off x="952500" y="2933700"/>
                <a:ext cx="571500" cy="1447800"/>
              </a:xfrm>
              <a:prstGeom prst="rect">
                <a:avLst/>
              </a:prstGeom>
              <a:solidFill>
                <a:srgbClr val="C7C2B8"/>
              </a:solidFill>
              <a:ln>
                <a:noFill/>
              </a:ln>
            </p:spPr>
          </p:sp>
          <p:sp>
            <p:nvSpPr>
              <p:cNvPr id="25" name="TextBox 25"/>
              <p:cNvSpPr txBox="1"/>
              <p:nvPr/>
            </p:nvSpPr>
            <p:spPr>
              <a:xfrm>
                <a:off x="1058555" y="274272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70M$</a:t>
                </a:r>
              </a:p>
            </p:txBody>
          </p:sp>
          <p:sp>
            <p:nvSpPr>
              <p:cNvPr id="26" name="TextBox 26"/>
              <p:cNvSpPr txBox="1"/>
              <p:nvPr/>
            </p:nvSpPr>
            <p:spPr>
              <a:xfrm>
                <a:off x="1080326" y="4474845"/>
                <a:ext cx="315849"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Cisco</a:t>
                </a:r>
              </a:p>
            </p:txBody>
          </p:sp>
          <p:sp>
            <p:nvSpPr>
              <p:cNvPr id="27" name="Rectangle 27"/>
              <p:cNvSpPr/>
              <p:nvPr/>
            </p:nvSpPr>
            <p:spPr>
              <a:xfrm>
                <a:off x="1666875" y="3343275"/>
                <a:ext cx="571500" cy="1038225"/>
              </a:xfrm>
              <a:prstGeom prst="rect">
                <a:avLst/>
              </a:prstGeom>
              <a:solidFill>
                <a:srgbClr val="C7C2B8"/>
              </a:solidFill>
              <a:ln>
                <a:noFill/>
              </a:ln>
            </p:spPr>
          </p:sp>
          <p:sp>
            <p:nvSpPr>
              <p:cNvPr id="28" name="TextBox 28"/>
              <p:cNvSpPr txBox="1"/>
              <p:nvPr/>
            </p:nvSpPr>
            <p:spPr>
              <a:xfrm>
                <a:off x="1772930" y="3152299"/>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50M$</a:t>
                </a:r>
              </a:p>
            </p:txBody>
          </p:sp>
          <p:sp>
            <p:nvSpPr>
              <p:cNvPr id="29" name="TextBox 29"/>
              <p:cNvSpPr txBox="1"/>
              <p:nvPr/>
            </p:nvSpPr>
            <p:spPr>
              <a:xfrm>
                <a:off x="1694681" y="4474845"/>
                <a:ext cx="51588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Fortinet</a:t>
                </a:r>
              </a:p>
            </p:txBody>
          </p:sp>
          <p:sp>
            <p:nvSpPr>
              <p:cNvPr id="30" name="Rectangle 30"/>
              <p:cNvSpPr/>
              <p:nvPr/>
            </p:nvSpPr>
            <p:spPr>
              <a:xfrm>
                <a:off x="2381250" y="3657600"/>
                <a:ext cx="571500" cy="723900"/>
              </a:xfrm>
              <a:prstGeom prst="rect">
                <a:avLst/>
              </a:prstGeom>
              <a:solidFill>
                <a:srgbClr val="C7C2B8"/>
              </a:solidFill>
              <a:ln>
                <a:noFill/>
              </a:ln>
            </p:spPr>
          </p:sp>
          <p:sp>
            <p:nvSpPr>
              <p:cNvPr id="31" name="TextBox 31"/>
              <p:cNvSpPr txBox="1"/>
              <p:nvPr/>
            </p:nvSpPr>
            <p:spPr>
              <a:xfrm>
                <a:off x="2487305" y="346662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35M$</a:t>
                </a:r>
              </a:p>
            </p:txBody>
          </p:sp>
          <p:sp>
            <p:nvSpPr>
              <p:cNvPr id="32" name="TextBox 32"/>
              <p:cNvSpPr txBox="1"/>
              <p:nvPr/>
            </p:nvSpPr>
            <p:spPr>
              <a:xfrm>
                <a:off x="2433866" y="4474845"/>
                <a:ext cx="466268"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VMware</a:t>
                </a:r>
              </a:p>
            </p:txBody>
          </p:sp>
          <p:sp>
            <p:nvSpPr>
              <p:cNvPr id="33" name="Rectangle 33"/>
              <p:cNvSpPr/>
              <p:nvPr/>
            </p:nvSpPr>
            <p:spPr>
              <a:xfrm>
                <a:off x="3095625" y="3867150"/>
                <a:ext cx="571500" cy="514350"/>
              </a:xfrm>
              <a:prstGeom prst="rect">
                <a:avLst/>
              </a:prstGeom>
              <a:solidFill>
                <a:srgbClr val="C7C2B8"/>
              </a:solidFill>
              <a:ln>
                <a:noFill/>
              </a:ln>
            </p:spPr>
          </p:sp>
          <p:sp>
            <p:nvSpPr>
              <p:cNvPr id="34" name="TextBox 34"/>
              <p:cNvSpPr txBox="1"/>
              <p:nvPr/>
            </p:nvSpPr>
            <p:spPr>
              <a:xfrm>
                <a:off x="3201680" y="367617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25M$</a:t>
                </a:r>
              </a:p>
            </p:txBody>
          </p:sp>
          <p:sp>
            <p:nvSpPr>
              <p:cNvPr id="35" name="TextBox 35"/>
              <p:cNvSpPr txBox="1"/>
              <p:nvPr/>
            </p:nvSpPr>
            <p:spPr>
              <a:xfrm>
                <a:off x="3060706" y="4474845"/>
                <a:ext cx="641337"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OneAccess</a:t>
                </a:r>
              </a:p>
            </p:txBody>
          </p:sp>
        </p:grpSp>
        <p:sp>
          <p:nvSpPr>
            <p:cNvPr id="37" name="Line 37"/>
            <p:cNvSpPr/>
            <p:nvPr/>
          </p:nvSpPr>
          <p:spPr>
            <a:xfrm>
              <a:off x="533400" y="4705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8" name="TextBox 38"/>
            <p:cNvSpPr txBox="1"/>
            <p:nvPr/>
          </p:nvSpPr>
          <p:spPr>
            <a:xfrm>
              <a:off x="527685" y="4793456"/>
              <a:ext cx="1124569" cy="220028"/>
            </a:xfrm>
            <a:prstGeom prst="rect">
              <a:avLst/>
            </a:prstGeom>
            <a:noFill/>
            <a:ln>
              <a:noFill/>
            </a:ln>
          </p:spPr>
          <p:txBody>
            <a:bodyPr wrap="none" lIns="0" tIns="0" rIns="0" bIns="0" anchor="t" anchorCtr="0">
              <a:spAutoFit/>
            </a:bodyPr>
            <a:lstStyle/>
            <a:p>
              <a:pPr algn="l"/>
              <a:r>
                <a:rPr lang="zh-CN" sz="1120" b="1" dirty="0">
                  <a:solidFill>
                    <a:srgbClr val="C0392B"/>
                  </a:solidFill>
                  <a:latin typeface="Arial"/>
                  <a:ea typeface="Microsoft YaHei"/>
                  <a:cs typeface="Arial"/>
                </a:rPr>
                <a:t>华为：基本缺席</a:t>
              </a:r>
            </a:p>
          </p:txBody>
        </p:sp>
        <p:sp>
          <p:nvSpPr>
            <p:cNvPr id="39" name="TextBox 39"/>
            <p:cNvSpPr txBox="1"/>
            <p:nvPr/>
          </p:nvSpPr>
          <p:spPr>
            <a:xfrm>
              <a:off x="528447" y="5019199"/>
              <a:ext cx="254782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法国WAN目录不含华为；SD-WAN CPE空间</a:t>
              </a:r>
            </a:p>
          </p:txBody>
        </p:sp>
        <p:sp>
          <p:nvSpPr>
            <p:cNvPr id="40" name="TextBox 40"/>
            <p:cNvSpPr txBox="1"/>
            <p:nvPr/>
          </p:nvSpPr>
          <p:spPr>
            <a:xfrm>
              <a:off x="528447" y="5190649"/>
              <a:ext cx="219477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被Fortinet/Cisco/VMware三家瓜分</a:t>
              </a:r>
            </a:p>
          </p:txBody>
        </p:sp>
      </p:grpSp>
      <p:grpSp>
        <p:nvGrpSpPr>
          <p:cNvPr id="59" name="Group 59"/>
          <p:cNvGrpSpPr/>
          <p:nvPr/>
        </p:nvGrpSpPr>
        <p:grpSpPr>
          <a:xfrm>
            <a:off x="4307586" y="1219200"/>
            <a:ext cx="3560064" cy="3990689"/>
            <a:chOff x="4307586" y="1219200"/>
            <a:chExt cx="3560064" cy="3990689"/>
          </a:xfrm>
        </p:grpSpPr>
        <p:sp>
          <p:nvSpPr>
            <p:cNvPr id="42" name="Rectangle 42"/>
            <p:cNvSpPr/>
            <p:nvPr/>
          </p:nvSpPr>
          <p:spPr>
            <a:xfrm>
              <a:off x="4314825" y="1219200"/>
              <a:ext cx="3552825" cy="76200"/>
            </a:xfrm>
            <a:prstGeom prst="rect">
              <a:avLst/>
            </a:prstGeom>
            <a:solidFill>
              <a:srgbClr val="FF7900"/>
            </a:solidFill>
            <a:ln>
              <a:noFill/>
            </a:ln>
          </p:spPr>
        </p:sp>
        <p:sp>
          <p:nvSpPr>
            <p:cNvPr id="43" name="TextBox 43"/>
            <p:cNvSpPr txBox="1"/>
            <p:nvPr/>
          </p:nvSpPr>
          <p:spPr>
            <a:xfrm>
              <a:off x="4307586" y="1370171"/>
              <a:ext cx="408207" cy="278702"/>
            </a:xfrm>
            <a:prstGeom prst="rect">
              <a:avLst/>
            </a:prstGeom>
            <a:noFill/>
            <a:ln>
              <a:noFill/>
            </a:ln>
          </p:spPr>
          <p:txBody>
            <a:bodyPr wrap="none" lIns="0" tIns="0" rIns="0" bIns="0" anchor="t" anchorCtr="0">
              <a:spAutoFit/>
            </a:bodyPr>
            <a:lstStyle/>
            <a:p>
              <a:pPr algn="l"/>
              <a:r>
                <a:rPr lang="en-US" sz="1420" b="1" dirty="0">
                  <a:solidFill>
                    <a:srgbClr val="FF7900"/>
                  </a:solidFill>
                  <a:latin typeface="Arial"/>
                  <a:ea typeface="Arial"/>
                  <a:cs typeface="Arial"/>
                </a:rPr>
                <a:t>OEU</a:t>
              </a:r>
            </a:p>
          </p:txBody>
        </p:sp>
        <p:sp>
          <p:nvSpPr>
            <p:cNvPr id="44" name="TextBox 44"/>
            <p:cNvSpPr txBox="1"/>
            <p:nvPr/>
          </p:nvSpPr>
          <p:spPr>
            <a:xfrm>
              <a:off x="4309110" y="1612106"/>
              <a:ext cx="133959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约8-9亿€/Y（估）</a:t>
              </a:r>
            </a:p>
          </p:txBody>
        </p:sp>
        <p:sp>
          <p:nvSpPr>
            <p:cNvPr id="45" name="TextBox 45"/>
            <p:cNvSpPr txBox="1"/>
            <p:nvPr/>
          </p:nvSpPr>
          <p:spPr>
            <a:xfrm>
              <a:off x="4309872" y="1818799"/>
              <a:ext cx="2055495"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波兰ICT占B2B36%（含WAN集成）</a:t>
              </a:r>
            </a:p>
          </p:txBody>
        </p:sp>
        <p:sp>
          <p:nvSpPr>
            <p:cNvPr id="46" name="Line 46"/>
            <p:cNvSpPr/>
            <p:nvPr/>
          </p:nvSpPr>
          <p:spPr>
            <a:xfrm>
              <a:off x="4314825" y="201930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47" name="Rectangle 47"/>
            <p:cNvSpPr/>
            <p:nvPr/>
          </p:nvSpPr>
          <p:spPr>
            <a:xfrm>
              <a:off x="4314825" y="2171700"/>
              <a:ext cx="3552825" cy="2209800"/>
            </a:xfrm>
            <a:prstGeom prst="roundRect">
              <a:avLst>
                <a:gd name="adj" fmla="val 1724"/>
              </a:avLst>
            </a:prstGeom>
            <a:noFill/>
            <a:ln w="19050">
              <a:solidFill>
                <a:srgbClr val="CBD5E1"/>
              </a:solidFill>
              <a:prstDash val="lgDash"/>
            </a:ln>
          </p:spPr>
        </p:sp>
        <p:sp>
          <p:nvSpPr>
            <p:cNvPr id="48" name="TextBox 48"/>
            <p:cNvSpPr txBox="1"/>
            <p:nvPr/>
          </p:nvSpPr>
          <p:spPr>
            <a:xfrm>
              <a:off x="5474960" y="2589371"/>
              <a:ext cx="1223029" cy="278702"/>
            </a:xfrm>
            <a:prstGeom prst="rect">
              <a:avLst/>
            </a:prstGeom>
            <a:noFill/>
            <a:ln>
              <a:noFill/>
            </a:ln>
          </p:spPr>
          <p:txBody>
            <a:bodyPr wrap="none" lIns="0" tIns="0" rIns="0" bIns="0" anchor="t" anchorCtr="0">
              <a:spAutoFit/>
            </a:bodyPr>
            <a:lstStyle/>
            <a:p>
              <a:pPr algn="ctr"/>
              <a:r>
                <a:rPr lang="zh-CN" sz="1420" b="1" dirty="0">
                  <a:solidFill>
                    <a:srgbClr val="9B9B9B"/>
                  </a:solidFill>
                  <a:latin typeface="Arial"/>
                  <a:ea typeface="Microsoft YaHei"/>
                  <a:cs typeface="Arial"/>
                </a:rPr>
                <a:t>国别厂商份额</a:t>
              </a:r>
            </a:p>
          </p:txBody>
        </p:sp>
        <p:sp>
          <p:nvSpPr>
            <p:cNvPr id="49" name="TextBox 49"/>
            <p:cNvSpPr txBox="1"/>
            <p:nvPr/>
          </p:nvSpPr>
          <p:spPr>
            <a:xfrm>
              <a:off x="5575673" y="2837021"/>
              <a:ext cx="1021604" cy="278702"/>
            </a:xfrm>
            <a:prstGeom prst="rect">
              <a:avLst/>
            </a:prstGeom>
            <a:noFill/>
            <a:ln>
              <a:noFill/>
            </a:ln>
          </p:spPr>
          <p:txBody>
            <a:bodyPr wrap="none" lIns="0" tIns="0" rIns="0" bIns="0" anchor="t" anchorCtr="0">
              <a:spAutoFit/>
            </a:bodyPr>
            <a:lstStyle/>
            <a:p>
              <a:pPr algn="ctr"/>
              <a:r>
                <a:rPr lang="zh-CN" sz="1420" b="1" dirty="0">
                  <a:solidFill>
                    <a:srgbClr val="9B9B9B"/>
                  </a:solidFill>
                  <a:latin typeface="Arial"/>
                  <a:ea typeface="Microsoft YaHei"/>
                  <a:cs typeface="Arial"/>
                </a:rPr>
                <a:t>数据待补充</a:t>
              </a:r>
            </a:p>
          </p:txBody>
        </p:sp>
        <p:sp>
          <p:nvSpPr>
            <p:cNvPr id="50" name="TextBox 50"/>
            <p:cNvSpPr txBox="1"/>
            <p:nvPr/>
          </p:nvSpPr>
          <p:spPr>
            <a:xfrm>
              <a:off x="4500372" y="3228499"/>
              <a:ext cx="241607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全球SD-WAN份额参考（非OEU专属）：</a:t>
              </a:r>
            </a:p>
          </p:txBody>
        </p:sp>
        <p:sp>
          <p:nvSpPr>
            <p:cNvPr id="51" name="TextBox 51"/>
            <p:cNvSpPr txBox="1"/>
            <p:nvPr/>
          </p:nvSpPr>
          <p:spPr>
            <a:xfrm>
              <a:off x="4500372" y="3438049"/>
              <a:ext cx="2868090"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Cisco/Fortinet/Broadcom(VMware)合计&gt;45%</a:t>
              </a:r>
            </a:p>
          </p:txBody>
        </p:sp>
        <p:sp>
          <p:nvSpPr>
            <p:cNvPr id="52" name="TextBox 52"/>
            <p:cNvSpPr txBox="1"/>
            <p:nvPr/>
          </p:nvSpPr>
          <p:spPr>
            <a:xfrm>
              <a:off x="4500372" y="3666649"/>
              <a:ext cx="2349548"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Fortinet企业客户约4万家（全球口径）</a:t>
              </a:r>
            </a:p>
          </p:txBody>
        </p:sp>
        <p:sp>
          <p:nvSpPr>
            <p:cNvPr id="53" name="TextBox 53"/>
            <p:cNvSpPr txBox="1"/>
            <p:nvPr/>
          </p:nvSpPr>
          <p:spPr>
            <a:xfrm>
              <a:off x="4500372" y="3933349"/>
              <a:ext cx="2272077"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注：罗马尼亚Open RAN/波兰高风险</a:t>
              </a:r>
            </a:p>
          </p:txBody>
        </p:sp>
        <p:sp>
          <p:nvSpPr>
            <p:cNvPr id="54" name="TextBox 54"/>
            <p:cNvSpPr txBox="1"/>
            <p:nvPr/>
          </p:nvSpPr>
          <p:spPr>
            <a:xfrm>
              <a:off x="4500372" y="4123849"/>
              <a:ext cx="2143213"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供应商认定是移动网络RAN议题，</a:t>
              </a:r>
            </a:p>
          </p:txBody>
        </p:sp>
        <p:sp>
          <p:nvSpPr>
            <p:cNvPr id="55" name="TextBox 55"/>
            <p:cNvSpPr txBox="1"/>
            <p:nvPr/>
          </p:nvSpPr>
          <p:spPr>
            <a:xfrm>
              <a:off x="4500372" y="4314349"/>
              <a:ext cx="2026718"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非企业WAN连接市场，不可混同</a:t>
              </a:r>
            </a:p>
          </p:txBody>
        </p:sp>
        <p:sp>
          <p:nvSpPr>
            <p:cNvPr id="56" name="Line 56"/>
            <p:cNvSpPr/>
            <p:nvPr/>
          </p:nvSpPr>
          <p:spPr>
            <a:xfrm>
              <a:off x="4314825" y="4705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57" name="TextBox 57"/>
            <p:cNvSpPr txBox="1"/>
            <p:nvPr/>
          </p:nvSpPr>
          <p:spPr>
            <a:xfrm>
              <a:off x="4309110" y="4793456"/>
              <a:ext cx="2170500" cy="220028"/>
            </a:xfrm>
            <a:prstGeom prst="rect">
              <a:avLst/>
            </a:prstGeom>
            <a:noFill/>
            <a:ln>
              <a:noFill/>
            </a:ln>
          </p:spPr>
          <p:txBody>
            <a:bodyPr wrap="none" lIns="0" tIns="0" rIns="0" bIns="0" anchor="t" anchorCtr="0">
              <a:spAutoFit/>
            </a:bodyPr>
            <a:lstStyle/>
            <a:p>
              <a:pPr algn="l"/>
              <a:r>
                <a:rPr lang="zh-CN" sz="1120" b="1" dirty="0">
                  <a:solidFill>
                    <a:srgbClr val="9B9B9B"/>
                  </a:solidFill>
                  <a:latin typeface="Arial"/>
                  <a:ea typeface="Microsoft YaHei"/>
                  <a:cs typeface="Arial"/>
                </a:rPr>
                <a:t>华为：企业WAN厂商目录未见</a:t>
              </a:r>
            </a:p>
          </p:txBody>
        </p:sp>
        <p:sp>
          <p:nvSpPr>
            <p:cNvPr id="58" name="TextBox 58"/>
            <p:cNvSpPr txBox="1"/>
            <p:nvPr/>
          </p:nvSpPr>
          <p:spPr>
            <a:xfrm>
              <a:off x="4309872" y="5019199"/>
              <a:ext cx="199308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（移动网络RAN层面见P12脚注）</a:t>
              </a:r>
            </a:p>
          </p:txBody>
        </p:sp>
      </p:grpSp>
      <p:grpSp>
        <p:nvGrpSpPr>
          <p:cNvPr id="77" name="Group 77"/>
          <p:cNvGrpSpPr/>
          <p:nvPr/>
        </p:nvGrpSpPr>
        <p:grpSpPr>
          <a:xfrm>
            <a:off x="8089011" y="1219200"/>
            <a:ext cx="3560064" cy="3990689"/>
            <a:chOff x="8089011" y="1219200"/>
            <a:chExt cx="3560064" cy="3990689"/>
          </a:xfrm>
        </p:grpSpPr>
        <p:sp>
          <p:nvSpPr>
            <p:cNvPr id="60" name="Rectangle 60"/>
            <p:cNvSpPr/>
            <p:nvPr/>
          </p:nvSpPr>
          <p:spPr>
            <a:xfrm>
              <a:off x="8096250" y="1219200"/>
              <a:ext cx="3552825" cy="76200"/>
            </a:xfrm>
            <a:prstGeom prst="rect">
              <a:avLst/>
            </a:prstGeom>
            <a:solidFill>
              <a:srgbClr val="FFA640"/>
            </a:solidFill>
            <a:ln>
              <a:noFill/>
            </a:ln>
          </p:spPr>
        </p:sp>
        <p:sp>
          <p:nvSpPr>
            <p:cNvPr id="61" name="TextBox 61"/>
            <p:cNvSpPr txBox="1"/>
            <p:nvPr/>
          </p:nvSpPr>
          <p:spPr>
            <a:xfrm>
              <a:off x="8089011" y="1370171"/>
              <a:ext cx="567827" cy="278702"/>
            </a:xfrm>
            <a:prstGeom prst="rect">
              <a:avLst/>
            </a:prstGeom>
            <a:noFill/>
            <a:ln>
              <a:noFill/>
            </a:ln>
          </p:spPr>
          <p:txBody>
            <a:bodyPr wrap="none" lIns="0" tIns="0" rIns="0" bIns="0" anchor="t" anchorCtr="0">
              <a:spAutoFit/>
            </a:bodyPr>
            <a:lstStyle/>
            <a:p>
              <a:pPr algn="l"/>
              <a:r>
                <a:rPr lang="en-US" sz="1420" b="1" dirty="0">
                  <a:solidFill>
                    <a:srgbClr val="E08A2E"/>
                  </a:solidFill>
                  <a:latin typeface="Arial"/>
                  <a:ea typeface="Arial"/>
                  <a:cs typeface="Arial"/>
                </a:rPr>
                <a:t>OMEA</a:t>
              </a:r>
            </a:p>
          </p:txBody>
        </p:sp>
        <p:sp>
          <p:nvSpPr>
            <p:cNvPr id="62" name="TextBox 62"/>
            <p:cNvSpPr txBox="1"/>
            <p:nvPr/>
          </p:nvSpPr>
          <p:spPr>
            <a:xfrm>
              <a:off x="8090535" y="1612106"/>
              <a:ext cx="133959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约6-7亿€/Y（估）</a:t>
              </a:r>
            </a:p>
          </p:txBody>
        </p:sp>
        <p:sp>
          <p:nvSpPr>
            <p:cNvPr id="63" name="TextBox 63"/>
            <p:cNvSpPr txBox="1"/>
            <p:nvPr/>
          </p:nvSpPr>
          <p:spPr>
            <a:xfrm>
              <a:off x="8091297" y="1818799"/>
              <a:ext cx="1840535"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核心连接以移动数据+FBB为主</a:t>
              </a:r>
            </a:p>
          </p:txBody>
        </p:sp>
        <p:sp>
          <p:nvSpPr>
            <p:cNvPr id="64" name="Line 64"/>
            <p:cNvSpPr/>
            <p:nvPr/>
          </p:nvSpPr>
          <p:spPr>
            <a:xfrm>
              <a:off x="8096250" y="201930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65" name="Rectangle 65"/>
            <p:cNvSpPr/>
            <p:nvPr/>
          </p:nvSpPr>
          <p:spPr>
            <a:xfrm>
              <a:off x="8096250" y="2171700"/>
              <a:ext cx="3552825" cy="2209800"/>
            </a:xfrm>
            <a:prstGeom prst="roundRect">
              <a:avLst>
                <a:gd name="adj" fmla="val 1724"/>
              </a:avLst>
            </a:prstGeom>
            <a:noFill/>
            <a:ln w="19050">
              <a:solidFill>
                <a:srgbClr val="CBD5E1"/>
              </a:solidFill>
              <a:prstDash val="lgDash"/>
            </a:ln>
          </p:spPr>
        </p:sp>
        <p:sp>
          <p:nvSpPr>
            <p:cNvPr id="66" name="TextBox 66"/>
            <p:cNvSpPr txBox="1"/>
            <p:nvPr/>
          </p:nvSpPr>
          <p:spPr>
            <a:xfrm>
              <a:off x="9256385" y="2589371"/>
              <a:ext cx="1223029" cy="278702"/>
            </a:xfrm>
            <a:prstGeom prst="rect">
              <a:avLst/>
            </a:prstGeom>
            <a:noFill/>
            <a:ln>
              <a:noFill/>
            </a:ln>
          </p:spPr>
          <p:txBody>
            <a:bodyPr wrap="none" lIns="0" tIns="0" rIns="0" bIns="0" anchor="t" anchorCtr="0">
              <a:spAutoFit/>
            </a:bodyPr>
            <a:lstStyle/>
            <a:p>
              <a:pPr algn="ctr"/>
              <a:r>
                <a:rPr lang="zh-CN" sz="1420" b="1" dirty="0">
                  <a:solidFill>
                    <a:srgbClr val="9B9B9B"/>
                  </a:solidFill>
                  <a:latin typeface="Arial"/>
                  <a:ea typeface="Microsoft YaHei"/>
                  <a:cs typeface="Arial"/>
                </a:rPr>
                <a:t>国别厂商份额</a:t>
              </a:r>
            </a:p>
          </p:txBody>
        </p:sp>
        <p:sp>
          <p:nvSpPr>
            <p:cNvPr id="67" name="TextBox 67"/>
            <p:cNvSpPr txBox="1"/>
            <p:nvPr/>
          </p:nvSpPr>
          <p:spPr>
            <a:xfrm>
              <a:off x="9357098" y="2837021"/>
              <a:ext cx="1021604" cy="278702"/>
            </a:xfrm>
            <a:prstGeom prst="rect">
              <a:avLst/>
            </a:prstGeom>
            <a:noFill/>
            <a:ln>
              <a:noFill/>
            </a:ln>
          </p:spPr>
          <p:txBody>
            <a:bodyPr wrap="none" lIns="0" tIns="0" rIns="0" bIns="0" anchor="t" anchorCtr="0">
              <a:spAutoFit/>
            </a:bodyPr>
            <a:lstStyle/>
            <a:p>
              <a:pPr algn="ctr"/>
              <a:r>
                <a:rPr lang="zh-CN" sz="1420" b="1" dirty="0">
                  <a:solidFill>
                    <a:srgbClr val="9B9B9B"/>
                  </a:solidFill>
                  <a:latin typeface="Arial"/>
                  <a:ea typeface="Microsoft YaHei"/>
                  <a:cs typeface="Arial"/>
                </a:rPr>
                <a:t>数据待补充</a:t>
              </a:r>
            </a:p>
          </p:txBody>
        </p:sp>
        <p:sp>
          <p:nvSpPr>
            <p:cNvPr id="68" name="TextBox 68"/>
            <p:cNvSpPr txBox="1"/>
            <p:nvPr/>
          </p:nvSpPr>
          <p:spPr>
            <a:xfrm>
              <a:off x="8281797" y="3228499"/>
              <a:ext cx="1875206"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企业固定WAN在OMEA仍属新兴</a:t>
              </a:r>
            </a:p>
          </p:txBody>
        </p:sp>
        <p:sp>
          <p:nvSpPr>
            <p:cNvPr id="69" name="TextBox 69"/>
            <p:cNvSpPr txBox="1"/>
            <p:nvPr/>
          </p:nvSpPr>
          <p:spPr>
            <a:xfrm>
              <a:off x="8281797" y="3418999"/>
              <a:ext cx="168798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品类，G3计划正标准化打包</a:t>
              </a:r>
            </a:p>
          </p:txBody>
        </p:sp>
        <p:sp>
          <p:nvSpPr>
            <p:cNvPr id="70" name="TextBox 70"/>
            <p:cNvSpPr txBox="1"/>
            <p:nvPr/>
          </p:nvSpPr>
          <p:spPr>
            <a:xfrm>
              <a:off x="8281797" y="3628549"/>
              <a:ext cx="2125653"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SD-WAN/SASE推广情况见Offering</a:t>
              </a:r>
            </a:p>
          </p:txBody>
        </p:sp>
        <p:sp>
          <p:nvSpPr>
            <p:cNvPr id="71" name="TextBox 71"/>
            <p:cNvSpPr txBox="1"/>
            <p:nvPr/>
          </p:nvSpPr>
          <p:spPr>
            <a:xfrm>
              <a:off x="8281797" y="3799999"/>
              <a:ext cx="1972285"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页（P05），MPN移动专网见P12</a:t>
              </a:r>
            </a:p>
          </p:txBody>
        </p:sp>
        <p:sp>
          <p:nvSpPr>
            <p:cNvPr id="72" name="TextBox 72"/>
            <p:cNvSpPr txBox="1"/>
            <p:nvPr/>
          </p:nvSpPr>
          <p:spPr>
            <a:xfrm>
              <a:off x="8281797" y="4085749"/>
              <a:ext cx="2004875"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注：华为MPN份额（45%估）属</a:t>
              </a:r>
            </a:p>
          </p:txBody>
        </p:sp>
        <p:sp>
          <p:nvSpPr>
            <p:cNvPr id="73" name="TextBox 73"/>
            <p:cNvSpPr txBox="1"/>
            <p:nvPr/>
          </p:nvSpPr>
          <p:spPr>
            <a:xfrm>
              <a:off x="8281797" y="4276249"/>
              <a:ext cx="2026718"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移动专网产品，非企业WAN连接</a:t>
              </a:r>
            </a:p>
          </p:txBody>
        </p:sp>
        <p:sp>
          <p:nvSpPr>
            <p:cNvPr id="74" name="Line 74"/>
            <p:cNvSpPr/>
            <p:nvPr/>
          </p:nvSpPr>
          <p:spPr>
            <a:xfrm>
              <a:off x="8096250" y="4705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75" name="TextBox 75"/>
            <p:cNvSpPr txBox="1"/>
            <p:nvPr/>
          </p:nvSpPr>
          <p:spPr>
            <a:xfrm>
              <a:off x="8090535" y="4793456"/>
              <a:ext cx="2002479" cy="220028"/>
            </a:xfrm>
            <a:prstGeom prst="rect">
              <a:avLst/>
            </a:prstGeom>
            <a:noFill/>
            <a:ln>
              <a:noFill/>
            </a:ln>
          </p:spPr>
          <p:txBody>
            <a:bodyPr wrap="none" lIns="0" tIns="0" rIns="0" bIns="0" anchor="t" anchorCtr="0">
              <a:spAutoFit/>
            </a:bodyPr>
            <a:lstStyle/>
            <a:p>
              <a:pPr algn="l"/>
              <a:r>
                <a:rPr lang="zh-CN" sz="1120" b="1" dirty="0">
                  <a:solidFill>
                    <a:srgbClr val="9B9B9B"/>
                  </a:solidFill>
                  <a:latin typeface="Arial"/>
                  <a:ea typeface="Microsoft YaHei"/>
                  <a:cs typeface="Arial"/>
                </a:rPr>
                <a:t>华为：企业WAN数据待补充</a:t>
              </a:r>
            </a:p>
          </p:txBody>
        </p:sp>
        <p:sp>
          <p:nvSpPr>
            <p:cNvPr id="76" name="TextBox 76"/>
            <p:cNvSpPr txBox="1"/>
            <p:nvPr/>
          </p:nvSpPr>
          <p:spPr>
            <a:xfrm>
              <a:off x="8091297" y="5019199"/>
              <a:ext cx="188214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（MPN层面参与度高，见P12）</a:t>
              </a:r>
            </a:p>
          </p:txBody>
        </p:sp>
      </p:grpSp>
      <p:grpSp>
        <p:nvGrpSpPr>
          <p:cNvPr id="82" name="Group 82"/>
          <p:cNvGrpSpPr/>
          <p:nvPr/>
        </p:nvGrpSpPr>
        <p:grpSpPr>
          <a:xfrm>
            <a:off x="533400" y="5486400"/>
            <a:ext cx="11125200" cy="838200"/>
            <a:chOff x="533400" y="5486400"/>
            <a:chExt cx="11125200" cy="838200"/>
          </a:xfrm>
        </p:grpSpPr>
        <p:sp>
          <p:nvSpPr>
            <p:cNvPr id="78" name="Rectangle 78"/>
            <p:cNvSpPr/>
            <p:nvPr/>
          </p:nvSpPr>
          <p:spPr>
            <a:xfrm>
              <a:off x="533400" y="5486400"/>
              <a:ext cx="11125200" cy="838200"/>
            </a:xfrm>
            <a:prstGeom prst="roundRect">
              <a:avLst>
                <a:gd name="adj" fmla="val 4545"/>
              </a:avLst>
            </a:prstGeom>
            <a:solidFill>
              <a:srgbClr val="FBF6F1"/>
            </a:solidFill>
            <a:ln w="9525">
              <a:solidFill>
                <a:srgbClr val="E8E2DA"/>
              </a:solidFill>
            </a:ln>
          </p:spPr>
        </p:sp>
        <p:sp>
          <p:nvSpPr>
            <p:cNvPr id="79" name="TextBox 79"/>
            <p:cNvSpPr txBox="1"/>
            <p:nvPr/>
          </p:nvSpPr>
          <p:spPr>
            <a:xfrm>
              <a:off x="756666" y="5601652"/>
              <a:ext cx="401988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Orange集团全球网络资产（三区域WAN交付的共同底座）：</a:t>
              </a:r>
            </a:p>
          </p:txBody>
        </p:sp>
        <p:sp>
          <p:nvSpPr>
            <p:cNvPr id="80" name="TextBox 80"/>
            <p:cNvSpPr txBox="1"/>
            <p:nvPr/>
          </p:nvSpPr>
          <p:spPr>
            <a:xfrm>
              <a:off x="756666" y="5849302"/>
              <a:ext cx="4370640"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 xml:space="preserve">陆地光纤 </a:t>
              </a:r>
              <a:r>
                <a:rPr lang="zh-CN" sz="1050" b="1" dirty="0">
                  <a:solidFill>
                    <a:srgbClr val="B85C00"/>
                  </a:solidFill>
                  <a:latin typeface="Arial"/>
                  <a:ea typeface="Microsoft YaHei"/>
                  <a:cs typeface="Arial"/>
                </a:rPr>
                <a:t>45,000公里</a:t>
              </a:r>
              <a:r>
                <a:rPr lang="zh-CN" sz="1050" dirty="0">
                  <a:solidFill>
                    <a:srgbClr val="1A1A1A"/>
                  </a:solidFill>
                  <a:latin typeface="Arial"/>
                  <a:ea typeface="Microsoft YaHei"/>
                  <a:cs typeface="Arial"/>
                </a:rPr>
                <a:t xml:space="preserve"> · 卫星天线 </a:t>
              </a:r>
              <a:r>
                <a:rPr lang="zh-CN" sz="1050" b="1" dirty="0">
                  <a:solidFill>
                    <a:srgbClr val="B85C00"/>
                  </a:solidFill>
                  <a:latin typeface="Arial"/>
                  <a:ea typeface="Microsoft YaHei"/>
                  <a:cs typeface="Arial"/>
                </a:rPr>
                <a:t>2,500个</a:t>
              </a:r>
              <a:r>
                <a:rPr lang="zh-CN" sz="1050" dirty="0">
                  <a:solidFill>
                    <a:srgbClr val="1A1A1A"/>
                  </a:solidFill>
                  <a:latin typeface="Arial"/>
                  <a:ea typeface="Microsoft YaHei"/>
                  <a:cs typeface="Arial"/>
                </a:rPr>
                <a:t xml:space="preserve"> · 海底电缆 </a:t>
              </a:r>
              <a:r>
                <a:rPr lang="zh-CN" sz="1050" b="1" dirty="0">
                  <a:solidFill>
                    <a:srgbClr val="B85C00"/>
                  </a:solidFill>
                  <a:latin typeface="Arial"/>
                  <a:ea typeface="Microsoft YaHei"/>
                  <a:cs typeface="Arial"/>
                </a:rPr>
                <a:t>450,000公里</a:t>
              </a:r>
            </a:p>
          </p:txBody>
        </p:sp>
        <p:sp>
          <p:nvSpPr>
            <p:cNvPr id="81" name="TextBox 81"/>
            <p:cNvSpPr txBox="1"/>
            <p:nvPr/>
          </p:nvSpPr>
          <p:spPr>
            <a:xfrm>
              <a:off x="757047" y="6085999"/>
              <a:ext cx="652176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数据来源：Orange Business国防安全部门(DD&amp;S)公开披露；国别设备/厂商拆分数据仍需分市场定向调研补齐</a:t>
              </a:r>
            </a:p>
          </p:txBody>
        </p:sp>
      </p:grpSp>
      <p:grpSp>
        <p:nvGrpSpPr>
          <p:cNvPr id="85" name="Group 85"/>
          <p:cNvGrpSpPr/>
          <p:nvPr/>
        </p:nvGrpSpPr>
        <p:grpSpPr>
          <a:xfrm>
            <a:off x="528447" y="6562249"/>
            <a:ext cx="11135106" cy="190690"/>
            <a:chOff x="528447" y="6562249"/>
            <a:chExt cx="11135106" cy="190690"/>
          </a:xfrm>
        </p:grpSpPr>
        <p:sp>
          <p:nvSpPr>
            <p:cNvPr id="83" name="TextBox 83"/>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84" name="TextBox 84"/>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1069219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LAN管理服务是数据洼地——三区域均缺乏精细拆分，但格局同样</a:t>
              </a:r>
              <a:r>
                <a:rPr lang="zh-CN" sz="2250" b="1" dirty="0">
                  <a:solidFill>
                    <a:srgbClr val="FF7900"/>
                  </a:solidFill>
                  <a:latin typeface="Arial"/>
                  <a:ea typeface="Microsoft YaHei"/>
                  <a:cs typeface="Arial"/>
                </a:rPr>
                <a:t>排除华为</a:t>
              </a:r>
            </a:p>
          </p:txBody>
        </p:sp>
        <p:sp>
          <p:nvSpPr>
            <p:cNvPr id="4" name="TextBox 4"/>
            <p:cNvSpPr txBox="1"/>
            <p:nvPr/>
          </p:nvSpPr>
          <p:spPr>
            <a:xfrm>
              <a:off x="527304" y="708660"/>
              <a:ext cx="373623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Catalogue：Managed LAN · SD-LAN · Cloud Wi-Fi</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5" name="Group 25"/>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171053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年收入约300M€（估）</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447" y="2123599"/>
              <a:ext cx="313723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设备空间约60M$（估）· AP:交换机采购比例约3:2</a:t>
              </a:r>
            </a:p>
          </p:txBody>
        </p:sp>
        <p:sp>
          <p:nvSpPr>
            <p:cNvPr id="12" name="TextBox 12"/>
            <p:cNvSpPr txBox="1"/>
            <p:nvPr/>
          </p:nvSpPr>
          <p:spPr>
            <a:xfrm>
              <a:off x="528447" y="2314099"/>
              <a:ext cx="2936138"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模式：SD-LAN管理服务 + 传统LAN托管服务并行</a:t>
              </a:r>
            </a:p>
          </p:txBody>
        </p:sp>
        <p:grpSp>
          <p:nvGrpSpPr>
            <p:cNvPr id="23" name="Group 23"/>
            <p:cNvGrpSpPr/>
            <p:nvPr/>
          </p:nvGrpSpPr>
          <p:grpSpPr>
            <a:xfrm>
              <a:off x="762000" y="3134678"/>
              <a:ext cx="3095625" cy="1618011"/>
              <a:chOff x="762000" y="3134678"/>
              <a:chExt cx="3095625" cy="1618011"/>
            </a:xfrm>
          </p:grpSpPr>
          <p:sp>
            <p:nvSpPr>
              <p:cNvPr id="13" name="Line 13"/>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4" name="Rectangle 14"/>
              <p:cNvSpPr/>
              <p:nvPr/>
            </p:nvSpPr>
            <p:spPr>
              <a:xfrm>
                <a:off x="1047750" y="3333750"/>
                <a:ext cx="666750" cy="1143000"/>
              </a:xfrm>
              <a:prstGeom prst="rect">
                <a:avLst/>
              </a:prstGeom>
              <a:solidFill>
                <a:srgbClr val="C7C2B8"/>
              </a:solidFill>
              <a:ln>
                <a:noFill/>
              </a:ln>
            </p:spPr>
          </p:sp>
          <p:sp>
            <p:nvSpPr>
              <p:cNvPr id="15" name="TextBox 15"/>
              <p:cNvSpPr txBox="1"/>
              <p:nvPr/>
            </p:nvSpPr>
            <p:spPr>
              <a:xfrm>
                <a:off x="1187607" y="3134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30M$</a:t>
                </a:r>
              </a:p>
            </p:txBody>
          </p:sp>
          <p:sp>
            <p:nvSpPr>
              <p:cNvPr id="16" name="TextBox 16"/>
              <p:cNvSpPr txBox="1"/>
              <p:nvPr/>
            </p:nvSpPr>
            <p:spPr>
              <a:xfrm>
                <a:off x="1210246" y="4561999"/>
                <a:ext cx="341757"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Cisco</a:t>
                </a:r>
              </a:p>
            </p:txBody>
          </p:sp>
          <p:sp>
            <p:nvSpPr>
              <p:cNvPr id="17" name="Rectangle 17"/>
              <p:cNvSpPr/>
              <p:nvPr/>
            </p:nvSpPr>
            <p:spPr>
              <a:xfrm>
                <a:off x="1905000" y="3714750"/>
                <a:ext cx="666750" cy="762000"/>
              </a:xfrm>
              <a:prstGeom prst="rect">
                <a:avLst/>
              </a:prstGeom>
              <a:solidFill>
                <a:srgbClr val="C7C2B8"/>
              </a:solidFill>
              <a:ln>
                <a:noFill/>
              </a:ln>
            </p:spPr>
          </p:sp>
          <p:sp>
            <p:nvSpPr>
              <p:cNvPr id="18" name="TextBox 18"/>
              <p:cNvSpPr txBox="1"/>
              <p:nvPr/>
            </p:nvSpPr>
            <p:spPr>
              <a:xfrm>
                <a:off x="2044857" y="3515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20M$</a:t>
                </a:r>
              </a:p>
            </p:txBody>
          </p:sp>
          <p:sp>
            <p:nvSpPr>
              <p:cNvPr id="19" name="TextBox 19"/>
              <p:cNvSpPr txBox="1"/>
              <p:nvPr/>
            </p:nvSpPr>
            <p:spPr>
              <a:xfrm>
                <a:off x="2119008" y="4561999"/>
                <a:ext cx="238735"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HPE</a:t>
                </a:r>
              </a:p>
            </p:txBody>
          </p:sp>
          <p:sp>
            <p:nvSpPr>
              <p:cNvPr id="20" name="Rectangle 20"/>
              <p:cNvSpPr/>
              <p:nvPr/>
            </p:nvSpPr>
            <p:spPr>
              <a:xfrm>
                <a:off x="2762250" y="4095750"/>
                <a:ext cx="666750" cy="381000"/>
              </a:xfrm>
              <a:prstGeom prst="rect">
                <a:avLst/>
              </a:prstGeom>
              <a:solidFill>
                <a:srgbClr val="C7C2B8"/>
              </a:solidFill>
              <a:ln>
                <a:noFill/>
              </a:ln>
            </p:spPr>
          </p:sp>
          <p:sp>
            <p:nvSpPr>
              <p:cNvPr id="21" name="TextBox 21"/>
              <p:cNvSpPr txBox="1"/>
              <p:nvPr/>
            </p:nvSpPr>
            <p:spPr>
              <a:xfrm>
                <a:off x="2902107" y="3896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10M$</a:t>
                </a:r>
              </a:p>
            </p:txBody>
          </p:sp>
          <p:sp>
            <p:nvSpPr>
              <p:cNvPr id="22" name="TextBox 22"/>
              <p:cNvSpPr txBox="1"/>
              <p:nvPr/>
            </p:nvSpPr>
            <p:spPr>
              <a:xfrm>
                <a:off x="2816392" y="4561999"/>
                <a:ext cx="558466"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Fortinet</a:t>
                </a:r>
              </a:p>
            </p:txBody>
          </p:sp>
        </p:grpSp>
        <p:sp>
          <p:nvSpPr>
            <p:cNvPr id="24" name="TextBox 24"/>
            <p:cNvSpPr txBox="1"/>
            <p:nvPr/>
          </p:nvSpPr>
          <p:spPr>
            <a:xfrm>
              <a:off x="527304" y="4823460"/>
              <a:ext cx="1029919"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华为：不可见</a:t>
              </a:r>
            </a:p>
          </p:txBody>
        </p:sp>
      </p:grpSp>
      <p:grpSp>
        <p:nvGrpSpPr>
          <p:cNvPr id="37" name="Group 37"/>
          <p:cNvGrpSpPr/>
          <p:nvPr/>
        </p:nvGrpSpPr>
        <p:grpSpPr>
          <a:xfrm>
            <a:off x="4307205" y="1333500"/>
            <a:ext cx="3560445" cy="3724656"/>
            <a:chOff x="4307205" y="1333500"/>
            <a:chExt cx="3560445" cy="3724656"/>
          </a:xfrm>
        </p:grpSpPr>
        <p:sp>
          <p:nvSpPr>
            <p:cNvPr id="26" name="Rectangle 26"/>
            <p:cNvSpPr/>
            <p:nvPr/>
          </p:nvSpPr>
          <p:spPr>
            <a:xfrm>
              <a:off x="4314825" y="1333500"/>
              <a:ext cx="3552825" cy="76200"/>
            </a:xfrm>
            <a:prstGeom prst="rect">
              <a:avLst/>
            </a:prstGeom>
            <a:solidFill>
              <a:srgbClr val="FF7900"/>
            </a:solidFill>
            <a:ln>
              <a:noFill/>
            </a:ln>
          </p:spPr>
        </p:sp>
        <p:sp>
          <p:nvSpPr>
            <p:cNvPr id="27" name="TextBox 27"/>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28" name="TextBox 28"/>
            <p:cNvSpPr txBox="1"/>
            <p:nvPr/>
          </p:nvSpPr>
          <p:spPr>
            <a:xfrm>
              <a:off x="4308729" y="1756410"/>
              <a:ext cx="107045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估算约1亿€/Y</a:t>
              </a:r>
            </a:p>
          </p:txBody>
        </p:sp>
        <p:sp>
          <p:nvSpPr>
            <p:cNvPr id="29" name="Line 29"/>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0" name="TextBox 30"/>
            <p:cNvSpPr txBox="1"/>
            <p:nvPr/>
          </p:nvSpPr>
          <p:spPr>
            <a:xfrm>
              <a:off x="4309872" y="2161699"/>
              <a:ext cx="2879798"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波兰BlueSoft/Craftware具备LAN集成交付能力</a:t>
              </a:r>
            </a:p>
          </p:txBody>
        </p:sp>
        <p:sp>
          <p:nvSpPr>
            <p:cNvPr id="31" name="Rectangle 31"/>
            <p:cNvSpPr/>
            <p:nvPr/>
          </p:nvSpPr>
          <p:spPr>
            <a:xfrm>
              <a:off x="4543425" y="2438400"/>
              <a:ext cx="3095625" cy="1333500"/>
            </a:xfrm>
            <a:prstGeom prst="roundRect">
              <a:avLst>
                <a:gd name="adj" fmla="val 2857"/>
              </a:avLst>
            </a:prstGeom>
            <a:noFill/>
            <a:ln w="19050">
              <a:solidFill>
                <a:srgbClr val="CBD5E1"/>
              </a:solidFill>
              <a:prstDash val="lgDash"/>
            </a:ln>
          </p:spPr>
        </p:sp>
        <p:sp>
          <p:nvSpPr>
            <p:cNvPr id="32" name="TextBox 32"/>
            <p:cNvSpPr txBox="1"/>
            <p:nvPr/>
          </p:nvSpPr>
          <p:spPr>
            <a:xfrm>
              <a:off x="5474960" y="2894171"/>
              <a:ext cx="1223029" cy="278702"/>
            </a:xfrm>
            <a:prstGeom prst="rect">
              <a:avLst/>
            </a:prstGeom>
            <a:noFill/>
            <a:ln>
              <a:noFill/>
            </a:ln>
          </p:spPr>
          <p:txBody>
            <a:bodyPr wrap="none" lIns="0" tIns="0" rIns="0" bIns="0" anchor="t" anchorCtr="0">
              <a:spAutoFit/>
            </a:bodyPr>
            <a:lstStyle/>
            <a:p>
              <a:pPr algn="ctr"/>
              <a:r>
                <a:rPr lang="zh-CN" sz="1420" b="1" dirty="0">
                  <a:solidFill>
                    <a:srgbClr val="9B9B9B"/>
                  </a:solidFill>
                  <a:latin typeface="Arial"/>
                  <a:ea typeface="Microsoft YaHei"/>
                  <a:cs typeface="Arial"/>
                </a:rPr>
                <a:t>国别厂商份额</a:t>
              </a:r>
            </a:p>
          </p:txBody>
        </p:sp>
        <p:sp>
          <p:nvSpPr>
            <p:cNvPr id="33" name="TextBox 33"/>
            <p:cNvSpPr txBox="1"/>
            <p:nvPr/>
          </p:nvSpPr>
          <p:spPr>
            <a:xfrm>
              <a:off x="5575673" y="3141821"/>
              <a:ext cx="1021604" cy="278702"/>
            </a:xfrm>
            <a:prstGeom prst="rect">
              <a:avLst/>
            </a:prstGeom>
            <a:noFill/>
            <a:ln>
              <a:noFill/>
            </a:ln>
          </p:spPr>
          <p:txBody>
            <a:bodyPr wrap="none" lIns="0" tIns="0" rIns="0" bIns="0" anchor="t" anchorCtr="0">
              <a:spAutoFit/>
            </a:bodyPr>
            <a:lstStyle/>
            <a:p>
              <a:pPr algn="ctr"/>
              <a:r>
                <a:rPr lang="zh-CN" sz="1420" b="1" dirty="0">
                  <a:solidFill>
                    <a:srgbClr val="9B9B9B"/>
                  </a:solidFill>
                  <a:latin typeface="Arial"/>
                  <a:ea typeface="Microsoft YaHei"/>
                  <a:cs typeface="Arial"/>
                </a:rPr>
                <a:t>数据待补充</a:t>
              </a:r>
            </a:p>
          </p:txBody>
        </p:sp>
        <p:sp>
          <p:nvSpPr>
            <p:cNvPr id="34" name="TextBox 34"/>
            <p:cNvSpPr txBox="1"/>
            <p:nvPr/>
          </p:nvSpPr>
          <p:spPr>
            <a:xfrm>
              <a:off x="4309872" y="3895249"/>
              <a:ext cx="251686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建议后续定向调研：波兰/罗马尼亚/比利时</a:t>
              </a:r>
            </a:p>
          </p:txBody>
        </p:sp>
        <p:sp>
          <p:nvSpPr>
            <p:cNvPr id="35" name="TextBox 35"/>
            <p:cNvSpPr txBox="1"/>
            <p:nvPr/>
          </p:nvSpPr>
          <p:spPr>
            <a:xfrm>
              <a:off x="4309872" y="4085749"/>
              <a:ext cx="294048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企业网络设备招标记录（Vecteur Plus等数据库）</a:t>
              </a:r>
            </a:p>
          </p:txBody>
        </p:sp>
        <p:sp>
          <p:nvSpPr>
            <p:cNvPr id="36" name="TextBox 36"/>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华为：法律排除</a:t>
              </a:r>
            </a:p>
          </p:txBody>
        </p:sp>
      </p:grpSp>
      <p:grpSp>
        <p:nvGrpSpPr>
          <p:cNvPr id="49" name="Group 49"/>
          <p:cNvGrpSpPr/>
          <p:nvPr/>
        </p:nvGrpSpPr>
        <p:grpSpPr>
          <a:xfrm>
            <a:off x="8088630" y="1333500"/>
            <a:ext cx="3560445" cy="3724656"/>
            <a:chOff x="8088630" y="1333500"/>
            <a:chExt cx="3560445" cy="3724656"/>
          </a:xfrm>
        </p:grpSpPr>
        <p:sp>
          <p:nvSpPr>
            <p:cNvPr id="38" name="Rectangle 38"/>
            <p:cNvSpPr/>
            <p:nvPr/>
          </p:nvSpPr>
          <p:spPr>
            <a:xfrm>
              <a:off x="8096250" y="1333500"/>
              <a:ext cx="3552825" cy="76200"/>
            </a:xfrm>
            <a:prstGeom prst="rect">
              <a:avLst/>
            </a:prstGeom>
            <a:solidFill>
              <a:srgbClr val="FFA640"/>
            </a:solidFill>
            <a:ln>
              <a:noFill/>
            </a:ln>
          </p:spPr>
        </p:sp>
        <p:sp>
          <p:nvSpPr>
            <p:cNvPr id="39" name="TextBox 39"/>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40" name="TextBox 40"/>
            <p:cNvSpPr txBox="1"/>
            <p:nvPr/>
          </p:nvSpPr>
          <p:spPr>
            <a:xfrm>
              <a:off x="8090154" y="1756410"/>
              <a:ext cx="114300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非当前战略重点</a:t>
              </a:r>
            </a:p>
          </p:txBody>
        </p:sp>
        <p:sp>
          <p:nvSpPr>
            <p:cNvPr id="41" name="Line 41"/>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42" name="TextBox 42"/>
            <p:cNvSpPr txBox="1"/>
            <p:nvPr/>
          </p:nvSpPr>
          <p:spPr>
            <a:xfrm>
              <a:off x="8091297" y="2161699"/>
              <a:ext cx="265877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企业园区网络需求随G3计划标准化逐步释放</a:t>
              </a:r>
            </a:p>
          </p:txBody>
        </p:sp>
        <p:sp>
          <p:nvSpPr>
            <p:cNvPr id="43" name="Rectangle 43"/>
            <p:cNvSpPr/>
            <p:nvPr/>
          </p:nvSpPr>
          <p:spPr>
            <a:xfrm>
              <a:off x="8324850" y="2438400"/>
              <a:ext cx="3095625" cy="1333500"/>
            </a:xfrm>
            <a:prstGeom prst="roundRect">
              <a:avLst>
                <a:gd name="adj" fmla="val 2857"/>
              </a:avLst>
            </a:prstGeom>
            <a:noFill/>
            <a:ln w="19050">
              <a:solidFill>
                <a:srgbClr val="CBD5E1"/>
              </a:solidFill>
              <a:prstDash val="lgDash"/>
            </a:ln>
          </p:spPr>
        </p:sp>
        <p:sp>
          <p:nvSpPr>
            <p:cNvPr id="44" name="TextBox 44"/>
            <p:cNvSpPr txBox="1"/>
            <p:nvPr/>
          </p:nvSpPr>
          <p:spPr>
            <a:xfrm>
              <a:off x="9457811" y="2856071"/>
              <a:ext cx="820179" cy="278702"/>
            </a:xfrm>
            <a:prstGeom prst="rect">
              <a:avLst/>
            </a:prstGeom>
            <a:noFill/>
            <a:ln>
              <a:noFill/>
            </a:ln>
          </p:spPr>
          <p:txBody>
            <a:bodyPr wrap="none" lIns="0" tIns="0" rIns="0" bIns="0" anchor="t" anchorCtr="0">
              <a:spAutoFit/>
            </a:bodyPr>
            <a:lstStyle/>
            <a:p>
              <a:pPr algn="ctr"/>
              <a:r>
                <a:rPr lang="zh-CN" sz="1420" b="1" dirty="0">
                  <a:solidFill>
                    <a:srgbClr val="9B9B9B"/>
                  </a:solidFill>
                  <a:latin typeface="Arial"/>
                  <a:ea typeface="Microsoft YaHei"/>
                  <a:cs typeface="Arial"/>
                </a:rPr>
                <a:t>新兴机会</a:t>
              </a:r>
            </a:p>
          </p:txBody>
        </p:sp>
        <p:sp>
          <p:nvSpPr>
            <p:cNvPr id="45" name="TextBox 45"/>
            <p:cNvSpPr txBox="1"/>
            <p:nvPr/>
          </p:nvSpPr>
          <p:spPr>
            <a:xfrm>
              <a:off x="9357098" y="3103721"/>
              <a:ext cx="1021604" cy="278702"/>
            </a:xfrm>
            <a:prstGeom prst="rect">
              <a:avLst/>
            </a:prstGeom>
            <a:noFill/>
            <a:ln>
              <a:noFill/>
            </a:ln>
          </p:spPr>
          <p:txBody>
            <a:bodyPr wrap="none" lIns="0" tIns="0" rIns="0" bIns="0" anchor="t" anchorCtr="0">
              <a:spAutoFit/>
            </a:bodyPr>
            <a:lstStyle/>
            <a:p>
              <a:pPr algn="ctr"/>
              <a:r>
                <a:rPr lang="zh-CN" sz="1420" b="1" dirty="0">
                  <a:solidFill>
                    <a:srgbClr val="9B9B9B"/>
                  </a:solidFill>
                  <a:latin typeface="Arial"/>
                  <a:ea typeface="Microsoft YaHei"/>
                  <a:cs typeface="Arial"/>
                </a:rPr>
                <a:t>数据待补充</a:t>
              </a:r>
            </a:p>
          </p:txBody>
        </p:sp>
        <p:sp>
          <p:nvSpPr>
            <p:cNvPr id="46" name="TextBox 46"/>
            <p:cNvSpPr txBox="1"/>
            <p:nvPr/>
          </p:nvSpPr>
          <p:spPr>
            <a:xfrm>
              <a:off x="8091297" y="3895249"/>
              <a:ext cx="220804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核心为移动数据/FBB，LAN尚未形成</a:t>
              </a:r>
            </a:p>
          </p:txBody>
        </p:sp>
        <p:sp>
          <p:nvSpPr>
            <p:cNvPr id="47" name="TextBox 47"/>
            <p:cNvSpPr txBox="1"/>
            <p:nvPr/>
          </p:nvSpPr>
          <p:spPr>
            <a:xfrm>
              <a:off x="8091297" y="4085749"/>
              <a:ext cx="228432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独立产品线，随ICT标准化包逐步孵化</a:t>
              </a:r>
            </a:p>
          </p:txBody>
        </p:sp>
        <p:sp>
          <p:nvSpPr>
            <p:cNvPr id="48" name="TextBox 48"/>
            <p:cNvSpPr txBox="1"/>
            <p:nvPr/>
          </p:nvSpPr>
          <p:spPr>
            <a:xfrm>
              <a:off x="8090154" y="4823460"/>
              <a:ext cx="1369162"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华为：数据待补充</a:t>
              </a:r>
            </a:p>
          </p:txBody>
        </p:sp>
      </p:grpSp>
      <p:grpSp>
        <p:nvGrpSpPr>
          <p:cNvPr id="52" name="Group 52"/>
          <p:cNvGrpSpPr/>
          <p:nvPr/>
        </p:nvGrpSpPr>
        <p:grpSpPr>
          <a:xfrm>
            <a:off x="533400" y="5715000"/>
            <a:ext cx="11125200" cy="571500"/>
            <a:chOff x="533400" y="5715000"/>
            <a:chExt cx="11125200" cy="571500"/>
          </a:xfrm>
        </p:grpSpPr>
        <p:sp>
          <p:nvSpPr>
            <p:cNvPr id="50" name="Rectangle 50"/>
            <p:cNvSpPr/>
            <p:nvPr/>
          </p:nvSpPr>
          <p:spPr>
            <a:xfrm>
              <a:off x="533400" y="5715000"/>
              <a:ext cx="11125200" cy="571500"/>
            </a:xfrm>
            <a:prstGeom prst="roundRect">
              <a:avLst>
                <a:gd name="adj" fmla="val 6667"/>
              </a:avLst>
            </a:prstGeom>
            <a:solidFill>
              <a:srgbClr val="FBF6F1"/>
            </a:solidFill>
            <a:ln w="9525">
              <a:solidFill>
                <a:srgbClr val="E8E2DA"/>
              </a:solidFill>
            </a:ln>
          </p:spPr>
        </p:sp>
        <p:sp>
          <p:nvSpPr>
            <p:cNvPr id="51" name="TextBox 51"/>
            <p:cNvSpPr txBox="1"/>
            <p:nvPr/>
          </p:nvSpPr>
          <p:spPr>
            <a:xfrm>
              <a:off x="755523" y="5920264"/>
              <a:ext cx="65635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这是本次调研数据最薄弱的维度，OB之外均标注"数据待补充"，不做过度推断</a:t>
              </a:r>
            </a:p>
          </p:txBody>
        </p:sp>
      </p:grpSp>
      <p:grpSp>
        <p:nvGrpSpPr>
          <p:cNvPr id="55" name="Group 55"/>
          <p:cNvGrpSpPr/>
          <p:nvPr/>
        </p:nvGrpSpPr>
        <p:grpSpPr>
          <a:xfrm>
            <a:off x="528447" y="6562249"/>
            <a:ext cx="11135106" cy="190690"/>
            <a:chOff x="528447" y="6562249"/>
            <a:chExt cx="11135106" cy="190690"/>
          </a:xfrm>
        </p:grpSpPr>
        <p:sp>
          <p:nvSpPr>
            <p:cNvPr id="53" name="TextBox 53"/>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4" name="TextBox 54"/>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9780080"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云服务是华为最深的存量锚点——</a:t>
              </a:r>
              <a:r>
                <a:rPr lang="zh-CN" sz="2250" b="1" dirty="0">
                  <a:solidFill>
                    <a:srgbClr val="FF7900"/>
                  </a:solidFill>
                  <a:latin typeface="Arial"/>
                  <a:ea typeface="Microsoft YaHei"/>
                  <a:cs typeface="Arial"/>
                </a:rPr>
                <a:t>Flexible Engine同时支撑OB与OMEA</a:t>
              </a:r>
            </a:p>
          </p:txBody>
        </p:sp>
        <p:sp>
          <p:nvSpPr>
            <p:cNvPr id="4" name="TextBox 4"/>
            <p:cNvSpPr txBox="1"/>
            <p:nvPr/>
          </p:nvSpPr>
          <p:spPr>
            <a:xfrm>
              <a:off x="527304" y="708660"/>
              <a:ext cx="475032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Catalogue：IaaS/PaaS转售 · 主权云 · 云迁移管理 · 混合云容器</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8" name="Group 28"/>
          <p:cNvGrpSpPr/>
          <p:nvPr/>
        </p:nvGrpSpPr>
        <p:grpSpPr>
          <a:xfrm>
            <a:off x="525780" y="1333500"/>
            <a:ext cx="3560445" cy="3965734"/>
            <a:chOff x="525780" y="1333500"/>
            <a:chExt cx="3560445" cy="3965734"/>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171053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年收入约650M€（估）</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066" y="2153602"/>
              <a:ext cx="205845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Cloud Avenue+FE+Bleu三层架构</a:t>
              </a:r>
            </a:p>
          </p:txBody>
        </p:sp>
        <p:grpSp>
          <p:nvGrpSpPr>
            <p:cNvPr id="25" name="Group 25"/>
            <p:cNvGrpSpPr/>
            <p:nvPr/>
          </p:nvGrpSpPr>
          <p:grpSpPr>
            <a:xfrm>
              <a:off x="762000" y="2790349"/>
              <a:ext cx="3095625" cy="1955958"/>
              <a:chOff x="762000" y="2790349"/>
              <a:chExt cx="3095625" cy="1955958"/>
            </a:xfrm>
          </p:grpSpPr>
          <p:sp>
            <p:nvSpPr>
              <p:cNvPr id="12" name="Line 12"/>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3" name="Rectangle 13"/>
              <p:cNvSpPr/>
              <p:nvPr/>
            </p:nvSpPr>
            <p:spPr>
              <a:xfrm>
                <a:off x="904875" y="2981325"/>
                <a:ext cx="523875" cy="1495425"/>
              </a:xfrm>
              <a:prstGeom prst="rect">
                <a:avLst/>
              </a:prstGeom>
              <a:solidFill>
                <a:srgbClr val="C7C2B8"/>
              </a:solidFill>
              <a:ln>
                <a:noFill/>
              </a:ln>
            </p:spPr>
          </p:sp>
          <p:sp>
            <p:nvSpPr>
              <p:cNvPr id="14" name="TextBox 14"/>
              <p:cNvSpPr txBox="1"/>
              <p:nvPr/>
            </p:nvSpPr>
            <p:spPr>
              <a:xfrm>
                <a:off x="942310" y="2790349"/>
                <a:ext cx="43948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180M$</a:t>
                </a:r>
              </a:p>
            </p:txBody>
          </p:sp>
          <p:sp>
            <p:nvSpPr>
              <p:cNvPr id="15" name="TextBox 15"/>
              <p:cNvSpPr txBox="1"/>
              <p:nvPr/>
            </p:nvSpPr>
            <p:spPr>
              <a:xfrm>
                <a:off x="801510" y="4570095"/>
                <a:ext cx="72108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Azure(Bleu)</a:t>
                </a:r>
              </a:p>
            </p:txBody>
          </p:sp>
          <p:sp>
            <p:nvSpPr>
              <p:cNvPr id="16" name="Rectangle 16"/>
              <p:cNvSpPr/>
              <p:nvPr/>
            </p:nvSpPr>
            <p:spPr>
              <a:xfrm>
                <a:off x="1571625" y="3228975"/>
                <a:ext cx="523875" cy="1247775"/>
              </a:xfrm>
              <a:prstGeom prst="rect">
                <a:avLst/>
              </a:prstGeom>
              <a:solidFill>
                <a:srgbClr val="FF7900"/>
              </a:solidFill>
              <a:ln w="19050">
                <a:solidFill>
                  <a:srgbClr val="B85C00"/>
                </a:solidFill>
              </a:ln>
            </p:spPr>
          </p:sp>
          <p:sp>
            <p:nvSpPr>
              <p:cNvPr id="17" name="TextBox 17"/>
              <p:cNvSpPr txBox="1"/>
              <p:nvPr/>
            </p:nvSpPr>
            <p:spPr>
              <a:xfrm>
                <a:off x="1609060" y="3037999"/>
                <a:ext cx="439480" cy="190690"/>
              </a:xfrm>
              <a:prstGeom prst="rect">
                <a:avLst/>
              </a:prstGeom>
              <a:noFill/>
              <a:ln>
                <a:noFill/>
              </a:ln>
            </p:spPr>
            <p:txBody>
              <a:bodyPr wrap="none" lIns="0" tIns="0" rIns="0" bIns="0" anchor="t" anchorCtr="0">
                <a:spAutoFit/>
              </a:bodyPr>
              <a:lstStyle/>
              <a:p>
                <a:pPr algn="ctr"/>
                <a:r>
                  <a:rPr lang="en-US" sz="980" b="1" dirty="0">
                    <a:solidFill>
                      <a:srgbClr val="B85C00"/>
                    </a:solidFill>
                    <a:latin typeface="Arial"/>
                    <a:ea typeface="Arial"/>
                    <a:cs typeface="Arial"/>
                  </a:rPr>
                  <a:t>150M$</a:t>
                </a:r>
              </a:p>
            </p:txBody>
          </p:sp>
          <p:sp>
            <p:nvSpPr>
              <p:cNvPr id="18" name="TextBox 18"/>
              <p:cNvSpPr txBox="1"/>
              <p:nvPr/>
            </p:nvSpPr>
            <p:spPr>
              <a:xfrm>
                <a:off x="1341905" y="4570095"/>
                <a:ext cx="973790"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CloudAvenue/FE</a:t>
                </a:r>
              </a:p>
            </p:txBody>
          </p:sp>
          <p:sp>
            <p:nvSpPr>
              <p:cNvPr id="19" name="Rectangle 19"/>
              <p:cNvSpPr/>
              <p:nvPr/>
            </p:nvSpPr>
            <p:spPr>
              <a:xfrm>
                <a:off x="2238375" y="3981450"/>
                <a:ext cx="523875" cy="495300"/>
              </a:xfrm>
              <a:prstGeom prst="rect">
                <a:avLst/>
              </a:prstGeom>
              <a:solidFill>
                <a:srgbClr val="C7C2B8"/>
              </a:solidFill>
              <a:ln>
                <a:noFill/>
              </a:ln>
            </p:spPr>
          </p:sp>
          <p:sp>
            <p:nvSpPr>
              <p:cNvPr id="20" name="TextBox 20"/>
              <p:cNvSpPr txBox="1"/>
              <p:nvPr/>
            </p:nvSpPr>
            <p:spPr>
              <a:xfrm>
                <a:off x="2315855" y="379047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60M$</a:t>
                </a:r>
              </a:p>
            </p:txBody>
          </p:sp>
          <p:sp>
            <p:nvSpPr>
              <p:cNvPr id="21" name="TextBox 21"/>
              <p:cNvSpPr txBox="1"/>
              <p:nvPr/>
            </p:nvSpPr>
            <p:spPr>
              <a:xfrm>
                <a:off x="2372373" y="4570095"/>
                <a:ext cx="246355"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AWS</a:t>
                </a:r>
              </a:p>
            </p:txBody>
          </p:sp>
          <p:sp>
            <p:nvSpPr>
              <p:cNvPr id="22" name="Rectangle 22"/>
              <p:cNvSpPr/>
              <p:nvPr/>
            </p:nvSpPr>
            <p:spPr>
              <a:xfrm>
                <a:off x="2905125" y="4143375"/>
                <a:ext cx="523875" cy="333375"/>
              </a:xfrm>
              <a:prstGeom prst="rect">
                <a:avLst/>
              </a:prstGeom>
              <a:solidFill>
                <a:srgbClr val="C7C2B8"/>
              </a:solidFill>
              <a:ln>
                <a:noFill/>
              </a:ln>
            </p:spPr>
          </p:sp>
          <p:sp>
            <p:nvSpPr>
              <p:cNvPr id="23" name="TextBox 23"/>
              <p:cNvSpPr txBox="1"/>
              <p:nvPr/>
            </p:nvSpPr>
            <p:spPr>
              <a:xfrm>
                <a:off x="2982605" y="3952399"/>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40M$</a:t>
                </a:r>
              </a:p>
            </p:txBody>
          </p:sp>
          <p:sp>
            <p:nvSpPr>
              <p:cNvPr id="24" name="TextBox 24"/>
              <p:cNvSpPr txBox="1"/>
              <p:nvPr/>
            </p:nvSpPr>
            <p:spPr>
              <a:xfrm>
                <a:off x="3051924" y="4570095"/>
                <a:ext cx="22075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GCP</a:t>
                </a:r>
              </a:p>
            </p:txBody>
          </p:sp>
        </p:grpSp>
        <p:sp>
          <p:nvSpPr>
            <p:cNvPr id="26" name="TextBox 26"/>
            <p:cNvSpPr txBox="1"/>
            <p:nvPr/>
          </p:nvSpPr>
          <p:spPr>
            <a:xfrm>
              <a:off x="527304" y="4823460"/>
              <a:ext cx="240609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华为：Flexible Engine云栈底座</a:t>
              </a:r>
            </a:p>
          </p:txBody>
        </p:sp>
        <p:sp>
          <p:nvSpPr>
            <p:cNvPr id="27" name="TextBox 27"/>
            <p:cNvSpPr txBox="1"/>
            <p:nvPr/>
          </p:nvSpPr>
          <p:spPr>
            <a:xfrm>
              <a:off x="527685" y="5079206"/>
              <a:ext cx="228314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看不见的底层技术（非品牌可见）</a:t>
              </a:r>
            </a:p>
          </p:txBody>
        </p:sp>
      </p:grpSp>
      <p:grpSp>
        <p:nvGrpSpPr>
          <p:cNvPr id="42" name="Group 42"/>
          <p:cNvGrpSpPr/>
          <p:nvPr/>
        </p:nvGrpSpPr>
        <p:grpSpPr>
          <a:xfrm>
            <a:off x="4307205" y="1333500"/>
            <a:ext cx="3560445" cy="3724656"/>
            <a:chOff x="4307205" y="1333500"/>
            <a:chExt cx="3560445" cy="3724656"/>
          </a:xfrm>
        </p:grpSpPr>
        <p:sp>
          <p:nvSpPr>
            <p:cNvPr id="29" name="Rectangle 29"/>
            <p:cNvSpPr/>
            <p:nvPr/>
          </p:nvSpPr>
          <p:spPr>
            <a:xfrm>
              <a:off x="4314825" y="1333500"/>
              <a:ext cx="3552825" cy="76200"/>
            </a:xfrm>
            <a:prstGeom prst="rect">
              <a:avLst/>
            </a:prstGeom>
            <a:solidFill>
              <a:srgbClr val="FF7900"/>
            </a:solidFill>
            <a:ln>
              <a:noFill/>
            </a:ln>
          </p:spPr>
        </p:sp>
        <p:sp>
          <p:nvSpPr>
            <p:cNvPr id="30" name="TextBox 30"/>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31" name="TextBox 31"/>
            <p:cNvSpPr txBox="1"/>
            <p:nvPr/>
          </p:nvSpPr>
          <p:spPr>
            <a:xfrm>
              <a:off x="4308729" y="1756410"/>
              <a:ext cx="114300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规模数据待补充</a:t>
              </a:r>
            </a:p>
          </p:txBody>
        </p:sp>
        <p:sp>
          <p:nvSpPr>
            <p:cNvPr id="32" name="Line 32"/>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3" name="Rectangle 33"/>
            <p:cNvSpPr/>
            <p:nvPr/>
          </p:nvSpPr>
          <p:spPr>
            <a:xfrm>
              <a:off x="4543425" y="2571750"/>
              <a:ext cx="3095625" cy="857250"/>
            </a:xfrm>
            <a:prstGeom prst="roundRect">
              <a:avLst>
                <a:gd name="adj" fmla="val 4444"/>
              </a:avLst>
            </a:prstGeom>
            <a:solidFill>
              <a:srgbClr val="FBF6F1"/>
            </a:solidFill>
            <a:ln w="9525">
              <a:solidFill>
                <a:srgbClr val="E8E2DA"/>
              </a:solidFill>
            </a:ln>
          </p:spPr>
        </p:sp>
        <p:sp>
          <p:nvSpPr>
            <p:cNvPr id="34" name="TextBox 34"/>
            <p:cNvSpPr txBox="1"/>
            <p:nvPr/>
          </p:nvSpPr>
          <p:spPr>
            <a:xfrm>
              <a:off x="4727829" y="2708910"/>
              <a:ext cx="351434"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波兰</a:t>
              </a:r>
            </a:p>
          </p:txBody>
        </p:sp>
        <p:sp>
          <p:nvSpPr>
            <p:cNvPr id="35" name="TextBox 35"/>
            <p:cNvSpPr txBox="1"/>
            <p:nvPr/>
          </p:nvSpPr>
          <p:spPr>
            <a:xfrm>
              <a:off x="4728210" y="2945606"/>
              <a:ext cx="228289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BlueSoft/Craftware云集成能力</a:t>
              </a:r>
            </a:p>
          </p:txBody>
        </p:sp>
        <p:sp>
          <p:nvSpPr>
            <p:cNvPr id="36" name="TextBox 36"/>
            <p:cNvSpPr txBox="1"/>
            <p:nvPr/>
          </p:nvSpPr>
          <p:spPr>
            <a:xfrm>
              <a:off x="4728210" y="3155156"/>
              <a:ext cx="182880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（估算规模，无独立披露）</a:t>
              </a:r>
            </a:p>
          </p:txBody>
        </p:sp>
        <p:sp>
          <p:nvSpPr>
            <p:cNvPr id="37" name="Rectangle 37"/>
            <p:cNvSpPr/>
            <p:nvPr/>
          </p:nvSpPr>
          <p:spPr>
            <a:xfrm>
              <a:off x="4543425" y="3562350"/>
              <a:ext cx="3095625" cy="857250"/>
            </a:xfrm>
            <a:prstGeom prst="roundRect">
              <a:avLst>
                <a:gd name="adj" fmla="val 4444"/>
              </a:avLst>
            </a:prstGeom>
            <a:solidFill>
              <a:srgbClr val="FBF6F1"/>
            </a:solidFill>
            <a:ln w="9525">
              <a:solidFill>
                <a:srgbClr val="E8E2DA"/>
              </a:solidFill>
            </a:ln>
          </p:spPr>
        </p:sp>
        <p:sp>
          <p:nvSpPr>
            <p:cNvPr id="38" name="TextBox 38"/>
            <p:cNvSpPr txBox="1"/>
            <p:nvPr/>
          </p:nvSpPr>
          <p:spPr>
            <a:xfrm>
              <a:off x="4727829" y="3699510"/>
              <a:ext cx="52105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西班牙</a:t>
              </a:r>
            </a:p>
          </p:txBody>
        </p:sp>
        <p:sp>
          <p:nvSpPr>
            <p:cNvPr id="39" name="TextBox 39"/>
            <p:cNvSpPr txBox="1"/>
            <p:nvPr/>
          </p:nvSpPr>
          <p:spPr>
            <a:xfrm>
              <a:off x="4728210" y="3936206"/>
              <a:ext cx="190586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MasOrange 5G专网+云关联</a:t>
              </a:r>
            </a:p>
          </p:txBody>
        </p:sp>
        <p:sp>
          <p:nvSpPr>
            <p:cNvPr id="40" name="TextBox 40"/>
            <p:cNvSpPr txBox="1"/>
            <p:nvPr/>
          </p:nvSpPr>
          <p:spPr>
            <a:xfrm>
              <a:off x="4728210" y="4145756"/>
              <a:ext cx="166792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项目（Correos等案例）</a:t>
              </a:r>
            </a:p>
          </p:txBody>
        </p:sp>
        <p:sp>
          <p:nvSpPr>
            <p:cNvPr id="41" name="TextBox 41"/>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华为：未见参与</a:t>
              </a:r>
            </a:p>
          </p:txBody>
        </p:sp>
      </p:grpSp>
      <p:grpSp>
        <p:nvGrpSpPr>
          <p:cNvPr id="56" name="Group 56"/>
          <p:cNvGrpSpPr/>
          <p:nvPr/>
        </p:nvGrpSpPr>
        <p:grpSpPr>
          <a:xfrm>
            <a:off x="8088630" y="1333500"/>
            <a:ext cx="3560445" cy="3724656"/>
            <a:chOff x="8088630" y="1333500"/>
            <a:chExt cx="3560445" cy="3724656"/>
          </a:xfrm>
        </p:grpSpPr>
        <p:sp>
          <p:nvSpPr>
            <p:cNvPr id="43" name="Rectangle 43"/>
            <p:cNvSpPr/>
            <p:nvPr/>
          </p:nvSpPr>
          <p:spPr>
            <a:xfrm>
              <a:off x="8096250" y="1333500"/>
              <a:ext cx="3552825" cy="76200"/>
            </a:xfrm>
            <a:prstGeom prst="rect">
              <a:avLst/>
            </a:prstGeom>
            <a:solidFill>
              <a:srgbClr val="FFA640"/>
            </a:solidFill>
            <a:ln>
              <a:noFill/>
            </a:ln>
          </p:spPr>
        </p:sp>
        <p:sp>
          <p:nvSpPr>
            <p:cNvPr id="44" name="TextBox 44"/>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45" name="TextBox 45"/>
            <p:cNvSpPr txBox="1"/>
            <p:nvPr/>
          </p:nvSpPr>
          <p:spPr>
            <a:xfrm>
              <a:off x="8090154" y="1756410"/>
              <a:ext cx="114300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规模数据待补充</a:t>
              </a:r>
            </a:p>
          </p:txBody>
        </p:sp>
        <p:sp>
          <p:nvSpPr>
            <p:cNvPr id="46" name="Line 46"/>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47" name="Rectangle 47"/>
            <p:cNvSpPr/>
            <p:nvPr/>
          </p:nvSpPr>
          <p:spPr>
            <a:xfrm>
              <a:off x="8324850" y="2571750"/>
              <a:ext cx="3095625" cy="1847850"/>
            </a:xfrm>
            <a:prstGeom prst="roundRect">
              <a:avLst>
                <a:gd name="adj" fmla="val 2062"/>
              </a:avLst>
            </a:prstGeom>
            <a:solidFill>
              <a:srgbClr val="FFF6EC"/>
            </a:solidFill>
            <a:ln w="19050">
              <a:solidFill>
                <a:srgbClr val="FFA640"/>
              </a:solidFill>
            </a:ln>
          </p:spPr>
        </p:sp>
        <p:sp>
          <p:nvSpPr>
            <p:cNvPr id="48" name="TextBox 48"/>
            <p:cNvSpPr txBox="1"/>
            <p:nvPr/>
          </p:nvSpPr>
          <p:spPr>
            <a:xfrm>
              <a:off x="8509254" y="2708910"/>
              <a:ext cx="1551127" cy="234696"/>
            </a:xfrm>
            <a:prstGeom prst="rect">
              <a:avLst/>
            </a:prstGeom>
            <a:noFill/>
            <a:ln>
              <a:noFill/>
            </a:ln>
          </p:spPr>
          <p:txBody>
            <a:bodyPr wrap="none" lIns="0" tIns="0" rIns="0" bIns="0" anchor="t" anchorCtr="0">
              <a:spAutoFit/>
            </a:bodyPr>
            <a:lstStyle/>
            <a:p>
              <a:pPr algn="l"/>
              <a:r>
                <a:rPr lang="zh-CN" sz="1200" b="1" dirty="0">
                  <a:solidFill>
                    <a:srgbClr val="B85C00"/>
                  </a:solidFill>
                  <a:latin typeface="Arial"/>
                  <a:ea typeface="Microsoft YaHei"/>
                  <a:cs typeface="Arial"/>
                </a:rPr>
                <a:t>同源Flexible Engine</a:t>
              </a:r>
            </a:p>
          </p:txBody>
        </p:sp>
        <p:sp>
          <p:nvSpPr>
            <p:cNvPr id="49" name="TextBox 49"/>
            <p:cNvSpPr txBox="1"/>
            <p:nvPr/>
          </p:nvSpPr>
          <p:spPr>
            <a:xfrm>
              <a:off x="8509635" y="2964656"/>
              <a:ext cx="169164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华为AUTIN智能运维系统</a:t>
              </a:r>
            </a:p>
          </p:txBody>
        </p:sp>
        <p:sp>
          <p:nvSpPr>
            <p:cNvPr id="50" name="TextBox 50"/>
            <p:cNvSpPr txBox="1"/>
            <p:nvPr/>
          </p:nvSpPr>
          <p:spPr>
            <a:xfrm>
              <a:off x="8509635" y="3174206"/>
              <a:ext cx="199567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直接部署于其上，服务GNOC</a:t>
              </a:r>
            </a:p>
          </p:txBody>
        </p:sp>
        <p:sp>
          <p:nvSpPr>
            <p:cNvPr id="51" name="TextBox 51"/>
            <p:cNvSpPr txBox="1"/>
            <p:nvPr/>
          </p:nvSpPr>
          <p:spPr>
            <a:xfrm>
              <a:off x="8509635" y="3383756"/>
              <a:ext cx="191209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（达喀尔+阿比让双活运维）</a:t>
              </a:r>
            </a:p>
          </p:txBody>
        </p:sp>
        <p:sp>
          <p:nvSpPr>
            <p:cNvPr id="52" name="TextBox 52"/>
            <p:cNvSpPr txBox="1"/>
            <p:nvPr/>
          </p:nvSpPr>
          <p:spPr>
            <a:xfrm>
              <a:off x="8509635" y="3688556"/>
              <a:ext cx="1458511" cy="220028"/>
            </a:xfrm>
            <a:prstGeom prst="rect">
              <a:avLst/>
            </a:prstGeom>
            <a:noFill/>
            <a:ln>
              <a:noFill/>
            </a:ln>
          </p:spPr>
          <p:txBody>
            <a:bodyPr wrap="none" lIns="0" tIns="0" rIns="0" bIns="0" anchor="t" anchorCtr="0">
              <a:spAutoFit/>
            </a:bodyPr>
            <a:lstStyle/>
            <a:p>
              <a:pPr algn="l"/>
              <a:r>
                <a:rPr lang="zh-CN" sz="1120" b="1" dirty="0">
                  <a:solidFill>
                    <a:srgbClr val="B85C00"/>
                  </a:solidFill>
                  <a:latin typeface="Arial"/>
                  <a:ea typeface="Microsoft YaHei"/>
                  <a:cs typeface="Arial"/>
                </a:rPr>
                <a:t>从"底层技术"升级为</a:t>
              </a:r>
            </a:p>
          </p:txBody>
        </p:sp>
        <p:sp>
          <p:nvSpPr>
            <p:cNvPr id="53" name="TextBox 53"/>
            <p:cNvSpPr txBox="1"/>
            <p:nvPr/>
          </p:nvSpPr>
          <p:spPr>
            <a:xfrm>
              <a:off x="8509635" y="3898106"/>
              <a:ext cx="1776551" cy="220028"/>
            </a:xfrm>
            <a:prstGeom prst="rect">
              <a:avLst/>
            </a:prstGeom>
            <a:noFill/>
            <a:ln>
              <a:noFill/>
            </a:ln>
          </p:spPr>
          <p:txBody>
            <a:bodyPr wrap="none" lIns="0" tIns="0" rIns="0" bIns="0" anchor="t" anchorCtr="0">
              <a:spAutoFit/>
            </a:bodyPr>
            <a:lstStyle/>
            <a:p>
              <a:pPr algn="l"/>
              <a:r>
                <a:rPr lang="zh-CN" sz="1120" b="1" dirty="0">
                  <a:solidFill>
                    <a:srgbClr val="B85C00"/>
                  </a:solidFill>
                  <a:latin typeface="Arial"/>
                  <a:ea typeface="Microsoft YaHei"/>
                  <a:cs typeface="Arial"/>
                </a:rPr>
                <a:t>"看得见的联合运维平台"</a:t>
              </a:r>
            </a:p>
          </p:txBody>
        </p:sp>
        <p:sp>
          <p:nvSpPr>
            <p:cNvPr id="54" name="TextBox 54"/>
            <p:cNvSpPr txBox="1"/>
            <p:nvPr/>
          </p:nvSpPr>
          <p:spPr>
            <a:xfrm>
              <a:off x="8091297" y="4561999"/>
              <a:ext cx="298313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RUN OMEA计划：Mutualized Services集中式运维</a:t>
              </a:r>
            </a:p>
          </p:txBody>
        </p:sp>
        <p:sp>
          <p:nvSpPr>
            <p:cNvPr id="55" name="TextBox 55"/>
            <p:cNvSpPr txBox="1"/>
            <p:nvPr/>
          </p:nvSpPr>
          <p:spPr>
            <a:xfrm>
              <a:off x="8090154" y="4823460"/>
              <a:ext cx="1538783"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华为：深度联合运维</a:t>
              </a:r>
            </a:p>
          </p:txBody>
        </p:sp>
      </p:grpSp>
      <p:grpSp>
        <p:nvGrpSpPr>
          <p:cNvPr id="59" name="Group 59"/>
          <p:cNvGrpSpPr/>
          <p:nvPr/>
        </p:nvGrpSpPr>
        <p:grpSpPr>
          <a:xfrm>
            <a:off x="528447" y="6562249"/>
            <a:ext cx="11135106" cy="190690"/>
            <a:chOff x="528447" y="6562249"/>
            <a:chExt cx="11135106" cy="190690"/>
          </a:xfrm>
        </p:grpSpPr>
        <p:sp>
          <p:nvSpPr>
            <p:cNvPr id="57" name="TextBox 57"/>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8" name="TextBox 58"/>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2468416" cy="747713"/>
            <a:chOff x="521970" y="252412"/>
            <a:chExt cx="12468416" cy="747713"/>
          </a:xfrm>
        </p:grpSpPr>
        <p:sp>
          <p:nvSpPr>
            <p:cNvPr id="3" name="TextBox 3"/>
            <p:cNvSpPr txBox="1"/>
            <p:nvPr/>
          </p:nvSpPr>
          <p:spPr>
            <a:xfrm>
              <a:off x="521970" y="252412"/>
              <a:ext cx="12468416"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安全托管服务是Orange Cyberdefense的协同网络——</a:t>
              </a:r>
              <a:r>
                <a:rPr lang="zh-CN" sz="2250" b="1" dirty="0">
                  <a:solidFill>
                    <a:srgbClr val="FF7900"/>
                  </a:solidFill>
                  <a:latin typeface="Arial"/>
                  <a:ea typeface="Microsoft YaHei"/>
                  <a:cs typeface="Arial"/>
                </a:rPr>
                <a:t>OB自营、OEU合资、OMEA孵化中</a:t>
              </a:r>
            </a:p>
          </p:txBody>
        </p:sp>
        <p:sp>
          <p:nvSpPr>
            <p:cNvPr id="4" name="TextBox 4"/>
            <p:cNvSpPr txBox="1"/>
            <p:nvPr/>
          </p:nvSpPr>
          <p:spPr>
            <a:xfrm>
              <a:off x="527304" y="708660"/>
              <a:ext cx="587105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Catalogue：MSSP(SOC/SIEM/威胁情报) · 终端安全 · 数据保护 · IoT/OT安全</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2" name="Group 22"/>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1460221" cy="293370"/>
            </a:xfrm>
            <a:prstGeom prst="rect">
              <a:avLst/>
            </a:prstGeom>
            <a:noFill/>
            <a:ln>
              <a:noFill/>
            </a:ln>
          </p:spPr>
          <p:txBody>
            <a:bodyPr wrap="none" lIns="0" tIns="0" rIns="0" bIns="0" anchor="t" anchorCtr="0">
              <a:spAutoFit/>
            </a:bodyPr>
            <a:lstStyle/>
            <a:p>
              <a:pPr algn="l"/>
              <a:r>
                <a:rPr lang="zh-CN" sz="1500" b="1" dirty="0">
                  <a:solidFill>
                    <a:srgbClr val="B85C00"/>
                  </a:solidFill>
                  <a:latin typeface="Arial"/>
                  <a:ea typeface="Microsoft YaHei"/>
                  <a:cs typeface="Arial"/>
                </a:rPr>
                <a:t>OB · 自营巨头</a:t>
              </a:r>
            </a:p>
          </p:txBody>
        </p:sp>
        <p:sp>
          <p:nvSpPr>
            <p:cNvPr id="9" name="TextBox 9"/>
            <p:cNvSpPr txBox="1"/>
            <p:nvPr/>
          </p:nvSpPr>
          <p:spPr>
            <a:xfrm>
              <a:off x="527304" y="1756410"/>
              <a:ext cx="341034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Orange Cyberdefense 1,300M€/Y（+6.8%）</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Rectangle 11"/>
            <p:cNvSpPr/>
            <p:nvPr/>
          </p:nvSpPr>
          <p:spPr>
            <a:xfrm>
              <a:off x="533400" y="2190750"/>
              <a:ext cx="3552825" cy="857250"/>
            </a:xfrm>
            <a:prstGeom prst="roundRect">
              <a:avLst>
                <a:gd name="adj" fmla="val 4444"/>
              </a:avLst>
            </a:prstGeom>
            <a:solidFill>
              <a:srgbClr val="FBF6F1"/>
            </a:solidFill>
            <a:ln w="9525">
              <a:solidFill>
                <a:srgbClr val="E8E2DA"/>
              </a:solidFill>
            </a:ln>
          </p:spPr>
        </p:sp>
        <p:sp>
          <p:nvSpPr>
            <p:cNvPr id="12" name="TextBox 12"/>
            <p:cNvSpPr txBox="1"/>
            <p:nvPr/>
          </p:nvSpPr>
          <p:spPr>
            <a:xfrm>
              <a:off x="712470" y="2195512"/>
              <a:ext cx="1072391" cy="440055"/>
            </a:xfrm>
            <a:prstGeom prst="rect">
              <a:avLst/>
            </a:prstGeom>
            <a:noFill/>
            <a:ln>
              <a:noFill/>
            </a:ln>
          </p:spPr>
          <p:txBody>
            <a:bodyPr wrap="none" lIns="0" tIns="0" rIns="0" bIns="0" anchor="t" anchorCtr="0">
              <a:spAutoFit/>
            </a:bodyPr>
            <a:lstStyle/>
            <a:p>
              <a:pPr algn="l"/>
              <a:r>
                <a:rPr lang="en-US" sz="2250" b="1" dirty="0">
                  <a:solidFill>
                    <a:srgbClr val="B85C00"/>
                  </a:solidFill>
                  <a:latin typeface="Arial"/>
                  <a:ea typeface="Arial"/>
                  <a:cs typeface="Arial"/>
                </a:rPr>
                <a:t>3,300+</a:t>
              </a:r>
            </a:p>
          </p:txBody>
        </p:sp>
        <p:sp>
          <p:nvSpPr>
            <p:cNvPr id="13" name="TextBox 13"/>
            <p:cNvSpPr txBox="1"/>
            <p:nvPr/>
          </p:nvSpPr>
          <p:spPr>
            <a:xfrm>
              <a:off x="1898904" y="2308860"/>
              <a:ext cx="186994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专家 · 23国 · 36检测中心</a:t>
              </a:r>
            </a:p>
          </p:txBody>
        </p:sp>
        <p:sp>
          <p:nvSpPr>
            <p:cNvPr id="14" name="TextBox 14"/>
            <p:cNvSpPr txBox="1"/>
            <p:nvPr/>
          </p:nvSpPr>
          <p:spPr>
            <a:xfrm>
              <a:off x="717804" y="2632710"/>
              <a:ext cx="117409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2030目标20亿€</a:t>
              </a:r>
            </a:p>
          </p:txBody>
        </p:sp>
        <p:sp>
          <p:nvSpPr>
            <p:cNvPr id="15" name="TextBox 15"/>
            <p:cNvSpPr txBox="1"/>
            <p:nvPr/>
          </p:nvSpPr>
          <p:spPr>
            <a:xfrm>
              <a:off x="2184654" y="2632710"/>
              <a:ext cx="1104595"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欧洲第一MSSP</a:t>
              </a:r>
            </a:p>
          </p:txBody>
        </p:sp>
        <p:sp>
          <p:nvSpPr>
            <p:cNvPr id="16" name="TextBox 16"/>
            <p:cNvSpPr txBox="1"/>
            <p:nvPr/>
          </p:nvSpPr>
          <p:spPr>
            <a:xfrm>
              <a:off x="528066" y="3182302"/>
              <a:ext cx="330569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主要Vendor：CrowdStrike/Palo Alto（威胁检测）</a:t>
              </a:r>
            </a:p>
          </p:txBody>
        </p:sp>
        <p:sp>
          <p:nvSpPr>
            <p:cNvPr id="17" name="TextBox 17"/>
            <p:cNvSpPr txBox="1"/>
            <p:nvPr/>
          </p:nvSpPr>
          <p:spPr>
            <a:xfrm>
              <a:off x="528066" y="3372802"/>
              <a:ext cx="2994321"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Microsoft（安全套件）、Thales（数据保护）</a:t>
              </a:r>
            </a:p>
          </p:txBody>
        </p:sp>
        <p:sp>
          <p:nvSpPr>
            <p:cNvPr id="18" name="TextBox 18"/>
            <p:cNvSpPr txBox="1"/>
            <p:nvPr/>
          </p:nvSpPr>
          <p:spPr>
            <a:xfrm>
              <a:off x="528066" y="3563302"/>
              <a:ext cx="3044183"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Netskope/Zscaler（网络安全）、Nozomi(OT)</a:t>
              </a:r>
            </a:p>
          </p:txBody>
        </p:sp>
        <p:sp>
          <p:nvSpPr>
            <p:cNvPr id="19" name="TextBox 19"/>
            <p:cNvSpPr txBox="1"/>
            <p:nvPr/>
          </p:nvSpPr>
          <p:spPr>
            <a:xfrm>
              <a:off x="528447" y="3799999"/>
              <a:ext cx="302311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2016年起步，2019年收购SecureLink/SecureData</a:t>
              </a:r>
            </a:p>
          </p:txBody>
        </p:sp>
        <p:sp>
          <p:nvSpPr>
            <p:cNvPr id="20" name="TextBox 20"/>
            <p:cNvSpPr txBox="1"/>
            <p:nvPr/>
          </p:nvSpPr>
          <p:spPr>
            <a:xfrm>
              <a:off x="528447" y="3990499"/>
              <a:ext cx="2937996"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2025前九月+6-8%动态增长，40+安全Vendor集成</a:t>
              </a:r>
            </a:p>
          </p:txBody>
        </p:sp>
        <p:sp>
          <p:nvSpPr>
            <p:cNvPr id="21" name="TextBox 21"/>
            <p:cNvSpPr txBox="1"/>
            <p:nvPr/>
          </p:nvSpPr>
          <p:spPr>
            <a:xfrm>
              <a:off x="527304" y="4823460"/>
              <a:ext cx="1775772"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华为：不在Vendor目录</a:t>
              </a:r>
            </a:p>
          </p:txBody>
        </p:sp>
      </p:grpSp>
      <p:grpSp>
        <p:nvGrpSpPr>
          <p:cNvPr id="35" name="Group 35"/>
          <p:cNvGrpSpPr/>
          <p:nvPr/>
        </p:nvGrpSpPr>
        <p:grpSpPr>
          <a:xfrm>
            <a:off x="4307205" y="1333500"/>
            <a:ext cx="3560445" cy="3724656"/>
            <a:chOff x="4307205" y="1333500"/>
            <a:chExt cx="3560445" cy="3724656"/>
          </a:xfrm>
        </p:grpSpPr>
        <p:sp>
          <p:nvSpPr>
            <p:cNvPr id="23" name="Rectangle 23"/>
            <p:cNvSpPr/>
            <p:nvPr/>
          </p:nvSpPr>
          <p:spPr>
            <a:xfrm>
              <a:off x="4314825" y="1333500"/>
              <a:ext cx="3552825" cy="76200"/>
            </a:xfrm>
            <a:prstGeom prst="rect">
              <a:avLst/>
            </a:prstGeom>
            <a:solidFill>
              <a:srgbClr val="FF7900"/>
            </a:solidFill>
            <a:ln>
              <a:noFill/>
            </a:ln>
          </p:spPr>
        </p:sp>
        <p:sp>
          <p:nvSpPr>
            <p:cNvPr id="24" name="TextBox 24"/>
            <p:cNvSpPr txBox="1"/>
            <p:nvPr/>
          </p:nvSpPr>
          <p:spPr>
            <a:xfrm>
              <a:off x="4307205" y="1504950"/>
              <a:ext cx="1583436" cy="293370"/>
            </a:xfrm>
            <a:prstGeom prst="rect">
              <a:avLst/>
            </a:prstGeom>
            <a:noFill/>
            <a:ln>
              <a:noFill/>
            </a:ln>
          </p:spPr>
          <p:txBody>
            <a:bodyPr wrap="none" lIns="0" tIns="0" rIns="0" bIns="0" anchor="t" anchorCtr="0">
              <a:spAutoFit/>
            </a:bodyPr>
            <a:lstStyle/>
            <a:p>
              <a:pPr algn="l"/>
              <a:r>
                <a:rPr lang="zh-CN" sz="1500" b="1" dirty="0">
                  <a:solidFill>
                    <a:srgbClr val="FF7900"/>
                  </a:solidFill>
                  <a:latin typeface="Arial"/>
                  <a:ea typeface="Microsoft YaHei"/>
                  <a:cs typeface="Arial"/>
                </a:rPr>
                <a:t>OEU · 合资节点</a:t>
              </a:r>
            </a:p>
          </p:txBody>
        </p:sp>
        <p:sp>
          <p:nvSpPr>
            <p:cNvPr id="25" name="TextBox 25"/>
            <p:cNvSpPr txBox="1"/>
            <p:nvPr/>
          </p:nvSpPr>
          <p:spPr>
            <a:xfrm>
              <a:off x="4308729" y="1756410"/>
              <a:ext cx="114300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规模数据待补充</a:t>
              </a:r>
            </a:p>
          </p:txBody>
        </p:sp>
        <p:sp>
          <p:nvSpPr>
            <p:cNvPr id="26" name="Line 26"/>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27" name="Rectangle 27"/>
            <p:cNvSpPr/>
            <p:nvPr/>
          </p:nvSpPr>
          <p:spPr>
            <a:xfrm>
              <a:off x="4314825" y="2190750"/>
              <a:ext cx="3552825" cy="857250"/>
            </a:xfrm>
            <a:prstGeom prst="roundRect">
              <a:avLst>
                <a:gd name="adj" fmla="val 4444"/>
              </a:avLst>
            </a:prstGeom>
            <a:solidFill>
              <a:srgbClr val="FBF6F1"/>
            </a:solidFill>
            <a:ln w="9525">
              <a:solidFill>
                <a:srgbClr val="E8E2DA"/>
              </a:solidFill>
            </a:ln>
          </p:spPr>
        </p:sp>
        <p:sp>
          <p:nvSpPr>
            <p:cNvPr id="28" name="TextBox 28"/>
            <p:cNvSpPr txBox="1"/>
            <p:nvPr/>
          </p:nvSpPr>
          <p:spPr>
            <a:xfrm>
              <a:off x="4498848" y="2338864"/>
              <a:ext cx="1574429"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SCUT（罗马尼亚）</a:t>
              </a:r>
            </a:p>
          </p:txBody>
        </p:sp>
        <p:sp>
          <p:nvSpPr>
            <p:cNvPr id="29" name="TextBox 29"/>
            <p:cNvSpPr txBox="1"/>
            <p:nvPr/>
          </p:nvSpPr>
          <p:spPr>
            <a:xfrm>
              <a:off x="4499610" y="2583656"/>
              <a:ext cx="235839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与Orange Cyberdefense合资成立</a:t>
              </a:r>
            </a:p>
          </p:txBody>
        </p:sp>
        <p:sp>
          <p:nvSpPr>
            <p:cNvPr id="30" name="TextBox 30"/>
            <p:cNvSpPr txBox="1"/>
            <p:nvPr/>
          </p:nvSpPr>
          <p:spPr>
            <a:xfrm>
              <a:off x="4499610" y="2774156"/>
              <a:ext cx="107156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的网络安全公司</a:t>
              </a:r>
            </a:p>
          </p:txBody>
        </p:sp>
        <p:sp>
          <p:nvSpPr>
            <p:cNvPr id="31" name="Rectangle 31"/>
            <p:cNvSpPr/>
            <p:nvPr/>
          </p:nvSpPr>
          <p:spPr>
            <a:xfrm>
              <a:off x="4314825" y="3143250"/>
              <a:ext cx="3552825" cy="666750"/>
            </a:xfrm>
            <a:prstGeom prst="roundRect">
              <a:avLst>
                <a:gd name="adj" fmla="val 5714"/>
              </a:avLst>
            </a:prstGeom>
            <a:solidFill>
              <a:srgbClr val="FBF6F1"/>
            </a:solidFill>
            <a:ln w="9525">
              <a:solidFill>
                <a:srgbClr val="E8E2DA"/>
              </a:solidFill>
            </a:ln>
          </p:spPr>
        </p:sp>
        <p:sp>
          <p:nvSpPr>
            <p:cNvPr id="32" name="TextBox 32"/>
            <p:cNvSpPr txBox="1"/>
            <p:nvPr/>
          </p:nvSpPr>
          <p:spPr>
            <a:xfrm>
              <a:off x="4498848" y="3272314"/>
              <a:ext cx="112132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波兰 / 比利时</a:t>
              </a:r>
            </a:p>
          </p:txBody>
        </p:sp>
        <p:sp>
          <p:nvSpPr>
            <p:cNvPr id="33" name="TextBox 33"/>
            <p:cNvSpPr txBox="1"/>
            <p:nvPr/>
          </p:nvSpPr>
          <p:spPr>
            <a:xfrm>
              <a:off x="4499610" y="3517106"/>
              <a:ext cx="158762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OCD区域协同网络节点</a:t>
              </a:r>
            </a:p>
          </p:txBody>
        </p:sp>
        <p:sp>
          <p:nvSpPr>
            <p:cNvPr id="34" name="TextBox 34"/>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华为：未见参与</a:t>
              </a:r>
            </a:p>
          </p:txBody>
        </p:sp>
      </p:grpSp>
      <p:grpSp>
        <p:nvGrpSpPr>
          <p:cNvPr id="45" name="Group 45"/>
          <p:cNvGrpSpPr/>
          <p:nvPr/>
        </p:nvGrpSpPr>
        <p:grpSpPr>
          <a:xfrm>
            <a:off x="8088630" y="1333500"/>
            <a:ext cx="3560445" cy="3724656"/>
            <a:chOff x="8088630" y="1333500"/>
            <a:chExt cx="3560445" cy="3724656"/>
          </a:xfrm>
        </p:grpSpPr>
        <p:sp>
          <p:nvSpPr>
            <p:cNvPr id="36" name="Rectangle 36"/>
            <p:cNvSpPr/>
            <p:nvPr/>
          </p:nvSpPr>
          <p:spPr>
            <a:xfrm>
              <a:off x="8096250" y="1333500"/>
              <a:ext cx="3552825" cy="76200"/>
            </a:xfrm>
            <a:prstGeom prst="rect">
              <a:avLst/>
            </a:prstGeom>
            <a:solidFill>
              <a:srgbClr val="FFA640"/>
            </a:solidFill>
            <a:ln>
              <a:noFill/>
            </a:ln>
          </p:spPr>
        </p:sp>
        <p:sp>
          <p:nvSpPr>
            <p:cNvPr id="37" name="TextBox 37"/>
            <p:cNvSpPr txBox="1"/>
            <p:nvPr/>
          </p:nvSpPr>
          <p:spPr>
            <a:xfrm>
              <a:off x="8088630" y="1504950"/>
              <a:ext cx="1527429"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孵化中</a:t>
              </a:r>
            </a:p>
          </p:txBody>
        </p:sp>
        <p:sp>
          <p:nvSpPr>
            <p:cNvPr id="38" name="TextBox 38"/>
            <p:cNvSpPr txBox="1"/>
            <p:nvPr/>
          </p:nvSpPr>
          <p:spPr>
            <a:xfrm>
              <a:off x="8090154" y="1756410"/>
              <a:ext cx="178917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安全独立收入数据待补充</a:t>
              </a:r>
            </a:p>
          </p:txBody>
        </p:sp>
        <p:sp>
          <p:nvSpPr>
            <p:cNvPr id="39" name="Line 39"/>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40" name="Rectangle 40"/>
            <p:cNvSpPr/>
            <p:nvPr/>
          </p:nvSpPr>
          <p:spPr>
            <a:xfrm>
              <a:off x="8096250" y="2190750"/>
              <a:ext cx="3552825" cy="857250"/>
            </a:xfrm>
            <a:prstGeom prst="roundRect">
              <a:avLst>
                <a:gd name="adj" fmla="val 4444"/>
              </a:avLst>
            </a:prstGeom>
            <a:solidFill>
              <a:srgbClr val="FBF6F1"/>
            </a:solidFill>
            <a:ln w="9525">
              <a:solidFill>
                <a:srgbClr val="E8E2DA"/>
              </a:solidFill>
            </a:ln>
          </p:spPr>
        </p:sp>
        <p:sp>
          <p:nvSpPr>
            <p:cNvPr id="41" name="TextBox 41"/>
            <p:cNvSpPr txBox="1"/>
            <p:nvPr/>
          </p:nvSpPr>
          <p:spPr>
            <a:xfrm>
              <a:off x="8280273" y="2319814"/>
              <a:ext cx="206953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G3 ICT加速计划组成部分</a:t>
              </a:r>
            </a:p>
          </p:txBody>
        </p:sp>
        <p:sp>
          <p:nvSpPr>
            <p:cNvPr id="42" name="TextBox 42"/>
            <p:cNvSpPr txBox="1"/>
            <p:nvPr/>
          </p:nvSpPr>
          <p:spPr>
            <a:xfrm>
              <a:off x="8281035" y="2564606"/>
              <a:ext cx="213312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云/安全/IoT标准化即开即售包</a:t>
              </a:r>
            </a:p>
          </p:txBody>
        </p:sp>
        <p:sp>
          <p:nvSpPr>
            <p:cNvPr id="43" name="TextBox 43"/>
            <p:cNvSpPr txBox="1"/>
            <p:nvPr/>
          </p:nvSpPr>
          <p:spPr>
            <a:xfrm>
              <a:off x="8281035" y="2774156"/>
              <a:ext cx="1321994" cy="220028"/>
            </a:xfrm>
            <a:prstGeom prst="rect">
              <a:avLst/>
            </a:prstGeom>
            <a:noFill/>
            <a:ln>
              <a:noFill/>
            </a:ln>
          </p:spPr>
          <p:txBody>
            <a:bodyPr wrap="none" lIns="0" tIns="0" rIns="0" bIns="0" anchor="t" anchorCtr="0">
              <a:spAutoFit/>
            </a:bodyPr>
            <a:lstStyle/>
            <a:p>
              <a:pPr algn="l"/>
              <a:r>
                <a:rPr lang="zh-CN" sz="1120" b="1" dirty="0">
                  <a:solidFill>
                    <a:srgbClr val="2E8B57"/>
                  </a:solidFill>
                  <a:latin typeface="Arial"/>
                  <a:ea typeface="Microsoft YaHei"/>
                  <a:cs typeface="Arial"/>
                </a:rPr>
                <a:t>ICT整体收入+28%</a:t>
              </a:r>
            </a:p>
          </p:txBody>
        </p:sp>
        <p:sp>
          <p:nvSpPr>
            <p:cNvPr id="44" name="TextBox 44"/>
            <p:cNvSpPr txBox="1"/>
            <p:nvPr/>
          </p:nvSpPr>
          <p:spPr>
            <a:xfrm>
              <a:off x="8090154" y="4823460"/>
              <a:ext cx="1369162"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华为：数据待补充</a:t>
              </a:r>
            </a:p>
          </p:txBody>
        </p:sp>
      </p:grpSp>
      <p:grpSp>
        <p:nvGrpSpPr>
          <p:cNvPr id="48" name="Group 48"/>
          <p:cNvGrpSpPr/>
          <p:nvPr/>
        </p:nvGrpSpPr>
        <p:grpSpPr>
          <a:xfrm>
            <a:off x="533400" y="5715000"/>
            <a:ext cx="11125200" cy="571500"/>
            <a:chOff x="533400" y="5715000"/>
            <a:chExt cx="11125200" cy="571500"/>
          </a:xfrm>
        </p:grpSpPr>
        <p:sp>
          <p:nvSpPr>
            <p:cNvPr id="46" name="Rectangle 46"/>
            <p:cNvSpPr/>
            <p:nvPr/>
          </p:nvSpPr>
          <p:spPr>
            <a:xfrm>
              <a:off x="533400" y="5715000"/>
              <a:ext cx="11125200" cy="571500"/>
            </a:xfrm>
            <a:prstGeom prst="roundRect">
              <a:avLst>
                <a:gd name="adj" fmla="val 6667"/>
              </a:avLst>
            </a:prstGeom>
            <a:solidFill>
              <a:srgbClr val="FBF6F1"/>
            </a:solidFill>
            <a:ln w="9525">
              <a:solidFill>
                <a:srgbClr val="E8E2DA"/>
              </a:solidFill>
            </a:ln>
          </p:spPr>
        </p:sp>
        <p:sp>
          <p:nvSpPr>
            <p:cNvPr id="47" name="TextBox 47"/>
            <p:cNvSpPr txBox="1"/>
            <p:nvPr/>
          </p:nvSpPr>
          <p:spPr>
            <a:xfrm>
              <a:off x="755523" y="5920264"/>
              <a:ext cx="628741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三区域安全模式各异——</a:t>
              </a:r>
              <a:r>
                <a:rPr lang="zh-CN" sz="1280" b="1" dirty="0">
                  <a:solidFill>
                    <a:srgbClr val="B85C00"/>
                  </a:solidFill>
                  <a:latin typeface="Arial"/>
                  <a:ea typeface="Microsoft YaHei"/>
                  <a:cs typeface="Arial"/>
                </a:rPr>
                <a:t>OB自营巨头</a:t>
              </a:r>
              <a:r>
                <a:rPr lang="zh-CN" sz="1280" b="1" dirty="0">
                  <a:solidFill>
                    <a:srgbClr val="1A1A1A"/>
                  </a:solidFill>
                  <a:latin typeface="Arial"/>
                  <a:ea typeface="Microsoft YaHei"/>
                  <a:cs typeface="Arial"/>
                </a:rPr>
                <a:t>、</a:t>
              </a:r>
              <a:r>
                <a:rPr lang="zh-CN" sz="1280" b="1" dirty="0">
                  <a:solidFill>
                    <a:srgbClr val="FF7900"/>
                  </a:solidFill>
                  <a:latin typeface="Arial"/>
                  <a:ea typeface="Microsoft YaHei"/>
                  <a:cs typeface="Arial"/>
                </a:rPr>
                <a:t>OEU合资节点</a:t>
              </a:r>
              <a:r>
                <a:rPr lang="zh-CN" sz="1280" b="1" dirty="0">
                  <a:solidFill>
                    <a:srgbClr val="1A1A1A"/>
                  </a:solidFill>
                  <a:latin typeface="Arial"/>
                  <a:ea typeface="Microsoft YaHei"/>
                  <a:cs typeface="Arial"/>
                </a:rPr>
                <a:t>、</a:t>
              </a:r>
              <a:r>
                <a:rPr lang="zh-CN" sz="1280" b="1" dirty="0">
                  <a:solidFill>
                    <a:srgbClr val="E08A2E"/>
                  </a:solidFill>
                  <a:latin typeface="Arial"/>
                  <a:ea typeface="Microsoft YaHei"/>
                  <a:cs typeface="Arial"/>
                </a:rPr>
                <a:t>OMEA尚在G3计划孵化</a:t>
              </a:r>
            </a:p>
          </p:txBody>
        </p:sp>
      </p:grpSp>
      <p:grpSp>
        <p:nvGrpSpPr>
          <p:cNvPr id="51" name="Group 51"/>
          <p:cNvGrpSpPr/>
          <p:nvPr/>
        </p:nvGrpSpPr>
        <p:grpSpPr>
          <a:xfrm>
            <a:off x="528447" y="6562249"/>
            <a:ext cx="11135106" cy="190690"/>
            <a:chOff x="528447" y="6562249"/>
            <a:chExt cx="11135106" cy="190690"/>
          </a:xfrm>
        </p:grpSpPr>
        <p:sp>
          <p:nvSpPr>
            <p:cNvPr id="49" name="TextBox 49"/>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0" name="TextBox 50"/>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27648"/>
            <a:ext cx="11135106" cy="562927"/>
            <a:chOff x="523494" y="227648"/>
            <a:chExt cx="11135106" cy="562927"/>
          </a:xfrm>
        </p:grpSpPr>
        <p:sp>
          <p:nvSpPr>
            <p:cNvPr id="3" name="TextBox 3"/>
            <p:cNvSpPr txBox="1"/>
            <p:nvPr/>
          </p:nvSpPr>
          <p:spPr>
            <a:xfrm>
              <a:off x="523494" y="227648"/>
              <a:ext cx="10504322"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集成/转售＝非管理服务的项目招标业务——</a:t>
              </a:r>
              <a:r>
                <a:rPr lang="zh-CN" sz="1950" b="1" dirty="0">
                  <a:solidFill>
                    <a:srgbClr val="FF7900"/>
                  </a:solidFill>
                  <a:latin typeface="Arial"/>
                  <a:ea typeface="Microsoft YaHei"/>
                  <a:cs typeface="Arial"/>
                </a:rPr>
                <a:t>OB的1,950M€按行业招标分布高度分散</a:t>
              </a:r>
            </a:p>
          </p:txBody>
        </p:sp>
        <p:sp>
          <p:nvSpPr>
            <p:cNvPr id="4" name="TextBox 4"/>
            <p:cNvSpPr txBox="1"/>
            <p:nvPr/>
          </p:nvSpPr>
          <p:spPr>
            <a:xfrm>
              <a:off x="527685" y="545306"/>
              <a:ext cx="862879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定义：业主以项目形式发起招标，运营商应标方式展开的一次性/非经常性收入，涵盖硬件转售、软件license、垂直行业系统集成</a:t>
              </a:r>
            </a:p>
          </p:txBody>
        </p:sp>
        <p:sp>
          <p:nvSpPr>
            <p:cNvPr id="5" name="Line 5"/>
            <p:cNvSpPr/>
            <p:nvPr/>
          </p:nvSpPr>
          <p:spPr>
            <a:xfrm>
              <a:off x="533400" y="78105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61" name="Group 61"/>
          <p:cNvGrpSpPr/>
          <p:nvPr/>
        </p:nvGrpSpPr>
        <p:grpSpPr>
          <a:xfrm>
            <a:off x="528066" y="953452"/>
            <a:ext cx="6672834" cy="3792855"/>
            <a:chOff x="528066" y="953452"/>
            <a:chExt cx="6672834" cy="3792855"/>
          </a:xfrm>
        </p:grpSpPr>
        <p:sp>
          <p:nvSpPr>
            <p:cNvPr id="7" name="TextBox 7"/>
            <p:cNvSpPr txBox="1"/>
            <p:nvPr/>
          </p:nvSpPr>
          <p:spPr>
            <a:xfrm>
              <a:off x="528066" y="953452"/>
              <a:ext cx="3852748"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OB · 按行业招标类型的收入分布（估，总额1,950M€）</a:t>
              </a:r>
            </a:p>
          </p:txBody>
        </p:sp>
        <p:sp>
          <p:nvSpPr>
            <p:cNvPr id="8" name="Line 8"/>
            <p:cNvSpPr/>
            <p:nvPr/>
          </p:nvSpPr>
          <p:spPr>
            <a:xfrm>
              <a:off x="533400" y="1162050"/>
              <a:ext cx="6667500" cy="9525"/>
            </a:xfrm>
            <a:custGeom>
              <a:avLst/>
              <a:gdLst/>
              <a:ahLst/>
              <a:cxnLst/>
              <a:rect l="l" t="t" r="r" b="b"/>
              <a:pathLst>
                <a:path w="6667500" h="9525">
                  <a:moveTo>
                    <a:pt x="0" y="0"/>
                  </a:moveTo>
                  <a:lnTo>
                    <a:pt x="6667500" y="0"/>
                  </a:lnTo>
                </a:path>
              </a:pathLst>
            </a:custGeom>
            <a:noFill/>
            <a:ln w="19050">
              <a:solidFill>
                <a:srgbClr val="CBD5E1"/>
              </a:solidFill>
            </a:ln>
          </p:spPr>
        </p:sp>
        <p:sp>
          <p:nvSpPr>
            <p:cNvPr id="9" name="TextBox 9"/>
            <p:cNvSpPr txBox="1"/>
            <p:nvPr/>
          </p:nvSpPr>
          <p:spPr>
            <a:xfrm>
              <a:off x="623888" y="1236345"/>
              <a:ext cx="842789"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行业/招标类型</a:t>
              </a:r>
            </a:p>
          </p:txBody>
        </p:sp>
        <p:sp>
          <p:nvSpPr>
            <p:cNvPr id="10" name="TextBox 10"/>
            <p:cNvSpPr txBox="1"/>
            <p:nvPr/>
          </p:nvSpPr>
          <p:spPr>
            <a:xfrm>
              <a:off x="3138488" y="1236345"/>
              <a:ext cx="263957"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占比</a:t>
              </a:r>
            </a:p>
          </p:txBody>
        </p:sp>
        <p:sp>
          <p:nvSpPr>
            <p:cNvPr id="11" name="TextBox 11"/>
            <p:cNvSpPr txBox="1"/>
            <p:nvPr/>
          </p:nvSpPr>
          <p:spPr>
            <a:xfrm>
              <a:off x="3805238" y="1236345"/>
              <a:ext cx="184267" cy="176212"/>
            </a:xfrm>
            <a:prstGeom prst="rect">
              <a:avLst/>
            </a:prstGeom>
            <a:noFill/>
            <a:ln>
              <a:noFill/>
            </a:ln>
          </p:spPr>
          <p:txBody>
            <a:bodyPr wrap="none" lIns="0" tIns="0" rIns="0" bIns="0" anchor="t" anchorCtr="0">
              <a:spAutoFit/>
            </a:bodyPr>
            <a:lstStyle/>
            <a:p>
              <a:pPr algn="l"/>
              <a:r>
                <a:rPr lang="en-US" sz="900" b="1" dirty="0">
                  <a:solidFill>
                    <a:srgbClr val="6B6B6B"/>
                  </a:solidFill>
                  <a:latin typeface="Arial"/>
                  <a:ea typeface="Arial"/>
                  <a:cs typeface="Arial"/>
                </a:rPr>
                <a:t>M€</a:t>
              </a:r>
            </a:p>
          </p:txBody>
        </p:sp>
        <p:sp>
          <p:nvSpPr>
            <p:cNvPr id="12" name="TextBox 12"/>
            <p:cNvSpPr txBox="1"/>
            <p:nvPr/>
          </p:nvSpPr>
          <p:spPr>
            <a:xfrm>
              <a:off x="4567238" y="1236345"/>
              <a:ext cx="970005" cy="176212"/>
            </a:xfrm>
            <a:prstGeom prst="rect">
              <a:avLst/>
            </a:prstGeom>
            <a:noFill/>
            <a:ln>
              <a:noFill/>
            </a:ln>
          </p:spPr>
          <p:txBody>
            <a:bodyPr wrap="none" lIns="0" tIns="0" rIns="0" bIns="0" anchor="t" anchorCtr="0">
              <a:spAutoFit/>
            </a:bodyPr>
            <a:lstStyle/>
            <a:p>
              <a:pPr algn="l"/>
              <a:r>
                <a:rPr lang="zh-CN" sz="900" b="1" dirty="0">
                  <a:solidFill>
                    <a:srgbClr val="6B6B6B"/>
                  </a:solidFill>
                  <a:latin typeface="Arial"/>
                  <a:ea typeface="Microsoft YaHei"/>
                  <a:cs typeface="Arial"/>
                </a:rPr>
                <a:t>代表性招标/项目</a:t>
              </a:r>
            </a:p>
          </p:txBody>
        </p:sp>
        <p:sp>
          <p:nvSpPr>
            <p:cNvPr id="13" name="Rectangle 13"/>
            <p:cNvSpPr/>
            <p:nvPr/>
          </p:nvSpPr>
          <p:spPr>
            <a:xfrm>
              <a:off x="533400" y="1409700"/>
              <a:ext cx="6667500" cy="285750"/>
            </a:xfrm>
            <a:prstGeom prst="rect">
              <a:avLst/>
            </a:prstGeom>
            <a:solidFill>
              <a:srgbClr val="FBF6F1"/>
            </a:solidFill>
            <a:ln>
              <a:noFill/>
            </a:ln>
          </p:spPr>
        </p:sp>
        <p:sp>
          <p:nvSpPr>
            <p:cNvPr id="14" name="TextBox 14"/>
            <p:cNvSpPr txBox="1"/>
            <p:nvPr/>
          </p:nvSpPr>
          <p:spPr>
            <a:xfrm>
              <a:off x="623316" y="1486852"/>
              <a:ext cx="1049598"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国防与国土安全</a:t>
              </a:r>
            </a:p>
          </p:txBody>
        </p:sp>
        <p:sp>
          <p:nvSpPr>
            <p:cNvPr id="15" name="TextBox 15"/>
            <p:cNvSpPr txBox="1"/>
            <p:nvPr/>
          </p:nvSpPr>
          <p:spPr>
            <a:xfrm>
              <a:off x="3006217" y="148685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20%</a:t>
              </a:r>
            </a:p>
          </p:txBody>
        </p:sp>
        <p:sp>
          <p:nvSpPr>
            <p:cNvPr id="16" name="TextBox 16"/>
            <p:cNvSpPr txBox="1"/>
            <p:nvPr/>
          </p:nvSpPr>
          <p:spPr>
            <a:xfrm>
              <a:off x="3809562" y="14868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390</a:t>
              </a:r>
            </a:p>
          </p:txBody>
        </p:sp>
        <p:sp>
          <p:nvSpPr>
            <p:cNvPr id="17" name="TextBox 17"/>
            <p:cNvSpPr txBox="1"/>
            <p:nvPr/>
          </p:nvSpPr>
          <p:spPr>
            <a:xfrm>
              <a:off x="4567047" y="1494949"/>
              <a:ext cx="200306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军队部卫星通信框架(Telespazio)</a:t>
              </a:r>
            </a:p>
          </p:txBody>
        </p:sp>
        <p:sp>
          <p:nvSpPr>
            <p:cNvPr id="18" name="TextBox 18"/>
            <p:cNvSpPr txBox="1"/>
            <p:nvPr/>
          </p:nvSpPr>
          <p:spPr>
            <a:xfrm>
              <a:off x="623316" y="1772602"/>
              <a:ext cx="1428065"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公共部门/政府信息化</a:t>
              </a:r>
            </a:p>
          </p:txBody>
        </p:sp>
        <p:sp>
          <p:nvSpPr>
            <p:cNvPr id="19" name="TextBox 19"/>
            <p:cNvSpPr txBox="1"/>
            <p:nvPr/>
          </p:nvSpPr>
          <p:spPr>
            <a:xfrm>
              <a:off x="3006217" y="177260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18%</a:t>
              </a:r>
            </a:p>
          </p:txBody>
        </p:sp>
        <p:sp>
          <p:nvSpPr>
            <p:cNvPr id="20" name="TextBox 20"/>
            <p:cNvSpPr txBox="1"/>
            <p:nvPr/>
          </p:nvSpPr>
          <p:spPr>
            <a:xfrm>
              <a:off x="3809562" y="17726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350</a:t>
              </a:r>
            </a:p>
          </p:txBody>
        </p:sp>
        <p:sp>
          <p:nvSpPr>
            <p:cNvPr id="21" name="TextBox 21"/>
            <p:cNvSpPr txBox="1"/>
            <p:nvPr/>
          </p:nvSpPr>
          <p:spPr>
            <a:xfrm>
              <a:off x="4567047" y="1780699"/>
              <a:ext cx="142448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UGAP电信服务框架协议</a:t>
              </a:r>
            </a:p>
          </p:txBody>
        </p:sp>
        <p:sp>
          <p:nvSpPr>
            <p:cNvPr id="22" name="Rectangle 22"/>
            <p:cNvSpPr/>
            <p:nvPr/>
          </p:nvSpPr>
          <p:spPr>
            <a:xfrm>
              <a:off x="533400" y="1981200"/>
              <a:ext cx="6667500" cy="285750"/>
            </a:xfrm>
            <a:prstGeom prst="rect">
              <a:avLst/>
            </a:prstGeom>
            <a:solidFill>
              <a:srgbClr val="FBF6F1"/>
            </a:solidFill>
            <a:ln>
              <a:noFill/>
            </a:ln>
          </p:spPr>
        </p:sp>
        <p:sp>
          <p:nvSpPr>
            <p:cNvPr id="23" name="TextBox 23"/>
            <p:cNvSpPr txBox="1"/>
            <p:nvPr/>
          </p:nvSpPr>
          <p:spPr>
            <a:xfrm>
              <a:off x="623316" y="2058352"/>
              <a:ext cx="1361277"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医疗健康(医院集团)</a:t>
              </a:r>
            </a:p>
          </p:txBody>
        </p:sp>
        <p:sp>
          <p:nvSpPr>
            <p:cNvPr id="24" name="TextBox 24"/>
            <p:cNvSpPr txBox="1"/>
            <p:nvPr/>
          </p:nvSpPr>
          <p:spPr>
            <a:xfrm>
              <a:off x="3006217" y="205835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12%</a:t>
              </a:r>
            </a:p>
          </p:txBody>
        </p:sp>
        <p:sp>
          <p:nvSpPr>
            <p:cNvPr id="25" name="TextBox 25"/>
            <p:cNvSpPr txBox="1"/>
            <p:nvPr/>
          </p:nvSpPr>
          <p:spPr>
            <a:xfrm>
              <a:off x="3809562" y="20583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235</a:t>
              </a:r>
            </a:p>
          </p:txBody>
        </p:sp>
        <p:sp>
          <p:nvSpPr>
            <p:cNvPr id="26" name="TextBox 26"/>
            <p:cNvSpPr txBox="1"/>
            <p:nvPr/>
          </p:nvSpPr>
          <p:spPr>
            <a:xfrm>
              <a:off x="4567047" y="2066449"/>
              <a:ext cx="120952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GHT网络与托管框架</a:t>
              </a:r>
            </a:p>
          </p:txBody>
        </p:sp>
        <p:sp>
          <p:nvSpPr>
            <p:cNvPr id="27" name="TextBox 27"/>
            <p:cNvSpPr txBox="1"/>
            <p:nvPr/>
          </p:nvSpPr>
          <p:spPr>
            <a:xfrm>
              <a:off x="623316" y="2344102"/>
              <a:ext cx="60434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金融保险</a:t>
              </a:r>
            </a:p>
          </p:txBody>
        </p:sp>
        <p:sp>
          <p:nvSpPr>
            <p:cNvPr id="28" name="TextBox 28"/>
            <p:cNvSpPr txBox="1"/>
            <p:nvPr/>
          </p:nvSpPr>
          <p:spPr>
            <a:xfrm>
              <a:off x="3006217" y="2344102"/>
              <a:ext cx="28524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10%</a:t>
              </a:r>
            </a:p>
          </p:txBody>
        </p:sp>
        <p:sp>
          <p:nvSpPr>
            <p:cNvPr id="29" name="TextBox 29"/>
            <p:cNvSpPr txBox="1"/>
            <p:nvPr/>
          </p:nvSpPr>
          <p:spPr>
            <a:xfrm>
              <a:off x="3809562" y="23441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195</a:t>
              </a:r>
            </a:p>
          </p:txBody>
        </p:sp>
        <p:sp>
          <p:nvSpPr>
            <p:cNvPr id="30" name="TextBox 30"/>
            <p:cNvSpPr txBox="1"/>
            <p:nvPr/>
          </p:nvSpPr>
          <p:spPr>
            <a:xfrm>
              <a:off x="4567047" y="2352199"/>
              <a:ext cx="139464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数据分析/核心系统集成</a:t>
              </a:r>
            </a:p>
          </p:txBody>
        </p:sp>
        <p:sp>
          <p:nvSpPr>
            <p:cNvPr id="31" name="Rectangle 31"/>
            <p:cNvSpPr/>
            <p:nvPr/>
          </p:nvSpPr>
          <p:spPr>
            <a:xfrm>
              <a:off x="533400" y="2552700"/>
              <a:ext cx="6667500" cy="285750"/>
            </a:xfrm>
            <a:prstGeom prst="rect">
              <a:avLst/>
            </a:prstGeom>
            <a:solidFill>
              <a:srgbClr val="FBF6F1"/>
            </a:solidFill>
            <a:ln>
              <a:noFill/>
            </a:ln>
          </p:spPr>
        </p:sp>
        <p:sp>
          <p:nvSpPr>
            <p:cNvPr id="32" name="TextBox 32"/>
            <p:cNvSpPr txBox="1"/>
            <p:nvPr/>
          </p:nvSpPr>
          <p:spPr>
            <a:xfrm>
              <a:off x="623316" y="2629852"/>
              <a:ext cx="1279647"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交通运输/机场枢纽</a:t>
              </a:r>
            </a:p>
          </p:txBody>
        </p:sp>
        <p:sp>
          <p:nvSpPr>
            <p:cNvPr id="33" name="TextBox 33"/>
            <p:cNvSpPr txBox="1"/>
            <p:nvPr/>
          </p:nvSpPr>
          <p:spPr>
            <a:xfrm>
              <a:off x="3087847" y="262985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8%</a:t>
              </a:r>
            </a:p>
          </p:txBody>
        </p:sp>
        <p:sp>
          <p:nvSpPr>
            <p:cNvPr id="34" name="TextBox 34"/>
            <p:cNvSpPr txBox="1"/>
            <p:nvPr/>
          </p:nvSpPr>
          <p:spPr>
            <a:xfrm>
              <a:off x="3809562" y="26298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155</a:t>
              </a:r>
            </a:p>
          </p:txBody>
        </p:sp>
        <p:sp>
          <p:nvSpPr>
            <p:cNvPr id="35" name="TextBox 35"/>
            <p:cNvSpPr txBox="1"/>
            <p:nvPr/>
          </p:nvSpPr>
          <p:spPr>
            <a:xfrm>
              <a:off x="4567047" y="2637949"/>
              <a:ext cx="164303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Wi-Fi/专网集成(交通枢纽)</a:t>
              </a:r>
            </a:p>
          </p:txBody>
        </p:sp>
        <p:sp>
          <p:nvSpPr>
            <p:cNvPr id="36" name="TextBox 36"/>
            <p:cNvSpPr txBox="1"/>
            <p:nvPr/>
          </p:nvSpPr>
          <p:spPr>
            <a:xfrm>
              <a:off x="623316" y="2915602"/>
              <a:ext cx="60434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零售物流</a:t>
              </a:r>
            </a:p>
          </p:txBody>
        </p:sp>
        <p:sp>
          <p:nvSpPr>
            <p:cNvPr id="37" name="TextBox 37"/>
            <p:cNvSpPr txBox="1"/>
            <p:nvPr/>
          </p:nvSpPr>
          <p:spPr>
            <a:xfrm>
              <a:off x="3087847" y="291560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8%</a:t>
              </a:r>
            </a:p>
          </p:txBody>
        </p:sp>
        <p:sp>
          <p:nvSpPr>
            <p:cNvPr id="38" name="TextBox 38"/>
            <p:cNvSpPr txBox="1"/>
            <p:nvPr/>
          </p:nvSpPr>
          <p:spPr>
            <a:xfrm>
              <a:off x="3809562" y="29156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155</a:t>
              </a:r>
            </a:p>
          </p:txBody>
        </p:sp>
        <p:sp>
          <p:nvSpPr>
            <p:cNvPr id="39" name="TextBox 39"/>
            <p:cNvSpPr txBox="1"/>
            <p:nvPr/>
          </p:nvSpPr>
          <p:spPr>
            <a:xfrm>
              <a:off x="4567047" y="2923699"/>
              <a:ext cx="113213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企业硬件转售/终端</a:t>
              </a:r>
            </a:p>
          </p:txBody>
        </p:sp>
        <p:sp>
          <p:nvSpPr>
            <p:cNvPr id="40" name="Rectangle 40"/>
            <p:cNvSpPr/>
            <p:nvPr/>
          </p:nvSpPr>
          <p:spPr>
            <a:xfrm>
              <a:off x="533400" y="3124200"/>
              <a:ext cx="6667500" cy="285750"/>
            </a:xfrm>
            <a:prstGeom prst="rect">
              <a:avLst/>
            </a:prstGeom>
            <a:solidFill>
              <a:srgbClr val="FBF6F1"/>
            </a:solidFill>
            <a:ln>
              <a:noFill/>
            </a:ln>
          </p:spPr>
        </p:sp>
        <p:sp>
          <p:nvSpPr>
            <p:cNvPr id="41" name="TextBox 41"/>
            <p:cNvSpPr txBox="1"/>
            <p:nvPr/>
          </p:nvSpPr>
          <p:spPr>
            <a:xfrm>
              <a:off x="623316" y="3201352"/>
              <a:ext cx="901179"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能源公用事业</a:t>
              </a:r>
            </a:p>
          </p:txBody>
        </p:sp>
        <p:sp>
          <p:nvSpPr>
            <p:cNvPr id="42" name="TextBox 42"/>
            <p:cNvSpPr txBox="1"/>
            <p:nvPr/>
          </p:nvSpPr>
          <p:spPr>
            <a:xfrm>
              <a:off x="3087847" y="320135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8%</a:t>
              </a:r>
            </a:p>
          </p:txBody>
        </p:sp>
        <p:sp>
          <p:nvSpPr>
            <p:cNvPr id="43" name="TextBox 43"/>
            <p:cNvSpPr txBox="1"/>
            <p:nvPr/>
          </p:nvSpPr>
          <p:spPr>
            <a:xfrm>
              <a:off x="3809562" y="32013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155</a:t>
              </a:r>
            </a:p>
          </p:txBody>
        </p:sp>
        <p:sp>
          <p:nvSpPr>
            <p:cNvPr id="44" name="TextBox 44"/>
            <p:cNvSpPr txBox="1"/>
            <p:nvPr/>
          </p:nvSpPr>
          <p:spPr>
            <a:xfrm>
              <a:off x="4567047" y="3209449"/>
              <a:ext cx="140368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SD-WAN/安全改造项目</a:t>
              </a:r>
            </a:p>
          </p:txBody>
        </p:sp>
        <p:sp>
          <p:nvSpPr>
            <p:cNvPr id="45" name="TextBox 45"/>
            <p:cNvSpPr txBox="1"/>
            <p:nvPr/>
          </p:nvSpPr>
          <p:spPr>
            <a:xfrm>
              <a:off x="623316" y="3487102"/>
              <a:ext cx="60434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工业制造</a:t>
              </a:r>
            </a:p>
          </p:txBody>
        </p:sp>
        <p:sp>
          <p:nvSpPr>
            <p:cNvPr id="46" name="TextBox 46"/>
            <p:cNvSpPr txBox="1"/>
            <p:nvPr/>
          </p:nvSpPr>
          <p:spPr>
            <a:xfrm>
              <a:off x="3087847" y="348710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7%</a:t>
              </a:r>
            </a:p>
          </p:txBody>
        </p:sp>
        <p:sp>
          <p:nvSpPr>
            <p:cNvPr id="47" name="TextBox 47"/>
            <p:cNvSpPr txBox="1"/>
            <p:nvPr/>
          </p:nvSpPr>
          <p:spPr>
            <a:xfrm>
              <a:off x="3809562" y="348710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135</a:t>
              </a:r>
            </a:p>
          </p:txBody>
        </p:sp>
        <p:sp>
          <p:nvSpPr>
            <p:cNvPr id="48" name="TextBox 48"/>
            <p:cNvSpPr txBox="1"/>
            <p:nvPr/>
          </p:nvSpPr>
          <p:spPr>
            <a:xfrm>
              <a:off x="4567047" y="3495199"/>
              <a:ext cx="105994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企业网络设备供应</a:t>
              </a:r>
            </a:p>
          </p:txBody>
        </p:sp>
        <p:sp>
          <p:nvSpPr>
            <p:cNvPr id="49" name="Rectangle 49"/>
            <p:cNvSpPr/>
            <p:nvPr/>
          </p:nvSpPr>
          <p:spPr>
            <a:xfrm>
              <a:off x="533400" y="3695700"/>
              <a:ext cx="6667500" cy="285750"/>
            </a:xfrm>
            <a:prstGeom prst="rect">
              <a:avLst/>
            </a:prstGeom>
            <a:solidFill>
              <a:srgbClr val="FBF6F1"/>
            </a:solidFill>
            <a:ln>
              <a:noFill/>
            </a:ln>
          </p:spPr>
        </p:sp>
        <p:sp>
          <p:nvSpPr>
            <p:cNvPr id="50" name="TextBox 50"/>
            <p:cNvSpPr txBox="1"/>
            <p:nvPr/>
          </p:nvSpPr>
          <p:spPr>
            <a:xfrm>
              <a:off x="623316" y="3772852"/>
              <a:ext cx="307505"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教育</a:t>
              </a:r>
            </a:p>
          </p:txBody>
        </p:sp>
        <p:sp>
          <p:nvSpPr>
            <p:cNvPr id="51" name="TextBox 51"/>
            <p:cNvSpPr txBox="1"/>
            <p:nvPr/>
          </p:nvSpPr>
          <p:spPr>
            <a:xfrm>
              <a:off x="3087847" y="377285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5%</a:t>
              </a:r>
            </a:p>
          </p:txBody>
        </p:sp>
        <p:sp>
          <p:nvSpPr>
            <p:cNvPr id="52" name="TextBox 52"/>
            <p:cNvSpPr txBox="1"/>
            <p:nvPr/>
          </p:nvSpPr>
          <p:spPr>
            <a:xfrm>
              <a:off x="3809562" y="3772852"/>
              <a:ext cx="243897"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100</a:t>
              </a:r>
            </a:p>
          </p:txBody>
        </p:sp>
        <p:sp>
          <p:nvSpPr>
            <p:cNvPr id="53" name="TextBox 53"/>
            <p:cNvSpPr txBox="1"/>
            <p:nvPr/>
          </p:nvSpPr>
          <p:spPr>
            <a:xfrm>
              <a:off x="4567047" y="3780949"/>
              <a:ext cx="1191197"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数字化工作场所项目</a:t>
              </a:r>
            </a:p>
          </p:txBody>
        </p:sp>
        <p:sp>
          <p:nvSpPr>
            <p:cNvPr id="54" name="TextBox 54"/>
            <p:cNvSpPr txBox="1"/>
            <p:nvPr/>
          </p:nvSpPr>
          <p:spPr>
            <a:xfrm>
              <a:off x="623316" y="4058602"/>
              <a:ext cx="1739744"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其他(智慧城市/地方政府)</a:t>
              </a:r>
            </a:p>
          </p:txBody>
        </p:sp>
        <p:sp>
          <p:nvSpPr>
            <p:cNvPr id="55" name="TextBox 55"/>
            <p:cNvSpPr txBox="1"/>
            <p:nvPr/>
          </p:nvSpPr>
          <p:spPr>
            <a:xfrm>
              <a:off x="3087847" y="4058602"/>
              <a:ext cx="203612" cy="205359"/>
            </a:xfrm>
            <a:prstGeom prst="rect">
              <a:avLst/>
            </a:prstGeom>
            <a:noFill/>
            <a:ln>
              <a:noFill/>
            </a:ln>
          </p:spPr>
          <p:txBody>
            <a:bodyPr wrap="none" lIns="0" tIns="0" rIns="0" bIns="0" anchor="t" anchorCtr="0">
              <a:spAutoFit/>
            </a:bodyPr>
            <a:lstStyle/>
            <a:p>
              <a:pPr algn="r"/>
              <a:r>
                <a:rPr lang="en-US" sz="1050" b="1" dirty="0">
                  <a:solidFill>
                    <a:srgbClr val="B85C00"/>
                  </a:solidFill>
                  <a:latin typeface="Arial"/>
                  <a:ea typeface="Arial"/>
                  <a:cs typeface="Arial"/>
                </a:rPr>
                <a:t>4%</a:t>
              </a:r>
            </a:p>
          </p:txBody>
        </p:sp>
        <p:sp>
          <p:nvSpPr>
            <p:cNvPr id="56" name="TextBox 56"/>
            <p:cNvSpPr txBox="1"/>
            <p:nvPr/>
          </p:nvSpPr>
          <p:spPr>
            <a:xfrm>
              <a:off x="3887305" y="4058602"/>
              <a:ext cx="166154" cy="205359"/>
            </a:xfrm>
            <a:prstGeom prst="rect">
              <a:avLst/>
            </a:prstGeom>
            <a:noFill/>
            <a:ln>
              <a:noFill/>
            </a:ln>
          </p:spPr>
          <p:txBody>
            <a:bodyPr wrap="none" lIns="0" tIns="0" rIns="0" bIns="0" anchor="t" anchorCtr="0">
              <a:spAutoFit/>
            </a:bodyPr>
            <a:lstStyle/>
            <a:p>
              <a:pPr algn="r"/>
              <a:r>
                <a:rPr lang="en-US" sz="1050" dirty="0">
                  <a:solidFill>
                    <a:srgbClr val="1A1A1A"/>
                  </a:solidFill>
                  <a:latin typeface="Arial"/>
                  <a:ea typeface="Arial"/>
                  <a:cs typeface="Arial"/>
                </a:rPr>
                <a:t>80</a:t>
              </a:r>
            </a:p>
          </p:txBody>
        </p:sp>
        <p:sp>
          <p:nvSpPr>
            <p:cNvPr id="57" name="TextBox 57"/>
            <p:cNvSpPr txBox="1"/>
            <p:nvPr/>
          </p:nvSpPr>
          <p:spPr>
            <a:xfrm>
              <a:off x="4567047" y="4066699"/>
              <a:ext cx="1426464"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IoT计量与视频安防集成</a:t>
              </a:r>
            </a:p>
          </p:txBody>
        </p:sp>
        <p:sp>
          <p:nvSpPr>
            <p:cNvPr id="58" name="Line 58"/>
            <p:cNvSpPr/>
            <p:nvPr/>
          </p:nvSpPr>
          <p:spPr>
            <a:xfrm>
              <a:off x="533400" y="4286250"/>
              <a:ext cx="6667500" cy="9525"/>
            </a:xfrm>
            <a:custGeom>
              <a:avLst/>
              <a:gdLst/>
              <a:ahLst/>
              <a:cxnLst/>
              <a:rect l="l" t="t" r="r" b="b"/>
              <a:pathLst>
                <a:path w="6667500" h="9525">
                  <a:moveTo>
                    <a:pt x="0" y="0"/>
                  </a:moveTo>
                  <a:lnTo>
                    <a:pt x="6667500" y="0"/>
                  </a:lnTo>
                </a:path>
              </a:pathLst>
            </a:custGeom>
            <a:noFill/>
            <a:ln w="19050">
              <a:solidFill>
                <a:srgbClr val="1A1A1A"/>
              </a:solidFill>
            </a:ln>
          </p:spPr>
        </p:sp>
        <p:sp>
          <p:nvSpPr>
            <p:cNvPr id="59" name="TextBox 59"/>
            <p:cNvSpPr txBox="1"/>
            <p:nvPr/>
          </p:nvSpPr>
          <p:spPr>
            <a:xfrm>
              <a:off x="623697" y="4371499"/>
              <a:ext cx="3606676"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Arial"/>
                  <a:ea typeface="Microsoft YaHei"/>
                  <a:cs typeface="Arial"/>
                </a:rPr>
                <a:t>国防+公共部门合计38%，是OB集成转售的最大单一板块</a:t>
              </a:r>
            </a:p>
          </p:txBody>
        </p:sp>
        <p:sp>
          <p:nvSpPr>
            <p:cNvPr id="60" name="TextBox 60"/>
            <p:cNvSpPr txBox="1"/>
            <p:nvPr/>
          </p:nvSpPr>
          <p:spPr>
            <a:xfrm>
              <a:off x="623888" y="4570095"/>
              <a:ext cx="3435668" cy="176212"/>
            </a:xfrm>
            <a:prstGeom prst="rect">
              <a:avLst/>
            </a:prstGeom>
            <a:noFill/>
            <a:ln>
              <a:noFill/>
            </a:ln>
          </p:spPr>
          <p:txBody>
            <a:bodyPr wrap="none" lIns="0" tIns="0" rIns="0" bIns="0" anchor="t" anchorCtr="0">
              <a:spAutoFit/>
            </a:bodyPr>
            <a:lstStyle/>
            <a:p>
              <a:pPr algn="l"/>
              <a:r>
                <a:rPr lang="zh-CN" sz="900" dirty="0">
                  <a:solidFill>
                    <a:srgbClr val="9B9B9B"/>
                  </a:solidFill>
                  <a:latin typeface="Arial"/>
                  <a:ea typeface="Microsoft YaHei"/>
                  <a:cs typeface="Arial"/>
                </a:rPr>
                <a:t>口径参考原始材料Aena案例结构，按OB已知垂直布局估算分布</a:t>
              </a:r>
            </a:p>
          </p:txBody>
        </p:sp>
      </p:grpSp>
      <p:grpSp>
        <p:nvGrpSpPr>
          <p:cNvPr id="78" name="Group 78"/>
          <p:cNvGrpSpPr/>
          <p:nvPr/>
        </p:nvGrpSpPr>
        <p:grpSpPr>
          <a:xfrm>
            <a:off x="528447" y="4847749"/>
            <a:ext cx="5247323" cy="1568767"/>
            <a:chOff x="528447" y="4847749"/>
            <a:chExt cx="5247323" cy="1568767"/>
          </a:xfrm>
        </p:grpSpPr>
        <p:sp>
          <p:nvSpPr>
            <p:cNvPr id="62" name="TextBox 62"/>
            <p:cNvSpPr txBox="1"/>
            <p:nvPr/>
          </p:nvSpPr>
          <p:spPr>
            <a:xfrm>
              <a:off x="528447" y="4847749"/>
              <a:ext cx="2904068" cy="190690"/>
            </a:xfrm>
            <a:prstGeom prst="rect">
              <a:avLst/>
            </a:prstGeom>
            <a:noFill/>
            <a:ln>
              <a:noFill/>
            </a:ln>
          </p:spPr>
          <p:txBody>
            <a:bodyPr wrap="none" lIns="0" tIns="0" rIns="0" bIns="0" anchor="t" anchorCtr="0">
              <a:spAutoFit/>
            </a:bodyPr>
            <a:lstStyle/>
            <a:p>
              <a:pPr algn="l"/>
              <a:r>
                <a:rPr lang="zh-CN" sz="980" b="1" dirty="0">
                  <a:solidFill>
                    <a:srgbClr val="1A1A1A"/>
                  </a:solidFill>
                  <a:latin typeface="Arial"/>
                  <a:ea typeface="Microsoft YaHei"/>
                  <a:cs typeface="Arial"/>
                </a:rPr>
                <a:t>附：办公终端厂商份额（估，硬件转售子品类）</a:t>
              </a:r>
            </a:p>
          </p:txBody>
        </p:sp>
        <p:grpSp>
          <p:nvGrpSpPr>
            <p:cNvPr id="76" name="Group 76"/>
            <p:cNvGrpSpPr/>
            <p:nvPr/>
          </p:nvGrpSpPr>
          <p:grpSpPr>
            <a:xfrm>
              <a:off x="762000" y="5455920"/>
              <a:ext cx="3095625" cy="960596"/>
              <a:chOff x="762000" y="5455920"/>
              <a:chExt cx="3095625" cy="960596"/>
            </a:xfrm>
          </p:grpSpPr>
          <p:sp>
            <p:nvSpPr>
              <p:cNvPr id="63" name="Line 63"/>
              <p:cNvSpPr/>
              <p:nvPr/>
            </p:nvSpPr>
            <p:spPr>
              <a:xfrm>
                <a:off x="762000" y="61912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64" name="Rectangle 64"/>
              <p:cNvSpPr/>
              <p:nvPr/>
            </p:nvSpPr>
            <p:spPr>
              <a:xfrm>
                <a:off x="904875" y="5619750"/>
                <a:ext cx="476250" cy="571500"/>
              </a:xfrm>
              <a:prstGeom prst="rect">
                <a:avLst/>
              </a:prstGeom>
              <a:solidFill>
                <a:srgbClr val="C7C2B8"/>
              </a:solidFill>
              <a:ln>
                <a:noFill/>
              </a:ln>
            </p:spPr>
          </p:sp>
          <p:sp>
            <p:nvSpPr>
              <p:cNvPr id="65" name="TextBox 65"/>
              <p:cNvSpPr txBox="1"/>
              <p:nvPr/>
            </p:nvSpPr>
            <p:spPr>
              <a:xfrm>
                <a:off x="1020563" y="5455920"/>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35%</a:t>
                </a:r>
              </a:p>
            </p:txBody>
          </p:sp>
          <p:sp>
            <p:nvSpPr>
              <p:cNvPr id="66" name="TextBox 66"/>
              <p:cNvSpPr txBox="1"/>
              <p:nvPr/>
            </p:nvSpPr>
            <p:spPr>
              <a:xfrm>
                <a:off x="1073696" y="6254591"/>
                <a:ext cx="138608"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HP</a:t>
                </a:r>
              </a:p>
            </p:txBody>
          </p:sp>
          <p:sp>
            <p:nvSpPr>
              <p:cNvPr id="67" name="Rectangle 67"/>
              <p:cNvSpPr/>
              <p:nvPr/>
            </p:nvSpPr>
            <p:spPr>
              <a:xfrm>
                <a:off x="1571625" y="5781675"/>
                <a:ext cx="476250" cy="409575"/>
              </a:xfrm>
              <a:prstGeom prst="rect">
                <a:avLst/>
              </a:prstGeom>
              <a:solidFill>
                <a:srgbClr val="C7C2B8"/>
              </a:solidFill>
              <a:ln>
                <a:noFill/>
              </a:ln>
            </p:spPr>
          </p:sp>
          <p:sp>
            <p:nvSpPr>
              <p:cNvPr id="68" name="TextBox 68"/>
              <p:cNvSpPr txBox="1"/>
              <p:nvPr/>
            </p:nvSpPr>
            <p:spPr>
              <a:xfrm>
                <a:off x="1687313" y="5617845"/>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25%</a:t>
                </a:r>
              </a:p>
            </p:txBody>
          </p:sp>
          <p:sp>
            <p:nvSpPr>
              <p:cNvPr id="69" name="TextBox 69"/>
              <p:cNvSpPr txBox="1"/>
              <p:nvPr/>
            </p:nvSpPr>
            <p:spPr>
              <a:xfrm>
                <a:off x="1709249" y="6254591"/>
                <a:ext cx="201001"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Dell</a:t>
                </a:r>
              </a:p>
            </p:txBody>
          </p:sp>
          <p:sp>
            <p:nvSpPr>
              <p:cNvPr id="70" name="Rectangle 70"/>
              <p:cNvSpPr/>
              <p:nvPr/>
            </p:nvSpPr>
            <p:spPr>
              <a:xfrm>
                <a:off x="2238375" y="5867400"/>
                <a:ext cx="476250" cy="323850"/>
              </a:xfrm>
              <a:prstGeom prst="rect">
                <a:avLst/>
              </a:prstGeom>
              <a:solidFill>
                <a:srgbClr val="C7C2B8"/>
              </a:solidFill>
              <a:ln>
                <a:noFill/>
              </a:ln>
            </p:spPr>
          </p:sp>
          <p:sp>
            <p:nvSpPr>
              <p:cNvPr id="71" name="TextBox 71"/>
              <p:cNvSpPr txBox="1"/>
              <p:nvPr/>
            </p:nvSpPr>
            <p:spPr>
              <a:xfrm>
                <a:off x="2354063" y="5703570"/>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20%</a:t>
                </a:r>
              </a:p>
            </p:txBody>
          </p:sp>
          <p:sp>
            <p:nvSpPr>
              <p:cNvPr id="72" name="TextBox 72"/>
              <p:cNvSpPr txBox="1"/>
              <p:nvPr/>
            </p:nvSpPr>
            <p:spPr>
              <a:xfrm>
                <a:off x="2286757" y="6254591"/>
                <a:ext cx="379486"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Lenovo</a:t>
                </a:r>
              </a:p>
            </p:txBody>
          </p:sp>
          <p:sp>
            <p:nvSpPr>
              <p:cNvPr id="73" name="Rectangle 73"/>
              <p:cNvSpPr/>
              <p:nvPr/>
            </p:nvSpPr>
            <p:spPr>
              <a:xfrm>
                <a:off x="2905125" y="5943600"/>
                <a:ext cx="476250" cy="247650"/>
              </a:xfrm>
              <a:prstGeom prst="rect">
                <a:avLst/>
              </a:prstGeom>
              <a:solidFill>
                <a:srgbClr val="C7C2B8"/>
              </a:solidFill>
              <a:ln>
                <a:noFill/>
              </a:ln>
            </p:spPr>
          </p:sp>
          <p:sp>
            <p:nvSpPr>
              <p:cNvPr id="74" name="TextBox 74"/>
              <p:cNvSpPr txBox="1"/>
              <p:nvPr/>
            </p:nvSpPr>
            <p:spPr>
              <a:xfrm>
                <a:off x="3020813" y="5779770"/>
                <a:ext cx="244874" cy="176212"/>
              </a:xfrm>
              <a:prstGeom prst="rect">
                <a:avLst/>
              </a:prstGeom>
              <a:noFill/>
              <a:ln>
                <a:noFill/>
              </a:ln>
            </p:spPr>
            <p:txBody>
              <a:bodyPr wrap="none" lIns="0" tIns="0" rIns="0" bIns="0" anchor="t" anchorCtr="0">
                <a:spAutoFit/>
              </a:bodyPr>
              <a:lstStyle/>
              <a:p>
                <a:pPr algn="ctr"/>
                <a:r>
                  <a:rPr lang="en-US" sz="900" b="1" dirty="0">
                    <a:solidFill>
                      <a:srgbClr val="1A1A1A"/>
                    </a:solidFill>
                    <a:latin typeface="Arial"/>
                    <a:ea typeface="Arial"/>
                    <a:cs typeface="Arial"/>
                  </a:rPr>
                  <a:t>15%</a:t>
                </a:r>
              </a:p>
            </p:txBody>
          </p:sp>
          <p:sp>
            <p:nvSpPr>
              <p:cNvPr id="75" name="TextBox 75"/>
              <p:cNvSpPr txBox="1"/>
              <p:nvPr/>
            </p:nvSpPr>
            <p:spPr>
              <a:xfrm>
                <a:off x="2998089" y="6254591"/>
                <a:ext cx="290322" cy="161925"/>
              </a:xfrm>
              <a:prstGeom prst="rect">
                <a:avLst/>
              </a:prstGeom>
              <a:noFill/>
              <a:ln>
                <a:noFill/>
              </a:ln>
            </p:spPr>
            <p:txBody>
              <a:bodyPr wrap="none" lIns="0" tIns="0" rIns="0" bIns="0" anchor="t" anchorCtr="0">
                <a:spAutoFit/>
              </a:bodyPr>
              <a:lstStyle/>
              <a:p>
                <a:pPr algn="ctr"/>
                <a:r>
                  <a:rPr lang="en-US" sz="820" dirty="0">
                    <a:solidFill>
                      <a:srgbClr val="6B6B6B"/>
                    </a:solidFill>
                    <a:latin typeface="Arial"/>
                    <a:ea typeface="Arial"/>
                    <a:cs typeface="Arial"/>
                  </a:rPr>
                  <a:t>Apple</a:t>
                </a:r>
              </a:p>
            </p:txBody>
          </p:sp>
        </p:grpSp>
        <p:sp>
          <p:nvSpPr>
            <p:cNvPr id="77" name="TextBox 77"/>
            <p:cNvSpPr txBox="1"/>
            <p:nvPr/>
          </p:nvSpPr>
          <p:spPr>
            <a:xfrm>
              <a:off x="4280916" y="5506402"/>
              <a:ext cx="1494854" cy="205359"/>
            </a:xfrm>
            <a:prstGeom prst="rect">
              <a:avLst/>
            </a:prstGeom>
            <a:noFill/>
            <a:ln>
              <a:noFill/>
            </a:ln>
          </p:spPr>
          <p:txBody>
            <a:bodyPr wrap="none" lIns="0" tIns="0" rIns="0" bIns="0" anchor="t" anchorCtr="0">
              <a:spAutoFit/>
            </a:bodyPr>
            <a:lstStyle/>
            <a:p>
              <a:pPr algn="l"/>
              <a:r>
                <a:rPr lang="zh-CN" sz="1050" b="1" dirty="0">
                  <a:solidFill>
                    <a:srgbClr val="C0392B"/>
                  </a:solidFill>
                  <a:latin typeface="Arial"/>
                  <a:ea typeface="Microsoft YaHei"/>
                  <a:cs typeface="Arial"/>
                </a:rPr>
                <a:t>华为：终端目录不可见</a:t>
              </a:r>
            </a:p>
          </p:txBody>
        </p:sp>
      </p:grpSp>
      <p:grpSp>
        <p:nvGrpSpPr>
          <p:cNvPr id="98" name="Group 98"/>
          <p:cNvGrpSpPr/>
          <p:nvPr/>
        </p:nvGrpSpPr>
        <p:grpSpPr>
          <a:xfrm>
            <a:off x="7460361" y="914400"/>
            <a:ext cx="4198239" cy="3463861"/>
            <a:chOff x="7460361" y="914400"/>
            <a:chExt cx="4198239" cy="3463861"/>
          </a:xfrm>
        </p:grpSpPr>
        <p:sp>
          <p:nvSpPr>
            <p:cNvPr id="79" name="Rectangle 79"/>
            <p:cNvSpPr/>
            <p:nvPr/>
          </p:nvSpPr>
          <p:spPr>
            <a:xfrm>
              <a:off x="7467600" y="914400"/>
              <a:ext cx="4191000" cy="76200"/>
            </a:xfrm>
            <a:prstGeom prst="rect">
              <a:avLst/>
            </a:prstGeom>
            <a:solidFill>
              <a:srgbClr val="FF7900"/>
            </a:solidFill>
            <a:ln>
              <a:noFill/>
            </a:ln>
          </p:spPr>
        </p:sp>
        <p:sp>
          <p:nvSpPr>
            <p:cNvPr id="80" name="TextBox 80"/>
            <p:cNvSpPr txBox="1"/>
            <p:nvPr/>
          </p:nvSpPr>
          <p:spPr>
            <a:xfrm>
              <a:off x="7460361" y="1065371"/>
              <a:ext cx="408207" cy="278702"/>
            </a:xfrm>
            <a:prstGeom prst="rect">
              <a:avLst/>
            </a:prstGeom>
            <a:noFill/>
            <a:ln>
              <a:noFill/>
            </a:ln>
          </p:spPr>
          <p:txBody>
            <a:bodyPr wrap="none" lIns="0" tIns="0" rIns="0" bIns="0" anchor="t" anchorCtr="0">
              <a:spAutoFit/>
            </a:bodyPr>
            <a:lstStyle/>
            <a:p>
              <a:pPr algn="l"/>
              <a:r>
                <a:rPr lang="en-US" sz="1420" b="1" dirty="0">
                  <a:solidFill>
                    <a:srgbClr val="FF7900"/>
                  </a:solidFill>
                  <a:latin typeface="Arial"/>
                  <a:ea typeface="Arial"/>
                  <a:cs typeface="Arial"/>
                </a:rPr>
                <a:t>OEU</a:t>
              </a:r>
            </a:p>
          </p:txBody>
        </p:sp>
        <p:sp>
          <p:nvSpPr>
            <p:cNvPr id="81" name="TextBox 81"/>
            <p:cNvSpPr txBox="1"/>
            <p:nvPr/>
          </p:nvSpPr>
          <p:spPr>
            <a:xfrm>
              <a:off x="7462266" y="1315402"/>
              <a:ext cx="1565529"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行业收入分布数据待补充</a:t>
              </a:r>
            </a:p>
          </p:txBody>
        </p:sp>
        <p:sp>
          <p:nvSpPr>
            <p:cNvPr id="82" name="Line 82"/>
            <p:cNvSpPr/>
            <p:nvPr/>
          </p:nvSpPr>
          <p:spPr>
            <a:xfrm>
              <a:off x="7467600" y="1543050"/>
              <a:ext cx="4191000" cy="9525"/>
            </a:xfrm>
            <a:custGeom>
              <a:avLst/>
              <a:gdLst/>
              <a:ahLst/>
              <a:cxnLst/>
              <a:rect l="l" t="t" r="r" b="b"/>
              <a:pathLst>
                <a:path w="4191000" h="9525">
                  <a:moveTo>
                    <a:pt x="0" y="0"/>
                  </a:moveTo>
                  <a:lnTo>
                    <a:pt x="4191000" y="0"/>
                  </a:lnTo>
                </a:path>
              </a:pathLst>
            </a:custGeom>
            <a:noFill/>
            <a:ln w="9525">
              <a:solidFill>
                <a:srgbClr val="E8E2DA"/>
              </a:solidFill>
            </a:ln>
          </p:spPr>
        </p:sp>
        <p:sp>
          <p:nvSpPr>
            <p:cNvPr id="83" name="TextBox 83"/>
            <p:cNvSpPr txBox="1"/>
            <p:nvPr/>
          </p:nvSpPr>
          <p:spPr>
            <a:xfrm>
              <a:off x="7462266" y="1677352"/>
              <a:ext cx="1936897"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波兰：BlueSoft/Craftware</a:t>
              </a:r>
            </a:p>
          </p:txBody>
        </p:sp>
        <p:sp>
          <p:nvSpPr>
            <p:cNvPr id="84" name="TextBox 84"/>
            <p:cNvSpPr txBox="1"/>
            <p:nvPr/>
          </p:nvSpPr>
          <p:spPr>
            <a:xfrm>
              <a:off x="7462647" y="1894999"/>
              <a:ext cx="165331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并购构建的IT系统集成能力</a:t>
              </a:r>
            </a:p>
          </p:txBody>
        </p:sp>
        <p:sp>
          <p:nvSpPr>
            <p:cNvPr id="85" name="TextBox 85"/>
            <p:cNvSpPr txBox="1"/>
            <p:nvPr/>
          </p:nvSpPr>
          <p:spPr>
            <a:xfrm>
              <a:off x="7462266" y="2153602"/>
              <a:ext cx="1791691"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西班牙大型项目集成案例：</a:t>
              </a:r>
            </a:p>
          </p:txBody>
        </p:sp>
        <p:sp>
          <p:nvSpPr>
            <p:cNvPr id="86" name="Ellipse 86"/>
            <p:cNvSpPr/>
            <p:nvPr/>
          </p:nvSpPr>
          <p:spPr>
            <a:xfrm>
              <a:off x="7496175" y="2409825"/>
              <a:ext cx="57150" cy="57150"/>
            </a:xfrm>
            <a:prstGeom prst="ellipse">
              <a:avLst/>
            </a:prstGeom>
            <a:solidFill>
              <a:srgbClr val="FF7900"/>
            </a:solidFill>
            <a:ln>
              <a:noFill/>
            </a:ln>
          </p:spPr>
        </p:sp>
        <p:sp>
          <p:nvSpPr>
            <p:cNvPr id="87" name="TextBox 87"/>
            <p:cNvSpPr txBox="1"/>
            <p:nvPr/>
          </p:nvSpPr>
          <p:spPr>
            <a:xfrm>
              <a:off x="7643622" y="2371249"/>
              <a:ext cx="1577849"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Correos（邮政）中标框架</a:t>
              </a:r>
            </a:p>
          </p:txBody>
        </p:sp>
        <p:sp>
          <p:nvSpPr>
            <p:cNvPr id="88" name="Ellipse 88"/>
            <p:cNvSpPr/>
            <p:nvPr/>
          </p:nvSpPr>
          <p:spPr>
            <a:xfrm>
              <a:off x="7496175" y="2638425"/>
              <a:ext cx="57150" cy="57150"/>
            </a:xfrm>
            <a:prstGeom prst="ellipse">
              <a:avLst/>
            </a:prstGeom>
            <a:solidFill>
              <a:srgbClr val="FF7900"/>
            </a:solidFill>
            <a:ln>
              <a:noFill/>
            </a:ln>
          </p:spPr>
        </p:sp>
        <p:sp>
          <p:nvSpPr>
            <p:cNvPr id="89" name="TextBox 89"/>
            <p:cNvSpPr txBox="1"/>
            <p:nvPr/>
          </p:nvSpPr>
          <p:spPr>
            <a:xfrm>
              <a:off x="7643622" y="2599849"/>
              <a:ext cx="1933218"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Merlin（地产）/ OHLA（建筑）</a:t>
              </a:r>
            </a:p>
          </p:txBody>
        </p:sp>
        <p:sp>
          <p:nvSpPr>
            <p:cNvPr id="90" name="Ellipse 90"/>
            <p:cNvSpPr/>
            <p:nvPr/>
          </p:nvSpPr>
          <p:spPr>
            <a:xfrm>
              <a:off x="7496175" y="2867025"/>
              <a:ext cx="57150" cy="57150"/>
            </a:xfrm>
            <a:prstGeom prst="ellipse">
              <a:avLst/>
            </a:prstGeom>
            <a:solidFill>
              <a:srgbClr val="FF7900"/>
            </a:solidFill>
            <a:ln>
              <a:noFill/>
            </a:ln>
          </p:spPr>
        </p:sp>
        <p:sp>
          <p:nvSpPr>
            <p:cNvPr id="91" name="TextBox 91"/>
            <p:cNvSpPr txBox="1"/>
            <p:nvPr/>
          </p:nvSpPr>
          <p:spPr>
            <a:xfrm>
              <a:off x="7643622" y="2828449"/>
              <a:ext cx="1648978"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Loterías（国营博彩）项目</a:t>
              </a:r>
            </a:p>
          </p:txBody>
        </p:sp>
        <p:sp>
          <p:nvSpPr>
            <p:cNvPr id="92" name="Ellipse 92"/>
            <p:cNvSpPr/>
            <p:nvPr/>
          </p:nvSpPr>
          <p:spPr>
            <a:xfrm>
              <a:off x="7496175" y="3095625"/>
              <a:ext cx="57150" cy="57150"/>
            </a:xfrm>
            <a:prstGeom prst="ellipse">
              <a:avLst/>
            </a:prstGeom>
            <a:solidFill>
              <a:srgbClr val="FF7900"/>
            </a:solidFill>
            <a:ln>
              <a:noFill/>
            </a:ln>
          </p:spPr>
        </p:sp>
        <p:sp>
          <p:nvSpPr>
            <p:cNvPr id="93" name="TextBox 93"/>
            <p:cNvSpPr txBox="1"/>
            <p:nvPr/>
          </p:nvSpPr>
          <p:spPr>
            <a:xfrm>
              <a:off x="7643622" y="3057049"/>
              <a:ext cx="1836546"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TotalEnergies（能源）5G专网</a:t>
              </a:r>
            </a:p>
          </p:txBody>
        </p:sp>
        <p:sp>
          <p:nvSpPr>
            <p:cNvPr id="94" name="Rectangle 94"/>
            <p:cNvSpPr/>
            <p:nvPr/>
          </p:nvSpPr>
          <p:spPr>
            <a:xfrm>
              <a:off x="7467600" y="3352800"/>
              <a:ext cx="4191000" cy="666750"/>
            </a:xfrm>
            <a:prstGeom prst="roundRect">
              <a:avLst>
                <a:gd name="adj" fmla="val 5714"/>
              </a:avLst>
            </a:prstGeom>
            <a:solidFill>
              <a:srgbClr val="FFF9F0"/>
            </a:solidFill>
            <a:ln w="9525">
              <a:solidFill>
                <a:srgbClr val="FFA640"/>
              </a:solidFill>
            </a:ln>
          </p:spPr>
        </p:sp>
        <p:sp>
          <p:nvSpPr>
            <p:cNvPr id="95" name="TextBox 95"/>
            <p:cNvSpPr txBox="1"/>
            <p:nvPr/>
          </p:nvSpPr>
          <p:spPr>
            <a:xfrm>
              <a:off x="7615047" y="3476149"/>
              <a:ext cx="2290781"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已知案例呈公共+大型企业集中特征，</a:t>
              </a:r>
            </a:p>
          </p:txBody>
        </p:sp>
        <p:sp>
          <p:nvSpPr>
            <p:cNvPr id="96" name="TextBox 96"/>
            <p:cNvSpPr txBox="1"/>
            <p:nvPr/>
          </p:nvSpPr>
          <p:spPr>
            <a:xfrm>
              <a:off x="7615047" y="3685699"/>
              <a:ext cx="1801530" cy="190690"/>
            </a:xfrm>
            <a:prstGeom prst="rect">
              <a:avLst/>
            </a:prstGeom>
            <a:noFill/>
            <a:ln>
              <a:noFill/>
            </a:ln>
          </p:spPr>
          <p:txBody>
            <a:bodyPr wrap="none" lIns="0" tIns="0" rIns="0" bIns="0" anchor="t" anchorCtr="0">
              <a:spAutoFit/>
            </a:bodyPr>
            <a:lstStyle/>
            <a:p>
              <a:pPr algn="l"/>
              <a:r>
                <a:rPr lang="zh-CN" sz="980" b="1" dirty="0">
                  <a:solidFill>
                    <a:srgbClr val="B85C00"/>
                  </a:solidFill>
                  <a:latin typeface="Arial"/>
                  <a:ea typeface="Microsoft YaHei"/>
                  <a:cs typeface="Arial"/>
                </a:rPr>
                <a:t>但完整行业占比拆分尚不可得</a:t>
              </a:r>
            </a:p>
          </p:txBody>
        </p:sp>
        <p:sp>
          <p:nvSpPr>
            <p:cNvPr id="97" name="TextBox 97"/>
            <p:cNvSpPr txBox="1"/>
            <p:nvPr/>
          </p:nvSpPr>
          <p:spPr>
            <a:xfrm>
              <a:off x="7462266" y="4172902"/>
              <a:ext cx="1346435" cy="205359"/>
            </a:xfrm>
            <a:prstGeom prst="rect">
              <a:avLst/>
            </a:prstGeom>
            <a:noFill/>
            <a:ln>
              <a:noFill/>
            </a:ln>
          </p:spPr>
          <p:txBody>
            <a:bodyPr wrap="none" lIns="0" tIns="0" rIns="0" bIns="0" anchor="t" anchorCtr="0">
              <a:spAutoFit/>
            </a:bodyPr>
            <a:lstStyle/>
            <a:p>
              <a:pPr algn="l"/>
              <a:r>
                <a:rPr lang="zh-CN" sz="1050" b="1" dirty="0">
                  <a:solidFill>
                    <a:srgbClr val="C0392B"/>
                  </a:solidFill>
                  <a:latin typeface="Arial"/>
                  <a:ea typeface="Microsoft YaHei"/>
                  <a:cs typeface="Arial"/>
                </a:rPr>
                <a:t>华为：生态未见身影</a:t>
              </a:r>
            </a:p>
          </p:txBody>
        </p:sp>
      </p:grpSp>
      <p:grpSp>
        <p:nvGrpSpPr>
          <p:cNvPr id="108" name="Group 108"/>
          <p:cNvGrpSpPr/>
          <p:nvPr/>
        </p:nvGrpSpPr>
        <p:grpSpPr>
          <a:xfrm>
            <a:off x="7460361" y="4476750"/>
            <a:ext cx="4198239" cy="1838039"/>
            <a:chOff x="7460361" y="4476750"/>
            <a:chExt cx="4198239" cy="1838039"/>
          </a:xfrm>
        </p:grpSpPr>
        <p:sp>
          <p:nvSpPr>
            <p:cNvPr id="99" name="Rectangle 99"/>
            <p:cNvSpPr/>
            <p:nvPr/>
          </p:nvSpPr>
          <p:spPr>
            <a:xfrm>
              <a:off x="7467600" y="4476750"/>
              <a:ext cx="4191000" cy="76200"/>
            </a:xfrm>
            <a:prstGeom prst="rect">
              <a:avLst/>
            </a:prstGeom>
            <a:solidFill>
              <a:srgbClr val="FFA640"/>
            </a:solidFill>
            <a:ln>
              <a:noFill/>
            </a:ln>
          </p:spPr>
        </p:sp>
        <p:sp>
          <p:nvSpPr>
            <p:cNvPr id="100" name="TextBox 100"/>
            <p:cNvSpPr txBox="1"/>
            <p:nvPr/>
          </p:nvSpPr>
          <p:spPr>
            <a:xfrm>
              <a:off x="7460361" y="4627721"/>
              <a:ext cx="567827" cy="278702"/>
            </a:xfrm>
            <a:prstGeom prst="rect">
              <a:avLst/>
            </a:prstGeom>
            <a:noFill/>
            <a:ln>
              <a:noFill/>
            </a:ln>
          </p:spPr>
          <p:txBody>
            <a:bodyPr wrap="none" lIns="0" tIns="0" rIns="0" bIns="0" anchor="t" anchorCtr="0">
              <a:spAutoFit/>
            </a:bodyPr>
            <a:lstStyle/>
            <a:p>
              <a:pPr algn="l"/>
              <a:r>
                <a:rPr lang="en-US" sz="1420" b="1" dirty="0">
                  <a:solidFill>
                    <a:srgbClr val="E08A2E"/>
                  </a:solidFill>
                  <a:latin typeface="Arial"/>
                  <a:ea typeface="Arial"/>
                  <a:cs typeface="Arial"/>
                </a:rPr>
                <a:t>OMEA</a:t>
              </a:r>
            </a:p>
          </p:txBody>
        </p:sp>
        <p:sp>
          <p:nvSpPr>
            <p:cNvPr id="101" name="TextBox 101"/>
            <p:cNvSpPr txBox="1"/>
            <p:nvPr/>
          </p:nvSpPr>
          <p:spPr>
            <a:xfrm>
              <a:off x="7462266" y="4877752"/>
              <a:ext cx="1565529" cy="205359"/>
            </a:xfrm>
            <a:prstGeom prst="rect">
              <a:avLst/>
            </a:prstGeom>
            <a:noFill/>
            <a:ln>
              <a:noFill/>
            </a:ln>
          </p:spPr>
          <p:txBody>
            <a:bodyPr wrap="none" lIns="0" tIns="0" rIns="0" bIns="0" anchor="t" anchorCtr="0">
              <a:spAutoFit/>
            </a:bodyPr>
            <a:lstStyle/>
            <a:p>
              <a:pPr algn="l"/>
              <a:r>
                <a:rPr lang="zh-CN" sz="1050" dirty="0">
                  <a:solidFill>
                    <a:srgbClr val="1A1A1A"/>
                  </a:solidFill>
                  <a:latin typeface="Arial"/>
                  <a:ea typeface="Microsoft YaHei"/>
                  <a:cs typeface="Arial"/>
                </a:rPr>
                <a:t>行业收入分布数据待补充</a:t>
              </a:r>
            </a:p>
          </p:txBody>
        </p:sp>
        <p:sp>
          <p:nvSpPr>
            <p:cNvPr id="102" name="Line 102"/>
            <p:cNvSpPr/>
            <p:nvPr/>
          </p:nvSpPr>
          <p:spPr>
            <a:xfrm>
              <a:off x="7467600" y="5105400"/>
              <a:ext cx="4191000" cy="9525"/>
            </a:xfrm>
            <a:custGeom>
              <a:avLst/>
              <a:gdLst/>
              <a:ahLst/>
              <a:cxnLst/>
              <a:rect l="l" t="t" r="r" b="b"/>
              <a:pathLst>
                <a:path w="4191000" h="9525">
                  <a:moveTo>
                    <a:pt x="0" y="0"/>
                  </a:moveTo>
                  <a:lnTo>
                    <a:pt x="4191000" y="0"/>
                  </a:lnTo>
                </a:path>
              </a:pathLst>
            </a:custGeom>
            <a:noFill/>
            <a:ln w="9525">
              <a:solidFill>
                <a:srgbClr val="E8E2DA"/>
              </a:solidFill>
            </a:ln>
          </p:spPr>
        </p:sp>
        <p:sp>
          <p:nvSpPr>
            <p:cNvPr id="103" name="TextBox 103"/>
            <p:cNvSpPr txBox="1"/>
            <p:nvPr/>
          </p:nvSpPr>
          <p:spPr>
            <a:xfrm>
              <a:off x="7462647" y="5247799"/>
              <a:ext cx="1791995"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矿业港口MPN项目集成主导：</a:t>
              </a:r>
            </a:p>
          </p:txBody>
        </p:sp>
        <p:sp>
          <p:nvSpPr>
            <p:cNvPr id="104" name="TextBox 104"/>
            <p:cNvSpPr txBox="1"/>
            <p:nvPr/>
          </p:nvSpPr>
          <p:spPr>
            <a:xfrm>
              <a:off x="7462647" y="5457349"/>
              <a:ext cx="2237675"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Tanger Port马士基 / Essakane Mine</a:t>
              </a:r>
            </a:p>
          </p:txBody>
        </p:sp>
        <p:sp>
          <p:nvSpPr>
            <p:cNvPr id="105" name="TextBox 105"/>
            <p:cNvSpPr txBox="1"/>
            <p:nvPr/>
          </p:nvSpPr>
          <p:spPr>
            <a:xfrm>
              <a:off x="7462647" y="5647849"/>
              <a:ext cx="950976" cy="190690"/>
            </a:xfrm>
            <a:prstGeom prst="rect">
              <a:avLst/>
            </a:prstGeom>
            <a:noFill/>
            <a:ln>
              <a:noFill/>
            </a:ln>
          </p:spPr>
          <p:txBody>
            <a:bodyPr wrap="none" lIns="0" tIns="0" rIns="0" bIns="0" anchor="t" anchorCtr="0">
              <a:spAutoFit/>
            </a:bodyPr>
            <a:lstStyle/>
            <a:p>
              <a:pPr algn="l"/>
              <a:r>
                <a:rPr lang="zh-CN" sz="980" dirty="0">
                  <a:solidFill>
                    <a:srgbClr val="1A1A1A"/>
                  </a:solidFill>
                  <a:latin typeface="Arial"/>
                  <a:ea typeface="Microsoft YaHei"/>
                  <a:cs typeface="Arial"/>
                </a:rPr>
                <a:t>/ Aqaba CT约旦</a:t>
              </a:r>
            </a:p>
          </p:txBody>
        </p:sp>
        <p:sp>
          <p:nvSpPr>
            <p:cNvPr id="106" name="TextBox 106"/>
            <p:cNvSpPr txBox="1"/>
            <p:nvPr/>
          </p:nvSpPr>
          <p:spPr>
            <a:xfrm>
              <a:off x="7462266" y="5906452"/>
              <a:ext cx="1586705" cy="205359"/>
            </a:xfrm>
            <a:prstGeom prst="rect">
              <a:avLst/>
            </a:prstGeom>
            <a:noFill/>
            <a:ln>
              <a:noFill/>
            </a:ln>
          </p:spPr>
          <p:txBody>
            <a:bodyPr wrap="none" lIns="0" tIns="0" rIns="0" bIns="0" anchor="t" anchorCtr="0">
              <a:spAutoFit/>
            </a:bodyPr>
            <a:lstStyle/>
            <a:p>
              <a:pPr algn="l"/>
              <a:r>
                <a:rPr lang="zh-CN" sz="1050" b="1" dirty="0">
                  <a:solidFill>
                    <a:srgbClr val="2E8B57"/>
                  </a:solidFill>
                  <a:latin typeface="Arial"/>
                  <a:ea typeface="Microsoft YaHei"/>
                  <a:cs typeface="Arial"/>
                </a:rPr>
                <a:t>华为：与Nokia并列主力</a:t>
              </a:r>
            </a:p>
          </p:txBody>
        </p:sp>
        <p:sp>
          <p:nvSpPr>
            <p:cNvPr id="107" name="TextBox 107"/>
            <p:cNvSpPr txBox="1"/>
            <p:nvPr/>
          </p:nvSpPr>
          <p:spPr>
            <a:xfrm>
              <a:off x="7462647" y="6124099"/>
              <a:ext cx="231342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矿业/港口为已知主导垂直，其余待补充</a:t>
              </a:r>
            </a:p>
          </p:txBody>
        </p:sp>
      </p:grpSp>
      <p:grpSp>
        <p:nvGrpSpPr>
          <p:cNvPr id="111" name="Group 111"/>
          <p:cNvGrpSpPr/>
          <p:nvPr/>
        </p:nvGrpSpPr>
        <p:grpSpPr>
          <a:xfrm>
            <a:off x="528447" y="6562249"/>
            <a:ext cx="11135106" cy="190690"/>
            <a:chOff x="528447" y="6562249"/>
            <a:chExt cx="11135106" cy="190690"/>
          </a:xfrm>
        </p:grpSpPr>
        <p:sp>
          <p:nvSpPr>
            <p:cNvPr id="109" name="TextBox 109"/>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110" name="TextBox 110"/>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10813845"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移动专网MPN是本次调研最重要的发现——</a:t>
              </a:r>
              <a:r>
                <a:rPr lang="zh-CN" sz="2250" b="1" dirty="0">
                  <a:solidFill>
                    <a:srgbClr val="FF7900"/>
                  </a:solidFill>
                  <a:latin typeface="Arial"/>
                  <a:ea typeface="Microsoft YaHei"/>
                  <a:cs typeface="Arial"/>
                </a:rPr>
                <a:t>华为在OMEA的参与度全deck最高</a:t>
              </a:r>
            </a:p>
          </p:txBody>
        </p:sp>
        <p:sp>
          <p:nvSpPr>
            <p:cNvPr id="4" name="TextBox 4"/>
            <p:cNvSpPr txBox="1"/>
            <p:nvPr/>
          </p:nvSpPr>
          <p:spPr>
            <a:xfrm>
              <a:off x="527304" y="708660"/>
              <a:ext cx="6990893"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说明：原始输入材料无此维度，本次调研新增 · Catalogue：工业MPN专网 · 港口/矿业连接方案</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8" name="Group 18"/>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alpha val="50000"/>
              </a:srgbClr>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8199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非战略重心</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447" y="2161699"/>
              <a:ext cx="2593391"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法国再工业化背景下的Hybrid MPN试点探索</a:t>
              </a:r>
            </a:p>
          </p:txBody>
        </p:sp>
        <p:sp>
          <p:nvSpPr>
            <p:cNvPr id="12" name="Rectangle 12"/>
            <p:cNvSpPr/>
            <p:nvPr/>
          </p:nvSpPr>
          <p:spPr>
            <a:xfrm>
              <a:off x="533400" y="2438400"/>
              <a:ext cx="3552825" cy="1428750"/>
            </a:xfrm>
            <a:prstGeom prst="roundRect">
              <a:avLst>
                <a:gd name="adj" fmla="val 2667"/>
              </a:avLst>
            </a:prstGeom>
            <a:noFill/>
            <a:ln w="19050">
              <a:solidFill>
                <a:srgbClr val="CBD5E1"/>
              </a:solidFill>
              <a:prstDash val="lgDash"/>
            </a:ln>
          </p:spPr>
        </p:sp>
        <p:sp>
          <p:nvSpPr>
            <p:cNvPr id="13" name="TextBox 13"/>
            <p:cNvSpPr txBox="1"/>
            <p:nvPr/>
          </p:nvSpPr>
          <p:spPr>
            <a:xfrm>
              <a:off x="1554438" y="2894171"/>
              <a:ext cx="1501224" cy="278702"/>
            </a:xfrm>
            <a:prstGeom prst="rect">
              <a:avLst/>
            </a:prstGeom>
            <a:noFill/>
            <a:ln>
              <a:noFill/>
            </a:ln>
          </p:spPr>
          <p:txBody>
            <a:bodyPr wrap="none" lIns="0" tIns="0" rIns="0" bIns="0" anchor="t" anchorCtr="0">
              <a:spAutoFit/>
            </a:bodyPr>
            <a:lstStyle/>
            <a:p>
              <a:pPr algn="ctr"/>
              <a:r>
                <a:rPr lang="zh-CN" sz="1420" b="1" dirty="0">
                  <a:solidFill>
                    <a:srgbClr val="9B9B9B"/>
                  </a:solidFill>
                  <a:latin typeface="Arial"/>
                  <a:ea typeface="Microsoft YaHei"/>
                  <a:cs typeface="Arial"/>
                </a:rPr>
                <a:t>Hybrid MPN试点</a:t>
              </a:r>
            </a:p>
          </p:txBody>
        </p:sp>
        <p:sp>
          <p:nvSpPr>
            <p:cNvPr id="14" name="TextBox 14"/>
            <p:cNvSpPr txBox="1"/>
            <p:nvPr/>
          </p:nvSpPr>
          <p:spPr>
            <a:xfrm>
              <a:off x="1542098" y="3174206"/>
              <a:ext cx="1525905" cy="220028"/>
            </a:xfrm>
            <a:prstGeom prst="rect">
              <a:avLst/>
            </a:prstGeom>
            <a:noFill/>
            <a:ln>
              <a:noFill/>
            </a:ln>
          </p:spPr>
          <p:txBody>
            <a:bodyPr wrap="none" lIns="0" tIns="0" rIns="0" bIns="0" anchor="t" anchorCtr="0">
              <a:spAutoFit/>
            </a:bodyPr>
            <a:lstStyle/>
            <a:p>
              <a:pPr algn="ctr"/>
              <a:r>
                <a:rPr lang="zh-CN" sz="1120" dirty="0">
                  <a:solidFill>
                    <a:srgbClr val="9B9B9B"/>
                  </a:solidFill>
                  <a:latin typeface="Arial"/>
                  <a:ea typeface="Microsoft YaHei"/>
                  <a:cs typeface="Arial"/>
                </a:rPr>
                <a:t>法国有试点但规模极小</a:t>
              </a:r>
            </a:p>
          </p:txBody>
        </p:sp>
        <p:sp>
          <p:nvSpPr>
            <p:cNvPr id="15" name="TextBox 15"/>
            <p:cNvSpPr txBox="1"/>
            <p:nvPr/>
          </p:nvSpPr>
          <p:spPr>
            <a:xfrm>
              <a:off x="528447" y="3990499"/>
              <a:ext cx="2241232"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利用宏基站基础设施获得专网级低时延</a:t>
              </a:r>
            </a:p>
          </p:txBody>
        </p:sp>
        <p:sp>
          <p:nvSpPr>
            <p:cNvPr id="16" name="TextBox 16"/>
            <p:cNvSpPr txBox="1"/>
            <p:nvPr/>
          </p:nvSpPr>
          <p:spPr>
            <a:xfrm>
              <a:off x="528447" y="4180999"/>
              <a:ext cx="2069363"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和数据隔离，对抗纯IT集成商竞争</a:t>
              </a:r>
            </a:p>
          </p:txBody>
        </p:sp>
        <p:sp>
          <p:nvSpPr>
            <p:cNvPr id="17" name="TextBox 17"/>
            <p:cNvSpPr txBox="1"/>
            <p:nvPr/>
          </p:nvSpPr>
          <p:spPr>
            <a:xfrm>
              <a:off x="527304" y="4823460"/>
              <a:ext cx="1369162"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华为：无相关信息</a:t>
              </a:r>
            </a:p>
          </p:txBody>
        </p:sp>
      </p:grpSp>
      <p:grpSp>
        <p:nvGrpSpPr>
          <p:cNvPr id="32" name="Group 32"/>
          <p:cNvGrpSpPr/>
          <p:nvPr/>
        </p:nvGrpSpPr>
        <p:grpSpPr>
          <a:xfrm>
            <a:off x="4307205" y="1333500"/>
            <a:ext cx="3560445" cy="3724656"/>
            <a:chOff x="4307205" y="1333500"/>
            <a:chExt cx="3560445" cy="3724656"/>
          </a:xfrm>
        </p:grpSpPr>
        <p:sp>
          <p:nvSpPr>
            <p:cNvPr id="19" name="Rectangle 19"/>
            <p:cNvSpPr/>
            <p:nvPr/>
          </p:nvSpPr>
          <p:spPr>
            <a:xfrm>
              <a:off x="4314825" y="1333500"/>
              <a:ext cx="3552825" cy="76200"/>
            </a:xfrm>
            <a:prstGeom prst="rect">
              <a:avLst/>
            </a:prstGeom>
            <a:solidFill>
              <a:srgbClr val="FF7900">
                <a:alpha val="50000"/>
              </a:srgbClr>
            </a:solidFill>
            <a:ln>
              <a:noFill/>
            </a:ln>
          </p:spPr>
        </p:sp>
        <p:sp>
          <p:nvSpPr>
            <p:cNvPr id="20" name="TextBox 20"/>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21" name="TextBox 21"/>
            <p:cNvSpPr txBox="1"/>
            <p:nvPr/>
          </p:nvSpPr>
          <p:spPr>
            <a:xfrm>
              <a:off x="4308729" y="1756410"/>
              <a:ext cx="65836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起步阶段</a:t>
              </a:r>
            </a:p>
          </p:txBody>
        </p:sp>
        <p:sp>
          <p:nvSpPr>
            <p:cNvPr id="22" name="Line 22"/>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23" name="Rectangle 23"/>
            <p:cNvSpPr/>
            <p:nvPr/>
          </p:nvSpPr>
          <p:spPr>
            <a:xfrm>
              <a:off x="4314825" y="2667000"/>
              <a:ext cx="3552825" cy="1905000"/>
            </a:xfrm>
            <a:prstGeom prst="roundRect">
              <a:avLst>
                <a:gd name="adj" fmla="val 2000"/>
              </a:avLst>
            </a:prstGeom>
            <a:solidFill>
              <a:srgbClr val="FBF6F1"/>
            </a:solidFill>
            <a:ln w="9525">
              <a:solidFill>
                <a:srgbClr val="E8E2DA"/>
              </a:solidFill>
            </a:ln>
          </p:spPr>
        </p:sp>
        <p:sp>
          <p:nvSpPr>
            <p:cNvPr id="24" name="TextBox 24"/>
            <p:cNvSpPr txBox="1"/>
            <p:nvPr/>
          </p:nvSpPr>
          <p:spPr>
            <a:xfrm>
              <a:off x="4498848" y="2862739"/>
              <a:ext cx="159148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西班牙 MasOrange</a:t>
              </a:r>
            </a:p>
          </p:txBody>
        </p:sp>
        <p:sp>
          <p:nvSpPr>
            <p:cNvPr id="25" name="TextBox 25"/>
            <p:cNvSpPr txBox="1"/>
            <p:nvPr/>
          </p:nvSpPr>
          <p:spPr>
            <a:xfrm>
              <a:off x="4499610" y="3117056"/>
              <a:ext cx="114757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新签5G专网合同</a:t>
              </a:r>
            </a:p>
          </p:txBody>
        </p:sp>
        <p:sp>
          <p:nvSpPr>
            <p:cNvPr id="26" name="TextBox 26"/>
            <p:cNvSpPr txBox="1"/>
            <p:nvPr/>
          </p:nvSpPr>
          <p:spPr>
            <a:xfrm>
              <a:off x="4499610" y="3326606"/>
              <a:ext cx="148562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（TotalEnergies等）</a:t>
              </a:r>
            </a:p>
          </p:txBody>
        </p:sp>
        <p:sp>
          <p:nvSpPr>
            <p:cNvPr id="27" name="Line 27"/>
            <p:cNvSpPr/>
            <p:nvPr/>
          </p:nvSpPr>
          <p:spPr>
            <a:xfrm>
              <a:off x="4505325" y="3714750"/>
              <a:ext cx="3171825" cy="9525"/>
            </a:xfrm>
            <a:custGeom>
              <a:avLst/>
              <a:gdLst/>
              <a:ahLst/>
              <a:cxnLst/>
              <a:rect l="l" t="t" r="r" b="b"/>
              <a:pathLst>
                <a:path w="3171825" h="9525">
                  <a:moveTo>
                    <a:pt x="0" y="0"/>
                  </a:moveTo>
                  <a:lnTo>
                    <a:pt x="3171825" y="0"/>
                  </a:lnTo>
                </a:path>
              </a:pathLst>
            </a:custGeom>
            <a:noFill/>
            <a:ln w="9525">
              <a:solidFill>
                <a:srgbClr val="E8E2DA"/>
              </a:solidFill>
            </a:ln>
          </p:spPr>
        </p:sp>
        <p:sp>
          <p:nvSpPr>
            <p:cNvPr id="28" name="TextBox 28"/>
            <p:cNvSpPr txBox="1"/>
            <p:nvPr/>
          </p:nvSpPr>
          <p:spPr>
            <a:xfrm>
              <a:off x="4498848" y="3862864"/>
              <a:ext cx="119341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波兰/罗马尼亚</a:t>
              </a:r>
            </a:p>
          </p:txBody>
        </p:sp>
        <p:sp>
          <p:nvSpPr>
            <p:cNvPr id="29" name="TextBox 29"/>
            <p:cNvSpPr txBox="1"/>
            <p:nvPr/>
          </p:nvSpPr>
          <p:spPr>
            <a:xfrm>
              <a:off x="4499610" y="4117181"/>
              <a:ext cx="299051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无实证数据；Open RAN试点聚焦RAN非MPN</a:t>
              </a:r>
            </a:p>
          </p:txBody>
        </p:sp>
        <p:sp>
          <p:nvSpPr>
            <p:cNvPr id="30" name="TextBox 30"/>
            <p:cNvSpPr txBox="1"/>
            <p:nvPr/>
          </p:nvSpPr>
          <p:spPr>
            <a:xfrm>
              <a:off x="4309872" y="4657249"/>
              <a:ext cx="2521820" cy="190690"/>
            </a:xfrm>
            <a:prstGeom prst="rect">
              <a:avLst/>
            </a:prstGeom>
            <a:noFill/>
            <a:ln>
              <a:noFill/>
            </a:ln>
          </p:spPr>
          <p:txBody>
            <a:bodyPr wrap="none" lIns="0" tIns="0" rIns="0" bIns="0" anchor="t" anchorCtr="0">
              <a:spAutoFit/>
            </a:bodyPr>
            <a:lstStyle/>
            <a:p>
              <a:pPr algn="l"/>
              <a:r>
                <a:rPr lang="zh-CN" sz="980" dirty="0">
                  <a:solidFill>
                    <a:srgbClr val="6B6B6B"/>
                  </a:solidFill>
                  <a:latin typeface="Arial"/>
                  <a:ea typeface="Microsoft YaHei"/>
                  <a:cs typeface="Arial"/>
                </a:rPr>
                <a:t>MasOrange客户群集中于能源/工业大企业</a:t>
              </a:r>
            </a:p>
          </p:txBody>
        </p:sp>
        <p:sp>
          <p:nvSpPr>
            <p:cNvPr id="31" name="TextBox 31"/>
            <p:cNvSpPr txBox="1"/>
            <p:nvPr/>
          </p:nvSpPr>
          <p:spPr>
            <a:xfrm>
              <a:off x="4308729" y="4823460"/>
              <a:ext cx="1369162"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华为：数据待补充</a:t>
              </a:r>
            </a:p>
          </p:txBody>
        </p:sp>
      </p:grpSp>
      <p:grpSp>
        <p:nvGrpSpPr>
          <p:cNvPr id="50" name="Group 50"/>
          <p:cNvGrpSpPr/>
          <p:nvPr/>
        </p:nvGrpSpPr>
        <p:grpSpPr>
          <a:xfrm>
            <a:off x="8088630" y="1333500"/>
            <a:ext cx="3752621" cy="3724656"/>
            <a:chOff x="8088630" y="1333500"/>
            <a:chExt cx="3752621" cy="3724656"/>
          </a:xfrm>
        </p:grpSpPr>
        <p:sp>
          <p:nvSpPr>
            <p:cNvPr id="33" name="Rectangle 33"/>
            <p:cNvSpPr/>
            <p:nvPr/>
          </p:nvSpPr>
          <p:spPr>
            <a:xfrm>
              <a:off x="8096250" y="1333500"/>
              <a:ext cx="3552825" cy="76200"/>
            </a:xfrm>
            <a:prstGeom prst="rect">
              <a:avLst/>
            </a:prstGeom>
            <a:solidFill>
              <a:srgbClr val="FFA640"/>
            </a:solidFill>
            <a:ln>
              <a:noFill/>
            </a:ln>
          </p:spPr>
        </p:sp>
        <p:sp>
          <p:nvSpPr>
            <p:cNvPr id="34" name="TextBox 34"/>
            <p:cNvSpPr txBox="1"/>
            <p:nvPr/>
          </p:nvSpPr>
          <p:spPr>
            <a:xfrm>
              <a:off x="8088630" y="1504950"/>
              <a:ext cx="2199513"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核心增长引擎</a:t>
              </a:r>
            </a:p>
          </p:txBody>
        </p:sp>
        <p:sp>
          <p:nvSpPr>
            <p:cNvPr id="35" name="TextBox 35"/>
            <p:cNvSpPr txBox="1"/>
            <p:nvPr/>
          </p:nvSpPr>
          <p:spPr>
            <a:xfrm>
              <a:off x="8090154" y="1756410"/>
              <a:ext cx="1554937"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矿业+港口双典型场景</a:t>
              </a:r>
            </a:p>
          </p:txBody>
        </p:sp>
        <p:sp>
          <p:nvSpPr>
            <p:cNvPr id="36" name="Line 36"/>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7" name="TextBox 37"/>
            <p:cNvSpPr txBox="1"/>
            <p:nvPr/>
          </p:nvSpPr>
          <p:spPr>
            <a:xfrm>
              <a:off x="8090916" y="2153602"/>
              <a:ext cx="375033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Essakane Mine马里 · Tanger Port马士基 · Aqaba CT约旦</a:t>
              </a:r>
            </a:p>
          </p:txBody>
        </p:sp>
        <p:grpSp>
          <p:nvGrpSpPr>
            <p:cNvPr id="48" name="Group 48"/>
            <p:cNvGrpSpPr/>
            <p:nvPr/>
          </p:nvGrpSpPr>
          <p:grpSpPr>
            <a:xfrm>
              <a:off x="8324850" y="2804160"/>
              <a:ext cx="3095625" cy="1961674"/>
              <a:chOff x="8324850" y="2804160"/>
              <a:chExt cx="3095625" cy="1961674"/>
            </a:xfrm>
          </p:grpSpPr>
          <p:sp>
            <p:nvSpPr>
              <p:cNvPr id="38" name="Line 38"/>
              <p:cNvSpPr/>
              <p:nvPr/>
            </p:nvSpPr>
            <p:spPr>
              <a:xfrm>
                <a:off x="832485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9" name="Rectangle 39"/>
              <p:cNvSpPr/>
              <p:nvPr/>
            </p:nvSpPr>
            <p:spPr>
              <a:xfrm>
                <a:off x="8515350" y="3019425"/>
                <a:ext cx="666750" cy="1457325"/>
              </a:xfrm>
              <a:prstGeom prst="rect">
                <a:avLst/>
              </a:prstGeom>
              <a:solidFill>
                <a:srgbClr val="FF7900"/>
              </a:solidFill>
              <a:ln w="19050">
                <a:solidFill>
                  <a:srgbClr val="B85C00"/>
                </a:solidFill>
              </a:ln>
            </p:spPr>
          </p:sp>
          <p:sp>
            <p:nvSpPr>
              <p:cNvPr id="40" name="TextBox 40"/>
              <p:cNvSpPr txBox="1"/>
              <p:nvPr/>
            </p:nvSpPr>
            <p:spPr>
              <a:xfrm>
                <a:off x="8431298" y="2804160"/>
                <a:ext cx="834855" cy="234696"/>
              </a:xfrm>
              <a:prstGeom prst="rect">
                <a:avLst/>
              </a:prstGeom>
              <a:noFill/>
              <a:ln>
                <a:noFill/>
              </a:ln>
            </p:spPr>
            <p:txBody>
              <a:bodyPr wrap="none" lIns="0" tIns="0" rIns="0" bIns="0" anchor="t" anchorCtr="0">
                <a:spAutoFit/>
              </a:bodyPr>
              <a:lstStyle/>
              <a:p>
                <a:pPr algn="ctr"/>
                <a:r>
                  <a:rPr lang="zh-CN" sz="1200" b="1" dirty="0">
                    <a:solidFill>
                      <a:srgbClr val="B85C00"/>
                    </a:solidFill>
                    <a:latin typeface="Arial"/>
                    <a:ea typeface="Microsoft YaHei"/>
                    <a:cs typeface="Arial"/>
                  </a:rPr>
                  <a:t>45%（估）</a:t>
                </a:r>
              </a:p>
            </p:txBody>
          </p:sp>
          <p:sp>
            <p:nvSpPr>
              <p:cNvPr id="41" name="TextBox 41"/>
              <p:cNvSpPr txBox="1"/>
              <p:nvPr/>
            </p:nvSpPr>
            <p:spPr>
              <a:xfrm>
                <a:off x="8582165" y="4545806"/>
                <a:ext cx="533120" cy="220028"/>
              </a:xfrm>
              <a:prstGeom prst="rect">
                <a:avLst/>
              </a:prstGeom>
              <a:noFill/>
              <a:ln>
                <a:noFill/>
              </a:ln>
            </p:spPr>
            <p:txBody>
              <a:bodyPr wrap="none" lIns="0" tIns="0" rIns="0" bIns="0" anchor="t" anchorCtr="0">
                <a:spAutoFit/>
              </a:bodyPr>
              <a:lstStyle/>
              <a:p>
                <a:pPr algn="ctr"/>
                <a:r>
                  <a:rPr lang="en-US" sz="1120" b="1" dirty="0">
                    <a:solidFill>
                      <a:srgbClr val="B85C00"/>
                    </a:solidFill>
                    <a:latin typeface="Arial"/>
                    <a:ea typeface="Arial"/>
                    <a:cs typeface="Arial"/>
                  </a:rPr>
                  <a:t>Huawei</a:t>
                </a:r>
              </a:p>
            </p:txBody>
          </p:sp>
          <p:sp>
            <p:nvSpPr>
              <p:cNvPr id="42" name="Rectangle 42"/>
              <p:cNvSpPr/>
              <p:nvPr/>
            </p:nvSpPr>
            <p:spPr>
              <a:xfrm>
                <a:off x="9372600" y="3114675"/>
                <a:ext cx="666750" cy="1362075"/>
              </a:xfrm>
              <a:prstGeom prst="rect">
                <a:avLst/>
              </a:prstGeom>
              <a:solidFill>
                <a:srgbClr val="C7C2B8"/>
              </a:solidFill>
              <a:ln>
                <a:noFill/>
              </a:ln>
            </p:spPr>
          </p:sp>
          <p:sp>
            <p:nvSpPr>
              <p:cNvPr id="43" name="TextBox 43"/>
              <p:cNvSpPr txBox="1"/>
              <p:nvPr/>
            </p:nvSpPr>
            <p:spPr>
              <a:xfrm>
                <a:off x="9288548" y="2899410"/>
                <a:ext cx="834855"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42%（估）</a:t>
                </a:r>
              </a:p>
            </p:txBody>
          </p:sp>
          <p:sp>
            <p:nvSpPr>
              <p:cNvPr id="44" name="TextBox 44"/>
              <p:cNvSpPr txBox="1"/>
              <p:nvPr/>
            </p:nvSpPr>
            <p:spPr>
              <a:xfrm>
                <a:off x="9508808" y="4545806"/>
                <a:ext cx="394335" cy="220028"/>
              </a:xfrm>
              <a:prstGeom prst="rect">
                <a:avLst/>
              </a:prstGeom>
              <a:noFill/>
              <a:ln>
                <a:noFill/>
              </a:ln>
            </p:spPr>
            <p:txBody>
              <a:bodyPr wrap="none" lIns="0" tIns="0" rIns="0" bIns="0" anchor="t" anchorCtr="0">
                <a:spAutoFit/>
              </a:bodyPr>
              <a:lstStyle/>
              <a:p>
                <a:pPr algn="ctr"/>
                <a:r>
                  <a:rPr lang="en-US" sz="1120" dirty="0">
                    <a:solidFill>
                      <a:srgbClr val="6B6B6B"/>
                    </a:solidFill>
                    <a:latin typeface="Arial"/>
                    <a:ea typeface="Arial"/>
                    <a:cs typeface="Arial"/>
                  </a:rPr>
                  <a:t>Nokia</a:t>
                </a:r>
              </a:p>
            </p:txBody>
          </p:sp>
          <p:sp>
            <p:nvSpPr>
              <p:cNvPr id="45" name="Rectangle 45"/>
              <p:cNvSpPr/>
              <p:nvPr/>
            </p:nvSpPr>
            <p:spPr>
              <a:xfrm>
                <a:off x="10229850" y="4048125"/>
                <a:ext cx="666750" cy="428625"/>
              </a:xfrm>
              <a:prstGeom prst="rect">
                <a:avLst/>
              </a:prstGeom>
              <a:solidFill>
                <a:srgbClr val="C7C2B8"/>
              </a:solidFill>
              <a:ln>
                <a:noFill/>
              </a:ln>
            </p:spPr>
          </p:sp>
          <p:sp>
            <p:nvSpPr>
              <p:cNvPr id="46" name="TextBox 46"/>
              <p:cNvSpPr txBox="1"/>
              <p:nvPr/>
            </p:nvSpPr>
            <p:spPr>
              <a:xfrm>
                <a:off x="10145798" y="3832860"/>
                <a:ext cx="834855"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13%（估）</a:t>
                </a:r>
              </a:p>
            </p:txBody>
          </p:sp>
          <p:sp>
            <p:nvSpPr>
              <p:cNvPr id="47" name="TextBox 47"/>
              <p:cNvSpPr txBox="1"/>
              <p:nvPr/>
            </p:nvSpPr>
            <p:spPr>
              <a:xfrm>
                <a:off x="10406062" y="4545806"/>
                <a:ext cx="314325" cy="220028"/>
              </a:xfrm>
              <a:prstGeom prst="rect">
                <a:avLst/>
              </a:prstGeom>
              <a:noFill/>
              <a:ln>
                <a:noFill/>
              </a:ln>
            </p:spPr>
            <p:txBody>
              <a:bodyPr wrap="none" lIns="0" tIns="0" rIns="0" bIns="0" anchor="t" anchorCtr="0">
                <a:spAutoFit/>
              </a:bodyPr>
              <a:lstStyle/>
              <a:p>
                <a:pPr algn="ctr"/>
                <a:r>
                  <a:rPr lang="zh-CN" sz="1120" dirty="0">
                    <a:solidFill>
                      <a:srgbClr val="6B6B6B"/>
                    </a:solidFill>
                    <a:latin typeface="Arial"/>
                    <a:ea typeface="Microsoft YaHei"/>
                    <a:cs typeface="Arial"/>
                  </a:rPr>
                  <a:t>其他</a:t>
                </a:r>
              </a:p>
            </p:txBody>
          </p:sp>
        </p:grpSp>
        <p:sp>
          <p:nvSpPr>
            <p:cNvPr id="49" name="TextBox 49"/>
            <p:cNvSpPr txBox="1"/>
            <p:nvPr/>
          </p:nvSpPr>
          <p:spPr>
            <a:xfrm>
              <a:off x="8090154" y="4823460"/>
              <a:ext cx="232800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华为：与Nokia并列供应商主力</a:t>
              </a:r>
            </a:p>
          </p:txBody>
        </p:sp>
      </p:grpSp>
      <p:grpSp>
        <p:nvGrpSpPr>
          <p:cNvPr id="53" name="Group 53"/>
          <p:cNvGrpSpPr/>
          <p:nvPr/>
        </p:nvGrpSpPr>
        <p:grpSpPr>
          <a:xfrm>
            <a:off x="533400" y="5715000"/>
            <a:ext cx="11125200" cy="571500"/>
            <a:chOff x="533400" y="5715000"/>
            <a:chExt cx="11125200" cy="571500"/>
          </a:xfrm>
        </p:grpSpPr>
        <p:sp>
          <p:nvSpPr>
            <p:cNvPr id="51" name="Rectangle 51"/>
            <p:cNvSpPr/>
            <p:nvPr/>
          </p:nvSpPr>
          <p:spPr>
            <a:xfrm>
              <a:off x="533400" y="5715000"/>
              <a:ext cx="11125200" cy="571500"/>
            </a:xfrm>
            <a:prstGeom prst="roundRect">
              <a:avLst>
                <a:gd name="adj" fmla="val 6667"/>
              </a:avLst>
            </a:prstGeom>
            <a:solidFill>
              <a:srgbClr val="FFF6EC"/>
            </a:solidFill>
            <a:ln w="14288">
              <a:solidFill>
                <a:srgbClr val="FFA640"/>
              </a:solidFill>
            </a:ln>
          </p:spPr>
        </p:sp>
        <p:sp>
          <p:nvSpPr>
            <p:cNvPr id="52" name="TextBox 52"/>
            <p:cNvSpPr txBox="1"/>
            <p:nvPr/>
          </p:nvSpPr>
          <p:spPr>
            <a:xfrm>
              <a:off x="755523" y="5920264"/>
              <a:ext cx="6764576" cy="249364"/>
            </a:xfrm>
            <a:prstGeom prst="rect">
              <a:avLst/>
            </a:prstGeom>
            <a:noFill/>
            <a:ln>
              <a:noFill/>
            </a:ln>
          </p:spPr>
          <p:txBody>
            <a:bodyPr wrap="none" lIns="0" tIns="0" rIns="0" bIns="0" anchor="t" anchorCtr="0">
              <a:spAutoFit/>
            </a:bodyPr>
            <a:lstStyle/>
            <a:p>
              <a:pPr algn="l"/>
              <a:r>
                <a:rPr lang="zh-CN" sz="1280" b="1" dirty="0">
                  <a:solidFill>
                    <a:srgbClr val="B85C00"/>
                  </a:solidFill>
                  <a:latin typeface="Arial"/>
                  <a:ea typeface="Microsoft YaHei"/>
                  <a:cs typeface="Arial"/>
                </a:rPr>
                <a:t>MPN是唯一华为与Nokia并列主力供应商的场景，值得作为对OB/OEU的突破口参考</a:t>
              </a:r>
            </a:p>
          </p:txBody>
        </p:sp>
      </p:grpSp>
      <p:grpSp>
        <p:nvGrpSpPr>
          <p:cNvPr id="56" name="Group 56"/>
          <p:cNvGrpSpPr/>
          <p:nvPr/>
        </p:nvGrpSpPr>
        <p:grpSpPr>
          <a:xfrm>
            <a:off x="528447" y="6562249"/>
            <a:ext cx="11135106" cy="190690"/>
            <a:chOff x="528447" y="6562249"/>
            <a:chExt cx="11135106" cy="190690"/>
          </a:xfrm>
        </p:grpSpPr>
        <p:sp>
          <p:nvSpPr>
            <p:cNvPr id="54" name="TextBox 5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5" name="TextBox 5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440787" cy="747713"/>
            <a:chOff x="521970" y="252412"/>
            <a:chExt cx="11440787" cy="747713"/>
          </a:xfrm>
        </p:grpSpPr>
        <p:sp>
          <p:nvSpPr>
            <p:cNvPr id="3" name="TextBox 3"/>
            <p:cNvSpPr txBox="1"/>
            <p:nvPr/>
          </p:nvSpPr>
          <p:spPr>
            <a:xfrm>
              <a:off x="521970" y="252412"/>
              <a:ext cx="11440787"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OB是生态位竞争排除区——华为唯一存量锚点是</a:t>
              </a:r>
              <a:r>
                <a:rPr lang="zh-CN" sz="2250" b="1" dirty="0">
                  <a:solidFill>
                    <a:srgbClr val="FF7900"/>
                  </a:solidFill>
                  <a:latin typeface="Arial"/>
                  <a:ea typeface="Microsoft YaHei"/>
                  <a:cs typeface="Arial"/>
                </a:rPr>
                <a:t>看不见的Flexible Engine云栈底层</a:t>
              </a:r>
            </a:p>
          </p:txBody>
        </p:sp>
        <p:sp>
          <p:nvSpPr>
            <p:cNvPr id="4" name="TextBox 4"/>
            <p:cNvSpPr txBox="1"/>
            <p:nvPr/>
          </p:nvSpPr>
          <p:spPr>
            <a:xfrm>
              <a:off x="527304" y="708660"/>
              <a:ext cx="6088685"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法国WAN/LAN/安全目录基本不在准入清单，排除是市场化竞争结果而非行政禁令</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47" name="Group 47"/>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100647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OFFERING维度</a:t>
              </a:r>
            </a:p>
          </p:txBody>
        </p:sp>
        <p:sp>
          <p:nvSpPr>
            <p:cNvPr id="9" name="TextBox 9"/>
            <p:cNvSpPr txBox="1"/>
            <p:nvPr/>
          </p:nvSpPr>
          <p:spPr>
            <a:xfrm>
              <a:off x="3042666" y="1315402"/>
              <a:ext cx="873176"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主要VENDOR</a:t>
              </a:r>
            </a:p>
          </p:txBody>
        </p:sp>
        <p:sp>
          <p:nvSpPr>
            <p:cNvPr id="10" name="TextBox 10"/>
            <p:cNvSpPr txBox="1"/>
            <p:nvPr/>
          </p:nvSpPr>
          <p:spPr>
            <a:xfrm>
              <a:off x="70431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BF6F1"/>
            </a:solidFill>
            <a:ln>
              <a:noFill/>
            </a:ln>
          </p:spPr>
        </p:sp>
        <p:sp>
          <p:nvSpPr>
            <p:cNvPr id="13" name="TextBox 13"/>
            <p:cNvSpPr txBox="1"/>
            <p:nvPr/>
          </p:nvSpPr>
          <p:spPr>
            <a:xfrm>
              <a:off x="717423" y="1834039"/>
              <a:ext cx="74608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a:t>
              </a:r>
            </a:p>
          </p:txBody>
        </p:sp>
        <p:sp>
          <p:nvSpPr>
            <p:cNvPr id="14" name="TextBox 14"/>
            <p:cNvSpPr txBox="1"/>
            <p:nvPr/>
          </p:nvSpPr>
          <p:spPr>
            <a:xfrm>
              <a:off x="3041904" y="1842135"/>
              <a:ext cx="3110582"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Cisco / Fortinet / VMware / OneAccess</a:t>
              </a:r>
            </a:p>
          </p:txBody>
        </p:sp>
        <p:sp>
          <p:nvSpPr>
            <p:cNvPr id="15" name="TextBox 15"/>
            <p:cNvSpPr txBox="1"/>
            <p:nvPr/>
          </p:nvSpPr>
          <p:spPr>
            <a:xfrm>
              <a:off x="7042404" y="1842135"/>
              <a:ext cx="521056"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不可见</a:t>
              </a:r>
            </a:p>
          </p:txBody>
        </p:sp>
        <p:sp>
          <p:nvSpPr>
            <p:cNvPr id="16" name="Rectangle 16"/>
            <p:cNvSpPr/>
            <p:nvPr/>
          </p:nvSpPr>
          <p:spPr>
            <a:xfrm>
              <a:off x="9525000" y="1828800"/>
              <a:ext cx="1714500" cy="114300"/>
            </a:xfrm>
            <a:prstGeom prst="roundRect">
              <a:avLst>
                <a:gd name="adj" fmla="val 50000"/>
              </a:avLst>
            </a:prstGeom>
            <a:solidFill>
              <a:srgbClr val="E8E2DA"/>
            </a:solidFill>
            <a:ln>
              <a:noFill/>
            </a:ln>
          </p:spPr>
        </p:sp>
        <p:sp>
          <p:nvSpPr>
            <p:cNvPr id="17" name="TextBox 17"/>
            <p:cNvSpPr txBox="1"/>
            <p:nvPr/>
          </p:nvSpPr>
          <p:spPr>
            <a:xfrm>
              <a:off x="10285038" y="20012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18" name="TextBox 18"/>
            <p:cNvSpPr txBox="1"/>
            <p:nvPr/>
          </p:nvSpPr>
          <p:spPr>
            <a:xfrm>
              <a:off x="717423" y="2386489"/>
              <a:ext cx="70800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LAN管理</a:t>
              </a:r>
            </a:p>
          </p:txBody>
        </p:sp>
        <p:sp>
          <p:nvSpPr>
            <p:cNvPr id="19" name="TextBox 19"/>
            <p:cNvSpPr txBox="1"/>
            <p:nvPr/>
          </p:nvSpPr>
          <p:spPr>
            <a:xfrm>
              <a:off x="3041904" y="2394585"/>
              <a:ext cx="1754848"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Cisco / HPE / Fortinet</a:t>
              </a:r>
            </a:p>
          </p:txBody>
        </p:sp>
        <p:sp>
          <p:nvSpPr>
            <p:cNvPr id="20" name="TextBox 20"/>
            <p:cNvSpPr txBox="1"/>
            <p:nvPr/>
          </p:nvSpPr>
          <p:spPr>
            <a:xfrm>
              <a:off x="7042404" y="2394585"/>
              <a:ext cx="521056"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不可见</a:t>
              </a:r>
            </a:p>
          </p:txBody>
        </p:sp>
        <p:sp>
          <p:nvSpPr>
            <p:cNvPr id="21" name="Rectangle 21"/>
            <p:cNvSpPr/>
            <p:nvPr/>
          </p:nvSpPr>
          <p:spPr>
            <a:xfrm>
              <a:off x="9525000" y="2381250"/>
              <a:ext cx="1714500" cy="114300"/>
            </a:xfrm>
            <a:prstGeom prst="roundRect">
              <a:avLst>
                <a:gd name="adj" fmla="val 50000"/>
              </a:avLst>
            </a:prstGeom>
            <a:solidFill>
              <a:srgbClr val="E8E2DA"/>
            </a:solidFill>
            <a:ln>
              <a:noFill/>
            </a:ln>
          </p:spPr>
        </p:sp>
        <p:sp>
          <p:nvSpPr>
            <p:cNvPr id="22" name="TextBox 22"/>
            <p:cNvSpPr txBox="1"/>
            <p:nvPr/>
          </p:nvSpPr>
          <p:spPr>
            <a:xfrm>
              <a:off x="10285038" y="25536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23" name="Rectangle 23"/>
            <p:cNvSpPr/>
            <p:nvPr/>
          </p:nvSpPr>
          <p:spPr>
            <a:xfrm>
              <a:off x="533400" y="2752725"/>
              <a:ext cx="11125200" cy="552450"/>
            </a:xfrm>
            <a:prstGeom prst="rect">
              <a:avLst/>
            </a:prstGeom>
            <a:solidFill>
              <a:srgbClr val="FBF6F1"/>
            </a:solidFill>
            <a:ln>
              <a:noFill/>
            </a:ln>
          </p:spPr>
        </p:sp>
        <p:sp>
          <p:nvSpPr>
            <p:cNvPr id="24" name="TextBox 24"/>
            <p:cNvSpPr txBox="1"/>
            <p:nvPr/>
          </p:nvSpPr>
          <p:spPr>
            <a:xfrm>
              <a:off x="717423" y="293893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5" name="TextBox 25"/>
            <p:cNvSpPr txBox="1"/>
            <p:nvPr/>
          </p:nvSpPr>
          <p:spPr>
            <a:xfrm>
              <a:off x="3041904" y="2870835"/>
              <a:ext cx="3168575"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自有Cloud Avenue / Flexible Engine / Bleu</a:t>
              </a:r>
            </a:p>
          </p:txBody>
        </p:sp>
        <p:sp>
          <p:nvSpPr>
            <p:cNvPr id="26" name="TextBox 26"/>
            <p:cNvSpPr txBox="1"/>
            <p:nvPr/>
          </p:nvSpPr>
          <p:spPr>
            <a:xfrm>
              <a:off x="7042404" y="2870835"/>
              <a:ext cx="1029919"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云栈底层技术</a:t>
              </a:r>
            </a:p>
          </p:txBody>
        </p:sp>
        <p:sp>
          <p:nvSpPr>
            <p:cNvPr id="27" name="TextBox 27"/>
            <p:cNvSpPr txBox="1"/>
            <p:nvPr/>
          </p:nvSpPr>
          <p:spPr>
            <a:xfrm>
              <a:off x="7043166" y="3077528"/>
              <a:ext cx="100012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（非品牌可见）</a:t>
              </a:r>
            </a:p>
          </p:txBody>
        </p:sp>
        <p:sp>
          <p:nvSpPr>
            <p:cNvPr id="28" name="Rectangle 28"/>
            <p:cNvSpPr/>
            <p:nvPr/>
          </p:nvSpPr>
          <p:spPr>
            <a:xfrm>
              <a:off x="9525000" y="2933700"/>
              <a:ext cx="1714500" cy="114300"/>
            </a:xfrm>
            <a:prstGeom prst="roundRect">
              <a:avLst>
                <a:gd name="adj" fmla="val 50000"/>
              </a:avLst>
            </a:prstGeom>
            <a:solidFill>
              <a:srgbClr val="E8E2DA"/>
            </a:solidFill>
            <a:ln>
              <a:noFill/>
            </a:ln>
          </p:spPr>
        </p:sp>
        <p:sp>
          <p:nvSpPr>
            <p:cNvPr id="29" name="Rectangle 29"/>
            <p:cNvSpPr/>
            <p:nvPr/>
          </p:nvSpPr>
          <p:spPr>
            <a:xfrm>
              <a:off x="9525000" y="2933700"/>
              <a:ext cx="514350" cy="114300"/>
            </a:xfrm>
            <a:prstGeom prst="roundRect">
              <a:avLst>
                <a:gd name="adj" fmla="val 50000"/>
              </a:avLst>
            </a:prstGeom>
            <a:solidFill>
              <a:srgbClr val="FF7900"/>
            </a:solidFill>
            <a:ln>
              <a:noFill/>
            </a:ln>
          </p:spPr>
        </p:sp>
        <p:sp>
          <p:nvSpPr>
            <p:cNvPr id="30" name="TextBox 30"/>
            <p:cNvSpPr txBox="1"/>
            <p:nvPr/>
          </p:nvSpPr>
          <p:spPr>
            <a:xfrm>
              <a:off x="10239629" y="31061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30%</a:t>
              </a:r>
            </a:p>
          </p:txBody>
        </p:sp>
        <p:sp>
          <p:nvSpPr>
            <p:cNvPr id="31" name="TextBox 31"/>
            <p:cNvSpPr txBox="1"/>
            <p:nvPr/>
          </p:nvSpPr>
          <p:spPr>
            <a:xfrm>
              <a:off x="717423" y="3491389"/>
              <a:ext cx="733844"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安全托管</a:t>
              </a:r>
            </a:p>
          </p:txBody>
        </p:sp>
        <p:sp>
          <p:nvSpPr>
            <p:cNvPr id="32" name="TextBox 32"/>
            <p:cNvSpPr txBox="1"/>
            <p:nvPr/>
          </p:nvSpPr>
          <p:spPr>
            <a:xfrm>
              <a:off x="3041904" y="3499485"/>
              <a:ext cx="2851469"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CrowdStrike / Palo Alto / Microsoft</a:t>
              </a:r>
            </a:p>
          </p:txBody>
        </p:sp>
        <p:sp>
          <p:nvSpPr>
            <p:cNvPr id="33" name="TextBox 33"/>
            <p:cNvSpPr txBox="1"/>
            <p:nvPr/>
          </p:nvSpPr>
          <p:spPr>
            <a:xfrm>
              <a:off x="7042404" y="3499485"/>
              <a:ext cx="1262108"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不在Vendor目录</a:t>
              </a:r>
            </a:p>
          </p:txBody>
        </p:sp>
        <p:sp>
          <p:nvSpPr>
            <p:cNvPr id="34" name="Rectangle 34"/>
            <p:cNvSpPr/>
            <p:nvPr/>
          </p:nvSpPr>
          <p:spPr>
            <a:xfrm>
              <a:off x="9525000" y="3486150"/>
              <a:ext cx="1714500" cy="114300"/>
            </a:xfrm>
            <a:prstGeom prst="roundRect">
              <a:avLst>
                <a:gd name="adj" fmla="val 50000"/>
              </a:avLst>
            </a:prstGeom>
            <a:solidFill>
              <a:srgbClr val="E8E2DA"/>
            </a:solidFill>
            <a:ln>
              <a:noFill/>
            </a:ln>
          </p:spPr>
        </p:sp>
        <p:sp>
          <p:nvSpPr>
            <p:cNvPr id="35" name="TextBox 35"/>
            <p:cNvSpPr txBox="1"/>
            <p:nvPr/>
          </p:nvSpPr>
          <p:spPr>
            <a:xfrm>
              <a:off x="10285038" y="36585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6" name="Rectangle 36"/>
            <p:cNvSpPr/>
            <p:nvPr/>
          </p:nvSpPr>
          <p:spPr>
            <a:xfrm>
              <a:off x="533400" y="3857625"/>
              <a:ext cx="11125200" cy="552450"/>
            </a:xfrm>
            <a:prstGeom prst="rect">
              <a:avLst/>
            </a:prstGeom>
            <a:solidFill>
              <a:srgbClr val="FBF6F1"/>
            </a:solidFill>
            <a:ln>
              <a:noFill/>
            </a:ln>
          </p:spPr>
        </p:sp>
        <p:sp>
          <p:nvSpPr>
            <p:cNvPr id="37" name="TextBox 37"/>
            <p:cNvSpPr txBox="1"/>
            <p:nvPr/>
          </p:nvSpPr>
          <p:spPr>
            <a:xfrm>
              <a:off x="717423" y="4043839"/>
              <a:ext cx="83296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集成/转售</a:t>
              </a:r>
            </a:p>
          </p:txBody>
        </p:sp>
        <p:sp>
          <p:nvSpPr>
            <p:cNvPr id="38" name="TextBox 38"/>
            <p:cNvSpPr txBox="1"/>
            <p:nvPr/>
          </p:nvSpPr>
          <p:spPr>
            <a:xfrm>
              <a:off x="3041904" y="4051935"/>
              <a:ext cx="1991205"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HP / Dell / Lenovo / Apple</a:t>
              </a:r>
            </a:p>
          </p:txBody>
        </p:sp>
        <p:sp>
          <p:nvSpPr>
            <p:cNvPr id="39" name="TextBox 39"/>
            <p:cNvSpPr txBox="1"/>
            <p:nvPr/>
          </p:nvSpPr>
          <p:spPr>
            <a:xfrm>
              <a:off x="7042404" y="4051935"/>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终端目录不可见</a:t>
              </a:r>
            </a:p>
          </p:txBody>
        </p:sp>
        <p:sp>
          <p:nvSpPr>
            <p:cNvPr id="40" name="Rectangle 40"/>
            <p:cNvSpPr/>
            <p:nvPr/>
          </p:nvSpPr>
          <p:spPr>
            <a:xfrm>
              <a:off x="9525000" y="4038600"/>
              <a:ext cx="1714500" cy="114300"/>
            </a:xfrm>
            <a:prstGeom prst="roundRect">
              <a:avLst>
                <a:gd name="adj" fmla="val 50000"/>
              </a:avLst>
            </a:prstGeom>
            <a:solidFill>
              <a:srgbClr val="E8E2DA"/>
            </a:solidFill>
            <a:ln>
              <a:noFill/>
            </a:ln>
          </p:spPr>
        </p:sp>
        <p:sp>
          <p:nvSpPr>
            <p:cNvPr id="41" name="TextBox 41"/>
            <p:cNvSpPr txBox="1"/>
            <p:nvPr/>
          </p:nvSpPr>
          <p:spPr>
            <a:xfrm>
              <a:off x="10285038" y="42110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42" name="TextBox 42"/>
            <p:cNvSpPr txBox="1"/>
            <p:nvPr/>
          </p:nvSpPr>
          <p:spPr>
            <a:xfrm>
              <a:off x="717423" y="4596289"/>
              <a:ext cx="11269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移动专网MPN</a:t>
              </a:r>
            </a:p>
          </p:txBody>
        </p:sp>
        <p:sp>
          <p:nvSpPr>
            <p:cNvPr id="43" name="TextBox 43"/>
            <p:cNvSpPr txBox="1"/>
            <p:nvPr/>
          </p:nvSpPr>
          <p:spPr>
            <a:xfrm>
              <a:off x="3041904" y="4604385"/>
              <a:ext cx="269504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法国Hybrid MPN试点（非战略重心）</a:t>
              </a:r>
            </a:p>
          </p:txBody>
        </p:sp>
        <p:sp>
          <p:nvSpPr>
            <p:cNvPr id="44" name="TextBox 44"/>
            <p:cNvSpPr txBox="1"/>
            <p:nvPr/>
          </p:nvSpPr>
          <p:spPr>
            <a:xfrm>
              <a:off x="7042404" y="4604385"/>
              <a:ext cx="860298" cy="234696"/>
            </a:xfrm>
            <a:prstGeom prst="rect">
              <a:avLst/>
            </a:prstGeom>
            <a:noFill/>
            <a:ln>
              <a:noFill/>
            </a:ln>
          </p:spPr>
          <p:txBody>
            <a:bodyPr wrap="none" lIns="0" tIns="0" rIns="0" bIns="0" anchor="t" anchorCtr="0">
              <a:spAutoFit/>
            </a:bodyPr>
            <a:lstStyle/>
            <a:p>
              <a:pPr algn="l"/>
              <a:r>
                <a:rPr lang="zh-CN" sz="1200" b="1" dirty="0">
                  <a:solidFill>
                    <a:srgbClr val="9B9B9B"/>
                  </a:solidFill>
                  <a:latin typeface="Arial"/>
                  <a:ea typeface="Microsoft YaHei"/>
                  <a:cs typeface="Arial"/>
                </a:rPr>
                <a:t>无相关信息</a:t>
              </a:r>
            </a:p>
          </p:txBody>
        </p:sp>
        <p:sp>
          <p:nvSpPr>
            <p:cNvPr id="45" name="Rectangle 45"/>
            <p:cNvSpPr/>
            <p:nvPr/>
          </p:nvSpPr>
          <p:spPr>
            <a:xfrm>
              <a:off x="9525000" y="4591050"/>
              <a:ext cx="1714500" cy="114300"/>
            </a:xfrm>
            <a:prstGeom prst="roundRect">
              <a:avLst>
                <a:gd name="adj" fmla="val 50000"/>
              </a:avLst>
            </a:prstGeom>
            <a:solidFill>
              <a:srgbClr val="E8E2DA"/>
            </a:solidFill>
            <a:ln>
              <a:noFill/>
            </a:ln>
          </p:spPr>
        </p:sp>
        <p:sp>
          <p:nvSpPr>
            <p:cNvPr id="46" name="TextBox 46"/>
            <p:cNvSpPr txBox="1"/>
            <p:nvPr/>
          </p:nvSpPr>
          <p:spPr>
            <a:xfrm>
              <a:off x="10338044" y="4763452"/>
              <a:ext cx="88411"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a:t>
              </a:r>
            </a:p>
          </p:txBody>
        </p:sp>
      </p:grpSp>
      <p:grpSp>
        <p:nvGrpSpPr>
          <p:cNvPr id="53" name="Group 53"/>
          <p:cNvGrpSpPr/>
          <p:nvPr/>
        </p:nvGrpSpPr>
        <p:grpSpPr>
          <a:xfrm>
            <a:off x="533400" y="5143500"/>
            <a:ext cx="11125200" cy="762000"/>
            <a:chOff x="533400" y="5143500"/>
            <a:chExt cx="11125200" cy="762000"/>
          </a:xfrm>
        </p:grpSpPr>
        <p:sp>
          <p:nvSpPr>
            <p:cNvPr id="48" name="Line 48"/>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49" name="Rectangle 49"/>
            <p:cNvSpPr/>
            <p:nvPr/>
          </p:nvSpPr>
          <p:spPr>
            <a:xfrm>
              <a:off x="533400" y="5314950"/>
              <a:ext cx="11125200" cy="590550"/>
            </a:xfrm>
            <a:prstGeom prst="roundRect">
              <a:avLst>
                <a:gd name="adj" fmla="val 6452"/>
              </a:avLst>
            </a:prstGeom>
            <a:solidFill>
              <a:srgbClr val="1A1A1A"/>
            </a:solidFill>
            <a:ln>
              <a:noFill/>
            </a:ln>
          </p:spPr>
        </p:sp>
        <p:sp>
          <p:nvSpPr>
            <p:cNvPr id="50" name="Rectangle 50"/>
            <p:cNvSpPr/>
            <p:nvPr/>
          </p:nvSpPr>
          <p:spPr>
            <a:xfrm>
              <a:off x="533400" y="5314950"/>
              <a:ext cx="57150" cy="590550"/>
            </a:xfrm>
            <a:prstGeom prst="rect">
              <a:avLst/>
            </a:prstGeom>
            <a:solidFill>
              <a:srgbClr val="FF7900"/>
            </a:solidFill>
            <a:ln>
              <a:noFill/>
            </a:ln>
          </p:spPr>
        </p:sp>
        <p:sp>
          <p:nvSpPr>
            <p:cNvPr id="51" name="TextBox 51"/>
            <p:cNvSpPr txBox="1"/>
            <p:nvPr/>
          </p:nvSpPr>
          <p:spPr>
            <a:xfrm>
              <a:off x="755904" y="5423535"/>
              <a:ext cx="425272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定性：生态位竞争排除（市场化竞争结果，非行政禁令）</a:t>
              </a:r>
            </a:p>
          </p:txBody>
        </p:sp>
        <p:sp>
          <p:nvSpPr>
            <p:cNvPr id="52" name="TextBox 52"/>
            <p:cNvSpPr txBox="1"/>
            <p:nvPr/>
          </p:nvSpPr>
          <p:spPr>
            <a:xfrm>
              <a:off x="756285" y="5650706"/>
              <a:ext cx="5385489"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唯一存量锚点：Flexible Engine云平台底座（2016年起技术合作，非品牌可见）</a:t>
              </a:r>
            </a:p>
          </p:txBody>
        </p:sp>
      </p:grpSp>
      <p:grpSp>
        <p:nvGrpSpPr>
          <p:cNvPr id="56" name="Group 56"/>
          <p:cNvGrpSpPr/>
          <p:nvPr/>
        </p:nvGrpSpPr>
        <p:grpSpPr>
          <a:xfrm>
            <a:off x="528447" y="6562249"/>
            <a:ext cx="11135106" cy="190690"/>
            <a:chOff x="528447" y="6562249"/>
            <a:chExt cx="11135106" cy="190690"/>
          </a:xfrm>
        </p:grpSpPr>
        <p:sp>
          <p:nvSpPr>
            <p:cNvPr id="54" name="TextBox 5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5" name="TextBox 5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616309" cy="747713"/>
            <a:chOff x="521970" y="252412"/>
            <a:chExt cx="11616309" cy="747713"/>
          </a:xfrm>
        </p:grpSpPr>
        <p:sp>
          <p:nvSpPr>
            <p:cNvPr id="3" name="TextBox 3"/>
            <p:cNvSpPr txBox="1"/>
            <p:nvPr/>
          </p:nvSpPr>
          <p:spPr>
            <a:xfrm>
              <a:off x="521970" y="252412"/>
              <a:ext cx="11616309"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OEU是三区域中对华为最不友好的法律环境——</a:t>
              </a:r>
              <a:r>
                <a:rPr lang="zh-CN" sz="2250" b="1" dirty="0">
                  <a:solidFill>
                    <a:srgbClr val="FF7900"/>
                  </a:solidFill>
                  <a:latin typeface="Arial"/>
                  <a:ea typeface="Microsoft YaHei"/>
                  <a:cs typeface="Arial"/>
                </a:rPr>
                <a:t>国家安全立法+对美协议强制退出</a:t>
              </a:r>
            </a:p>
          </p:txBody>
        </p:sp>
        <p:sp>
          <p:nvSpPr>
            <p:cNvPr id="4" name="TextBox 4"/>
            <p:cNvSpPr txBox="1"/>
            <p:nvPr/>
          </p:nvSpPr>
          <p:spPr>
            <a:xfrm>
              <a:off x="527304" y="708660"/>
              <a:ext cx="697473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波兰与罗马尼亚均已完成对华为的法律层面排除，罗马尼亚更在进行"拆除并更换"的存量替换工程</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47" name="Group 47"/>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100647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OFFERING维度</a:t>
              </a:r>
            </a:p>
          </p:txBody>
        </p:sp>
        <p:sp>
          <p:nvSpPr>
            <p:cNvPr id="9" name="TextBox 9"/>
            <p:cNvSpPr txBox="1"/>
            <p:nvPr/>
          </p:nvSpPr>
          <p:spPr>
            <a:xfrm>
              <a:off x="3042666" y="1315402"/>
              <a:ext cx="873176"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主要VENDOR</a:t>
              </a:r>
            </a:p>
          </p:txBody>
        </p:sp>
        <p:sp>
          <p:nvSpPr>
            <p:cNvPr id="10" name="TextBox 10"/>
            <p:cNvSpPr txBox="1"/>
            <p:nvPr/>
          </p:nvSpPr>
          <p:spPr>
            <a:xfrm>
              <a:off x="70431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BF6F1"/>
            </a:solidFill>
            <a:ln>
              <a:noFill/>
            </a:ln>
          </p:spPr>
        </p:sp>
        <p:sp>
          <p:nvSpPr>
            <p:cNvPr id="13" name="TextBox 13"/>
            <p:cNvSpPr txBox="1"/>
            <p:nvPr/>
          </p:nvSpPr>
          <p:spPr>
            <a:xfrm>
              <a:off x="717423" y="1767364"/>
              <a:ext cx="116501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WAN连接/RAN</a:t>
              </a:r>
            </a:p>
          </p:txBody>
        </p:sp>
        <p:sp>
          <p:nvSpPr>
            <p:cNvPr id="14" name="TextBox 14"/>
            <p:cNvSpPr txBox="1"/>
            <p:nvPr/>
          </p:nvSpPr>
          <p:spPr>
            <a:xfrm>
              <a:off x="3041904" y="1775460"/>
              <a:ext cx="2224713"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OneAccess / Cisco / Juniper</a:t>
              </a:r>
            </a:p>
          </p:txBody>
        </p:sp>
        <p:sp>
          <p:nvSpPr>
            <p:cNvPr id="15" name="TextBox 15"/>
            <p:cNvSpPr txBox="1"/>
            <p:nvPr/>
          </p:nvSpPr>
          <p:spPr>
            <a:xfrm>
              <a:off x="3042285" y="1974056"/>
              <a:ext cx="227580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 Ericsson（罗马尼亚RAN替换）</a:t>
              </a:r>
            </a:p>
          </p:txBody>
        </p:sp>
        <p:sp>
          <p:nvSpPr>
            <p:cNvPr id="16" name="TextBox 16"/>
            <p:cNvSpPr txBox="1"/>
            <p:nvPr/>
          </p:nvSpPr>
          <p:spPr>
            <a:xfrm>
              <a:off x="7042404" y="1842135"/>
              <a:ext cx="1369162"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完全排除（法律）</a:t>
              </a:r>
            </a:p>
          </p:txBody>
        </p:sp>
        <p:sp>
          <p:nvSpPr>
            <p:cNvPr id="17" name="Rectangle 17"/>
            <p:cNvSpPr/>
            <p:nvPr/>
          </p:nvSpPr>
          <p:spPr>
            <a:xfrm>
              <a:off x="9525000" y="1828800"/>
              <a:ext cx="1714500" cy="114300"/>
            </a:xfrm>
            <a:prstGeom prst="roundRect">
              <a:avLst>
                <a:gd name="adj" fmla="val 50000"/>
              </a:avLst>
            </a:prstGeom>
            <a:solidFill>
              <a:srgbClr val="E8E2DA"/>
            </a:solidFill>
            <a:ln>
              <a:noFill/>
            </a:ln>
          </p:spPr>
        </p:sp>
        <p:sp>
          <p:nvSpPr>
            <p:cNvPr id="18" name="TextBox 18"/>
            <p:cNvSpPr txBox="1"/>
            <p:nvPr/>
          </p:nvSpPr>
          <p:spPr>
            <a:xfrm>
              <a:off x="10285038" y="20012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19" name="TextBox 19"/>
            <p:cNvSpPr txBox="1"/>
            <p:nvPr/>
          </p:nvSpPr>
          <p:spPr>
            <a:xfrm>
              <a:off x="717423" y="2386489"/>
              <a:ext cx="70800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LAN管理</a:t>
              </a:r>
            </a:p>
          </p:txBody>
        </p:sp>
        <p:sp>
          <p:nvSpPr>
            <p:cNvPr id="20" name="TextBox 20"/>
            <p:cNvSpPr txBox="1"/>
            <p:nvPr/>
          </p:nvSpPr>
          <p:spPr>
            <a:xfrm>
              <a:off x="3041904" y="2394585"/>
              <a:ext cx="819912" cy="234696"/>
            </a:xfrm>
            <a:prstGeom prst="rect">
              <a:avLst/>
            </a:prstGeom>
            <a:noFill/>
            <a:ln>
              <a:noFill/>
            </a:ln>
          </p:spPr>
          <p:txBody>
            <a:bodyPr wrap="none" lIns="0" tIns="0" rIns="0" bIns="0" anchor="t" anchorCtr="0">
              <a:spAutoFit/>
            </a:bodyPr>
            <a:lstStyle/>
            <a:p>
              <a:pPr algn="l"/>
              <a:r>
                <a:rPr lang="zh-CN" sz="1200" dirty="0">
                  <a:solidFill>
                    <a:srgbClr val="9B9B9B"/>
                  </a:solidFill>
                  <a:latin typeface="Arial"/>
                  <a:ea typeface="Microsoft YaHei"/>
                  <a:cs typeface="Arial"/>
                </a:rPr>
                <a:t>数据待补充</a:t>
              </a:r>
            </a:p>
          </p:txBody>
        </p:sp>
        <p:sp>
          <p:nvSpPr>
            <p:cNvPr id="21" name="TextBox 21"/>
            <p:cNvSpPr txBox="1"/>
            <p:nvPr/>
          </p:nvSpPr>
          <p:spPr>
            <a:xfrm>
              <a:off x="7042404" y="239458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法律排除</a:t>
              </a:r>
            </a:p>
          </p:txBody>
        </p:sp>
        <p:sp>
          <p:nvSpPr>
            <p:cNvPr id="22" name="Rectangle 22"/>
            <p:cNvSpPr/>
            <p:nvPr/>
          </p:nvSpPr>
          <p:spPr>
            <a:xfrm>
              <a:off x="9525000" y="2381250"/>
              <a:ext cx="1714500" cy="114300"/>
            </a:xfrm>
            <a:prstGeom prst="roundRect">
              <a:avLst>
                <a:gd name="adj" fmla="val 50000"/>
              </a:avLst>
            </a:prstGeom>
            <a:solidFill>
              <a:srgbClr val="E8E2DA"/>
            </a:solidFill>
            <a:ln>
              <a:noFill/>
            </a:ln>
          </p:spPr>
        </p:sp>
        <p:sp>
          <p:nvSpPr>
            <p:cNvPr id="23" name="TextBox 23"/>
            <p:cNvSpPr txBox="1"/>
            <p:nvPr/>
          </p:nvSpPr>
          <p:spPr>
            <a:xfrm>
              <a:off x="10285038" y="25536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24" name="Rectangle 24"/>
            <p:cNvSpPr/>
            <p:nvPr/>
          </p:nvSpPr>
          <p:spPr>
            <a:xfrm>
              <a:off x="533400" y="2752725"/>
              <a:ext cx="11125200" cy="552450"/>
            </a:xfrm>
            <a:prstGeom prst="rect">
              <a:avLst/>
            </a:prstGeom>
            <a:solidFill>
              <a:srgbClr val="FBF6F1"/>
            </a:solidFill>
            <a:ln>
              <a:noFill/>
            </a:ln>
          </p:spPr>
        </p:sp>
        <p:sp>
          <p:nvSpPr>
            <p:cNvPr id="25" name="TextBox 25"/>
            <p:cNvSpPr txBox="1"/>
            <p:nvPr/>
          </p:nvSpPr>
          <p:spPr>
            <a:xfrm>
              <a:off x="717423" y="293893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6" name="TextBox 26"/>
            <p:cNvSpPr txBox="1"/>
            <p:nvPr/>
          </p:nvSpPr>
          <p:spPr>
            <a:xfrm>
              <a:off x="3041904" y="2947035"/>
              <a:ext cx="2043505"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波兰BlueSoft / Craftware</a:t>
              </a:r>
            </a:p>
          </p:txBody>
        </p:sp>
        <p:sp>
          <p:nvSpPr>
            <p:cNvPr id="27" name="TextBox 27"/>
            <p:cNvSpPr txBox="1"/>
            <p:nvPr/>
          </p:nvSpPr>
          <p:spPr>
            <a:xfrm>
              <a:off x="7042404" y="294703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未见参与</a:t>
              </a:r>
            </a:p>
          </p:txBody>
        </p:sp>
        <p:sp>
          <p:nvSpPr>
            <p:cNvPr id="28" name="Rectangle 28"/>
            <p:cNvSpPr/>
            <p:nvPr/>
          </p:nvSpPr>
          <p:spPr>
            <a:xfrm>
              <a:off x="9525000" y="2933700"/>
              <a:ext cx="1714500" cy="114300"/>
            </a:xfrm>
            <a:prstGeom prst="roundRect">
              <a:avLst>
                <a:gd name="adj" fmla="val 50000"/>
              </a:avLst>
            </a:prstGeom>
            <a:solidFill>
              <a:srgbClr val="E8E2DA"/>
            </a:solidFill>
            <a:ln>
              <a:noFill/>
            </a:ln>
          </p:spPr>
        </p:sp>
        <p:sp>
          <p:nvSpPr>
            <p:cNvPr id="29" name="TextBox 29"/>
            <p:cNvSpPr txBox="1"/>
            <p:nvPr/>
          </p:nvSpPr>
          <p:spPr>
            <a:xfrm>
              <a:off x="10285038" y="31061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0" name="TextBox 30"/>
            <p:cNvSpPr txBox="1"/>
            <p:nvPr/>
          </p:nvSpPr>
          <p:spPr>
            <a:xfrm>
              <a:off x="717423" y="3491389"/>
              <a:ext cx="733844"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安全托管</a:t>
              </a:r>
            </a:p>
          </p:txBody>
        </p:sp>
        <p:sp>
          <p:nvSpPr>
            <p:cNvPr id="31" name="TextBox 31"/>
            <p:cNvSpPr txBox="1"/>
            <p:nvPr/>
          </p:nvSpPr>
          <p:spPr>
            <a:xfrm>
              <a:off x="3041904" y="3499485"/>
              <a:ext cx="226527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罗马尼亚SCUT / OCD区域节点</a:t>
              </a:r>
            </a:p>
          </p:txBody>
        </p:sp>
        <p:sp>
          <p:nvSpPr>
            <p:cNvPr id="32" name="TextBox 32"/>
            <p:cNvSpPr txBox="1"/>
            <p:nvPr/>
          </p:nvSpPr>
          <p:spPr>
            <a:xfrm>
              <a:off x="7042404" y="349948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未见参与</a:t>
              </a:r>
            </a:p>
          </p:txBody>
        </p:sp>
        <p:sp>
          <p:nvSpPr>
            <p:cNvPr id="33" name="Rectangle 33"/>
            <p:cNvSpPr/>
            <p:nvPr/>
          </p:nvSpPr>
          <p:spPr>
            <a:xfrm>
              <a:off x="9525000" y="3486150"/>
              <a:ext cx="1714500" cy="114300"/>
            </a:xfrm>
            <a:prstGeom prst="roundRect">
              <a:avLst>
                <a:gd name="adj" fmla="val 50000"/>
              </a:avLst>
            </a:prstGeom>
            <a:solidFill>
              <a:srgbClr val="E8E2DA"/>
            </a:solidFill>
            <a:ln>
              <a:noFill/>
            </a:ln>
          </p:spPr>
        </p:sp>
        <p:sp>
          <p:nvSpPr>
            <p:cNvPr id="34" name="TextBox 34"/>
            <p:cNvSpPr txBox="1"/>
            <p:nvPr/>
          </p:nvSpPr>
          <p:spPr>
            <a:xfrm>
              <a:off x="10285038" y="36585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5" name="Rectangle 35"/>
            <p:cNvSpPr/>
            <p:nvPr/>
          </p:nvSpPr>
          <p:spPr>
            <a:xfrm>
              <a:off x="533400" y="3857625"/>
              <a:ext cx="11125200" cy="552450"/>
            </a:xfrm>
            <a:prstGeom prst="rect">
              <a:avLst/>
            </a:prstGeom>
            <a:solidFill>
              <a:srgbClr val="FBF6F1"/>
            </a:solidFill>
            <a:ln>
              <a:noFill/>
            </a:ln>
          </p:spPr>
        </p:sp>
        <p:sp>
          <p:nvSpPr>
            <p:cNvPr id="36" name="TextBox 36"/>
            <p:cNvSpPr txBox="1"/>
            <p:nvPr/>
          </p:nvSpPr>
          <p:spPr>
            <a:xfrm>
              <a:off x="717423" y="3977164"/>
              <a:ext cx="83296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集成/转售</a:t>
              </a:r>
            </a:p>
          </p:txBody>
        </p:sp>
        <p:sp>
          <p:nvSpPr>
            <p:cNvPr id="37" name="TextBox 37"/>
            <p:cNvSpPr txBox="1"/>
            <p:nvPr/>
          </p:nvSpPr>
          <p:spPr>
            <a:xfrm>
              <a:off x="3041904" y="3985260"/>
              <a:ext cx="168884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OneAccess(法国自研)</a:t>
              </a:r>
            </a:p>
          </p:txBody>
        </p:sp>
        <p:sp>
          <p:nvSpPr>
            <p:cNvPr id="38" name="TextBox 38"/>
            <p:cNvSpPr txBox="1"/>
            <p:nvPr/>
          </p:nvSpPr>
          <p:spPr>
            <a:xfrm>
              <a:off x="3042285" y="4183856"/>
              <a:ext cx="1503188"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 西班牙大型项目案例</a:t>
              </a:r>
            </a:p>
          </p:txBody>
        </p:sp>
        <p:sp>
          <p:nvSpPr>
            <p:cNvPr id="39" name="TextBox 39"/>
            <p:cNvSpPr txBox="1"/>
            <p:nvPr/>
          </p:nvSpPr>
          <p:spPr>
            <a:xfrm>
              <a:off x="7042404" y="4051935"/>
              <a:ext cx="1029919"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生态未见身影</a:t>
              </a:r>
            </a:p>
          </p:txBody>
        </p:sp>
        <p:sp>
          <p:nvSpPr>
            <p:cNvPr id="40" name="Rectangle 40"/>
            <p:cNvSpPr/>
            <p:nvPr/>
          </p:nvSpPr>
          <p:spPr>
            <a:xfrm>
              <a:off x="9525000" y="4038600"/>
              <a:ext cx="1714500" cy="114300"/>
            </a:xfrm>
            <a:prstGeom prst="roundRect">
              <a:avLst>
                <a:gd name="adj" fmla="val 50000"/>
              </a:avLst>
            </a:prstGeom>
            <a:solidFill>
              <a:srgbClr val="E8E2DA"/>
            </a:solidFill>
            <a:ln>
              <a:noFill/>
            </a:ln>
          </p:spPr>
        </p:sp>
        <p:sp>
          <p:nvSpPr>
            <p:cNvPr id="41" name="TextBox 41"/>
            <p:cNvSpPr txBox="1"/>
            <p:nvPr/>
          </p:nvSpPr>
          <p:spPr>
            <a:xfrm>
              <a:off x="10285038" y="42110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42" name="TextBox 42"/>
            <p:cNvSpPr txBox="1"/>
            <p:nvPr/>
          </p:nvSpPr>
          <p:spPr>
            <a:xfrm>
              <a:off x="717423" y="4596289"/>
              <a:ext cx="11269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移动专网MPN</a:t>
              </a:r>
            </a:p>
          </p:txBody>
        </p:sp>
        <p:sp>
          <p:nvSpPr>
            <p:cNvPr id="43" name="TextBox 43"/>
            <p:cNvSpPr txBox="1"/>
            <p:nvPr/>
          </p:nvSpPr>
          <p:spPr>
            <a:xfrm>
              <a:off x="3041904" y="4604385"/>
              <a:ext cx="203235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西班牙MasOrange新签合同</a:t>
              </a:r>
            </a:p>
          </p:txBody>
        </p:sp>
        <p:sp>
          <p:nvSpPr>
            <p:cNvPr id="44" name="TextBox 44"/>
            <p:cNvSpPr txBox="1"/>
            <p:nvPr/>
          </p:nvSpPr>
          <p:spPr>
            <a:xfrm>
              <a:off x="7042404" y="4604385"/>
              <a:ext cx="860298" cy="234696"/>
            </a:xfrm>
            <a:prstGeom prst="rect">
              <a:avLst/>
            </a:prstGeom>
            <a:noFill/>
            <a:ln>
              <a:noFill/>
            </a:ln>
          </p:spPr>
          <p:txBody>
            <a:bodyPr wrap="none" lIns="0" tIns="0" rIns="0" bIns="0" anchor="t" anchorCtr="0">
              <a:spAutoFit/>
            </a:bodyPr>
            <a:lstStyle/>
            <a:p>
              <a:pPr algn="l"/>
              <a:r>
                <a:rPr lang="zh-CN" sz="1200" b="1" dirty="0">
                  <a:solidFill>
                    <a:srgbClr val="9B9B9B"/>
                  </a:solidFill>
                  <a:latin typeface="Arial"/>
                  <a:ea typeface="Microsoft YaHei"/>
                  <a:cs typeface="Arial"/>
                </a:rPr>
                <a:t>数据待补充</a:t>
              </a:r>
            </a:p>
          </p:txBody>
        </p:sp>
        <p:sp>
          <p:nvSpPr>
            <p:cNvPr id="45" name="Rectangle 45"/>
            <p:cNvSpPr/>
            <p:nvPr/>
          </p:nvSpPr>
          <p:spPr>
            <a:xfrm>
              <a:off x="9525000" y="4591050"/>
              <a:ext cx="1714500" cy="114300"/>
            </a:xfrm>
            <a:prstGeom prst="roundRect">
              <a:avLst>
                <a:gd name="adj" fmla="val 50000"/>
              </a:avLst>
            </a:prstGeom>
            <a:solidFill>
              <a:srgbClr val="E8E2DA"/>
            </a:solidFill>
            <a:ln>
              <a:noFill/>
            </a:ln>
          </p:spPr>
        </p:sp>
        <p:sp>
          <p:nvSpPr>
            <p:cNvPr id="46" name="TextBox 46"/>
            <p:cNvSpPr txBox="1"/>
            <p:nvPr/>
          </p:nvSpPr>
          <p:spPr>
            <a:xfrm>
              <a:off x="10338044" y="4763452"/>
              <a:ext cx="88411"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a:t>
              </a:r>
            </a:p>
          </p:txBody>
        </p:sp>
      </p:grpSp>
      <p:grpSp>
        <p:nvGrpSpPr>
          <p:cNvPr id="53" name="Group 53"/>
          <p:cNvGrpSpPr/>
          <p:nvPr/>
        </p:nvGrpSpPr>
        <p:grpSpPr>
          <a:xfrm>
            <a:off x="533400" y="5143500"/>
            <a:ext cx="11125200" cy="762000"/>
            <a:chOff x="533400" y="5143500"/>
            <a:chExt cx="11125200" cy="762000"/>
          </a:xfrm>
        </p:grpSpPr>
        <p:sp>
          <p:nvSpPr>
            <p:cNvPr id="48" name="Line 48"/>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49" name="Rectangle 49"/>
            <p:cNvSpPr/>
            <p:nvPr/>
          </p:nvSpPr>
          <p:spPr>
            <a:xfrm>
              <a:off x="533400" y="5314950"/>
              <a:ext cx="11125200" cy="590550"/>
            </a:xfrm>
            <a:prstGeom prst="roundRect">
              <a:avLst>
                <a:gd name="adj" fmla="val 6452"/>
              </a:avLst>
            </a:prstGeom>
            <a:solidFill>
              <a:srgbClr val="1A1A1A"/>
            </a:solidFill>
            <a:ln>
              <a:noFill/>
            </a:ln>
          </p:spPr>
        </p:sp>
        <p:sp>
          <p:nvSpPr>
            <p:cNvPr id="50" name="Rectangle 50"/>
            <p:cNvSpPr/>
            <p:nvPr/>
          </p:nvSpPr>
          <p:spPr>
            <a:xfrm>
              <a:off x="533400" y="5314950"/>
              <a:ext cx="57150" cy="590550"/>
            </a:xfrm>
            <a:prstGeom prst="rect">
              <a:avLst/>
            </a:prstGeom>
            <a:solidFill>
              <a:srgbClr val="FF7900"/>
            </a:solidFill>
            <a:ln>
              <a:noFill/>
            </a:ln>
          </p:spPr>
        </p:sp>
        <p:sp>
          <p:nvSpPr>
            <p:cNvPr id="51" name="TextBox 51"/>
            <p:cNvSpPr txBox="1"/>
            <p:nvPr/>
          </p:nvSpPr>
          <p:spPr>
            <a:xfrm>
              <a:off x="755904" y="5394960"/>
              <a:ext cx="29890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定性：国家安全立法+对美协议强制退出</a:t>
              </a:r>
            </a:p>
          </p:txBody>
        </p:sp>
        <p:sp>
          <p:nvSpPr>
            <p:cNvPr id="52" name="TextBox 52"/>
            <p:cNvSpPr txBox="1"/>
            <p:nvPr/>
          </p:nvSpPr>
          <p:spPr>
            <a:xfrm>
              <a:off x="756285" y="5612606"/>
              <a:ext cx="6444567"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波兰2024.11高风险供应商认定 · 罗马尼亚2021.6 5G安全法禁令，正"拆除并更换"至Ericsson</a:t>
              </a:r>
            </a:p>
          </p:txBody>
        </p:sp>
      </p:grpSp>
      <p:grpSp>
        <p:nvGrpSpPr>
          <p:cNvPr id="56" name="Group 56"/>
          <p:cNvGrpSpPr/>
          <p:nvPr/>
        </p:nvGrpSpPr>
        <p:grpSpPr>
          <a:xfrm>
            <a:off x="528447" y="6562249"/>
            <a:ext cx="11135106" cy="190690"/>
            <a:chOff x="528447" y="6562249"/>
            <a:chExt cx="11135106" cy="190690"/>
          </a:xfrm>
        </p:grpSpPr>
        <p:sp>
          <p:nvSpPr>
            <p:cNvPr id="54" name="TextBox 5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5" name="TextBox 5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409283" cy="747713"/>
            <a:chOff x="521970" y="252412"/>
            <a:chExt cx="11409283" cy="747713"/>
          </a:xfrm>
        </p:grpSpPr>
        <p:sp>
          <p:nvSpPr>
            <p:cNvPr id="3" name="TextBox 3"/>
            <p:cNvSpPr txBox="1"/>
            <p:nvPr/>
          </p:nvSpPr>
          <p:spPr>
            <a:xfrm>
              <a:off x="521970" y="252412"/>
              <a:ext cx="11409283"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OMEA是华为在Orange集团B2B中的</a:t>
              </a:r>
              <a:r>
                <a:rPr lang="zh-CN" sz="2250" b="1" dirty="0">
                  <a:solidFill>
                    <a:srgbClr val="FF7900"/>
                  </a:solidFill>
                  <a:latin typeface="Arial"/>
                  <a:ea typeface="Microsoft YaHei"/>
                  <a:cs typeface="Arial"/>
                </a:rPr>
                <a:t>核心阵地</a:t>
              </a:r>
              <a:r>
                <a:rPr lang="zh-CN" sz="2250" b="1" dirty="0">
                  <a:solidFill>
                    <a:srgbClr val="1A1A1A"/>
                  </a:solidFill>
                  <a:latin typeface="Arial"/>
                  <a:ea typeface="Microsoft YaHei"/>
                  <a:cs typeface="Arial"/>
                </a:rPr>
                <a:t>——从RAN到云运维的全栈深度绑定</a:t>
              </a:r>
            </a:p>
          </p:txBody>
        </p:sp>
        <p:sp>
          <p:nvSpPr>
            <p:cNvPr id="4" name="TextBox 4"/>
            <p:cNvSpPr txBox="1"/>
            <p:nvPr/>
          </p:nvSpPr>
          <p:spPr>
            <a:xfrm>
              <a:off x="527304" y="708660"/>
              <a:ext cx="815006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华为占非洲4G骨干网份额约70%，Huawei AUTIN直接部署在Orange自有Flexible Engine云上，三区域中独一无二</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50" name="Group 50"/>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307505"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维度</a:t>
              </a:r>
            </a:p>
          </p:txBody>
        </p:sp>
        <p:sp>
          <p:nvSpPr>
            <p:cNvPr id="9" name="TextBox 9"/>
            <p:cNvSpPr txBox="1"/>
            <p:nvPr/>
          </p:nvSpPr>
          <p:spPr>
            <a:xfrm>
              <a:off x="30426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华为角色</a:t>
              </a:r>
            </a:p>
          </p:txBody>
        </p:sp>
        <p:sp>
          <p:nvSpPr>
            <p:cNvPr id="10" name="TextBox 10"/>
            <p:cNvSpPr txBox="1"/>
            <p:nvPr/>
          </p:nvSpPr>
          <p:spPr>
            <a:xfrm>
              <a:off x="7043166" y="1315402"/>
              <a:ext cx="307505"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FF6EC"/>
            </a:solidFill>
            <a:ln>
              <a:noFill/>
            </a:ln>
          </p:spPr>
        </p:sp>
        <p:sp>
          <p:nvSpPr>
            <p:cNvPr id="13" name="TextBox 13"/>
            <p:cNvSpPr txBox="1"/>
            <p:nvPr/>
          </p:nvSpPr>
          <p:spPr>
            <a:xfrm>
              <a:off x="717423" y="1834039"/>
              <a:ext cx="120310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WAN连接/MPN</a:t>
              </a:r>
            </a:p>
          </p:txBody>
        </p:sp>
        <p:sp>
          <p:nvSpPr>
            <p:cNvPr id="14" name="TextBox 14"/>
            <p:cNvSpPr txBox="1"/>
            <p:nvPr/>
          </p:nvSpPr>
          <p:spPr>
            <a:xfrm>
              <a:off x="3041904" y="1842135"/>
              <a:ext cx="172760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与Nokia并列主力供应商</a:t>
              </a:r>
            </a:p>
          </p:txBody>
        </p:sp>
        <p:sp>
          <p:nvSpPr>
            <p:cNvPr id="15" name="TextBox 15"/>
            <p:cNvSpPr txBox="1"/>
            <p:nvPr/>
          </p:nvSpPr>
          <p:spPr>
            <a:xfrm>
              <a:off x="7042404" y="1842135"/>
              <a:ext cx="1369162"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矿业港口实证案例</a:t>
              </a:r>
            </a:p>
          </p:txBody>
        </p:sp>
        <p:sp>
          <p:nvSpPr>
            <p:cNvPr id="16" name="Rectangle 16"/>
            <p:cNvSpPr/>
            <p:nvPr/>
          </p:nvSpPr>
          <p:spPr>
            <a:xfrm>
              <a:off x="9525000" y="1828800"/>
              <a:ext cx="1714500" cy="114300"/>
            </a:xfrm>
            <a:prstGeom prst="roundRect">
              <a:avLst>
                <a:gd name="adj" fmla="val 50000"/>
              </a:avLst>
            </a:prstGeom>
            <a:solidFill>
              <a:srgbClr val="E8E2DA"/>
            </a:solidFill>
            <a:ln>
              <a:noFill/>
            </a:ln>
          </p:spPr>
        </p:sp>
        <p:sp>
          <p:nvSpPr>
            <p:cNvPr id="17" name="Rectangle 17"/>
            <p:cNvSpPr/>
            <p:nvPr/>
          </p:nvSpPr>
          <p:spPr>
            <a:xfrm>
              <a:off x="9525000" y="1828800"/>
              <a:ext cx="771525" cy="114300"/>
            </a:xfrm>
            <a:prstGeom prst="roundRect">
              <a:avLst>
                <a:gd name="adj" fmla="val 50000"/>
              </a:avLst>
            </a:prstGeom>
            <a:solidFill>
              <a:srgbClr val="FF7900"/>
            </a:solidFill>
            <a:ln>
              <a:noFill/>
            </a:ln>
          </p:spPr>
        </p:sp>
        <p:sp>
          <p:nvSpPr>
            <p:cNvPr id="18" name="TextBox 18"/>
            <p:cNvSpPr txBox="1"/>
            <p:nvPr/>
          </p:nvSpPr>
          <p:spPr>
            <a:xfrm>
              <a:off x="10239629" y="20012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45%</a:t>
              </a:r>
            </a:p>
          </p:txBody>
        </p:sp>
        <p:sp>
          <p:nvSpPr>
            <p:cNvPr id="19" name="TextBox 19"/>
            <p:cNvSpPr txBox="1"/>
            <p:nvPr/>
          </p:nvSpPr>
          <p:spPr>
            <a:xfrm>
              <a:off x="717423" y="238648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0" name="TextBox 20"/>
            <p:cNvSpPr txBox="1"/>
            <p:nvPr/>
          </p:nvSpPr>
          <p:spPr>
            <a:xfrm>
              <a:off x="3041904" y="2394585"/>
              <a:ext cx="2027301"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Flexible Engine（同源OB）</a:t>
              </a:r>
            </a:p>
          </p:txBody>
        </p:sp>
        <p:sp>
          <p:nvSpPr>
            <p:cNvPr id="21" name="TextBox 21"/>
            <p:cNvSpPr txBox="1"/>
            <p:nvPr/>
          </p:nvSpPr>
          <p:spPr>
            <a:xfrm>
              <a:off x="7042404" y="2394585"/>
              <a:ext cx="160727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AUTIN联合运维GNOC</a:t>
              </a:r>
            </a:p>
          </p:txBody>
        </p:sp>
        <p:sp>
          <p:nvSpPr>
            <p:cNvPr id="22" name="Rectangle 22"/>
            <p:cNvSpPr/>
            <p:nvPr/>
          </p:nvSpPr>
          <p:spPr>
            <a:xfrm>
              <a:off x="9525000" y="2381250"/>
              <a:ext cx="1714500" cy="114300"/>
            </a:xfrm>
            <a:prstGeom prst="roundRect">
              <a:avLst>
                <a:gd name="adj" fmla="val 50000"/>
              </a:avLst>
            </a:prstGeom>
            <a:solidFill>
              <a:srgbClr val="E8E2DA"/>
            </a:solidFill>
            <a:ln>
              <a:noFill/>
            </a:ln>
          </p:spPr>
        </p:sp>
        <p:sp>
          <p:nvSpPr>
            <p:cNvPr id="23" name="Rectangle 23"/>
            <p:cNvSpPr/>
            <p:nvPr/>
          </p:nvSpPr>
          <p:spPr>
            <a:xfrm>
              <a:off x="9525000" y="2381250"/>
              <a:ext cx="1200150" cy="114300"/>
            </a:xfrm>
            <a:prstGeom prst="roundRect">
              <a:avLst>
                <a:gd name="adj" fmla="val 50000"/>
              </a:avLst>
            </a:prstGeom>
            <a:solidFill>
              <a:srgbClr val="FF7900"/>
            </a:solidFill>
            <a:ln>
              <a:noFill/>
            </a:ln>
          </p:spPr>
        </p:sp>
        <p:sp>
          <p:nvSpPr>
            <p:cNvPr id="24" name="TextBox 24"/>
            <p:cNvSpPr txBox="1"/>
            <p:nvPr/>
          </p:nvSpPr>
          <p:spPr>
            <a:xfrm>
              <a:off x="10239629" y="25536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70%</a:t>
              </a:r>
            </a:p>
          </p:txBody>
        </p:sp>
        <p:sp>
          <p:nvSpPr>
            <p:cNvPr id="25" name="Rectangle 25"/>
            <p:cNvSpPr/>
            <p:nvPr/>
          </p:nvSpPr>
          <p:spPr>
            <a:xfrm>
              <a:off x="533400" y="2752725"/>
              <a:ext cx="11125200" cy="552450"/>
            </a:xfrm>
            <a:prstGeom prst="rect">
              <a:avLst/>
            </a:prstGeom>
            <a:solidFill>
              <a:srgbClr val="FFF6EC"/>
            </a:solidFill>
            <a:ln>
              <a:noFill/>
            </a:ln>
          </p:spPr>
        </p:sp>
        <p:sp>
          <p:nvSpPr>
            <p:cNvPr id="26" name="TextBox 26"/>
            <p:cNvSpPr txBox="1"/>
            <p:nvPr/>
          </p:nvSpPr>
          <p:spPr>
            <a:xfrm>
              <a:off x="717423" y="2938939"/>
              <a:ext cx="79369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4G骨干网</a:t>
              </a:r>
            </a:p>
          </p:txBody>
        </p:sp>
        <p:sp>
          <p:nvSpPr>
            <p:cNvPr id="27" name="TextBox 27"/>
            <p:cNvSpPr txBox="1"/>
            <p:nvPr/>
          </p:nvSpPr>
          <p:spPr>
            <a:xfrm>
              <a:off x="3041904" y="2947035"/>
              <a:ext cx="8199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主导供应商</a:t>
              </a:r>
            </a:p>
          </p:txBody>
        </p:sp>
        <p:sp>
          <p:nvSpPr>
            <p:cNvPr id="28" name="TextBox 28"/>
            <p:cNvSpPr txBox="1"/>
            <p:nvPr/>
          </p:nvSpPr>
          <p:spPr>
            <a:xfrm>
              <a:off x="7042404" y="2947035"/>
              <a:ext cx="197467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非洲4G骨干网份额约70%</a:t>
              </a:r>
            </a:p>
          </p:txBody>
        </p:sp>
        <p:sp>
          <p:nvSpPr>
            <p:cNvPr id="29" name="Rectangle 29"/>
            <p:cNvSpPr/>
            <p:nvPr/>
          </p:nvSpPr>
          <p:spPr>
            <a:xfrm>
              <a:off x="9525000" y="2933700"/>
              <a:ext cx="1714500" cy="114300"/>
            </a:xfrm>
            <a:prstGeom prst="roundRect">
              <a:avLst>
                <a:gd name="adj" fmla="val 50000"/>
              </a:avLst>
            </a:prstGeom>
            <a:solidFill>
              <a:srgbClr val="E8E2DA"/>
            </a:solidFill>
            <a:ln>
              <a:noFill/>
            </a:ln>
          </p:spPr>
        </p:sp>
        <p:sp>
          <p:nvSpPr>
            <p:cNvPr id="30" name="Rectangle 30"/>
            <p:cNvSpPr/>
            <p:nvPr/>
          </p:nvSpPr>
          <p:spPr>
            <a:xfrm>
              <a:off x="9525000" y="2933700"/>
              <a:ext cx="1200150" cy="114300"/>
            </a:xfrm>
            <a:prstGeom prst="roundRect">
              <a:avLst>
                <a:gd name="adj" fmla="val 50000"/>
              </a:avLst>
            </a:prstGeom>
            <a:solidFill>
              <a:srgbClr val="FF7900"/>
            </a:solidFill>
            <a:ln>
              <a:noFill/>
            </a:ln>
          </p:spPr>
        </p:sp>
        <p:sp>
          <p:nvSpPr>
            <p:cNvPr id="31" name="TextBox 31"/>
            <p:cNvSpPr txBox="1"/>
            <p:nvPr/>
          </p:nvSpPr>
          <p:spPr>
            <a:xfrm>
              <a:off x="10239629" y="31061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70%</a:t>
              </a:r>
            </a:p>
          </p:txBody>
        </p:sp>
        <p:sp>
          <p:nvSpPr>
            <p:cNvPr id="32" name="TextBox 32"/>
            <p:cNvSpPr txBox="1"/>
            <p:nvPr/>
          </p:nvSpPr>
          <p:spPr>
            <a:xfrm>
              <a:off x="717423" y="3491389"/>
              <a:ext cx="1094289"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乡村基站建设</a:t>
              </a:r>
            </a:p>
          </p:txBody>
        </p:sp>
        <p:sp>
          <p:nvSpPr>
            <p:cNvPr id="33" name="TextBox 33"/>
            <p:cNvSpPr txBox="1"/>
            <p:nvPr/>
          </p:nvSpPr>
          <p:spPr>
            <a:xfrm>
              <a:off x="3041904" y="3499485"/>
              <a:ext cx="15057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华为+HEHA电源系统</a:t>
              </a:r>
            </a:p>
          </p:txBody>
        </p:sp>
        <p:sp>
          <p:nvSpPr>
            <p:cNvPr id="34" name="TextBox 34"/>
            <p:cNvSpPr txBox="1"/>
            <p:nvPr/>
          </p:nvSpPr>
          <p:spPr>
            <a:xfrm>
              <a:off x="7042404" y="3499485"/>
              <a:ext cx="2412332"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联合部署2,000个(目标15,000)</a:t>
              </a:r>
            </a:p>
          </p:txBody>
        </p:sp>
        <p:sp>
          <p:nvSpPr>
            <p:cNvPr id="35" name="Rectangle 35"/>
            <p:cNvSpPr/>
            <p:nvPr/>
          </p:nvSpPr>
          <p:spPr>
            <a:xfrm>
              <a:off x="9525000" y="3486150"/>
              <a:ext cx="1714500" cy="114300"/>
            </a:xfrm>
            <a:prstGeom prst="roundRect">
              <a:avLst>
                <a:gd name="adj" fmla="val 50000"/>
              </a:avLst>
            </a:prstGeom>
            <a:solidFill>
              <a:srgbClr val="E8E2DA"/>
            </a:solidFill>
            <a:ln>
              <a:noFill/>
            </a:ln>
          </p:spPr>
        </p:sp>
        <p:sp>
          <p:nvSpPr>
            <p:cNvPr id="36" name="Rectangle 36"/>
            <p:cNvSpPr/>
            <p:nvPr/>
          </p:nvSpPr>
          <p:spPr>
            <a:xfrm>
              <a:off x="9525000" y="3486150"/>
              <a:ext cx="1028700" cy="114300"/>
            </a:xfrm>
            <a:prstGeom prst="roundRect">
              <a:avLst>
                <a:gd name="adj" fmla="val 50000"/>
              </a:avLst>
            </a:prstGeom>
            <a:solidFill>
              <a:srgbClr val="FF7900"/>
            </a:solidFill>
            <a:ln>
              <a:noFill/>
            </a:ln>
          </p:spPr>
        </p:sp>
        <p:sp>
          <p:nvSpPr>
            <p:cNvPr id="37" name="TextBox 37"/>
            <p:cNvSpPr txBox="1"/>
            <p:nvPr/>
          </p:nvSpPr>
          <p:spPr>
            <a:xfrm>
              <a:off x="10239629" y="36585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60%</a:t>
              </a:r>
            </a:p>
          </p:txBody>
        </p:sp>
        <p:sp>
          <p:nvSpPr>
            <p:cNvPr id="38" name="Rectangle 38"/>
            <p:cNvSpPr/>
            <p:nvPr/>
          </p:nvSpPr>
          <p:spPr>
            <a:xfrm>
              <a:off x="533400" y="3857625"/>
              <a:ext cx="11125200" cy="552450"/>
            </a:xfrm>
            <a:prstGeom prst="rect">
              <a:avLst/>
            </a:prstGeom>
            <a:solidFill>
              <a:srgbClr val="FFF6EC"/>
            </a:solidFill>
            <a:ln>
              <a:noFill/>
            </a:ln>
          </p:spPr>
        </p:sp>
        <p:sp>
          <p:nvSpPr>
            <p:cNvPr id="39" name="TextBox 39"/>
            <p:cNvSpPr txBox="1"/>
            <p:nvPr/>
          </p:nvSpPr>
          <p:spPr>
            <a:xfrm>
              <a:off x="717423" y="4043839"/>
              <a:ext cx="156490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安全/ICT(G3计划)</a:t>
              </a:r>
            </a:p>
          </p:txBody>
        </p:sp>
        <p:sp>
          <p:nvSpPr>
            <p:cNvPr id="40" name="TextBox 40"/>
            <p:cNvSpPr txBox="1"/>
            <p:nvPr/>
          </p:nvSpPr>
          <p:spPr>
            <a:xfrm>
              <a:off x="3041904" y="4051935"/>
              <a:ext cx="819912" cy="234696"/>
            </a:xfrm>
            <a:prstGeom prst="rect">
              <a:avLst/>
            </a:prstGeom>
            <a:noFill/>
            <a:ln>
              <a:noFill/>
            </a:ln>
          </p:spPr>
          <p:txBody>
            <a:bodyPr wrap="none" lIns="0" tIns="0" rIns="0" bIns="0" anchor="t" anchorCtr="0">
              <a:spAutoFit/>
            </a:bodyPr>
            <a:lstStyle/>
            <a:p>
              <a:pPr algn="l"/>
              <a:r>
                <a:rPr lang="zh-CN" sz="1200" dirty="0">
                  <a:solidFill>
                    <a:srgbClr val="9B9B9B"/>
                  </a:solidFill>
                  <a:latin typeface="Arial"/>
                  <a:ea typeface="Microsoft YaHei"/>
                  <a:cs typeface="Arial"/>
                </a:rPr>
                <a:t>数据待补充</a:t>
              </a:r>
            </a:p>
          </p:txBody>
        </p:sp>
        <p:sp>
          <p:nvSpPr>
            <p:cNvPr id="41" name="TextBox 41"/>
            <p:cNvSpPr txBox="1"/>
            <p:nvPr/>
          </p:nvSpPr>
          <p:spPr>
            <a:xfrm>
              <a:off x="7042404" y="4051935"/>
              <a:ext cx="860298" cy="234696"/>
            </a:xfrm>
            <a:prstGeom prst="rect">
              <a:avLst/>
            </a:prstGeom>
            <a:noFill/>
            <a:ln>
              <a:noFill/>
            </a:ln>
          </p:spPr>
          <p:txBody>
            <a:bodyPr wrap="none" lIns="0" tIns="0" rIns="0" bIns="0" anchor="t" anchorCtr="0">
              <a:spAutoFit/>
            </a:bodyPr>
            <a:lstStyle/>
            <a:p>
              <a:pPr algn="l"/>
              <a:r>
                <a:rPr lang="zh-CN" sz="1200" b="1" dirty="0">
                  <a:solidFill>
                    <a:srgbClr val="9B9B9B"/>
                  </a:solidFill>
                  <a:latin typeface="Arial"/>
                  <a:ea typeface="Microsoft YaHei"/>
                  <a:cs typeface="Arial"/>
                </a:rPr>
                <a:t>数据待补充</a:t>
              </a:r>
            </a:p>
          </p:txBody>
        </p:sp>
        <p:sp>
          <p:nvSpPr>
            <p:cNvPr id="42" name="Rectangle 42"/>
            <p:cNvSpPr/>
            <p:nvPr/>
          </p:nvSpPr>
          <p:spPr>
            <a:xfrm>
              <a:off x="9525000" y="4038600"/>
              <a:ext cx="1714500" cy="114300"/>
            </a:xfrm>
            <a:prstGeom prst="roundRect">
              <a:avLst>
                <a:gd name="adj" fmla="val 50000"/>
              </a:avLst>
            </a:prstGeom>
            <a:solidFill>
              <a:srgbClr val="E8E2DA"/>
            </a:solidFill>
            <a:ln>
              <a:noFill/>
            </a:ln>
          </p:spPr>
        </p:sp>
        <p:sp>
          <p:nvSpPr>
            <p:cNvPr id="43" name="TextBox 43"/>
            <p:cNvSpPr txBox="1"/>
            <p:nvPr/>
          </p:nvSpPr>
          <p:spPr>
            <a:xfrm>
              <a:off x="10338044" y="4211002"/>
              <a:ext cx="88411"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a:t>
              </a:r>
            </a:p>
          </p:txBody>
        </p:sp>
        <p:sp>
          <p:nvSpPr>
            <p:cNvPr id="44" name="TextBox 44"/>
            <p:cNvSpPr txBox="1"/>
            <p:nvPr/>
          </p:nvSpPr>
          <p:spPr>
            <a:xfrm>
              <a:off x="717423" y="4596289"/>
              <a:ext cx="1821980"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RUN OMEA/GNOC运维</a:t>
              </a:r>
            </a:p>
          </p:txBody>
        </p:sp>
        <p:sp>
          <p:nvSpPr>
            <p:cNvPr id="45" name="TextBox 45"/>
            <p:cNvSpPr txBox="1"/>
            <p:nvPr/>
          </p:nvSpPr>
          <p:spPr>
            <a:xfrm>
              <a:off x="3041904" y="4604385"/>
              <a:ext cx="2639587"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与Orange共建Mutualized Services</a:t>
              </a:r>
            </a:p>
          </p:txBody>
        </p:sp>
        <p:sp>
          <p:nvSpPr>
            <p:cNvPr id="46" name="TextBox 46"/>
            <p:cNvSpPr txBox="1"/>
            <p:nvPr/>
          </p:nvSpPr>
          <p:spPr>
            <a:xfrm>
              <a:off x="7042404" y="4604385"/>
              <a:ext cx="1801696"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达喀尔+阿比让双活运维</a:t>
              </a:r>
            </a:p>
          </p:txBody>
        </p:sp>
        <p:sp>
          <p:nvSpPr>
            <p:cNvPr id="47" name="Rectangle 47"/>
            <p:cNvSpPr/>
            <p:nvPr/>
          </p:nvSpPr>
          <p:spPr>
            <a:xfrm>
              <a:off x="9525000" y="4591050"/>
              <a:ext cx="1714500" cy="114300"/>
            </a:xfrm>
            <a:prstGeom prst="roundRect">
              <a:avLst>
                <a:gd name="adj" fmla="val 50000"/>
              </a:avLst>
            </a:prstGeom>
            <a:solidFill>
              <a:srgbClr val="E8E2DA"/>
            </a:solidFill>
            <a:ln>
              <a:noFill/>
            </a:ln>
          </p:spPr>
        </p:sp>
        <p:sp>
          <p:nvSpPr>
            <p:cNvPr id="48" name="Rectangle 48"/>
            <p:cNvSpPr/>
            <p:nvPr/>
          </p:nvSpPr>
          <p:spPr>
            <a:xfrm>
              <a:off x="9525000" y="4591050"/>
              <a:ext cx="1371600" cy="114300"/>
            </a:xfrm>
            <a:prstGeom prst="roundRect">
              <a:avLst>
                <a:gd name="adj" fmla="val 50000"/>
              </a:avLst>
            </a:prstGeom>
            <a:solidFill>
              <a:srgbClr val="FF7900"/>
            </a:solidFill>
            <a:ln>
              <a:noFill/>
            </a:ln>
          </p:spPr>
        </p:sp>
        <p:sp>
          <p:nvSpPr>
            <p:cNvPr id="49" name="TextBox 49"/>
            <p:cNvSpPr txBox="1"/>
            <p:nvPr/>
          </p:nvSpPr>
          <p:spPr>
            <a:xfrm>
              <a:off x="10239629" y="47634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80%</a:t>
              </a:r>
            </a:p>
          </p:txBody>
        </p:sp>
      </p:grpSp>
      <p:grpSp>
        <p:nvGrpSpPr>
          <p:cNvPr id="56" name="Group 56"/>
          <p:cNvGrpSpPr/>
          <p:nvPr/>
        </p:nvGrpSpPr>
        <p:grpSpPr>
          <a:xfrm>
            <a:off x="533400" y="5143500"/>
            <a:ext cx="11125200" cy="762000"/>
            <a:chOff x="533400" y="5143500"/>
            <a:chExt cx="11125200" cy="762000"/>
          </a:xfrm>
        </p:grpSpPr>
        <p:sp>
          <p:nvSpPr>
            <p:cNvPr id="51" name="Line 51"/>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52" name="Rectangle 52"/>
            <p:cNvSpPr/>
            <p:nvPr/>
          </p:nvSpPr>
          <p:spPr>
            <a:xfrm>
              <a:off x="533400" y="5314950"/>
              <a:ext cx="11125200" cy="590550"/>
            </a:xfrm>
            <a:prstGeom prst="roundRect">
              <a:avLst>
                <a:gd name="adj" fmla="val 6452"/>
              </a:avLst>
            </a:prstGeom>
            <a:solidFill>
              <a:srgbClr val="1A1A1A"/>
            </a:solidFill>
            <a:ln>
              <a:noFill/>
            </a:ln>
          </p:spPr>
        </p:sp>
        <p:sp>
          <p:nvSpPr>
            <p:cNvPr id="53" name="Rectangle 53"/>
            <p:cNvSpPr/>
            <p:nvPr/>
          </p:nvSpPr>
          <p:spPr>
            <a:xfrm>
              <a:off x="533400" y="5314950"/>
              <a:ext cx="57150" cy="590550"/>
            </a:xfrm>
            <a:prstGeom prst="rect">
              <a:avLst/>
            </a:prstGeom>
            <a:solidFill>
              <a:srgbClr val="FFA640"/>
            </a:solidFill>
            <a:ln>
              <a:noFill/>
            </a:ln>
          </p:spPr>
        </p:sp>
        <p:sp>
          <p:nvSpPr>
            <p:cNvPr id="54" name="TextBox 54"/>
            <p:cNvSpPr txBox="1"/>
            <p:nvPr/>
          </p:nvSpPr>
          <p:spPr>
            <a:xfrm>
              <a:off x="755904" y="5394960"/>
              <a:ext cx="3328286"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定性：技术底层深度绑定+基础设施合作伙伴</a:t>
              </a:r>
            </a:p>
          </p:txBody>
        </p:sp>
        <p:sp>
          <p:nvSpPr>
            <p:cNvPr id="55" name="TextBox 55"/>
            <p:cNvSpPr txBox="1"/>
            <p:nvPr/>
          </p:nvSpPr>
          <p:spPr>
            <a:xfrm>
              <a:off x="756285" y="5612606"/>
              <a:ext cx="6692265"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RUN OMEA计划、GNOC双活站点、AUTIN运维、HEHA电源系统——是本次调研最强的华为叙事支点</a:t>
              </a:r>
            </a:p>
          </p:txBody>
        </p:sp>
      </p:grpSp>
      <p:grpSp>
        <p:nvGrpSpPr>
          <p:cNvPr id="59" name="Group 59"/>
          <p:cNvGrpSpPr/>
          <p:nvPr/>
        </p:nvGrpSpPr>
        <p:grpSpPr>
          <a:xfrm>
            <a:off x="528447" y="6562249"/>
            <a:ext cx="11135106" cy="190690"/>
            <a:chOff x="528447" y="6562249"/>
            <a:chExt cx="11135106" cy="190690"/>
          </a:xfrm>
        </p:grpSpPr>
        <p:sp>
          <p:nvSpPr>
            <p:cNvPr id="57" name="TextBox 57"/>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8" name="TextBox 58"/>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84798"/>
            <a:ext cx="11596459" cy="639127"/>
            <a:chOff x="523494" y="284798"/>
            <a:chExt cx="11596459" cy="639127"/>
          </a:xfrm>
        </p:grpSpPr>
        <p:sp>
          <p:nvSpPr>
            <p:cNvPr id="3" name="TextBox 3"/>
            <p:cNvSpPr txBox="1"/>
            <p:nvPr/>
          </p:nvSpPr>
          <p:spPr>
            <a:xfrm>
              <a:off x="523494" y="284798"/>
              <a:ext cx="1159645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OMEA是华为核心阵地与增长引擎，OEU是</a:t>
              </a:r>
              <a:r>
                <a:rPr lang="zh-CN" sz="1950" b="1" dirty="0">
                  <a:solidFill>
                    <a:srgbClr val="FF7900"/>
                  </a:solidFill>
                  <a:latin typeface="Arial"/>
                  <a:ea typeface="Microsoft YaHei"/>
                  <a:cs typeface="Arial"/>
                </a:rPr>
                <a:t>法律强制退出的收缩区</a:t>
              </a:r>
              <a:r>
                <a:rPr lang="zh-CN" sz="1950" b="1" dirty="0">
                  <a:solidFill>
                    <a:srgbClr val="1A1A1A"/>
                  </a:solidFill>
                  <a:latin typeface="Arial"/>
                  <a:ea typeface="Microsoft YaHei"/>
                  <a:cs typeface="Arial"/>
                </a:rPr>
                <a:t>，OB是生态位竞争排除区</a:t>
              </a:r>
            </a:p>
          </p:txBody>
        </p:sp>
        <p:sp>
          <p:nvSpPr>
            <p:cNvPr id="4" name="TextBox 4"/>
            <p:cNvSpPr txBox="1"/>
            <p:nvPr/>
          </p:nvSpPr>
          <p:spPr>
            <a:xfrm>
              <a:off x="526923" y="624364"/>
              <a:ext cx="4287968" cy="249364"/>
            </a:xfrm>
            <a:prstGeom prst="rect">
              <a:avLst/>
            </a:prstGeom>
            <a:noFill/>
            <a:ln>
              <a:noFill/>
            </a:ln>
          </p:spPr>
          <p:txBody>
            <a:bodyPr wrap="none" lIns="0" tIns="0" rIns="0" bIns="0" anchor="t" anchorCtr="0">
              <a:spAutoFit/>
            </a:bodyPr>
            <a:lstStyle/>
            <a:p>
              <a:pPr algn="l"/>
              <a:r>
                <a:rPr lang="zh-CN" sz="1280" b="1" dirty="0">
                  <a:solidFill>
                    <a:srgbClr val="B85C00"/>
                  </a:solidFill>
                  <a:latin typeface="Arial"/>
                  <a:ea typeface="Microsoft YaHei"/>
                  <a:cs typeface="Arial"/>
                </a:rPr>
                <a:t>资源应向OMEA倾斜，尤其是MPN与云运维协同场景</a:t>
              </a:r>
            </a:p>
          </p:txBody>
        </p:sp>
        <p:sp>
          <p:nvSpPr>
            <p:cNvPr id="5" name="Line 5"/>
            <p:cNvSpPr/>
            <p:nvPr/>
          </p:nvSpPr>
          <p:spPr>
            <a:xfrm>
              <a:off x="533400" y="9144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7" name="Group 27"/>
          <p:cNvGrpSpPr/>
          <p:nvPr/>
        </p:nvGrpSpPr>
        <p:grpSpPr>
          <a:xfrm>
            <a:off x="23470" y="1524000"/>
            <a:ext cx="9930155" cy="5077206"/>
            <a:chOff x="23470" y="1524000"/>
            <a:chExt cx="9930155" cy="5077206"/>
          </a:xfrm>
        </p:grpSpPr>
        <p:sp>
          <p:nvSpPr>
            <p:cNvPr id="7" name="Rectangle 7"/>
            <p:cNvSpPr/>
            <p:nvPr/>
          </p:nvSpPr>
          <p:spPr>
            <a:xfrm>
              <a:off x="5381625" y="1619250"/>
              <a:ext cx="4572000" cy="2286000"/>
            </a:xfrm>
            <a:prstGeom prst="rect">
              <a:avLst/>
            </a:prstGeom>
            <a:solidFill>
              <a:srgbClr val="FFA640">
                <a:alpha val="28000"/>
              </a:srgbClr>
            </a:solidFill>
            <a:ln w="38100">
              <a:solidFill>
                <a:srgbClr val="FFFFFF"/>
              </a:solidFill>
            </a:ln>
          </p:spPr>
        </p:sp>
        <p:sp>
          <p:nvSpPr>
            <p:cNvPr id="8" name="Rectangle 8"/>
            <p:cNvSpPr/>
            <p:nvPr/>
          </p:nvSpPr>
          <p:spPr>
            <a:xfrm>
              <a:off x="809625" y="1619250"/>
              <a:ext cx="4572000" cy="2286000"/>
            </a:xfrm>
            <a:prstGeom prst="rect">
              <a:avLst/>
            </a:prstGeom>
            <a:solidFill>
              <a:srgbClr val="FFA640">
                <a:alpha val="14000"/>
              </a:srgbClr>
            </a:solidFill>
            <a:ln w="38100">
              <a:solidFill>
                <a:srgbClr val="FFFFFF"/>
              </a:solidFill>
            </a:ln>
          </p:spPr>
        </p:sp>
        <p:sp>
          <p:nvSpPr>
            <p:cNvPr id="9" name="Rectangle 9"/>
            <p:cNvSpPr/>
            <p:nvPr/>
          </p:nvSpPr>
          <p:spPr>
            <a:xfrm>
              <a:off x="809625" y="3905250"/>
              <a:ext cx="4572000" cy="2286000"/>
            </a:xfrm>
            <a:prstGeom prst="rect">
              <a:avLst/>
            </a:prstGeom>
            <a:solidFill>
              <a:srgbClr val="E8E2DA">
                <a:alpha val="50000"/>
              </a:srgbClr>
            </a:solidFill>
            <a:ln w="38100">
              <a:solidFill>
                <a:srgbClr val="FFFFFF"/>
              </a:solidFill>
            </a:ln>
          </p:spPr>
        </p:sp>
        <p:sp>
          <p:nvSpPr>
            <p:cNvPr id="10" name="Rectangle 10"/>
            <p:cNvSpPr/>
            <p:nvPr/>
          </p:nvSpPr>
          <p:spPr>
            <a:xfrm>
              <a:off x="5381625" y="3905250"/>
              <a:ext cx="4572000" cy="2286000"/>
            </a:xfrm>
            <a:prstGeom prst="rect">
              <a:avLst/>
            </a:prstGeom>
            <a:solidFill>
              <a:srgbClr val="FFA640">
                <a:alpha val="14000"/>
              </a:srgbClr>
            </a:solidFill>
            <a:ln w="38100">
              <a:solidFill>
                <a:srgbClr val="FFFFFF"/>
              </a:solidFill>
            </a:ln>
          </p:spPr>
        </p:sp>
        <p:sp>
          <p:nvSpPr>
            <p:cNvPr id="11" name="Line 11"/>
            <p:cNvSpPr/>
            <p:nvPr/>
          </p:nvSpPr>
          <p:spPr>
            <a:xfrm>
              <a:off x="809625" y="3905250"/>
              <a:ext cx="9144000" cy="1"/>
            </a:xfrm>
            <a:prstGeom prst="line">
              <a:avLst/>
            </a:prstGeom>
            <a:noFill/>
            <a:ln w="23812">
              <a:solidFill>
                <a:srgbClr val="1A1A1A"/>
              </a:solidFill>
              <a:tailEnd type="triangle" w="lg" len="lg"/>
            </a:ln>
          </p:spPr>
        </p:sp>
        <p:sp>
          <p:nvSpPr>
            <p:cNvPr id="12" name="Line 12"/>
            <p:cNvSpPr/>
            <p:nvPr/>
          </p:nvSpPr>
          <p:spPr>
            <a:xfrm>
              <a:off x="5381625" y="1524000"/>
              <a:ext cx="1" cy="4667250"/>
            </a:xfrm>
            <a:prstGeom prst="line">
              <a:avLst/>
            </a:prstGeom>
            <a:noFill/>
            <a:ln w="23812">
              <a:solidFill>
                <a:srgbClr val="1A1A1A"/>
              </a:solidFill>
              <a:headEnd type="triangle" w="lg" len="lg"/>
            </a:ln>
          </p:spPr>
        </p:sp>
        <p:sp>
          <p:nvSpPr>
            <p:cNvPr id="13" name="TextBox 13"/>
            <p:cNvSpPr txBox="1"/>
            <p:nvPr/>
          </p:nvSpPr>
          <p:spPr>
            <a:xfrm>
              <a:off x="5036287" y="6366510"/>
              <a:ext cx="690677"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销售空间</a:t>
              </a:r>
            </a:p>
          </p:txBody>
        </p:sp>
        <p:sp>
          <p:nvSpPr>
            <p:cNvPr id="14" name="TextBox 14"/>
            <p:cNvSpPr txBox="1"/>
            <p:nvPr/>
          </p:nvSpPr>
          <p:spPr>
            <a:xfrm>
              <a:off x="1863338" y="6382702"/>
              <a:ext cx="464325" cy="205359"/>
            </a:xfrm>
            <a:prstGeom prst="rect">
              <a:avLst/>
            </a:prstGeom>
            <a:noFill/>
            <a:ln>
              <a:noFill/>
            </a:ln>
          </p:spPr>
          <p:txBody>
            <a:bodyPr wrap="none" lIns="0" tIns="0" rIns="0" bIns="0" anchor="t" anchorCtr="0">
              <a:spAutoFit/>
            </a:bodyPr>
            <a:lstStyle/>
            <a:p>
              <a:pPr algn="ctr"/>
              <a:r>
                <a:rPr lang="zh-CN" sz="1050" dirty="0">
                  <a:solidFill>
                    <a:srgbClr val="6B6B6B"/>
                  </a:solidFill>
                  <a:latin typeface="Arial"/>
                  <a:ea typeface="Microsoft YaHei"/>
                  <a:cs typeface="Arial"/>
                </a:rPr>
                <a:t>低 Low</a:t>
              </a:r>
            </a:p>
          </p:txBody>
        </p:sp>
        <p:sp>
          <p:nvSpPr>
            <p:cNvPr id="15" name="TextBox 15"/>
            <p:cNvSpPr txBox="1"/>
            <p:nvPr/>
          </p:nvSpPr>
          <p:spPr>
            <a:xfrm>
              <a:off x="8429470" y="6382702"/>
              <a:ext cx="476560" cy="205359"/>
            </a:xfrm>
            <a:prstGeom prst="rect">
              <a:avLst/>
            </a:prstGeom>
            <a:noFill/>
            <a:ln>
              <a:noFill/>
            </a:ln>
          </p:spPr>
          <p:txBody>
            <a:bodyPr wrap="none" lIns="0" tIns="0" rIns="0" bIns="0" anchor="t" anchorCtr="0">
              <a:spAutoFit/>
            </a:bodyPr>
            <a:lstStyle/>
            <a:p>
              <a:pPr algn="ctr"/>
              <a:r>
                <a:rPr lang="zh-CN" sz="1050" dirty="0">
                  <a:solidFill>
                    <a:srgbClr val="6B6B6B"/>
                  </a:solidFill>
                  <a:latin typeface="Arial"/>
                  <a:ea typeface="Microsoft YaHei"/>
                  <a:cs typeface="Arial"/>
                </a:rPr>
                <a:t>高 High</a:t>
              </a:r>
            </a:p>
          </p:txBody>
        </p:sp>
        <p:sp>
          <p:nvSpPr>
            <p:cNvPr id="16" name="TextBox 16"/>
            <p:cNvSpPr txBox="1"/>
            <p:nvPr/>
          </p:nvSpPr>
          <p:spPr>
            <a:xfrm rot="-5400000">
              <a:off x="23470" y="3787902"/>
              <a:ext cx="690677"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场景价值</a:t>
              </a:r>
            </a:p>
          </p:txBody>
        </p:sp>
        <p:sp>
          <p:nvSpPr>
            <p:cNvPr id="17" name="TextBox 17"/>
            <p:cNvSpPr txBox="1"/>
            <p:nvPr/>
          </p:nvSpPr>
          <p:spPr>
            <a:xfrm>
              <a:off x="112509" y="5982652"/>
              <a:ext cx="464325" cy="205359"/>
            </a:xfrm>
            <a:prstGeom prst="rect">
              <a:avLst/>
            </a:prstGeom>
            <a:noFill/>
            <a:ln>
              <a:noFill/>
            </a:ln>
          </p:spPr>
          <p:txBody>
            <a:bodyPr wrap="none" lIns="0" tIns="0" rIns="0" bIns="0" anchor="t" anchorCtr="0">
              <a:spAutoFit/>
            </a:bodyPr>
            <a:lstStyle/>
            <a:p>
              <a:pPr algn="r"/>
              <a:r>
                <a:rPr lang="zh-CN" sz="1050" dirty="0">
                  <a:solidFill>
                    <a:srgbClr val="6B6B6B"/>
                  </a:solidFill>
                  <a:latin typeface="Arial"/>
                  <a:ea typeface="Microsoft YaHei"/>
                  <a:cs typeface="Arial"/>
                </a:rPr>
                <a:t>低 Low</a:t>
              </a:r>
            </a:p>
          </p:txBody>
        </p:sp>
        <p:sp>
          <p:nvSpPr>
            <p:cNvPr id="18" name="TextBox 18"/>
            <p:cNvSpPr txBox="1"/>
            <p:nvPr/>
          </p:nvSpPr>
          <p:spPr>
            <a:xfrm>
              <a:off x="100274" y="1601152"/>
              <a:ext cx="476560" cy="205359"/>
            </a:xfrm>
            <a:prstGeom prst="rect">
              <a:avLst/>
            </a:prstGeom>
            <a:noFill/>
            <a:ln>
              <a:noFill/>
            </a:ln>
          </p:spPr>
          <p:txBody>
            <a:bodyPr wrap="none" lIns="0" tIns="0" rIns="0" bIns="0" anchor="t" anchorCtr="0">
              <a:spAutoFit/>
            </a:bodyPr>
            <a:lstStyle/>
            <a:p>
              <a:pPr algn="r"/>
              <a:r>
                <a:rPr lang="zh-CN" sz="1050" dirty="0">
                  <a:solidFill>
                    <a:srgbClr val="6B6B6B"/>
                  </a:solidFill>
                  <a:latin typeface="Arial"/>
                  <a:ea typeface="Microsoft YaHei"/>
                  <a:cs typeface="Arial"/>
                </a:rPr>
                <a:t>高 High</a:t>
              </a:r>
            </a:p>
          </p:txBody>
        </p:sp>
        <p:sp>
          <p:nvSpPr>
            <p:cNvPr id="19" name="TextBox 19"/>
            <p:cNvSpPr txBox="1"/>
            <p:nvPr/>
          </p:nvSpPr>
          <p:spPr>
            <a:xfrm>
              <a:off x="5754243" y="177450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肥肉区</a:t>
              </a:r>
            </a:p>
          </p:txBody>
        </p:sp>
        <p:sp>
          <p:nvSpPr>
            <p:cNvPr id="20" name="TextBox 20"/>
            <p:cNvSpPr txBox="1"/>
            <p:nvPr/>
          </p:nvSpPr>
          <p:spPr>
            <a:xfrm>
              <a:off x="5757862" y="204597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高价值 · 高空间</a:t>
              </a:r>
            </a:p>
          </p:txBody>
        </p:sp>
        <p:sp>
          <p:nvSpPr>
            <p:cNvPr id="21" name="TextBox 21"/>
            <p:cNvSpPr txBox="1"/>
            <p:nvPr/>
          </p:nvSpPr>
          <p:spPr>
            <a:xfrm>
              <a:off x="1182243" y="177450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瘦肉区</a:t>
              </a:r>
            </a:p>
          </p:txBody>
        </p:sp>
        <p:sp>
          <p:nvSpPr>
            <p:cNvPr id="22" name="TextBox 22"/>
            <p:cNvSpPr txBox="1"/>
            <p:nvPr/>
          </p:nvSpPr>
          <p:spPr>
            <a:xfrm>
              <a:off x="1185862" y="204597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高价值 · 低空间</a:t>
              </a:r>
            </a:p>
          </p:txBody>
        </p:sp>
        <p:sp>
          <p:nvSpPr>
            <p:cNvPr id="23" name="TextBox 23"/>
            <p:cNvSpPr txBox="1"/>
            <p:nvPr/>
          </p:nvSpPr>
          <p:spPr>
            <a:xfrm>
              <a:off x="5754243" y="567975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瘦肉区</a:t>
              </a:r>
            </a:p>
          </p:txBody>
        </p:sp>
        <p:sp>
          <p:nvSpPr>
            <p:cNvPr id="24" name="TextBox 24"/>
            <p:cNvSpPr txBox="1"/>
            <p:nvPr/>
          </p:nvSpPr>
          <p:spPr>
            <a:xfrm>
              <a:off x="5757862" y="595122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低价值 · 高空间</a:t>
              </a:r>
            </a:p>
          </p:txBody>
        </p:sp>
        <p:sp>
          <p:nvSpPr>
            <p:cNvPr id="25" name="TextBox 25"/>
            <p:cNvSpPr txBox="1"/>
            <p:nvPr/>
          </p:nvSpPr>
          <p:spPr>
            <a:xfrm>
              <a:off x="1182243" y="5679758"/>
              <a:ext cx="716451"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骨头区</a:t>
              </a:r>
            </a:p>
          </p:txBody>
        </p:sp>
        <p:sp>
          <p:nvSpPr>
            <p:cNvPr id="26" name="TextBox 26"/>
            <p:cNvSpPr txBox="1"/>
            <p:nvPr/>
          </p:nvSpPr>
          <p:spPr>
            <a:xfrm>
              <a:off x="1185862" y="5951220"/>
              <a:ext cx="999891" cy="176212"/>
            </a:xfrm>
            <a:prstGeom prst="rect">
              <a:avLst/>
            </a:prstGeom>
            <a:noFill/>
            <a:ln>
              <a:noFill/>
            </a:ln>
          </p:spPr>
          <p:txBody>
            <a:bodyPr wrap="none" lIns="0" tIns="0" rIns="0" bIns="0" anchor="t" anchorCtr="0">
              <a:spAutoFit/>
            </a:bodyPr>
            <a:lstStyle/>
            <a:p>
              <a:pPr algn="l"/>
              <a:r>
                <a:rPr lang="zh-CN" sz="900" b="1" spc="75" dirty="0">
                  <a:solidFill>
                    <a:srgbClr val="6B6B6B"/>
                  </a:solidFill>
                  <a:latin typeface="Arial"/>
                  <a:ea typeface="Microsoft YaHei"/>
                  <a:cs typeface="Arial"/>
                </a:rPr>
                <a:t>低价值 · 低空间</a:t>
              </a:r>
            </a:p>
          </p:txBody>
        </p:sp>
      </p:grpSp>
      <p:grpSp>
        <p:nvGrpSpPr>
          <p:cNvPr id="49" name="Group 49"/>
          <p:cNvGrpSpPr/>
          <p:nvPr/>
        </p:nvGrpSpPr>
        <p:grpSpPr>
          <a:xfrm>
            <a:off x="1809750" y="1876425"/>
            <a:ext cx="7010400" cy="4124325"/>
            <a:chOff x="1809750" y="1876425"/>
            <a:chExt cx="7010400" cy="4124325"/>
          </a:xfrm>
        </p:grpSpPr>
        <p:sp>
          <p:nvSpPr>
            <p:cNvPr id="28" name="Ellipse 28"/>
            <p:cNvSpPr/>
            <p:nvPr/>
          </p:nvSpPr>
          <p:spPr>
            <a:xfrm>
              <a:off x="7639050" y="1876425"/>
              <a:ext cx="1104900" cy="1104900"/>
            </a:xfrm>
            <a:prstGeom prst="ellipse">
              <a:avLst/>
            </a:prstGeom>
            <a:solidFill>
              <a:srgbClr val="FFA640"/>
            </a:solidFill>
            <a:ln w="19050">
              <a:solidFill>
                <a:srgbClr val="B85C00"/>
              </a:solidFill>
            </a:ln>
          </p:spPr>
        </p:sp>
        <p:sp>
          <p:nvSpPr>
            <p:cNvPr id="29" name="TextBox 29"/>
            <p:cNvSpPr txBox="1"/>
            <p:nvPr/>
          </p:nvSpPr>
          <p:spPr>
            <a:xfrm>
              <a:off x="7967358" y="2240756"/>
              <a:ext cx="448285" cy="220028"/>
            </a:xfrm>
            <a:prstGeom prst="rect">
              <a:avLst/>
            </a:prstGeom>
            <a:noFill/>
            <a:ln>
              <a:noFill/>
            </a:ln>
          </p:spPr>
          <p:txBody>
            <a:bodyPr wrap="none" lIns="0" tIns="0" rIns="0" bIns="0" anchor="t" anchorCtr="0">
              <a:spAutoFit/>
            </a:bodyPr>
            <a:lstStyle/>
            <a:p>
              <a:pPr algn="ctr"/>
              <a:r>
                <a:rPr lang="en-US" sz="1120" b="1" dirty="0">
                  <a:solidFill>
                    <a:srgbClr val="5A3200"/>
                  </a:solidFill>
                  <a:latin typeface="Arial"/>
                  <a:ea typeface="Arial"/>
                  <a:cs typeface="Arial"/>
                </a:rPr>
                <a:t>OMEA</a:t>
              </a:r>
            </a:p>
          </p:txBody>
        </p:sp>
        <p:sp>
          <p:nvSpPr>
            <p:cNvPr id="30" name="TextBox 30"/>
            <p:cNvSpPr txBox="1"/>
            <p:nvPr/>
          </p:nvSpPr>
          <p:spPr>
            <a:xfrm>
              <a:off x="7793378" y="2428399"/>
              <a:ext cx="796244" cy="190690"/>
            </a:xfrm>
            <a:prstGeom prst="rect">
              <a:avLst/>
            </a:prstGeom>
            <a:noFill/>
            <a:ln>
              <a:noFill/>
            </a:ln>
          </p:spPr>
          <p:txBody>
            <a:bodyPr wrap="none" lIns="0" tIns="0" rIns="0" bIns="0" anchor="t" anchorCtr="0">
              <a:spAutoFit/>
            </a:bodyPr>
            <a:lstStyle/>
            <a:p>
              <a:pPr algn="ctr"/>
              <a:r>
                <a:rPr lang="zh-CN" sz="980" b="1" dirty="0">
                  <a:solidFill>
                    <a:srgbClr val="5A3200"/>
                  </a:solidFill>
                  <a:latin typeface="Arial"/>
                  <a:ea typeface="Microsoft YaHei"/>
                  <a:cs typeface="Arial"/>
                </a:rPr>
                <a:t>MPN/云运维</a:t>
              </a:r>
            </a:p>
          </p:txBody>
        </p:sp>
        <p:sp>
          <p:nvSpPr>
            <p:cNvPr id="31" name="Ellipse 31"/>
            <p:cNvSpPr/>
            <p:nvPr/>
          </p:nvSpPr>
          <p:spPr>
            <a:xfrm>
              <a:off x="7943850" y="4895850"/>
              <a:ext cx="876300" cy="876300"/>
            </a:xfrm>
            <a:prstGeom prst="ellipse">
              <a:avLst/>
            </a:prstGeom>
            <a:solidFill>
              <a:srgbClr val="FFA640"/>
            </a:solidFill>
            <a:ln w="19050">
              <a:solidFill>
                <a:srgbClr val="B85C00"/>
              </a:solidFill>
            </a:ln>
          </p:spPr>
        </p:sp>
        <p:sp>
          <p:nvSpPr>
            <p:cNvPr id="32" name="TextBox 32"/>
            <p:cNvSpPr txBox="1"/>
            <p:nvPr/>
          </p:nvSpPr>
          <p:spPr>
            <a:xfrm>
              <a:off x="8187743" y="5171599"/>
              <a:ext cx="388513" cy="190690"/>
            </a:xfrm>
            <a:prstGeom prst="rect">
              <a:avLst/>
            </a:prstGeom>
            <a:noFill/>
            <a:ln>
              <a:noFill/>
            </a:ln>
          </p:spPr>
          <p:txBody>
            <a:bodyPr wrap="none" lIns="0" tIns="0" rIns="0" bIns="0" anchor="t" anchorCtr="0">
              <a:spAutoFit/>
            </a:bodyPr>
            <a:lstStyle/>
            <a:p>
              <a:pPr algn="ctr"/>
              <a:r>
                <a:rPr lang="en-US" sz="980" b="1" dirty="0">
                  <a:solidFill>
                    <a:srgbClr val="5A3200"/>
                  </a:solidFill>
                  <a:latin typeface="Arial"/>
                  <a:ea typeface="Arial"/>
                  <a:cs typeface="Arial"/>
                </a:rPr>
                <a:t>OMEA</a:t>
              </a:r>
            </a:p>
          </p:txBody>
        </p:sp>
        <p:sp>
          <p:nvSpPr>
            <p:cNvPr id="33" name="TextBox 33"/>
            <p:cNvSpPr txBox="1"/>
            <p:nvPr/>
          </p:nvSpPr>
          <p:spPr>
            <a:xfrm>
              <a:off x="8134921" y="5332095"/>
              <a:ext cx="494157" cy="176212"/>
            </a:xfrm>
            <a:prstGeom prst="rect">
              <a:avLst/>
            </a:prstGeom>
            <a:noFill/>
            <a:ln>
              <a:noFill/>
            </a:ln>
          </p:spPr>
          <p:txBody>
            <a:bodyPr wrap="none" lIns="0" tIns="0" rIns="0" bIns="0" anchor="t" anchorCtr="0">
              <a:spAutoFit/>
            </a:bodyPr>
            <a:lstStyle/>
            <a:p>
              <a:pPr algn="ctr"/>
              <a:r>
                <a:rPr lang="zh-CN" sz="900" dirty="0">
                  <a:solidFill>
                    <a:srgbClr val="5A3200"/>
                  </a:solidFill>
                  <a:latin typeface="Arial"/>
                  <a:ea typeface="Microsoft YaHei"/>
                  <a:cs typeface="Arial"/>
                </a:rPr>
                <a:t>核心连接</a:t>
              </a:r>
            </a:p>
          </p:txBody>
        </p:sp>
        <p:sp>
          <p:nvSpPr>
            <p:cNvPr id="34" name="Ellipse 34"/>
            <p:cNvSpPr/>
            <p:nvPr/>
          </p:nvSpPr>
          <p:spPr>
            <a:xfrm>
              <a:off x="5981700" y="2362200"/>
              <a:ext cx="800100" cy="800100"/>
            </a:xfrm>
            <a:prstGeom prst="ellipse">
              <a:avLst/>
            </a:prstGeom>
            <a:solidFill>
              <a:srgbClr val="FFA640"/>
            </a:solidFill>
            <a:ln w="19050">
              <a:solidFill>
                <a:srgbClr val="B85C00"/>
              </a:solidFill>
            </a:ln>
          </p:spPr>
        </p:sp>
        <p:sp>
          <p:nvSpPr>
            <p:cNvPr id="35" name="TextBox 35"/>
            <p:cNvSpPr txBox="1"/>
            <p:nvPr/>
          </p:nvSpPr>
          <p:spPr>
            <a:xfrm>
              <a:off x="6202246" y="2607945"/>
              <a:ext cx="359009" cy="176212"/>
            </a:xfrm>
            <a:prstGeom prst="rect">
              <a:avLst/>
            </a:prstGeom>
            <a:noFill/>
            <a:ln>
              <a:noFill/>
            </a:ln>
          </p:spPr>
          <p:txBody>
            <a:bodyPr wrap="none" lIns="0" tIns="0" rIns="0" bIns="0" anchor="t" anchorCtr="0">
              <a:spAutoFit/>
            </a:bodyPr>
            <a:lstStyle/>
            <a:p>
              <a:pPr algn="ctr"/>
              <a:r>
                <a:rPr lang="en-US" sz="900" b="1" dirty="0">
                  <a:solidFill>
                    <a:srgbClr val="5A3200"/>
                  </a:solidFill>
                  <a:latin typeface="Arial"/>
                  <a:ea typeface="Arial"/>
                  <a:cs typeface="Arial"/>
                </a:rPr>
                <a:t>OMEA</a:t>
              </a:r>
            </a:p>
          </p:txBody>
        </p:sp>
        <p:sp>
          <p:nvSpPr>
            <p:cNvPr id="36" name="TextBox 36"/>
            <p:cNvSpPr txBox="1"/>
            <p:nvPr/>
          </p:nvSpPr>
          <p:spPr>
            <a:xfrm>
              <a:off x="6016142" y="2758916"/>
              <a:ext cx="731215" cy="161925"/>
            </a:xfrm>
            <a:prstGeom prst="rect">
              <a:avLst/>
            </a:prstGeom>
            <a:noFill/>
            <a:ln>
              <a:noFill/>
            </a:ln>
          </p:spPr>
          <p:txBody>
            <a:bodyPr wrap="none" lIns="0" tIns="0" rIns="0" bIns="0" anchor="t" anchorCtr="0">
              <a:spAutoFit/>
            </a:bodyPr>
            <a:lstStyle/>
            <a:p>
              <a:pPr algn="ctr"/>
              <a:r>
                <a:rPr lang="zh-CN" sz="820" dirty="0">
                  <a:solidFill>
                    <a:srgbClr val="5A3200"/>
                  </a:solidFill>
                  <a:latin typeface="Arial"/>
                  <a:ea typeface="Microsoft YaHei"/>
                  <a:cs typeface="Arial"/>
                </a:rPr>
                <a:t>安全/ICT(G3)</a:t>
              </a:r>
            </a:p>
          </p:txBody>
        </p:sp>
        <p:sp>
          <p:nvSpPr>
            <p:cNvPr id="37" name="Ellipse 37"/>
            <p:cNvSpPr/>
            <p:nvPr/>
          </p:nvSpPr>
          <p:spPr>
            <a:xfrm>
              <a:off x="2171700" y="2171700"/>
              <a:ext cx="800100" cy="800100"/>
            </a:xfrm>
            <a:prstGeom prst="ellipse">
              <a:avLst/>
            </a:prstGeom>
            <a:solidFill>
              <a:srgbClr val="FF7900"/>
            </a:solidFill>
            <a:ln w="19050">
              <a:solidFill>
                <a:srgbClr val="B85C00"/>
              </a:solidFill>
            </a:ln>
          </p:spPr>
        </p:sp>
        <p:sp>
          <p:nvSpPr>
            <p:cNvPr id="38" name="TextBox 38"/>
            <p:cNvSpPr txBox="1"/>
            <p:nvPr/>
          </p:nvSpPr>
          <p:spPr>
            <a:xfrm>
              <a:off x="2442652" y="2417445"/>
              <a:ext cx="258196"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OEU</a:t>
              </a:r>
            </a:p>
          </p:txBody>
        </p:sp>
        <p:sp>
          <p:nvSpPr>
            <p:cNvPr id="39" name="TextBox 39"/>
            <p:cNvSpPr txBox="1"/>
            <p:nvPr/>
          </p:nvSpPr>
          <p:spPr>
            <a:xfrm>
              <a:off x="2282419" y="2568416"/>
              <a:ext cx="578663"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Arial"/>
                  <a:ea typeface="Microsoft YaHei"/>
                  <a:cs typeface="Arial"/>
                </a:rPr>
                <a:t>波兰IT集成</a:t>
              </a:r>
            </a:p>
          </p:txBody>
        </p:sp>
        <p:sp>
          <p:nvSpPr>
            <p:cNvPr id="40" name="Ellipse 40"/>
            <p:cNvSpPr/>
            <p:nvPr/>
          </p:nvSpPr>
          <p:spPr>
            <a:xfrm>
              <a:off x="1809750" y="3048000"/>
              <a:ext cx="762000" cy="762000"/>
            </a:xfrm>
            <a:prstGeom prst="ellipse">
              <a:avLst/>
            </a:prstGeom>
            <a:solidFill>
              <a:srgbClr val="B85C00"/>
            </a:solidFill>
            <a:ln w="19050">
              <a:solidFill>
                <a:srgbClr val="7A3D00"/>
              </a:solidFill>
            </a:ln>
          </p:spPr>
        </p:sp>
        <p:sp>
          <p:nvSpPr>
            <p:cNvPr id="41" name="TextBox 41"/>
            <p:cNvSpPr txBox="1"/>
            <p:nvPr/>
          </p:nvSpPr>
          <p:spPr>
            <a:xfrm>
              <a:off x="2098617" y="3274695"/>
              <a:ext cx="18426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OB</a:t>
              </a:r>
            </a:p>
          </p:txBody>
        </p:sp>
        <p:sp>
          <p:nvSpPr>
            <p:cNvPr id="42" name="TextBox 42"/>
            <p:cNvSpPr txBox="1"/>
            <p:nvPr/>
          </p:nvSpPr>
          <p:spPr>
            <a:xfrm>
              <a:off x="1963864" y="3425666"/>
              <a:ext cx="453771"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Arial"/>
                  <a:ea typeface="Microsoft YaHei"/>
                  <a:cs typeface="Arial"/>
                </a:rPr>
                <a:t>云栈存量</a:t>
              </a:r>
            </a:p>
          </p:txBody>
        </p:sp>
        <p:sp>
          <p:nvSpPr>
            <p:cNvPr id="43" name="Ellipse 43"/>
            <p:cNvSpPr/>
            <p:nvPr/>
          </p:nvSpPr>
          <p:spPr>
            <a:xfrm>
              <a:off x="1809750" y="4953000"/>
              <a:ext cx="762000" cy="762000"/>
            </a:xfrm>
            <a:prstGeom prst="ellipse">
              <a:avLst/>
            </a:prstGeom>
            <a:solidFill>
              <a:srgbClr val="9B9B9B"/>
            </a:solidFill>
            <a:ln w="19050">
              <a:solidFill>
                <a:srgbClr val="6B6B6B"/>
              </a:solidFill>
            </a:ln>
          </p:spPr>
        </p:sp>
        <p:sp>
          <p:nvSpPr>
            <p:cNvPr id="44" name="TextBox 44"/>
            <p:cNvSpPr txBox="1"/>
            <p:nvPr/>
          </p:nvSpPr>
          <p:spPr>
            <a:xfrm>
              <a:off x="2098617" y="5179695"/>
              <a:ext cx="18426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OB</a:t>
              </a:r>
            </a:p>
          </p:txBody>
        </p:sp>
        <p:sp>
          <p:nvSpPr>
            <p:cNvPr id="45" name="TextBox 45"/>
            <p:cNvSpPr txBox="1"/>
            <p:nvPr/>
          </p:nvSpPr>
          <p:spPr>
            <a:xfrm>
              <a:off x="1948358" y="5330666"/>
              <a:ext cx="484784" cy="161925"/>
            </a:xfrm>
            <a:prstGeom prst="rect">
              <a:avLst/>
            </a:prstGeom>
            <a:noFill/>
            <a:ln>
              <a:noFill/>
            </a:ln>
          </p:spPr>
          <p:txBody>
            <a:bodyPr wrap="none" lIns="0" tIns="0" rIns="0" bIns="0" anchor="t" anchorCtr="0">
              <a:spAutoFit/>
            </a:bodyPr>
            <a:lstStyle/>
            <a:p>
              <a:pPr algn="ctr"/>
              <a:r>
                <a:rPr lang="en-US" sz="820" dirty="0">
                  <a:solidFill>
                    <a:srgbClr val="FFFFFF"/>
                  </a:solidFill>
                  <a:latin typeface="Arial"/>
                  <a:ea typeface="Arial"/>
                  <a:cs typeface="Arial"/>
                </a:rPr>
                <a:t>WAN/LAN</a:t>
              </a:r>
            </a:p>
          </p:txBody>
        </p:sp>
        <p:sp>
          <p:nvSpPr>
            <p:cNvPr id="46" name="Ellipse 46"/>
            <p:cNvSpPr/>
            <p:nvPr/>
          </p:nvSpPr>
          <p:spPr>
            <a:xfrm>
              <a:off x="3429000" y="5238750"/>
              <a:ext cx="762000" cy="762000"/>
            </a:xfrm>
            <a:prstGeom prst="ellipse">
              <a:avLst/>
            </a:prstGeom>
            <a:solidFill>
              <a:srgbClr val="9B9B9B"/>
            </a:solidFill>
            <a:ln w="19050">
              <a:solidFill>
                <a:srgbClr val="6B6B6B"/>
              </a:solidFill>
            </a:ln>
          </p:spPr>
        </p:sp>
        <p:sp>
          <p:nvSpPr>
            <p:cNvPr id="47" name="TextBox 47"/>
            <p:cNvSpPr txBox="1"/>
            <p:nvPr/>
          </p:nvSpPr>
          <p:spPr>
            <a:xfrm>
              <a:off x="3680902" y="5465445"/>
              <a:ext cx="258196"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OEU</a:t>
              </a:r>
            </a:p>
          </p:txBody>
        </p:sp>
        <p:sp>
          <p:nvSpPr>
            <p:cNvPr id="48" name="TextBox 48"/>
            <p:cNvSpPr txBox="1"/>
            <p:nvPr/>
          </p:nvSpPr>
          <p:spPr>
            <a:xfrm>
              <a:off x="3376917" y="5616416"/>
              <a:ext cx="866165" cy="161925"/>
            </a:xfrm>
            <a:prstGeom prst="rect">
              <a:avLst/>
            </a:prstGeom>
            <a:noFill/>
            <a:ln>
              <a:noFill/>
            </a:ln>
          </p:spPr>
          <p:txBody>
            <a:bodyPr wrap="none" lIns="0" tIns="0" rIns="0" bIns="0" anchor="t" anchorCtr="0">
              <a:spAutoFit/>
            </a:bodyPr>
            <a:lstStyle/>
            <a:p>
              <a:pPr algn="ctr"/>
              <a:r>
                <a:rPr lang="en-US" sz="820" dirty="0">
                  <a:solidFill>
                    <a:srgbClr val="FFFFFF"/>
                  </a:solidFill>
                  <a:latin typeface="Arial"/>
                  <a:ea typeface="Arial"/>
                  <a:cs typeface="Arial"/>
                </a:rPr>
                <a:t>RO/PL WAN-RAN</a:t>
              </a:r>
            </a:p>
          </p:txBody>
        </p:sp>
      </p:grpSp>
      <p:grpSp>
        <p:nvGrpSpPr>
          <p:cNvPr id="52" name="Group 52"/>
          <p:cNvGrpSpPr/>
          <p:nvPr/>
        </p:nvGrpSpPr>
        <p:grpSpPr>
          <a:xfrm>
            <a:off x="528447" y="6562249"/>
            <a:ext cx="11135106" cy="190690"/>
            <a:chOff x="528447" y="6562249"/>
            <a:chExt cx="11135106" cy="190690"/>
          </a:xfrm>
        </p:grpSpPr>
        <p:sp>
          <p:nvSpPr>
            <p:cNvPr id="50" name="TextBox 50"/>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1" name="TextBox 51"/>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2026-07-03T21:49:30Z</dcterms:created>
  <dcterms:modified xsi:type="dcterms:W3CDTF">2026-07-03T21:49:30Z</dcterms:modified>
  <cp:category/>
  <cp:contentStatus/>
</cp:coreProperties>
</file>