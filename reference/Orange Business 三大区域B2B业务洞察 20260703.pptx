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欢迎各位。这份材料是对Orange集团三大B2B区域业务——OB、OEU和OMEA——的横向对比洞察，核心目的是回答一个问题：华为在这三个区域中的参与空间到底有什么不同。接下来的十六页，会从收入结构、商业模式、五大产品维度、华为参与视角、以及最终的价值场景建议，逐层拆解这三种截然不同的现实。</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个区域合计约四十七亿欧元的B2B收入，但体量最大的OB恰恰是华为参与度最低的市场，体量最小的OMEA反而是华为深度绑定的核心阵地。OB是法国总部加全球大客户业务，财年收入七十三亿欧元但同比下滑百分之四点八；OEU覆盖比利时、波兰、罗马尼亚等欧洲国家加西班牙，合计约二十七亿欧元，多为估算；OMEA是中东与非洲，规模最小但增长最快，二零三零年目标要翻到二十亿欧元。这就是接下来所有分析的起点。</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客户结构上，三个区域走的是完全不同的路。OB以大企业和跨国客户为主，占比超过一半；而OMEA最值得关注的问题是，SOHO客户数量在增长，但每户平均收入却下降了百分之十九——这是一个增量不增值的结构性矛盾，也是OMEA接下来必须解决的短板。</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行业打法上，OB深耕金融、国防、医疗这些成熟垂直行业，走的是存量深耕的逻辑；OEU的波兰通过并购构建IT集成能力，是能力建设逻辑；OMEA则完全不同，矿业和港口的基础设施项目是打开增长的钥匙，这也正是华为参与度最高的行业切入点。</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产品组合看，OB已经是一个连接、安全、云、数字化办公、数据智能全谱系的DICT服务商，连接收入占比已经降到百分之三十七；OMEA则还处在以连接为基座的阶段，ICT只占百分之八点三，但增速高达百分之二十八，是三个区域中弹性最大的市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再看两种商业模式——管理服务和集成转售的收入结构。OB的管理服务占比约七成三，OMEA的管理服务占比更高，达到百分之九十一点七，但集成转售的目标是从百分之八点三提升到二零二八年的三亿零一百万欧元，这正是OMEA下一步要重点突破的方向。</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五个标准产品维度的第一个——WAN连接。这是三个区域共同的营收支柱，但华为的准入现实完全不同。OB的连接市场里，华为基本看不见踪影；OEU由于波兰和罗马尼亚的法律禁令，华为被完全排除；只有在OMEA，凭借矿业和港口的移动专网案例，华为才和诺基亚并列成为主力供应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LAN管理服务是本次调研数据最薄弱的一个维度。除了OB有相对完整的信息之外，OEU和OMEA我们都诚实地标注为数据待补充，不做过度推断——这也提醒我们，这个维度值得后续做定向调研补齐。</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云服务是华为在这份材料里最深的一个存量锚点。OB和OMEA共用同一套Flexible Engine云技术底座，但两者的呈现方式完全不同——在OB，它是一项看不见的底层技术；而在OMEA，华为的AUTIN智能运维系统直接部署在这套云平台之上，支撑达喀尔和阿比让的联合运维中心，从幕后走到了台前。</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安全托管服务上，三个区域各有各的打法。OB是Orange Cyberdefense的自营主场，年收入十三亿欧元；OEU通过罗马尼亚的SCUT合资公司切入；OMEA的安全能力还在G3加速计划里孵化，独立的收入数据目前还拿不到，但ICT整体百分之二十八的增速说明这个方向值得持续跟踪。</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集成与转售领域，波兰走出了一条和OB相似的路——通过并购构建集成能力。而在OMEA，矿业和港口的移动专网集成项目里，华为再次和诺基亚并列成为主力供应商，这与OB和OEU完全排除华为的局面形成鲜明对比。</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是本次调研新增的维度，也是最重要的发现。移动专网在原始材料里并不存在，但OMEA的资料显示，这恰恰是华为参与度最高的场景——在矿业和港口的实际案例里，华为和诺基亚的供应商份额几乎并驾齐驱。这个维度值得作为对OB和OEU寻找突破口的重要参考。</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现在从华为视角逐区域复盘。OB是一个生态位竞争排除区——法国的WAN、LAN、安全目录里基本看不到华为的身影，这是市场化竞争的结果，而不是行政禁令。华为唯一的存量锚点，是那套看不见的Flexible Engine云栈底层技术。</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EU是三个区域里对华为最不友好的法律环境。波兰在二零二四年十一月设立了高风险供应商认定机制，罗马尼亚早在二零二一年六月就通过法律正式禁止华为，目前正在把存量设备替换为爱立信。这是国家安全立法加对美协议共同作用的结果，几乎没有回旋余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MEA是华为在Orange集团B2B业务里真正的核心阵地。从RAN到云运维的全栈深度绑定——华为占据非洲百分之七十的四G骨干网份额，联合部署了两千个乡村基站，AUTIN运维系统直接跑在Orange自己的云平台上，双方还共建了达喀尔和阿比让的联合运维中心。这是本次调研里，华为叙事最强的一页。</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把三个区域的业务模块放进同一张销售空间和场景价值的矩阵里看。OMEA的移动专网和云运维协同，毫无疑问是肥肉区；OB的WAN和LAN是骨头区；OEU的罗马尼亚和波兰WAN-RAN也因为法律排除落入骨头区。今天的核心结论只有一句话——资源应该向OMEA倾斜，尤其是移动专网和云运维协同这两个场景，这是华为在Orange集团B2B业务里最值得投入的方向。谢谢大家。</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9" name="Group 9"/>
          <p:cNvGrpSpPr/>
          <p:nvPr/>
        </p:nvGrpSpPr>
        <p:grpSpPr>
          <a:xfrm>
            <a:off x="8191500" y="0"/>
            <a:ext cx="4000500" cy="6858000"/>
            <a:chOff x="8191500" y="0"/>
            <a:chExt cx="4000500" cy="6858000"/>
          </a:xfrm>
        </p:grpSpPr>
        <p:sp>
          <p:nvSpPr>
            <p:cNvPr id="3" name="Rectangle 3"/>
            <p:cNvSpPr/>
            <p:nvPr/>
          </p:nvSpPr>
          <p:spPr>
            <a:xfrm>
              <a:off x="8191500" y="0"/>
              <a:ext cx="1333500" cy="6858000"/>
            </a:xfrm>
            <a:prstGeom prst="rect">
              <a:avLst/>
            </a:prstGeom>
            <a:solidFill>
              <a:srgbClr val="C7000A"/>
            </a:solidFill>
            <a:ln>
              <a:noFill/>
            </a:ln>
          </p:spPr>
        </p:sp>
        <p:sp>
          <p:nvSpPr>
            <p:cNvPr id="4" name="Rectangle 4"/>
            <p:cNvSpPr/>
            <p:nvPr/>
          </p:nvSpPr>
          <p:spPr>
            <a:xfrm>
              <a:off x="9525000" y="0"/>
              <a:ext cx="1333500" cy="6858000"/>
            </a:xfrm>
            <a:prstGeom prst="rect">
              <a:avLst/>
            </a:prstGeom>
            <a:solidFill>
              <a:srgbClr val="E9002F"/>
            </a:solidFill>
            <a:ln>
              <a:noFill/>
            </a:ln>
          </p:spPr>
        </p:sp>
        <p:sp>
          <p:nvSpPr>
            <p:cNvPr id="5" name="Rectangle 5"/>
            <p:cNvSpPr/>
            <p:nvPr/>
          </p:nvSpPr>
          <p:spPr>
            <a:xfrm>
              <a:off x="10858500" y="0"/>
              <a:ext cx="1333500" cy="6858000"/>
            </a:xfrm>
            <a:prstGeom prst="rect">
              <a:avLst/>
            </a:prstGeom>
            <a:solidFill>
              <a:srgbClr val="F4A100"/>
            </a:solidFill>
            <a:ln>
              <a:noFill/>
            </a:ln>
          </p:spPr>
        </p:sp>
        <p:sp>
          <p:nvSpPr>
            <p:cNvPr id="6" name="TextBox 6"/>
            <p:cNvSpPr txBox="1"/>
            <p:nvPr/>
          </p:nvSpPr>
          <p:spPr>
            <a:xfrm>
              <a:off x="8705012" y="6124575"/>
              <a:ext cx="306476"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OB</a:t>
              </a:r>
            </a:p>
          </p:txBody>
        </p:sp>
        <p:sp>
          <p:nvSpPr>
            <p:cNvPr id="7" name="TextBox 7"/>
            <p:cNvSpPr txBox="1"/>
            <p:nvPr/>
          </p:nvSpPr>
          <p:spPr>
            <a:xfrm>
              <a:off x="9976904" y="6124575"/>
              <a:ext cx="429692"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OEU</a:t>
              </a:r>
            </a:p>
          </p:txBody>
        </p:sp>
        <p:sp>
          <p:nvSpPr>
            <p:cNvPr id="8" name="TextBox 8"/>
            <p:cNvSpPr txBox="1"/>
            <p:nvPr/>
          </p:nvSpPr>
          <p:spPr>
            <a:xfrm>
              <a:off x="11226394" y="6124575"/>
              <a:ext cx="597713"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OMEA</a:t>
              </a:r>
            </a:p>
          </p:txBody>
        </p:sp>
      </p:grpSp>
      <p:grpSp>
        <p:nvGrpSpPr>
          <p:cNvPr id="16" name="Group 16"/>
          <p:cNvGrpSpPr/>
          <p:nvPr/>
        </p:nvGrpSpPr>
        <p:grpSpPr>
          <a:xfrm>
            <a:off x="533400" y="2274570"/>
            <a:ext cx="7398932" cy="2653855"/>
            <a:chOff x="533400" y="2274570"/>
            <a:chExt cx="7398932" cy="2653855"/>
          </a:xfrm>
        </p:grpSpPr>
        <p:sp>
          <p:nvSpPr>
            <p:cNvPr id="10" name="Rectangle 10"/>
            <p:cNvSpPr/>
            <p:nvPr/>
          </p:nvSpPr>
          <p:spPr>
            <a:xfrm>
              <a:off x="533400" y="2362200"/>
              <a:ext cx="76200" cy="1428750"/>
            </a:xfrm>
            <a:prstGeom prst="rect">
              <a:avLst/>
            </a:prstGeom>
            <a:solidFill>
              <a:srgbClr val="E9002F"/>
            </a:solidFill>
            <a:ln>
              <a:noFill/>
            </a:ln>
          </p:spPr>
        </p:sp>
        <p:sp>
          <p:nvSpPr>
            <p:cNvPr id="11" name="TextBox 11"/>
            <p:cNvSpPr txBox="1"/>
            <p:nvPr/>
          </p:nvSpPr>
          <p:spPr>
            <a:xfrm>
              <a:off x="819150" y="2274570"/>
              <a:ext cx="5611507" cy="1047750"/>
            </a:xfrm>
            <a:prstGeom prst="rect">
              <a:avLst/>
            </a:prstGeom>
            <a:noFill/>
            <a:ln>
              <a:noFill/>
            </a:ln>
          </p:spPr>
          <p:txBody>
            <a:bodyPr wrap="none" lIns="0" tIns="0" rIns="0" bIns="0" anchor="t" anchorCtr="0">
              <a:spAutoFit/>
            </a:bodyPr>
            <a:lstStyle/>
            <a:p>
              <a:pPr algn="l"/>
              <a:r>
                <a:rPr lang="zh-CN" sz="5400" b="1" dirty="0">
                  <a:solidFill>
                    <a:srgbClr val="1A1A1A"/>
                  </a:solidFill>
                  <a:latin typeface="Arial"/>
                  <a:ea typeface="Microsoft YaHei"/>
                  <a:cs typeface="Arial"/>
                </a:rPr>
                <a:t>Orange集团B2B</a:t>
              </a:r>
            </a:p>
          </p:txBody>
        </p:sp>
        <p:sp>
          <p:nvSpPr>
            <p:cNvPr id="12" name="TextBox 12"/>
            <p:cNvSpPr txBox="1"/>
            <p:nvPr/>
          </p:nvSpPr>
          <p:spPr>
            <a:xfrm>
              <a:off x="819150" y="3036570"/>
              <a:ext cx="6144463" cy="1047750"/>
            </a:xfrm>
            <a:prstGeom prst="rect">
              <a:avLst/>
            </a:prstGeom>
            <a:noFill/>
            <a:ln>
              <a:noFill/>
            </a:ln>
          </p:spPr>
          <p:txBody>
            <a:bodyPr wrap="none" lIns="0" tIns="0" rIns="0" bIns="0" anchor="t" anchorCtr="0">
              <a:spAutoFit/>
            </a:bodyPr>
            <a:lstStyle/>
            <a:p>
              <a:pPr algn="l"/>
              <a:r>
                <a:rPr lang="zh-CN" sz="5400" b="1" dirty="0">
                  <a:solidFill>
                    <a:srgbClr val="1A1A1A"/>
                  </a:solidFill>
                  <a:latin typeface="Arial"/>
                  <a:ea typeface="Microsoft YaHei"/>
                  <a:cs typeface="Arial"/>
                </a:rPr>
                <a:t>三大区域业务洞察</a:t>
              </a:r>
            </a:p>
          </p:txBody>
        </p:sp>
        <p:sp>
          <p:nvSpPr>
            <p:cNvPr id="13" name="TextBox 13"/>
            <p:cNvSpPr txBox="1"/>
            <p:nvPr/>
          </p:nvSpPr>
          <p:spPr>
            <a:xfrm>
              <a:off x="829437" y="4004786"/>
              <a:ext cx="6651555" cy="337376"/>
            </a:xfrm>
            <a:prstGeom prst="rect">
              <a:avLst/>
            </a:prstGeom>
            <a:noFill/>
            <a:ln>
              <a:noFill/>
            </a:ln>
          </p:spPr>
          <p:txBody>
            <a:bodyPr wrap="none" lIns="0" tIns="0" rIns="0" bIns="0" anchor="t" anchorCtr="0">
              <a:spAutoFit/>
            </a:bodyPr>
            <a:lstStyle/>
            <a:p>
              <a:pPr algn="l"/>
              <a:r>
                <a:rPr lang="zh-CN" sz="1720" b="1" dirty="0">
                  <a:solidFill>
                    <a:srgbClr val="E9002F"/>
                  </a:solidFill>
                  <a:latin typeface="Arial"/>
                  <a:ea typeface="Microsoft YaHei"/>
                  <a:cs typeface="Arial"/>
                </a:rPr>
                <a:t>OB · OEU · OMEA —— 华为参与空间的三种截然不同的现实</a:t>
              </a:r>
            </a:p>
          </p:txBody>
        </p:sp>
        <p:sp>
          <p:nvSpPr>
            <p:cNvPr id="14" name="Line 14"/>
            <p:cNvSpPr/>
            <p:nvPr/>
          </p:nvSpPr>
          <p:spPr>
            <a:xfrm>
              <a:off x="838200" y="4476750"/>
              <a:ext cx="5829300" cy="9525"/>
            </a:xfrm>
            <a:custGeom>
              <a:avLst/>
              <a:gdLst/>
              <a:ahLst/>
              <a:cxnLst/>
              <a:rect l="l" t="t" r="r" b="b"/>
              <a:pathLst>
                <a:path w="5829300" h="9525">
                  <a:moveTo>
                    <a:pt x="0" y="0"/>
                  </a:moveTo>
                  <a:lnTo>
                    <a:pt x="5829300" y="0"/>
                  </a:lnTo>
                </a:path>
              </a:pathLst>
            </a:custGeom>
            <a:noFill/>
            <a:ln w="19050">
              <a:solidFill>
                <a:srgbClr val="E8E2DA"/>
              </a:solidFill>
            </a:ln>
          </p:spPr>
        </p:sp>
        <p:sp>
          <p:nvSpPr>
            <p:cNvPr id="15" name="TextBox 15"/>
            <p:cNvSpPr txBox="1"/>
            <p:nvPr/>
          </p:nvSpPr>
          <p:spPr>
            <a:xfrm>
              <a:off x="831342" y="4664392"/>
              <a:ext cx="7100990" cy="264033"/>
            </a:xfrm>
            <a:prstGeom prst="rect">
              <a:avLst/>
            </a:prstGeom>
            <a:noFill/>
            <a:ln>
              <a:noFill/>
            </a:ln>
          </p:spPr>
          <p:txBody>
            <a:bodyPr wrap="none" lIns="0" tIns="0" rIns="0" bIns="0" anchor="t" anchorCtr="0">
              <a:spAutoFit/>
            </a:bodyPr>
            <a:lstStyle/>
            <a:p>
              <a:pPr algn="l"/>
              <a:r>
                <a:rPr lang="en-US" sz="1350" dirty="0">
                  <a:solidFill>
                    <a:srgbClr val="6B6B6B"/>
                  </a:solidFill>
                  <a:latin typeface="Arial"/>
                  <a:ea typeface="Arial"/>
                  <a:cs typeface="Arial"/>
                </a:rPr>
                <a:t>OB · Orange Business OEU · Orange Europe OMEA · Orange Middle East &amp; Africa</a:t>
              </a:r>
            </a:p>
          </p:txBody>
        </p:sp>
      </p:grpSp>
      <p:grpSp>
        <p:nvGrpSpPr>
          <p:cNvPr id="19" name="Group 19"/>
          <p:cNvGrpSpPr/>
          <p:nvPr/>
        </p:nvGrpSpPr>
        <p:grpSpPr>
          <a:xfrm>
            <a:off x="528447" y="6428899"/>
            <a:ext cx="6649336" cy="190690"/>
            <a:chOff x="528447" y="6428899"/>
            <a:chExt cx="6649336" cy="190690"/>
          </a:xfrm>
        </p:grpSpPr>
        <p:sp>
          <p:nvSpPr>
            <p:cNvPr id="17" name="TextBox 17"/>
            <p:cNvSpPr txBox="1"/>
            <p:nvPr/>
          </p:nvSpPr>
          <p:spPr>
            <a:xfrm>
              <a:off x="528447" y="642889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18" name="TextBox 18"/>
            <p:cNvSpPr txBox="1"/>
            <p:nvPr/>
          </p:nvSpPr>
          <p:spPr>
            <a:xfrm>
              <a:off x="6662547" y="6428899"/>
              <a:ext cx="515236"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2026.07</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309562"/>
            <a:ext cx="11136630" cy="802005"/>
            <a:chOff x="521970" y="309562"/>
            <a:chExt cx="11136630" cy="802005"/>
          </a:xfrm>
        </p:grpSpPr>
        <p:sp>
          <p:nvSpPr>
            <p:cNvPr id="3" name="TextBox 3"/>
            <p:cNvSpPr txBox="1"/>
            <p:nvPr/>
          </p:nvSpPr>
          <p:spPr>
            <a:xfrm>
              <a:off x="521970" y="309562"/>
              <a:ext cx="10010508"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Orange集团B2B三大区域合计约</a:t>
              </a:r>
              <a:r>
                <a:rPr lang="zh-CN" sz="2250" b="1" dirty="0">
                  <a:solidFill>
                    <a:srgbClr val="E9002F"/>
                  </a:solidFill>
                  <a:latin typeface="Arial"/>
                  <a:ea typeface="Microsoft YaHei"/>
                  <a:cs typeface="Arial"/>
                </a:rPr>
                <a:t>47亿€</a:t>
              </a:r>
              <a:r>
                <a:rPr lang="zh-CN" sz="2250" b="1" dirty="0">
                  <a:solidFill>
                    <a:srgbClr val="1A1A1A"/>
                  </a:solidFill>
                  <a:latin typeface="Arial"/>
                  <a:ea typeface="Microsoft YaHei"/>
                  <a:cs typeface="Arial"/>
                </a:rPr>
                <a:t>，OMEA是华为的核心增长阵地</a:t>
              </a:r>
            </a:p>
          </p:txBody>
        </p:sp>
        <p:sp>
          <p:nvSpPr>
            <p:cNvPr id="4" name="TextBox 4"/>
            <p:cNvSpPr txBox="1"/>
            <p:nvPr/>
          </p:nvSpPr>
          <p:spPr>
            <a:xfrm>
              <a:off x="521970" y="671512"/>
              <a:ext cx="3332874"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OEU是</a:t>
              </a:r>
              <a:r>
                <a:rPr lang="zh-CN" sz="2250" b="1" dirty="0">
                  <a:solidFill>
                    <a:srgbClr val="E9002F"/>
                  </a:solidFill>
                  <a:latin typeface="Arial"/>
                  <a:ea typeface="Microsoft YaHei"/>
                  <a:cs typeface="Arial"/>
                </a:rPr>
                <a:t>法律强制退出区</a:t>
              </a:r>
            </a:p>
          </p:txBody>
        </p:sp>
        <p:sp>
          <p:nvSpPr>
            <p:cNvPr id="5" name="Line 5"/>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50" name="Group 50"/>
          <p:cNvGrpSpPr/>
          <p:nvPr/>
        </p:nvGrpSpPr>
        <p:grpSpPr>
          <a:xfrm>
            <a:off x="533400" y="1333500"/>
            <a:ext cx="10972800" cy="2476500"/>
            <a:chOff x="533400" y="1333500"/>
            <a:chExt cx="10972800" cy="2476500"/>
          </a:xfrm>
        </p:grpSpPr>
        <p:sp>
          <p:nvSpPr>
            <p:cNvPr id="7" name="Rectangle 7"/>
            <p:cNvSpPr/>
            <p:nvPr/>
          </p:nvSpPr>
          <p:spPr>
            <a:xfrm>
              <a:off x="533400" y="1333500"/>
              <a:ext cx="2571750" cy="2476500"/>
            </a:xfrm>
            <a:prstGeom prst="roundRect">
              <a:avLst>
                <a:gd name="adj" fmla="val 1538"/>
              </a:avLst>
            </a:prstGeom>
            <a:solidFill>
              <a:srgbClr val="FBF6F1"/>
            </a:solidFill>
            <a:ln w="9525">
              <a:solidFill>
                <a:srgbClr val="E8E2DA"/>
              </a:solidFill>
            </a:ln>
          </p:spPr>
        </p:sp>
        <p:sp>
          <p:nvSpPr>
            <p:cNvPr id="8" name="Rectangle 8"/>
            <p:cNvSpPr/>
            <p:nvPr/>
          </p:nvSpPr>
          <p:spPr>
            <a:xfrm>
              <a:off x="762000" y="1562100"/>
              <a:ext cx="57150" cy="419100"/>
            </a:xfrm>
            <a:prstGeom prst="rect">
              <a:avLst/>
            </a:prstGeom>
            <a:solidFill>
              <a:srgbClr val="C7000A"/>
            </a:solidFill>
            <a:ln>
              <a:noFill/>
            </a:ln>
          </p:spPr>
        </p:sp>
        <p:sp>
          <p:nvSpPr>
            <p:cNvPr id="9" name="TextBox 9"/>
            <p:cNvSpPr txBox="1"/>
            <p:nvPr/>
          </p:nvSpPr>
          <p:spPr>
            <a:xfrm>
              <a:off x="944880" y="1600200"/>
              <a:ext cx="1714481" cy="293370"/>
            </a:xfrm>
            <a:prstGeom prst="rect">
              <a:avLst/>
            </a:prstGeom>
            <a:noFill/>
            <a:ln>
              <a:noFill/>
            </a:ln>
          </p:spPr>
          <p:txBody>
            <a:bodyPr wrap="none" lIns="0" tIns="0" rIns="0" bIns="0" anchor="t" anchorCtr="0">
              <a:spAutoFit/>
            </a:bodyPr>
            <a:lstStyle/>
            <a:p>
              <a:pPr algn="l"/>
              <a:r>
                <a:rPr lang="en-US" sz="1500" b="1" dirty="0">
                  <a:solidFill>
                    <a:srgbClr val="1A1A1A"/>
                  </a:solidFill>
                  <a:latin typeface="Arial"/>
                  <a:ea typeface="Arial"/>
                  <a:cs typeface="Arial"/>
                </a:rPr>
                <a:t>Orange Business</a:t>
              </a:r>
            </a:p>
          </p:txBody>
        </p:sp>
        <p:sp>
          <p:nvSpPr>
            <p:cNvPr id="10" name="TextBox 10"/>
            <p:cNvSpPr txBox="1"/>
            <p:nvPr/>
          </p:nvSpPr>
          <p:spPr>
            <a:xfrm>
              <a:off x="946404" y="1832610"/>
              <a:ext cx="1864157"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法国+全球大客户（OB）</a:t>
              </a:r>
            </a:p>
          </p:txBody>
        </p:sp>
        <p:sp>
          <p:nvSpPr>
            <p:cNvPr id="11" name="TextBox 11"/>
            <p:cNvSpPr txBox="1"/>
            <p:nvPr/>
          </p:nvSpPr>
          <p:spPr>
            <a:xfrm>
              <a:off x="935736" y="2358390"/>
              <a:ext cx="1316288" cy="645414"/>
            </a:xfrm>
            <a:prstGeom prst="rect">
              <a:avLst/>
            </a:prstGeom>
            <a:noFill/>
            <a:ln>
              <a:noFill/>
            </a:ln>
          </p:spPr>
          <p:txBody>
            <a:bodyPr wrap="none" lIns="0" tIns="0" rIns="0" bIns="0" anchor="t" anchorCtr="0">
              <a:spAutoFit/>
            </a:bodyPr>
            <a:lstStyle/>
            <a:p>
              <a:pPr algn="l"/>
              <a:r>
                <a:rPr lang="en-US" sz="3300" b="1" dirty="0">
                  <a:solidFill>
                    <a:srgbClr val="C7000A"/>
                  </a:solidFill>
                  <a:latin typeface="Arial"/>
                  <a:ea typeface="Arial"/>
                  <a:cs typeface="Arial"/>
                </a:rPr>
                <a:t>7,325</a:t>
              </a:r>
            </a:p>
          </p:txBody>
        </p:sp>
        <p:sp>
          <p:nvSpPr>
            <p:cNvPr id="12" name="TextBox 12"/>
            <p:cNvSpPr txBox="1"/>
            <p:nvPr/>
          </p:nvSpPr>
          <p:spPr>
            <a:xfrm>
              <a:off x="2277618" y="2536508"/>
              <a:ext cx="337124" cy="322707"/>
            </a:xfrm>
            <a:prstGeom prst="rect">
              <a:avLst/>
            </a:prstGeom>
            <a:noFill/>
            <a:ln>
              <a:noFill/>
            </a:ln>
          </p:spPr>
          <p:txBody>
            <a:bodyPr wrap="none" lIns="0" tIns="0" rIns="0" bIns="0" anchor="t" anchorCtr="0">
              <a:spAutoFit/>
            </a:bodyPr>
            <a:lstStyle/>
            <a:p>
              <a:pPr algn="l"/>
              <a:r>
                <a:rPr lang="en-US" sz="1650" b="1" dirty="0">
                  <a:solidFill>
                    <a:srgbClr val="6B6B6B"/>
                  </a:solidFill>
                  <a:latin typeface="Arial"/>
                  <a:ea typeface="Arial"/>
                  <a:cs typeface="Arial"/>
                </a:rPr>
                <a:t>M€</a:t>
              </a:r>
            </a:p>
          </p:txBody>
        </p:sp>
        <p:sp>
          <p:nvSpPr>
            <p:cNvPr id="13" name="TextBox 13"/>
            <p:cNvSpPr txBox="1"/>
            <p:nvPr/>
          </p:nvSpPr>
          <p:spPr>
            <a:xfrm>
              <a:off x="945642" y="2902268"/>
              <a:ext cx="984037" cy="264033"/>
            </a:xfrm>
            <a:prstGeom prst="rect">
              <a:avLst/>
            </a:prstGeom>
            <a:noFill/>
            <a:ln>
              <a:noFill/>
            </a:ln>
          </p:spPr>
          <p:txBody>
            <a:bodyPr wrap="none" lIns="0" tIns="0" rIns="0" bIns="0" anchor="t" anchorCtr="0">
              <a:spAutoFit/>
            </a:bodyPr>
            <a:lstStyle/>
            <a:p>
              <a:pPr algn="l"/>
              <a:r>
                <a:rPr lang="en-US" sz="1350" b="1" dirty="0">
                  <a:solidFill>
                    <a:srgbClr val="C0392B"/>
                  </a:solidFill>
                  <a:latin typeface="Arial"/>
                  <a:ea typeface="Arial"/>
                  <a:cs typeface="Arial"/>
                </a:rPr>
                <a:t>-4.8% YoY</a:t>
              </a:r>
            </a:p>
          </p:txBody>
        </p:sp>
        <p:sp>
          <p:nvSpPr>
            <p:cNvPr id="14" name="Line 14"/>
            <p:cNvSpPr/>
            <p:nvPr/>
          </p:nvSpPr>
          <p:spPr>
            <a:xfrm>
              <a:off x="952500" y="3162300"/>
              <a:ext cx="1905000" cy="9525"/>
            </a:xfrm>
            <a:custGeom>
              <a:avLst/>
              <a:gdLst/>
              <a:ahLst/>
              <a:cxnLst/>
              <a:rect l="l" t="t" r="r" b="b"/>
              <a:pathLst>
                <a:path w="1905000" h="9525">
                  <a:moveTo>
                    <a:pt x="0" y="0"/>
                  </a:moveTo>
                  <a:lnTo>
                    <a:pt x="1905000" y="0"/>
                  </a:lnTo>
                </a:path>
              </a:pathLst>
            </a:custGeom>
            <a:noFill/>
            <a:ln w="9525">
              <a:solidFill>
                <a:srgbClr val="E8E2DA"/>
              </a:solidFill>
            </a:ln>
          </p:spPr>
        </p:sp>
        <p:sp>
          <p:nvSpPr>
            <p:cNvPr id="15" name="TextBox 15"/>
            <p:cNvSpPr txBox="1"/>
            <p:nvPr/>
          </p:nvSpPr>
          <p:spPr>
            <a:xfrm>
              <a:off x="947738" y="3236595"/>
              <a:ext cx="1857185"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管理服务72%·集成转售28%（估）</a:t>
              </a:r>
            </a:p>
          </p:txBody>
        </p:sp>
        <p:sp>
          <p:nvSpPr>
            <p:cNvPr id="16" name="TextBox 16"/>
            <p:cNvSpPr txBox="1"/>
            <p:nvPr/>
          </p:nvSpPr>
          <p:spPr>
            <a:xfrm>
              <a:off x="947738" y="3408045"/>
              <a:ext cx="1462507"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固定2,715+移动912(M€)</a:t>
              </a:r>
            </a:p>
          </p:txBody>
        </p:sp>
        <p:sp>
          <p:nvSpPr>
            <p:cNvPr id="17" name="TextBox 17"/>
            <p:cNvSpPr txBox="1"/>
            <p:nvPr/>
          </p:nvSpPr>
          <p:spPr>
            <a:xfrm>
              <a:off x="947738" y="3579495"/>
              <a:ext cx="1221105"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收入官方，拆分为估算</a:t>
              </a:r>
            </a:p>
          </p:txBody>
        </p:sp>
        <p:sp>
          <p:nvSpPr>
            <p:cNvPr id="18" name="Rectangle 18"/>
            <p:cNvSpPr/>
            <p:nvPr/>
          </p:nvSpPr>
          <p:spPr>
            <a:xfrm>
              <a:off x="3333750" y="1333500"/>
              <a:ext cx="2571750" cy="2476500"/>
            </a:xfrm>
            <a:prstGeom prst="roundRect">
              <a:avLst>
                <a:gd name="adj" fmla="val 1538"/>
              </a:avLst>
            </a:prstGeom>
            <a:solidFill>
              <a:srgbClr val="FBF6F1"/>
            </a:solidFill>
            <a:ln w="9525">
              <a:solidFill>
                <a:srgbClr val="E8E2DA"/>
              </a:solidFill>
            </a:ln>
          </p:spPr>
        </p:sp>
        <p:sp>
          <p:nvSpPr>
            <p:cNvPr id="19" name="Rectangle 19"/>
            <p:cNvSpPr/>
            <p:nvPr/>
          </p:nvSpPr>
          <p:spPr>
            <a:xfrm>
              <a:off x="3562350" y="1562100"/>
              <a:ext cx="57150" cy="419100"/>
            </a:xfrm>
            <a:prstGeom prst="rect">
              <a:avLst/>
            </a:prstGeom>
            <a:solidFill>
              <a:srgbClr val="E9002F"/>
            </a:solidFill>
            <a:ln>
              <a:noFill/>
            </a:ln>
          </p:spPr>
        </p:sp>
        <p:sp>
          <p:nvSpPr>
            <p:cNvPr id="20" name="TextBox 20"/>
            <p:cNvSpPr txBox="1"/>
            <p:nvPr/>
          </p:nvSpPr>
          <p:spPr>
            <a:xfrm>
              <a:off x="3745230" y="1600200"/>
              <a:ext cx="1534830" cy="293370"/>
            </a:xfrm>
            <a:prstGeom prst="rect">
              <a:avLst/>
            </a:prstGeom>
            <a:noFill/>
            <a:ln>
              <a:noFill/>
            </a:ln>
          </p:spPr>
          <p:txBody>
            <a:bodyPr wrap="none" lIns="0" tIns="0" rIns="0" bIns="0" anchor="t" anchorCtr="0">
              <a:spAutoFit/>
            </a:bodyPr>
            <a:lstStyle/>
            <a:p>
              <a:pPr algn="l"/>
              <a:r>
                <a:rPr lang="en-US" sz="1500" b="1" dirty="0">
                  <a:solidFill>
                    <a:srgbClr val="1A1A1A"/>
                  </a:solidFill>
                  <a:latin typeface="Arial"/>
                  <a:ea typeface="Arial"/>
                  <a:cs typeface="Arial"/>
                </a:rPr>
                <a:t>Orange Europe</a:t>
              </a:r>
            </a:p>
          </p:txBody>
        </p:sp>
        <p:sp>
          <p:nvSpPr>
            <p:cNvPr id="21" name="TextBox 21"/>
            <p:cNvSpPr txBox="1"/>
            <p:nvPr/>
          </p:nvSpPr>
          <p:spPr>
            <a:xfrm>
              <a:off x="3746754" y="1832610"/>
              <a:ext cx="2299411"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欧洲其他国家+西班牙（OEU）</a:t>
              </a:r>
            </a:p>
          </p:txBody>
        </p:sp>
        <p:sp>
          <p:nvSpPr>
            <p:cNvPr id="22" name="TextBox 22"/>
            <p:cNvSpPr txBox="1"/>
            <p:nvPr/>
          </p:nvSpPr>
          <p:spPr>
            <a:xfrm>
              <a:off x="3736086" y="2358390"/>
              <a:ext cx="546632" cy="645414"/>
            </a:xfrm>
            <a:prstGeom prst="rect">
              <a:avLst/>
            </a:prstGeom>
            <a:noFill/>
            <a:ln>
              <a:noFill/>
            </a:ln>
          </p:spPr>
          <p:txBody>
            <a:bodyPr wrap="none" lIns="0" tIns="0" rIns="0" bIns="0" anchor="t" anchorCtr="0">
              <a:spAutoFit/>
            </a:bodyPr>
            <a:lstStyle/>
            <a:p>
              <a:pPr algn="l"/>
              <a:r>
                <a:rPr lang="en-US" sz="3300" b="1" dirty="0">
                  <a:solidFill>
                    <a:srgbClr val="E9002F"/>
                  </a:solidFill>
                  <a:latin typeface="Arial"/>
                  <a:ea typeface="Arial"/>
                  <a:cs typeface="Arial"/>
                </a:rPr>
                <a:t>27</a:t>
              </a:r>
            </a:p>
          </p:txBody>
        </p:sp>
        <p:sp>
          <p:nvSpPr>
            <p:cNvPr id="23" name="TextBox 23"/>
            <p:cNvSpPr txBox="1"/>
            <p:nvPr/>
          </p:nvSpPr>
          <p:spPr>
            <a:xfrm>
              <a:off x="4277868" y="2536508"/>
              <a:ext cx="378269" cy="322707"/>
            </a:xfrm>
            <a:prstGeom prst="rect">
              <a:avLst/>
            </a:prstGeom>
            <a:noFill/>
            <a:ln>
              <a:noFill/>
            </a:ln>
          </p:spPr>
          <p:txBody>
            <a:bodyPr wrap="none" lIns="0" tIns="0" rIns="0" bIns="0" anchor="t" anchorCtr="0">
              <a:spAutoFit/>
            </a:bodyPr>
            <a:lstStyle/>
            <a:p>
              <a:pPr algn="l"/>
              <a:r>
                <a:rPr lang="zh-CN" sz="1650" b="1" dirty="0">
                  <a:solidFill>
                    <a:srgbClr val="6B6B6B"/>
                  </a:solidFill>
                  <a:latin typeface="Arial"/>
                  <a:ea typeface="Microsoft YaHei"/>
                  <a:cs typeface="Arial"/>
                </a:rPr>
                <a:t>亿€</a:t>
              </a:r>
            </a:p>
          </p:txBody>
        </p:sp>
        <p:sp>
          <p:nvSpPr>
            <p:cNvPr id="24" name="TextBox 24"/>
            <p:cNvSpPr txBox="1"/>
            <p:nvPr/>
          </p:nvSpPr>
          <p:spPr>
            <a:xfrm>
              <a:off x="3745992" y="2902268"/>
              <a:ext cx="586188" cy="264033"/>
            </a:xfrm>
            <a:prstGeom prst="rect">
              <a:avLst/>
            </a:prstGeom>
            <a:noFill/>
            <a:ln>
              <a:noFill/>
            </a:ln>
          </p:spPr>
          <p:txBody>
            <a:bodyPr wrap="none" lIns="0" tIns="0" rIns="0" bIns="0" anchor="t" anchorCtr="0">
              <a:spAutoFit/>
            </a:bodyPr>
            <a:lstStyle/>
            <a:p>
              <a:pPr algn="l"/>
              <a:r>
                <a:rPr lang="zh-CN" sz="1350" b="1" dirty="0">
                  <a:solidFill>
                    <a:srgbClr val="6B6B6B"/>
                  </a:solidFill>
                  <a:latin typeface="Arial"/>
                  <a:ea typeface="Microsoft YaHei"/>
                  <a:cs typeface="Arial"/>
                </a:rPr>
                <a:t>（估）</a:t>
              </a:r>
            </a:p>
          </p:txBody>
        </p:sp>
        <p:sp>
          <p:nvSpPr>
            <p:cNvPr id="25" name="Line 25"/>
            <p:cNvSpPr/>
            <p:nvPr/>
          </p:nvSpPr>
          <p:spPr>
            <a:xfrm>
              <a:off x="3752850" y="3162300"/>
              <a:ext cx="1905000" cy="9525"/>
            </a:xfrm>
            <a:custGeom>
              <a:avLst/>
              <a:gdLst/>
              <a:ahLst/>
              <a:cxnLst/>
              <a:rect l="l" t="t" r="r" b="b"/>
              <a:pathLst>
                <a:path w="1905000" h="9525">
                  <a:moveTo>
                    <a:pt x="0" y="0"/>
                  </a:moveTo>
                  <a:lnTo>
                    <a:pt x="1905000" y="0"/>
                  </a:lnTo>
                </a:path>
              </a:pathLst>
            </a:custGeom>
            <a:noFill/>
            <a:ln w="9525">
              <a:solidFill>
                <a:srgbClr val="E8E2DA"/>
              </a:solidFill>
            </a:ln>
          </p:spPr>
        </p:sp>
        <p:sp>
          <p:nvSpPr>
            <p:cNvPr id="26" name="TextBox 26"/>
            <p:cNvSpPr txBox="1"/>
            <p:nvPr/>
          </p:nvSpPr>
          <p:spPr>
            <a:xfrm>
              <a:off x="3748088" y="3236595"/>
              <a:ext cx="1020851"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波兰ICT占B2B36%</a:t>
              </a:r>
            </a:p>
          </p:txBody>
        </p:sp>
        <p:sp>
          <p:nvSpPr>
            <p:cNvPr id="27" name="TextBox 27"/>
            <p:cNvSpPr txBox="1"/>
            <p:nvPr/>
          </p:nvSpPr>
          <p:spPr>
            <a:xfrm>
              <a:off x="3748088" y="3408045"/>
              <a:ext cx="1040054"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罗马尼亚B2B+14%</a:t>
              </a:r>
            </a:p>
          </p:txBody>
        </p:sp>
        <p:sp>
          <p:nvSpPr>
            <p:cNvPr id="28" name="TextBox 28"/>
            <p:cNvSpPr txBox="1"/>
            <p:nvPr/>
          </p:nvSpPr>
          <p:spPr>
            <a:xfrm>
              <a:off x="3748088" y="3579495"/>
              <a:ext cx="1487653"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19亿不含西班牙+8亿西班牙</a:t>
              </a:r>
            </a:p>
          </p:txBody>
        </p:sp>
        <p:sp>
          <p:nvSpPr>
            <p:cNvPr id="29" name="Rectangle 29"/>
            <p:cNvSpPr/>
            <p:nvPr/>
          </p:nvSpPr>
          <p:spPr>
            <a:xfrm>
              <a:off x="6134100" y="1333500"/>
              <a:ext cx="2571750" cy="2476500"/>
            </a:xfrm>
            <a:prstGeom prst="roundRect">
              <a:avLst>
                <a:gd name="adj" fmla="val 1538"/>
              </a:avLst>
            </a:prstGeom>
            <a:solidFill>
              <a:srgbClr val="FBF6F1"/>
            </a:solidFill>
            <a:ln w="9525">
              <a:solidFill>
                <a:srgbClr val="E8E2DA"/>
              </a:solidFill>
            </a:ln>
          </p:spPr>
        </p:sp>
        <p:sp>
          <p:nvSpPr>
            <p:cNvPr id="30" name="Rectangle 30"/>
            <p:cNvSpPr/>
            <p:nvPr/>
          </p:nvSpPr>
          <p:spPr>
            <a:xfrm>
              <a:off x="6362700" y="1562100"/>
              <a:ext cx="57150" cy="419100"/>
            </a:xfrm>
            <a:prstGeom prst="rect">
              <a:avLst/>
            </a:prstGeom>
            <a:solidFill>
              <a:srgbClr val="F4A100"/>
            </a:solidFill>
            <a:ln>
              <a:noFill/>
            </a:ln>
          </p:spPr>
        </p:sp>
        <p:sp>
          <p:nvSpPr>
            <p:cNvPr id="31" name="TextBox 31"/>
            <p:cNvSpPr txBox="1"/>
            <p:nvPr/>
          </p:nvSpPr>
          <p:spPr>
            <a:xfrm>
              <a:off x="6545580" y="1600200"/>
              <a:ext cx="1243327" cy="293370"/>
            </a:xfrm>
            <a:prstGeom prst="rect">
              <a:avLst/>
            </a:prstGeom>
            <a:noFill/>
            <a:ln>
              <a:noFill/>
            </a:ln>
          </p:spPr>
          <p:txBody>
            <a:bodyPr wrap="none" lIns="0" tIns="0" rIns="0" bIns="0" anchor="t" anchorCtr="0">
              <a:spAutoFit/>
            </a:bodyPr>
            <a:lstStyle/>
            <a:p>
              <a:pPr algn="l"/>
              <a:r>
                <a:rPr lang="en-US" sz="1500" b="1" dirty="0">
                  <a:solidFill>
                    <a:srgbClr val="1A1A1A"/>
                  </a:solidFill>
                  <a:latin typeface="Arial"/>
                  <a:ea typeface="Arial"/>
                  <a:cs typeface="Arial"/>
                </a:rPr>
                <a:t>Orange MEA</a:t>
              </a:r>
            </a:p>
          </p:txBody>
        </p:sp>
        <p:sp>
          <p:nvSpPr>
            <p:cNvPr id="32" name="TextBox 32"/>
            <p:cNvSpPr txBox="1"/>
            <p:nvPr/>
          </p:nvSpPr>
          <p:spPr>
            <a:xfrm>
              <a:off x="6547104" y="1832610"/>
              <a:ext cx="1650797"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中东与非洲（OMEA）</a:t>
              </a:r>
            </a:p>
          </p:txBody>
        </p:sp>
        <p:sp>
          <p:nvSpPr>
            <p:cNvPr id="33" name="TextBox 33"/>
            <p:cNvSpPr txBox="1"/>
            <p:nvPr/>
          </p:nvSpPr>
          <p:spPr>
            <a:xfrm>
              <a:off x="6536436" y="2358390"/>
              <a:ext cx="546632" cy="645414"/>
            </a:xfrm>
            <a:prstGeom prst="rect">
              <a:avLst/>
            </a:prstGeom>
            <a:noFill/>
            <a:ln>
              <a:noFill/>
            </a:ln>
          </p:spPr>
          <p:txBody>
            <a:bodyPr wrap="none" lIns="0" tIns="0" rIns="0" bIns="0" anchor="t" anchorCtr="0">
              <a:spAutoFit/>
            </a:bodyPr>
            <a:lstStyle/>
            <a:p>
              <a:pPr algn="l"/>
              <a:r>
                <a:rPr lang="en-US" sz="3300" b="1" dirty="0">
                  <a:solidFill>
                    <a:srgbClr val="F4A100"/>
                  </a:solidFill>
                  <a:latin typeface="Arial"/>
                  <a:ea typeface="Arial"/>
                  <a:cs typeface="Arial"/>
                </a:rPr>
                <a:t>13</a:t>
              </a:r>
            </a:p>
          </p:txBody>
        </p:sp>
        <p:sp>
          <p:nvSpPr>
            <p:cNvPr id="34" name="TextBox 34"/>
            <p:cNvSpPr txBox="1"/>
            <p:nvPr/>
          </p:nvSpPr>
          <p:spPr>
            <a:xfrm>
              <a:off x="7078218" y="2536508"/>
              <a:ext cx="378269" cy="322707"/>
            </a:xfrm>
            <a:prstGeom prst="rect">
              <a:avLst/>
            </a:prstGeom>
            <a:noFill/>
            <a:ln>
              <a:noFill/>
            </a:ln>
          </p:spPr>
          <p:txBody>
            <a:bodyPr wrap="none" lIns="0" tIns="0" rIns="0" bIns="0" anchor="t" anchorCtr="0">
              <a:spAutoFit/>
            </a:bodyPr>
            <a:lstStyle/>
            <a:p>
              <a:pPr algn="l"/>
              <a:r>
                <a:rPr lang="zh-CN" sz="1650" b="1" dirty="0">
                  <a:solidFill>
                    <a:srgbClr val="6B6B6B"/>
                  </a:solidFill>
                  <a:latin typeface="Arial"/>
                  <a:ea typeface="Microsoft YaHei"/>
                  <a:cs typeface="Arial"/>
                </a:rPr>
                <a:t>亿€</a:t>
              </a:r>
            </a:p>
          </p:txBody>
        </p:sp>
        <p:sp>
          <p:nvSpPr>
            <p:cNvPr id="35" name="TextBox 35"/>
            <p:cNvSpPr txBox="1"/>
            <p:nvPr/>
          </p:nvSpPr>
          <p:spPr>
            <a:xfrm>
              <a:off x="6546342" y="2902268"/>
              <a:ext cx="1215906" cy="264033"/>
            </a:xfrm>
            <a:prstGeom prst="rect">
              <a:avLst/>
            </a:prstGeom>
            <a:noFill/>
            <a:ln>
              <a:noFill/>
            </a:ln>
          </p:spPr>
          <p:txBody>
            <a:bodyPr wrap="none" lIns="0" tIns="0" rIns="0" bIns="0" anchor="t" anchorCtr="0">
              <a:spAutoFit/>
            </a:bodyPr>
            <a:lstStyle/>
            <a:p>
              <a:pPr algn="l"/>
              <a:r>
                <a:rPr lang="zh-CN" sz="1350" b="1" dirty="0">
                  <a:solidFill>
                    <a:srgbClr val="2E8B57"/>
                  </a:solidFill>
                  <a:latin typeface="Arial"/>
                  <a:ea typeface="Microsoft YaHei"/>
                  <a:cs typeface="Arial"/>
                </a:rPr>
                <a:t>2030目标20亿</a:t>
              </a:r>
            </a:p>
          </p:txBody>
        </p:sp>
        <p:sp>
          <p:nvSpPr>
            <p:cNvPr id="36" name="Line 36"/>
            <p:cNvSpPr/>
            <p:nvPr/>
          </p:nvSpPr>
          <p:spPr>
            <a:xfrm>
              <a:off x="6553200" y="3162300"/>
              <a:ext cx="1905000" cy="9525"/>
            </a:xfrm>
            <a:custGeom>
              <a:avLst/>
              <a:gdLst/>
              <a:ahLst/>
              <a:cxnLst/>
              <a:rect l="l" t="t" r="r" b="b"/>
              <a:pathLst>
                <a:path w="1905000" h="9525">
                  <a:moveTo>
                    <a:pt x="0" y="0"/>
                  </a:moveTo>
                  <a:lnTo>
                    <a:pt x="1905000" y="0"/>
                  </a:lnTo>
                </a:path>
              </a:pathLst>
            </a:custGeom>
            <a:noFill/>
            <a:ln w="9525">
              <a:solidFill>
                <a:srgbClr val="E8E2DA"/>
              </a:solidFill>
            </a:ln>
          </p:spPr>
        </p:sp>
        <p:sp>
          <p:nvSpPr>
            <p:cNvPr id="37" name="TextBox 37"/>
            <p:cNvSpPr txBox="1"/>
            <p:nvPr/>
          </p:nvSpPr>
          <p:spPr>
            <a:xfrm>
              <a:off x="6548438" y="3236595"/>
              <a:ext cx="1059256"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ICT占8.3%但+28%</a:t>
              </a:r>
            </a:p>
          </p:txBody>
        </p:sp>
        <p:sp>
          <p:nvSpPr>
            <p:cNvPr id="38" name="TextBox 38"/>
            <p:cNvSpPr txBox="1"/>
            <p:nvPr/>
          </p:nvSpPr>
          <p:spPr>
            <a:xfrm>
              <a:off x="6548438" y="3408045"/>
              <a:ext cx="1008050" cy="176212"/>
            </a:xfrm>
            <a:prstGeom prst="rect">
              <a:avLst/>
            </a:prstGeom>
            <a:noFill/>
            <a:ln>
              <a:noFill/>
            </a:ln>
          </p:spPr>
          <p:txBody>
            <a:bodyPr wrap="none" lIns="0" tIns="0" rIns="0" bIns="0" anchor="t" anchorCtr="0">
              <a:spAutoFit/>
            </a:bodyPr>
            <a:lstStyle/>
            <a:p>
              <a:pPr algn="l"/>
              <a:r>
                <a:rPr lang="en-US" sz="900" dirty="0">
                  <a:solidFill>
                    <a:srgbClr val="6B6B6B"/>
                  </a:solidFill>
                  <a:latin typeface="Arial"/>
                  <a:ea typeface="Arial"/>
                  <a:cs typeface="Arial"/>
                </a:rPr>
                <a:t>SOHO ARPA -19%</a:t>
              </a:r>
            </a:p>
          </p:txBody>
        </p:sp>
        <p:sp>
          <p:nvSpPr>
            <p:cNvPr id="39" name="TextBox 39"/>
            <p:cNvSpPr txBox="1"/>
            <p:nvPr/>
          </p:nvSpPr>
          <p:spPr>
            <a:xfrm>
              <a:off x="6548438" y="3579495"/>
              <a:ext cx="1334491"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2025基线，CAGR+9.2%</a:t>
              </a:r>
            </a:p>
          </p:txBody>
        </p:sp>
        <p:sp>
          <p:nvSpPr>
            <p:cNvPr id="40" name="Rectangle 40"/>
            <p:cNvSpPr/>
            <p:nvPr/>
          </p:nvSpPr>
          <p:spPr>
            <a:xfrm>
              <a:off x="8934450" y="1333500"/>
              <a:ext cx="2571750" cy="2476500"/>
            </a:xfrm>
            <a:prstGeom prst="roundRect">
              <a:avLst>
                <a:gd name="adj" fmla="val 1538"/>
              </a:avLst>
            </a:prstGeom>
            <a:solidFill>
              <a:srgbClr val="1A1A1A"/>
            </a:solidFill>
            <a:ln>
              <a:noFill/>
            </a:ln>
          </p:spPr>
        </p:sp>
        <p:sp>
          <p:nvSpPr>
            <p:cNvPr id="41" name="Rectangle 41"/>
            <p:cNvSpPr/>
            <p:nvPr/>
          </p:nvSpPr>
          <p:spPr>
            <a:xfrm>
              <a:off x="8934450" y="1333500"/>
              <a:ext cx="57150" cy="2476500"/>
            </a:xfrm>
            <a:prstGeom prst="rect">
              <a:avLst/>
            </a:prstGeom>
            <a:solidFill>
              <a:srgbClr val="E9002F"/>
            </a:solidFill>
            <a:ln>
              <a:noFill/>
            </a:ln>
          </p:spPr>
        </p:sp>
        <p:sp>
          <p:nvSpPr>
            <p:cNvPr id="42" name="TextBox 42"/>
            <p:cNvSpPr txBox="1"/>
            <p:nvPr/>
          </p:nvSpPr>
          <p:spPr>
            <a:xfrm>
              <a:off x="9155430" y="1600200"/>
              <a:ext cx="1075372"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三区域合计</a:t>
              </a:r>
            </a:p>
          </p:txBody>
        </p:sp>
        <p:sp>
          <p:nvSpPr>
            <p:cNvPr id="43" name="TextBox 43"/>
            <p:cNvSpPr txBox="1"/>
            <p:nvPr/>
          </p:nvSpPr>
          <p:spPr>
            <a:xfrm>
              <a:off x="9156954" y="1832610"/>
              <a:ext cx="1246632" cy="234696"/>
            </a:xfrm>
            <a:prstGeom prst="rect">
              <a:avLst/>
            </a:prstGeom>
            <a:noFill/>
            <a:ln>
              <a:noFill/>
            </a:ln>
          </p:spPr>
          <p:txBody>
            <a:bodyPr wrap="none" lIns="0" tIns="0" rIns="0" bIns="0" anchor="t" anchorCtr="0">
              <a:spAutoFit/>
            </a:bodyPr>
            <a:lstStyle/>
            <a:p>
              <a:pPr algn="l"/>
              <a:r>
                <a:rPr lang="en-US" sz="1200" dirty="0">
                  <a:solidFill>
                    <a:srgbClr val="B0B0B0"/>
                  </a:solidFill>
                  <a:latin typeface="Arial"/>
                  <a:ea typeface="Arial"/>
                  <a:cs typeface="Arial"/>
                </a:rPr>
                <a:t>Group Total B2B</a:t>
              </a:r>
            </a:p>
          </p:txBody>
        </p:sp>
        <p:sp>
          <p:nvSpPr>
            <p:cNvPr id="44" name="TextBox 44"/>
            <p:cNvSpPr txBox="1"/>
            <p:nvPr/>
          </p:nvSpPr>
          <p:spPr>
            <a:xfrm>
              <a:off x="9146286" y="2358390"/>
              <a:ext cx="803184" cy="645414"/>
            </a:xfrm>
            <a:prstGeom prst="rect">
              <a:avLst/>
            </a:prstGeom>
            <a:noFill/>
            <a:ln>
              <a:noFill/>
            </a:ln>
          </p:spPr>
          <p:txBody>
            <a:bodyPr wrap="none" lIns="0" tIns="0" rIns="0" bIns="0" anchor="t" anchorCtr="0">
              <a:spAutoFit/>
            </a:bodyPr>
            <a:lstStyle/>
            <a:p>
              <a:pPr algn="l"/>
              <a:r>
                <a:rPr lang="en-US" sz="3300" b="1" dirty="0">
                  <a:solidFill>
                    <a:srgbClr val="F4A100"/>
                  </a:solidFill>
                  <a:latin typeface="Arial"/>
                  <a:ea typeface="Arial"/>
                  <a:cs typeface="Arial"/>
                </a:rPr>
                <a:t>113</a:t>
              </a:r>
            </a:p>
          </p:txBody>
        </p:sp>
        <p:sp>
          <p:nvSpPr>
            <p:cNvPr id="45" name="TextBox 45"/>
            <p:cNvSpPr txBox="1"/>
            <p:nvPr/>
          </p:nvSpPr>
          <p:spPr>
            <a:xfrm>
              <a:off x="10040493" y="2536508"/>
              <a:ext cx="378269" cy="322707"/>
            </a:xfrm>
            <a:prstGeom prst="rect">
              <a:avLst/>
            </a:prstGeom>
            <a:noFill/>
            <a:ln>
              <a:noFill/>
            </a:ln>
          </p:spPr>
          <p:txBody>
            <a:bodyPr wrap="none" lIns="0" tIns="0" rIns="0" bIns="0" anchor="t" anchorCtr="0">
              <a:spAutoFit/>
            </a:bodyPr>
            <a:lstStyle/>
            <a:p>
              <a:pPr algn="l"/>
              <a:r>
                <a:rPr lang="zh-CN" sz="1650" b="1" dirty="0">
                  <a:solidFill>
                    <a:srgbClr val="B0B0B0"/>
                  </a:solidFill>
                  <a:latin typeface="Arial"/>
                  <a:ea typeface="Microsoft YaHei"/>
                  <a:cs typeface="Arial"/>
                </a:rPr>
                <a:t>亿€</a:t>
              </a:r>
            </a:p>
          </p:txBody>
        </p:sp>
        <p:sp>
          <p:nvSpPr>
            <p:cNvPr id="46" name="TextBox 46"/>
            <p:cNvSpPr txBox="1"/>
            <p:nvPr/>
          </p:nvSpPr>
          <p:spPr>
            <a:xfrm>
              <a:off x="9156954" y="2918460"/>
              <a:ext cx="1538783"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体量与参与度成反比</a:t>
              </a:r>
            </a:p>
          </p:txBody>
        </p:sp>
        <p:sp>
          <p:nvSpPr>
            <p:cNvPr id="47" name="TextBox 47"/>
            <p:cNvSpPr txBox="1"/>
            <p:nvPr/>
          </p:nvSpPr>
          <p:spPr>
            <a:xfrm>
              <a:off x="9158288" y="3236595"/>
              <a:ext cx="1081773"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占集团总收入约28%</a:t>
              </a:r>
            </a:p>
          </p:txBody>
        </p:sp>
        <p:sp>
          <p:nvSpPr>
            <p:cNvPr id="48" name="TextBox 48"/>
            <p:cNvSpPr txBox="1"/>
            <p:nvPr/>
          </p:nvSpPr>
          <p:spPr>
            <a:xfrm>
              <a:off x="9158288" y="3408045"/>
              <a:ext cx="1396784"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7,325+2,700(估)+1,300</a:t>
              </a:r>
            </a:p>
          </p:txBody>
        </p:sp>
        <p:sp>
          <p:nvSpPr>
            <p:cNvPr id="49" name="TextBox 49"/>
            <p:cNvSpPr txBox="1"/>
            <p:nvPr/>
          </p:nvSpPr>
          <p:spPr>
            <a:xfrm>
              <a:off x="9158288" y="3579495"/>
              <a:ext cx="1705737"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(M€，403.96亿€集团总收入)</a:t>
              </a:r>
            </a:p>
          </p:txBody>
        </p:sp>
      </p:grpSp>
      <p:grpSp>
        <p:nvGrpSpPr>
          <p:cNvPr id="71" name="Group 71"/>
          <p:cNvGrpSpPr/>
          <p:nvPr/>
        </p:nvGrpSpPr>
        <p:grpSpPr>
          <a:xfrm>
            <a:off x="525780" y="4048125"/>
            <a:ext cx="11222584" cy="2257425"/>
            <a:chOff x="525780" y="4048125"/>
            <a:chExt cx="11222584" cy="2257425"/>
          </a:xfrm>
        </p:grpSpPr>
        <p:sp>
          <p:nvSpPr>
            <p:cNvPr id="51" name="Line 51"/>
            <p:cNvSpPr/>
            <p:nvPr/>
          </p:nvSpPr>
          <p:spPr>
            <a:xfrm>
              <a:off x="533400" y="4048125"/>
              <a:ext cx="11125200" cy="9525"/>
            </a:xfrm>
            <a:custGeom>
              <a:avLst/>
              <a:gdLst/>
              <a:ahLst/>
              <a:cxnLst/>
              <a:rect l="l" t="t" r="r" b="b"/>
              <a:pathLst>
                <a:path w="11125200" h="9525">
                  <a:moveTo>
                    <a:pt x="0" y="0"/>
                  </a:moveTo>
                  <a:lnTo>
                    <a:pt x="11125200" y="0"/>
                  </a:lnTo>
                </a:path>
              </a:pathLst>
            </a:custGeom>
            <a:noFill/>
            <a:ln w="9525">
              <a:solidFill>
                <a:srgbClr val="E8E2DA"/>
              </a:solidFill>
            </a:ln>
          </p:spPr>
        </p:sp>
        <p:sp>
          <p:nvSpPr>
            <p:cNvPr id="52" name="TextBox 52"/>
            <p:cNvSpPr txBox="1"/>
            <p:nvPr/>
          </p:nvSpPr>
          <p:spPr>
            <a:xfrm>
              <a:off x="525780" y="4143375"/>
              <a:ext cx="2251520" cy="293370"/>
            </a:xfrm>
            <a:prstGeom prst="rect">
              <a:avLst/>
            </a:prstGeom>
            <a:noFill/>
            <a:ln>
              <a:noFill/>
            </a:ln>
          </p:spPr>
          <p:txBody>
            <a:bodyPr wrap="none" lIns="0" tIns="0" rIns="0" bIns="0" anchor="t" anchorCtr="0">
              <a:spAutoFit/>
            </a:bodyPr>
            <a:lstStyle/>
            <a:p>
              <a:pPr algn="l"/>
              <a:r>
                <a:rPr lang="en-US" sz="1500" b="1" dirty="0">
                  <a:solidFill>
                    <a:srgbClr val="C7000A"/>
                  </a:solidFill>
                  <a:latin typeface="Arial"/>
                  <a:ea typeface="Arial"/>
                  <a:cs typeface="Arial"/>
                </a:rPr>
                <a:t>OB · Orange Business</a:t>
              </a:r>
            </a:p>
          </p:txBody>
        </p:sp>
        <p:sp>
          <p:nvSpPr>
            <p:cNvPr id="53" name="TextBox 53"/>
            <p:cNvSpPr txBox="1"/>
            <p:nvPr/>
          </p:nvSpPr>
          <p:spPr>
            <a:xfrm>
              <a:off x="526923" y="4415314"/>
              <a:ext cx="1480480"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法国总部+全球跨国</a:t>
              </a:r>
            </a:p>
          </p:txBody>
        </p:sp>
        <p:sp>
          <p:nvSpPr>
            <p:cNvPr id="54" name="TextBox 54"/>
            <p:cNvSpPr txBox="1"/>
            <p:nvPr/>
          </p:nvSpPr>
          <p:spPr>
            <a:xfrm>
              <a:off x="526923" y="4624864"/>
              <a:ext cx="1699565"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企业服务，FY2025收</a:t>
              </a:r>
            </a:p>
          </p:txBody>
        </p:sp>
        <p:sp>
          <p:nvSpPr>
            <p:cNvPr id="55" name="TextBox 55"/>
            <p:cNvSpPr txBox="1"/>
            <p:nvPr/>
          </p:nvSpPr>
          <p:spPr>
            <a:xfrm>
              <a:off x="526923" y="4834414"/>
              <a:ext cx="1826514"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入7,325M€（-4.8%）</a:t>
              </a:r>
            </a:p>
          </p:txBody>
        </p:sp>
        <p:sp>
          <p:nvSpPr>
            <p:cNvPr id="56" name="TextBox 56"/>
            <p:cNvSpPr txBox="1"/>
            <p:nvPr/>
          </p:nvSpPr>
          <p:spPr>
            <a:xfrm>
              <a:off x="528066" y="5068252"/>
              <a:ext cx="3363620" cy="205359"/>
            </a:xfrm>
            <a:prstGeom prst="rect">
              <a:avLst/>
            </a:prstGeom>
            <a:noFill/>
            <a:ln>
              <a:noFill/>
            </a:ln>
          </p:spPr>
          <p:txBody>
            <a:bodyPr wrap="none" lIns="0" tIns="0" rIns="0" bIns="0" anchor="t" anchorCtr="0">
              <a:spAutoFit/>
            </a:bodyPr>
            <a:lstStyle/>
            <a:p>
              <a:pPr algn="l"/>
              <a:r>
                <a:rPr lang="zh-CN" sz="1050" dirty="0">
                  <a:solidFill>
                    <a:srgbClr val="9B9B9B"/>
                  </a:solidFill>
                  <a:latin typeface="Arial"/>
                  <a:ea typeface="Microsoft YaHei"/>
                  <a:cs typeface="Arial"/>
                </a:rPr>
                <a:t>占集团总收入18.1%，占集团B2B整体约73%（估）</a:t>
              </a:r>
            </a:p>
          </p:txBody>
        </p:sp>
        <p:sp>
          <p:nvSpPr>
            <p:cNvPr id="57" name="TextBox 57"/>
            <p:cNvSpPr txBox="1"/>
            <p:nvPr/>
          </p:nvSpPr>
          <p:spPr>
            <a:xfrm>
              <a:off x="4278630" y="4143375"/>
              <a:ext cx="2197113" cy="293370"/>
            </a:xfrm>
            <a:prstGeom prst="rect">
              <a:avLst/>
            </a:prstGeom>
            <a:noFill/>
            <a:ln>
              <a:noFill/>
            </a:ln>
          </p:spPr>
          <p:txBody>
            <a:bodyPr wrap="none" lIns="0" tIns="0" rIns="0" bIns="0" anchor="t" anchorCtr="0">
              <a:spAutoFit/>
            </a:bodyPr>
            <a:lstStyle/>
            <a:p>
              <a:pPr algn="l"/>
              <a:r>
                <a:rPr lang="en-US" sz="1500" b="1" dirty="0">
                  <a:solidFill>
                    <a:srgbClr val="E9002F"/>
                  </a:solidFill>
                  <a:latin typeface="Arial"/>
                  <a:ea typeface="Arial"/>
                  <a:cs typeface="Arial"/>
                </a:rPr>
                <a:t>OEU · Orange Europe</a:t>
              </a:r>
            </a:p>
          </p:txBody>
        </p:sp>
        <p:sp>
          <p:nvSpPr>
            <p:cNvPr id="58" name="TextBox 58"/>
            <p:cNvSpPr txBox="1"/>
            <p:nvPr/>
          </p:nvSpPr>
          <p:spPr>
            <a:xfrm>
              <a:off x="4279773" y="4415314"/>
              <a:ext cx="1574883"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比利时/波兰/罗马尼</a:t>
              </a:r>
            </a:p>
          </p:txBody>
        </p:sp>
        <p:sp>
          <p:nvSpPr>
            <p:cNvPr id="59" name="TextBox 59"/>
            <p:cNvSpPr txBox="1"/>
            <p:nvPr/>
          </p:nvSpPr>
          <p:spPr>
            <a:xfrm>
              <a:off x="4279773" y="4624864"/>
              <a:ext cx="1669285"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亚/斯洛伐克/卢森堡/</a:t>
              </a:r>
            </a:p>
          </p:txBody>
        </p:sp>
        <p:sp>
          <p:nvSpPr>
            <p:cNvPr id="60" name="TextBox 60"/>
            <p:cNvSpPr txBox="1"/>
            <p:nvPr/>
          </p:nvSpPr>
          <p:spPr>
            <a:xfrm>
              <a:off x="4279773" y="4834414"/>
              <a:ext cx="1308840"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摩尔多瓦+西班牙</a:t>
              </a:r>
            </a:p>
          </p:txBody>
        </p:sp>
        <p:sp>
          <p:nvSpPr>
            <p:cNvPr id="61" name="TextBox 61"/>
            <p:cNvSpPr txBox="1"/>
            <p:nvPr/>
          </p:nvSpPr>
          <p:spPr>
            <a:xfrm>
              <a:off x="4280916" y="5068252"/>
              <a:ext cx="3520440" cy="205359"/>
            </a:xfrm>
            <a:prstGeom prst="rect">
              <a:avLst/>
            </a:prstGeom>
            <a:noFill/>
            <a:ln>
              <a:noFill/>
            </a:ln>
          </p:spPr>
          <p:txBody>
            <a:bodyPr wrap="none" lIns="0" tIns="0" rIns="0" bIns="0" anchor="t" anchorCtr="0">
              <a:spAutoFit/>
            </a:bodyPr>
            <a:lstStyle/>
            <a:p>
              <a:pPr algn="l"/>
              <a:r>
                <a:rPr lang="zh-CN" sz="1050" dirty="0">
                  <a:solidFill>
                    <a:srgbClr val="9B9B9B"/>
                  </a:solidFill>
                  <a:latin typeface="Arial"/>
                  <a:ea typeface="Microsoft YaHei"/>
                  <a:cs typeface="Arial"/>
                </a:rPr>
                <a:t>B2B合计约27亿€（估，19亿不含西班牙+8亿西班牙）</a:t>
              </a:r>
            </a:p>
          </p:txBody>
        </p:sp>
        <p:sp>
          <p:nvSpPr>
            <p:cNvPr id="62" name="TextBox 62"/>
            <p:cNvSpPr txBox="1"/>
            <p:nvPr/>
          </p:nvSpPr>
          <p:spPr>
            <a:xfrm>
              <a:off x="8031480" y="4143375"/>
              <a:ext cx="2923493" cy="293370"/>
            </a:xfrm>
            <a:prstGeom prst="rect">
              <a:avLst/>
            </a:prstGeom>
            <a:noFill/>
            <a:ln>
              <a:noFill/>
            </a:ln>
          </p:spPr>
          <p:txBody>
            <a:bodyPr wrap="none" lIns="0" tIns="0" rIns="0" bIns="0" anchor="t" anchorCtr="0">
              <a:spAutoFit/>
            </a:bodyPr>
            <a:lstStyle/>
            <a:p>
              <a:pPr algn="l"/>
              <a:r>
                <a:rPr lang="en-US" sz="1500" b="1" dirty="0">
                  <a:solidFill>
                    <a:srgbClr val="F4A100"/>
                  </a:solidFill>
                  <a:latin typeface="Arial"/>
                  <a:ea typeface="Arial"/>
                  <a:cs typeface="Arial"/>
                </a:rPr>
                <a:t>OMEA · Middle East &amp; Africa</a:t>
              </a:r>
            </a:p>
          </p:txBody>
        </p:sp>
        <p:sp>
          <p:nvSpPr>
            <p:cNvPr id="63" name="TextBox 63"/>
            <p:cNvSpPr txBox="1"/>
            <p:nvPr/>
          </p:nvSpPr>
          <p:spPr>
            <a:xfrm>
              <a:off x="8032623" y="4415314"/>
              <a:ext cx="1386078"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中东与非洲全境，</a:t>
              </a:r>
            </a:p>
          </p:txBody>
        </p:sp>
        <p:sp>
          <p:nvSpPr>
            <p:cNvPr id="64" name="TextBox 64"/>
            <p:cNvSpPr txBox="1"/>
            <p:nvPr/>
          </p:nvSpPr>
          <p:spPr>
            <a:xfrm>
              <a:off x="8032623" y="4624864"/>
              <a:ext cx="1336853"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B2B总收入13亿€</a:t>
              </a:r>
            </a:p>
          </p:txBody>
        </p:sp>
        <p:sp>
          <p:nvSpPr>
            <p:cNvPr id="65" name="TextBox 65"/>
            <p:cNvSpPr txBox="1"/>
            <p:nvPr/>
          </p:nvSpPr>
          <p:spPr>
            <a:xfrm>
              <a:off x="8032623" y="4834414"/>
              <a:ext cx="1626375" cy="249364"/>
            </a:xfrm>
            <a:prstGeom prst="rect">
              <a:avLst/>
            </a:prstGeom>
            <a:noFill/>
            <a:ln>
              <a:noFill/>
            </a:ln>
          </p:spPr>
          <p:txBody>
            <a:bodyPr wrap="none" lIns="0" tIns="0" rIns="0" bIns="0" anchor="t" anchorCtr="0">
              <a:spAutoFit/>
            </a:bodyPr>
            <a:lstStyle/>
            <a:p>
              <a:pPr algn="l"/>
              <a:r>
                <a:rPr lang="zh-CN" sz="1280" dirty="0">
                  <a:solidFill>
                    <a:srgbClr val="1A1A1A"/>
                  </a:solidFill>
                  <a:latin typeface="Arial"/>
                  <a:ea typeface="Microsoft YaHei"/>
                  <a:cs typeface="Arial"/>
                </a:rPr>
                <a:t>（2025基线），2030</a:t>
              </a:r>
            </a:p>
          </p:txBody>
        </p:sp>
        <p:sp>
          <p:nvSpPr>
            <p:cNvPr id="66" name="TextBox 66"/>
            <p:cNvSpPr txBox="1"/>
            <p:nvPr/>
          </p:nvSpPr>
          <p:spPr>
            <a:xfrm>
              <a:off x="8033766" y="5068252"/>
              <a:ext cx="3714598" cy="205359"/>
            </a:xfrm>
            <a:prstGeom prst="rect">
              <a:avLst/>
            </a:prstGeom>
            <a:noFill/>
            <a:ln>
              <a:noFill/>
            </a:ln>
          </p:spPr>
          <p:txBody>
            <a:bodyPr wrap="none" lIns="0" tIns="0" rIns="0" bIns="0" anchor="t" anchorCtr="0">
              <a:spAutoFit/>
            </a:bodyPr>
            <a:lstStyle/>
            <a:p>
              <a:pPr algn="l"/>
              <a:r>
                <a:rPr lang="zh-CN" sz="1050" dirty="0">
                  <a:solidFill>
                    <a:srgbClr val="9B9B9B"/>
                  </a:solidFill>
                  <a:latin typeface="Arial"/>
                  <a:ea typeface="Microsoft YaHei"/>
                  <a:cs typeface="Arial"/>
                </a:rPr>
                <a:t>目标20亿€（+9.2%）；Q1'26季度3.27亿€/+8.6%验证</a:t>
              </a:r>
            </a:p>
          </p:txBody>
        </p:sp>
        <p:sp>
          <p:nvSpPr>
            <p:cNvPr id="67" name="Rectangle 67"/>
            <p:cNvSpPr/>
            <p:nvPr/>
          </p:nvSpPr>
          <p:spPr>
            <a:xfrm>
              <a:off x="533400" y="5486400"/>
              <a:ext cx="11125200" cy="819150"/>
            </a:xfrm>
            <a:prstGeom prst="roundRect">
              <a:avLst>
                <a:gd name="adj" fmla="val 4651"/>
              </a:avLst>
            </a:prstGeom>
            <a:solidFill>
              <a:srgbClr val="FBF6F1"/>
            </a:solidFill>
            <a:ln w="9525">
              <a:solidFill>
                <a:srgbClr val="E8E2DA"/>
              </a:solidFill>
            </a:ln>
          </p:spPr>
        </p:sp>
        <p:sp>
          <p:nvSpPr>
            <p:cNvPr id="68" name="TextBox 68"/>
            <p:cNvSpPr txBox="1"/>
            <p:nvPr/>
          </p:nvSpPr>
          <p:spPr>
            <a:xfrm>
              <a:off x="755523" y="5634514"/>
              <a:ext cx="9743610"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核心结论：三区域体量与华为参与度呈反比——</a:t>
              </a:r>
              <a:r>
                <a:rPr lang="zh-CN" sz="1280" b="1" dirty="0">
                  <a:solidFill>
                    <a:srgbClr val="C7000A"/>
                  </a:solidFill>
                  <a:latin typeface="Arial"/>
                  <a:ea typeface="Microsoft YaHei"/>
                  <a:cs typeface="Arial"/>
                </a:rPr>
                <a:t>OB(73亿€)华为缺席</a:t>
              </a:r>
              <a:r>
                <a:rPr lang="zh-CN" sz="1280" b="1" dirty="0">
                  <a:solidFill>
                    <a:srgbClr val="1A1A1A"/>
                  </a:solidFill>
                  <a:latin typeface="Arial"/>
                  <a:ea typeface="Microsoft YaHei"/>
                  <a:cs typeface="Arial"/>
                </a:rPr>
                <a:t>，</a:t>
              </a:r>
              <a:r>
                <a:rPr lang="zh-CN" sz="1280" b="1" dirty="0">
                  <a:solidFill>
                    <a:srgbClr val="E9002F"/>
                  </a:solidFill>
                  <a:latin typeface="Arial"/>
                  <a:ea typeface="Microsoft YaHei"/>
                  <a:cs typeface="Arial"/>
                </a:rPr>
                <a:t>OEU(27亿€)法律排除</a:t>
              </a:r>
              <a:r>
                <a:rPr lang="zh-CN" sz="1280" b="1" dirty="0">
                  <a:solidFill>
                    <a:srgbClr val="1A1A1A"/>
                  </a:solidFill>
                  <a:latin typeface="Arial"/>
                  <a:ea typeface="Microsoft YaHei"/>
                  <a:cs typeface="Arial"/>
                </a:rPr>
                <a:t>，</a:t>
              </a:r>
              <a:r>
                <a:rPr lang="zh-CN" sz="1280" b="1" dirty="0">
                  <a:solidFill>
                    <a:srgbClr val="F4A100"/>
                  </a:solidFill>
                  <a:latin typeface="Arial"/>
                  <a:ea typeface="Microsoft YaHei"/>
                  <a:cs typeface="Arial"/>
                </a:rPr>
                <a:t>OMEA(13亿€)深度绑定</a:t>
              </a:r>
            </a:p>
          </p:txBody>
        </p:sp>
        <p:sp>
          <p:nvSpPr>
            <p:cNvPr id="69" name="TextBox 69"/>
            <p:cNvSpPr txBox="1"/>
            <p:nvPr/>
          </p:nvSpPr>
          <p:spPr>
            <a:xfrm>
              <a:off x="756285" y="5898356"/>
              <a:ext cx="7935528"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体量最小的OMEA恰恰是华为最应聚焦的战略阵地；三区域B2B合计占Orange集团总收入约28%（113/403.96亿€）</a:t>
              </a:r>
            </a:p>
          </p:txBody>
        </p:sp>
        <p:sp>
          <p:nvSpPr>
            <p:cNvPr id="70" name="TextBox 70"/>
            <p:cNvSpPr txBox="1"/>
            <p:nvPr/>
          </p:nvSpPr>
          <p:spPr>
            <a:xfrm>
              <a:off x="757238" y="6113145"/>
              <a:ext cx="6161065"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数据来源：Orange FY2025财报(2026.2.18)、OMEA战略材料(2026.4)、公开市场调研；估算项已标注（估）</a:t>
              </a:r>
            </a:p>
          </p:txBody>
        </p:sp>
      </p:grpSp>
      <p:grpSp>
        <p:nvGrpSpPr>
          <p:cNvPr id="74" name="Group 74"/>
          <p:cNvGrpSpPr/>
          <p:nvPr/>
        </p:nvGrpSpPr>
        <p:grpSpPr>
          <a:xfrm>
            <a:off x="528447" y="6562249"/>
            <a:ext cx="11135106" cy="190690"/>
            <a:chOff x="528447" y="6562249"/>
            <a:chExt cx="11135106" cy="190690"/>
          </a:xfrm>
        </p:grpSpPr>
        <p:sp>
          <p:nvSpPr>
            <p:cNvPr id="72" name="TextBox 72"/>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73" name="TextBox 73"/>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22732" y="325755"/>
            <a:ext cx="11135868" cy="445770"/>
            <a:chOff x="522732" y="325755"/>
            <a:chExt cx="11135868" cy="445770"/>
          </a:xfrm>
        </p:grpSpPr>
        <p:sp>
          <p:nvSpPr>
            <p:cNvPr id="3" name="TextBox 3"/>
            <p:cNvSpPr txBox="1"/>
            <p:nvPr/>
          </p:nvSpPr>
          <p:spPr>
            <a:xfrm>
              <a:off x="522732" y="325755"/>
              <a:ext cx="9618696" cy="410718"/>
            </a:xfrm>
            <a:prstGeom prst="rect">
              <a:avLst/>
            </a:prstGeom>
            <a:noFill/>
            <a:ln>
              <a:noFill/>
            </a:ln>
          </p:spPr>
          <p:txBody>
            <a:bodyPr wrap="none" lIns="0" tIns="0" rIns="0" bIns="0" anchor="t" anchorCtr="0">
              <a:spAutoFit/>
            </a:bodyPr>
            <a:lstStyle/>
            <a:p>
              <a:pPr algn="l"/>
              <a:r>
                <a:rPr lang="zh-CN" sz="2100" b="1" dirty="0">
                  <a:solidFill>
                    <a:srgbClr val="1A1A1A"/>
                  </a:solidFill>
                  <a:latin typeface="Arial"/>
                  <a:ea typeface="Microsoft YaHei"/>
                  <a:cs typeface="Arial"/>
                </a:rPr>
                <a:t>客户结构分化——OB大企业跨国为主，</a:t>
              </a:r>
              <a:r>
                <a:rPr lang="zh-CN" sz="2100" b="1" dirty="0">
                  <a:solidFill>
                    <a:srgbClr val="E9002F"/>
                  </a:solidFill>
                  <a:latin typeface="Arial"/>
                  <a:ea typeface="Microsoft YaHei"/>
                  <a:cs typeface="Arial"/>
                </a:rPr>
                <a:t>OMEA的SOHO规模未转化为价值</a:t>
              </a:r>
            </a:p>
          </p:txBody>
        </p:sp>
        <p:sp>
          <p:nvSpPr>
            <p:cNvPr id="4" name="Line 4"/>
            <p:cNvSpPr/>
            <p:nvPr/>
          </p:nvSpPr>
          <p:spPr>
            <a:xfrm>
              <a:off x="533400" y="7620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14" name="Group 14"/>
          <p:cNvGrpSpPr/>
          <p:nvPr/>
        </p:nvGrpSpPr>
        <p:grpSpPr>
          <a:xfrm>
            <a:off x="6667500" y="914400"/>
            <a:ext cx="5015865" cy="222409"/>
            <a:chOff x="6667500" y="914400"/>
            <a:chExt cx="5015865" cy="222409"/>
          </a:xfrm>
        </p:grpSpPr>
        <p:sp>
          <p:nvSpPr>
            <p:cNvPr id="6" name="Rectangle 6"/>
            <p:cNvSpPr/>
            <p:nvPr/>
          </p:nvSpPr>
          <p:spPr>
            <a:xfrm>
              <a:off x="6667500" y="914400"/>
              <a:ext cx="152400" cy="152400"/>
            </a:xfrm>
            <a:prstGeom prst="rect">
              <a:avLst/>
            </a:prstGeom>
            <a:solidFill>
              <a:srgbClr val="C7000A"/>
            </a:solidFill>
            <a:ln>
              <a:noFill/>
            </a:ln>
          </p:spPr>
        </p:sp>
        <p:sp>
          <p:nvSpPr>
            <p:cNvPr id="7" name="TextBox 7"/>
            <p:cNvSpPr txBox="1"/>
            <p:nvPr/>
          </p:nvSpPr>
          <p:spPr>
            <a:xfrm>
              <a:off x="6871335" y="916781"/>
              <a:ext cx="85196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大企业/跨国</a:t>
              </a:r>
            </a:p>
          </p:txBody>
        </p:sp>
        <p:sp>
          <p:nvSpPr>
            <p:cNvPr id="8" name="Rectangle 8"/>
            <p:cNvSpPr/>
            <p:nvPr/>
          </p:nvSpPr>
          <p:spPr>
            <a:xfrm>
              <a:off x="8096250" y="914400"/>
              <a:ext cx="152400" cy="152400"/>
            </a:xfrm>
            <a:prstGeom prst="rect">
              <a:avLst/>
            </a:prstGeom>
            <a:solidFill>
              <a:srgbClr val="A6001C"/>
            </a:solidFill>
            <a:ln>
              <a:noFill/>
            </a:ln>
          </p:spPr>
        </p:sp>
        <p:sp>
          <p:nvSpPr>
            <p:cNvPr id="9" name="TextBox 9"/>
            <p:cNvSpPr txBox="1"/>
            <p:nvPr/>
          </p:nvSpPr>
          <p:spPr>
            <a:xfrm>
              <a:off x="8300085" y="916781"/>
              <a:ext cx="617220"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公共部门</a:t>
              </a:r>
            </a:p>
          </p:txBody>
        </p:sp>
        <p:sp>
          <p:nvSpPr>
            <p:cNvPr id="10" name="Rectangle 10"/>
            <p:cNvSpPr/>
            <p:nvPr/>
          </p:nvSpPr>
          <p:spPr>
            <a:xfrm>
              <a:off x="9429750" y="914400"/>
              <a:ext cx="152400" cy="152400"/>
            </a:xfrm>
            <a:prstGeom prst="rect">
              <a:avLst/>
            </a:prstGeom>
            <a:solidFill>
              <a:srgbClr val="F4A100"/>
            </a:solidFill>
            <a:ln>
              <a:noFill/>
            </a:ln>
          </p:spPr>
        </p:sp>
        <p:sp>
          <p:nvSpPr>
            <p:cNvPr id="11" name="TextBox 11"/>
            <p:cNvSpPr txBox="1"/>
            <p:nvPr/>
          </p:nvSpPr>
          <p:spPr>
            <a:xfrm>
              <a:off x="9633585" y="916781"/>
              <a:ext cx="617220"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中型企业</a:t>
              </a:r>
            </a:p>
          </p:txBody>
        </p:sp>
        <p:sp>
          <p:nvSpPr>
            <p:cNvPr id="12" name="Rectangle 12"/>
            <p:cNvSpPr/>
            <p:nvPr/>
          </p:nvSpPr>
          <p:spPr>
            <a:xfrm>
              <a:off x="10668000" y="914400"/>
              <a:ext cx="152400" cy="152400"/>
            </a:xfrm>
            <a:prstGeom prst="rect">
              <a:avLst/>
            </a:prstGeom>
            <a:solidFill>
              <a:srgbClr val="FBE29A"/>
            </a:solidFill>
            <a:ln>
              <a:noFill/>
            </a:ln>
          </p:spPr>
        </p:sp>
        <p:sp>
          <p:nvSpPr>
            <p:cNvPr id="13" name="TextBox 13"/>
            <p:cNvSpPr txBox="1"/>
            <p:nvPr/>
          </p:nvSpPr>
          <p:spPr>
            <a:xfrm>
              <a:off x="10871835" y="916781"/>
              <a:ext cx="811530" cy="220028"/>
            </a:xfrm>
            <a:prstGeom prst="rect">
              <a:avLst/>
            </a:prstGeom>
            <a:noFill/>
            <a:ln>
              <a:noFill/>
            </a:ln>
          </p:spPr>
          <p:txBody>
            <a:bodyPr wrap="none" lIns="0" tIns="0" rIns="0" bIns="0" anchor="t" anchorCtr="0">
              <a:spAutoFit/>
            </a:bodyPr>
            <a:lstStyle/>
            <a:p>
              <a:pPr algn="l"/>
              <a:r>
                <a:rPr lang="en-US" sz="1120" dirty="0">
                  <a:solidFill>
                    <a:srgbClr val="1A1A1A"/>
                  </a:solidFill>
                  <a:latin typeface="Arial"/>
                  <a:ea typeface="Arial"/>
                  <a:cs typeface="Arial"/>
                </a:rPr>
                <a:t>SOHO/SME</a:t>
              </a:r>
            </a:p>
          </p:txBody>
        </p:sp>
      </p:grpSp>
      <p:grpSp>
        <p:nvGrpSpPr>
          <p:cNvPr id="48" name="Group 48"/>
          <p:cNvGrpSpPr/>
          <p:nvPr/>
        </p:nvGrpSpPr>
        <p:grpSpPr>
          <a:xfrm>
            <a:off x="823036" y="1561624"/>
            <a:ext cx="10416464" cy="4156233"/>
            <a:chOff x="823036" y="1561624"/>
            <a:chExt cx="10416464" cy="4156233"/>
          </a:xfrm>
        </p:grpSpPr>
        <p:grpSp>
          <p:nvGrpSpPr>
            <p:cNvPr id="47" name="Group 47"/>
            <p:cNvGrpSpPr/>
            <p:nvPr/>
          </p:nvGrpSpPr>
          <p:grpSpPr>
            <a:xfrm>
              <a:off x="823036" y="1561624"/>
              <a:ext cx="10416464" cy="4156233"/>
              <a:chOff x="823036" y="1561624"/>
              <a:chExt cx="10416464" cy="4156233"/>
            </a:xfrm>
          </p:grpSpPr>
          <p:sp>
            <p:nvSpPr>
              <p:cNvPr id="15" name="Line 15"/>
              <p:cNvSpPr/>
              <p:nvPr/>
            </p:nvSpPr>
            <p:spPr>
              <a:xfrm>
                <a:off x="1333500" y="1619250"/>
                <a:ext cx="9525" cy="3619500"/>
              </a:xfrm>
              <a:custGeom>
                <a:avLst/>
                <a:gdLst/>
                <a:ahLst/>
                <a:cxnLst/>
                <a:rect l="l" t="t" r="r" b="b"/>
                <a:pathLst>
                  <a:path w="9525" h="3619500">
                    <a:moveTo>
                      <a:pt x="0" y="0"/>
                    </a:moveTo>
                    <a:lnTo>
                      <a:pt x="0" y="3619500"/>
                    </a:lnTo>
                  </a:path>
                </a:pathLst>
              </a:custGeom>
              <a:noFill/>
              <a:ln w="14288">
                <a:solidFill>
                  <a:srgbClr val="E8E2DA"/>
                </a:solidFill>
              </a:ln>
            </p:spPr>
          </p:sp>
          <p:sp>
            <p:nvSpPr>
              <p:cNvPr id="16" name="Line 16"/>
              <p:cNvSpPr/>
              <p:nvPr/>
            </p:nvSpPr>
            <p:spPr>
              <a:xfrm>
                <a:off x="1333500" y="5238750"/>
                <a:ext cx="9906000" cy="9525"/>
              </a:xfrm>
              <a:custGeom>
                <a:avLst/>
                <a:gdLst/>
                <a:ahLst/>
                <a:cxnLst/>
                <a:rect l="l" t="t" r="r" b="b"/>
                <a:pathLst>
                  <a:path w="9906000" h="9525">
                    <a:moveTo>
                      <a:pt x="0" y="0"/>
                    </a:moveTo>
                    <a:lnTo>
                      <a:pt x="9906000" y="0"/>
                    </a:lnTo>
                  </a:path>
                </a:pathLst>
              </a:custGeom>
              <a:noFill/>
              <a:ln w="14288">
                <a:solidFill>
                  <a:srgbClr val="E8E2DA"/>
                </a:solidFill>
              </a:ln>
            </p:spPr>
          </p:sp>
          <p:sp>
            <p:nvSpPr>
              <p:cNvPr id="17" name="TextBox 17"/>
              <p:cNvSpPr txBox="1"/>
              <p:nvPr/>
            </p:nvSpPr>
            <p:spPr>
              <a:xfrm>
                <a:off x="823036" y="1561624"/>
                <a:ext cx="324917" cy="190690"/>
              </a:xfrm>
              <a:prstGeom prst="rect">
                <a:avLst/>
              </a:prstGeom>
              <a:noFill/>
              <a:ln>
                <a:noFill/>
              </a:ln>
            </p:spPr>
            <p:txBody>
              <a:bodyPr wrap="none" lIns="0" tIns="0" rIns="0" bIns="0" anchor="t" anchorCtr="0">
                <a:spAutoFit/>
              </a:bodyPr>
              <a:lstStyle/>
              <a:p>
                <a:pPr algn="r"/>
                <a:r>
                  <a:rPr lang="en-US" sz="980" dirty="0">
                    <a:solidFill>
                      <a:srgbClr val="6B6B6B"/>
                    </a:solidFill>
                    <a:latin typeface="Arial"/>
                    <a:ea typeface="Arial"/>
                    <a:cs typeface="Arial"/>
                  </a:rPr>
                  <a:t>100%</a:t>
                </a:r>
              </a:p>
            </p:txBody>
          </p:sp>
          <p:sp>
            <p:nvSpPr>
              <p:cNvPr id="18" name="TextBox 18"/>
              <p:cNvSpPr txBox="1"/>
              <p:nvPr/>
            </p:nvSpPr>
            <p:spPr>
              <a:xfrm>
                <a:off x="895226" y="3371374"/>
                <a:ext cx="252727" cy="190690"/>
              </a:xfrm>
              <a:prstGeom prst="rect">
                <a:avLst/>
              </a:prstGeom>
              <a:noFill/>
              <a:ln>
                <a:noFill/>
              </a:ln>
            </p:spPr>
            <p:txBody>
              <a:bodyPr wrap="none" lIns="0" tIns="0" rIns="0" bIns="0" anchor="t" anchorCtr="0">
                <a:spAutoFit/>
              </a:bodyPr>
              <a:lstStyle/>
              <a:p>
                <a:pPr algn="r"/>
                <a:r>
                  <a:rPr lang="en-US" sz="980" dirty="0">
                    <a:solidFill>
                      <a:srgbClr val="6B6B6B"/>
                    </a:solidFill>
                    <a:latin typeface="Arial"/>
                    <a:ea typeface="Arial"/>
                    <a:cs typeface="Arial"/>
                  </a:rPr>
                  <a:t>50%</a:t>
                </a:r>
              </a:p>
            </p:txBody>
          </p:sp>
          <p:sp>
            <p:nvSpPr>
              <p:cNvPr id="19" name="TextBox 19"/>
              <p:cNvSpPr txBox="1"/>
              <p:nvPr/>
            </p:nvSpPr>
            <p:spPr>
              <a:xfrm>
                <a:off x="967416" y="5171599"/>
                <a:ext cx="180537" cy="190690"/>
              </a:xfrm>
              <a:prstGeom prst="rect">
                <a:avLst/>
              </a:prstGeom>
              <a:noFill/>
              <a:ln>
                <a:noFill/>
              </a:ln>
            </p:spPr>
            <p:txBody>
              <a:bodyPr wrap="none" lIns="0" tIns="0" rIns="0" bIns="0" anchor="t" anchorCtr="0">
                <a:spAutoFit/>
              </a:bodyPr>
              <a:lstStyle/>
              <a:p>
                <a:pPr algn="r"/>
                <a:r>
                  <a:rPr lang="en-US" sz="980" dirty="0">
                    <a:solidFill>
                      <a:srgbClr val="6B6B6B"/>
                    </a:solidFill>
                    <a:latin typeface="Arial"/>
                    <a:ea typeface="Arial"/>
                    <a:cs typeface="Arial"/>
                  </a:rPr>
                  <a:t>0%</a:t>
                </a:r>
              </a:p>
            </p:txBody>
          </p:sp>
          <p:sp>
            <p:nvSpPr>
              <p:cNvPr id="20" name="Line 20"/>
              <p:cNvSpPr/>
              <p:nvPr/>
            </p:nvSpPr>
            <p:spPr>
              <a:xfrm>
                <a:off x="1333500" y="3429000"/>
                <a:ext cx="9906000" cy="9525"/>
              </a:xfrm>
              <a:custGeom>
                <a:avLst/>
                <a:gdLst/>
                <a:ahLst/>
                <a:cxnLst/>
                <a:rect l="l" t="t" r="r" b="b"/>
                <a:pathLst>
                  <a:path w="9906000" h="9525">
                    <a:moveTo>
                      <a:pt x="0" y="0"/>
                    </a:moveTo>
                    <a:lnTo>
                      <a:pt x="9906000" y="0"/>
                    </a:lnTo>
                  </a:path>
                </a:pathLst>
              </a:custGeom>
              <a:noFill/>
              <a:ln w="9525">
                <a:solidFill>
                  <a:srgbClr val="F1EDE6"/>
                </a:solidFill>
                <a:prstDash val="dash"/>
              </a:ln>
            </p:spPr>
          </p:sp>
          <p:sp>
            <p:nvSpPr>
              <p:cNvPr id="21" name="Rectangle 21"/>
              <p:cNvSpPr/>
              <p:nvPr/>
            </p:nvSpPr>
            <p:spPr>
              <a:xfrm>
                <a:off x="2228850" y="3609975"/>
                <a:ext cx="1524000" cy="1628775"/>
              </a:xfrm>
              <a:prstGeom prst="rect">
                <a:avLst/>
              </a:prstGeom>
              <a:solidFill>
                <a:srgbClr val="C7000A"/>
              </a:solidFill>
              <a:ln>
                <a:noFill/>
              </a:ln>
            </p:spPr>
          </p:sp>
          <p:sp>
            <p:nvSpPr>
              <p:cNvPr id="22" name="TextBox 22"/>
              <p:cNvSpPr txBox="1"/>
              <p:nvPr/>
            </p:nvSpPr>
            <p:spPr>
              <a:xfrm>
                <a:off x="2827854" y="4347210"/>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55%</a:t>
                </a:r>
              </a:p>
            </p:txBody>
          </p:sp>
          <p:sp>
            <p:nvSpPr>
              <p:cNvPr id="23" name="Rectangle 23"/>
              <p:cNvSpPr/>
              <p:nvPr/>
            </p:nvSpPr>
            <p:spPr>
              <a:xfrm>
                <a:off x="2228850" y="2524125"/>
                <a:ext cx="1524000" cy="1085850"/>
              </a:xfrm>
              <a:prstGeom prst="rect">
                <a:avLst/>
              </a:prstGeom>
              <a:solidFill>
                <a:srgbClr val="A6001C"/>
              </a:solidFill>
              <a:ln>
                <a:noFill/>
              </a:ln>
            </p:spPr>
          </p:sp>
          <p:sp>
            <p:nvSpPr>
              <p:cNvPr id="24" name="TextBox 24"/>
              <p:cNvSpPr txBox="1"/>
              <p:nvPr/>
            </p:nvSpPr>
            <p:spPr>
              <a:xfrm>
                <a:off x="2827854" y="2985135"/>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30%</a:t>
                </a:r>
              </a:p>
            </p:txBody>
          </p:sp>
          <p:sp>
            <p:nvSpPr>
              <p:cNvPr id="25" name="Rectangle 25"/>
              <p:cNvSpPr/>
              <p:nvPr/>
            </p:nvSpPr>
            <p:spPr>
              <a:xfrm>
                <a:off x="2228850" y="1981200"/>
                <a:ext cx="1524000" cy="542925"/>
              </a:xfrm>
              <a:prstGeom prst="rect">
                <a:avLst/>
              </a:prstGeom>
              <a:solidFill>
                <a:srgbClr val="F4A100"/>
              </a:solidFill>
              <a:ln>
                <a:noFill/>
              </a:ln>
            </p:spPr>
          </p:sp>
          <p:sp>
            <p:nvSpPr>
              <p:cNvPr id="26" name="TextBox 26"/>
              <p:cNvSpPr txBox="1"/>
              <p:nvPr/>
            </p:nvSpPr>
            <p:spPr>
              <a:xfrm>
                <a:off x="2838042" y="2174081"/>
                <a:ext cx="305617" cy="220028"/>
              </a:xfrm>
              <a:prstGeom prst="rect">
                <a:avLst/>
              </a:prstGeom>
              <a:noFill/>
              <a:ln>
                <a:noFill/>
              </a:ln>
            </p:spPr>
            <p:txBody>
              <a:bodyPr wrap="none" lIns="0" tIns="0" rIns="0" bIns="0" anchor="t" anchorCtr="0">
                <a:spAutoFit/>
              </a:bodyPr>
              <a:lstStyle/>
              <a:p>
                <a:pPr algn="ctr"/>
                <a:r>
                  <a:rPr lang="en-US" sz="1120" b="1" dirty="0">
                    <a:solidFill>
                      <a:srgbClr val="1A1A1A"/>
                    </a:solidFill>
                    <a:latin typeface="Arial"/>
                    <a:ea typeface="Arial"/>
                    <a:cs typeface="Arial"/>
                  </a:rPr>
                  <a:t>15%</a:t>
                </a:r>
              </a:p>
            </p:txBody>
          </p:sp>
          <p:sp>
            <p:nvSpPr>
              <p:cNvPr id="27" name="TextBox 27"/>
              <p:cNvSpPr txBox="1"/>
              <p:nvPr/>
            </p:nvSpPr>
            <p:spPr>
              <a:xfrm>
                <a:off x="2852936" y="5331142"/>
                <a:ext cx="275829" cy="264033"/>
              </a:xfrm>
              <a:prstGeom prst="rect">
                <a:avLst/>
              </a:prstGeom>
              <a:noFill/>
              <a:ln>
                <a:noFill/>
              </a:ln>
            </p:spPr>
            <p:txBody>
              <a:bodyPr wrap="none" lIns="0" tIns="0" rIns="0" bIns="0" anchor="t" anchorCtr="0">
                <a:spAutoFit/>
              </a:bodyPr>
              <a:lstStyle/>
              <a:p>
                <a:pPr algn="ctr"/>
                <a:r>
                  <a:rPr lang="en-US" sz="1350" b="1" dirty="0">
                    <a:solidFill>
                      <a:srgbClr val="C7000A"/>
                    </a:solidFill>
                    <a:latin typeface="Arial"/>
                    <a:ea typeface="Arial"/>
                    <a:cs typeface="Arial"/>
                  </a:rPr>
                  <a:t>OB</a:t>
                </a:r>
              </a:p>
            </p:txBody>
          </p:sp>
          <p:sp>
            <p:nvSpPr>
              <p:cNvPr id="28" name="TextBox 28"/>
              <p:cNvSpPr txBox="1"/>
              <p:nvPr/>
            </p:nvSpPr>
            <p:spPr>
              <a:xfrm>
                <a:off x="2092547" y="5541645"/>
                <a:ext cx="1796606" cy="176212"/>
              </a:xfrm>
              <a:prstGeom prst="rect">
                <a:avLst/>
              </a:prstGeom>
              <a:noFill/>
              <a:ln>
                <a:noFill/>
              </a:ln>
            </p:spPr>
            <p:txBody>
              <a:bodyPr wrap="none" lIns="0" tIns="0" rIns="0" bIns="0" anchor="t" anchorCtr="0">
                <a:spAutoFit/>
              </a:bodyPr>
              <a:lstStyle/>
              <a:p>
                <a:pPr algn="ctr"/>
                <a:r>
                  <a:rPr lang="zh-CN" sz="900" dirty="0">
                    <a:solidFill>
                      <a:srgbClr val="9B9B9B"/>
                    </a:solidFill>
                    <a:latin typeface="Arial"/>
                    <a:ea typeface="Microsoft YaHei"/>
                    <a:cs typeface="Arial"/>
                  </a:rPr>
                  <a:t>法国+全球200+国家跨国客户覆盖</a:t>
                </a:r>
              </a:p>
            </p:txBody>
          </p:sp>
          <p:sp>
            <p:nvSpPr>
              <p:cNvPr id="29" name="Rectangle 29"/>
              <p:cNvSpPr/>
              <p:nvPr/>
            </p:nvSpPr>
            <p:spPr>
              <a:xfrm>
                <a:off x="5524500" y="4152900"/>
                <a:ext cx="1524000" cy="1085850"/>
              </a:xfrm>
              <a:prstGeom prst="rect">
                <a:avLst/>
              </a:prstGeom>
              <a:solidFill>
                <a:srgbClr val="F4A100"/>
              </a:solidFill>
              <a:ln>
                <a:noFill/>
              </a:ln>
            </p:spPr>
          </p:sp>
          <p:sp>
            <p:nvSpPr>
              <p:cNvPr id="30" name="TextBox 30"/>
              <p:cNvSpPr txBox="1"/>
              <p:nvPr/>
            </p:nvSpPr>
            <p:spPr>
              <a:xfrm>
                <a:off x="6123504" y="4604385"/>
                <a:ext cx="325991" cy="234696"/>
              </a:xfrm>
              <a:prstGeom prst="rect">
                <a:avLst/>
              </a:prstGeom>
              <a:noFill/>
              <a:ln>
                <a:noFill/>
              </a:ln>
            </p:spPr>
            <p:txBody>
              <a:bodyPr wrap="none" lIns="0" tIns="0" rIns="0" bIns="0" anchor="t" anchorCtr="0">
                <a:spAutoFit/>
              </a:bodyPr>
              <a:lstStyle/>
              <a:p>
                <a:pPr algn="ctr"/>
                <a:r>
                  <a:rPr lang="en-US" sz="1200" b="1" dirty="0">
                    <a:solidFill>
                      <a:srgbClr val="1A1A1A"/>
                    </a:solidFill>
                    <a:latin typeface="Arial"/>
                    <a:ea typeface="Arial"/>
                    <a:cs typeface="Arial"/>
                  </a:rPr>
                  <a:t>30%</a:t>
                </a:r>
              </a:p>
            </p:txBody>
          </p:sp>
          <p:sp>
            <p:nvSpPr>
              <p:cNvPr id="31" name="Rectangle 31"/>
              <p:cNvSpPr/>
              <p:nvPr/>
            </p:nvSpPr>
            <p:spPr>
              <a:xfrm>
                <a:off x="5524500" y="3248025"/>
                <a:ext cx="1524000" cy="904875"/>
              </a:xfrm>
              <a:prstGeom prst="rect">
                <a:avLst/>
              </a:prstGeom>
              <a:solidFill>
                <a:srgbClr val="A6001C"/>
              </a:solidFill>
              <a:ln>
                <a:noFill/>
              </a:ln>
            </p:spPr>
          </p:sp>
          <p:sp>
            <p:nvSpPr>
              <p:cNvPr id="32" name="TextBox 32"/>
              <p:cNvSpPr txBox="1"/>
              <p:nvPr/>
            </p:nvSpPr>
            <p:spPr>
              <a:xfrm>
                <a:off x="6123504" y="3613785"/>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25%</a:t>
                </a:r>
              </a:p>
            </p:txBody>
          </p:sp>
          <p:sp>
            <p:nvSpPr>
              <p:cNvPr id="33" name="Rectangle 33"/>
              <p:cNvSpPr/>
              <p:nvPr/>
            </p:nvSpPr>
            <p:spPr>
              <a:xfrm>
                <a:off x="5524500" y="1619250"/>
                <a:ext cx="1524000" cy="1628775"/>
              </a:xfrm>
              <a:prstGeom prst="rect">
                <a:avLst/>
              </a:prstGeom>
              <a:solidFill>
                <a:srgbClr val="C7000A"/>
              </a:solidFill>
              <a:ln>
                <a:noFill/>
              </a:ln>
            </p:spPr>
          </p:sp>
          <p:sp>
            <p:nvSpPr>
              <p:cNvPr id="34" name="TextBox 34"/>
              <p:cNvSpPr txBox="1"/>
              <p:nvPr/>
            </p:nvSpPr>
            <p:spPr>
              <a:xfrm>
                <a:off x="6123504" y="2346960"/>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45%</a:t>
                </a:r>
              </a:p>
            </p:txBody>
          </p:sp>
          <p:sp>
            <p:nvSpPr>
              <p:cNvPr id="35" name="TextBox 35"/>
              <p:cNvSpPr txBox="1"/>
              <p:nvPr/>
            </p:nvSpPr>
            <p:spPr>
              <a:xfrm>
                <a:off x="6093139" y="5331142"/>
                <a:ext cx="386723" cy="264033"/>
              </a:xfrm>
              <a:prstGeom prst="rect">
                <a:avLst/>
              </a:prstGeom>
              <a:noFill/>
              <a:ln>
                <a:noFill/>
              </a:ln>
            </p:spPr>
            <p:txBody>
              <a:bodyPr wrap="none" lIns="0" tIns="0" rIns="0" bIns="0" anchor="t" anchorCtr="0">
                <a:spAutoFit/>
              </a:bodyPr>
              <a:lstStyle/>
              <a:p>
                <a:pPr algn="ctr"/>
                <a:r>
                  <a:rPr lang="en-US" sz="1350" b="1" dirty="0">
                    <a:solidFill>
                      <a:srgbClr val="E9002F"/>
                    </a:solidFill>
                    <a:latin typeface="Arial"/>
                    <a:ea typeface="Arial"/>
                    <a:cs typeface="Arial"/>
                  </a:rPr>
                  <a:t>OEU</a:t>
                </a:r>
              </a:p>
            </p:txBody>
          </p:sp>
          <p:sp>
            <p:nvSpPr>
              <p:cNvPr id="36" name="TextBox 36"/>
              <p:cNvSpPr txBox="1"/>
              <p:nvPr/>
            </p:nvSpPr>
            <p:spPr>
              <a:xfrm>
                <a:off x="5366995" y="5541645"/>
                <a:ext cx="1839011" cy="176212"/>
              </a:xfrm>
              <a:prstGeom prst="rect">
                <a:avLst/>
              </a:prstGeom>
              <a:noFill/>
              <a:ln>
                <a:noFill/>
              </a:ln>
            </p:spPr>
            <p:txBody>
              <a:bodyPr wrap="none" lIns="0" tIns="0" rIns="0" bIns="0" anchor="t" anchorCtr="0">
                <a:spAutoFit/>
              </a:bodyPr>
              <a:lstStyle/>
              <a:p>
                <a:pPr algn="ctr"/>
                <a:r>
                  <a:rPr lang="zh-CN" sz="900" dirty="0">
                    <a:solidFill>
                      <a:srgbClr val="9B9B9B"/>
                    </a:solidFill>
                    <a:latin typeface="Arial"/>
                    <a:ea typeface="Microsoft YaHei"/>
                    <a:cs typeface="Arial"/>
                  </a:rPr>
                  <a:t>波兰/西班牙大企业+公共部门主导</a:t>
                </a:r>
              </a:p>
            </p:txBody>
          </p:sp>
          <p:sp>
            <p:nvSpPr>
              <p:cNvPr id="37" name="Rectangle 37"/>
              <p:cNvSpPr/>
              <p:nvPr/>
            </p:nvSpPr>
            <p:spPr>
              <a:xfrm>
                <a:off x="8829675" y="4152900"/>
                <a:ext cx="1524000" cy="1085850"/>
              </a:xfrm>
              <a:prstGeom prst="rect">
                <a:avLst/>
              </a:prstGeom>
              <a:solidFill>
                <a:srgbClr val="FBE29A"/>
              </a:solidFill>
              <a:ln>
                <a:noFill/>
              </a:ln>
            </p:spPr>
          </p:sp>
          <p:sp>
            <p:nvSpPr>
              <p:cNvPr id="38" name="TextBox 38"/>
              <p:cNvSpPr txBox="1"/>
              <p:nvPr/>
            </p:nvSpPr>
            <p:spPr>
              <a:xfrm>
                <a:off x="9428679" y="4604385"/>
                <a:ext cx="325991" cy="234696"/>
              </a:xfrm>
              <a:prstGeom prst="rect">
                <a:avLst/>
              </a:prstGeom>
              <a:noFill/>
              <a:ln>
                <a:noFill/>
              </a:ln>
            </p:spPr>
            <p:txBody>
              <a:bodyPr wrap="none" lIns="0" tIns="0" rIns="0" bIns="0" anchor="t" anchorCtr="0">
                <a:spAutoFit/>
              </a:bodyPr>
              <a:lstStyle/>
              <a:p>
                <a:pPr algn="ctr"/>
                <a:r>
                  <a:rPr lang="en-US" sz="1200" b="1" dirty="0">
                    <a:solidFill>
                      <a:srgbClr val="1A1A1A"/>
                    </a:solidFill>
                    <a:latin typeface="Arial"/>
                    <a:ea typeface="Arial"/>
                    <a:cs typeface="Arial"/>
                  </a:rPr>
                  <a:t>30%</a:t>
                </a:r>
              </a:p>
            </p:txBody>
          </p:sp>
          <p:sp>
            <p:nvSpPr>
              <p:cNvPr id="39" name="Rectangle 39"/>
              <p:cNvSpPr/>
              <p:nvPr/>
            </p:nvSpPr>
            <p:spPr>
              <a:xfrm>
                <a:off x="8829675" y="3609975"/>
                <a:ext cx="1524000" cy="542925"/>
              </a:xfrm>
              <a:prstGeom prst="rect">
                <a:avLst/>
              </a:prstGeom>
              <a:solidFill>
                <a:srgbClr val="F4A100"/>
              </a:solidFill>
              <a:ln>
                <a:noFill/>
              </a:ln>
            </p:spPr>
          </p:sp>
          <p:sp>
            <p:nvSpPr>
              <p:cNvPr id="40" name="TextBox 40"/>
              <p:cNvSpPr txBox="1"/>
              <p:nvPr/>
            </p:nvSpPr>
            <p:spPr>
              <a:xfrm>
                <a:off x="9438867" y="3793331"/>
                <a:ext cx="305617" cy="220028"/>
              </a:xfrm>
              <a:prstGeom prst="rect">
                <a:avLst/>
              </a:prstGeom>
              <a:noFill/>
              <a:ln>
                <a:noFill/>
              </a:ln>
            </p:spPr>
            <p:txBody>
              <a:bodyPr wrap="none" lIns="0" tIns="0" rIns="0" bIns="0" anchor="t" anchorCtr="0">
                <a:spAutoFit/>
              </a:bodyPr>
              <a:lstStyle/>
              <a:p>
                <a:pPr algn="ctr"/>
                <a:r>
                  <a:rPr lang="en-US" sz="1120" b="1" dirty="0">
                    <a:solidFill>
                      <a:srgbClr val="1A1A1A"/>
                    </a:solidFill>
                    <a:latin typeface="Arial"/>
                    <a:ea typeface="Arial"/>
                    <a:cs typeface="Arial"/>
                  </a:rPr>
                  <a:t>15%</a:t>
                </a:r>
              </a:p>
            </p:txBody>
          </p:sp>
          <p:sp>
            <p:nvSpPr>
              <p:cNvPr id="41" name="Rectangle 41"/>
              <p:cNvSpPr/>
              <p:nvPr/>
            </p:nvSpPr>
            <p:spPr>
              <a:xfrm>
                <a:off x="8829675" y="2705100"/>
                <a:ext cx="1524000" cy="904875"/>
              </a:xfrm>
              <a:prstGeom prst="rect">
                <a:avLst/>
              </a:prstGeom>
              <a:solidFill>
                <a:srgbClr val="A6001C"/>
              </a:solidFill>
              <a:ln>
                <a:noFill/>
              </a:ln>
            </p:spPr>
          </p:sp>
          <p:sp>
            <p:nvSpPr>
              <p:cNvPr id="42" name="TextBox 42"/>
              <p:cNvSpPr txBox="1"/>
              <p:nvPr/>
            </p:nvSpPr>
            <p:spPr>
              <a:xfrm>
                <a:off x="9428679" y="3070860"/>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25%</a:t>
                </a:r>
              </a:p>
            </p:txBody>
          </p:sp>
          <p:sp>
            <p:nvSpPr>
              <p:cNvPr id="43" name="Rectangle 43"/>
              <p:cNvSpPr/>
              <p:nvPr/>
            </p:nvSpPr>
            <p:spPr>
              <a:xfrm>
                <a:off x="8829675" y="1619250"/>
                <a:ext cx="1524000" cy="1085850"/>
              </a:xfrm>
              <a:prstGeom prst="rect">
                <a:avLst/>
              </a:prstGeom>
              <a:solidFill>
                <a:srgbClr val="C7000A"/>
              </a:solidFill>
              <a:ln>
                <a:noFill/>
              </a:ln>
            </p:spPr>
          </p:sp>
          <p:sp>
            <p:nvSpPr>
              <p:cNvPr id="44" name="TextBox 44"/>
              <p:cNvSpPr txBox="1"/>
              <p:nvPr/>
            </p:nvSpPr>
            <p:spPr>
              <a:xfrm>
                <a:off x="9428679" y="2070735"/>
                <a:ext cx="325991"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Arial"/>
                    <a:ea typeface="Arial"/>
                    <a:cs typeface="Arial"/>
                  </a:rPr>
                  <a:t>30%</a:t>
                </a:r>
              </a:p>
            </p:txBody>
          </p:sp>
          <p:sp>
            <p:nvSpPr>
              <p:cNvPr id="45" name="TextBox 45"/>
              <p:cNvSpPr txBox="1"/>
              <p:nvPr/>
            </p:nvSpPr>
            <p:spPr>
              <a:xfrm>
                <a:off x="9322704" y="5331142"/>
                <a:ext cx="537942" cy="264033"/>
              </a:xfrm>
              <a:prstGeom prst="rect">
                <a:avLst/>
              </a:prstGeom>
              <a:noFill/>
              <a:ln>
                <a:noFill/>
              </a:ln>
            </p:spPr>
            <p:txBody>
              <a:bodyPr wrap="none" lIns="0" tIns="0" rIns="0" bIns="0" anchor="t" anchorCtr="0">
                <a:spAutoFit/>
              </a:bodyPr>
              <a:lstStyle/>
              <a:p>
                <a:pPr algn="ctr"/>
                <a:r>
                  <a:rPr lang="en-US" sz="1350" b="1" dirty="0">
                    <a:solidFill>
                      <a:srgbClr val="F4A100"/>
                    </a:solidFill>
                    <a:latin typeface="Arial"/>
                    <a:ea typeface="Arial"/>
                    <a:cs typeface="Arial"/>
                  </a:rPr>
                  <a:t>OMEA</a:t>
                </a:r>
              </a:p>
            </p:txBody>
          </p:sp>
          <p:sp>
            <p:nvSpPr>
              <p:cNvPr id="46" name="TextBox 46"/>
              <p:cNvSpPr txBox="1"/>
              <p:nvPr/>
            </p:nvSpPr>
            <p:spPr>
              <a:xfrm>
                <a:off x="8527580" y="5541645"/>
                <a:ext cx="2128190" cy="176212"/>
              </a:xfrm>
              <a:prstGeom prst="rect">
                <a:avLst/>
              </a:prstGeom>
              <a:noFill/>
              <a:ln>
                <a:noFill/>
              </a:ln>
            </p:spPr>
            <p:txBody>
              <a:bodyPr wrap="none" lIns="0" tIns="0" rIns="0" bIns="0" anchor="t" anchorCtr="0">
                <a:spAutoFit/>
              </a:bodyPr>
              <a:lstStyle/>
              <a:p>
                <a:pPr algn="ctr"/>
                <a:r>
                  <a:rPr lang="zh-CN" sz="900" dirty="0">
                    <a:solidFill>
                      <a:srgbClr val="9B9B9B"/>
                    </a:solidFill>
                    <a:latin typeface="Arial"/>
                    <a:ea typeface="Microsoft YaHei"/>
                    <a:cs typeface="Arial"/>
                  </a:rPr>
                  <a:t>SOHO/SME占30%但ARPA承压(-19%)</a:t>
                </a:r>
              </a:p>
            </p:txBody>
          </p:sp>
        </p:grpSp>
      </p:grpSp>
      <p:grpSp>
        <p:nvGrpSpPr>
          <p:cNvPr id="52" name="Group 52"/>
          <p:cNvGrpSpPr/>
          <p:nvPr/>
        </p:nvGrpSpPr>
        <p:grpSpPr>
          <a:xfrm>
            <a:off x="533400" y="5715000"/>
            <a:ext cx="11125200" cy="762000"/>
            <a:chOff x="533400" y="5715000"/>
            <a:chExt cx="11125200" cy="762000"/>
          </a:xfrm>
        </p:grpSpPr>
        <p:sp>
          <p:nvSpPr>
            <p:cNvPr id="49" name="Rectangle 49"/>
            <p:cNvSpPr/>
            <p:nvPr/>
          </p:nvSpPr>
          <p:spPr>
            <a:xfrm>
              <a:off x="533400" y="5715000"/>
              <a:ext cx="11125200" cy="762000"/>
            </a:xfrm>
            <a:prstGeom prst="roundRect">
              <a:avLst>
                <a:gd name="adj" fmla="val 5000"/>
              </a:avLst>
            </a:prstGeom>
            <a:solidFill>
              <a:srgbClr val="FBF6F1"/>
            </a:solidFill>
            <a:ln w="9525">
              <a:solidFill>
                <a:srgbClr val="E8E2DA"/>
              </a:solidFill>
            </a:ln>
          </p:spPr>
        </p:sp>
        <p:sp>
          <p:nvSpPr>
            <p:cNvPr id="50" name="TextBox 50"/>
            <p:cNvSpPr txBox="1"/>
            <p:nvPr/>
          </p:nvSpPr>
          <p:spPr>
            <a:xfrm>
              <a:off x="755142" y="5874068"/>
              <a:ext cx="10246195" cy="264033"/>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核心结论：OMEA客户数量增长但单户价值（ARPA）</a:t>
              </a:r>
              <a:r>
                <a:rPr lang="zh-CN" sz="1350" b="1" dirty="0">
                  <a:solidFill>
                    <a:srgbClr val="C0392B"/>
                  </a:solidFill>
                  <a:latin typeface="Arial"/>
                  <a:ea typeface="Microsoft YaHei"/>
                  <a:cs typeface="Arial"/>
                </a:rPr>
                <a:t>下滑19%</a:t>
              </a:r>
              <a:r>
                <a:rPr lang="zh-CN" sz="1350" b="1" dirty="0">
                  <a:solidFill>
                    <a:srgbClr val="1A1A1A"/>
                  </a:solidFill>
                  <a:latin typeface="Arial"/>
                  <a:ea typeface="Microsoft YaHei"/>
                  <a:cs typeface="Arial"/>
                </a:rPr>
                <a:t>，是三区域中唯一呈现"增量不增值"结构性矛盾的市场</a:t>
              </a:r>
            </a:p>
          </p:txBody>
        </p:sp>
        <p:sp>
          <p:nvSpPr>
            <p:cNvPr id="51" name="TextBox 51"/>
            <p:cNvSpPr txBox="1"/>
            <p:nvPr/>
          </p:nvSpPr>
          <p:spPr>
            <a:xfrm>
              <a:off x="756285" y="6165056"/>
              <a:ext cx="7724394"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OEU波兰ICT占B2B36%（实证）；西班牙大企业+公共部门约70%（估）；罗马尼亚B2B+14%增速跑赢集团均值</a:t>
              </a:r>
            </a:p>
          </p:txBody>
        </p:sp>
      </p:grpSp>
      <p:grpSp>
        <p:nvGrpSpPr>
          <p:cNvPr id="55" name="Group 55"/>
          <p:cNvGrpSpPr/>
          <p:nvPr/>
        </p:nvGrpSpPr>
        <p:grpSpPr>
          <a:xfrm>
            <a:off x="528447" y="6562249"/>
            <a:ext cx="11135106" cy="190690"/>
            <a:chOff x="528447" y="6562249"/>
            <a:chExt cx="11135106" cy="190690"/>
          </a:xfrm>
        </p:grpSpPr>
        <p:sp>
          <p:nvSpPr>
            <p:cNvPr id="53" name="TextBox 53"/>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4" name="TextBox 54"/>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21970" y="309562"/>
            <a:ext cx="11448288" cy="461963"/>
            <a:chOff x="521970" y="309562"/>
            <a:chExt cx="11448288" cy="461963"/>
          </a:xfrm>
        </p:grpSpPr>
        <p:sp>
          <p:nvSpPr>
            <p:cNvPr id="3" name="TextBox 3"/>
            <p:cNvSpPr txBox="1"/>
            <p:nvPr/>
          </p:nvSpPr>
          <p:spPr>
            <a:xfrm>
              <a:off x="521970" y="309562"/>
              <a:ext cx="11448288"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行业打法分化——OB深耕金融国防等成熟垂直，</a:t>
              </a:r>
              <a:r>
                <a:rPr lang="zh-CN" sz="2250" b="1" dirty="0">
                  <a:solidFill>
                    <a:srgbClr val="E9002F"/>
                  </a:solidFill>
                  <a:latin typeface="Arial"/>
                  <a:ea typeface="Microsoft YaHei"/>
                  <a:cs typeface="Arial"/>
                </a:rPr>
                <a:t>OMEA靠矿业港口基建打开增长</a:t>
              </a:r>
            </a:p>
          </p:txBody>
        </p:sp>
        <p:sp>
          <p:nvSpPr>
            <p:cNvPr id="4" name="Line 4"/>
            <p:cNvSpPr/>
            <p:nvPr/>
          </p:nvSpPr>
          <p:spPr>
            <a:xfrm>
              <a:off x="533400" y="7620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30" name="Group 30"/>
          <p:cNvGrpSpPr/>
          <p:nvPr/>
        </p:nvGrpSpPr>
        <p:grpSpPr>
          <a:xfrm>
            <a:off x="533400" y="952500"/>
            <a:ext cx="3864533" cy="4667250"/>
            <a:chOff x="533400" y="952500"/>
            <a:chExt cx="3864533" cy="4667250"/>
          </a:xfrm>
        </p:grpSpPr>
        <p:sp>
          <p:nvSpPr>
            <p:cNvPr id="6" name="Rectangle 6"/>
            <p:cNvSpPr/>
            <p:nvPr/>
          </p:nvSpPr>
          <p:spPr>
            <a:xfrm>
              <a:off x="533400" y="952500"/>
              <a:ext cx="3552825" cy="4667250"/>
            </a:xfrm>
            <a:prstGeom prst="roundRect">
              <a:avLst>
                <a:gd name="adj" fmla="val 1072"/>
              </a:avLst>
            </a:prstGeom>
            <a:solidFill>
              <a:srgbClr val="FBF6F1"/>
            </a:solidFill>
            <a:ln w="9525">
              <a:solidFill>
                <a:srgbClr val="E8E2DA"/>
              </a:solidFill>
            </a:ln>
          </p:spPr>
        </p:sp>
        <p:sp>
          <p:nvSpPr>
            <p:cNvPr id="7" name="Rectangle 7"/>
            <p:cNvSpPr/>
            <p:nvPr/>
          </p:nvSpPr>
          <p:spPr>
            <a:xfrm>
              <a:off x="533400" y="952500"/>
              <a:ext cx="3552825" cy="76200"/>
            </a:xfrm>
            <a:prstGeom prst="rect">
              <a:avLst/>
            </a:prstGeom>
            <a:solidFill>
              <a:srgbClr val="C7000A"/>
            </a:solidFill>
            <a:ln>
              <a:noFill/>
            </a:ln>
          </p:spPr>
        </p:sp>
        <p:sp>
          <p:nvSpPr>
            <p:cNvPr id="8" name="TextBox 8"/>
            <p:cNvSpPr txBox="1"/>
            <p:nvPr/>
          </p:nvSpPr>
          <p:spPr>
            <a:xfrm>
              <a:off x="754761" y="1179671"/>
              <a:ext cx="3643172" cy="278702"/>
            </a:xfrm>
            <a:prstGeom prst="rect">
              <a:avLst/>
            </a:prstGeom>
            <a:noFill/>
            <a:ln>
              <a:noFill/>
            </a:ln>
          </p:spPr>
          <p:txBody>
            <a:bodyPr wrap="none" lIns="0" tIns="0" rIns="0" bIns="0" anchor="t" anchorCtr="0">
              <a:spAutoFit/>
            </a:bodyPr>
            <a:lstStyle/>
            <a:p>
              <a:pPr algn="l"/>
              <a:r>
                <a:rPr lang="zh-CN" sz="1420" b="1" dirty="0">
                  <a:solidFill>
                    <a:srgbClr val="C7000A"/>
                  </a:solidFill>
                  <a:latin typeface="Arial"/>
                  <a:ea typeface="Microsoft YaHei"/>
                  <a:cs typeface="Arial"/>
                </a:rPr>
                <a:t>OB · 存量深耕（集成/转售2,080M€）</a:t>
              </a:r>
            </a:p>
          </p:txBody>
        </p:sp>
        <p:sp>
          <p:nvSpPr>
            <p:cNvPr id="9" name="Line 9"/>
            <p:cNvSpPr/>
            <p:nvPr/>
          </p:nvSpPr>
          <p:spPr>
            <a:xfrm>
              <a:off x="762000" y="14668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10" name="Ellipse 10"/>
            <p:cNvSpPr/>
            <p:nvPr/>
          </p:nvSpPr>
          <p:spPr>
            <a:xfrm>
              <a:off x="781050" y="1695450"/>
              <a:ext cx="76200" cy="76200"/>
            </a:xfrm>
            <a:prstGeom prst="ellipse">
              <a:avLst/>
            </a:prstGeom>
            <a:solidFill>
              <a:srgbClr val="C7000A"/>
            </a:solidFill>
            <a:ln>
              <a:noFill/>
            </a:ln>
          </p:spPr>
        </p:sp>
        <p:sp>
          <p:nvSpPr>
            <p:cNvPr id="11" name="TextBox 11"/>
            <p:cNvSpPr txBox="1"/>
            <p:nvPr/>
          </p:nvSpPr>
          <p:spPr>
            <a:xfrm>
              <a:off x="946785" y="1669256"/>
              <a:ext cx="2459736"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国防安全（新设BU）</a:t>
              </a:r>
              <a:r>
                <a:rPr lang="en-US" sz="1120" dirty="0">
                  <a:solidFill>
                    <a:srgbClr val="6B6B6B"/>
                  </a:solidFill>
                  <a:latin typeface="Arial"/>
                  <a:ea typeface="Arial"/>
                  <a:cs typeface="Arial"/>
                </a:rPr>
                <a:t>— 20%/416M€</a:t>
              </a:r>
            </a:p>
          </p:txBody>
        </p:sp>
        <p:sp>
          <p:nvSpPr>
            <p:cNvPr id="12" name="Ellipse 12"/>
            <p:cNvSpPr/>
            <p:nvPr/>
          </p:nvSpPr>
          <p:spPr>
            <a:xfrm>
              <a:off x="781050" y="1981200"/>
              <a:ext cx="76200" cy="76200"/>
            </a:xfrm>
            <a:prstGeom prst="ellipse">
              <a:avLst/>
            </a:prstGeom>
            <a:solidFill>
              <a:srgbClr val="C7000A"/>
            </a:solidFill>
            <a:ln>
              <a:noFill/>
            </a:ln>
          </p:spPr>
        </p:sp>
        <p:sp>
          <p:nvSpPr>
            <p:cNvPr id="13" name="TextBox 13"/>
            <p:cNvSpPr txBox="1"/>
            <p:nvPr/>
          </p:nvSpPr>
          <p:spPr>
            <a:xfrm>
              <a:off x="946785" y="1955006"/>
              <a:ext cx="196367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公共部门政务</a:t>
              </a:r>
              <a:r>
                <a:rPr lang="en-US" sz="1120" dirty="0">
                  <a:solidFill>
                    <a:srgbClr val="6B6B6B"/>
                  </a:solidFill>
                  <a:latin typeface="Arial"/>
                  <a:ea typeface="Arial"/>
                  <a:cs typeface="Arial"/>
                </a:rPr>
                <a:t>— 18%/374M€</a:t>
              </a:r>
            </a:p>
          </p:txBody>
        </p:sp>
        <p:sp>
          <p:nvSpPr>
            <p:cNvPr id="14" name="Ellipse 14"/>
            <p:cNvSpPr/>
            <p:nvPr/>
          </p:nvSpPr>
          <p:spPr>
            <a:xfrm>
              <a:off x="781050" y="2266950"/>
              <a:ext cx="76200" cy="76200"/>
            </a:xfrm>
            <a:prstGeom prst="ellipse">
              <a:avLst/>
            </a:prstGeom>
            <a:solidFill>
              <a:srgbClr val="C7000A"/>
            </a:solidFill>
            <a:ln>
              <a:noFill/>
            </a:ln>
          </p:spPr>
        </p:sp>
        <p:sp>
          <p:nvSpPr>
            <p:cNvPr id="15" name="TextBox 15"/>
            <p:cNvSpPr txBox="1"/>
            <p:nvPr/>
          </p:nvSpPr>
          <p:spPr>
            <a:xfrm>
              <a:off x="946785" y="2240756"/>
              <a:ext cx="2723769"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医疗健康(医院集团GHT)</a:t>
              </a:r>
              <a:r>
                <a:rPr lang="en-US" sz="1120" dirty="0">
                  <a:solidFill>
                    <a:srgbClr val="6B6B6B"/>
                  </a:solidFill>
                  <a:latin typeface="Arial"/>
                  <a:ea typeface="Arial"/>
                  <a:cs typeface="Arial"/>
                </a:rPr>
                <a:t>— 12%/250M€</a:t>
              </a:r>
            </a:p>
          </p:txBody>
        </p:sp>
        <p:sp>
          <p:nvSpPr>
            <p:cNvPr id="16" name="Ellipse 16"/>
            <p:cNvSpPr/>
            <p:nvPr/>
          </p:nvSpPr>
          <p:spPr>
            <a:xfrm>
              <a:off x="781050" y="2552700"/>
              <a:ext cx="76200" cy="76200"/>
            </a:xfrm>
            <a:prstGeom prst="ellipse">
              <a:avLst/>
            </a:prstGeom>
            <a:solidFill>
              <a:srgbClr val="C7000A"/>
            </a:solidFill>
            <a:ln>
              <a:noFill/>
            </a:ln>
          </p:spPr>
        </p:sp>
        <p:sp>
          <p:nvSpPr>
            <p:cNvPr id="17" name="TextBox 17"/>
            <p:cNvSpPr txBox="1"/>
            <p:nvPr/>
          </p:nvSpPr>
          <p:spPr>
            <a:xfrm>
              <a:off x="946785" y="2526506"/>
              <a:ext cx="164363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金融保险</a:t>
              </a:r>
              <a:r>
                <a:rPr lang="en-US" sz="1120" dirty="0">
                  <a:solidFill>
                    <a:srgbClr val="6B6B6B"/>
                  </a:solidFill>
                  <a:latin typeface="Arial"/>
                  <a:ea typeface="Arial"/>
                  <a:cs typeface="Arial"/>
                </a:rPr>
                <a:t>— 10%/208M€</a:t>
              </a:r>
            </a:p>
          </p:txBody>
        </p:sp>
        <p:sp>
          <p:nvSpPr>
            <p:cNvPr id="18" name="Ellipse 18"/>
            <p:cNvSpPr/>
            <p:nvPr/>
          </p:nvSpPr>
          <p:spPr>
            <a:xfrm>
              <a:off x="781050" y="2838450"/>
              <a:ext cx="76200" cy="76200"/>
            </a:xfrm>
            <a:prstGeom prst="ellipse">
              <a:avLst/>
            </a:prstGeom>
            <a:solidFill>
              <a:srgbClr val="C7000A"/>
            </a:solidFill>
            <a:ln>
              <a:noFill/>
            </a:ln>
          </p:spPr>
        </p:sp>
        <p:sp>
          <p:nvSpPr>
            <p:cNvPr id="19" name="TextBox 19"/>
            <p:cNvSpPr txBox="1"/>
            <p:nvPr/>
          </p:nvSpPr>
          <p:spPr>
            <a:xfrm>
              <a:off x="946785" y="2812256"/>
              <a:ext cx="228371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交通运输/机场枢纽</a:t>
              </a:r>
              <a:r>
                <a:rPr lang="en-US" sz="1120" dirty="0">
                  <a:solidFill>
                    <a:srgbClr val="6B6B6B"/>
                  </a:solidFill>
                  <a:latin typeface="Arial"/>
                  <a:ea typeface="Arial"/>
                  <a:cs typeface="Arial"/>
                </a:rPr>
                <a:t>— 8%/166M€</a:t>
              </a:r>
            </a:p>
          </p:txBody>
        </p:sp>
        <p:sp>
          <p:nvSpPr>
            <p:cNvPr id="20" name="Ellipse 20"/>
            <p:cNvSpPr/>
            <p:nvPr/>
          </p:nvSpPr>
          <p:spPr>
            <a:xfrm>
              <a:off x="781050" y="3124200"/>
              <a:ext cx="76200" cy="76200"/>
            </a:xfrm>
            <a:prstGeom prst="ellipse">
              <a:avLst/>
            </a:prstGeom>
            <a:solidFill>
              <a:srgbClr val="C7000A"/>
            </a:solidFill>
            <a:ln>
              <a:noFill/>
            </a:ln>
          </p:spPr>
        </p:sp>
        <p:sp>
          <p:nvSpPr>
            <p:cNvPr id="21" name="TextBox 21"/>
            <p:cNvSpPr txBox="1"/>
            <p:nvPr/>
          </p:nvSpPr>
          <p:spPr>
            <a:xfrm>
              <a:off x="946785" y="3098006"/>
              <a:ext cx="1555623"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零售物流</a:t>
              </a:r>
              <a:r>
                <a:rPr lang="en-US" sz="1120" dirty="0">
                  <a:solidFill>
                    <a:srgbClr val="6B6B6B"/>
                  </a:solidFill>
                  <a:latin typeface="Arial"/>
                  <a:ea typeface="Arial"/>
                  <a:cs typeface="Arial"/>
                </a:rPr>
                <a:t>— 8%/166M€</a:t>
              </a:r>
            </a:p>
          </p:txBody>
        </p:sp>
        <p:sp>
          <p:nvSpPr>
            <p:cNvPr id="22" name="Ellipse 22"/>
            <p:cNvSpPr/>
            <p:nvPr/>
          </p:nvSpPr>
          <p:spPr>
            <a:xfrm>
              <a:off x="781050" y="3409950"/>
              <a:ext cx="76200" cy="76200"/>
            </a:xfrm>
            <a:prstGeom prst="ellipse">
              <a:avLst/>
            </a:prstGeom>
            <a:solidFill>
              <a:srgbClr val="C7000A"/>
            </a:solidFill>
            <a:ln>
              <a:noFill/>
            </a:ln>
          </p:spPr>
        </p:sp>
        <p:sp>
          <p:nvSpPr>
            <p:cNvPr id="23" name="TextBox 23"/>
            <p:cNvSpPr txBox="1"/>
            <p:nvPr/>
          </p:nvSpPr>
          <p:spPr>
            <a:xfrm>
              <a:off x="946785" y="3383756"/>
              <a:ext cx="1875663"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能源公用事业</a:t>
              </a:r>
              <a:r>
                <a:rPr lang="en-US" sz="1120" dirty="0">
                  <a:solidFill>
                    <a:srgbClr val="6B6B6B"/>
                  </a:solidFill>
                  <a:latin typeface="Arial"/>
                  <a:ea typeface="Arial"/>
                  <a:cs typeface="Arial"/>
                </a:rPr>
                <a:t>— 8%/166M€</a:t>
              </a:r>
            </a:p>
          </p:txBody>
        </p:sp>
        <p:sp>
          <p:nvSpPr>
            <p:cNvPr id="24" name="Ellipse 24"/>
            <p:cNvSpPr/>
            <p:nvPr/>
          </p:nvSpPr>
          <p:spPr>
            <a:xfrm>
              <a:off x="781050" y="3695700"/>
              <a:ext cx="76200" cy="76200"/>
            </a:xfrm>
            <a:prstGeom prst="ellipse">
              <a:avLst/>
            </a:prstGeom>
            <a:solidFill>
              <a:srgbClr val="C7000A"/>
            </a:solidFill>
            <a:ln>
              <a:noFill/>
            </a:ln>
          </p:spPr>
        </p:sp>
        <p:sp>
          <p:nvSpPr>
            <p:cNvPr id="25" name="TextBox 25"/>
            <p:cNvSpPr txBox="1"/>
            <p:nvPr/>
          </p:nvSpPr>
          <p:spPr>
            <a:xfrm>
              <a:off x="946785" y="3669506"/>
              <a:ext cx="228371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工业制造/汽车航空</a:t>
              </a:r>
              <a:r>
                <a:rPr lang="en-US" sz="1120" dirty="0">
                  <a:solidFill>
                    <a:srgbClr val="6B6B6B"/>
                  </a:solidFill>
                  <a:latin typeface="Arial"/>
                  <a:ea typeface="Arial"/>
                  <a:cs typeface="Arial"/>
                </a:rPr>
                <a:t>— 7%/146M€</a:t>
              </a:r>
            </a:p>
          </p:txBody>
        </p:sp>
        <p:sp>
          <p:nvSpPr>
            <p:cNvPr id="26" name="Line 26"/>
            <p:cNvSpPr/>
            <p:nvPr/>
          </p:nvSpPr>
          <p:spPr>
            <a:xfrm>
              <a:off x="762000" y="400050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27" name="TextBox 27"/>
            <p:cNvSpPr txBox="1"/>
            <p:nvPr/>
          </p:nvSpPr>
          <p:spPr>
            <a:xfrm>
              <a:off x="756666" y="4115752"/>
              <a:ext cx="2979039"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逻辑：存量客户深耕，成熟垂直行业稳固经营；</a:t>
              </a:r>
            </a:p>
          </p:txBody>
        </p:sp>
        <p:sp>
          <p:nvSpPr>
            <p:cNvPr id="28" name="TextBox 28"/>
            <p:cNvSpPr txBox="1"/>
            <p:nvPr/>
          </p:nvSpPr>
          <p:spPr>
            <a:xfrm>
              <a:off x="756666" y="4306252"/>
              <a:ext cx="3453232"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国防+公共部门合计38%为最大单一板块（详见P11）</a:t>
              </a:r>
            </a:p>
          </p:txBody>
        </p:sp>
        <p:sp>
          <p:nvSpPr>
            <p:cNvPr id="29" name="TextBox 29"/>
            <p:cNvSpPr txBox="1"/>
            <p:nvPr/>
          </p:nvSpPr>
          <p:spPr>
            <a:xfrm>
              <a:off x="757238" y="4531995"/>
              <a:ext cx="3384004"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案例：法国军队部卫星通信框架(Telespazio)、UGAP电信框架</a:t>
              </a:r>
            </a:p>
          </p:txBody>
        </p:sp>
      </p:grpSp>
      <p:grpSp>
        <p:nvGrpSpPr>
          <p:cNvPr id="55" name="Group 55"/>
          <p:cNvGrpSpPr/>
          <p:nvPr/>
        </p:nvGrpSpPr>
        <p:grpSpPr>
          <a:xfrm>
            <a:off x="4314825" y="952500"/>
            <a:ext cx="3773004" cy="4667250"/>
            <a:chOff x="4314825" y="952500"/>
            <a:chExt cx="3773004" cy="4667250"/>
          </a:xfrm>
        </p:grpSpPr>
        <p:sp>
          <p:nvSpPr>
            <p:cNvPr id="31" name="Rectangle 31"/>
            <p:cNvSpPr/>
            <p:nvPr/>
          </p:nvSpPr>
          <p:spPr>
            <a:xfrm>
              <a:off x="4314825" y="952500"/>
              <a:ext cx="3552825" cy="4667250"/>
            </a:xfrm>
            <a:prstGeom prst="roundRect">
              <a:avLst>
                <a:gd name="adj" fmla="val 1072"/>
              </a:avLst>
            </a:prstGeom>
            <a:solidFill>
              <a:srgbClr val="FBF6F1"/>
            </a:solidFill>
            <a:ln w="9525">
              <a:solidFill>
                <a:srgbClr val="E8E2DA"/>
              </a:solidFill>
            </a:ln>
          </p:spPr>
        </p:sp>
        <p:sp>
          <p:nvSpPr>
            <p:cNvPr id="32" name="Rectangle 32"/>
            <p:cNvSpPr/>
            <p:nvPr/>
          </p:nvSpPr>
          <p:spPr>
            <a:xfrm>
              <a:off x="4314825" y="952500"/>
              <a:ext cx="3552825" cy="76200"/>
            </a:xfrm>
            <a:prstGeom prst="rect">
              <a:avLst/>
            </a:prstGeom>
            <a:solidFill>
              <a:srgbClr val="E9002F"/>
            </a:solidFill>
            <a:ln>
              <a:noFill/>
            </a:ln>
          </p:spPr>
        </p:sp>
        <p:sp>
          <p:nvSpPr>
            <p:cNvPr id="33" name="TextBox 33"/>
            <p:cNvSpPr txBox="1"/>
            <p:nvPr/>
          </p:nvSpPr>
          <p:spPr>
            <a:xfrm>
              <a:off x="4536186" y="1179671"/>
              <a:ext cx="1929917" cy="278702"/>
            </a:xfrm>
            <a:prstGeom prst="rect">
              <a:avLst/>
            </a:prstGeom>
            <a:noFill/>
            <a:ln>
              <a:noFill/>
            </a:ln>
          </p:spPr>
          <p:txBody>
            <a:bodyPr wrap="none" lIns="0" tIns="0" rIns="0" bIns="0" anchor="t" anchorCtr="0">
              <a:spAutoFit/>
            </a:bodyPr>
            <a:lstStyle/>
            <a:p>
              <a:pPr algn="l"/>
              <a:r>
                <a:rPr lang="zh-CN" sz="1420" b="1" dirty="0">
                  <a:solidFill>
                    <a:srgbClr val="E9002F"/>
                  </a:solidFill>
                  <a:latin typeface="Arial"/>
                  <a:ea typeface="Microsoft YaHei"/>
                  <a:cs typeface="Arial"/>
                </a:rPr>
                <a:t>OEU · 集成能力建设</a:t>
              </a:r>
            </a:p>
          </p:txBody>
        </p:sp>
        <p:sp>
          <p:nvSpPr>
            <p:cNvPr id="34" name="Line 34"/>
            <p:cNvSpPr/>
            <p:nvPr/>
          </p:nvSpPr>
          <p:spPr>
            <a:xfrm>
              <a:off x="4543425" y="14668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35" name="Ellipse 35"/>
            <p:cNvSpPr/>
            <p:nvPr/>
          </p:nvSpPr>
          <p:spPr>
            <a:xfrm>
              <a:off x="4562475" y="1676400"/>
              <a:ext cx="76200" cy="76200"/>
            </a:xfrm>
            <a:prstGeom prst="ellipse">
              <a:avLst/>
            </a:prstGeom>
            <a:solidFill>
              <a:srgbClr val="E9002F"/>
            </a:solidFill>
            <a:ln>
              <a:noFill/>
            </a:ln>
          </p:spPr>
        </p:sp>
        <p:sp>
          <p:nvSpPr>
            <p:cNvPr id="36" name="TextBox 36"/>
            <p:cNvSpPr txBox="1"/>
            <p:nvPr/>
          </p:nvSpPr>
          <p:spPr>
            <a:xfrm>
              <a:off x="4728210" y="1650206"/>
              <a:ext cx="1747647"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波兰：IT系统集成商定位</a:t>
              </a:r>
            </a:p>
          </p:txBody>
        </p:sp>
        <p:sp>
          <p:nvSpPr>
            <p:cNvPr id="37" name="TextBox 37"/>
            <p:cNvSpPr txBox="1"/>
            <p:nvPr/>
          </p:nvSpPr>
          <p:spPr>
            <a:xfrm>
              <a:off x="4728972" y="1837849"/>
              <a:ext cx="2521584"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BlueSoft/Craftware并购，ICT占B2B36%</a:t>
              </a:r>
            </a:p>
          </p:txBody>
        </p:sp>
        <p:sp>
          <p:nvSpPr>
            <p:cNvPr id="38" name="Ellipse 38"/>
            <p:cNvSpPr/>
            <p:nvPr/>
          </p:nvSpPr>
          <p:spPr>
            <a:xfrm>
              <a:off x="4562475" y="2171700"/>
              <a:ext cx="76200" cy="76200"/>
            </a:xfrm>
            <a:prstGeom prst="ellipse">
              <a:avLst/>
            </a:prstGeom>
            <a:solidFill>
              <a:srgbClr val="E9002F"/>
            </a:solidFill>
            <a:ln>
              <a:noFill/>
            </a:ln>
          </p:spPr>
        </p:sp>
        <p:sp>
          <p:nvSpPr>
            <p:cNvPr id="39" name="TextBox 39"/>
            <p:cNvSpPr txBox="1"/>
            <p:nvPr/>
          </p:nvSpPr>
          <p:spPr>
            <a:xfrm>
              <a:off x="4728210" y="2145506"/>
              <a:ext cx="2293879"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西班牙：邮政(Correos)中标框架</a:t>
              </a:r>
            </a:p>
          </p:txBody>
        </p:sp>
        <p:sp>
          <p:nvSpPr>
            <p:cNvPr id="40" name="Ellipse 40"/>
            <p:cNvSpPr/>
            <p:nvPr/>
          </p:nvSpPr>
          <p:spPr>
            <a:xfrm>
              <a:off x="4562475" y="2457450"/>
              <a:ext cx="76200" cy="76200"/>
            </a:xfrm>
            <a:prstGeom prst="ellipse">
              <a:avLst/>
            </a:prstGeom>
            <a:solidFill>
              <a:srgbClr val="E9002F"/>
            </a:solidFill>
            <a:ln>
              <a:noFill/>
            </a:ln>
          </p:spPr>
        </p:sp>
        <p:sp>
          <p:nvSpPr>
            <p:cNvPr id="41" name="TextBox 41"/>
            <p:cNvSpPr txBox="1"/>
            <p:nvPr/>
          </p:nvSpPr>
          <p:spPr>
            <a:xfrm>
              <a:off x="4728210" y="2431256"/>
              <a:ext cx="2526530"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西班牙：地产(Merlin)/建筑(OHLA)</a:t>
              </a:r>
            </a:p>
          </p:txBody>
        </p:sp>
        <p:sp>
          <p:nvSpPr>
            <p:cNvPr id="42" name="Ellipse 42"/>
            <p:cNvSpPr/>
            <p:nvPr/>
          </p:nvSpPr>
          <p:spPr>
            <a:xfrm>
              <a:off x="4562475" y="2743200"/>
              <a:ext cx="76200" cy="76200"/>
            </a:xfrm>
            <a:prstGeom prst="ellipse">
              <a:avLst/>
            </a:prstGeom>
            <a:solidFill>
              <a:srgbClr val="E9002F"/>
            </a:solidFill>
            <a:ln>
              <a:noFill/>
            </a:ln>
          </p:spPr>
        </p:sp>
        <p:sp>
          <p:nvSpPr>
            <p:cNvPr id="43" name="TextBox 43"/>
            <p:cNvSpPr txBox="1"/>
            <p:nvPr/>
          </p:nvSpPr>
          <p:spPr>
            <a:xfrm>
              <a:off x="4728210" y="2717006"/>
              <a:ext cx="3339683"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西班牙：博彩(Loterías)/能源(TotalEnergies)</a:t>
              </a:r>
            </a:p>
          </p:txBody>
        </p:sp>
        <p:sp>
          <p:nvSpPr>
            <p:cNvPr id="44" name="Ellipse 44"/>
            <p:cNvSpPr/>
            <p:nvPr/>
          </p:nvSpPr>
          <p:spPr>
            <a:xfrm>
              <a:off x="4562475" y="3028950"/>
              <a:ext cx="76200" cy="76200"/>
            </a:xfrm>
            <a:prstGeom prst="ellipse">
              <a:avLst/>
            </a:prstGeom>
            <a:solidFill>
              <a:srgbClr val="E9002F"/>
            </a:solidFill>
            <a:ln>
              <a:noFill/>
            </a:ln>
          </p:spPr>
        </p:sp>
        <p:sp>
          <p:nvSpPr>
            <p:cNvPr id="45" name="TextBox 45"/>
            <p:cNvSpPr txBox="1"/>
            <p:nvPr/>
          </p:nvSpPr>
          <p:spPr>
            <a:xfrm>
              <a:off x="4728210" y="3002756"/>
              <a:ext cx="2619756"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罗马尼亚：网络安全(SCUT合资公司)</a:t>
              </a:r>
            </a:p>
          </p:txBody>
        </p:sp>
        <p:sp>
          <p:nvSpPr>
            <p:cNvPr id="46" name="TextBox 46"/>
            <p:cNvSpPr txBox="1"/>
            <p:nvPr/>
          </p:nvSpPr>
          <p:spPr>
            <a:xfrm>
              <a:off x="4728972" y="3190399"/>
              <a:ext cx="2724447"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与Orange Cyberdefense共建，B2B收入+14%</a:t>
              </a:r>
            </a:p>
          </p:txBody>
        </p:sp>
        <p:sp>
          <p:nvSpPr>
            <p:cNvPr id="47" name="Ellipse 47"/>
            <p:cNvSpPr/>
            <p:nvPr/>
          </p:nvSpPr>
          <p:spPr>
            <a:xfrm>
              <a:off x="4562475" y="3524250"/>
              <a:ext cx="76200" cy="76200"/>
            </a:xfrm>
            <a:prstGeom prst="ellipse">
              <a:avLst/>
            </a:prstGeom>
            <a:solidFill>
              <a:srgbClr val="E9002F"/>
            </a:solidFill>
            <a:ln>
              <a:noFill/>
            </a:ln>
          </p:spPr>
        </p:sp>
        <p:sp>
          <p:nvSpPr>
            <p:cNvPr id="48" name="TextBox 48"/>
            <p:cNvSpPr txBox="1"/>
            <p:nvPr/>
          </p:nvSpPr>
          <p:spPr>
            <a:xfrm>
              <a:off x="4728210" y="3498056"/>
              <a:ext cx="244373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比利时/卢森堡：统一B2B品牌整合</a:t>
              </a:r>
            </a:p>
          </p:txBody>
        </p:sp>
        <p:sp>
          <p:nvSpPr>
            <p:cNvPr id="49" name="Ellipse 49"/>
            <p:cNvSpPr/>
            <p:nvPr/>
          </p:nvSpPr>
          <p:spPr>
            <a:xfrm>
              <a:off x="4562475" y="3810000"/>
              <a:ext cx="76200" cy="76200"/>
            </a:xfrm>
            <a:prstGeom prst="ellipse">
              <a:avLst/>
            </a:prstGeom>
            <a:solidFill>
              <a:srgbClr val="E9002F"/>
            </a:solidFill>
            <a:ln>
              <a:noFill/>
            </a:ln>
          </p:spPr>
        </p:sp>
        <p:sp>
          <p:nvSpPr>
            <p:cNvPr id="50" name="TextBox 50"/>
            <p:cNvSpPr txBox="1"/>
            <p:nvPr/>
          </p:nvSpPr>
          <p:spPr>
            <a:xfrm>
              <a:off x="4728210" y="3783806"/>
              <a:ext cx="1980248"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摩尔多瓦：跨国服务交付枢纽</a:t>
              </a:r>
            </a:p>
          </p:txBody>
        </p:sp>
        <p:sp>
          <p:nvSpPr>
            <p:cNvPr id="51" name="Line 51"/>
            <p:cNvSpPr/>
            <p:nvPr/>
          </p:nvSpPr>
          <p:spPr>
            <a:xfrm>
              <a:off x="4543425" y="407670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52" name="TextBox 52"/>
            <p:cNvSpPr txBox="1"/>
            <p:nvPr/>
          </p:nvSpPr>
          <p:spPr>
            <a:xfrm>
              <a:off x="4538091" y="4191952"/>
              <a:ext cx="2975305"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逻辑：并购构建IT集成能力，复制到新市场；</a:t>
              </a:r>
            </a:p>
          </p:txBody>
        </p:sp>
        <p:sp>
          <p:nvSpPr>
            <p:cNvPr id="53" name="TextBox 53"/>
            <p:cNvSpPr txBox="1"/>
            <p:nvPr/>
          </p:nvSpPr>
          <p:spPr>
            <a:xfrm>
              <a:off x="4538091" y="4382452"/>
              <a:ext cx="2639263"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波兰模式是OMEA可借鉴的外部对标案例</a:t>
              </a:r>
            </a:p>
          </p:txBody>
        </p:sp>
        <p:sp>
          <p:nvSpPr>
            <p:cNvPr id="54" name="TextBox 54"/>
            <p:cNvSpPr txBox="1"/>
            <p:nvPr/>
          </p:nvSpPr>
          <p:spPr>
            <a:xfrm>
              <a:off x="4538662" y="4531995"/>
              <a:ext cx="3549167"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行业占比（估，详见P11）：IT集成35% 公共20% 能源工业15%</a:t>
              </a:r>
            </a:p>
          </p:txBody>
        </p:sp>
      </p:grpSp>
      <p:grpSp>
        <p:nvGrpSpPr>
          <p:cNvPr id="80" name="Group 80"/>
          <p:cNvGrpSpPr/>
          <p:nvPr/>
        </p:nvGrpSpPr>
        <p:grpSpPr>
          <a:xfrm>
            <a:off x="8096250" y="952500"/>
            <a:ext cx="3664192" cy="4667250"/>
            <a:chOff x="8096250" y="952500"/>
            <a:chExt cx="3664192" cy="4667250"/>
          </a:xfrm>
        </p:grpSpPr>
        <p:sp>
          <p:nvSpPr>
            <p:cNvPr id="56" name="Rectangle 56"/>
            <p:cNvSpPr/>
            <p:nvPr/>
          </p:nvSpPr>
          <p:spPr>
            <a:xfrm>
              <a:off x="8096250" y="952500"/>
              <a:ext cx="3552825" cy="4667250"/>
            </a:xfrm>
            <a:prstGeom prst="roundRect">
              <a:avLst>
                <a:gd name="adj" fmla="val 1072"/>
              </a:avLst>
            </a:prstGeom>
            <a:solidFill>
              <a:srgbClr val="FBF6F1"/>
            </a:solidFill>
            <a:ln w="9525">
              <a:solidFill>
                <a:srgbClr val="E8E2DA"/>
              </a:solidFill>
            </a:ln>
          </p:spPr>
        </p:sp>
        <p:sp>
          <p:nvSpPr>
            <p:cNvPr id="57" name="Rectangle 57"/>
            <p:cNvSpPr/>
            <p:nvPr/>
          </p:nvSpPr>
          <p:spPr>
            <a:xfrm>
              <a:off x="8096250" y="952500"/>
              <a:ext cx="3552825" cy="76200"/>
            </a:xfrm>
            <a:prstGeom prst="rect">
              <a:avLst/>
            </a:prstGeom>
            <a:solidFill>
              <a:srgbClr val="F4A100"/>
            </a:solidFill>
            <a:ln>
              <a:noFill/>
            </a:ln>
          </p:spPr>
        </p:sp>
        <p:sp>
          <p:nvSpPr>
            <p:cNvPr id="58" name="TextBox 58"/>
            <p:cNvSpPr txBox="1"/>
            <p:nvPr/>
          </p:nvSpPr>
          <p:spPr>
            <a:xfrm>
              <a:off x="8317611" y="1179671"/>
              <a:ext cx="2089537" cy="278702"/>
            </a:xfrm>
            <a:prstGeom prst="rect">
              <a:avLst/>
            </a:prstGeom>
            <a:noFill/>
            <a:ln>
              <a:noFill/>
            </a:ln>
          </p:spPr>
          <p:txBody>
            <a:bodyPr wrap="none" lIns="0" tIns="0" rIns="0" bIns="0" anchor="t" anchorCtr="0">
              <a:spAutoFit/>
            </a:bodyPr>
            <a:lstStyle/>
            <a:p>
              <a:pPr algn="l"/>
              <a:r>
                <a:rPr lang="zh-CN" sz="1420" b="1" dirty="0">
                  <a:solidFill>
                    <a:srgbClr val="8A6D00"/>
                  </a:solidFill>
                  <a:latin typeface="Arial"/>
                  <a:ea typeface="Microsoft YaHei"/>
                  <a:cs typeface="Arial"/>
                </a:rPr>
                <a:t>OMEA · 基础设施跃迁</a:t>
              </a:r>
            </a:p>
          </p:txBody>
        </p:sp>
        <p:sp>
          <p:nvSpPr>
            <p:cNvPr id="59" name="Line 59"/>
            <p:cNvSpPr/>
            <p:nvPr/>
          </p:nvSpPr>
          <p:spPr>
            <a:xfrm>
              <a:off x="8324850" y="14668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60" name="Ellipse 60"/>
            <p:cNvSpPr/>
            <p:nvPr/>
          </p:nvSpPr>
          <p:spPr>
            <a:xfrm>
              <a:off x="8343900" y="1676400"/>
              <a:ext cx="76200" cy="76200"/>
            </a:xfrm>
            <a:prstGeom prst="ellipse">
              <a:avLst/>
            </a:prstGeom>
            <a:solidFill>
              <a:srgbClr val="F4A100"/>
            </a:solidFill>
            <a:ln>
              <a:noFill/>
            </a:ln>
          </p:spPr>
        </p:sp>
        <p:sp>
          <p:nvSpPr>
            <p:cNvPr id="61" name="TextBox 61"/>
            <p:cNvSpPr txBox="1"/>
            <p:nvPr/>
          </p:nvSpPr>
          <p:spPr>
            <a:xfrm>
              <a:off x="8509635" y="1650206"/>
              <a:ext cx="3138021"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矿业(Essakane Mine马里) — 华为/Nokia MPN</a:t>
              </a:r>
            </a:p>
          </p:txBody>
        </p:sp>
        <p:sp>
          <p:nvSpPr>
            <p:cNvPr id="62" name="Ellipse 62"/>
            <p:cNvSpPr/>
            <p:nvPr/>
          </p:nvSpPr>
          <p:spPr>
            <a:xfrm>
              <a:off x="8343900" y="1962150"/>
              <a:ext cx="76200" cy="76200"/>
            </a:xfrm>
            <a:prstGeom prst="ellipse">
              <a:avLst/>
            </a:prstGeom>
            <a:solidFill>
              <a:srgbClr val="F4A100"/>
            </a:solidFill>
            <a:ln>
              <a:noFill/>
            </a:ln>
          </p:spPr>
        </p:sp>
        <p:sp>
          <p:nvSpPr>
            <p:cNvPr id="63" name="TextBox 63"/>
            <p:cNvSpPr txBox="1"/>
            <p:nvPr/>
          </p:nvSpPr>
          <p:spPr>
            <a:xfrm>
              <a:off x="8509635" y="1935956"/>
              <a:ext cx="2929166"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港口(Tanger Port马士基) — 智慧港口连接</a:t>
              </a:r>
            </a:p>
          </p:txBody>
        </p:sp>
        <p:sp>
          <p:nvSpPr>
            <p:cNvPr id="64" name="Ellipse 64"/>
            <p:cNvSpPr/>
            <p:nvPr/>
          </p:nvSpPr>
          <p:spPr>
            <a:xfrm>
              <a:off x="8343900" y="2247900"/>
              <a:ext cx="76200" cy="76200"/>
            </a:xfrm>
            <a:prstGeom prst="ellipse">
              <a:avLst/>
            </a:prstGeom>
            <a:solidFill>
              <a:srgbClr val="F4A100"/>
            </a:solidFill>
            <a:ln>
              <a:noFill/>
            </a:ln>
          </p:spPr>
        </p:sp>
        <p:sp>
          <p:nvSpPr>
            <p:cNvPr id="65" name="TextBox 65"/>
            <p:cNvSpPr txBox="1"/>
            <p:nvPr/>
          </p:nvSpPr>
          <p:spPr>
            <a:xfrm>
              <a:off x="8509635" y="2221706"/>
              <a:ext cx="2710543"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港口(Aqaba CT约旦) — 集装箱码头专网</a:t>
              </a:r>
            </a:p>
          </p:txBody>
        </p:sp>
        <p:sp>
          <p:nvSpPr>
            <p:cNvPr id="66" name="Ellipse 66"/>
            <p:cNvSpPr/>
            <p:nvPr/>
          </p:nvSpPr>
          <p:spPr>
            <a:xfrm>
              <a:off x="8343900" y="2533650"/>
              <a:ext cx="76200" cy="76200"/>
            </a:xfrm>
            <a:prstGeom prst="ellipse">
              <a:avLst/>
            </a:prstGeom>
            <a:solidFill>
              <a:srgbClr val="F4A100"/>
            </a:solidFill>
            <a:ln>
              <a:noFill/>
            </a:ln>
          </p:spPr>
        </p:sp>
        <p:sp>
          <p:nvSpPr>
            <p:cNvPr id="67" name="TextBox 67"/>
            <p:cNvSpPr txBox="1"/>
            <p:nvPr/>
          </p:nvSpPr>
          <p:spPr>
            <a:xfrm>
              <a:off x="8509635" y="2507456"/>
              <a:ext cx="2623899"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电子政务(塞内加尔) — 新技术协议红利</a:t>
              </a:r>
            </a:p>
          </p:txBody>
        </p:sp>
        <p:sp>
          <p:nvSpPr>
            <p:cNvPr id="68" name="Ellipse 68"/>
            <p:cNvSpPr/>
            <p:nvPr/>
          </p:nvSpPr>
          <p:spPr>
            <a:xfrm>
              <a:off x="8343900" y="2819400"/>
              <a:ext cx="76200" cy="76200"/>
            </a:xfrm>
            <a:prstGeom prst="ellipse">
              <a:avLst/>
            </a:prstGeom>
            <a:solidFill>
              <a:srgbClr val="F4A100"/>
            </a:solidFill>
            <a:ln>
              <a:noFill/>
            </a:ln>
          </p:spPr>
        </p:sp>
        <p:sp>
          <p:nvSpPr>
            <p:cNvPr id="69" name="TextBox 69"/>
            <p:cNvSpPr txBox="1"/>
            <p:nvPr/>
          </p:nvSpPr>
          <p:spPr>
            <a:xfrm>
              <a:off x="8509635" y="2793206"/>
              <a:ext cx="2923927"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金融科技(Orange Money信贷) — SME融资</a:t>
              </a:r>
            </a:p>
          </p:txBody>
        </p:sp>
        <p:sp>
          <p:nvSpPr>
            <p:cNvPr id="70" name="Ellipse 70"/>
            <p:cNvSpPr/>
            <p:nvPr/>
          </p:nvSpPr>
          <p:spPr>
            <a:xfrm>
              <a:off x="8343900" y="3105150"/>
              <a:ext cx="76200" cy="76200"/>
            </a:xfrm>
            <a:prstGeom prst="ellipse">
              <a:avLst/>
            </a:prstGeom>
            <a:solidFill>
              <a:srgbClr val="F4A100"/>
            </a:solidFill>
            <a:ln>
              <a:noFill/>
            </a:ln>
          </p:spPr>
        </p:sp>
        <p:sp>
          <p:nvSpPr>
            <p:cNvPr id="71" name="TextBox 71"/>
            <p:cNvSpPr txBox="1"/>
            <p:nvPr/>
          </p:nvSpPr>
          <p:spPr>
            <a:xfrm>
              <a:off x="8509635" y="3078956"/>
              <a:ext cx="2986468"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能源(Orange Energies太阳能) — SoHo套件</a:t>
              </a:r>
            </a:p>
          </p:txBody>
        </p:sp>
        <p:sp>
          <p:nvSpPr>
            <p:cNvPr id="72" name="Ellipse 72"/>
            <p:cNvSpPr/>
            <p:nvPr/>
          </p:nvSpPr>
          <p:spPr>
            <a:xfrm>
              <a:off x="8343900" y="3390900"/>
              <a:ext cx="76200" cy="76200"/>
            </a:xfrm>
            <a:prstGeom prst="ellipse">
              <a:avLst/>
            </a:prstGeom>
            <a:solidFill>
              <a:srgbClr val="F4A100"/>
            </a:solidFill>
            <a:ln>
              <a:noFill/>
            </a:ln>
          </p:spPr>
        </p:sp>
        <p:sp>
          <p:nvSpPr>
            <p:cNvPr id="73" name="TextBox 73"/>
            <p:cNvSpPr txBox="1"/>
            <p:nvPr/>
          </p:nvSpPr>
          <p:spPr>
            <a:xfrm>
              <a:off x="8509635" y="3364706"/>
              <a:ext cx="2683764"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波兰OPL模式借鉴：IT集成商转型路径</a:t>
              </a:r>
            </a:p>
          </p:txBody>
        </p:sp>
        <p:sp>
          <p:nvSpPr>
            <p:cNvPr id="74" name="Ellipse 74"/>
            <p:cNvSpPr/>
            <p:nvPr/>
          </p:nvSpPr>
          <p:spPr>
            <a:xfrm>
              <a:off x="8343900" y="3676650"/>
              <a:ext cx="76200" cy="76200"/>
            </a:xfrm>
            <a:prstGeom prst="ellipse">
              <a:avLst/>
            </a:prstGeom>
            <a:solidFill>
              <a:srgbClr val="F4A100"/>
            </a:solidFill>
            <a:ln>
              <a:noFill/>
            </a:ln>
          </p:spPr>
        </p:sp>
        <p:sp>
          <p:nvSpPr>
            <p:cNvPr id="75" name="TextBox 75"/>
            <p:cNvSpPr txBox="1"/>
            <p:nvPr/>
          </p:nvSpPr>
          <p:spPr>
            <a:xfrm>
              <a:off x="8509635" y="3650456"/>
              <a:ext cx="2611755"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埃及OEG：混合架构+AI赋能垂直行业</a:t>
              </a:r>
            </a:p>
          </p:txBody>
        </p:sp>
        <p:sp>
          <p:nvSpPr>
            <p:cNvPr id="76" name="Line 76"/>
            <p:cNvSpPr/>
            <p:nvPr/>
          </p:nvSpPr>
          <p:spPr>
            <a:xfrm>
              <a:off x="8324850" y="39814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77" name="TextBox 77"/>
            <p:cNvSpPr txBox="1"/>
            <p:nvPr/>
          </p:nvSpPr>
          <p:spPr>
            <a:xfrm>
              <a:off x="8319516" y="4096702"/>
              <a:ext cx="2837688"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逻辑：靠基建案例打开增长，华为深度参与；</a:t>
              </a:r>
            </a:p>
          </p:txBody>
        </p:sp>
        <p:sp>
          <p:nvSpPr>
            <p:cNvPr id="78" name="TextBox 78"/>
            <p:cNvSpPr txBox="1"/>
            <p:nvPr/>
          </p:nvSpPr>
          <p:spPr>
            <a:xfrm>
              <a:off x="8319516" y="4287202"/>
              <a:ext cx="2878226"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G3计划推动矿业/港口/公共行业标准化打包</a:t>
              </a:r>
            </a:p>
          </p:txBody>
        </p:sp>
        <p:sp>
          <p:nvSpPr>
            <p:cNvPr id="79" name="TextBox 79"/>
            <p:cNvSpPr txBox="1"/>
            <p:nvPr/>
          </p:nvSpPr>
          <p:spPr>
            <a:xfrm>
              <a:off x="8320088" y="4531995"/>
              <a:ext cx="3440354"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行业占比（估，详见P11）：矿业35% 港口30% 电子政务15%</a:t>
              </a:r>
            </a:p>
          </p:txBody>
        </p:sp>
      </p:grpSp>
      <p:grpSp>
        <p:nvGrpSpPr>
          <p:cNvPr id="84" name="Group 84"/>
          <p:cNvGrpSpPr/>
          <p:nvPr/>
        </p:nvGrpSpPr>
        <p:grpSpPr>
          <a:xfrm>
            <a:off x="533400" y="5791200"/>
            <a:ext cx="11125200" cy="685800"/>
            <a:chOff x="533400" y="5791200"/>
            <a:chExt cx="11125200" cy="685800"/>
          </a:xfrm>
        </p:grpSpPr>
        <p:sp>
          <p:nvSpPr>
            <p:cNvPr id="81" name="Rectangle 81"/>
            <p:cNvSpPr/>
            <p:nvPr/>
          </p:nvSpPr>
          <p:spPr>
            <a:xfrm>
              <a:off x="533400" y="5791200"/>
              <a:ext cx="11125200" cy="685800"/>
            </a:xfrm>
            <a:prstGeom prst="roundRect">
              <a:avLst>
                <a:gd name="adj" fmla="val 5556"/>
              </a:avLst>
            </a:prstGeom>
            <a:solidFill>
              <a:srgbClr val="FBF6F1"/>
            </a:solidFill>
            <a:ln w="9525">
              <a:solidFill>
                <a:srgbClr val="E8E2DA"/>
              </a:solidFill>
            </a:ln>
          </p:spPr>
        </p:sp>
        <p:sp>
          <p:nvSpPr>
            <p:cNvPr id="82" name="TextBox 82"/>
            <p:cNvSpPr txBox="1"/>
            <p:nvPr/>
          </p:nvSpPr>
          <p:spPr>
            <a:xfrm>
              <a:off x="755142" y="5931218"/>
              <a:ext cx="9520344" cy="264033"/>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核心结论：三区域行业叙事逻辑不同——OB是</a:t>
              </a:r>
              <a:r>
                <a:rPr lang="zh-CN" sz="1350" b="1" dirty="0">
                  <a:solidFill>
                    <a:srgbClr val="C7000A"/>
                  </a:solidFill>
                  <a:latin typeface="Arial"/>
                  <a:ea typeface="Microsoft YaHei"/>
                  <a:cs typeface="Arial"/>
                </a:rPr>
                <a:t>"存量深耕"</a:t>
              </a:r>
              <a:r>
                <a:rPr lang="zh-CN" sz="1350" b="1" dirty="0">
                  <a:solidFill>
                    <a:srgbClr val="1A1A1A"/>
                  </a:solidFill>
                  <a:latin typeface="Arial"/>
                  <a:ea typeface="Microsoft YaHei"/>
                  <a:cs typeface="Arial"/>
                </a:rPr>
                <a:t>，OEU是</a:t>
              </a:r>
              <a:r>
                <a:rPr lang="zh-CN" sz="1350" b="1" dirty="0">
                  <a:solidFill>
                    <a:srgbClr val="E9002F"/>
                  </a:solidFill>
                  <a:latin typeface="Arial"/>
                  <a:ea typeface="Microsoft YaHei"/>
                  <a:cs typeface="Arial"/>
                </a:rPr>
                <a:t>"集成能力建设"</a:t>
              </a:r>
              <a:r>
                <a:rPr lang="zh-CN" sz="1350" b="1" dirty="0">
                  <a:solidFill>
                    <a:srgbClr val="1A1A1A"/>
                  </a:solidFill>
                  <a:latin typeface="Arial"/>
                  <a:ea typeface="Microsoft YaHei"/>
                  <a:cs typeface="Arial"/>
                </a:rPr>
                <a:t>，OMEA是</a:t>
              </a:r>
              <a:r>
                <a:rPr lang="zh-CN" sz="1350" b="1" dirty="0">
                  <a:solidFill>
                    <a:srgbClr val="8A6D00"/>
                  </a:solidFill>
                  <a:latin typeface="Arial"/>
                  <a:ea typeface="Microsoft YaHei"/>
                  <a:cs typeface="Arial"/>
                </a:rPr>
                <a:t>"基础设施跃迁"</a:t>
              </a:r>
            </a:p>
          </p:txBody>
        </p:sp>
        <p:sp>
          <p:nvSpPr>
            <p:cNvPr id="83" name="TextBox 83"/>
            <p:cNvSpPr txBox="1"/>
            <p:nvPr/>
          </p:nvSpPr>
          <p:spPr>
            <a:xfrm>
              <a:off x="756285" y="6184106"/>
              <a:ext cx="3787902"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OMEA的矿业港口场景是华为参与度最高的行业切入点</a:t>
              </a:r>
            </a:p>
          </p:txBody>
        </p:sp>
      </p:grpSp>
      <p:grpSp>
        <p:nvGrpSpPr>
          <p:cNvPr id="87" name="Group 87"/>
          <p:cNvGrpSpPr/>
          <p:nvPr/>
        </p:nvGrpSpPr>
        <p:grpSpPr>
          <a:xfrm>
            <a:off x="528447" y="6562249"/>
            <a:ext cx="11135106" cy="190690"/>
            <a:chOff x="528447" y="6562249"/>
            <a:chExt cx="11135106" cy="190690"/>
          </a:xfrm>
        </p:grpSpPr>
        <p:sp>
          <p:nvSpPr>
            <p:cNvPr id="85" name="TextBox 85"/>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86" name="TextBox 86"/>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3494" y="227648"/>
            <a:ext cx="11752543" cy="562927"/>
            <a:chOff x="523494" y="227648"/>
            <a:chExt cx="11752543" cy="562927"/>
          </a:xfrm>
        </p:grpSpPr>
        <p:sp>
          <p:nvSpPr>
            <p:cNvPr id="3" name="TextBox 3"/>
            <p:cNvSpPr txBox="1"/>
            <p:nvPr/>
          </p:nvSpPr>
          <p:spPr>
            <a:xfrm>
              <a:off x="523494" y="227648"/>
              <a:ext cx="11752543" cy="381381"/>
            </a:xfrm>
            <a:prstGeom prst="rect">
              <a:avLst/>
            </a:prstGeom>
            <a:noFill/>
            <a:ln>
              <a:noFill/>
            </a:ln>
          </p:spPr>
          <p:txBody>
            <a:bodyPr wrap="none" lIns="0" tIns="0" rIns="0" bIns="0" anchor="t" anchorCtr="0">
              <a:spAutoFit/>
            </a:bodyPr>
            <a:lstStyle/>
            <a:p>
              <a:pPr algn="l"/>
              <a:r>
                <a:rPr lang="zh-CN" sz="1950" b="1" dirty="0">
                  <a:solidFill>
                    <a:srgbClr val="1A1A1A"/>
                  </a:solidFill>
                  <a:latin typeface="Arial"/>
                  <a:ea typeface="Microsoft YaHei"/>
                  <a:cs typeface="Arial"/>
                </a:rPr>
                <a:t>Offering统一权威目录（L1-L3）——OB全品类覆盖14/15项，</a:t>
              </a:r>
              <a:r>
                <a:rPr lang="zh-CN" sz="1950" b="1" dirty="0">
                  <a:solidFill>
                    <a:srgbClr val="E9002F"/>
                  </a:solidFill>
                  <a:latin typeface="Arial"/>
                  <a:ea typeface="Microsoft YaHei"/>
                  <a:cs typeface="Arial"/>
                </a:rPr>
                <a:t>OMEA在连接/Cloud/MPN已反超</a:t>
              </a:r>
            </a:p>
          </p:txBody>
        </p:sp>
        <p:sp>
          <p:nvSpPr>
            <p:cNvPr id="4" name="TextBox 4"/>
            <p:cNvSpPr txBox="1"/>
            <p:nvPr/>
          </p:nvSpPr>
          <p:spPr>
            <a:xfrm>
              <a:off x="528066" y="553402"/>
              <a:ext cx="7264083"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 xml:space="preserve">目录基于Orange Business官方Offering架构，OEU/OMEA按本地案例验证标注 · </a:t>
              </a:r>
              <a:r>
                <a:rPr lang="en-US" sz="1050" b="1" dirty="0">
                  <a:solidFill>
                    <a:srgbClr val="2E8B57"/>
                  </a:solidFill>
                  <a:latin typeface="Arial"/>
                  <a:ea typeface="Arial"/>
                  <a:cs typeface="Arial"/>
                </a:rPr>
                <a:t>✓</a:t>
              </a:r>
              <a:r>
                <a:rPr lang="zh-CN" sz="1050" dirty="0">
                  <a:solidFill>
                    <a:srgbClr val="6B6B6B"/>
                  </a:solidFill>
                  <a:latin typeface="Arial"/>
                  <a:ea typeface="Microsoft YaHei"/>
                  <a:cs typeface="Arial"/>
                </a:rPr>
                <a:t xml:space="preserve">成熟商用 </a:t>
              </a:r>
              <a:r>
                <a:rPr lang="en-US" sz="1050" b="1" dirty="0">
                  <a:solidFill>
                    <a:srgbClr val="8A6D00"/>
                  </a:solidFill>
                  <a:latin typeface="Arial"/>
                  <a:ea typeface="Arial"/>
                  <a:cs typeface="Arial"/>
                </a:rPr>
                <a:t>△</a:t>
              </a:r>
              <a:r>
                <a:rPr lang="zh-CN" sz="1050" dirty="0">
                  <a:solidFill>
                    <a:srgbClr val="6B6B6B"/>
                  </a:solidFill>
                  <a:latin typeface="Arial"/>
                  <a:ea typeface="Microsoft YaHei"/>
                  <a:cs typeface="Arial"/>
                </a:rPr>
                <a:t xml:space="preserve">部分/新兴 </a:t>
              </a:r>
              <a:r>
                <a:rPr lang="en-US" sz="1050" b="1" dirty="0">
                  <a:solidFill>
                    <a:srgbClr val="9B9B9B"/>
                  </a:solidFill>
                  <a:latin typeface="Arial"/>
                  <a:ea typeface="Arial"/>
                  <a:cs typeface="Arial"/>
                </a:rPr>
                <a:t>✗</a:t>
              </a:r>
              <a:r>
                <a:rPr lang="zh-CN" sz="1050" dirty="0">
                  <a:solidFill>
                    <a:srgbClr val="6B6B6B"/>
                  </a:solidFill>
                  <a:latin typeface="Arial"/>
                  <a:ea typeface="Microsoft YaHei"/>
                  <a:cs typeface="Arial"/>
                </a:rPr>
                <a:t>未开展</a:t>
              </a:r>
            </a:p>
          </p:txBody>
        </p:sp>
        <p:sp>
          <p:nvSpPr>
            <p:cNvPr id="5" name="Line 5"/>
            <p:cNvSpPr/>
            <p:nvPr/>
          </p:nvSpPr>
          <p:spPr>
            <a:xfrm>
              <a:off x="533400" y="78105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13" name="Group 13"/>
          <p:cNvGrpSpPr/>
          <p:nvPr/>
        </p:nvGrpSpPr>
        <p:grpSpPr>
          <a:xfrm>
            <a:off x="533400" y="847249"/>
            <a:ext cx="11125200" cy="190690"/>
            <a:chOff x="533400" y="847249"/>
            <a:chExt cx="11125200" cy="190690"/>
          </a:xfrm>
        </p:grpSpPr>
        <p:sp>
          <p:nvSpPr>
            <p:cNvPr id="7" name="TextBox 7"/>
            <p:cNvSpPr txBox="1"/>
            <p:nvPr/>
          </p:nvSpPr>
          <p:spPr>
            <a:xfrm>
              <a:off x="623888" y="855345"/>
              <a:ext cx="426217" cy="176212"/>
            </a:xfrm>
            <a:prstGeom prst="rect">
              <a:avLst/>
            </a:prstGeom>
            <a:noFill/>
            <a:ln>
              <a:noFill/>
            </a:ln>
          </p:spPr>
          <p:txBody>
            <a:bodyPr wrap="none" lIns="0" tIns="0" rIns="0" bIns="0" anchor="t" anchorCtr="0">
              <a:spAutoFit/>
            </a:bodyPr>
            <a:lstStyle/>
            <a:p>
              <a:pPr algn="l"/>
              <a:r>
                <a:rPr lang="zh-CN" sz="900" b="1" dirty="0">
                  <a:solidFill>
                    <a:srgbClr val="6B6B6B"/>
                  </a:solidFill>
                  <a:latin typeface="Arial"/>
                  <a:ea typeface="Microsoft YaHei"/>
                  <a:cs typeface="Arial"/>
                </a:rPr>
                <a:t>L1维度</a:t>
              </a:r>
            </a:p>
          </p:txBody>
        </p:sp>
        <p:sp>
          <p:nvSpPr>
            <p:cNvPr id="8" name="TextBox 8"/>
            <p:cNvSpPr txBox="1"/>
            <p:nvPr/>
          </p:nvSpPr>
          <p:spPr>
            <a:xfrm>
              <a:off x="1671638" y="855345"/>
              <a:ext cx="1232718" cy="176212"/>
            </a:xfrm>
            <a:prstGeom prst="rect">
              <a:avLst/>
            </a:prstGeom>
            <a:noFill/>
            <a:ln>
              <a:noFill/>
            </a:ln>
          </p:spPr>
          <p:txBody>
            <a:bodyPr wrap="none" lIns="0" tIns="0" rIns="0" bIns="0" anchor="t" anchorCtr="0">
              <a:spAutoFit/>
            </a:bodyPr>
            <a:lstStyle/>
            <a:p>
              <a:pPr algn="l"/>
              <a:r>
                <a:rPr lang="zh-CN" sz="900" b="1" dirty="0">
                  <a:solidFill>
                    <a:srgbClr val="6B6B6B"/>
                  </a:solidFill>
                  <a:latin typeface="Arial"/>
                  <a:ea typeface="Microsoft YaHei"/>
                  <a:cs typeface="Arial"/>
                </a:rPr>
                <a:t>OFFERING（L2/L3）</a:t>
              </a:r>
            </a:p>
          </p:txBody>
        </p:sp>
        <p:sp>
          <p:nvSpPr>
            <p:cNvPr id="9" name="TextBox 9"/>
            <p:cNvSpPr txBox="1"/>
            <p:nvPr/>
          </p:nvSpPr>
          <p:spPr>
            <a:xfrm>
              <a:off x="7520395" y="847249"/>
              <a:ext cx="199210" cy="190690"/>
            </a:xfrm>
            <a:prstGeom prst="rect">
              <a:avLst/>
            </a:prstGeom>
            <a:noFill/>
            <a:ln>
              <a:noFill/>
            </a:ln>
          </p:spPr>
          <p:txBody>
            <a:bodyPr wrap="none" lIns="0" tIns="0" rIns="0" bIns="0" anchor="t" anchorCtr="0">
              <a:spAutoFit/>
            </a:bodyPr>
            <a:lstStyle/>
            <a:p>
              <a:pPr algn="ctr"/>
              <a:r>
                <a:rPr lang="en-US" sz="980" b="1" dirty="0">
                  <a:solidFill>
                    <a:srgbClr val="C7000A"/>
                  </a:solidFill>
                  <a:latin typeface="Arial"/>
                  <a:ea typeface="Arial"/>
                  <a:cs typeface="Arial"/>
                </a:rPr>
                <a:t>OB</a:t>
              </a:r>
            </a:p>
          </p:txBody>
        </p:sp>
        <p:sp>
          <p:nvSpPr>
            <p:cNvPr id="10" name="TextBox 10"/>
            <p:cNvSpPr txBox="1"/>
            <p:nvPr/>
          </p:nvSpPr>
          <p:spPr>
            <a:xfrm>
              <a:off x="9004350" y="847249"/>
              <a:ext cx="279300" cy="190690"/>
            </a:xfrm>
            <a:prstGeom prst="rect">
              <a:avLst/>
            </a:prstGeom>
            <a:noFill/>
            <a:ln>
              <a:noFill/>
            </a:ln>
          </p:spPr>
          <p:txBody>
            <a:bodyPr wrap="none" lIns="0" tIns="0" rIns="0" bIns="0" anchor="t" anchorCtr="0">
              <a:spAutoFit/>
            </a:bodyPr>
            <a:lstStyle/>
            <a:p>
              <a:pPr algn="ctr"/>
              <a:r>
                <a:rPr lang="en-US" sz="980" b="1" dirty="0">
                  <a:solidFill>
                    <a:srgbClr val="E9002F"/>
                  </a:solidFill>
                  <a:latin typeface="Arial"/>
                  <a:ea typeface="Arial"/>
                  <a:cs typeface="Arial"/>
                </a:rPr>
                <a:t>OEU</a:t>
              </a:r>
            </a:p>
          </p:txBody>
        </p:sp>
        <p:sp>
          <p:nvSpPr>
            <p:cNvPr id="11" name="TextBox 11"/>
            <p:cNvSpPr txBox="1"/>
            <p:nvPr/>
          </p:nvSpPr>
          <p:spPr>
            <a:xfrm>
              <a:off x="10473743" y="847249"/>
              <a:ext cx="388513" cy="190690"/>
            </a:xfrm>
            <a:prstGeom prst="rect">
              <a:avLst/>
            </a:prstGeom>
            <a:noFill/>
            <a:ln>
              <a:noFill/>
            </a:ln>
          </p:spPr>
          <p:txBody>
            <a:bodyPr wrap="none" lIns="0" tIns="0" rIns="0" bIns="0" anchor="t" anchorCtr="0">
              <a:spAutoFit/>
            </a:bodyPr>
            <a:lstStyle/>
            <a:p>
              <a:pPr algn="ctr"/>
              <a:r>
                <a:rPr lang="en-US" sz="980" b="1" dirty="0">
                  <a:solidFill>
                    <a:srgbClr val="8A6D00"/>
                  </a:solidFill>
                  <a:latin typeface="Arial"/>
                  <a:ea typeface="Arial"/>
                  <a:cs typeface="Arial"/>
                </a:rPr>
                <a:t>OMEA</a:t>
              </a:r>
            </a:p>
          </p:txBody>
        </p:sp>
        <p:sp>
          <p:nvSpPr>
            <p:cNvPr id="12" name="Line 12"/>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5E1"/>
              </a:solidFill>
            </a:ln>
          </p:spPr>
        </p:sp>
      </p:grpSp>
      <p:grpSp>
        <p:nvGrpSpPr>
          <p:cNvPr id="94" name="Group 94"/>
          <p:cNvGrpSpPr/>
          <p:nvPr/>
        </p:nvGrpSpPr>
        <p:grpSpPr>
          <a:xfrm>
            <a:off x="533400" y="1066800"/>
            <a:ext cx="11125200" cy="4391406"/>
            <a:chOff x="533400" y="1066800"/>
            <a:chExt cx="11125200" cy="4391406"/>
          </a:xfrm>
        </p:grpSpPr>
        <p:sp>
          <p:nvSpPr>
            <p:cNvPr id="14" name="Rectangle 14"/>
            <p:cNvSpPr/>
            <p:nvPr/>
          </p:nvSpPr>
          <p:spPr>
            <a:xfrm>
              <a:off x="533400" y="1066800"/>
              <a:ext cx="11125200" cy="152400"/>
            </a:xfrm>
            <a:prstGeom prst="rect">
              <a:avLst/>
            </a:prstGeom>
            <a:solidFill>
              <a:srgbClr val="C7000A">
                <a:alpha val="14000"/>
              </a:srgbClr>
            </a:solidFill>
            <a:ln>
              <a:noFill/>
            </a:ln>
          </p:spPr>
        </p:sp>
        <p:sp>
          <p:nvSpPr>
            <p:cNvPr id="15" name="TextBox 15"/>
            <p:cNvSpPr txBox="1"/>
            <p:nvPr/>
          </p:nvSpPr>
          <p:spPr>
            <a:xfrm>
              <a:off x="623888" y="1083945"/>
              <a:ext cx="1083179" cy="176212"/>
            </a:xfrm>
            <a:prstGeom prst="rect">
              <a:avLst/>
            </a:prstGeom>
            <a:noFill/>
            <a:ln>
              <a:noFill/>
            </a:ln>
          </p:spPr>
          <p:txBody>
            <a:bodyPr wrap="none" lIns="0" tIns="0" rIns="0" bIns="0" anchor="t" anchorCtr="0">
              <a:spAutoFit/>
            </a:bodyPr>
            <a:lstStyle/>
            <a:p>
              <a:pPr algn="l"/>
              <a:r>
                <a:rPr lang="zh-CN" sz="900" b="1" dirty="0">
                  <a:solidFill>
                    <a:srgbClr val="C7000A"/>
                  </a:solidFill>
                  <a:latin typeface="Arial"/>
                  <a:ea typeface="Microsoft YaHei"/>
                  <a:cs typeface="Arial"/>
                </a:rPr>
                <a:t>连接 Connectivity</a:t>
              </a:r>
            </a:p>
          </p:txBody>
        </p:sp>
        <p:sp>
          <p:nvSpPr>
            <p:cNvPr id="16" name="TextBox 16"/>
            <p:cNvSpPr txBox="1"/>
            <p:nvPr/>
          </p:nvSpPr>
          <p:spPr>
            <a:xfrm>
              <a:off x="1671066" y="1277302"/>
              <a:ext cx="2242197"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Business VPN / IP-VPN（专线级）</a:t>
              </a:r>
            </a:p>
          </p:txBody>
        </p:sp>
        <p:sp>
          <p:nvSpPr>
            <p:cNvPr id="17" name="TextBox 17"/>
            <p:cNvSpPr txBox="1"/>
            <p:nvPr/>
          </p:nvSpPr>
          <p:spPr>
            <a:xfrm>
              <a:off x="7567258" y="1261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18" name="TextBox 18"/>
            <p:cNvSpPr txBox="1"/>
            <p:nvPr/>
          </p:nvSpPr>
          <p:spPr>
            <a:xfrm>
              <a:off x="9091258" y="1261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19" name="TextBox 19"/>
            <p:cNvSpPr txBox="1"/>
            <p:nvPr/>
          </p:nvSpPr>
          <p:spPr>
            <a:xfrm>
              <a:off x="10615258" y="1261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20" name="Rectangle 20"/>
            <p:cNvSpPr/>
            <p:nvPr/>
          </p:nvSpPr>
          <p:spPr>
            <a:xfrm>
              <a:off x="533400" y="1447800"/>
              <a:ext cx="11125200" cy="228600"/>
            </a:xfrm>
            <a:prstGeom prst="rect">
              <a:avLst/>
            </a:prstGeom>
            <a:solidFill>
              <a:srgbClr val="FBF6F1"/>
            </a:solidFill>
            <a:ln>
              <a:noFill/>
            </a:ln>
          </p:spPr>
        </p:sp>
        <p:sp>
          <p:nvSpPr>
            <p:cNvPr id="21" name="TextBox 21"/>
            <p:cNvSpPr txBox="1"/>
            <p:nvPr/>
          </p:nvSpPr>
          <p:spPr>
            <a:xfrm>
              <a:off x="1671066" y="1505902"/>
              <a:ext cx="1578864"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SD-WAN（云化广域网）</a:t>
              </a:r>
            </a:p>
          </p:txBody>
        </p:sp>
        <p:sp>
          <p:nvSpPr>
            <p:cNvPr id="22" name="TextBox 22"/>
            <p:cNvSpPr txBox="1"/>
            <p:nvPr/>
          </p:nvSpPr>
          <p:spPr>
            <a:xfrm>
              <a:off x="7567258" y="14897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23" name="TextBox 23"/>
            <p:cNvSpPr txBox="1"/>
            <p:nvPr/>
          </p:nvSpPr>
          <p:spPr>
            <a:xfrm>
              <a:off x="9091258" y="14897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24" name="TextBox 24"/>
            <p:cNvSpPr txBox="1"/>
            <p:nvPr/>
          </p:nvSpPr>
          <p:spPr>
            <a:xfrm>
              <a:off x="10615258" y="14897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25" name="TextBox 25"/>
            <p:cNvSpPr txBox="1"/>
            <p:nvPr/>
          </p:nvSpPr>
          <p:spPr>
            <a:xfrm>
              <a:off x="1671066" y="1734502"/>
              <a:ext cx="1967179"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5G专网连接（企业移动专线）</a:t>
              </a:r>
            </a:p>
          </p:txBody>
        </p:sp>
        <p:sp>
          <p:nvSpPr>
            <p:cNvPr id="26" name="TextBox 26"/>
            <p:cNvSpPr txBox="1"/>
            <p:nvPr/>
          </p:nvSpPr>
          <p:spPr>
            <a:xfrm>
              <a:off x="7567258" y="17183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27" name="TextBox 27"/>
            <p:cNvSpPr txBox="1"/>
            <p:nvPr/>
          </p:nvSpPr>
          <p:spPr>
            <a:xfrm>
              <a:off x="9091258" y="17183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28" name="TextBox 28"/>
            <p:cNvSpPr txBox="1"/>
            <p:nvPr/>
          </p:nvSpPr>
          <p:spPr>
            <a:xfrm>
              <a:off x="10615258" y="17183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29" name="Rectangle 29"/>
            <p:cNvSpPr/>
            <p:nvPr/>
          </p:nvSpPr>
          <p:spPr>
            <a:xfrm>
              <a:off x="533400" y="1905000"/>
              <a:ext cx="11125200" cy="228600"/>
            </a:xfrm>
            <a:prstGeom prst="rect">
              <a:avLst/>
            </a:prstGeom>
            <a:solidFill>
              <a:srgbClr val="FBF6F1"/>
            </a:solidFill>
            <a:ln>
              <a:noFill/>
            </a:ln>
          </p:spPr>
        </p:sp>
        <p:sp>
          <p:nvSpPr>
            <p:cNvPr id="30" name="TextBox 30"/>
            <p:cNvSpPr txBox="1"/>
            <p:nvPr/>
          </p:nvSpPr>
          <p:spPr>
            <a:xfrm>
              <a:off x="1671066" y="1963102"/>
              <a:ext cx="1832762"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SASE（安全接入服务边缘）</a:t>
              </a:r>
            </a:p>
          </p:txBody>
        </p:sp>
        <p:sp>
          <p:nvSpPr>
            <p:cNvPr id="31" name="TextBox 31"/>
            <p:cNvSpPr txBox="1"/>
            <p:nvPr/>
          </p:nvSpPr>
          <p:spPr>
            <a:xfrm>
              <a:off x="7567258" y="19469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32" name="TextBox 32"/>
            <p:cNvSpPr txBox="1"/>
            <p:nvPr/>
          </p:nvSpPr>
          <p:spPr>
            <a:xfrm>
              <a:off x="9091258" y="19469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33" name="TextBox 33"/>
            <p:cNvSpPr txBox="1"/>
            <p:nvPr/>
          </p:nvSpPr>
          <p:spPr>
            <a:xfrm>
              <a:off x="10615258" y="19469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34" name="Rectangle 34"/>
            <p:cNvSpPr/>
            <p:nvPr/>
          </p:nvSpPr>
          <p:spPr>
            <a:xfrm>
              <a:off x="533400" y="2133600"/>
              <a:ext cx="11125200" cy="152400"/>
            </a:xfrm>
            <a:prstGeom prst="rect">
              <a:avLst/>
            </a:prstGeom>
            <a:solidFill>
              <a:srgbClr val="C7000A">
                <a:alpha val="14000"/>
              </a:srgbClr>
            </a:solidFill>
            <a:ln>
              <a:noFill/>
            </a:ln>
          </p:spPr>
        </p:sp>
        <p:sp>
          <p:nvSpPr>
            <p:cNvPr id="35" name="TextBox 35"/>
            <p:cNvSpPr txBox="1"/>
            <p:nvPr/>
          </p:nvSpPr>
          <p:spPr>
            <a:xfrm>
              <a:off x="623888" y="2150745"/>
              <a:ext cx="500146" cy="176212"/>
            </a:xfrm>
            <a:prstGeom prst="rect">
              <a:avLst/>
            </a:prstGeom>
            <a:noFill/>
            <a:ln>
              <a:noFill/>
            </a:ln>
          </p:spPr>
          <p:txBody>
            <a:bodyPr wrap="none" lIns="0" tIns="0" rIns="0" bIns="0" anchor="t" anchorCtr="0">
              <a:spAutoFit/>
            </a:bodyPr>
            <a:lstStyle/>
            <a:p>
              <a:pPr algn="l"/>
              <a:r>
                <a:rPr lang="zh-CN" sz="900" b="1" dirty="0">
                  <a:solidFill>
                    <a:srgbClr val="C7000A"/>
                  </a:solidFill>
                  <a:latin typeface="Arial"/>
                  <a:ea typeface="Microsoft YaHei"/>
                  <a:cs typeface="Arial"/>
                </a:rPr>
                <a:t>LAN管理</a:t>
              </a:r>
            </a:p>
          </p:txBody>
        </p:sp>
        <p:sp>
          <p:nvSpPr>
            <p:cNvPr id="36" name="TextBox 36"/>
            <p:cNvSpPr txBox="1"/>
            <p:nvPr/>
          </p:nvSpPr>
          <p:spPr>
            <a:xfrm>
              <a:off x="1671066" y="2344102"/>
              <a:ext cx="2034388"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Managed LAN（园区网络托管）</a:t>
              </a:r>
            </a:p>
          </p:txBody>
        </p:sp>
        <p:sp>
          <p:nvSpPr>
            <p:cNvPr id="37" name="TextBox 37"/>
            <p:cNvSpPr txBox="1"/>
            <p:nvPr/>
          </p:nvSpPr>
          <p:spPr>
            <a:xfrm>
              <a:off x="7567258" y="23279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38" name="TextBox 38"/>
            <p:cNvSpPr txBox="1"/>
            <p:nvPr/>
          </p:nvSpPr>
          <p:spPr>
            <a:xfrm>
              <a:off x="9091258" y="23279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39" name="TextBox 39"/>
            <p:cNvSpPr txBox="1"/>
            <p:nvPr/>
          </p:nvSpPr>
          <p:spPr>
            <a:xfrm>
              <a:off x="10615258" y="23279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40" name="Rectangle 40"/>
            <p:cNvSpPr/>
            <p:nvPr/>
          </p:nvSpPr>
          <p:spPr>
            <a:xfrm>
              <a:off x="533400" y="2514600"/>
              <a:ext cx="11125200" cy="228600"/>
            </a:xfrm>
            <a:prstGeom prst="rect">
              <a:avLst/>
            </a:prstGeom>
            <a:solidFill>
              <a:srgbClr val="FBF6F1"/>
            </a:solidFill>
            <a:ln>
              <a:noFill/>
            </a:ln>
          </p:spPr>
        </p:sp>
        <p:sp>
          <p:nvSpPr>
            <p:cNvPr id="41" name="TextBox 41"/>
            <p:cNvSpPr txBox="1"/>
            <p:nvPr/>
          </p:nvSpPr>
          <p:spPr>
            <a:xfrm>
              <a:off x="1671066" y="2572702"/>
              <a:ext cx="1426121" cy="205359"/>
            </a:xfrm>
            <a:prstGeom prst="rect">
              <a:avLst/>
            </a:prstGeom>
            <a:noFill/>
            <a:ln>
              <a:noFill/>
            </a:ln>
          </p:spPr>
          <p:txBody>
            <a:bodyPr wrap="none" lIns="0" tIns="0" rIns="0" bIns="0" anchor="t" anchorCtr="0">
              <a:spAutoFit/>
            </a:bodyPr>
            <a:lstStyle/>
            <a:p>
              <a:pPr algn="l"/>
              <a:r>
                <a:rPr lang="en-US" sz="1050" dirty="0">
                  <a:solidFill>
                    <a:srgbClr val="1A1A1A"/>
                  </a:solidFill>
                  <a:latin typeface="Arial"/>
                  <a:ea typeface="Arial"/>
                  <a:cs typeface="Arial"/>
                </a:rPr>
                <a:t>SD-LAN / Cloud Wi-Fi</a:t>
              </a:r>
            </a:p>
          </p:txBody>
        </p:sp>
        <p:sp>
          <p:nvSpPr>
            <p:cNvPr id="42" name="TextBox 42"/>
            <p:cNvSpPr txBox="1"/>
            <p:nvPr/>
          </p:nvSpPr>
          <p:spPr>
            <a:xfrm>
              <a:off x="7567258" y="25565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43" name="TextBox 43"/>
            <p:cNvSpPr txBox="1"/>
            <p:nvPr/>
          </p:nvSpPr>
          <p:spPr>
            <a:xfrm>
              <a:off x="9091258" y="25565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44" name="TextBox 44"/>
            <p:cNvSpPr txBox="1"/>
            <p:nvPr/>
          </p:nvSpPr>
          <p:spPr>
            <a:xfrm>
              <a:off x="10615258" y="25565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45" name="Rectangle 45"/>
            <p:cNvSpPr/>
            <p:nvPr/>
          </p:nvSpPr>
          <p:spPr>
            <a:xfrm>
              <a:off x="533400" y="2743200"/>
              <a:ext cx="11125200" cy="152400"/>
            </a:xfrm>
            <a:prstGeom prst="rect">
              <a:avLst/>
            </a:prstGeom>
            <a:solidFill>
              <a:srgbClr val="C7000A">
                <a:alpha val="14000"/>
              </a:srgbClr>
            </a:solidFill>
            <a:ln>
              <a:noFill/>
            </a:ln>
          </p:spPr>
        </p:sp>
        <p:sp>
          <p:nvSpPr>
            <p:cNvPr id="46" name="TextBox 46"/>
            <p:cNvSpPr txBox="1"/>
            <p:nvPr/>
          </p:nvSpPr>
          <p:spPr>
            <a:xfrm>
              <a:off x="623888" y="2760345"/>
              <a:ext cx="331165" cy="176212"/>
            </a:xfrm>
            <a:prstGeom prst="rect">
              <a:avLst/>
            </a:prstGeom>
            <a:noFill/>
            <a:ln>
              <a:noFill/>
            </a:ln>
          </p:spPr>
          <p:txBody>
            <a:bodyPr wrap="none" lIns="0" tIns="0" rIns="0" bIns="0" anchor="t" anchorCtr="0">
              <a:spAutoFit/>
            </a:bodyPr>
            <a:lstStyle/>
            <a:p>
              <a:pPr algn="l"/>
              <a:r>
                <a:rPr lang="en-US" sz="900" b="1" dirty="0">
                  <a:solidFill>
                    <a:srgbClr val="C7000A"/>
                  </a:solidFill>
                  <a:latin typeface="Arial"/>
                  <a:ea typeface="Arial"/>
                  <a:cs typeface="Arial"/>
                </a:rPr>
                <a:t>Cloud</a:t>
              </a:r>
            </a:p>
          </p:txBody>
        </p:sp>
        <p:sp>
          <p:nvSpPr>
            <p:cNvPr id="47" name="TextBox 47"/>
            <p:cNvSpPr txBox="1"/>
            <p:nvPr/>
          </p:nvSpPr>
          <p:spPr>
            <a:xfrm>
              <a:off x="1671066" y="2953702"/>
              <a:ext cx="1856632"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IaaS/PaaS转售（含主权云）</a:t>
              </a:r>
            </a:p>
          </p:txBody>
        </p:sp>
        <p:sp>
          <p:nvSpPr>
            <p:cNvPr id="48" name="TextBox 48"/>
            <p:cNvSpPr txBox="1"/>
            <p:nvPr/>
          </p:nvSpPr>
          <p:spPr>
            <a:xfrm>
              <a:off x="7567258" y="29375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49" name="TextBox 49"/>
            <p:cNvSpPr txBox="1"/>
            <p:nvPr/>
          </p:nvSpPr>
          <p:spPr>
            <a:xfrm>
              <a:off x="9091258" y="29375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50" name="TextBox 50"/>
            <p:cNvSpPr txBox="1"/>
            <p:nvPr/>
          </p:nvSpPr>
          <p:spPr>
            <a:xfrm>
              <a:off x="10615258" y="29375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51" name="Rectangle 51"/>
            <p:cNvSpPr/>
            <p:nvPr/>
          </p:nvSpPr>
          <p:spPr>
            <a:xfrm>
              <a:off x="533400" y="3124200"/>
              <a:ext cx="11125200" cy="228600"/>
            </a:xfrm>
            <a:prstGeom prst="rect">
              <a:avLst/>
            </a:prstGeom>
            <a:solidFill>
              <a:srgbClr val="FBF6F1"/>
            </a:solidFill>
            <a:ln>
              <a:noFill/>
            </a:ln>
          </p:spPr>
        </p:sp>
        <p:sp>
          <p:nvSpPr>
            <p:cNvPr id="52" name="TextBox 52"/>
            <p:cNvSpPr txBox="1"/>
            <p:nvPr/>
          </p:nvSpPr>
          <p:spPr>
            <a:xfrm>
              <a:off x="1671066" y="3182302"/>
              <a:ext cx="1586732"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云迁移管理 / 混合云容器</a:t>
              </a:r>
            </a:p>
          </p:txBody>
        </p:sp>
        <p:sp>
          <p:nvSpPr>
            <p:cNvPr id="53" name="TextBox 53"/>
            <p:cNvSpPr txBox="1"/>
            <p:nvPr/>
          </p:nvSpPr>
          <p:spPr>
            <a:xfrm>
              <a:off x="7567258" y="3166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54" name="TextBox 54"/>
            <p:cNvSpPr txBox="1"/>
            <p:nvPr/>
          </p:nvSpPr>
          <p:spPr>
            <a:xfrm>
              <a:off x="9091258" y="31661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55" name="TextBox 55"/>
            <p:cNvSpPr txBox="1"/>
            <p:nvPr/>
          </p:nvSpPr>
          <p:spPr>
            <a:xfrm>
              <a:off x="10615258" y="3166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56" name="Rectangle 56"/>
            <p:cNvSpPr/>
            <p:nvPr/>
          </p:nvSpPr>
          <p:spPr>
            <a:xfrm>
              <a:off x="533400" y="3352800"/>
              <a:ext cx="11125200" cy="152400"/>
            </a:xfrm>
            <a:prstGeom prst="rect">
              <a:avLst/>
            </a:prstGeom>
            <a:solidFill>
              <a:srgbClr val="C7000A">
                <a:alpha val="14000"/>
              </a:srgbClr>
            </a:solidFill>
            <a:ln>
              <a:noFill/>
            </a:ln>
          </p:spPr>
        </p:sp>
        <p:sp>
          <p:nvSpPr>
            <p:cNvPr id="57" name="TextBox 57"/>
            <p:cNvSpPr txBox="1"/>
            <p:nvPr/>
          </p:nvSpPr>
          <p:spPr>
            <a:xfrm>
              <a:off x="623888" y="3369945"/>
              <a:ext cx="541206" cy="176212"/>
            </a:xfrm>
            <a:prstGeom prst="rect">
              <a:avLst/>
            </a:prstGeom>
            <a:noFill/>
            <a:ln>
              <a:noFill/>
            </a:ln>
          </p:spPr>
          <p:txBody>
            <a:bodyPr wrap="none" lIns="0" tIns="0" rIns="0" bIns="0" anchor="t" anchorCtr="0">
              <a:spAutoFit/>
            </a:bodyPr>
            <a:lstStyle/>
            <a:p>
              <a:pPr algn="l"/>
              <a:r>
                <a:rPr lang="en-US" sz="900" b="1" dirty="0">
                  <a:solidFill>
                    <a:srgbClr val="C7000A"/>
                  </a:solidFill>
                  <a:latin typeface="Arial"/>
                  <a:ea typeface="Arial"/>
                  <a:cs typeface="Arial"/>
                </a:rPr>
                <a:t>Security</a:t>
              </a:r>
            </a:p>
          </p:txBody>
        </p:sp>
        <p:sp>
          <p:nvSpPr>
            <p:cNvPr id="58" name="TextBox 58"/>
            <p:cNvSpPr txBox="1"/>
            <p:nvPr/>
          </p:nvSpPr>
          <p:spPr>
            <a:xfrm>
              <a:off x="1671066" y="3563302"/>
              <a:ext cx="2026920"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MSSP（SOC/SIEM/威胁情报）</a:t>
              </a:r>
            </a:p>
          </p:txBody>
        </p:sp>
        <p:sp>
          <p:nvSpPr>
            <p:cNvPr id="59" name="TextBox 59"/>
            <p:cNvSpPr txBox="1"/>
            <p:nvPr/>
          </p:nvSpPr>
          <p:spPr>
            <a:xfrm>
              <a:off x="7567258" y="3547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60" name="TextBox 60"/>
            <p:cNvSpPr txBox="1"/>
            <p:nvPr/>
          </p:nvSpPr>
          <p:spPr>
            <a:xfrm>
              <a:off x="9091258" y="35471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61" name="TextBox 61"/>
            <p:cNvSpPr txBox="1"/>
            <p:nvPr/>
          </p:nvSpPr>
          <p:spPr>
            <a:xfrm>
              <a:off x="10615258" y="35471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62" name="Rectangle 62"/>
            <p:cNvSpPr/>
            <p:nvPr/>
          </p:nvSpPr>
          <p:spPr>
            <a:xfrm>
              <a:off x="533400" y="3733800"/>
              <a:ext cx="11125200" cy="228600"/>
            </a:xfrm>
            <a:prstGeom prst="rect">
              <a:avLst/>
            </a:prstGeom>
            <a:solidFill>
              <a:srgbClr val="FBF6F1"/>
            </a:solidFill>
            <a:ln>
              <a:noFill/>
            </a:ln>
          </p:spPr>
        </p:sp>
        <p:sp>
          <p:nvSpPr>
            <p:cNvPr id="63" name="TextBox 63"/>
            <p:cNvSpPr txBox="1"/>
            <p:nvPr/>
          </p:nvSpPr>
          <p:spPr>
            <a:xfrm>
              <a:off x="1671066" y="3791902"/>
              <a:ext cx="2308208"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终端安全 / 数据保护 / IoT-OT安全</a:t>
              </a:r>
            </a:p>
          </p:txBody>
        </p:sp>
        <p:sp>
          <p:nvSpPr>
            <p:cNvPr id="64" name="TextBox 64"/>
            <p:cNvSpPr txBox="1"/>
            <p:nvPr/>
          </p:nvSpPr>
          <p:spPr>
            <a:xfrm>
              <a:off x="7567258" y="37757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65" name="TextBox 65"/>
            <p:cNvSpPr txBox="1"/>
            <p:nvPr/>
          </p:nvSpPr>
          <p:spPr>
            <a:xfrm>
              <a:off x="9091258" y="37757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66" name="TextBox 66"/>
            <p:cNvSpPr txBox="1"/>
            <p:nvPr/>
          </p:nvSpPr>
          <p:spPr>
            <a:xfrm>
              <a:off x="10615258" y="37757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67" name="Rectangle 67"/>
            <p:cNvSpPr/>
            <p:nvPr/>
          </p:nvSpPr>
          <p:spPr>
            <a:xfrm>
              <a:off x="533400" y="3962400"/>
              <a:ext cx="11125200" cy="152400"/>
            </a:xfrm>
            <a:prstGeom prst="rect">
              <a:avLst/>
            </a:prstGeom>
            <a:solidFill>
              <a:srgbClr val="C7000A">
                <a:alpha val="14000"/>
              </a:srgbClr>
            </a:solidFill>
            <a:ln>
              <a:noFill/>
            </a:ln>
          </p:spPr>
        </p:sp>
        <p:sp>
          <p:nvSpPr>
            <p:cNvPr id="68" name="TextBox 68"/>
            <p:cNvSpPr txBox="1"/>
            <p:nvPr/>
          </p:nvSpPr>
          <p:spPr>
            <a:xfrm>
              <a:off x="623888" y="3979545"/>
              <a:ext cx="588357" cy="176212"/>
            </a:xfrm>
            <a:prstGeom prst="rect">
              <a:avLst/>
            </a:prstGeom>
            <a:noFill/>
            <a:ln>
              <a:noFill/>
            </a:ln>
          </p:spPr>
          <p:txBody>
            <a:bodyPr wrap="none" lIns="0" tIns="0" rIns="0" bIns="0" anchor="t" anchorCtr="0">
              <a:spAutoFit/>
            </a:bodyPr>
            <a:lstStyle/>
            <a:p>
              <a:pPr algn="l"/>
              <a:r>
                <a:rPr lang="zh-CN" sz="900" b="1" dirty="0">
                  <a:solidFill>
                    <a:srgbClr val="C7000A"/>
                  </a:solidFill>
                  <a:latin typeface="Arial"/>
                  <a:ea typeface="Microsoft YaHei"/>
                  <a:cs typeface="Arial"/>
                </a:rPr>
                <a:t>集成/转售</a:t>
              </a:r>
            </a:p>
          </p:txBody>
        </p:sp>
        <p:sp>
          <p:nvSpPr>
            <p:cNvPr id="69" name="TextBox 69"/>
            <p:cNvSpPr txBox="1"/>
            <p:nvPr/>
          </p:nvSpPr>
          <p:spPr>
            <a:xfrm>
              <a:off x="1671066" y="4172902"/>
              <a:ext cx="1706880"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系统集成（项目招标交付）</a:t>
              </a:r>
            </a:p>
          </p:txBody>
        </p:sp>
        <p:sp>
          <p:nvSpPr>
            <p:cNvPr id="70" name="TextBox 70"/>
            <p:cNvSpPr txBox="1"/>
            <p:nvPr/>
          </p:nvSpPr>
          <p:spPr>
            <a:xfrm>
              <a:off x="7567258" y="41567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71" name="TextBox 71"/>
            <p:cNvSpPr txBox="1"/>
            <p:nvPr/>
          </p:nvSpPr>
          <p:spPr>
            <a:xfrm>
              <a:off x="9091258" y="41567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72" name="TextBox 72"/>
            <p:cNvSpPr txBox="1"/>
            <p:nvPr/>
          </p:nvSpPr>
          <p:spPr>
            <a:xfrm>
              <a:off x="10615258" y="41567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73" name="Rectangle 73"/>
            <p:cNvSpPr/>
            <p:nvPr/>
          </p:nvSpPr>
          <p:spPr>
            <a:xfrm>
              <a:off x="533400" y="4343400"/>
              <a:ext cx="11125200" cy="228600"/>
            </a:xfrm>
            <a:prstGeom prst="rect">
              <a:avLst/>
            </a:prstGeom>
            <a:solidFill>
              <a:srgbClr val="FBF6F1"/>
            </a:solidFill>
            <a:ln>
              <a:noFill/>
            </a:ln>
          </p:spPr>
        </p:sp>
        <p:sp>
          <p:nvSpPr>
            <p:cNvPr id="74" name="TextBox 74"/>
            <p:cNvSpPr txBox="1"/>
            <p:nvPr/>
          </p:nvSpPr>
          <p:spPr>
            <a:xfrm>
              <a:off x="1671066" y="4401502"/>
              <a:ext cx="1827467"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硬件转售 / 软件License转售</a:t>
              </a:r>
            </a:p>
          </p:txBody>
        </p:sp>
        <p:sp>
          <p:nvSpPr>
            <p:cNvPr id="75" name="TextBox 75"/>
            <p:cNvSpPr txBox="1"/>
            <p:nvPr/>
          </p:nvSpPr>
          <p:spPr>
            <a:xfrm>
              <a:off x="7567258" y="43853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76" name="TextBox 76"/>
            <p:cNvSpPr txBox="1"/>
            <p:nvPr/>
          </p:nvSpPr>
          <p:spPr>
            <a:xfrm>
              <a:off x="9091258" y="43853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77" name="TextBox 77"/>
            <p:cNvSpPr txBox="1"/>
            <p:nvPr/>
          </p:nvSpPr>
          <p:spPr>
            <a:xfrm>
              <a:off x="10615258" y="43853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78" name="TextBox 78"/>
            <p:cNvSpPr txBox="1"/>
            <p:nvPr/>
          </p:nvSpPr>
          <p:spPr>
            <a:xfrm>
              <a:off x="1671066" y="4630102"/>
              <a:ext cx="2330012"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Digital Workplace / Data&amp;AI / 咨询</a:t>
              </a:r>
            </a:p>
          </p:txBody>
        </p:sp>
        <p:sp>
          <p:nvSpPr>
            <p:cNvPr id="79" name="TextBox 79"/>
            <p:cNvSpPr txBox="1"/>
            <p:nvPr/>
          </p:nvSpPr>
          <p:spPr>
            <a:xfrm>
              <a:off x="7567258" y="46139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80" name="TextBox 80"/>
            <p:cNvSpPr txBox="1"/>
            <p:nvPr/>
          </p:nvSpPr>
          <p:spPr>
            <a:xfrm>
              <a:off x="9091258" y="46139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81" name="TextBox 81"/>
            <p:cNvSpPr txBox="1"/>
            <p:nvPr/>
          </p:nvSpPr>
          <p:spPr>
            <a:xfrm>
              <a:off x="10615258" y="46139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82" name="Rectangle 82"/>
            <p:cNvSpPr/>
            <p:nvPr/>
          </p:nvSpPr>
          <p:spPr>
            <a:xfrm>
              <a:off x="533400" y="4800600"/>
              <a:ext cx="11125200" cy="152400"/>
            </a:xfrm>
            <a:prstGeom prst="rect">
              <a:avLst/>
            </a:prstGeom>
            <a:solidFill>
              <a:srgbClr val="C7000A">
                <a:alpha val="14000"/>
              </a:srgbClr>
            </a:solidFill>
            <a:ln>
              <a:noFill/>
            </a:ln>
          </p:spPr>
        </p:sp>
        <p:sp>
          <p:nvSpPr>
            <p:cNvPr id="83" name="TextBox 83"/>
            <p:cNvSpPr txBox="1"/>
            <p:nvPr/>
          </p:nvSpPr>
          <p:spPr>
            <a:xfrm>
              <a:off x="623888" y="4817745"/>
              <a:ext cx="795863" cy="176212"/>
            </a:xfrm>
            <a:prstGeom prst="rect">
              <a:avLst/>
            </a:prstGeom>
            <a:noFill/>
            <a:ln>
              <a:noFill/>
            </a:ln>
          </p:spPr>
          <p:txBody>
            <a:bodyPr wrap="none" lIns="0" tIns="0" rIns="0" bIns="0" anchor="t" anchorCtr="0">
              <a:spAutoFit/>
            </a:bodyPr>
            <a:lstStyle/>
            <a:p>
              <a:pPr algn="l"/>
              <a:r>
                <a:rPr lang="zh-CN" sz="900" b="1" dirty="0">
                  <a:solidFill>
                    <a:srgbClr val="C7000A"/>
                  </a:solidFill>
                  <a:latin typeface="Arial"/>
                  <a:ea typeface="Microsoft YaHei"/>
                  <a:cs typeface="Arial"/>
                </a:rPr>
                <a:t>MPN移动专网</a:t>
              </a:r>
            </a:p>
          </p:txBody>
        </p:sp>
        <p:sp>
          <p:nvSpPr>
            <p:cNvPr id="84" name="Rectangle 84"/>
            <p:cNvSpPr/>
            <p:nvPr/>
          </p:nvSpPr>
          <p:spPr>
            <a:xfrm>
              <a:off x="533400" y="4953000"/>
              <a:ext cx="11125200" cy="228600"/>
            </a:xfrm>
            <a:prstGeom prst="rect">
              <a:avLst/>
            </a:prstGeom>
            <a:solidFill>
              <a:srgbClr val="FBF6F1"/>
            </a:solidFill>
            <a:ln>
              <a:noFill/>
            </a:ln>
          </p:spPr>
        </p:sp>
        <p:sp>
          <p:nvSpPr>
            <p:cNvPr id="85" name="TextBox 85"/>
            <p:cNvSpPr txBox="1"/>
            <p:nvPr/>
          </p:nvSpPr>
          <p:spPr>
            <a:xfrm>
              <a:off x="1671066" y="5011102"/>
              <a:ext cx="1862633"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工业专网MPN（矿业/港口）</a:t>
              </a:r>
            </a:p>
          </p:txBody>
        </p:sp>
        <p:sp>
          <p:nvSpPr>
            <p:cNvPr id="86" name="TextBox 86"/>
            <p:cNvSpPr txBox="1"/>
            <p:nvPr/>
          </p:nvSpPr>
          <p:spPr>
            <a:xfrm>
              <a:off x="7567258" y="49949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87" name="TextBox 87"/>
            <p:cNvSpPr txBox="1"/>
            <p:nvPr/>
          </p:nvSpPr>
          <p:spPr>
            <a:xfrm>
              <a:off x="9091258" y="49949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88" name="TextBox 88"/>
            <p:cNvSpPr txBox="1"/>
            <p:nvPr/>
          </p:nvSpPr>
          <p:spPr>
            <a:xfrm>
              <a:off x="10615258" y="4994910"/>
              <a:ext cx="105484" cy="234696"/>
            </a:xfrm>
            <a:prstGeom prst="rect">
              <a:avLst/>
            </a:prstGeom>
            <a:noFill/>
            <a:ln>
              <a:noFill/>
            </a:ln>
          </p:spPr>
          <p:txBody>
            <a:bodyPr wrap="none" lIns="0" tIns="0" rIns="0" bIns="0" anchor="t" anchorCtr="0">
              <a:spAutoFit/>
            </a:bodyPr>
            <a:lstStyle/>
            <a:p>
              <a:pPr algn="ctr"/>
              <a:r>
                <a:rPr lang="en-US" sz="1200" b="1" dirty="0">
                  <a:solidFill>
                    <a:srgbClr val="2E8B57"/>
                  </a:solidFill>
                  <a:latin typeface="Arial"/>
                  <a:ea typeface="Arial"/>
                  <a:cs typeface="Arial"/>
                </a:rPr>
                <a:t>✓</a:t>
              </a:r>
            </a:p>
          </p:txBody>
        </p:sp>
        <p:sp>
          <p:nvSpPr>
            <p:cNvPr id="89" name="TextBox 89"/>
            <p:cNvSpPr txBox="1"/>
            <p:nvPr/>
          </p:nvSpPr>
          <p:spPr>
            <a:xfrm>
              <a:off x="1671066" y="5239702"/>
              <a:ext cx="1923440"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Hybrid MPN（宏站复用试点）</a:t>
              </a:r>
            </a:p>
          </p:txBody>
        </p:sp>
        <p:sp>
          <p:nvSpPr>
            <p:cNvPr id="90" name="TextBox 90"/>
            <p:cNvSpPr txBox="1"/>
            <p:nvPr/>
          </p:nvSpPr>
          <p:spPr>
            <a:xfrm>
              <a:off x="7567258" y="5223510"/>
              <a:ext cx="105484" cy="234696"/>
            </a:xfrm>
            <a:prstGeom prst="rect">
              <a:avLst/>
            </a:prstGeom>
            <a:noFill/>
            <a:ln>
              <a:noFill/>
            </a:ln>
          </p:spPr>
          <p:txBody>
            <a:bodyPr wrap="none" lIns="0" tIns="0" rIns="0" bIns="0" anchor="t" anchorCtr="0">
              <a:spAutoFit/>
            </a:bodyPr>
            <a:lstStyle/>
            <a:p>
              <a:pPr algn="ctr"/>
              <a:r>
                <a:rPr lang="en-US" sz="1200" b="1" dirty="0">
                  <a:solidFill>
                    <a:srgbClr val="8A6D00"/>
                  </a:solidFill>
                  <a:latin typeface="Arial"/>
                  <a:ea typeface="Arial"/>
                  <a:cs typeface="Arial"/>
                </a:rPr>
                <a:t>△</a:t>
              </a:r>
            </a:p>
          </p:txBody>
        </p:sp>
        <p:sp>
          <p:nvSpPr>
            <p:cNvPr id="91" name="TextBox 91"/>
            <p:cNvSpPr txBox="1"/>
            <p:nvPr/>
          </p:nvSpPr>
          <p:spPr>
            <a:xfrm>
              <a:off x="9091258" y="52235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92" name="TextBox 92"/>
            <p:cNvSpPr txBox="1"/>
            <p:nvPr/>
          </p:nvSpPr>
          <p:spPr>
            <a:xfrm>
              <a:off x="10615258" y="5223510"/>
              <a:ext cx="105484" cy="234696"/>
            </a:xfrm>
            <a:prstGeom prst="rect">
              <a:avLst/>
            </a:prstGeom>
            <a:noFill/>
            <a:ln>
              <a:noFill/>
            </a:ln>
          </p:spPr>
          <p:txBody>
            <a:bodyPr wrap="none" lIns="0" tIns="0" rIns="0" bIns="0" anchor="t" anchorCtr="0">
              <a:spAutoFit/>
            </a:bodyPr>
            <a:lstStyle/>
            <a:p>
              <a:pPr algn="ctr"/>
              <a:r>
                <a:rPr lang="en-US" sz="1200" b="1" dirty="0">
                  <a:solidFill>
                    <a:srgbClr val="9B9B9B"/>
                  </a:solidFill>
                  <a:latin typeface="Arial"/>
                  <a:ea typeface="Arial"/>
                  <a:cs typeface="Arial"/>
                </a:rPr>
                <a:t>✗</a:t>
              </a:r>
            </a:p>
          </p:txBody>
        </p:sp>
        <p:sp>
          <p:nvSpPr>
            <p:cNvPr id="93" name="Line 93"/>
            <p:cNvSpPr/>
            <p:nvPr/>
          </p:nvSpPr>
          <p:spPr>
            <a:xfrm>
              <a:off x="533400" y="5448300"/>
              <a:ext cx="11125200" cy="9525"/>
            </a:xfrm>
            <a:custGeom>
              <a:avLst/>
              <a:gdLst/>
              <a:ahLst/>
              <a:cxnLst/>
              <a:rect l="l" t="t" r="r" b="b"/>
              <a:pathLst>
                <a:path w="11125200" h="9525">
                  <a:moveTo>
                    <a:pt x="0" y="0"/>
                  </a:moveTo>
                  <a:lnTo>
                    <a:pt x="11125200" y="0"/>
                  </a:lnTo>
                </a:path>
              </a:pathLst>
            </a:custGeom>
            <a:noFill/>
            <a:ln w="14288">
              <a:solidFill>
                <a:srgbClr val="CBD5E1"/>
              </a:solidFill>
            </a:ln>
          </p:spPr>
        </p:sp>
      </p:grpSp>
      <p:grpSp>
        <p:nvGrpSpPr>
          <p:cNvPr id="98" name="Group 98"/>
          <p:cNvGrpSpPr/>
          <p:nvPr/>
        </p:nvGrpSpPr>
        <p:grpSpPr>
          <a:xfrm>
            <a:off x="533400" y="5867400"/>
            <a:ext cx="11125200" cy="685800"/>
            <a:chOff x="533400" y="5867400"/>
            <a:chExt cx="11125200" cy="685800"/>
          </a:xfrm>
        </p:grpSpPr>
        <p:sp>
          <p:nvSpPr>
            <p:cNvPr id="95" name="Rectangle 95"/>
            <p:cNvSpPr/>
            <p:nvPr/>
          </p:nvSpPr>
          <p:spPr>
            <a:xfrm>
              <a:off x="533400" y="5867400"/>
              <a:ext cx="11125200" cy="685800"/>
            </a:xfrm>
            <a:prstGeom prst="roundRect">
              <a:avLst>
                <a:gd name="adj" fmla="val 5556"/>
              </a:avLst>
            </a:prstGeom>
            <a:solidFill>
              <a:srgbClr val="FBF6F1"/>
            </a:solidFill>
            <a:ln w="9525">
              <a:solidFill>
                <a:srgbClr val="E8E2DA"/>
              </a:solidFill>
            </a:ln>
          </p:spPr>
        </p:sp>
        <p:sp>
          <p:nvSpPr>
            <p:cNvPr id="96" name="TextBox 96"/>
            <p:cNvSpPr txBox="1"/>
            <p:nvPr/>
          </p:nvSpPr>
          <p:spPr>
            <a:xfrm>
              <a:off x="755523" y="6015514"/>
              <a:ext cx="10810592"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核心结论：OB在15项目录中</a:t>
              </a:r>
              <a:r>
                <a:rPr lang="zh-CN" sz="1280" b="1" dirty="0">
                  <a:solidFill>
                    <a:srgbClr val="C7000A"/>
                  </a:solidFill>
                  <a:latin typeface="Arial"/>
                  <a:ea typeface="Microsoft YaHei"/>
                  <a:cs typeface="Arial"/>
                </a:rPr>
                <a:t>14项已✓成熟商用</a:t>
              </a:r>
              <a:r>
                <a:rPr lang="zh-CN" sz="1280" b="1" dirty="0">
                  <a:solidFill>
                    <a:srgbClr val="1A1A1A"/>
                  </a:solidFill>
                  <a:latin typeface="Arial"/>
                  <a:ea typeface="Microsoft YaHei"/>
                  <a:cs typeface="Arial"/>
                </a:rPr>
                <a:t>（仅工业专网MPN空白）；OMEA在连接/Cloud/集成/MPN</a:t>
              </a:r>
              <a:r>
                <a:rPr lang="zh-CN" sz="1280" b="1" dirty="0">
                  <a:solidFill>
                    <a:srgbClr val="8A6D00"/>
                  </a:solidFill>
                  <a:latin typeface="Arial"/>
                  <a:ea typeface="Microsoft YaHei"/>
                  <a:cs typeface="Arial"/>
                </a:rPr>
                <a:t>四个维度反超或追平OB为✓</a:t>
              </a:r>
            </a:p>
          </p:txBody>
        </p:sp>
        <p:sp>
          <p:nvSpPr>
            <p:cNvPr id="97" name="TextBox 97"/>
            <p:cNvSpPr txBox="1"/>
            <p:nvPr/>
          </p:nvSpPr>
          <p:spPr>
            <a:xfrm>
              <a:off x="756285" y="6260306"/>
              <a:ext cx="7270150"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OEU除WAN基础连接与波兰IT集成外，多数维度仍为△起步状态，是三区域中Offering结构最不均衡的市场</a:t>
              </a:r>
            </a:p>
          </p:txBody>
        </p:sp>
      </p:grpSp>
      <p:grpSp>
        <p:nvGrpSpPr>
          <p:cNvPr id="101" name="Group 101"/>
          <p:cNvGrpSpPr/>
          <p:nvPr/>
        </p:nvGrpSpPr>
        <p:grpSpPr>
          <a:xfrm>
            <a:off x="528447" y="6562249"/>
            <a:ext cx="11135106" cy="190690"/>
            <a:chOff x="528447" y="6562249"/>
            <a:chExt cx="11135106" cy="190690"/>
          </a:xfrm>
        </p:grpSpPr>
        <p:sp>
          <p:nvSpPr>
            <p:cNvPr id="99" name="TextBox 99"/>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100" name="TextBox 100"/>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21970" y="309562"/>
            <a:ext cx="11136630" cy="461963"/>
            <a:chOff x="521970" y="309562"/>
            <a:chExt cx="11136630" cy="461963"/>
          </a:xfrm>
        </p:grpSpPr>
        <p:sp>
          <p:nvSpPr>
            <p:cNvPr id="3" name="TextBox 3"/>
            <p:cNvSpPr txBox="1"/>
            <p:nvPr/>
          </p:nvSpPr>
          <p:spPr>
            <a:xfrm>
              <a:off x="521970" y="309562"/>
              <a:ext cx="11028236"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OB仍以管理服务流水为主（72%），</a:t>
              </a:r>
              <a:r>
                <a:rPr lang="zh-CN" sz="2250" b="1" dirty="0">
                  <a:solidFill>
                    <a:srgbClr val="E9002F"/>
                  </a:solidFill>
                  <a:latin typeface="Arial"/>
                  <a:ea typeface="Microsoft YaHei"/>
                  <a:cs typeface="Arial"/>
                </a:rPr>
                <a:t>OMEA集成转售增速最快是未来突破口</a:t>
              </a:r>
            </a:p>
          </p:txBody>
        </p:sp>
        <p:sp>
          <p:nvSpPr>
            <p:cNvPr id="4" name="Line 4"/>
            <p:cNvSpPr/>
            <p:nvPr/>
          </p:nvSpPr>
          <p:spPr>
            <a:xfrm>
              <a:off x="533400" y="7620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8" name="Group 8"/>
          <p:cNvGrpSpPr/>
          <p:nvPr/>
        </p:nvGrpSpPr>
        <p:grpSpPr>
          <a:xfrm>
            <a:off x="5468729" y="803910"/>
            <a:ext cx="6215985" cy="234696"/>
            <a:chOff x="5468729" y="803910"/>
            <a:chExt cx="6215985" cy="234696"/>
          </a:xfrm>
        </p:grpSpPr>
        <p:sp>
          <p:nvSpPr>
            <p:cNvPr id="6" name="TextBox 6"/>
            <p:cNvSpPr txBox="1"/>
            <p:nvPr/>
          </p:nvSpPr>
          <p:spPr>
            <a:xfrm>
              <a:off x="5468729" y="803910"/>
              <a:ext cx="2397542" cy="234696"/>
            </a:xfrm>
            <a:prstGeom prst="rect">
              <a:avLst/>
            </a:prstGeom>
            <a:noFill/>
            <a:ln>
              <a:noFill/>
            </a:ln>
          </p:spPr>
          <p:txBody>
            <a:bodyPr wrap="none" lIns="0" tIns="0" rIns="0" bIns="0" anchor="t" anchorCtr="0">
              <a:spAutoFit/>
            </a:bodyPr>
            <a:lstStyle/>
            <a:p>
              <a:pPr algn="ctr"/>
              <a:r>
                <a:rPr lang="zh-CN" sz="1200" b="1" dirty="0">
                  <a:solidFill>
                    <a:srgbClr val="6B6B6B"/>
                  </a:solidFill>
                  <a:latin typeface="Arial"/>
                  <a:ea typeface="Microsoft YaHei"/>
                  <a:cs typeface="Arial"/>
                </a:rPr>
                <a:t>Managed Service（管理服务）</a:t>
              </a:r>
            </a:p>
          </p:txBody>
        </p:sp>
        <p:sp>
          <p:nvSpPr>
            <p:cNvPr id="7" name="TextBox 7"/>
            <p:cNvSpPr txBox="1"/>
            <p:nvPr/>
          </p:nvSpPr>
          <p:spPr>
            <a:xfrm>
              <a:off x="8889285" y="803910"/>
              <a:ext cx="2795429" cy="234696"/>
            </a:xfrm>
            <a:prstGeom prst="rect">
              <a:avLst/>
            </a:prstGeom>
            <a:noFill/>
            <a:ln>
              <a:noFill/>
            </a:ln>
          </p:spPr>
          <p:txBody>
            <a:bodyPr wrap="none" lIns="0" tIns="0" rIns="0" bIns="0" anchor="t" anchorCtr="0">
              <a:spAutoFit/>
            </a:bodyPr>
            <a:lstStyle/>
            <a:p>
              <a:pPr algn="ctr"/>
              <a:r>
                <a:rPr lang="zh-CN" sz="1200" b="1" dirty="0">
                  <a:solidFill>
                    <a:srgbClr val="6B6B6B"/>
                  </a:solidFill>
                  <a:latin typeface="Arial"/>
                  <a:ea typeface="Microsoft YaHei"/>
                  <a:cs typeface="Arial"/>
                </a:rPr>
                <a:t>集成/转售（Integration &amp; Resale）</a:t>
              </a:r>
            </a:p>
          </p:txBody>
        </p:sp>
      </p:grpSp>
      <p:grpSp>
        <p:nvGrpSpPr>
          <p:cNvPr id="27" name="Group 27"/>
          <p:cNvGrpSpPr/>
          <p:nvPr/>
        </p:nvGrpSpPr>
        <p:grpSpPr>
          <a:xfrm>
            <a:off x="533400" y="1009650"/>
            <a:ext cx="11125200" cy="1552575"/>
            <a:chOff x="533400" y="1009650"/>
            <a:chExt cx="11125200" cy="1552575"/>
          </a:xfrm>
        </p:grpSpPr>
        <p:sp>
          <p:nvSpPr>
            <p:cNvPr id="9" name="Rectangle 9"/>
            <p:cNvSpPr/>
            <p:nvPr/>
          </p:nvSpPr>
          <p:spPr>
            <a:xfrm>
              <a:off x="533400" y="1009650"/>
              <a:ext cx="11125200" cy="228600"/>
            </a:xfrm>
            <a:prstGeom prst="rect">
              <a:avLst/>
            </a:prstGeom>
            <a:solidFill>
              <a:srgbClr val="C7000A">
                <a:alpha val="12000"/>
              </a:srgbClr>
            </a:solidFill>
            <a:ln>
              <a:noFill/>
            </a:ln>
          </p:spPr>
        </p:sp>
        <p:sp>
          <p:nvSpPr>
            <p:cNvPr id="10" name="TextBox 10"/>
            <p:cNvSpPr txBox="1"/>
            <p:nvPr/>
          </p:nvSpPr>
          <p:spPr>
            <a:xfrm>
              <a:off x="661035" y="1050131"/>
              <a:ext cx="1688640" cy="220028"/>
            </a:xfrm>
            <a:prstGeom prst="rect">
              <a:avLst/>
            </a:prstGeom>
            <a:noFill/>
            <a:ln>
              <a:noFill/>
            </a:ln>
          </p:spPr>
          <p:txBody>
            <a:bodyPr wrap="none" lIns="0" tIns="0" rIns="0" bIns="0" anchor="t" anchorCtr="0">
              <a:spAutoFit/>
            </a:bodyPr>
            <a:lstStyle/>
            <a:p>
              <a:pPr algn="l"/>
              <a:r>
                <a:rPr lang="en-US" sz="1120" b="1" dirty="0">
                  <a:solidFill>
                    <a:srgbClr val="C7000A"/>
                  </a:solidFill>
                  <a:latin typeface="Arial"/>
                  <a:ea typeface="Arial"/>
                  <a:cs typeface="Arial"/>
                </a:rPr>
                <a:t>OB · Orange Business</a:t>
              </a:r>
            </a:p>
          </p:txBody>
        </p:sp>
        <p:sp>
          <p:nvSpPr>
            <p:cNvPr id="11" name="Rectangle 11"/>
            <p:cNvSpPr/>
            <p:nvPr/>
          </p:nvSpPr>
          <p:spPr>
            <a:xfrm>
              <a:off x="533400" y="1323975"/>
              <a:ext cx="5286375" cy="1238250"/>
            </a:xfrm>
            <a:prstGeom prst="roundRect">
              <a:avLst>
                <a:gd name="adj" fmla="val 3077"/>
              </a:avLst>
            </a:prstGeom>
            <a:solidFill>
              <a:srgbClr val="FBF6F1"/>
            </a:solidFill>
            <a:ln w="9525">
              <a:solidFill>
                <a:srgbClr val="E8E2DA"/>
              </a:solidFill>
            </a:ln>
          </p:spPr>
        </p:sp>
        <p:sp>
          <p:nvSpPr>
            <p:cNvPr id="12" name="Rectangle 12"/>
            <p:cNvSpPr/>
            <p:nvPr/>
          </p:nvSpPr>
          <p:spPr>
            <a:xfrm>
              <a:off x="533400" y="1323975"/>
              <a:ext cx="38100" cy="1238250"/>
            </a:xfrm>
            <a:prstGeom prst="rect">
              <a:avLst/>
            </a:prstGeom>
            <a:solidFill>
              <a:srgbClr val="C7000A"/>
            </a:solidFill>
            <a:ln>
              <a:noFill/>
            </a:ln>
          </p:spPr>
        </p:sp>
        <p:sp>
          <p:nvSpPr>
            <p:cNvPr id="13" name="TextBox 13"/>
            <p:cNvSpPr txBox="1"/>
            <p:nvPr/>
          </p:nvSpPr>
          <p:spPr>
            <a:xfrm>
              <a:off x="736092" y="1463992"/>
              <a:ext cx="3564885" cy="264033"/>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Managed Service（连接+经常性IT服务）</a:t>
              </a:r>
            </a:p>
          </p:txBody>
        </p:sp>
        <p:sp>
          <p:nvSpPr>
            <p:cNvPr id="14" name="TextBox 14"/>
            <p:cNvSpPr txBox="1"/>
            <p:nvPr/>
          </p:nvSpPr>
          <p:spPr>
            <a:xfrm>
              <a:off x="734568" y="1726882"/>
              <a:ext cx="1754101" cy="322707"/>
            </a:xfrm>
            <a:prstGeom prst="rect">
              <a:avLst/>
            </a:prstGeom>
            <a:noFill/>
            <a:ln>
              <a:noFill/>
            </a:ln>
          </p:spPr>
          <p:txBody>
            <a:bodyPr wrap="none" lIns="0" tIns="0" rIns="0" bIns="0" anchor="t" anchorCtr="0">
              <a:spAutoFit/>
            </a:bodyPr>
            <a:lstStyle/>
            <a:p>
              <a:pPr algn="l"/>
              <a:r>
                <a:rPr lang="zh-CN" sz="1650" b="1" dirty="0">
                  <a:solidFill>
                    <a:srgbClr val="C7000A"/>
                  </a:solidFill>
                  <a:latin typeface="Arial"/>
                  <a:ea typeface="Microsoft YaHei"/>
                  <a:cs typeface="Arial"/>
                </a:rPr>
                <a:t>5,246M€（估）</a:t>
              </a:r>
            </a:p>
          </p:txBody>
        </p:sp>
        <p:sp>
          <p:nvSpPr>
            <p:cNvPr id="15" name="TextBox 15"/>
            <p:cNvSpPr txBox="1"/>
            <p:nvPr/>
          </p:nvSpPr>
          <p:spPr>
            <a:xfrm>
              <a:off x="737997" y="2009299"/>
              <a:ext cx="371970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占OB收入71.6%｜固定2,715+移动912+IT经常性1,619(M€)</a:t>
              </a:r>
            </a:p>
          </p:txBody>
        </p:sp>
        <p:sp>
          <p:nvSpPr>
            <p:cNvPr id="16" name="Rectangle 16"/>
            <p:cNvSpPr/>
            <p:nvPr/>
          </p:nvSpPr>
          <p:spPr>
            <a:xfrm>
              <a:off x="742950" y="2228850"/>
              <a:ext cx="1476375" cy="95250"/>
            </a:xfrm>
            <a:prstGeom prst="rect">
              <a:avLst/>
            </a:prstGeom>
            <a:solidFill>
              <a:srgbClr val="C7000A"/>
            </a:solidFill>
            <a:ln>
              <a:noFill/>
            </a:ln>
          </p:spPr>
        </p:sp>
        <p:sp>
          <p:nvSpPr>
            <p:cNvPr id="17" name="Rectangle 17"/>
            <p:cNvSpPr/>
            <p:nvPr/>
          </p:nvSpPr>
          <p:spPr>
            <a:xfrm>
              <a:off x="2219325" y="2228850"/>
              <a:ext cx="495300" cy="95250"/>
            </a:xfrm>
            <a:prstGeom prst="rect">
              <a:avLst/>
            </a:prstGeom>
            <a:solidFill>
              <a:srgbClr val="A6001C"/>
            </a:solidFill>
            <a:ln>
              <a:noFill/>
            </a:ln>
          </p:spPr>
        </p:sp>
        <p:sp>
          <p:nvSpPr>
            <p:cNvPr id="18" name="Rectangle 18"/>
            <p:cNvSpPr/>
            <p:nvPr/>
          </p:nvSpPr>
          <p:spPr>
            <a:xfrm>
              <a:off x="2714625" y="2228850"/>
              <a:ext cx="885825" cy="95250"/>
            </a:xfrm>
            <a:prstGeom prst="rect">
              <a:avLst/>
            </a:prstGeom>
            <a:solidFill>
              <a:srgbClr val="F4A100"/>
            </a:solidFill>
            <a:ln>
              <a:noFill/>
            </a:ln>
          </p:spPr>
        </p:sp>
        <p:sp>
          <p:nvSpPr>
            <p:cNvPr id="19" name="TextBox 19"/>
            <p:cNvSpPr txBox="1"/>
            <p:nvPr/>
          </p:nvSpPr>
          <p:spPr>
            <a:xfrm>
              <a:off x="738188" y="2341245"/>
              <a:ext cx="2608250"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固定51.8% 移动17.4% IT经常性30.9%（估）</a:t>
              </a:r>
            </a:p>
          </p:txBody>
        </p:sp>
        <p:sp>
          <p:nvSpPr>
            <p:cNvPr id="20" name="Polygon 20"/>
            <p:cNvSpPr/>
            <p:nvPr/>
          </p:nvSpPr>
          <p:spPr>
            <a:xfrm>
              <a:off x="5905500" y="1857375"/>
              <a:ext cx="190500" cy="171450"/>
            </a:xfrm>
            <a:custGeom>
              <a:avLst/>
              <a:gdLst/>
              <a:ahLst/>
              <a:cxnLst/>
              <a:rect l="l" t="t" r="r" b="b"/>
              <a:pathLst>
                <a:path w="190500" h="171450">
                  <a:moveTo>
                    <a:pt x="0" y="0"/>
                  </a:moveTo>
                  <a:lnTo>
                    <a:pt x="190500" y="85725"/>
                  </a:lnTo>
                  <a:lnTo>
                    <a:pt x="0" y="171450"/>
                  </a:lnTo>
                  <a:close/>
                </a:path>
              </a:pathLst>
            </a:custGeom>
            <a:solidFill>
              <a:srgbClr val="C7000A"/>
            </a:solidFill>
            <a:ln>
              <a:noFill/>
            </a:ln>
          </p:spPr>
        </p:sp>
        <p:sp>
          <p:nvSpPr>
            <p:cNvPr id="21" name="Rectangle 21"/>
            <p:cNvSpPr/>
            <p:nvPr/>
          </p:nvSpPr>
          <p:spPr>
            <a:xfrm>
              <a:off x="6191250" y="1323975"/>
              <a:ext cx="5467350" cy="1238250"/>
            </a:xfrm>
            <a:prstGeom prst="roundRect">
              <a:avLst>
                <a:gd name="adj" fmla="val 3077"/>
              </a:avLst>
            </a:prstGeom>
            <a:solidFill>
              <a:srgbClr val="FBF6F1"/>
            </a:solidFill>
            <a:ln w="9525">
              <a:solidFill>
                <a:srgbClr val="E8E2DA"/>
              </a:solidFill>
            </a:ln>
          </p:spPr>
        </p:sp>
        <p:sp>
          <p:nvSpPr>
            <p:cNvPr id="22" name="Rectangle 22"/>
            <p:cNvSpPr/>
            <p:nvPr/>
          </p:nvSpPr>
          <p:spPr>
            <a:xfrm>
              <a:off x="6191250" y="1323975"/>
              <a:ext cx="38100" cy="1238250"/>
            </a:xfrm>
            <a:prstGeom prst="rect">
              <a:avLst/>
            </a:prstGeom>
            <a:solidFill>
              <a:srgbClr val="C7000A"/>
            </a:solidFill>
            <a:ln>
              <a:noFill/>
            </a:ln>
          </p:spPr>
        </p:sp>
        <p:sp>
          <p:nvSpPr>
            <p:cNvPr id="23" name="TextBox 23"/>
            <p:cNvSpPr txBox="1"/>
            <p:nvPr/>
          </p:nvSpPr>
          <p:spPr>
            <a:xfrm>
              <a:off x="6393942" y="1463992"/>
              <a:ext cx="3203438" cy="264033"/>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集成/转售（项目型IT&amp;Integration）</a:t>
              </a:r>
            </a:p>
          </p:txBody>
        </p:sp>
        <p:sp>
          <p:nvSpPr>
            <p:cNvPr id="24" name="TextBox 24"/>
            <p:cNvSpPr txBox="1"/>
            <p:nvPr/>
          </p:nvSpPr>
          <p:spPr>
            <a:xfrm>
              <a:off x="6392418" y="1726882"/>
              <a:ext cx="1754101" cy="322707"/>
            </a:xfrm>
            <a:prstGeom prst="rect">
              <a:avLst/>
            </a:prstGeom>
            <a:noFill/>
            <a:ln>
              <a:noFill/>
            </a:ln>
          </p:spPr>
          <p:txBody>
            <a:bodyPr wrap="none" lIns="0" tIns="0" rIns="0" bIns="0" anchor="t" anchorCtr="0">
              <a:spAutoFit/>
            </a:bodyPr>
            <a:lstStyle/>
            <a:p>
              <a:pPr algn="l"/>
              <a:r>
                <a:rPr lang="zh-CN" sz="1650" b="1" dirty="0">
                  <a:solidFill>
                    <a:srgbClr val="C7000A"/>
                  </a:solidFill>
                  <a:latin typeface="Arial"/>
                  <a:ea typeface="Microsoft YaHei"/>
                  <a:cs typeface="Arial"/>
                </a:rPr>
                <a:t>2,080M€（估）</a:t>
              </a:r>
            </a:p>
          </p:txBody>
        </p:sp>
        <p:sp>
          <p:nvSpPr>
            <p:cNvPr id="25" name="TextBox 25"/>
            <p:cNvSpPr txBox="1"/>
            <p:nvPr/>
          </p:nvSpPr>
          <p:spPr>
            <a:xfrm>
              <a:off x="6395847" y="2009299"/>
              <a:ext cx="398320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占比28.4%｜国防20%+公共18%+医疗12%+其他50%（详见P11）</a:t>
              </a:r>
            </a:p>
          </p:txBody>
        </p:sp>
        <p:sp>
          <p:nvSpPr>
            <p:cNvPr id="26" name="TextBox 26"/>
            <p:cNvSpPr txBox="1"/>
            <p:nvPr/>
          </p:nvSpPr>
          <p:spPr>
            <a:xfrm>
              <a:off x="6395847" y="2218849"/>
              <a:ext cx="319095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IT&amp;Integration官方3,698M€中约56%为项目型（估）</a:t>
              </a:r>
            </a:p>
          </p:txBody>
        </p:sp>
      </p:grpSp>
      <p:grpSp>
        <p:nvGrpSpPr>
          <p:cNvPr id="30" name="Group 30"/>
          <p:cNvGrpSpPr/>
          <p:nvPr/>
        </p:nvGrpSpPr>
        <p:grpSpPr>
          <a:xfrm>
            <a:off x="533400" y="2628900"/>
            <a:ext cx="11125200" cy="256889"/>
            <a:chOff x="533400" y="2628900"/>
            <a:chExt cx="11125200" cy="256889"/>
          </a:xfrm>
        </p:grpSpPr>
        <p:sp>
          <p:nvSpPr>
            <p:cNvPr id="28" name="Rectangle 28"/>
            <p:cNvSpPr/>
            <p:nvPr/>
          </p:nvSpPr>
          <p:spPr>
            <a:xfrm>
              <a:off x="533400" y="2628900"/>
              <a:ext cx="11125200" cy="247650"/>
            </a:xfrm>
            <a:prstGeom prst="roundRect">
              <a:avLst>
                <a:gd name="adj" fmla="val 11538"/>
              </a:avLst>
            </a:prstGeom>
            <a:solidFill>
              <a:srgbClr val="FFF0F1"/>
            </a:solidFill>
            <a:ln w="9525">
              <a:solidFill>
                <a:srgbClr val="F4A100"/>
              </a:solidFill>
            </a:ln>
          </p:spPr>
        </p:sp>
        <p:sp>
          <p:nvSpPr>
            <p:cNvPr id="29" name="TextBox 29"/>
            <p:cNvSpPr txBox="1"/>
            <p:nvPr/>
          </p:nvSpPr>
          <p:spPr>
            <a:xfrm>
              <a:off x="661797" y="2695099"/>
              <a:ext cx="8594229" cy="190690"/>
            </a:xfrm>
            <a:prstGeom prst="rect">
              <a:avLst/>
            </a:prstGeom>
            <a:noFill/>
            <a:ln>
              <a:noFill/>
            </a:ln>
          </p:spPr>
          <p:txBody>
            <a:bodyPr wrap="none" lIns="0" tIns="0" rIns="0" bIns="0" anchor="t" anchorCtr="0">
              <a:spAutoFit/>
            </a:bodyPr>
            <a:lstStyle/>
            <a:p>
              <a:pPr algn="l"/>
              <a:r>
                <a:rPr lang="zh-CN" sz="980" b="1" dirty="0">
                  <a:solidFill>
                    <a:srgbClr val="C7000A"/>
                  </a:solidFill>
                  <a:latin typeface="Arial"/>
                  <a:ea typeface="Microsoft YaHei"/>
                  <a:cs typeface="Arial"/>
                </a:rPr>
                <a:t>口径说明：官方未公开该拆分；按Cyberdefense/Cloud/Workplace经常性收入占比估算，IT&amp;Integration中约44%为流水型、56%为项目型</a:t>
              </a:r>
            </a:p>
          </p:txBody>
        </p:sp>
      </p:grpSp>
      <p:grpSp>
        <p:nvGrpSpPr>
          <p:cNvPr id="46" name="Group 46"/>
          <p:cNvGrpSpPr/>
          <p:nvPr/>
        </p:nvGrpSpPr>
        <p:grpSpPr>
          <a:xfrm>
            <a:off x="533400" y="3009900"/>
            <a:ext cx="11125200" cy="1552575"/>
            <a:chOff x="533400" y="3009900"/>
            <a:chExt cx="11125200" cy="1552575"/>
          </a:xfrm>
        </p:grpSpPr>
        <p:sp>
          <p:nvSpPr>
            <p:cNvPr id="31" name="Rectangle 31"/>
            <p:cNvSpPr/>
            <p:nvPr/>
          </p:nvSpPr>
          <p:spPr>
            <a:xfrm>
              <a:off x="533400" y="3009900"/>
              <a:ext cx="11125200" cy="228600"/>
            </a:xfrm>
            <a:prstGeom prst="rect">
              <a:avLst/>
            </a:prstGeom>
            <a:solidFill>
              <a:srgbClr val="E9002F">
                <a:alpha val="12000"/>
              </a:srgbClr>
            </a:solidFill>
            <a:ln>
              <a:noFill/>
            </a:ln>
          </p:spPr>
        </p:sp>
        <p:sp>
          <p:nvSpPr>
            <p:cNvPr id="32" name="TextBox 32"/>
            <p:cNvSpPr txBox="1"/>
            <p:nvPr/>
          </p:nvSpPr>
          <p:spPr>
            <a:xfrm>
              <a:off x="661035" y="3050381"/>
              <a:ext cx="1647835" cy="220028"/>
            </a:xfrm>
            <a:prstGeom prst="rect">
              <a:avLst/>
            </a:prstGeom>
            <a:noFill/>
            <a:ln>
              <a:noFill/>
            </a:ln>
          </p:spPr>
          <p:txBody>
            <a:bodyPr wrap="none" lIns="0" tIns="0" rIns="0" bIns="0" anchor="t" anchorCtr="0">
              <a:spAutoFit/>
            </a:bodyPr>
            <a:lstStyle/>
            <a:p>
              <a:pPr algn="l"/>
              <a:r>
                <a:rPr lang="en-US" sz="1120" b="1" dirty="0">
                  <a:solidFill>
                    <a:srgbClr val="E9002F"/>
                  </a:solidFill>
                  <a:latin typeface="Arial"/>
                  <a:ea typeface="Arial"/>
                  <a:cs typeface="Arial"/>
                </a:rPr>
                <a:t>OEU · Orange Europe</a:t>
              </a:r>
            </a:p>
          </p:txBody>
        </p:sp>
        <p:sp>
          <p:nvSpPr>
            <p:cNvPr id="33" name="Rectangle 33"/>
            <p:cNvSpPr/>
            <p:nvPr/>
          </p:nvSpPr>
          <p:spPr>
            <a:xfrm>
              <a:off x="533400" y="3324225"/>
              <a:ext cx="5286375" cy="1238250"/>
            </a:xfrm>
            <a:prstGeom prst="roundRect">
              <a:avLst>
                <a:gd name="adj" fmla="val 3077"/>
              </a:avLst>
            </a:prstGeom>
            <a:solidFill>
              <a:srgbClr val="FBF6F1"/>
            </a:solidFill>
            <a:ln w="9525">
              <a:solidFill>
                <a:srgbClr val="E8E2DA"/>
              </a:solidFill>
            </a:ln>
          </p:spPr>
        </p:sp>
        <p:sp>
          <p:nvSpPr>
            <p:cNvPr id="34" name="Rectangle 34"/>
            <p:cNvSpPr/>
            <p:nvPr/>
          </p:nvSpPr>
          <p:spPr>
            <a:xfrm>
              <a:off x="533400" y="3324225"/>
              <a:ext cx="38100" cy="1238250"/>
            </a:xfrm>
            <a:prstGeom prst="rect">
              <a:avLst/>
            </a:prstGeom>
            <a:solidFill>
              <a:srgbClr val="E9002F"/>
            </a:solidFill>
            <a:ln>
              <a:noFill/>
            </a:ln>
          </p:spPr>
        </p:sp>
        <p:sp>
          <p:nvSpPr>
            <p:cNvPr id="35" name="TextBox 35"/>
            <p:cNvSpPr txBox="1"/>
            <p:nvPr/>
          </p:nvSpPr>
          <p:spPr>
            <a:xfrm>
              <a:off x="736092" y="3464242"/>
              <a:ext cx="1543033" cy="264033"/>
            </a:xfrm>
            <a:prstGeom prst="rect">
              <a:avLst/>
            </a:prstGeom>
            <a:noFill/>
            <a:ln>
              <a:noFill/>
            </a:ln>
          </p:spPr>
          <p:txBody>
            <a:bodyPr wrap="none" lIns="0" tIns="0" rIns="0" bIns="0" anchor="t" anchorCtr="0">
              <a:spAutoFit/>
            </a:bodyPr>
            <a:lstStyle/>
            <a:p>
              <a:pPr algn="l"/>
              <a:r>
                <a:rPr lang="en-US" sz="1350" b="1" dirty="0">
                  <a:solidFill>
                    <a:srgbClr val="1A1A1A"/>
                  </a:solidFill>
                  <a:latin typeface="Arial"/>
                  <a:ea typeface="Arial"/>
                  <a:cs typeface="Arial"/>
                </a:rPr>
                <a:t>Managed Service</a:t>
              </a:r>
            </a:p>
          </p:txBody>
        </p:sp>
        <p:sp>
          <p:nvSpPr>
            <p:cNvPr id="36" name="TextBox 36"/>
            <p:cNvSpPr txBox="1"/>
            <p:nvPr/>
          </p:nvSpPr>
          <p:spPr>
            <a:xfrm>
              <a:off x="734568" y="3727132"/>
              <a:ext cx="2702860" cy="322707"/>
            </a:xfrm>
            <a:prstGeom prst="rect">
              <a:avLst/>
            </a:prstGeom>
            <a:noFill/>
            <a:ln>
              <a:noFill/>
            </a:ln>
          </p:spPr>
          <p:txBody>
            <a:bodyPr wrap="none" lIns="0" tIns="0" rIns="0" bIns="0" anchor="t" anchorCtr="0">
              <a:spAutoFit/>
            </a:bodyPr>
            <a:lstStyle/>
            <a:p>
              <a:pPr algn="l"/>
              <a:r>
                <a:rPr lang="zh-CN" sz="1650" b="1" dirty="0">
                  <a:solidFill>
                    <a:srgbClr val="E9002F"/>
                  </a:solidFill>
                  <a:latin typeface="Arial"/>
                  <a:ea typeface="Microsoft YaHei"/>
                  <a:cs typeface="Arial"/>
                </a:rPr>
                <a:t>约2,210M€（估，82%）</a:t>
              </a:r>
            </a:p>
          </p:txBody>
        </p:sp>
        <p:sp>
          <p:nvSpPr>
            <p:cNvPr id="37" name="TextBox 37"/>
            <p:cNvSpPr txBox="1"/>
            <p:nvPr/>
          </p:nvSpPr>
          <p:spPr>
            <a:xfrm>
              <a:off x="737616" y="4001452"/>
              <a:ext cx="2796083"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连接2,000+ICT经常性部分210（估，M€）</a:t>
              </a:r>
            </a:p>
          </p:txBody>
        </p:sp>
        <p:sp>
          <p:nvSpPr>
            <p:cNvPr id="38" name="TextBox 38"/>
            <p:cNvSpPr txBox="1"/>
            <p:nvPr/>
          </p:nvSpPr>
          <p:spPr>
            <a:xfrm>
              <a:off x="737997" y="4219099"/>
              <a:ext cx="2575931"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波兰/西班牙为主要国别贡献，罗马尼亚次之</a:t>
              </a:r>
            </a:p>
          </p:txBody>
        </p:sp>
        <p:sp>
          <p:nvSpPr>
            <p:cNvPr id="39" name="Polygon 39"/>
            <p:cNvSpPr/>
            <p:nvPr/>
          </p:nvSpPr>
          <p:spPr>
            <a:xfrm>
              <a:off x="5905500" y="3857625"/>
              <a:ext cx="190500" cy="171450"/>
            </a:xfrm>
            <a:custGeom>
              <a:avLst/>
              <a:gdLst/>
              <a:ahLst/>
              <a:cxnLst/>
              <a:rect l="l" t="t" r="r" b="b"/>
              <a:pathLst>
                <a:path w="190500" h="171450">
                  <a:moveTo>
                    <a:pt x="0" y="0"/>
                  </a:moveTo>
                  <a:lnTo>
                    <a:pt x="190500" y="85725"/>
                  </a:lnTo>
                  <a:lnTo>
                    <a:pt x="0" y="171450"/>
                  </a:lnTo>
                  <a:close/>
                </a:path>
              </a:pathLst>
            </a:custGeom>
            <a:solidFill>
              <a:srgbClr val="E9002F"/>
            </a:solidFill>
            <a:ln>
              <a:noFill/>
            </a:ln>
          </p:spPr>
        </p:sp>
        <p:sp>
          <p:nvSpPr>
            <p:cNvPr id="40" name="Rectangle 40"/>
            <p:cNvSpPr/>
            <p:nvPr/>
          </p:nvSpPr>
          <p:spPr>
            <a:xfrm>
              <a:off x="6191250" y="3324225"/>
              <a:ext cx="5467350" cy="1238250"/>
            </a:xfrm>
            <a:prstGeom prst="roundRect">
              <a:avLst>
                <a:gd name="adj" fmla="val 3077"/>
              </a:avLst>
            </a:prstGeom>
            <a:solidFill>
              <a:srgbClr val="FBF6F1"/>
            </a:solidFill>
            <a:ln w="9525">
              <a:solidFill>
                <a:srgbClr val="E8E2DA"/>
              </a:solidFill>
            </a:ln>
          </p:spPr>
        </p:sp>
        <p:sp>
          <p:nvSpPr>
            <p:cNvPr id="41" name="Rectangle 41"/>
            <p:cNvSpPr/>
            <p:nvPr/>
          </p:nvSpPr>
          <p:spPr>
            <a:xfrm>
              <a:off x="6191250" y="3324225"/>
              <a:ext cx="38100" cy="1238250"/>
            </a:xfrm>
            <a:prstGeom prst="rect">
              <a:avLst/>
            </a:prstGeom>
            <a:solidFill>
              <a:srgbClr val="E9002F"/>
            </a:solidFill>
            <a:ln>
              <a:noFill/>
            </a:ln>
          </p:spPr>
        </p:sp>
        <p:sp>
          <p:nvSpPr>
            <p:cNvPr id="42" name="TextBox 42"/>
            <p:cNvSpPr txBox="1"/>
            <p:nvPr/>
          </p:nvSpPr>
          <p:spPr>
            <a:xfrm>
              <a:off x="6393942" y="3464242"/>
              <a:ext cx="881965" cy="264033"/>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集成/转售</a:t>
              </a:r>
            </a:p>
          </p:txBody>
        </p:sp>
        <p:sp>
          <p:nvSpPr>
            <p:cNvPr id="43" name="TextBox 43"/>
            <p:cNvSpPr txBox="1"/>
            <p:nvPr/>
          </p:nvSpPr>
          <p:spPr>
            <a:xfrm>
              <a:off x="6392418" y="3727132"/>
              <a:ext cx="2431786" cy="322707"/>
            </a:xfrm>
            <a:prstGeom prst="rect">
              <a:avLst/>
            </a:prstGeom>
            <a:noFill/>
            <a:ln>
              <a:noFill/>
            </a:ln>
          </p:spPr>
          <p:txBody>
            <a:bodyPr wrap="none" lIns="0" tIns="0" rIns="0" bIns="0" anchor="t" anchorCtr="0">
              <a:spAutoFit/>
            </a:bodyPr>
            <a:lstStyle/>
            <a:p>
              <a:pPr algn="l"/>
              <a:r>
                <a:rPr lang="zh-CN" sz="1650" b="1" dirty="0">
                  <a:solidFill>
                    <a:srgbClr val="E9002F"/>
                  </a:solidFill>
                  <a:latin typeface="Arial"/>
                  <a:ea typeface="Microsoft YaHei"/>
                  <a:cs typeface="Arial"/>
                </a:rPr>
                <a:t>约490M€（估，18%）</a:t>
              </a:r>
            </a:p>
          </p:txBody>
        </p:sp>
        <p:sp>
          <p:nvSpPr>
            <p:cNvPr id="44" name="TextBox 44"/>
            <p:cNvSpPr txBox="1"/>
            <p:nvPr/>
          </p:nvSpPr>
          <p:spPr>
            <a:xfrm>
              <a:off x="6395466" y="4001452"/>
              <a:ext cx="2786552"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波兰IT集成(BlueSoft/Craftware)+西班牙</a:t>
              </a:r>
            </a:p>
          </p:txBody>
        </p:sp>
        <p:sp>
          <p:nvSpPr>
            <p:cNvPr id="45" name="TextBox 45"/>
            <p:cNvSpPr txBox="1"/>
            <p:nvPr/>
          </p:nvSpPr>
          <p:spPr>
            <a:xfrm>
              <a:off x="6395466" y="4191952"/>
              <a:ext cx="3708143"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IoT/5G专网集成（Correos/TotalEnergies等，详见P11）</a:t>
              </a:r>
            </a:p>
          </p:txBody>
        </p:sp>
      </p:grpSp>
      <p:grpSp>
        <p:nvGrpSpPr>
          <p:cNvPr id="62" name="Group 62"/>
          <p:cNvGrpSpPr/>
          <p:nvPr/>
        </p:nvGrpSpPr>
        <p:grpSpPr>
          <a:xfrm>
            <a:off x="533400" y="4705350"/>
            <a:ext cx="11125200" cy="1552575"/>
            <a:chOff x="533400" y="4705350"/>
            <a:chExt cx="11125200" cy="1552575"/>
          </a:xfrm>
        </p:grpSpPr>
        <p:sp>
          <p:nvSpPr>
            <p:cNvPr id="47" name="Rectangle 47"/>
            <p:cNvSpPr/>
            <p:nvPr/>
          </p:nvSpPr>
          <p:spPr>
            <a:xfrm>
              <a:off x="533400" y="4705350"/>
              <a:ext cx="11125200" cy="228600"/>
            </a:xfrm>
            <a:prstGeom prst="rect">
              <a:avLst/>
            </a:prstGeom>
            <a:solidFill>
              <a:srgbClr val="F4A100">
                <a:alpha val="18000"/>
              </a:srgbClr>
            </a:solidFill>
            <a:ln>
              <a:noFill/>
            </a:ln>
          </p:spPr>
        </p:sp>
        <p:sp>
          <p:nvSpPr>
            <p:cNvPr id="48" name="TextBox 48"/>
            <p:cNvSpPr txBox="1"/>
            <p:nvPr/>
          </p:nvSpPr>
          <p:spPr>
            <a:xfrm>
              <a:off x="661035" y="4745831"/>
              <a:ext cx="2192620" cy="220028"/>
            </a:xfrm>
            <a:prstGeom prst="rect">
              <a:avLst/>
            </a:prstGeom>
            <a:noFill/>
            <a:ln>
              <a:noFill/>
            </a:ln>
          </p:spPr>
          <p:txBody>
            <a:bodyPr wrap="none" lIns="0" tIns="0" rIns="0" bIns="0" anchor="t" anchorCtr="0">
              <a:spAutoFit/>
            </a:bodyPr>
            <a:lstStyle/>
            <a:p>
              <a:pPr algn="l"/>
              <a:r>
                <a:rPr lang="en-US" sz="1120" b="1" dirty="0">
                  <a:solidFill>
                    <a:srgbClr val="8A6D00"/>
                  </a:solidFill>
                  <a:latin typeface="Arial"/>
                  <a:ea typeface="Arial"/>
                  <a:cs typeface="Arial"/>
                </a:rPr>
                <a:t>OMEA · Middle East &amp; Africa</a:t>
              </a:r>
            </a:p>
          </p:txBody>
        </p:sp>
        <p:sp>
          <p:nvSpPr>
            <p:cNvPr id="49" name="Rectangle 49"/>
            <p:cNvSpPr/>
            <p:nvPr/>
          </p:nvSpPr>
          <p:spPr>
            <a:xfrm>
              <a:off x="533400" y="5019675"/>
              <a:ext cx="5286375" cy="1238250"/>
            </a:xfrm>
            <a:prstGeom prst="roundRect">
              <a:avLst>
                <a:gd name="adj" fmla="val 3077"/>
              </a:avLst>
            </a:prstGeom>
            <a:solidFill>
              <a:srgbClr val="FBF6F1"/>
            </a:solidFill>
            <a:ln w="9525">
              <a:solidFill>
                <a:srgbClr val="E8E2DA"/>
              </a:solidFill>
            </a:ln>
          </p:spPr>
        </p:sp>
        <p:sp>
          <p:nvSpPr>
            <p:cNvPr id="50" name="Rectangle 50"/>
            <p:cNvSpPr/>
            <p:nvPr/>
          </p:nvSpPr>
          <p:spPr>
            <a:xfrm>
              <a:off x="533400" y="5019675"/>
              <a:ext cx="38100" cy="1238250"/>
            </a:xfrm>
            <a:prstGeom prst="rect">
              <a:avLst/>
            </a:prstGeom>
            <a:solidFill>
              <a:srgbClr val="F4A100"/>
            </a:solidFill>
            <a:ln>
              <a:noFill/>
            </a:ln>
          </p:spPr>
        </p:sp>
        <p:sp>
          <p:nvSpPr>
            <p:cNvPr id="51" name="TextBox 51"/>
            <p:cNvSpPr txBox="1"/>
            <p:nvPr/>
          </p:nvSpPr>
          <p:spPr>
            <a:xfrm>
              <a:off x="736092" y="5159692"/>
              <a:ext cx="1543033" cy="264033"/>
            </a:xfrm>
            <a:prstGeom prst="rect">
              <a:avLst/>
            </a:prstGeom>
            <a:noFill/>
            <a:ln>
              <a:noFill/>
            </a:ln>
          </p:spPr>
          <p:txBody>
            <a:bodyPr wrap="none" lIns="0" tIns="0" rIns="0" bIns="0" anchor="t" anchorCtr="0">
              <a:spAutoFit/>
            </a:bodyPr>
            <a:lstStyle/>
            <a:p>
              <a:pPr algn="l"/>
              <a:r>
                <a:rPr lang="en-US" sz="1350" b="1" dirty="0">
                  <a:solidFill>
                    <a:srgbClr val="1A1A1A"/>
                  </a:solidFill>
                  <a:latin typeface="Arial"/>
                  <a:ea typeface="Arial"/>
                  <a:cs typeface="Arial"/>
                </a:rPr>
                <a:t>Managed Service</a:t>
              </a:r>
            </a:p>
          </p:txBody>
        </p:sp>
        <p:sp>
          <p:nvSpPr>
            <p:cNvPr id="52" name="TextBox 52"/>
            <p:cNvSpPr txBox="1"/>
            <p:nvPr/>
          </p:nvSpPr>
          <p:spPr>
            <a:xfrm>
              <a:off x="734568" y="5422582"/>
              <a:ext cx="1847613" cy="322707"/>
            </a:xfrm>
            <a:prstGeom prst="rect">
              <a:avLst/>
            </a:prstGeom>
            <a:noFill/>
            <a:ln>
              <a:noFill/>
            </a:ln>
          </p:spPr>
          <p:txBody>
            <a:bodyPr wrap="none" lIns="0" tIns="0" rIns="0" bIns="0" anchor="t" anchorCtr="0">
              <a:spAutoFit/>
            </a:bodyPr>
            <a:lstStyle/>
            <a:p>
              <a:pPr algn="l"/>
              <a:r>
                <a:rPr lang="zh-CN" sz="1650" b="1" dirty="0">
                  <a:solidFill>
                    <a:srgbClr val="8A6D00"/>
                  </a:solidFill>
                  <a:latin typeface="Arial"/>
                  <a:ea typeface="Microsoft YaHei"/>
                  <a:cs typeface="Arial"/>
                </a:rPr>
                <a:t>11.9亿€ / 91.7%</a:t>
              </a:r>
            </a:p>
          </p:txBody>
        </p:sp>
        <p:sp>
          <p:nvSpPr>
            <p:cNvPr id="53" name="TextBox 53"/>
            <p:cNvSpPr txBox="1"/>
            <p:nvPr/>
          </p:nvSpPr>
          <p:spPr>
            <a:xfrm>
              <a:off x="737616" y="5696902"/>
              <a:ext cx="2878226"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移动数据/FBB连接管理，三区域中占比最高</a:t>
              </a:r>
            </a:p>
          </p:txBody>
        </p:sp>
        <p:sp>
          <p:nvSpPr>
            <p:cNvPr id="54" name="TextBox 54"/>
            <p:cNvSpPr txBox="1"/>
            <p:nvPr/>
          </p:nvSpPr>
          <p:spPr>
            <a:xfrm>
              <a:off x="737997" y="5914549"/>
              <a:ext cx="2936138"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SOHO 98M€/季(+9%) · SME 49M€/季(+7.4%)</a:t>
              </a:r>
            </a:p>
          </p:txBody>
        </p:sp>
        <p:sp>
          <p:nvSpPr>
            <p:cNvPr id="55" name="Polygon 55"/>
            <p:cNvSpPr/>
            <p:nvPr/>
          </p:nvSpPr>
          <p:spPr>
            <a:xfrm>
              <a:off x="5905500" y="5553075"/>
              <a:ext cx="190500" cy="171450"/>
            </a:xfrm>
            <a:custGeom>
              <a:avLst/>
              <a:gdLst/>
              <a:ahLst/>
              <a:cxnLst/>
              <a:rect l="l" t="t" r="r" b="b"/>
              <a:pathLst>
                <a:path w="190500" h="171450">
                  <a:moveTo>
                    <a:pt x="0" y="0"/>
                  </a:moveTo>
                  <a:lnTo>
                    <a:pt x="190500" y="85725"/>
                  </a:lnTo>
                  <a:lnTo>
                    <a:pt x="0" y="171450"/>
                  </a:lnTo>
                  <a:close/>
                </a:path>
              </a:pathLst>
            </a:custGeom>
            <a:solidFill>
              <a:srgbClr val="8A6D00"/>
            </a:solidFill>
            <a:ln>
              <a:noFill/>
            </a:ln>
          </p:spPr>
        </p:sp>
        <p:sp>
          <p:nvSpPr>
            <p:cNvPr id="56" name="Rectangle 56"/>
            <p:cNvSpPr/>
            <p:nvPr/>
          </p:nvSpPr>
          <p:spPr>
            <a:xfrm>
              <a:off x="6191250" y="5019675"/>
              <a:ext cx="5467350" cy="1238250"/>
            </a:xfrm>
            <a:prstGeom prst="roundRect">
              <a:avLst>
                <a:gd name="adj" fmla="val 3077"/>
              </a:avLst>
            </a:prstGeom>
            <a:solidFill>
              <a:srgbClr val="FBF6F1"/>
            </a:solidFill>
            <a:ln w="9525">
              <a:solidFill>
                <a:srgbClr val="E8E2DA"/>
              </a:solidFill>
            </a:ln>
          </p:spPr>
        </p:sp>
        <p:sp>
          <p:nvSpPr>
            <p:cNvPr id="57" name="Rectangle 57"/>
            <p:cNvSpPr/>
            <p:nvPr/>
          </p:nvSpPr>
          <p:spPr>
            <a:xfrm>
              <a:off x="6191250" y="5019675"/>
              <a:ext cx="38100" cy="1238250"/>
            </a:xfrm>
            <a:prstGeom prst="rect">
              <a:avLst/>
            </a:prstGeom>
            <a:solidFill>
              <a:srgbClr val="F4A100"/>
            </a:solidFill>
            <a:ln>
              <a:noFill/>
            </a:ln>
          </p:spPr>
        </p:sp>
        <p:sp>
          <p:nvSpPr>
            <p:cNvPr id="58" name="TextBox 58"/>
            <p:cNvSpPr txBox="1"/>
            <p:nvPr/>
          </p:nvSpPr>
          <p:spPr>
            <a:xfrm>
              <a:off x="6393942" y="5159692"/>
              <a:ext cx="881965" cy="264033"/>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集成/转售</a:t>
              </a:r>
            </a:p>
          </p:txBody>
        </p:sp>
        <p:sp>
          <p:nvSpPr>
            <p:cNvPr id="59" name="TextBox 59"/>
            <p:cNvSpPr txBox="1"/>
            <p:nvPr/>
          </p:nvSpPr>
          <p:spPr>
            <a:xfrm>
              <a:off x="6392418" y="5422582"/>
              <a:ext cx="1591061" cy="322707"/>
            </a:xfrm>
            <a:prstGeom prst="rect">
              <a:avLst/>
            </a:prstGeom>
            <a:noFill/>
            <a:ln>
              <a:noFill/>
            </a:ln>
          </p:spPr>
          <p:txBody>
            <a:bodyPr wrap="none" lIns="0" tIns="0" rIns="0" bIns="0" anchor="t" anchorCtr="0">
              <a:spAutoFit/>
            </a:bodyPr>
            <a:lstStyle/>
            <a:p>
              <a:pPr algn="l"/>
              <a:r>
                <a:rPr lang="zh-CN" sz="1650" b="1" dirty="0">
                  <a:solidFill>
                    <a:srgbClr val="8A6D00"/>
                  </a:solidFill>
                  <a:latin typeface="Arial"/>
                  <a:ea typeface="Microsoft YaHei"/>
                  <a:cs typeface="Arial"/>
                </a:rPr>
                <a:t>1.1亿€ / 8.3%</a:t>
              </a:r>
            </a:p>
          </p:txBody>
        </p:sp>
        <p:sp>
          <p:nvSpPr>
            <p:cNvPr id="60" name="TextBox 60"/>
            <p:cNvSpPr txBox="1"/>
            <p:nvPr/>
          </p:nvSpPr>
          <p:spPr>
            <a:xfrm>
              <a:off x="6395466" y="5696902"/>
              <a:ext cx="3165169"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云/安全/IoT标准化打包(G3计划，详见P11估算)</a:t>
              </a:r>
            </a:p>
          </p:txBody>
        </p:sp>
        <p:sp>
          <p:nvSpPr>
            <p:cNvPr id="61" name="TextBox 61"/>
            <p:cNvSpPr txBox="1"/>
            <p:nvPr/>
          </p:nvSpPr>
          <p:spPr>
            <a:xfrm>
              <a:off x="6395466" y="5906452"/>
              <a:ext cx="2096369" cy="205359"/>
            </a:xfrm>
            <a:prstGeom prst="rect">
              <a:avLst/>
            </a:prstGeom>
            <a:noFill/>
            <a:ln>
              <a:noFill/>
            </a:ln>
          </p:spPr>
          <p:txBody>
            <a:bodyPr wrap="none" lIns="0" tIns="0" rIns="0" bIns="0" anchor="t" anchorCtr="0">
              <a:spAutoFit/>
            </a:bodyPr>
            <a:lstStyle/>
            <a:p>
              <a:pPr algn="l"/>
              <a:r>
                <a:rPr lang="zh-CN" sz="1050" b="1" dirty="0">
                  <a:solidFill>
                    <a:srgbClr val="2E8B57"/>
                  </a:solidFill>
                  <a:latin typeface="Arial"/>
                  <a:ea typeface="Microsoft YaHei"/>
                  <a:cs typeface="Arial"/>
                </a:rPr>
                <a:t>2028目标3.01亿€，CAGR 35%</a:t>
              </a:r>
            </a:p>
          </p:txBody>
        </p:sp>
      </p:grpSp>
      <p:grpSp>
        <p:nvGrpSpPr>
          <p:cNvPr id="65" name="Group 65"/>
          <p:cNvGrpSpPr/>
          <p:nvPr/>
        </p:nvGrpSpPr>
        <p:grpSpPr>
          <a:xfrm>
            <a:off x="528447" y="6562249"/>
            <a:ext cx="11135106" cy="190690"/>
            <a:chOff x="528447" y="6562249"/>
            <a:chExt cx="11135106" cy="190690"/>
          </a:xfrm>
        </p:grpSpPr>
        <p:sp>
          <p:nvSpPr>
            <p:cNvPr id="63" name="TextBox 63"/>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64" name="TextBox 64"/>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3494" y="227648"/>
            <a:ext cx="12309988" cy="562927"/>
            <a:chOff x="523494" y="227648"/>
            <a:chExt cx="12309988" cy="562927"/>
          </a:xfrm>
        </p:grpSpPr>
        <p:sp>
          <p:nvSpPr>
            <p:cNvPr id="3" name="TextBox 3"/>
            <p:cNvSpPr txBox="1"/>
            <p:nvPr/>
          </p:nvSpPr>
          <p:spPr>
            <a:xfrm>
              <a:off x="523494" y="227648"/>
              <a:ext cx="12309988" cy="381381"/>
            </a:xfrm>
            <a:prstGeom prst="rect">
              <a:avLst/>
            </a:prstGeom>
            <a:noFill/>
            <a:ln>
              <a:noFill/>
            </a:ln>
          </p:spPr>
          <p:txBody>
            <a:bodyPr wrap="none" lIns="0" tIns="0" rIns="0" bIns="0" anchor="t" anchorCtr="0">
              <a:spAutoFit/>
            </a:bodyPr>
            <a:lstStyle/>
            <a:p>
              <a:pPr algn="l"/>
              <a:r>
                <a:rPr lang="zh-CN" sz="1950" b="1" dirty="0">
                  <a:solidFill>
                    <a:srgbClr val="1A1A1A"/>
                  </a:solidFill>
                  <a:latin typeface="Arial"/>
                  <a:ea typeface="Microsoft YaHei"/>
                  <a:cs typeface="Arial"/>
                </a:rPr>
                <a:t>WAN连接（企业连接产品）是三区域营收支柱，但OB之外</a:t>
              </a:r>
              <a:r>
                <a:rPr lang="zh-CN" sz="1950" b="1" dirty="0">
                  <a:solidFill>
                    <a:srgbClr val="E9002F"/>
                  </a:solidFill>
                  <a:latin typeface="Arial"/>
                  <a:ea typeface="Microsoft YaHei"/>
                  <a:cs typeface="Arial"/>
                </a:rPr>
                <a:t>缺乏国别厂商数据，不与RAN/MPN混同</a:t>
              </a:r>
            </a:p>
          </p:txBody>
        </p:sp>
        <p:sp>
          <p:nvSpPr>
            <p:cNvPr id="4" name="TextBox 4"/>
            <p:cNvSpPr txBox="1"/>
            <p:nvPr/>
          </p:nvSpPr>
          <p:spPr>
            <a:xfrm>
              <a:off x="527685" y="545306"/>
              <a:ext cx="4647091"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Catalogue：Business VPN/IP-VPN · SD-WAN · 5G专网连接 · SASE</a:t>
              </a:r>
            </a:p>
          </p:txBody>
        </p:sp>
        <p:sp>
          <p:nvSpPr>
            <p:cNvPr id="5" name="Line 5"/>
            <p:cNvSpPr/>
            <p:nvPr/>
          </p:nvSpPr>
          <p:spPr>
            <a:xfrm>
              <a:off x="533400" y="78105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16" name="Group 16"/>
          <p:cNvGrpSpPr/>
          <p:nvPr/>
        </p:nvGrpSpPr>
        <p:grpSpPr>
          <a:xfrm>
            <a:off x="528447" y="847249"/>
            <a:ext cx="6958203" cy="203358"/>
            <a:chOff x="528447" y="847249"/>
            <a:chExt cx="6958203" cy="203358"/>
          </a:xfrm>
        </p:grpSpPr>
        <p:sp>
          <p:nvSpPr>
            <p:cNvPr id="7" name="TextBox 7"/>
            <p:cNvSpPr txBox="1"/>
            <p:nvPr/>
          </p:nvSpPr>
          <p:spPr>
            <a:xfrm>
              <a:off x="528447" y="847249"/>
              <a:ext cx="2682000" cy="190690"/>
            </a:xfrm>
            <a:prstGeom prst="rect">
              <a:avLst/>
            </a:prstGeom>
            <a:noFill/>
            <a:ln>
              <a:noFill/>
            </a:ln>
          </p:spPr>
          <p:txBody>
            <a:bodyPr wrap="none" lIns="0" tIns="0" rIns="0" bIns="0" anchor="t" anchorCtr="0">
              <a:spAutoFit/>
            </a:bodyPr>
            <a:lstStyle/>
            <a:p>
              <a:pPr algn="l"/>
              <a:r>
                <a:rPr lang="zh-CN" sz="980" b="1" dirty="0">
                  <a:solidFill>
                    <a:srgbClr val="6B6B6B"/>
                  </a:solidFill>
                  <a:latin typeface="Arial"/>
                  <a:ea typeface="Microsoft YaHei"/>
                  <a:cs typeface="Arial"/>
                </a:rPr>
                <a:t>OB内部产品构成（2,715M€拆分，估）：</a:t>
              </a:r>
            </a:p>
          </p:txBody>
        </p:sp>
        <p:sp>
          <p:nvSpPr>
            <p:cNvPr id="8" name="Rectangle 8"/>
            <p:cNvSpPr/>
            <p:nvPr/>
          </p:nvSpPr>
          <p:spPr>
            <a:xfrm>
              <a:off x="3143250" y="857250"/>
              <a:ext cx="1714500" cy="152400"/>
            </a:xfrm>
            <a:prstGeom prst="rect">
              <a:avLst/>
            </a:prstGeom>
            <a:solidFill>
              <a:srgbClr val="C7000A"/>
            </a:solidFill>
            <a:ln>
              <a:noFill/>
            </a:ln>
          </p:spPr>
        </p:sp>
        <p:sp>
          <p:nvSpPr>
            <p:cNvPr id="9" name="TextBox 9"/>
            <p:cNvSpPr txBox="1"/>
            <p:nvPr/>
          </p:nvSpPr>
          <p:spPr>
            <a:xfrm>
              <a:off x="3646254" y="874395"/>
              <a:ext cx="708492"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Arial"/>
                  <a:ea typeface="Arial"/>
                  <a:cs typeface="Arial"/>
                </a:rPr>
                <a:t>IP-VPN 45%</a:t>
              </a:r>
            </a:p>
          </p:txBody>
        </p:sp>
        <p:sp>
          <p:nvSpPr>
            <p:cNvPr id="10" name="Rectangle 10"/>
            <p:cNvSpPr/>
            <p:nvPr/>
          </p:nvSpPr>
          <p:spPr>
            <a:xfrm>
              <a:off x="4876800" y="857250"/>
              <a:ext cx="1143000" cy="152400"/>
            </a:xfrm>
            <a:prstGeom prst="rect">
              <a:avLst/>
            </a:prstGeom>
            <a:solidFill>
              <a:srgbClr val="A6001C"/>
            </a:solidFill>
            <a:ln>
              <a:noFill/>
            </a:ln>
          </p:spPr>
        </p:sp>
        <p:sp>
          <p:nvSpPr>
            <p:cNvPr id="11" name="TextBox 11"/>
            <p:cNvSpPr txBox="1"/>
            <p:nvPr/>
          </p:nvSpPr>
          <p:spPr>
            <a:xfrm>
              <a:off x="5063810" y="874395"/>
              <a:ext cx="768980"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Arial"/>
                  <a:ea typeface="Arial"/>
                  <a:cs typeface="Arial"/>
                </a:rPr>
                <a:t>SD-WAN 30%</a:t>
              </a:r>
            </a:p>
          </p:txBody>
        </p:sp>
        <p:sp>
          <p:nvSpPr>
            <p:cNvPr id="12" name="Rectangle 12"/>
            <p:cNvSpPr/>
            <p:nvPr/>
          </p:nvSpPr>
          <p:spPr>
            <a:xfrm>
              <a:off x="6038850" y="857250"/>
              <a:ext cx="571500" cy="152400"/>
            </a:xfrm>
            <a:prstGeom prst="rect">
              <a:avLst/>
            </a:prstGeom>
            <a:solidFill>
              <a:srgbClr val="F4A100"/>
            </a:solidFill>
            <a:ln>
              <a:noFill/>
            </a:ln>
          </p:spPr>
        </p:sp>
        <p:sp>
          <p:nvSpPr>
            <p:cNvPr id="13" name="TextBox 13"/>
            <p:cNvSpPr txBox="1"/>
            <p:nvPr/>
          </p:nvSpPr>
          <p:spPr>
            <a:xfrm>
              <a:off x="6119612" y="882491"/>
              <a:ext cx="409975" cy="161925"/>
            </a:xfrm>
            <a:prstGeom prst="rect">
              <a:avLst/>
            </a:prstGeom>
            <a:noFill/>
            <a:ln>
              <a:noFill/>
            </a:ln>
          </p:spPr>
          <p:txBody>
            <a:bodyPr wrap="none" lIns="0" tIns="0" rIns="0" bIns="0" anchor="t" anchorCtr="0">
              <a:spAutoFit/>
            </a:bodyPr>
            <a:lstStyle/>
            <a:p>
              <a:pPr algn="ctr"/>
              <a:r>
                <a:rPr lang="en-US" sz="820" b="1" dirty="0">
                  <a:solidFill>
                    <a:srgbClr val="1A1A1A"/>
                  </a:solidFill>
                  <a:latin typeface="Arial"/>
                  <a:ea typeface="Arial"/>
                  <a:cs typeface="Arial"/>
                </a:rPr>
                <a:t>5G 10%</a:t>
              </a:r>
            </a:p>
          </p:txBody>
        </p:sp>
        <p:sp>
          <p:nvSpPr>
            <p:cNvPr id="14" name="Rectangle 14"/>
            <p:cNvSpPr/>
            <p:nvPr/>
          </p:nvSpPr>
          <p:spPr>
            <a:xfrm>
              <a:off x="6629400" y="857250"/>
              <a:ext cx="857250" cy="152400"/>
            </a:xfrm>
            <a:prstGeom prst="rect">
              <a:avLst/>
            </a:prstGeom>
            <a:solidFill>
              <a:srgbClr val="FBE29A"/>
            </a:solidFill>
            <a:ln>
              <a:noFill/>
            </a:ln>
          </p:spPr>
        </p:sp>
        <p:sp>
          <p:nvSpPr>
            <p:cNvPr id="15" name="TextBox 15"/>
            <p:cNvSpPr txBox="1"/>
            <p:nvPr/>
          </p:nvSpPr>
          <p:spPr>
            <a:xfrm>
              <a:off x="6760906" y="874395"/>
              <a:ext cx="594238" cy="176212"/>
            </a:xfrm>
            <a:prstGeom prst="rect">
              <a:avLst/>
            </a:prstGeom>
            <a:noFill/>
            <a:ln>
              <a:noFill/>
            </a:ln>
          </p:spPr>
          <p:txBody>
            <a:bodyPr wrap="none" lIns="0" tIns="0" rIns="0" bIns="0" anchor="t" anchorCtr="0">
              <a:spAutoFit/>
            </a:bodyPr>
            <a:lstStyle/>
            <a:p>
              <a:pPr algn="ctr"/>
              <a:r>
                <a:rPr lang="en-US" sz="900" b="1" dirty="0">
                  <a:solidFill>
                    <a:srgbClr val="1A1A1A"/>
                  </a:solidFill>
                  <a:latin typeface="Arial"/>
                  <a:ea typeface="Arial"/>
                  <a:cs typeface="Arial"/>
                </a:rPr>
                <a:t>SASE 15%</a:t>
              </a:r>
            </a:p>
          </p:txBody>
        </p:sp>
      </p:grpSp>
      <p:sp>
        <p:nvSpPr>
          <p:cNvPr id="17" name="Line 17"/>
          <p:cNvSpPr/>
          <p:nvPr/>
        </p:nvSpPr>
        <p:spPr>
          <a:xfrm>
            <a:off x="533400" y="1123950"/>
            <a:ext cx="11125200" cy="9525"/>
          </a:xfrm>
          <a:custGeom>
            <a:avLst/>
            <a:gdLst/>
            <a:ahLst/>
            <a:cxnLst/>
            <a:rect l="l" t="t" r="r" b="b"/>
            <a:pathLst>
              <a:path w="11125200" h="9525">
                <a:moveTo>
                  <a:pt x="0" y="0"/>
                </a:moveTo>
                <a:lnTo>
                  <a:pt x="11125200" y="0"/>
                </a:lnTo>
              </a:path>
            </a:pathLst>
          </a:custGeom>
          <a:noFill/>
          <a:ln w="9525">
            <a:solidFill>
              <a:srgbClr val="E8E2DA"/>
            </a:solidFill>
          </a:ln>
        </p:spPr>
      </p:sp>
      <p:grpSp>
        <p:nvGrpSpPr>
          <p:cNvPr id="41" name="Group 41"/>
          <p:cNvGrpSpPr/>
          <p:nvPr/>
        </p:nvGrpSpPr>
        <p:grpSpPr>
          <a:xfrm>
            <a:off x="526161" y="1219200"/>
            <a:ext cx="3560064" cy="4162139"/>
            <a:chOff x="526161" y="1219200"/>
            <a:chExt cx="3560064" cy="4162139"/>
          </a:xfrm>
        </p:grpSpPr>
        <p:sp>
          <p:nvSpPr>
            <p:cNvPr id="18" name="Rectangle 18"/>
            <p:cNvSpPr/>
            <p:nvPr/>
          </p:nvSpPr>
          <p:spPr>
            <a:xfrm>
              <a:off x="533400" y="1219200"/>
              <a:ext cx="3552825" cy="76200"/>
            </a:xfrm>
            <a:prstGeom prst="rect">
              <a:avLst/>
            </a:prstGeom>
            <a:solidFill>
              <a:srgbClr val="C7000A"/>
            </a:solidFill>
            <a:ln>
              <a:noFill/>
            </a:ln>
          </p:spPr>
        </p:sp>
        <p:sp>
          <p:nvSpPr>
            <p:cNvPr id="19" name="TextBox 19"/>
            <p:cNvSpPr txBox="1"/>
            <p:nvPr/>
          </p:nvSpPr>
          <p:spPr>
            <a:xfrm>
              <a:off x="526161" y="1370171"/>
              <a:ext cx="291153" cy="278702"/>
            </a:xfrm>
            <a:prstGeom prst="rect">
              <a:avLst/>
            </a:prstGeom>
            <a:noFill/>
            <a:ln>
              <a:noFill/>
            </a:ln>
          </p:spPr>
          <p:txBody>
            <a:bodyPr wrap="none" lIns="0" tIns="0" rIns="0" bIns="0" anchor="t" anchorCtr="0">
              <a:spAutoFit/>
            </a:bodyPr>
            <a:lstStyle/>
            <a:p>
              <a:pPr algn="l"/>
              <a:r>
                <a:rPr lang="en-US" sz="1420" b="1" dirty="0">
                  <a:solidFill>
                    <a:srgbClr val="C7000A"/>
                  </a:solidFill>
                  <a:latin typeface="Arial"/>
                  <a:ea typeface="Arial"/>
                  <a:cs typeface="Arial"/>
                </a:rPr>
                <a:t>OB</a:t>
              </a:r>
            </a:p>
          </p:txBody>
        </p:sp>
        <p:sp>
          <p:nvSpPr>
            <p:cNvPr id="20" name="TextBox 20"/>
            <p:cNvSpPr txBox="1"/>
            <p:nvPr/>
          </p:nvSpPr>
          <p:spPr>
            <a:xfrm>
              <a:off x="527685" y="1612106"/>
              <a:ext cx="2003679"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2,715M€/Y · 占OB收入37%</a:t>
              </a:r>
            </a:p>
          </p:txBody>
        </p:sp>
        <p:sp>
          <p:nvSpPr>
            <p:cNvPr id="21" name="TextBox 21"/>
            <p:cNvSpPr txBox="1"/>
            <p:nvPr/>
          </p:nvSpPr>
          <p:spPr>
            <a:xfrm>
              <a:off x="528447" y="1818799"/>
              <a:ext cx="345620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设备空间约180M$/年（估）· 法国企业连接份额60-65%</a:t>
              </a:r>
            </a:p>
          </p:txBody>
        </p:sp>
        <p:sp>
          <p:nvSpPr>
            <p:cNvPr id="22" name="Line 22"/>
            <p:cNvSpPr/>
            <p:nvPr/>
          </p:nvSpPr>
          <p:spPr>
            <a:xfrm>
              <a:off x="533400" y="2019300"/>
              <a:ext cx="3552825" cy="9525"/>
            </a:xfrm>
            <a:custGeom>
              <a:avLst/>
              <a:gdLst/>
              <a:ahLst/>
              <a:cxnLst/>
              <a:rect l="l" t="t" r="r" b="b"/>
              <a:pathLst>
                <a:path w="3552825" h="9525">
                  <a:moveTo>
                    <a:pt x="0" y="0"/>
                  </a:moveTo>
                  <a:lnTo>
                    <a:pt x="3552825" y="0"/>
                  </a:lnTo>
                </a:path>
              </a:pathLst>
            </a:custGeom>
            <a:noFill/>
            <a:ln w="9525">
              <a:solidFill>
                <a:srgbClr val="E8E2DA"/>
              </a:solidFill>
            </a:ln>
          </p:spPr>
        </p:sp>
        <p:grpSp>
          <p:nvGrpSpPr>
            <p:cNvPr id="36" name="Group 36"/>
            <p:cNvGrpSpPr/>
            <p:nvPr/>
          </p:nvGrpSpPr>
          <p:grpSpPr>
            <a:xfrm>
              <a:off x="762000" y="2742724"/>
              <a:ext cx="3095625" cy="1908333"/>
              <a:chOff x="762000" y="2742724"/>
              <a:chExt cx="3095625" cy="1908333"/>
            </a:xfrm>
          </p:grpSpPr>
          <p:sp>
            <p:nvSpPr>
              <p:cNvPr id="23" name="Line 23"/>
              <p:cNvSpPr/>
              <p:nvPr/>
            </p:nvSpPr>
            <p:spPr>
              <a:xfrm>
                <a:off x="762000" y="438150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24" name="Rectangle 24"/>
              <p:cNvSpPr/>
              <p:nvPr/>
            </p:nvSpPr>
            <p:spPr>
              <a:xfrm>
                <a:off x="952500" y="2933700"/>
                <a:ext cx="571500" cy="1447800"/>
              </a:xfrm>
              <a:prstGeom prst="rect">
                <a:avLst/>
              </a:prstGeom>
              <a:solidFill>
                <a:srgbClr val="C7C2B8"/>
              </a:solidFill>
              <a:ln>
                <a:noFill/>
              </a:ln>
            </p:spPr>
          </p:sp>
          <p:sp>
            <p:nvSpPr>
              <p:cNvPr id="25" name="TextBox 25"/>
              <p:cNvSpPr txBox="1"/>
              <p:nvPr/>
            </p:nvSpPr>
            <p:spPr>
              <a:xfrm>
                <a:off x="1058555" y="2742724"/>
                <a:ext cx="35939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70M$</a:t>
                </a:r>
              </a:p>
            </p:txBody>
          </p:sp>
          <p:sp>
            <p:nvSpPr>
              <p:cNvPr id="26" name="TextBox 26"/>
              <p:cNvSpPr txBox="1"/>
              <p:nvPr/>
            </p:nvSpPr>
            <p:spPr>
              <a:xfrm>
                <a:off x="1080326" y="4474845"/>
                <a:ext cx="315849"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Cisco</a:t>
                </a:r>
              </a:p>
            </p:txBody>
          </p:sp>
          <p:sp>
            <p:nvSpPr>
              <p:cNvPr id="27" name="Rectangle 27"/>
              <p:cNvSpPr/>
              <p:nvPr/>
            </p:nvSpPr>
            <p:spPr>
              <a:xfrm>
                <a:off x="1666875" y="3343275"/>
                <a:ext cx="571500" cy="1038225"/>
              </a:xfrm>
              <a:prstGeom prst="rect">
                <a:avLst/>
              </a:prstGeom>
              <a:solidFill>
                <a:srgbClr val="C7C2B8"/>
              </a:solidFill>
              <a:ln>
                <a:noFill/>
              </a:ln>
            </p:spPr>
          </p:sp>
          <p:sp>
            <p:nvSpPr>
              <p:cNvPr id="28" name="TextBox 28"/>
              <p:cNvSpPr txBox="1"/>
              <p:nvPr/>
            </p:nvSpPr>
            <p:spPr>
              <a:xfrm>
                <a:off x="1772930" y="3152299"/>
                <a:ext cx="35939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50M$</a:t>
                </a:r>
              </a:p>
            </p:txBody>
          </p:sp>
          <p:sp>
            <p:nvSpPr>
              <p:cNvPr id="29" name="TextBox 29"/>
              <p:cNvSpPr txBox="1"/>
              <p:nvPr/>
            </p:nvSpPr>
            <p:spPr>
              <a:xfrm>
                <a:off x="1694681" y="4474845"/>
                <a:ext cx="515888"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Fortinet</a:t>
                </a:r>
              </a:p>
            </p:txBody>
          </p:sp>
          <p:sp>
            <p:nvSpPr>
              <p:cNvPr id="30" name="Rectangle 30"/>
              <p:cNvSpPr/>
              <p:nvPr/>
            </p:nvSpPr>
            <p:spPr>
              <a:xfrm>
                <a:off x="2381250" y="3657600"/>
                <a:ext cx="571500" cy="723900"/>
              </a:xfrm>
              <a:prstGeom prst="rect">
                <a:avLst/>
              </a:prstGeom>
              <a:solidFill>
                <a:srgbClr val="C7C2B8"/>
              </a:solidFill>
              <a:ln>
                <a:noFill/>
              </a:ln>
            </p:spPr>
          </p:sp>
          <p:sp>
            <p:nvSpPr>
              <p:cNvPr id="31" name="TextBox 31"/>
              <p:cNvSpPr txBox="1"/>
              <p:nvPr/>
            </p:nvSpPr>
            <p:spPr>
              <a:xfrm>
                <a:off x="2487305" y="3466624"/>
                <a:ext cx="35939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35M$</a:t>
                </a:r>
              </a:p>
            </p:txBody>
          </p:sp>
          <p:sp>
            <p:nvSpPr>
              <p:cNvPr id="32" name="TextBox 32"/>
              <p:cNvSpPr txBox="1"/>
              <p:nvPr/>
            </p:nvSpPr>
            <p:spPr>
              <a:xfrm>
                <a:off x="2433866" y="4474845"/>
                <a:ext cx="466268"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VMware</a:t>
                </a:r>
              </a:p>
            </p:txBody>
          </p:sp>
          <p:sp>
            <p:nvSpPr>
              <p:cNvPr id="33" name="Rectangle 33"/>
              <p:cNvSpPr/>
              <p:nvPr/>
            </p:nvSpPr>
            <p:spPr>
              <a:xfrm>
                <a:off x="3095625" y="3867150"/>
                <a:ext cx="571500" cy="514350"/>
              </a:xfrm>
              <a:prstGeom prst="rect">
                <a:avLst/>
              </a:prstGeom>
              <a:solidFill>
                <a:srgbClr val="C7C2B8"/>
              </a:solidFill>
              <a:ln>
                <a:noFill/>
              </a:ln>
            </p:spPr>
          </p:sp>
          <p:sp>
            <p:nvSpPr>
              <p:cNvPr id="34" name="TextBox 34"/>
              <p:cNvSpPr txBox="1"/>
              <p:nvPr/>
            </p:nvSpPr>
            <p:spPr>
              <a:xfrm>
                <a:off x="3201680" y="3676174"/>
                <a:ext cx="35939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25M$</a:t>
                </a:r>
              </a:p>
            </p:txBody>
          </p:sp>
          <p:sp>
            <p:nvSpPr>
              <p:cNvPr id="35" name="TextBox 35"/>
              <p:cNvSpPr txBox="1"/>
              <p:nvPr/>
            </p:nvSpPr>
            <p:spPr>
              <a:xfrm>
                <a:off x="3060706" y="4474845"/>
                <a:ext cx="641337"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OneAccess</a:t>
                </a:r>
              </a:p>
            </p:txBody>
          </p:sp>
        </p:grpSp>
        <p:sp>
          <p:nvSpPr>
            <p:cNvPr id="37" name="Line 37"/>
            <p:cNvSpPr/>
            <p:nvPr/>
          </p:nvSpPr>
          <p:spPr>
            <a:xfrm>
              <a:off x="533400" y="4705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38" name="TextBox 38"/>
            <p:cNvSpPr txBox="1"/>
            <p:nvPr/>
          </p:nvSpPr>
          <p:spPr>
            <a:xfrm>
              <a:off x="527685" y="4793456"/>
              <a:ext cx="1124569" cy="220028"/>
            </a:xfrm>
            <a:prstGeom prst="rect">
              <a:avLst/>
            </a:prstGeom>
            <a:noFill/>
            <a:ln>
              <a:noFill/>
            </a:ln>
          </p:spPr>
          <p:txBody>
            <a:bodyPr wrap="none" lIns="0" tIns="0" rIns="0" bIns="0" anchor="t" anchorCtr="0">
              <a:spAutoFit/>
            </a:bodyPr>
            <a:lstStyle/>
            <a:p>
              <a:pPr algn="l"/>
              <a:r>
                <a:rPr lang="zh-CN" sz="1120" b="1" dirty="0">
                  <a:solidFill>
                    <a:srgbClr val="C0392B"/>
                  </a:solidFill>
                  <a:latin typeface="Arial"/>
                  <a:ea typeface="Microsoft YaHei"/>
                  <a:cs typeface="Arial"/>
                </a:rPr>
                <a:t>华为：基本缺席</a:t>
              </a:r>
            </a:p>
          </p:txBody>
        </p:sp>
        <p:sp>
          <p:nvSpPr>
            <p:cNvPr id="39" name="TextBox 39"/>
            <p:cNvSpPr txBox="1"/>
            <p:nvPr/>
          </p:nvSpPr>
          <p:spPr>
            <a:xfrm>
              <a:off x="528447" y="5019199"/>
              <a:ext cx="254782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法国WAN目录不含华为；SD-WAN CPE空间</a:t>
              </a:r>
            </a:p>
          </p:txBody>
        </p:sp>
        <p:sp>
          <p:nvSpPr>
            <p:cNvPr id="40" name="TextBox 40"/>
            <p:cNvSpPr txBox="1"/>
            <p:nvPr/>
          </p:nvSpPr>
          <p:spPr>
            <a:xfrm>
              <a:off x="528447" y="5190649"/>
              <a:ext cx="2194772"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被Fortinet/Cisco/VMware三家瓜分</a:t>
              </a:r>
            </a:p>
          </p:txBody>
        </p:sp>
      </p:grpSp>
      <p:grpSp>
        <p:nvGrpSpPr>
          <p:cNvPr id="64" name="Group 64"/>
          <p:cNvGrpSpPr/>
          <p:nvPr/>
        </p:nvGrpSpPr>
        <p:grpSpPr>
          <a:xfrm>
            <a:off x="4307586" y="1219200"/>
            <a:ext cx="3560064" cy="4155757"/>
            <a:chOff x="4307586" y="1219200"/>
            <a:chExt cx="3560064" cy="4155757"/>
          </a:xfrm>
        </p:grpSpPr>
        <p:sp>
          <p:nvSpPr>
            <p:cNvPr id="42" name="Rectangle 42"/>
            <p:cNvSpPr/>
            <p:nvPr/>
          </p:nvSpPr>
          <p:spPr>
            <a:xfrm>
              <a:off x="4314825" y="1219200"/>
              <a:ext cx="3552825" cy="76200"/>
            </a:xfrm>
            <a:prstGeom prst="rect">
              <a:avLst/>
            </a:prstGeom>
            <a:solidFill>
              <a:srgbClr val="E9002F"/>
            </a:solidFill>
            <a:ln>
              <a:noFill/>
            </a:ln>
          </p:spPr>
        </p:sp>
        <p:sp>
          <p:nvSpPr>
            <p:cNvPr id="43" name="TextBox 43"/>
            <p:cNvSpPr txBox="1"/>
            <p:nvPr/>
          </p:nvSpPr>
          <p:spPr>
            <a:xfrm>
              <a:off x="4307586" y="1370171"/>
              <a:ext cx="408207" cy="278702"/>
            </a:xfrm>
            <a:prstGeom prst="rect">
              <a:avLst/>
            </a:prstGeom>
            <a:noFill/>
            <a:ln>
              <a:noFill/>
            </a:ln>
          </p:spPr>
          <p:txBody>
            <a:bodyPr wrap="none" lIns="0" tIns="0" rIns="0" bIns="0" anchor="t" anchorCtr="0">
              <a:spAutoFit/>
            </a:bodyPr>
            <a:lstStyle/>
            <a:p>
              <a:pPr algn="l"/>
              <a:r>
                <a:rPr lang="en-US" sz="1420" b="1" dirty="0">
                  <a:solidFill>
                    <a:srgbClr val="E9002F"/>
                  </a:solidFill>
                  <a:latin typeface="Arial"/>
                  <a:ea typeface="Arial"/>
                  <a:cs typeface="Arial"/>
                </a:rPr>
                <a:t>OEU</a:t>
              </a:r>
            </a:p>
          </p:txBody>
        </p:sp>
        <p:sp>
          <p:nvSpPr>
            <p:cNvPr id="44" name="TextBox 44"/>
            <p:cNvSpPr txBox="1"/>
            <p:nvPr/>
          </p:nvSpPr>
          <p:spPr>
            <a:xfrm>
              <a:off x="4309110" y="1612106"/>
              <a:ext cx="2739771"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约8-9亿€/Y（估）· 波兰ICT占B2B36%</a:t>
              </a:r>
            </a:p>
          </p:txBody>
        </p:sp>
        <p:sp>
          <p:nvSpPr>
            <p:cNvPr id="45" name="TextBox 45"/>
            <p:cNvSpPr txBox="1"/>
            <p:nvPr/>
          </p:nvSpPr>
          <p:spPr>
            <a:xfrm>
              <a:off x="4310062" y="1826895"/>
              <a:ext cx="3149117"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厂商份额（估，参照OneAccess预装+欧洲SD-WAN份额）</a:t>
              </a:r>
            </a:p>
          </p:txBody>
        </p:sp>
        <p:sp>
          <p:nvSpPr>
            <p:cNvPr id="46" name="Line 46"/>
            <p:cNvSpPr/>
            <p:nvPr/>
          </p:nvSpPr>
          <p:spPr>
            <a:xfrm>
              <a:off x="4314825" y="2019300"/>
              <a:ext cx="3552825" cy="9525"/>
            </a:xfrm>
            <a:custGeom>
              <a:avLst/>
              <a:gdLst/>
              <a:ahLst/>
              <a:cxnLst/>
              <a:rect l="l" t="t" r="r" b="b"/>
              <a:pathLst>
                <a:path w="3552825" h="9525">
                  <a:moveTo>
                    <a:pt x="0" y="0"/>
                  </a:moveTo>
                  <a:lnTo>
                    <a:pt x="3552825" y="0"/>
                  </a:lnTo>
                </a:path>
              </a:pathLst>
            </a:custGeom>
            <a:noFill/>
            <a:ln w="9525">
              <a:solidFill>
                <a:srgbClr val="E8E2DA"/>
              </a:solidFill>
            </a:ln>
          </p:spPr>
        </p:sp>
        <p:grpSp>
          <p:nvGrpSpPr>
            <p:cNvPr id="60" name="Group 60"/>
            <p:cNvGrpSpPr/>
            <p:nvPr/>
          </p:nvGrpSpPr>
          <p:grpSpPr>
            <a:xfrm>
              <a:off x="4543425" y="2761774"/>
              <a:ext cx="3095625" cy="1889283"/>
              <a:chOff x="4543425" y="2761774"/>
              <a:chExt cx="3095625" cy="1889283"/>
            </a:xfrm>
          </p:grpSpPr>
          <p:sp>
            <p:nvSpPr>
              <p:cNvPr id="47" name="Line 47"/>
              <p:cNvSpPr/>
              <p:nvPr/>
            </p:nvSpPr>
            <p:spPr>
              <a:xfrm>
                <a:off x="4543425" y="438150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48" name="Rectangle 48"/>
              <p:cNvSpPr/>
              <p:nvPr/>
            </p:nvSpPr>
            <p:spPr>
              <a:xfrm>
                <a:off x="4686300" y="2952750"/>
                <a:ext cx="523875" cy="1428750"/>
              </a:xfrm>
              <a:prstGeom prst="rect">
                <a:avLst/>
              </a:prstGeom>
              <a:solidFill>
                <a:srgbClr val="E9002F"/>
              </a:solidFill>
              <a:ln w="19050">
                <a:solidFill>
                  <a:srgbClr val="C7000A"/>
                </a:solidFill>
              </a:ln>
            </p:spPr>
          </p:sp>
          <p:sp>
            <p:nvSpPr>
              <p:cNvPr id="49" name="TextBox 49"/>
              <p:cNvSpPr txBox="1"/>
              <p:nvPr/>
            </p:nvSpPr>
            <p:spPr>
              <a:xfrm>
                <a:off x="4604315" y="2761774"/>
                <a:ext cx="678320" cy="190690"/>
              </a:xfrm>
              <a:prstGeom prst="rect">
                <a:avLst/>
              </a:prstGeom>
              <a:noFill/>
              <a:ln>
                <a:noFill/>
              </a:ln>
            </p:spPr>
            <p:txBody>
              <a:bodyPr wrap="none" lIns="0" tIns="0" rIns="0" bIns="0" anchor="t" anchorCtr="0">
                <a:spAutoFit/>
              </a:bodyPr>
              <a:lstStyle/>
              <a:p>
                <a:pPr algn="ctr"/>
                <a:r>
                  <a:rPr lang="zh-CN" sz="980" b="1" dirty="0">
                    <a:solidFill>
                      <a:srgbClr val="C7000A"/>
                    </a:solidFill>
                    <a:latin typeface="Arial"/>
                    <a:ea typeface="Microsoft YaHei"/>
                    <a:cs typeface="Arial"/>
                  </a:rPr>
                  <a:t>30%（估）</a:t>
                </a:r>
              </a:p>
            </p:txBody>
          </p:sp>
          <p:sp>
            <p:nvSpPr>
              <p:cNvPr id="50" name="TextBox 50"/>
              <p:cNvSpPr txBox="1"/>
              <p:nvPr/>
            </p:nvSpPr>
            <p:spPr>
              <a:xfrm>
                <a:off x="4607011" y="4474845"/>
                <a:ext cx="672928" cy="176212"/>
              </a:xfrm>
              <a:prstGeom prst="rect">
                <a:avLst/>
              </a:prstGeom>
              <a:noFill/>
              <a:ln>
                <a:noFill/>
              </a:ln>
            </p:spPr>
            <p:txBody>
              <a:bodyPr wrap="none" lIns="0" tIns="0" rIns="0" bIns="0" anchor="t" anchorCtr="0">
                <a:spAutoFit/>
              </a:bodyPr>
              <a:lstStyle/>
              <a:p>
                <a:pPr algn="ctr"/>
                <a:r>
                  <a:rPr lang="en-US" sz="900" b="1" dirty="0">
                    <a:solidFill>
                      <a:srgbClr val="C7000A"/>
                    </a:solidFill>
                    <a:latin typeface="Arial"/>
                    <a:ea typeface="Arial"/>
                    <a:cs typeface="Arial"/>
                  </a:rPr>
                  <a:t>OneAccess</a:t>
                </a:r>
              </a:p>
            </p:txBody>
          </p:sp>
          <p:sp>
            <p:nvSpPr>
              <p:cNvPr id="51" name="Rectangle 51"/>
              <p:cNvSpPr/>
              <p:nvPr/>
            </p:nvSpPr>
            <p:spPr>
              <a:xfrm>
                <a:off x="5448300" y="3190875"/>
                <a:ext cx="523875" cy="1190625"/>
              </a:xfrm>
              <a:prstGeom prst="rect">
                <a:avLst/>
              </a:prstGeom>
              <a:solidFill>
                <a:srgbClr val="C7C2B8"/>
              </a:solidFill>
              <a:ln>
                <a:noFill/>
              </a:ln>
            </p:spPr>
          </p:sp>
          <p:sp>
            <p:nvSpPr>
              <p:cNvPr id="52" name="TextBox 52"/>
              <p:cNvSpPr txBox="1"/>
              <p:nvPr/>
            </p:nvSpPr>
            <p:spPr>
              <a:xfrm>
                <a:off x="5366315" y="299989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25%（估）</a:t>
                </a:r>
              </a:p>
            </p:txBody>
          </p:sp>
          <p:sp>
            <p:nvSpPr>
              <p:cNvPr id="53" name="TextBox 53"/>
              <p:cNvSpPr txBox="1"/>
              <p:nvPr/>
            </p:nvSpPr>
            <p:spPr>
              <a:xfrm>
                <a:off x="5547550" y="4474845"/>
                <a:ext cx="315849"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Cisco</a:t>
                </a:r>
              </a:p>
            </p:txBody>
          </p:sp>
          <p:sp>
            <p:nvSpPr>
              <p:cNvPr id="54" name="Rectangle 54"/>
              <p:cNvSpPr/>
              <p:nvPr/>
            </p:nvSpPr>
            <p:spPr>
              <a:xfrm>
                <a:off x="6210300" y="3429000"/>
                <a:ext cx="523875" cy="952500"/>
              </a:xfrm>
              <a:prstGeom prst="rect">
                <a:avLst/>
              </a:prstGeom>
              <a:solidFill>
                <a:srgbClr val="C7C2B8"/>
              </a:solidFill>
              <a:ln>
                <a:noFill/>
              </a:ln>
            </p:spPr>
          </p:sp>
          <p:sp>
            <p:nvSpPr>
              <p:cNvPr id="55" name="TextBox 55"/>
              <p:cNvSpPr txBox="1"/>
              <p:nvPr/>
            </p:nvSpPr>
            <p:spPr>
              <a:xfrm>
                <a:off x="6128315" y="3238024"/>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20%（估）</a:t>
                </a:r>
              </a:p>
            </p:txBody>
          </p:sp>
          <p:sp>
            <p:nvSpPr>
              <p:cNvPr id="56" name="TextBox 56"/>
              <p:cNvSpPr txBox="1"/>
              <p:nvPr/>
            </p:nvSpPr>
            <p:spPr>
              <a:xfrm>
                <a:off x="6209531" y="4474845"/>
                <a:ext cx="515888"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Fortinet</a:t>
                </a:r>
              </a:p>
            </p:txBody>
          </p:sp>
          <p:sp>
            <p:nvSpPr>
              <p:cNvPr id="57" name="Rectangle 57"/>
              <p:cNvSpPr/>
              <p:nvPr/>
            </p:nvSpPr>
            <p:spPr>
              <a:xfrm>
                <a:off x="6972300" y="3190875"/>
                <a:ext cx="523875" cy="1190625"/>
              </a:xfrm>
              <a:prstGeom prst="rect">
                <a:avLst/>
              </a:prstGeom>
              <a:solidFill>
                <a:srgbClr val="C7C2B8"/>
              </a:solidFill>
              <a:ln>
                <a:noFill/>
              </a:ln>
            </p:spPr>
          </p:sp>
          <p:sp>
            <p:nvSpPr>
              <p:cNvPr id="58" name="TextBox 58"/>
              <p:cNvSpPr txBox="1"/>
              <p:nvPr/>
            </p:nvSpPr>
            <p:spPr>
              <a:xfrm>
                <a:off x="6890315" y="299989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25%（估）</a:t>
                </a:r>
              </a:p>
            </p:txBody>
          </p:sp>
          <p:sp>
            <p:nvSpPr>
              <p:cNvPr id="59" name="TextBox 59"/>
              <p:cNvSpPr txBox="1"/>
              <p:nvPr/>
            </p:nvSpPr>
            <p:spPr>
              <a:xfrm>
                <a:off x="7103554" y="4474845"/>
                <a:ext cx="251841" cy="176212"/>
              </a:xfrm>
              <a:prstGeom prst="rect">
                <a:avLst/>
              </a:prstGeom>
              <a:noFill/>
              <a:ln>
                <a:noFill/>
              </a:ln>
            </p:spPr>
            <p:txBody>
              <a:bodyPr wrap="none" lIns="0" tIns="0" rIns="0" bIns="0" anchor="t" anchorCtr="0">
                <a:spAutoFit/>
              </a:bodyPr>
              <a:lstStyle/>
              <a:p>
                <a:pPr algn="ctr"/>
                <a:r>
                  <a:rPr lang="zh-CN" sz="900" dirty="0">
                    <a:solidFill>
                      <a:srgbClr val="6B6B6B"/>
                    </a:solidFill>
                    <a:latin typeface="Arial"/>
                    <a:ea typeface="Microsoft YaHei"/>
                    <a:cs typeface="Arial"/>
                  </a:rPr>
                  <a:t>其他</a:t>
                </a:r>
              </a:p>
            </p:txBody>
          </p:sp>
        </p:grpSp>
        <p:sp>
          <p:nvSpPr>
            <p:cNvPr id="61" name="TextBox 61"/>
            <p:cNvSpPr txBox="1"/>
            <p:nvPr/>
          </p:nvSpPr>
          <p:spPr>
            <a:xfrm>
              <a:off x="4309110" y="4793456"/>
              <a:ext cx="2892990" cy="220028"/>
            </a:xfrm>
            <a:prstGeom prst="rect">
              <a:avLst/>
            </a:prstGeom>
            <a:noFill/>
            <a:ln>
              <a:noFill/>
            </a:ln>
          </p:spPr>
          <p:txBody>
            <a:bodyPr wrap="none" lIns="0" tIns="0" rIns="0" bIns="0" anchor="t" anchorCtr="0">
              <a:spAutoFit/>
            </a:bodyPr>
            <a:lstStyle/>
            <a:p>
              <a:pPr algn="l"/>
              <a:r>
                <a:rPr lang="zh-CN" sz="1120" b="1" dirty="0">
                  <a:solidFill>
                    <a:srgbClr val="9B9B9B"/>
                  </a:solidFill>
                  <a:latin typeface="Arial"/>
                  <a:ea typeface="Microsoft YaHei"/>
                  <a:cs typeface="Arial"/>
                </a:rPr>
                <a:t>华为：企业WAN厂商目录未见（估0%）</a:t>
              </a:r>
            </a:p>
          </p:txBody>
        </p:sp>
        <p:sp>
          <p:nvSpPr>
            <p:cNvPr id="62" name="TextBox 62"/>
            <p:cNvSpPr txBox="1"/>
            <p:nvPr/>
          </p:nvSpPr>
          <p:spPr>
            <a:xfrm>
              <a:off x="4310062" y="5027295"/>
              <a:ext cx="1998247"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注：罗马尼亚Open RAN/波兰供应商</a:t>
              </a:r>
            </a:p>
          </p:txBody>
        </p:sp>
        <p:sp>
          <p:nvSpPr>
            <p:cNvPr id="63" name="TextBox 63"/>
            <p:cNvSpPr txBox="1"/>
            <p:nvPr/>
          </p:nvSpPr>
          <p:spPr>
            <a:xfrm>
              <a:off x="4310062" y="5198745"/>
              <a:ext cx="1865757"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认定属RAN议题，非本图WAN市场</a:t>
              </a:r>
            </a:p>
          </p:txBody>
        </p:sp>
      </p:grpSp>
      <p:grpSp>
        <p:nvGrpSpPr>
          <p:cNvPr id="87" name="Group 87"/>
          <p:cNvGrpSpPr/>
          <p:nvPr/>
        </p:nvGrpSpPr>
        <p:grpSpPr>
          <a:xfrm>
            <a:off x="8089011" y="1219200"/>
            <a:ext cx="3589401" cy="4155757"/>
            <a:chOff x="8089011" y="1219200"/>
            <a:chExt cx="3589401" cy="4155757"/>
          </a:xfrm>
        </p:grpSpPr>
        <p:sp>
          <p:nvSpPr>
            <p:cNvPr id="65" name="Rectangle 65"/>
            <p:cNvSpPr/>
            <p:nvPr/>
          </p:nvSpPr>
          <p:spPr>
            <a:xfrm>
              <a:off x="8096250" y="1219200"/>
              <a:ext cx="3552825" cy="76200"/>
            </a:xfrm>
            <a:prstGeom prst="rect">
              <a:avLst/>
            </a:prstGeom>
            <a:solidFill>
              <a:srgbClr val="F4A100"/>
            </a:solidFill>
            <a:ln>
              <a:noFill/>
            </a:ln>
          </p:spPr>
        </p:sp>
        <p:sp>
          <p:nvSpPr>
            <p:cNvPr id="66" name="TextBox 66"/>
            <p:cNvSpPr txBox="1"/>
            <p:nvPr/>
          </p:nvSpPr>
          <p:spPr>
            <a:xfrm>
              <a:off x="8089011" y="1370171"/>
              <a:ext cx="567827" cy="278702"/>
            </a:xfrm>
            <a:prstGeom prst="rect">
              <a:avLst/>
            </a:prstGeom>
            <a:noFill/>
            <a:ln>
              <a:noFill/>
            </a:ln>
          </p:spPr>
          <p:txBody>
            <a:bodyPr wrap="none" lIns="0" tIns="0" rIns="0" bIns="0" anchor="t" anchorCtr="0">
              <a:spAutoFit/>
            </a:bodyPr>
            <a:lstStyle/>
            <a:p>
              <a:pPr algn="l"/>
              <a:r>
                <a:rPr lang="en-US" sz="1420" b="1" dirty="0">
                  <a:solidFill>
                    <a:srgbClr val="8A6D00"/>
                  </a:solidFill>
                  <a:latin typeface="Arial"/>
                  <a:ea typeface="Arial"/>
                  <a:cs typeface="Arial"/>
                </a:rPr>
                <a:t>OMEA</a:t>
              </a:r>
            </a:p>
          </p:txBody>
        </p:sp>
        <p:sp>
          <p:nvSpPr>
            <p:cNvPr id="67" name="TextBox 67"/>
            <p:cNvSpPr txBox="1"/>
            <p:nvPr/>
          </p:nvSpPr>
          <p:spPr>
            <a:xfrm>
              <a:off x="8090535" y="1612106"/>
              <a:ext cx="3587877"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约6-7亿€/Y（估）· 核心连接以移动数据+FBB为主</a:t>
              </a:r>
            </a:p>
          </p:txBody>
        </p:sp>
        <p:sp>
          <p:nvSpPr>
            <p:cNvPr id="68" name="TextBox 68"/>
            <p:cNvSpPr txBox="1"/>
            <p:nvPr/>
          </p:nvSpPr>
          <p:spPr>
            <a:xfrm>
              <a:off x="8091488" y="1826895"/>
              <a:ext cx="2934691"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企业WAN新兴，份额按华为非洲设备地位推算（估）</a:t>
              </a:r>
            </a:p>
          </p:txBody>
        </p:sp>
        <p:sp>
          <p:nvSpPr>
            <p:cNvPr id="69" name="Line 69"/>
            <p:cNvSpPr/>
            <p:nvPr/>
          </p:nvSpPr>
          <p:spPr>
            <a:xfrm>
              <a:off x="8096250" y="2019300"/>
              <a:ext cx="3552825" cy="9525"/>
            </a:xfrm>
            <a:custGeom>
              <a:avLst/>
              <a:gdLst/>
              <a:ahLst/>
              <a:cxnLst/>
              <a:rect l="l" t="t" r="r" b="b"/>
              <a:pathLst>
                <a:path w="3552825" h="9525">
                  <a:moveTo>
                    <a:pt x="0" y="0"/>
                  </a:moveTo>
                  <a:lnTo>
                    <a:pt x="3552825" y="0"/>
                  </a:lnTo>
                </a:path>
              </a:pathLst>
            </a:custGeom>
            <a:noFill/>
            <a:ln w="9525">
              <a:solidFill>
                <a:srgbClr val="E8E2DA"/>
              </a:solidFill>
            </a:ln>
          </p:spPr>
        </p:sp>
        <p:grpSp>
          <p:nvGrpSpPr>
            <p:cNvPr id="83" name="Group 83"/>
            <p:cNvGrpSpPr/>
            <p:nvPr/>
          </p:nvGrpSpPr>
          <p:grpSpPr>
            <a:xfrm>
              <a:off x="8324850" y="2761774"/>
              <a:ext cx="3095625" cy="1889283"/>
              <a:chOff x="8324850" y="2761774"/>
              <a:chExt cx="3095625" cy="1889283"/>
            </a:xfrm>
          </p:grpSpPr>
          <p:sp>
            <p:nvSpPr>
              <p:cNvPr id="70" name="Line 70"/>
              <p:cNvSpPr/>
              <p:nvPr/>
            </p:nvSpPr>
            <p:spPr>
              <a:xfrm>
                <a:off x="8324850" y="438150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71" name="Rectangle 71"/>
              <p:cNvSpPr/>
              <p:nvPr/>
            </p:nvSpPr>
            <p:spPr>
              <a:xfrm>
                <a:off x="8467725" y="2952750"/>
                <a:ext cx="523875" cy="1428750"/>
              </a:xfrm>
              <a:prstGeom prst="rect">
                <a:avLst/>
              </a:prstGeom>
              <a:solidFill>
                <a:srgbClr val="C7C2B8"/>
              </a:solidFill>
              <a:ln>
                <a:noFill/>
              </a:ln>
            </p:spPr>
          </p:sp>
          <p:sp>
            <p:nvSpPr>
              <p:cNvPr id="72" name="TextBox 72"/>
              <p:cNvSpPr txBox="1"/>
              <p:nvPr/>
            </p:nvSpPr>
            <p:spPr>
              <a:xfrm>
                <a:off x="8385740" y="2761774"/>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35%（估）</a:t>
                </a:r>
              </a:p>
            </p:txBody>
          </p:sp>
          <p:sp>
            <p:nvSpPr>
              <p:cNvPr id="73" name="TextBox 73"/>
              <p:cNvSpPr txBox="1"/>
              <p:nvPr/>
            </p:nvSpPr>
            <p:spPr>
              <a:xfrm>
                <a:off x="8566976" y="4474845"/>
                <a:ext cx="315849"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Cisco</a:t>
                </a:r>
              </a:p>
            </p:txBody>
          </p:sp>
          <p:sp>
            <p:nvSpPr>
              <p:cNvPr id="74" name="Rectangle 74"/>
              <p:cNvSpPr/>
              <p:nvPr/>
            </p:nvSpPr>
            <p:spPr>
              <a:xfrm>
                <a:off x="9229725" y="3562350"/>
                <a:ext cx="523875" cy="819150"/>
              </a:xfrm>
              <a:prstGeom prst="rect">
                <a:avLst/>
              </a:prstGeom>
              <a:solidFill>
                <a:srgbClr val="E9002F"/>
              </a:solidFill>
              <a:ln w="19050">
                <a:solidFill>
                  <a:srgbClr val="C7000A"/>
                </a:solidFill>
              </a:ln>
            </p:spPr>
          </p:sp>
          <p:sp>
            <p:nvSpPr>
              <p:cNvPr id="75" name="TextBox 75"/>
              <p:cNvSpPr txBox="1"/>
              <p:nvPr/>
            </p:nvSpPr>
            <p:spPr>
              <a:xfrm>
                <a:off x="9147740" y="3371374"/>
                <a:ext cx="678320" cy="190690"/>
              </a:xfrm>
              <a:prstGeom prst="rect">
                <a:avLst/>
              </a:prstGeom>
              <a:noFill/>
              <a:ln>
                <a:noFill/>
              </a:ln>
            </p:spPr>
            <p:txBody>
              <a:bodyPr wrap="none" lIns="0" tIns="0" rIns="0" bIns="0" anchor="t" anchorCtr="0">
                <a:spAutoFit/>
              </a:bodyPr>
              <a:lstStyle/>
              <a:p>
                <a:pPr algn="ctr"/>
                <a:r>
                  <a:rPr lang="zh-CN" sz="980" b="1" dirty="0">
                    <a:solidFill>
                      <a:srgbClr val="C7000A"/>
                    </a:solidFill>
                    <a:latin typeface="Arial"/>
                    <a:ea typeface="Microsoft YaHei"/>
                    <a:cs typeface="Arial"/>
                  </a:rPr>
                  <a:t>20%（估）</a:t>
                </a:r>
              </a:p>
            </p:txBody>
          </p:sp>
          <p:sp>
            <p:nvSpPr>
              <p:cNvPr id="76" name="TextBox 76"/>
              <p:cNvSpPr txBox="1"/>
              <p:nvPr/>
            </p:nvSpPr>
            <p:spPr>
              <a:xfrm>
                <a:off x="9273461" y="4474845"/>
                <a:ext cx="426877" cy="176212"/>
              </a:xfrm>
              <a:prstGeom prst="rect">
                <a:avLst/>
              </a:prstGeom>
              <a:noFill/>
              <a:ln>
                <a:noFill/>
              </a:ln>
            </p:spPr>
            <p:txBody>
              <a:bodyPr wrap="none" lIns="0" tIns="0" rIns="0" bIns="0" anchor="t" anchorCtr="0">
                <a:spAutoFit/>
              </a:bodyPr>
              <a:lstStyle/>
              <a:p>
                <a:pPr algn="ctr"/>
                <a:r>
                  <a:rPr lang="en-US" sz="900" b="1" dirty="0">
                    <a:solidFill>
                      <a:srgbClr val="C7000A"/>
                    </a:solidFill>
                    <a:latin typeface="Arial"/>
                    <a:ea typeface="Arial"/>
                    <a:cs typeface="Arial"/>
                  </a:rPr>
                  <a:t>Huawei</a:t>
                </a:r>
              </a:p>
            </p:txBody>
          </p:sp>
          <p:sp>
            <p:nvSpPr>
              <p:cNvPr id="77" name="Rectangle 77"/>
              <p:cNvSpPr/>
              <p:nvPr/>
            </p:nvSpPr>
            <p:spPr>
              <a:xfrm>
                <a:off x="9991725" y="3562350"/>
                <a:ext cx="523875" cy="819150"/>
              </a:xfrm>
              <a:prstGeom prst="rect">
                <a:avLst/>
              </a:prstGeom>
              <a:solidFill>
                <a:srgbClr val="C7C2B8"/>
              </a:solidFill>
              <a:ln>
                <a:noFill/>
              </a:ln>
            </p:spPr>
          </p:sp>
          <p:sp>
            <p:nvSpPr>
              <p:cNvPr id="78" name="TextBox 78"/>
              <p:cNvSpPr txBox="1"/>
              <p:nvPr/>
            </p:nvSpPr>
            <p:spPr>
              <a:xfrm>
                <a:off x="9909740" y="3371374"/>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20%（估）</a:t>
                </a:r>
              </a:p>
            </p:txBody>
          </p:sp>
          <p:sp>
            <p:nvSpPr>
              <p:cNvPr id="79" name="TextBox 79"/>
              <p:cNvSpPr txBox="1"/>
              <p:nvPr/>
            </p:nvSpPr>
            <p:spPr>
              <a:xfrm>
                <a:off x="9928231" y="4474845"/>
                <a:ext cx="641337"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OneAccess</a:t>
                </a:r>
              </a:p>
            </p:txBody>
          </p:sp>
          <p:sp>
            <p:nvSpPr>
              <p:cNvPr id="80" name="Rectangle 80"/>
              <p:cNvSpPr/>
              <p:nvPr/>
            </p:nvSpPr>
            <p:spPr>
              <a:xfrm>
                <a:off x="10753725" y="3362325"/>
                <a:ext cx="523875" cy="1019175"/>
              </a:xfrm>
              <a:prstGeom prst="rect">
                <a:avLst/>
              </a:prstGeom>
              <a:solidFill>
                <a:srgbClr val="C7C2B8"/>
              </a:solidFill>
              <a:ln>
                <a:noFill/>
              </a:ln>
            </p:spPr>
          </p:sp>
          <p:sp>
            <p:nvSpPr>
              <p:cNvPr id="81" name="TextBox 81"/>
              <p:cNvSpPr txBox="1"/>
              <p:nvPr/>
            </p:nvSpPr>
            <p:spPr>
              <a:xfrm>
                <a:off x="10671740" y="317134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25%（估）</a:t>
                </a:r>
              </a:p>
            </p:txBody>
          </p:sp>
          <p:sp>
            <p:nvSpPr>
              <p:cNvPr id="82" name="TextBox 82"/>
              <p:cNvSpPr txBox="1"/>
              <p:nvPr/>
            </p:nvSpPr>
            <p:spPr>
              <a:xfrm>
                <a:off x="10884980" y="4474845"/>
                <a:ext cx="251841" cy="176212"/>
              </a:xfrm>
              <a:prstGeom prst="rect">
                <a:avLst/>
              </a:prstGeom>
              <a:noFill/>
              <a:ln>
                <a:noFill/>
              </a:ln>
            </p:spPr>
            <p:txBody>
              <a:bodyPr wrap="none" lIns="0" tIns="0" rIns="0" bIns="0" anchor="t" anchorCtr="0">
                <a:spAutoFit/>
              </a:bodyPr>
              <a:lstStyle/>
              <a:p>
                <a:pPr algn="ctr"/>
                <a:r>
                  <a:rPr lang="zh-CN" sz="900" dirty="0">
                    <a:solidFill>
                      <a:srgbClr val="6B6B6B"/>
                    </a:solidFill>
                    <a:latin typeface="Arial"/>
                    <a:ea typeface="Microsoft YaHei"/>
                    <a:cs typeface="Arial"/>
                  </a:rPr>
                  <a:t>其他</a:t>
                </a:r>
              </a:p>
            </p:txBody>
          </p:sp>
        </p:grpSp>
        <p:sp>
          <p:nvSpPr>
            <p:cNvPr id="84" name="TextBox 84"/>
            <p:cNvSpPr txBox="1"/>
            <p:nvPr/>
          </p:nvSpPr>
          <p:spPr>
            <a:xfrm>
              <a:off x="8090535" y="4793456"/>
              <a:ext cx="2937396" cy="220028"/>
            </a:xfrm>
            <a:prstGeom prst="rect">
              <a:avLst/>
            </a:prstGeom>
            <a:noFill/>
            <a:ln>
              <a:noFill/>
            </a:ln>
          </p:spPr>
          <p:txBody>
            <a:bodyPr wrap="none" lIns="0" tIns="0" rIns="0" bIns="0" anchor="t" anchorCtr="0">
              <a:spAutoFit/>
            </a:bodyPr>
            <a:lstStyle/>
            <a:p>
              <a:pPr algn="l"/>
              <a:r>
                <a:rPr lang="zh-CN" sz="1120" b="1" dirty="0">
                  <a:solidFill>
                    <a:srgbClr val="2E8B57"/>
                  </a:solidFill>
                  <a:latin typeface="Arial"/>
                  <a:ea typeface="Microsoft YaHei"/>
                  <a:cs typeface="Arial"/>
                </a:rPr>
                <a:t>华为：约20%（估，企业路由/交换设备）</a:t>
              </a:r>
            </a:p>
          </p:txBody>
        </p:sp>
        <p:sp>
          <p:nvSpPr>
            <p:cNvPr id="85" name="TextBox 85"/>
            <p:cNvSpPr txBox="1"/>
            <p:nvPr/>
          </p:nvSpPr>
          <p:spPr>
            <a:xfrm>
              <a:off x="8091488" y="5027295"/>
              <a:ext cx="1846555"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注：MPN专网45%份额（见P12）</a:t>
              </a:r>
            </a:p>
          </p:txBody>
        </p:sp>
        <p:sp>
          <p:nvSpPr>
            <p:cNvPr id="86" name="TextBox 86"/>
            <p:cNvSpPr txBox="1"/>
            <p:nvPr/>
          </p:nvSpPr>
          <p:spPr>
            <a:xfrm>
              <a:off x="8091488" y="5198745"/>
              <a:ext cx="1826895"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属独立产品线，不与本图重复计算</a:t>
              </a:r>
            </a:p>
          </p:txBody>
        </p:sp>
      </p:grpSp>
      <p:grpSp>
        <p:nvGrpSpPr>
          <p:cNvPr id="92" name="Group 92"/>
          <p:cNvGrpSpPr/>
          <p:nvPr/>
        </p:nvGrpSpPr>
        <p:grpSpPr>
          <a:xfrm>
            <a:off x="533400" y="5486400"/>
            <a:ext cx="11125200" cy="838200"/>
            <a:chOff x="533400" y="5486400"/>
            <a:chExt cx="11125200" cy="838200"/>
          </a:xfrm>
        </p:grpSpPr>
        <p:sp>
          <p:nvSpPr>
            <p:cNvPr id="88" name="Rectangle 88"/>
            <p:cNvSpPr/>
            <p:nvPr/>
          </p:nvSpPr>
          <p:spPr>
            <a:xfrm>
              <a:off x="533400" y="5486400"/>
              <a:ext cx="11125200" cy="838200"/>
            </a:xfrm>
            <a:prstGeom prst="roundRect">
              <a:avLst>
                <a:gd name="adj" fmla="val 4545"/>
              </a:avLst>
            </a:prstGeom>
            <a:solidFill>
              <a:srgbClr val="FBF6F1"/>
            </a:solidFill>
            <a:ln w="9525">
              <a:solidFill>
                <a:srgbClr val="E8E2DA"/>
              </a:solidFill>
            </a:ln>
          </p:spPr>
        </p:sp>
        <p:sp>
          <p:nvSpPr>
            <p:cNvPr id="89" name="TextBox 89"/>
            <p:cNvSpPr txBox="1"/>
            <p:nvPr/>
          </p:nvSpPr>
          <p:spPr>
            <a:xfrm>
              <a:off x="756666" y="5601652"/>
              <a:ext cx="4019882"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Orange集团全球网络资产（三区域WAN交付的共同底座）：</a:t>
              </a:r>
            </a:p>
          </p:txBody>
        </p:sp>
        <p:sp>
          <p:nvSpPr>
            <p:cNvPr id="90" name="TextBox 90"/>
            <p:cNvSpPr txBox="1"/>
            <p:nvPr/>
          </p:nvSpPr>
          <p:spPr>
            <a:xfrm>
              <a:off x="756666" y="5849302"/>
              <a:ext cx="4370640"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 xml:space="preserve">陆地光纤 </a:t>
              </a:r>
              <a:r>
                <a:rPr lang="zh-CN" sz="1050" b="1" dirty="0">
                  <a:solidFill>
                    <a:srgbClr val="C7000A"/>
                  </a:solidFill>
                  <a:latin typeface="Arial"/>
                  <a:ea typeface="Microsoft YaHei"/>
                  <a:cs typeface="Arial"/>
                </a:rPr>
                <a:t>45,000公里</a:t>
              </a:r>
              <a:r>
                <a:rPr lang="zh-CN" sz="1050" dirty="0">
                  <a:solidFill>
                    <a:srgbClr val="1A1A1A"/>
                  </a:solidFill>
                  <a:latin typeface="Arial"/>
                  <a:ea typeface="Microsoft YaHei"/>
                  <a:cs typeface="Arial"/>
                </a:rPr>
                <a:t xml:space="preserve"> · 卫星天线 </a:t>
              </a:r>
              <a:r>
                <a:rPr lang="zh-CN" sz="1050" b="1" dirty="0">
                  <a:solidFill>
                    <a:srgbClr val="C7000A"/>
                  </a:solidFill>
                  <a:latin typeface="Arial"/>
                  <a:ea typeface="Microsoft YaHei"/>
                  <a:cs typeface="Arial"/>
                </a:rPr>
                <a:t>2,500个</a:t>
              </a:r>
              <a:r>
                <a:rPr lang="zh-CN" sz="1050" dirty="0">
                  <a:solidFill>
                    <a:srgbClr val="1A1A1A"/>
                  </a:solidFill>
                  <a:latin typeface="Arial"/>
                  <a:ea typeface="Microsoft YaHei"/>
                  <a:cs typeface="Arial"/>
                </a:rPr>
                <a:t xml:space="preserve"> · 海底电缆 </a:t>
              </a:r>
              <a:r>
                <a:rPr lang="zh-CN" sz="1050" b="1" dirty="0">
                  <a:solidFill>
                    <a:srgbClr val="C7000A"/>
                  </a:solidFill>
                  <a:latin typeface="Arial"/>
                  <a:ea typeface="Microsoft YaHei"/>
                  <a:cs typeface="Arial"/>
                </a:rPr>
                <a:t>450,000公里</a:t>
              </a:r>
            </a:p>
          </p:txBody>
        </p:sp>
        <p:sp>
          <p:nvSpPr>
            <p:cNvPr id="91" name="TextBox 91"/>
            <p:cNvSpPr txBox="1"/>
            <p:nvPr/>
          </p:nvSpPr>
          <p:spPr>
            <a:xfrm>
              <a:off x="757047" y="6085999"/>
              <a:ext cx="638720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数据来源：Orange Business国防安全部门(DD&amp;S)公开披露；OEU/OMEA厂商份额为模拟估算，标注（估）</a:t>
              </a:r>
            </a:p>
          </p:txBody>
        </p:sp>
      </p:grpSp>
      <p:grpSp>
        <p:nvGrpSpPr>
          <p:cNvPr id="95" name="Group 95"/>
          <p:cNvGrpSpPr/>
          <p:nvPr/>
        </p:nvGrpSpPr>
        <p:grpSpPr>
          <a:xfrm>
            <a:off x="528447" y="6562249"/>
            <a:ext cx="11135106" cy="190690"/>
            <a:chOff x="528447" y="6562249"/>
            <a:chExt cx="11135106" cy="190690"/>
          </a:xfrm>
        </p:grpSpPr>
        <p:sp>
          <p:nvSpPr>
            <p:cNvPr id="93" name="TextBox 93"/>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94" name="TextBox 94"/>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252412"/>
            <a:ext cx="11136630" cy="747713"/>
            <a:chOff x="521970" y="252412"/>
            <a:chExt cx="11136630" cy="747713"/>
          </a:xfrm>
        </p:grpSpPr>
        <p:sp>
          <p:nvSpPr>
            <p:cNvPr id="3" name="TextBox 3"/>
            <p:cNvSpPr txBox="1"/>
            <p:nvPr/>
          </p:nvSpPr>
          <p:spPr>
            <a:xfrm>
              <a:off x="521970" y="252412"/>
              <a:ext cx="10692194"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LAN管理服务是数据洼地——三区域均缺乏精细拆分，但格局同样</a:t>
              </a:r>
              <a:r>
                <a:rPr lang="zh-CN" sz="2250" b="1" dirty="0">
                  <a:solidFill>
                    <a:srgbClr val="E9002F"/>
                  </a:solidFill>
                  <a:latin typeface="Arial"/>
                  <a:ea typeface="Microsoft YaHei"/>
                  <a:cs typeface="Arial"/>
                </a:rPr>
                <a:t>排除华为</a:t>
              </a:r>
            </a:p>
          </p:txBody>
        </p:sp>
        <p:sp>
          <p:nvSpPr>
            <p:cNvPr id="4" name="TextBox 4"/>
            <p:cNvSpPr txBox="1"/>
            <p:nvPr/>
          </p:nvSpPr>
          <p:spPr>
            <a:xfrm>
              <a:off x="527304" y="708660"/>
              <a:ext cx="3736238"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Catalogue：Managed LAN · SD-LAN · Cloud Wi-Fi</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25" name="Group 25"/>
          <p:cNvGrpSpPr/>
          <p:nvPr/>
        </p:nvGrpSpPr>
        <p:grpSpPr>
          <a:xfrm>
            <a:off x="525780" y="1333500"/>
            <a:ext cx="3560445" cy="3724656"/>
            <a:chOff x="525780" y="1333500"/>
            <a:chExt cx="3560445" cy="3724656"/>
          </a:xfrm>
        </p:grpSpPr>
        <p:sp>
          <p:nvSpPr>
            <p:cNvPr id="7" name="Rectangle 7"/>
            <p:cNvSpPr/>
            <p:nvPr/>
          </p:nvSpPr>
          <p:spPr>
            <a:xfrm>
              <a:off x="533400" y="1333500"/>
              <a:ext cx="3552825" cy="76200"/>
            </a:xfrm>
            <a:prstGeom prst="rect">
              <a:avLst/>
            </a:prstGeom>
            <a:solidFill>
              <a:srgbClr val="C7000A"/>
            </a:solidFill>
            <a:ln>
              <a:noFill/>
            </a:ln>
          </p:spPr>
        </p:sp>
        <p:sp>
          <p:nvSpPr>
            <p:cNvPr id="8" name="TextBox 8"/>
            <p:cNvSpPr txBox="1"/>
            <p:nvPr/>
          </p:nvSpPr>
          <p:spPr>
            <a:xfrm>
              <a:off x="525780" y="1504950"/>
              <a:ext cx="306476" cy="293370"/>
            </a:xfrm>
            <a:prstGeom prst="rect">
              <a:avLst/>
            </a:prstGeom>
            <a:noFill/>
            <a:ln>
              <a:noFill/>
            </a:ln>
          </p:spPr>
          <p:txBody>
            <a:bodyPr wrap="none" lIns="0" tIns="0" rIns="0" bIns="0" anchor="t" anchorCtr="0">
              <a:spAutoFit/>
            </a:bodyPr>
            <a:lstStyle/>
            <a:p>
              <a:pPr algn="l"/>
              <a:r>
                <a:rPr lang="en-US" sz="1500" b="1" dirty="0">
                  <a:solidFill>
                    <a:srgbClr val="C7000A"/>
                  </a:solidFill>
                  <a:latin typeface="Arial"/>
                  <a:ea typeface="Arial"/>
                  <a:cs typeface="Arial"/>
                </a:rPr>
                <a:t>OB</a:t>
              </a:r>
            </a:p>
          </p:txBody>
        </p:sp>
        <p:sp>
          <p:nvSpPr>
            <p:cNvPr id="9" name="TextBox 9"/>
            <p:cNvSpPr txBox="1"/>
            <p:nvPr/>
          </p:nvSpPr>
          <p:spPr>
            <a:xfrm>
              <a:off x="527304" y="1756410"/>
              <a:ext cx="1710538"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年收入约300M€（估）</a:t>
              </a:r>
            </a:p>
          </p:txBody>
        </p:sp>
        <p:sp>
          <p:nvSpPr>
            <p:cNvPr id="10" name="Line 10"/>
            <p:cNvSpPr/>
            <p:nvPr/>
          </p:nvSpPr>
          <p:spPr>
            <a:xfrm>
              <a:off x="53340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11" name="TextBox 11"/>
            <p:cNvSpPr txBox="1"/>
            <p:nvPr/>
          </p:nvSpPr>
          <p:spPr>
            <a:xfrm>
              <a:off x="528447" y="2123599"/>
              <a:ext cx="3137230"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设备空间约60M$（估）· AP:交换机采购比例约3:2</a:t>
              </a:r>
            </a:p>
          </p:txBody>
        </p:sp>
        <p:sp>
          <p:nvSpPr>
            <p:cNvPr id="12" name="TextBox 12"/>
            <p:cNvSpPr txBox="1"/>
            <p:nvPr/>
          </p:nvSpPr>
          <p:spPr>
            <a:xfrm>
              <a:off x="528447" y="2314099"/>
              <a:ext cx="2936138"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模式：SD-LAN管理服务 + 传统LAN托管服务并行</a:t>
              </a:r>
            </a:p>
          </p:txBody>
        </p:sp>
        <p:grpSp>
          <p:nvGrpSpPr>
            <p:cNvPr id="23" name="Group 23"/>
            <p:cNvGrpSpPr/>
            <p:nvPr/>
          </p:nvGrpSpPr>
          <p:grpSpPr>
            <a:xfrm>
              <a:off x="762000" y="3134678"/>
              <a:ext cx="3095625" cy="1618011"/>
              <a:chOff x="762000" y="3134678"/>
              <a:chExt cx="3095625" cy="1618011"/>
            </a:xfrm>
          </p:grpSpPr>
          <p:sp>
            <p:nvSpPr>
              <p:cNvPr id="13" name="Line 13"/>
              <p:cNvSpPr/>
              <p:nvPr/>
            </p:nvSpPr>
            <p:spPr>
              <a:xfrm>
                <a:off x="762000" y="44767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14" name="Rectangle 14"/>
              <p:cNvSpPr/>
              <p:nvPr/>
            </p:nvSpPr>
            <p:spPr>
              <a:xfrm>
                <a:off x="1047750" y="3333750"/>
                <a:ext cx="666750" cy="1143000"/>
              </a:xfrm>
              <a:prstGeom prst="rect">
                <a:avLst/>
              </a:prstGeom>
              <a:solidFill>
                <a:srgbClr val="C7C2B8"/>
              </a:solidFill>
              <a:ln>
                <a:noFill/>
              </a:ln>
            </p:spPr>
          </p:sp>
          <p:sp>
            <p:nvSpPr>
              <p:cNvPr id="15" name="TextBox 15"/>
              <p:cNvSpPr txBox="1"/>
              <p:nvPr/>
            </p:nvSpPr>
            <p:spPr>
              <a:xfrm>
                <a:off x="1187607" y="3134678"/>
                <a:ext cx="387035" cy="205359"/>
              </a:xfrm>
              <a:prstGeom prst="rect">
                <a:avLst/>
              </a:prstGeom>
              <a:noFill/>
              <a:ln>
                <a:noFill/>
              </a:ln>
            </p:spPr>
            <p:txBody>
              <a:bodyPr wrap="none" lIns="0" tIns="0" rIns="0" bIns="0" anchor="t" anchorCtr="0">
                <a:spAutoFit/>
              </a:bodyPr>
              <a:lstStyle/>
              <a:p>
                <a:pPr algn="ctr"/>
                <a:r>
                  <a:rPr lang="en-US" sz="1050" b="1" dirty="0">
                    <a:solidFill>
                      <a:srgbClr val="1A1A1A"/>
                    </a:solidFill>
                    <a:latin typeface="Arial"/>
                    <a:ea typeface="Arial"/>
                    <a:cs typeface="Arial"/>
                  </a:rPr>
                  <a:t>30M$</a:t>
                </a:r>
              </a:p>
            </p:txBody>
          </p:sp>
          <p:sp>
            <p:nvSpPr>
              <p:cNvPr id="16" name="TextBox 16"/>
              <p:cNvSpPr txBox="1"/>
              <p:nvPr/>
            </p:nvSpPr>
            <p:spPr>
              <a:xfrm>
                <a:off x="1210246" y="4561999"/>
                <a:ext cx="341757" cy="190690"/>
              </a:xfrm>
              <a:prstGeom prst="rect">
                <a:avLst/>
              </a:prstGeom>
              <a:noFill/>
              <a:ln>
                <a:noFill/>
              </a:ln>
            </p:spPr>
            <p:txBody>
              <a:bodyPr wrap="none" lIns="0" tIns="0" rIns="0" bIns="0" anchor="t" anchorCtr="0">
                <a:spAutoFit/>
              </a:bodyPr>
              <a:lstStyle/>
              <a:p>
                <a:pPr algn="ctr"/>
                <a:r>
                  <a:rPr lang="en-US" sz="980" dirty="0">
                    <a:solidFill>
                      <a:srgbClr val="6B6B6B"/>
                    </a:solidFill>
                    <a:latin typeface="Arial"/>
                    <a:ea typeface="Arial"/>
                    <a:cs typeface="Arial"/>
                  </a:rPr>
                  <a:t>Cisco</a:t>
                </a:r>
              </a:p>
            </p:txBody>
          </p:sp>
          <p:sp>
            <p:nvSpPr>
              <p:cNvPr id="17" name="Rectangle 17"/>
              <p:cNvSpPr/>
              <p:nvPr/>
            </p:nvSpPr>
            <p:spPr>
              <a:xfrm>
                <a:off x="1905000" y="3714750"/>
                <a:ext cx="666750" cy="762000"/>
              </a:xfrm>
              <a:prstGeom prst="rect">
                <a:avLst/>
              </a:prstGeom>
              <a:solidFill>
                <a:srgbClr val="C7C2B8"/>
              </a:solidFill>
              <a:ln>
                <a:noFill/>
              </a:ln>
            </p:spPr>
          </p:sp>
          <p:sp>
            <p:nvSpPr>
              <p:cNvPr id="18" name="TextBox 18"/>
              <p:cNvSpPr txBox="1"/>
              <p:nvPr/>
            </p:nvSpPr>
            <p:spPr>
              <a:xfrm>
                <a:off x="2044857" y="3515678"/>
                <a:ext cx="387035" cy="205359"/>
              </a:xfrm>
              <a:prstGeom prst="rect">
                <a:avLst/>
              </a:prstGeom>
              <a:noFill/>
              <a:ln>
                <a:noFill/>
              </a:ln>
            </p:spPr>
            <p:txBody>
              <a:bodyPr wrap="none" lIns="0" tIns="0" rIns="0" bIns="0" anchor="t" anchorCtr="0">
                <a:spAutoFit/>
              </a:bodyPr>
              <a:lstStyle/>
              <a:p>
                <a:pPr algn="ctr"/>
                <a:r>
                  <a:rPr lang="en-US" sz="1050" b="1" dirty="0">
                    <a:solidFill>
                      <a:srgbClr val="1A1A1A"/>
                    </a:solidFill>
                    <a:latin typeface="Arial"/>
                    <a:ea typeface="Arial"/>
                    <a:cs typeface="Arial"/>
                  </a:rPr>
                  <a:t>20M$</a:t>
                </a:r>
              </a:p>
            </p:txBody>
          </p:sp>
          <p:sp>
            <p:nvSpPr>
              <p:cNvPr id="19" name="TextBox 19"/>
              <p:cNvSpPr txBox="1"/>
              <p:nvPr/>
            </p:nvSpPr>
            <p:spPr>
              <a:xfrm>
                <a:off x="2119008" y="4561999"/>
                <a:ext cx="238735" cy="190690"/>
              </a:xfrm>
              <a:prstGeom prst="rect">
                <a:avLst/>
              </a:prstGeom>
              <a:noFill/>
              <a:ln>
                <a:noFill/>
              </a:ln>
            </p:spPr>
            <p:txBody>
              <a:bodyPr wrap="none" lIns="0" tIns="0" rIns="0" bIns="0" anchor="t" anchorCtr="0">
                <a:spAutoFit/>
              </a:bodyPr>
              <a:lstStyle/>
              <a:p>
                <a:pPr algn="ctr"/>
                <a:r>
                  <a:rPr lang="en-US" sz="980" dirty="0">
                    <a:solidFill>
                      <a:srgbClr val="6B6B6B"/>
                    </a:solidFill>
                    <a:latin typeface="Arial"/>
                    <a:ea typeface="Arial"/>
                    <a:cs typeface="Arial"/>
                  </a:rPr>
                  <a:t>HPE</a:t>
                </a:r>
              </a:p>
            </p:txBody>
          </p:sp>
          <p:sp>
            <p:nvSpPr>
              <p:cNvPr id="20" name="Rectangle 20"/>
              <p:cNvSpPr/>
              <p:nvPr/>
            </p:nvSpPr>
            <p:spPr>
              <a:xfrm>
                <a:off x="2762250" y="4095750"/>
                <a:ext cx="666750" cy="381000"/>
              </a:xfrm>
              <a:prstGeom prst="rect">
                <a:avLst/>
              </a:prstGeom>
              <a:solidFill>
                <a:srgbClr val="C7C2B8"/>
              </a:solidFill>
              <a:ln>
                <a:noFill/>
              </a:ln>
            </p:spPr>
          </p:sp>
          <p:sp>
            <p:nvSpPr>
              <p:cNvPr id="21" name="TextBox 21"/>
              <p:cNvSpPr txBox="1"/>
              <p:nvPr/>
            </p:nvSpPr>
            <p:spPr>
              <a:xfrm>
                <a:off x="2902107" y="3896678"/>
                <a:ext cx="387035" cy="205359"/>
              </a:xfrm>
              <a:prstGeom prst="rect">
                <a:avLst/>
              </a:prstGeom>
              <a:noFill/>
              <a:ln>
                <a:noFill/>
              </a:ln>
            </p:spPr>
            <p:txBody>
              <a:bodyPr wrap="none" lIns="0" tIns="0" rIns="0" bIns="0" anchor="t" anchorCtr="0">
                <a:spAutoFit/>
              </a:bodyPr>
              <a:lstStyle/>
              <a:p>
                <a:pPr algn="ctr"/>
                <a:r>
                  <a:rPr lang="en-US" sz="1050" b="1" dirty="0">
                    <a:solidFill>
                      <a:srgbClr val="1A1A1A"/>
                    </a:solidFill>
                    <a:latin typeface="Arial"/>
                    <a:ea typeface="Arial"/>
                    <a:cs typeface="Arial"/>
                  </a:rPr>
                  <a:t>10M$</a:t>
                </a:r>
              </a:p>
            </p:txBody>
          </p:sp>
          <p:sp>
            <p:nvSpPr>
              <p:cNvPr id="22" name="TextBox 22"/>
              <p:cNvSpPr txBox="1"/>
              <p:nvPr/>
            </p:nvSpPr>
            <p:spPr>
              <a:xfrm>
                <a:off x="2816392" y="4561999"/>
                <a:ext cx="558466" cy="190690"/>
              </a:xfrm>
              <a:prstGeom prst="rect">
                <a:avLst/>
              </a:prstGeom>
              <a:noFill/>
              <a:ln>
                <a:noFill/>
              </a:ln>
            </p:spPr>
            <p:txBody>
              <a:bodyPr wrap="none" lIns="0" tIns="0" rIns="0" bIns="0" anchor="t" anchorCtr="0">
                <a:spAutoFit/>
              </a:bodyPr>
              <a:lstStyle/>
              <a:p>
                <a:pPr algn="ctr"/>
                <a:r>
                  <a:rPr lang="en-US" sz="980" dirty="0">
                    <a:solidFill>
                      <a:srgbClr val="6B6B6B"/>
                    </a:solidFill>
                    <a:latin typeface="Arial"/>
                    <a:ea typeface="Arial"/>
                    <a:cs typeface="Arial"/>
                  </a:rPr>
                  <a:t>Fortinet</a:t>
                </a:r>
              </a:p>
            </p:txBody>
          </p:sp>
        </p:grpSp>
        <p:sp>
          <p:nvSpPr>
            <p:cNvPr id="24" name="TextBox 24"/>
            <p:cNvSpPr txBox="1"/>
            <p:nvPr/>
          </p:nvSpPr>
          <p:spPr>
            <a:xfrm>
              <a:off x="527304" y="4823460"/>
              <a:ext cx="1029919"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华为：不可见</a:t>
              </a:r>
            </a:p>
          </p:txBody>
        </p:sp>
      </p:grpSp>
      <p:grpSp>
        <p:nvGrpSpPr>
          <p:cNvPr id="46" name="Group 46"/>
          <p:cNvGrpSpPr/>
          <p:nvPr/>
        </p:nvGrpSpPr>
        <p:grpSpPr>
          <a:xfrm>
            <a:off x="4307205" y="1333500"/>
            <a:ext cx="3560445" cy="3724656"/>
            <a:chOff x="4307205" y="1333500"/>
            <a:chExt cx="3560445" cy="3724656"/>
          </a:xfrm>
        </p:grpSpPr>
        <p:sp>
          <p:nvSpPr>
            <p:cNvPr id="26" name="Rectangle 26"/>
            <p:cNvSpPr/>
            <p:nvPr/>
          </p:nvSpPr>
          <p:spPr>
            <a:xfrm>
              <a:off x="4314825" y="1333500"/>
              <a:ext cx="3552825" cy="76200"/>
            </a:xfrm>
            <a:prstGeom prst="rect">
              <a:avLst/>
            </a:prstGeom>
            <a:solidFill>
              <a:srgbClr val="E9002F"/>
            </a:solidFill>
            <a:ln>
              <a:noFill/>
            </a:ln>
          </p:spPr>
        </p:sp>
        <p:sp>
          <p:nvSpPr>
            <p:cNvPr id="27" name="TextBox 27"/>
            <p:cNvSpPr txBox="1"/>
            <p:nvPr/>
          </p:nvSpPr>
          <p:spPr>
            <a:xfrm>
              <a:off x="4307205" y="1504950"/>
              <a:ext cx="429692" cy="293370"/>
            </a:xfrm>
            <a:prstGeom prst="rect">
              <a:avLst/>
            </a:prstGeom>
            <a:noFill/>
            <a:ln>
              <a:noFill/>
            </a:ln>
          </p:spPr>
          <p:txBody>
            <a:bodyPr wrap="none" lIns="0" tIns="0" rIns="0" bIns="0" anchor="t" anchorCtr="0">
              <a:spAutoFit/>
            </a:bodyPr>
            <a:lstStyle/>
            <a:p>
              <a:pPr algn="l"/>
              <a:r>
                <a:rPr lang="en-US" sz="1500" b="1" dirty="0">
                  <a:solidFill>
                    <a:srgbClr val="E9002F"/>
                  </a:solidFill>
                  <a:latin typeface="Arial"/>
                  <a:ea typeface="Arial"/>
                  <a:cs typeface="Arial"/>
                </a:rPr>
                <a:t>OEU</a:t>
              </a:r>
            </a:p>
          </p:txBody>
        </p:sp>
        <p:sp>
          <p:nvSpPr>
            <p:cNvPr id="28" name="TextBox 28"/>
            <p:cNvSpPr txBox="1"/>
            <p:nvPr/>
          </p:nvSpPr>
          <p:spPr>
            <a:xfrm>
              <a:off x="4309110" y="1764506"/>
              <a:ext cx="2411730"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估算约1亿€/Y · 波兰LAN集成能力</a:t>
              </a:r>
            </a:p>
          </p:txBody>
        </p:sp>
        <p:sp>
          <p:nvSpPr>
            <p:cNvPr id="29" name="Line 29"/>
            <p:cNvSpPr/>
            <p:nvPr/>
          </p:nvSpPr>
          <p:spPr>
            <a:xfrm>
              <a:off x="4314825"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30" name="TextBox 30"/>
            <p:cNvSpPr txBox="1"/>
            <p:nvPr/>
          </p:nvSpPr>
          <p:spPr>
            <a:xfrm>
              <a:off x="4310062" y="2131695"/>
              <a:ext cx="2499322"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厂商份额（估，参照欧洲份额+波兰渠道结构）</a:t>
              </a:r>
            </a:p>
          </p:txBody>
        </p:sp>
        <p:grpSp>
          <p:nvGrpSpPr>
            <p:cNvPr id="44" name="Group 44"/>
            <p:cNvGrpSpPr/>
            <p:nvPr/>
          </p:nvGrpSpPr>
          <p:grpSpPr>
            <a:xfrm>
              <a:off x="4543425" y="2514124"/>
              <a:ext cx="3095625" cy="2270283"/>
              <a:chOff x="4543425" y="2514124"/>
              <a:chExt cx="3095625" cy="2270283"/>
            </a:xfrm>
          </p:grpSpPr>
          <p:sp>
            <p:nvSpPr>
              <p:cNvPr id="31" name="Line 31"/>
              <p:cNvSpPr/>
              <p:nvPr/>
            </p:nvSpPr>
            <p:spPr>
              <a:xfrm>
                <a:off x="4543425" y="45148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32" name="Rectangle 32"/>
              <p:cNvSpPr/>
              <p:nvPr/>
            </p:nvSpPr>
            <p:spPr>
              <a:xfrm>
                <a:off x="4686300" y="2705100"/>
                <a:ext cx="523875" cy="1809750"/>
              </a:xfrm>
              <a:prstGeom prst="rect">
                <a:avLst/>
              </a:prstGeom>
              <a:solidFill>
                <a:srgbClr val="C7C2B8"/>
              </a:solidFill>
              <a:ln>
                <a:noFill/>
              </a:ln>
            </p:spPr>
          </p:sp>
          <p:sp>
            <p:nvSpPr>
              <p:cNvPr id="33" name="TextBox 33"/>
              <p:cNvSpPr txBox="1"/>
              <p:nvPr/>
            </p:nvSpPr>
            <p:spPr>
              <a:xfrm>
                <a:off x="4604315" y="2514124"/>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35%（估）</a:t>
                </a:r>
              </a:p>
            </p:txBody>
          </p:sp>
          <p:sp>
            <p:nvSpPr>
              <p:cNvPr id="34" name="TextBox 34"/>
              <p:cNvSpPr txBox="1"/>
              <p:nvPr/>
            </p:nvSpPr>
            <p:spPr>
              <a:xfrm>
                <a:off x="4785550" y="4608195"/>
                <a:ext cx="315849"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Cisco</a:t>
                </a:r>
              </a:p>
            </p:txBody>
          </p:sp>
          <p:sp>
            <p:nvSpPr>
              <p:cNvPr id="35" name="Rectangle 35"/>
              <p:cNvSpPr/>
              <p:nvPr/>
            </p:nvSpPr>
            <p:spPr>
              <a:xfrm>
                <a:off x="5448300" y="3219450"/>
                <a:ext cx="523875" cy="1295400"/>
              </a:xfrm>
              <a:prstGeom prst="rect">
                <a:avLst/>
              </a:prstGeom>
              <a:solidFill>
                <a:srgbClr val="C7C2B8"/>
              </a:solidFill>
              <a:ln>
                <a:noFill/>
              </a:ln>
            </p:spPr>
          </p:sp>
          <p:sp>
            <p:nvSpPr>
              <p:cNvPr id="36" name="TextBox 36"/>
              <p:cNvSpPr txBox="1"/>
              <p:nvPr/>
            </p:nvSpPr>
            <p:spPr>
              <a:xfrm>
                <a:off x="5366315" y="3028474"/>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25%（估）</a:t>
                </a:r>
              </a:p>
            </p:txBody>
          </p:sp>
          <p:sp>
            <p:nvSpPr>
              <p:cNvPr id="37" name="TextBox 37"/>
              <p:cNvSpPr txBox="1"/>
              <p:nvPr/>
            </p:nvSpPr>
            <p:spPr>
              <a:xfrm>
                <a:off x="5595099" y="4608195"/>
                <a:ext cx="220751"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HPE</a:t>
                </a:r>
              </a:p>
            </p:txBody>
          </p:sp>
          <p:sp>
            <p:nvSpPr>
              <p:cNvPr id="38" name="Rectangle 38"/>
              <p:cNvSpPr/>
              <p:nvPr/>
            </p:nvSpPr>
            <p:spPr>
              <a:xfrm>
                <a:off x="6210300" y="3476625"/>
                <a:ext cx="523875" cy="1038225"/>
              </a:xfrm>
              <a:prstGeom prst="rect">
                <a:avLst/>
              </a:prstGeom>
              <a:solidFill>
                <a:srgbClr val="C7C2B8"/>
              </a:solidFill>
              <a:ln>
                <a:noFill/>
              </a:ln>
            </p:spPr>
          </p:sp>
          <p:sp>
            <p:nvSpPr>
              <p:cNvPr id="39" name="TextBox 39"/>
              <p:cNvSpPr txBox="1"/>
              <p:nvPr/>
            </p:nvSpPr>
            <p:spPr>
              <a:xfrm>
                <a:off x="6128315" y="328564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20%（估）</a:t>
                </a:r>
              </a:p>
            </p:txBody>
          </p:sp>
          <p:sp>
            <p:nvSpPr>
              <p:cNvPr id="40" name="TextBox 40"/>
              <p:cNvSpPr txBox="1"/>
              <p:nvPr/>
            </p:nvSpPr>
            <p:spPr>
              <a:xfrm>
                <a:off x="6209531" y="4608195"/>
                <a:ext cx="515888"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Fortinet</a:t>
                </a:r>
              </a:p>
            </p:txBody>
          </p:sp>
          <p:sp>
            <p:nvSpPr>
              <p:cNvPr id="41" name="Rectangle 41"/>
              <p:cNvSpPr/>
              <p:nvPr/>
            </p:nvSpPr>
            <p:spPr>
              <a:xfrm>
                <a:off x="6972300" y="3476625"/>
                <a:ext cx="523875" cy="1038225"/>
              </a:xfrm>
              <a:prstGeom prst="rect">
                <a:avLst/>
              </a:prstGeom>
              <a:solidFill>
                <a:srgbClr val="C7C2B8"/>
              </a:solidFill>
              <a:ln>
                <a:noFill/>
              </a:ln>
            </p:spPr>
          </p:sp>
          <p:sp>
            <p:nvSpPr>
              <p:cNvPr id="42" name="TextBox 42"/>
              <p:cNvSpPr txBox="1"/>
              <p:nvPr/>
            </p:nvSpPr>
            <p:spPr>
              <a:xfrm>
                <a:off x="6890315" y="328564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20%（估）</a:t>
                </a:r>
              </a:p>
            </p:txBody>
          </p:sp>
          <p:sp>
            <p:nvSpPr>
              <p:cNvPr id="43" name="TextBox 43"/>
              <p:cNvSpPr txBox="1"/>
              <p:nvPr/>
            </p:nvSpPr>
            <p:spPr>
              <a:xfrm>
                <a:off x="7103554" y="4608195"/>
                <a:ext cx="251841" cy="176212"/>
              </a:xfrm>
              <a:prstGeom prst="rect">
                <a:avLst/>
              </a:prstGeom>
              <a:noFill/>
              <a:ln>
                <a:noFill/>
              </a:ln>
            </p:spPr>
            <p:txBody>
              <a:bodyPr wrap="none" lIns="0" tIns="0" rIns="0" bIns="0" anchor="t" anchorCtr="0">
                <a:spAutoFit/>
              </a:bodyPr>
              <a:lstStyle/>
              <a:p>
                <a:pPr algn="ctr"/>
                <a:r>
                  <a:rPr lang="zh-CN" sz="900" dirty="0">
                    <a:solidFill>
                      <a:srgbClr val="6B6B6B"/>
                    </a:solidFill>
                    <a:latin typeface="Arial"/>
                    <a:ea typeface="Microsoft YaHei"/>
                    <a:cs typeface="Arial"/>
                  </a:rPr>
                  <a:t>其他</a:t>
                </a:r>
              </a:p>
            </p:txBody>
          </p:sp>
        </p:grpSp>
        <p:sp>
          <p:nvSpPr>
            <p:cNvPr id="45" name="TextBox 45"/>
            <p:cNvSpPr txBox="1"/>
            <p:nvPr/>
          </p:nvSpPr>
          <p:spPr>
            <a:xfrm>
              <a:off x="4308729" y="4823460"/>
              <a:ext cx="3480145"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华为：法律排除（估0%，同WAN/RAN环境）</a:t>
              </a:r>
            </a:p>
          </p:txBody>
        </p:sp>
      </p:grpSp>
      <p:grpSp>
        <p:nvGrpSpPr>
          <p:cNvPr id="67" name="Group 67"/>
          <p:cNvGrpSpPr/>
          <p:nvPr/>
        </p:nvGrpSpPr>
        <p:grpSpPr>
          <a:xfrm>
            <a:off x="8088630" y="1333500"/>
            <a:ext cx="3719939" cy="3724656"/>
            <a:chOff x="8088630" y="1333500"/>
            <a:chExt cx="3719939" cy="3724656"/>
          </a:xfrm>
        </p:grpSpPr>
        <p:sp>
          <p:nvSpPr>
            <p:cNvPr id="47" name="Rectangle 47"/>
            <p:cNvSpPr/>
            <p:nvPr/>
          </p:nvSpPr>
          <p:spPr>
            <a:xfrm>
              <a:off x="8096250" y="1333500"/>
              <a:ext cx="3552825" cy="76200"/>
            </a:xfrm>
            <a:prstGeom prst="rect">
              <a:avLst/>
            </a:prstGeom>
            <a:solidFill>
              <a:srgbClr val="F4A100"/>
            </a:solidFill>
            <a:ln>
              <a:noFill/>
            </a:ln>
          </p:spPr>
        </p:sp>
        <p:sp>
          <p:nvSpPr>
            <p:cNvPr id="48" name="TextBox 48"/>
            <p:cNvSpPr txBox="1"/>
            <p:nvPr/>
          </p:nvSpPr>
          <p:spPr>
            <a:xfrm>
              <a:off x="8088630" y="1504950"/>
              <a:ext cx="597713" cy="293370"/>
            </a:xfrm>
            <a:prstGeom prst="rect">
              <a:avLst/>
            </a:prstGeom>
            <a:noFill/>
            <a:ln>
              <a:noFill/>
            </a:ln>
          </p:spPr>
          <p:txBody>
            <a:bodyPr wrap="none" lIns="0" tIns="0" rIns="0" bIns="0" anchor="t" anchorCtr="0">
              <a:spAutoFit/>
            </a:bodyPr>
            <a:lstStyle/>
            <a:p>
              <a:pPr algn="l"/>
              <a:r>
                <a:rPr lang="en-US" sz="1500" b="1" dirty="0">
                  <a:solidFill>
                    <a:srgbClr val="8A6D00"/>
                  </a:solidFill>
                  <a:latin typeface="Arial"/>
                  <a:ea typeface="Arial"/>
                  <a:cs typeface="Arial"/>
                </a:rPr>
                <a:t>OMEA</a:t>
              </a:r>
            </a:p>
          </p:txBody>
        </p:sp>
        <p:sp>
          <p:nvSpPr>
            <p:cNvPr id="49" name="TextBox 49"/>
            <p:cNvSpPr txBox="1"/>
            <p:nvPr/>
          </p:nvSpPr>
          <p:spPr>
            <a:xfrm>
              <a:off x="8090535" y="1764506"/>
              <a:ext cx="2267712"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非当前重点，随G3计划逐步释放</a:t>
              </a:r>
            </a:p>
          </p:txBody>
        </p:sp>
        <p:sp>
          <p:nvSpPr>
            <p:cNvPr id="50" name="Line 50"/>
            <p:cNvSpPr/>
            <p:nvPr/>
          </p:nvSpPr>
          <p:spPr>
            <a:xfrm>
              <a:off x="809625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51" name="TextBox 51"/>
            <p:cNvSpPr txBox="1"/>
            <p:nvPr/>
          </p:nvSpPr>
          <p:spPr>
            <a:xfrm>
              <a:off x="8091488" y="2131695"/>
              <a:ext cx="2432685" cy="176212"/>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厂商份额（估，参照华为非洲设备优势地位）</a:t>
              </a:r>
            </a:p>
          </p:txBody>
        </p:sp>
        <p:grpSp>
          <p:nvGrpSpPr>
            <p:cNvPr id="65" name="Group 65"/>
            <p:cNvGrpSpPr/>
            <p:nvPr/>
          </p:nvGrpSpPr>
          <p:grpSpPr>
            <a:xfrm>
              <a:off x="8324850" y="2514124"/>
              <a:ext cx="3095625" cy="2270283"/>
              <a:chOff x="8324850" y="2514124"/>
              <a:chExt cx="3095625" cy="2270283"/>
            </a:xfrm>
          </p:grpSpPr>
          <p:sp>
            <p:nvSpPr>
              <p:cNvPr id="52" name="Line 52"/>
              <p:cNvSpPr/>
              <p:nvPr/>
            </p:nvSpPr>
            <p:spPr>
              <a:xfrm>
                <a:off x="8324850" y="45148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53" name="Rectangle 53"/>
              <p:cNvSpPr/>
              <p:nvPr/>
            </p:nvSpPr>
            <p:spPr>
              <a:xfrm>
                <a:off x="8467725" y="2705100"/>
                <a:ext cx="523875" cy="1809750"/>
              </a:xfrm>
              <a:prstGeom prst="rect">
                <a:avLst/>
              </a:prstGeom>
              <a:solidFill>
                <a:srgbClr val="E9002F"/>
              </a:solidFill>
              <a:ln w="19050">
                <a:solidFill>
                  <a:srgbClr val="C7000A"/>
                </a:solidFill>
              </a:ln>
            </p:spPr>
          </p:sp>
          <p:sp>
            <p:nvSpPr>
              <p:cNvPr id="54" name="TextBox 54"/>
              <p:cNvSpPr txBox="1"/>
              <p:nvPr/>
            </p:nvSpPr>
            <p:spPr>
              <a:xfrm>
                <a:off x="8385740" y="2514124"/>
                <a:ext cx="678320" cy="190690"/>
              </a:xfrm>
              <a:prstGeom prst="rect">
                <a:avLst/>
              </a:prstGeom>
              <a:noFill/>
              <a:ln>
                <a:noFill/>
              </a:ln>
            </p:spPr>
            <p:txBody>
              <a:bodyPr wrap="none" lIns="0" tIns="0" rIns="0" bIns="0" anchor="t" anchorCtr="0">
                <a:spAutoFit/>
              </a:bodyPr>
              <a:lstStyle/>
              <a:p>
                <a:pPr algn="ctr"/>
                <a:r>
                  <a:rPr lang="zh-CN" sz="980" b="1" dirty="0">
                    <a:solidFill>
                      <a:srgbClr val="C7000A"/>
                    </a:solidFill>
                    <a:latin typeface="Arial"/>
                    <a:ea typeface="Microsoft YaHei"/>
                    <a:cs typeface="Arial"/>
                  </a:rPr>
                  <a:t>30%（估）</a:t>
                </a:r>
              </a:p>
            </p:txBody>
          </p:sp>
          <p:sp>
            <p:nvSpPr>
              <p:cNvPr id="55" name="TextBox 55"/>
              <p:cNvSpPr txBox="1"/>
              <p:nvPr/>
            </p:nvSpPr>
            <p:spPr>
              <a:xfrm>
                <a:off x="8511461" y="4608195"/>
                <a:ext cx="426877" cy="176212"/>
              </a:xfrm>
              <a:prstGeom prst="rect">
                <a:avLst/>
              </a:prstGeom>
              <a:noFill/>
              <a:ln>
                <a:noFill/>
              </a:ln>
            </p:spPr>
            <p:txBody>
              <a:bodyPr wrap="none" lIns="0" tIns="0" rIns="0" bIns="0" anchor="t" anchorCtr="0">
                <a:spAutoFit/>
              </a:bodyPr>
              <a:lstStyle/>
              <a:p>
                <a:pPr algn="ctr"/>
                <a:r>
                  <a:rPr lang="en-US" sz="900" b="1" dirty="0">
                    <a:solidFill>
                      <a:srgbClr val="C7000A"/>
                    </a:solidFill>
                    <a:latin typeface="Arial"/>
                    <a:ea typeface="Arial"/>
                    <a:cs typeface="Arial"/>
                  </a:rPr>
                  <a:t>Huawei</a:t>
                </a:r>
              </a:p>
            </p:txBody>
          </p:sp>
          <p:sp>
            <p:nvSpPr>
              <p:cNvPr id="56" name="Rectangle 56"/>
              <p:cNvSpPr/>
              <p:nvPr/>
            </p:nvSpPr>
            <p:spPr>
              <a:xfrm>
                <a:off x="9229725" y="2705100"/>
                <a:ext cx="523875" cy="1809750"/>
              </a:xfrm>
              <a:prstGeom prst="rect">
                <a:avLst/>
              </a:prstGeom>
              <a:solidFill>
                <a:srgbClr val="C7C2B8"/>
              </a:solidFill>
              <a:ln>
                <a:noFill/>
              </a:ln>
            </p:spPr>
          </p:sp>
          <p:sp>
            <p:nvSpPr>
              <p:cNvPr id="57" name="TextBox 57"/>
              <p:cNvSpPr txBox="1"/>
              <p:nvPr/>
            </p:nvSpPr>
            <p:spPr>
              <a:xfrm>
                <a:off x="9147740" y="2514124"/>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30%（估）</a:t>
                </a:r>
              </a:p>
            </p:txBody>
          </p:sp>
          <p:sp>
            <p:nvSpPr>
              <p:cNvPr id="58" name="TextBox 58"/>
              <p:cNvSpPr txBox="1"/>
              <p:nvPr/>
            </p:nvSpPr>
            <p:spPr>
              <a:xfrm>
                <a:off x="9328976" y="4608195"/>
                <a:ext cx="315849"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Cisco</a:t>
                </a:r>
              </a:p>
            </p:txBody>
          </p:sp>
          <p:sp>
            <p:nvSpPr>
              <p:cNvPr id="59" name="Rectangle 59"/>
              <p:cNvSpPr/>
              <p:nvPr/>
            </p:nvSpPr>
            <p:spPr>
              <a:xfrm>
                <a:off x="9991725" y="3305175"/>
                <a:ext cx="523875" cy="1209675"/>
              </a:xfrm>
              <a:prstGeom prst="rect">
                <a:avLst/>
              </a:prstGeom>
              <a:solidFill>
                <a:srgbClr val="C7C2B8"/>
              </a:solidFill>
              <a:ln>
                <a:noFill/>
              </a:ln>
            </p:spPr>
          </p:sp>
          <p:sp>
            <p:nvSpPr>
              <p:cNvPr id="60" name="TextBox 60"/>
              <p:cNvSpPr txBox="1"/>
              <p:nvPr/>
            </p:nvSpPr>
            <p:spPr>
              <a:xfrm>
                <a:off x="9909740" y="311419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20%（估）</a:t>
                </a:r>
              </a:p>
            </p:txBody>
          </p:sp>
          <p:sp>
            <p:nvSpPr>
              <p:cNvPr id="61" name="TextBox 61"/>
              <p:cNvSpPr txBox="1"/>
              <p:nvPr/>
            </p:nvSpPr>
            <p:spPr>
              <a:xfrm>
                <a:off x="10138524" y="4608195"/>
                <a:ext cx="220751"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HPE</a:t>
                </a:r>
              </a:p>
            </p:txBody>
          </p:sp>
          <p:sp>
            <p:nvSpPr>
              <p:cNvPr id="62" name="Rectangle 62"/>
              <p:cNvSpPr/>
              <p:nvPr/>
            </p:nvSpPr>
            <p:spPr>
              <a:xfrm>
                <a:off x="10753725" y="3305175"/>
                <a:ext cx="523875" cy="1209675"/>
              </a:xfrm>
              <a:prstGeom prst="rect">
                <a:avLst/>
              </a:prstGeom>
              <a:solidFill>
                <a:srgbClr val="C7C2B8"/>
              </a:solidFill>
              <a:ln>
                <a:noFill/>
              </a:ln>
            </p:spPr>
          </p:sp>
          <p:sp>
            <p:nvSpPr>
              <p:cNvPr id="63" name="TextBox 63"/>
              <p:cNvSpPr txBox="1"/>
              <p:nvPr/>
            </p:nvSpPr>
            <p:spPr>
              <a:xfrm>
                <a:off x="10671740" y="3114199"/>
                <a:ext cx="678320" cy="190690"/>
              </a:xfrm>
              <a:prstGeom prst="rect">
                <a:avLst/>
              </a:prstGeom>
              <a:noFill/>
              <a:ln>
                <a:noFill/>
              </a:ln>
            </p:spPr>
            <p:txBody>
              <a:bodyPr wrap="none" lIns="0" tIns="0" rIns="0" bIns="0" anchor="t" anchorCtr="0">
                <a:spAutoFit/>
              </a:bodyPr>
              <a:lstStyle/>
              <a:p>
                <a:pPr algn="ctr"/>
                <a:r>
                  <a:rPr lang="zh-CN" sz="980" b="1" dirty="0">
                    <a:solidFill>
                      <a:srgbClr val="1A1A1A"/>
                    </a:solidFill>
                    <a:latin typeface="Arial"/>
                    <a:ea typeface="Microsoft YaHei"/>
                    <a:cs typeface="Arial"/>
                  </a:rPr>
                  <a:t>20%（估）</a:t>
                </a:r>
              </a:p>
            </p:txBody>
          </p:sp>
          <p:sp>
            <p:nvSpPr>
              <p:cNvPr id="64" name="TextBox 64"/>
              <p:cNvSpPr txBox="1"/>
              <p:nvPr/>
            </p:nvSpPr>
            <p:spPr>
              <a:xfrm>
                <a:off x="10884980" y="4608195"/>
                <a:ext cx="251841" cy="176212"/>
              </a:xfrm>
              <a:prstGeom prst="rect">
                <a:avLst/>
              </a:prstGeom>
              <a:noFill/>
              <a:ln>
                <a:noFill/>
              </a:ln>
            </p:spPr>
            <p:txBody>
              <a:bodyPr wrap="none" lIns="0" tIns="0" rIns="0" bIns="0" anchor="t" anchorCtr="0">
                <a:spAutoFit/>
              </a:bodyPr>
              <a:lstStyle/>
              <a:p>
                <a:pPr algn="ctr"/>
                <a:r>
                  <a:rPr lang="zh-CN" sz="900" dirty="0">
                    <a:solidFill>
                      <a:srgbClr val="6B6B6B"/>
                    </a:solidFill>
                    <a:latin typeface="Arial"/>
                    <a:ea typeface="Microsoft YaHei"/>
                    <a:cs typeface="Arial"/>
                  </a:rPr>
                  <a:t>其他</a:t>
                </a:r>
              </a:p>
            </p:txBody>
          </p:sp>
        </p:grpSp>
        <p:sp>
          <p:nvSpPr>
            <p:cNvPr id="66" name="TextBox 66"/>
            <p:cNvSpPr txBox="1"/>
            <p:nvPr/>
          </p:nvSpPr>
          <p:spPr>
            <a:xfrm>
              <a:off x="8090154" y="4823460"/>
              <a:ext cx="3718415"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华为：约30%（估，非洲企业网络设备市场地位）</a:t>
              </a:r>
            </a:p>
          </p:txBody>
        </p:sp>
      </p:grpSp>
      <p:grpSp>
        <p:nvGrpSpPr>
          <p:cNvPr id="71" name="Group 71"/>
          <p:cNvGrpSpPr/>
          <p:nvPr/>
        </p:nvGrpSpPr>
        <p:grpSpPr>
          <a:xfrm>
            <a:off x="533400" y="5715000"/>
            <a:ext cx="11125200" cy="685800"/>
            <a:chOff x="533400" y="5715000"/>
            <a:chExt cx="11125200" cy="685800"/>
          </a:xfrm>
        </p:grpSpPr>
        <p:sp>
          <p:nvSpPr>
            <p:cNvPr id="68" name="Rectangle 68"/>
            <p:cNvSpPr/>
            <p:nvPr/>
          </p:nvSpPr>
          <p:spPr>
            <a:xfrm>
              <a:off x="533400" y="5715000"/>
              <a:ext cx="11125200" cy="685800"/>
            </a:xfrm>
            <a:prstGeom prst="roundRect">
              <a:avLst>
                <a:gd name="adj" fmla="val 5556"/>
              </a:avLst>
            </a:prstGeom>
            <a:solidFill>
              <a:srgbClr val="FBF6F1"/>
            </a:solidFill>
            <a:ln w="9525">
              <a:solidFill>
                <a:srgbClr val="E8E2DA"/>
              </a:solidFill>
            </a:ln>
          </p:spPr>
        </p:sp>
        <p:sp>
          <p:nvSpPr>
            <p:cNvPr id="69" name="TextBox 69"/>
            <p:cNvSpPr txBox="1"/>
            <p:nvPr/>
          </p:nvSpPr>
          <p:spPr>
            <a:xfrm>
              <a:off x="755904" y="5852160"/>
              <a:ext cx="6284976" cy="234696"/>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这是本次调研实证数据最薄弱的维度，OEU/OMEA厂商份额均为模拟估算（估）</a:t>
              </a:r>
            </a:p>
          </p:txBody>
        </p:sp>
        <p:sp>
          <p:nvSpPr>
            <p:cNvPr id="70" name="TextBox 70"/>
            <p:cNvSpPr txBox="1"/>
            <p:nvPr/>
          </p:nvSpPr>
          <p:spPr>
            <a:xfrm>
              <a:off x="756285" y="6107906"/>
              <a:ext cx="5675567"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三区域华为格局趋势一致：法国/欧洲缺席，非洲凭网络设备优势地位占约30%（估）</a:t>
              </a:r>
            </a:p>
          </p:txBody>
        </p:sp>
      </p:grpSp>
      <p:grpSp>
        <p:nvGrpSpPr>
          <p:cNvPr id="74" name="Group 74"/>
          <p:cNvGrpSpPr/>
          <p:nvPr/>
        </p:nvGrpSpPr>
        <p:grpSpPr>
          <a:xfrm>
            <a:off x="528447" y="6562249"/>
            <a:ext cx="11135106" cy="190690"/>
            <a:chOff x="528447" y="6562249"/>
            <a:chExt cx="11135106" cy="190690"/>
          </a:xfrm>
        </p:grpSpPr>
        <p:sp>
          <p:nvSpPr>
            <p:cNvPr id="72" name="TextBox 72"/>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73" name="TextBox 73"/>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252412"/>
            <a:ext cx="11136630" cy="747713"/>
            <a:chOff x="521970" y="252412"/>
            <a:chExt cx="11136630" cy="747713"/>
          </a:xfrm>
        </p:grpSpPr>
        <p:sp>
          <p:nvSpPr>
            <p:cNvPr id="3" name="TextBox 3"/>
            <p:cNvSpPr txBox="1"/>
            <p:nvPr/>
          </p:nvSpPr>
          <p:spPr>
            <a:xfrm>
              <a:off x="521970" y="252412"/>
              <a:ext cx="9780080"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云服务是华为最深的存量锚点——</a:t>
              </a:r>
              <a:r>
                <a:rPr lang="zh-CN" sz="2250" b="1" dirty="0">
                  <a:solidFill>
                    <a:srgbClr val="E9002F"/>
                  </a:solidFill>
                  <a:latin typeface="Arial"/>
                  <a:ea typeface="Microsoft YaHei"/>
                  <a:cs typeface="Arial"/>
                </a:rPr>
                <a:t>Flexible Engine同时支撑OB与OMEA</a:t>
              </a:r>
            </a:p>
          </p:txBody>
        </p:sp>
        <p:sp>
          <p:nvSpPr>
            <p:cNvPr id="4" name="TextBox 4"/>
            <p:cNvSpPr txBox="1"/>
            <p:nvPr/>
          </p:nvSpPr>
          <p:spPr>
            <a:xfrm>
              <a:off x="527304" y="708660"/>
              <a:ext cx="4750326"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Catalogue：IaaS/PaaS转售 · 主权云 · 云迁移管理 · 混合云容器</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28" name="Group 28"/>
          <p:cNvGrpSpPr/>
          <p:nvPr/>
        </p:nvGrpSpPr>
        <p:grpSpPr>
          <a:xfrm>
            <a:off x="525780" y="1333500"/>
            <a:ext cx="3560445" cy="3965734"/>
            <a:chOff x="525780" y="1333500"/>
            <a:chExt cx="3560445" cy="3965734"/>
          </a:xfrm>
        </p:grpSpPr>
        <p:sp>
          <p:nvSpPr>
            <p:cNvPr id="7" name="Rectangle 7"/>
            <p:cNvSpPr/>
            <p:nvPr/>
          </p:nvSpPr>
          <p:spPr>
            <a:xfrm>
              <a:off x="533400" y="1333500"/>
              <a:ext cx="3552825" cy="76200"/>
            </a:xfrm>
            <a:prstGeom prst="rect">
              <a:avLst/>
            </a:prstGeom>
            <a:solidFill>
              <a:srgbClr val="C7000A"/>
            </a:solidFill>
            <a:ln>
              <a:noFill/>
            </a:ln>
          </p:spPr>
        </p:sp>
        <p:sp>
          <p:nvSpPr>
            <p:cNvPr id="8" name="TextBox 8"/>
            <p:cNvSpPr txBox="1"/>
            <p:nvPr/>
          </p:nvSpPr>
          <p:spPr>
            <a:xfrm>
              <a:off x="525780" y="1504950"/>
              <a:ext cx="306476" cy="293370"/>
            </a:xfrm>
            <a:prstGeom prst="rect">
              <a:avLst/>
            </a:prstGeom>
            <a:noFill/>
            <a:ln>
              <a:noFill/>
            </a:ln>
          </p:spPr>
          <p:txBody>
            <a:bodyPr wrap="none" lIns="0" tIns="0" rIns="0" bIns="0" anchor="t" anchorCtr="0">
              <a:spAutoFit/>
            </a:bodyPr>
            <a:lstStyle/>
            <a:p>
              <a:pPr algn="l"/>
              <a:r>
                <a:rPr lang="en-US" sz="1500" b="1" dirty="0">
                  <a:solidFill>
                    <a:srgbClr val="C7000A"/>
                  </a:solidFill>
                  <a:latin typeface="Arial"/>
                  <a:ea typeface="Arial"/>
                  <a:cs typeface="Arial"/>
                </a:rPr>
                <a:t>OB</a:t>
              </a:r>
            </a:p>
          </p:txBody>
        </p:sp>
        <p:sp>
          <p:nvSpPr>
            <p:cNvPr id="9" name="TextBox 9"/>
            <p:cNvSpPr txBox="1"/>
            <p:nvPr/>
          </p:nvSpPr>
          <p:spPr>
            <a:xfrm>
              <a:off x="527304" y="1756410"/>
              <a:ext cx="1710538"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年收入约650M€（估）</a:t>
              </a:r>
            </a:p>
          </p:txBody>
        </p:sp>
        <p:sp>
          <p:nvSpPr>
            <p:cNvPr id="10" name="Line 10"/>
            <p:cNvSpPr/>
            <p:nvPr/>
          </p:nvSpPr>
          <p:spPr>
            <a:xfrm>
              <a:off x="53340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11" name="TextBox 11"/>
            <p:cNvSpPr txBox="1"/>
            <p:nvPr/>
          </p:nvSpPr>
          <p:spPr>
            <a:xfrm>
              <a:off x="528066" y="2153602"/>
              <a:ext cx="2058453"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Cloud Avenue+FE+Bleu三层架构</a:t>
              </a:r>
            </a:p>
          </p:txBody>
        </p:sp>
        <p:grpSp>
          <p:nvGrpSpPr>
            <p:cNvPr id="25" name="Group 25"/>
            <p:cNvGrpSpPr/>
            <p:nvPr/>
          </p:nvGrpSpPr>
          <p:grpSpPr>
            <a:xfrm>
              <a:off x="762000" y="2790349"/>
              <a:ext cx="3095625" cy="1955958"/>
              <a:chOff x="762000" y="2790349"/>
              <a:chExt cx="3095625" cy="1955958"/>
            </a:xfrm>
          </p:grpSpPr>
          <p:sp>
            <p:nvSpPr>
              <p:cNvPr id="12" name="Line 12"/>
              <p:cNvSpPr/>
              <p:nvPr/>
            </p:nvSpPr>
            <p:spPr>
              <a:xfrm>
                <a:off x="762000" y="44767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13" name="Rectangle 13"/>
              <p:cNvSpPr/>
              <p:nvPr/>
            </p:nvSpPr>
            <p:spPr>
              <a:xfrm>
                <a:off x="904875" y="2981325"/>
                <a:ext cx="523875" cy="1495425"/>
              </a:xfrm>
              <a:prstGeom prst="rect">
                <a:avLst/>
              </a:prstGeom>
              <a:solidFill>
                <a:srgbClr val="C7C2B8"/>
              </a:solidFill>
              <a:ln>
                <a:noFill/>
              </a:ln>
            </p:spPr>
          </p:sp>
          <p:sp>
            <p:nvSpPr>
              <p:cNvPr id="14" name="TextBox 14"/>
              <p:cNvSpPr txBox="1"/>
              <p:nvPr/>
            </p:nvSpPr>
            <p:spPr>
              <a:xfrm>
                <a:off x="942310" y="2790349"/>
                <a:ext cx="43948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180M$</a:t>
                </a:r>
              </a:p>
            </p:txBody>
          </p:sp>
          <p:sp>
            <p:nvSpPr>
              <p:cNvPr id="15" name="TextBox 15"/>
              <p:cNvSpPr txBox="1"/>
              <p:nvPr/>
            </p:nvSpPr>
            <p:spPr>
              <a:xfrm>
                <a:off x="801510" y="4570095"/>
                <a:ext cx="721081"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Azure(Bleu)</a:t>
                </a:r>
              </a:p>
            </p:txBody>
          </p:sp>
          <p:sp>
            <p:nvSpPr>
              <p:cNvPr id="16" name="Rectangle 16"/>
              <p:cNvSpPr/>
              <p:nvPr/>
            </p:nvSpPr>
            <p:spPr>
              <a:xfrm>
                <a:off x="1571625" y="3228975"/>
                <a:ext cx="523875" cy="1247775"/>
              </a:xfrm>
              <a:prstGeom prst="rect">
                <a:avLst/>
              </a:prstGeom>
              <a:solidFill>
                <a:srgbClr val="E9002F"/>
              </a:solidFill>
              <a:ln w="19050">
                <a:solidFill>
                  <a:srgbClr val="C7000A"/>
                </a:solidFill>
              </a:ln>
            </p:spPr>
          </p:sp>
          <p:sp>
            <p:nvSpPr>
              <p:cNvPr id="17" name="TextBox 17"/>
              <p:cNvSpPr txBox="1"/>
              <p:nvPr/>
            </p:nvSpPr>
            <p:spPr>
              <a:xfrm>
                <a:off x="1609060" y="3037999"/>
                <a:ext cx="439480" cy="190690"/>
              </a:xfrm>
              <a:prstGeom prst="rect">
                <a:avLst/>
              </a:prstGeom>
              <a:noFill/>
              <a:ln>
                <a:noFill/>
              </a:ln>
            </p:spPr>
            <p:txBody>
              <a:bodyPr wrap="none" lIns="0" tIns="0" rIns="0" bIns="0" anchor="t" anchorCtr="0">
                <a:spAutoFit/>
              </a:bodyPr>
              <a:lstStyle/>
              <a:p>
                <a:pPr algn="ctr"/>
                <a:r>
                  <a:rPr lang="en-US" sz="980" b="1" dirty="0">
                    <a:solidFill>
                      <a:srgbClr val="C7000A"/>
                    </a:solidFill>
                    <a:latin typeface="Arial"/>
                    <a:ea typeface="Arial"/>
                    <a:cs typeface="Arial"/>
                  </a:rPr>
                  <a:t>150M$</a:t>
                </a:r>
              </a:p>
            </p:txBody>
          </p:sp>
          <p:sp>
            <p:nvSpPr>
              <p:cNvPr id="18" name="TextBox 18"/>
              <p:cNvSpPr txBox="1"/>
              <p:nvPr/>
            </p:nvSpPr>
            <p:spPr>
              <a:xfrm>
                <a:off x="1341905" y="4570095"/>
                <a:ext cx="973790" cy="176212"/>
              </a:xfrm>
              <a:prstGeom prst="rect">
                <a:avLst/>
              </a:prstGeom>
              <a:noFill/>
              <a:ln>
                <a:noFill/>
              </a:ln>
            </p:spPr>
            <p:txBody>
              <a:bodyPr wrap="none" lIns="0" tIns="0" rIns="0" bIns="0" anchor="t" anchorCtr="0">
                <a:spAutoFit/>
              </a:bodyPr>
              <a:lstStyle/>
              <a:p>
                <a:pPr algn="ctr"/>
                <a:r>
                  <a:rPr lang="en-US" sz="900" b="1" dirty="0">
                    <a:solidFill>
                      <a:srgbClr val="C7000A"/>
                    </a:solidFill>
                    <a:latin typeface="Arial"/>
                    <a:ea typeface="Arial"/>
                    <a:cs typeface="Arial"/>
                  </a:rPr>
                  <a:t>CloudAvenue/FE</a:t>
                </a:r>
              </a:p>
            </p:txBody>
          </p:sp>
          <p:sp>
            <p:nvSpPr>
              <p:cNvPr id="19" name="Rectangle 19"/>
              <p:cNvSpPr/>
              <p:nvPr/>
            </p:nvSpPr>
            <p:spPr>
              <a:xfrm>
                <a:off x="2238375" y="3981450"/>
                <a:ext cx="523875" cy="495300"/>
              </a:xfrm>
              <a:prstGeom prst="rect">
                <a:avLst/>
              </a:prstGeom>
              <a:solidFill>
                <a:srgbClr val="C7C2B8"/>
              </a:solidFill>
              <a:ln>
                <a:noFill/>
              </a:ln>
            </p:spPr>
          </p:sp>
          <p:sp>
            <p:nvSpPr>
              <p:cNvPr id="20" name="TextBox 20"/>
              <p:cNvSpPr txBox="1"/>
              <p:nvPr/>
            </p:nvSpPr>
            <p:spPr>
              <a:xfrm>
                <a:off x="2315855" y="3790474"/>
                <a:ext cx="35939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60M$</a:t>
                </a:r>
              </a:p>
            </p:txBody>
          </p:sp>
          <p:sp>
            <p:nvSpPr>
              <p:cNvPr id="21" name="TextBox 21"/>
              <p:cNvSpPr txBox="1"/>
              <p:nvPr/>
            </p:nvSpPr>
            <p:spPr>
              <a:xfrm>
                <a:off x="2372373" y="4570095"/>
                <a:ext cx="246355"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AWS</a:t>
                </a:r>
              </a:p>
            </p:txBody>
          </p:sp>
          <p:sp>
            <p:nvSpPr>
              <p:cNvPr id="22" name="Rectangle 22"/>
              <p:cNvSpPr/>
              <p:nvPr/>
            </p:nvSpPr>
            <p:spPr>
              <a:xfrm>
                <a:off x="2905125" y="4143375"/>
                <a:ext cx="523875" cy="333375"/>
              </a:xfrm>
              <a:prstGeom prst="rect">
                <a:avLst/>
              </a:prstGeom>
              <a:solidFill>
                <a:srgbClr val="C7C2B8"/>
              </a:solidFill>
              <a:ln>
                <a:noFill/>
              </a:ln>
            </p:spPr>
          </p:sp>
          <p:sp>
            <p:nvSpPr>
              <p:cNvPr id="23" name="TextBox 23"/>
              <p:cNvSpPr txBox="1"/>
              <p:nvPr/>
            </p:nvSpPr>
            <p:spPr>
              <a:xfrm>
                <a:off x="2982605" y="3952399"/>
                <a:ext cx="359390" cy="190690"/>
              </a:xfrm>
              <a:prstGeom prst="rect">
                <a:avLst/>
              </a:prstGeom>
              <a:noFill/>
              <a:ln>
                <a:noFill/>
              </a:ln>
            </p:spPr>
            <p:txBody>
              <a:bodyPr wrap="none" lIns="0" tIns="0" rIns="0" bIns="0" anchor="t" anchorCtr="0">
                <a:spAutoFit/>
              </a:bodyPr>
              <a:lstStyle/>
              <a:p>
                <a:pPr algn="ctr"/>
                <a:r>
                  <a:rPr lang="en-US" sz="980" b="1" dirty="0">
                    <a:solidFill>
                      <a:srgbClr val="1A1A1A"/>
                    </a:solidFill>
                    <a:latin typeface="Arial"/>
                    <a:ea typeface="Arial"/>
                    <a:cs typeface="Arial"/>
                  </a:rPr>
                  <a:t>40M$</a:t>
                </a:r>
              </a:p>
            </p:txBody>
          </p:sp>
          <p:sp>
            <p:nvSpPr>
              <p:cNvPr id="24" name="TextBox 24"/>
              <p:cNvSpPr txBox="1"/>
              <p:nvPr/>
            </p:nvSpPr>
            <p:spPr>
              <a:xfrm>
                <a:off x="3051924" y="4570095"/>
                <a:ext cx="220751" cy="176212"/>
              </a:xfrm>
              <a:prstGeom prst="rect">
                <a:avLst/>
              </a:prstGeom>
              <a:noFill/>
              <a:ln>
                <a:noFill/>
              </a:ln>
            </p:spPr>
            <p:txBody>
              <a:bodyPr wrap="none" lIns="0" tIns="0" rIns="0" bIns="0" anchor="t" anchorCtr="0">
                <a:spAutoFit/>
              </a:bodyPr>
              <a:lstStyle/>
              <a:p>
                <a:pPr algn="ctr"/>
                <a:r>
                  <a:rPr lang="en-US" sz="900" dirty="0">
                    <a:solidFill>
                      <a:srgbClr val="6B6B6B"/>
                    </a:solidFill>
                    <a:latin typeface="Arial"/>
                    <a:ea typeface="Arial"/>
                    <a:cs typeface="Arial"/>
                  </a:rPr>
                  <a:t>GCP</a:t>
                </a:r>
              </a:p>
            </p:txBody>
          </p:sp>
        </p:grpSp>
        <p:sp>
          <p:nvSpPr>
            <p:cNvPr id="26" name="TextBox 26"/>
            <p:cNvSpPr txBox="1"/>
            <p:nvPr/>
          </p:nvSpPr>
          <p:spPr>
            <a:xfrm>
              <a:off x="527304" y="4823460"/>
              <a:ext cx="2406091"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华为：Flexible Engine云栈底座</a:t>
              </a:r>
            </a:p>
          </p:txBody>
        </p:sp>
        <p:sp>
          <p:nvSpPr>
            <p:cNvPr id="27" name="TextBox 27"/>
            <p:cNvSpPr txBox="1"/>
            <p:nvPr/>
          </p:nvSpPr>
          <p:spPr>
            <a:xfrm>
              <a:off x="527685" y="5079206"/>
              <a:ext cx="2283142"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看不见的底层技术（非品牌可见）</a:t>
              </a:r>
            </a:p>
          </p:txBody>
        </p:sp>
      </p:grpSp>
      <p:grpSp>
        <p:nvGrpSpPr>
          <p:cNvPr id="42" name="Group 42"/>
          <p:cNvGrpSpPr/>
          <p:nvPr/>
        </p:nvGrpSpPr>
        <p:grpSpPr>
          <a:xfrm>
            <a:off x="4307205" y="1333500"/>
            <a:ext cx="3560445" cy="3724656"/>
            <a:chOff x="4307205" y="1333500"/>
            <a:chExt cx="3560445" cy="3724656"/>
          </a:xfrm>
        </p:grpSpPr>
        <p:sp>
          <p:nvSpPr>
            <p:cNvPr id="29" name="Rectangle 29"/>
            <p:cNvSpPr/>
            <p:nvPr/>
          </p:nvSpPr>
          <p:spPr>
            <a:xfrm>
              <a:off x="4314825" y="1333500"/>
              <a:ext cx="3552825" cy="76200"/>
            </a:xfrm>
            <a:prstGeom prst="rect">
              <a:avLst/>
            </a:prstGeom>
            <a:solidFill>
              <a:srgbClr val="E9002F"/>
            </a:solidFill>
            <a:ln>
              <a:noFill/>
            </a:ln>
          </p:spPr>
        </p:sp>
        <p:sp>
          <p:nvSpPr>
            <p:cNvPr id="30" name="TextBox 30"/>
            <p:cNvSpPr txBox="1"/>
            <p:nvPr/>
          </p:nvSpPr>
          <p:spPr>
            <a:xfrm>
              <a:off x="4307205" y="1504950"/>
              <a:ext cx="429692" cy="293370"/>
            </a:xfrm>
            <a:prstGeom prst="rect">
              <a:avLst/>
            </a:prstGeom>
            <a:noFill/>
            <a:ln>
              <a:noFill/>
            </a:ln>
          </p:spPr>
          <p:txBody>
            <a:bodyPr wrap="none" lIns="0" tIns="0" rIns="0" bIns="0" anchor="t" anchorCtr="0">
              <a:spAutoFit/>
            </a:bodyPr>
            <a:lstStyle/>
            <a:p>
              <a:pPr algn="l"/>
              <a:r>
                <a:rPr lang="en-US" sz="1500" b="1" dirty="0">
                  <a:solidFill>
                    <a:srgbClr val="E9002F"/>
                  </a:solidFill>
                  <a:latin typeface="Arial"/>
                  <a:ea typeface="Arial"/>
                  <a:cs typeface="Arial"/>
                </a:rPr>
                <a:t>OEU</a:t>
              </a:r>
            </a:p>
          </p:txBody>
        </p:sp>
        <p:sp>
          <p:nvSpPr>
            <p:cNvPr id="31" name="TextBox 31"/>
            <p:cNvSpPr txBox="1"/>
            <p:nvPr/>
          </p:nvSpPr>
          <p:spPr>
            <a:xfrm>
              <a:off x="4308729" y="1756410"/>
              <a:ext cx="2401824"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约130M€/Y（估，占B2B约5%）</a:t>
              </a:r>
            </a:p>
          </p:txBody>
        </p:sp>
        <p:sp>
          <p:nvSpPr>
            <p:cNvPr id="32" name="Line 32"/>
            <p:cNvSpPr/>
            <p:nvPr/>
          </p:nvSpPr>
          <p:spPr>
            <a:xfrm>
              <a:off x="4314825"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33" name="Rectangle 33"/>
            <p:cNvSpPr/>
            <p:nvPr/>
          </p:nvSpPr>
          <p:spPr>
            <a:xfrm>
              <a:off x="4543425" y="2571750"/>
              <a:ext cx="3095625" cy="857250"/>
            </a:xfrm>
            <a:prstGeom prst="roundRect">
              <a:avLst>
                <a:gd name="adj" fmla="val 4444"/>
              </a:avLst>
            </a:prstGeom>
            <a:solidFill>
              <a:srgbClr val="FBF6F1"/>
            </a:solidFill>
            <a:ln w="9525">
              <a:solidFill>
                <a:srgbClr val="E8E2DA"/>
              </a:solidFill>
            </a:ln>
          </p:spPr>
        </p:sp>
        <p:sp>
          <p:nvSpPr>
            <p:cNvPr id="34" name="TextBox 34"/>
            <p:cNvSpPr txBox="1"/>
            <p:nvPr/>
          </p:nvSpPr>
          <p:spPr>
            <a:xfrm>
              <a:off x="4727829" y="2708910"/>
              <a:ext cx="351434" cy="234696"/>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波兰</a:t>
              </a:r>
            </a:p>
          </p:txBody>
        </p:sp>
        <p:sp>
          <p:nvSpPr>
            <p:cNvPr id="35" name="TextBox 35"/>
            <p:cNvSpPr txBox="1"/>
            <p:nvPr/>
          </p:nvSpPr>
          <p:spPr>
            <a:xfrm>
              <a:off x="4728210" y="2945606"/>
              <a:ext cx="2282890"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BlueSoft/Craftware云集成能力</a:t>
              </a:r>
            </a:p>
          </p:txBody>
        </p:sp>
        <p:sp>
          <p:nvSpPr>
            <p:cNvPr id="36" name="TextBox 36"/>
            <p:cNvSpPr txBox="1"/>
            <p:nvPr/>
          </p:nvSpPr>
          <p:spPr>
            <a:xfrm>
              <a:off x="4728210" y="3155156"/>
              <a:ext cx="1828800"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（估算规模，无独立披露）</a:t>
              </a:r>
            </a:p>
          </p:txBody>
        </p:sp>
        <p:sp>
          <p:nvSpPr>
            <p:cNvPr id="37" name="Rectangle 37"/>
            <p:cNvSpPr/>
            <p:nvPr/>
          </p:nvSpPr>
          <p:spPr>
            <a:xfrm>
              <a:off x="4543425" y="3562350"/>
              <a:ext cx="3095625" cy="857250"/>
            </a:xfrm>
            <a:prstGeom prst="roundRect">
              <a:avLst>
                <a:gd name="adj" fmla="val 4444"/>
              </a:avLst>
            </a:prstGeom>
            <a:solidFill>
              <a:srgbClr val="FBF6F1"/>
            </a:solidFill>
            <a:ln w="9525">
              <a:solidFill>
                <a:srgbClr val="E8E2DA"/>
              </a:solidFill>
            </a:ln>
          </p:spPr>
        </p:sp>
        <p:sp>
          <p:nvSpPr>
            <p:cNvPr id="38" name="TextBox 38"/>
            <p:cNvSpPr txBox="1"/>
            <p:nvPr/>
          </p:nvSpPr>
          <p:spPr>
            <a:xfrm>
              <a:off x="4727829" y="3699510"/>
              <a:ext cx="521056" cy="234696"/>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西班牙</a:t>
              </a:r>
            </a:p>
          </p:txBody>
        </p:sp>
        <p:sp>
          <p:nvSpPr>
            <p:cNvPr id="39" name="TextBox 39"/>
            <p:cNvSpPr txBox="1"/>
            <p:nvPr/>
          </p:nvSpPr>
          <p:spPr>
            <a:xfrm>
              <a:off x="4728210" y="3936206"/>
              <a:ext cx="1905867"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MasOrange 5G专网+云关联</a:t>
              </a:r>
            </a:p>
          </p:txBody>
        </p:sp>
        <p:sp>
          <p:nvSpPr>
            <p:cNvPr id="40" name="TextBox 40"/>
            <p:cNvSpPr txBox="1"/>
            <p:nvPr/>
          </p:nvSpPr>
          <p:spPr>
            <a:xfrm>
              <a:off x="4728210" y="4145756"/>
              <a:ext cx="1667923"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项目（Correos等案例）</a:t>
              </a:r>
            </a:p>
          </p:txBody>
        </p:sp>
        <p:sp>
          <p:nvSpPr>
            <p:cNvPr id="41" name="TextBox 41"/>
            <p:cNvSpPr txBox="1"/>
            <p:nvPr/>
          </p:nvSpPr>
          <p:spPr>
            <a:xfrm>
              <a:off x="4308729" y="4823460"/>
              <a:ext cx="1199540"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华为：未见参与</a:t>
              </a:r>
            </a:p>
          </p:txBody>
        </p:sp>
      </p:grpSp>
      <p:grpSp>
        <p:nvGrpSpPr>
          <p:cNvPr id="56" name="Group 56"/>
          <p:cNvGrpSpPr/>
          <p:nvPr/>
        </p:nvGrpSpPr>
        <p:grpSpPr>
          <a:xfrm>
            <a:off x="8088630" y="1333500"/>
            <a:ext cx="3560445" cy="3724656"/>
            <a:chOff x="8088630" y="1333500"/>
            <a:chExt cx="3560445" cy="3724656"/>
          </a:xfrm>
        </p:grpSpPr>
        <p:sp>
          <p:nvSpPr>
            <p:cNvPr id="43" name="Rectangle 43"/>
            <p:cNvSpPr/>
            <p:nvPr/>
          </p:nvSpPr>
          <p:spPr>
            <a:xfrm>
              <a:off x="8096250" y="1333500"/>
              <a:ext cx="3552825" cy="76200"/>
            </a:xfrm>
            <a:prstGeom prst="rect">
              <a:avLst/>
            </a:prstGeom>
            <a:solidFill>
              <a:srgbClr val="F4A100"/>
            </a:solidFill>
            <a:ln>
              <a:noFill/>
            </a:ln>
          </p:spPr>
        </p:sp>
        <p:sp>
          <p:nvSpPr>
            <p:cNvPr id="44" name="TextBox 44"/>
            <p:cNvSpPr txBox="1"/>
            <p:nvPr/>
          </p:nvSpPr>
          <p:spPr>
            <a:xfrm>
              <a:off x="8088630" y="1504950"/>
              <a:ext cx="597713" cy="293370"/>
            </a:xfrm>
            <a:prstGeom prst="rect">
              <a:avLst/>
            </a:prstGeom>
            <a:noFill/>
            <a:ln>
              <a:noFill/>
            </a:ln>
          </p:spPr>
          <p:txBody>
            <a:bodyPr wrap="none" lIns="0" tIns="0" rIns="0" bIns="0" anchor="t" anchorCtr="0">
              <a:spAutoFit/>
            </a:bodyPr>
            <a:lstStyle/>
            <a:p>
              <a:pPr algn="l"/>
              <a:r>
                <a:rPr lang="en-US" sz="1500" b="1" dirty="0">
                  <a:solidFill>
                    <a:srgbClr val="8A6D00"/>
                  </a:solidFill>
                  <a:latin typeface="Arial"/>
                  <a:ea typeface="Arial"/>
                  <a:cs typeface="Arial"/>
                </a:rPr>
                <a:t>OMEA</a:t>
              </a:r>
            </a:p>
          </p:txBody>
        </p:sp>
        <p:sp>
          <p:nvSpPr>
            <p:cNvPr id="45" name="TextBox 45"/>
            <p:cNvSpPr txBox="1"/>
            <p:nvPr/>
          </p:nvSpPr>
          <p:spPr>
            <a:xfrm>
              <a:off x="8090154" y="1756410"/>
              <a:ext cx="2896819"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约40M€/Y（估，ICT标准化包子品类）</a:t>
              </a:r>
            </a:p>
          </p:txBody>
        </p:sp>
        <p:sp>
          <p:nvSpPr>
            <p:cNvPr id="46" name="Line 46"/>
            <p:cNvSpPr/>
            <p:nvPr/>
          </p:nvSpPr>
          <p:spPr>
            <a:xfrm>
              <a:off x="809625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47" name="Rectangle 47"/>
            <p:cNvSpPr/>
            <p:nvPr/>
          </p:nvSpPr>
          <p:spPr>
            <a:xfrm>
              <a:off x="8324850" y="2571750"/>
              <a:ext cx="3095625" cy="1847850"/>
            </a:xfrm>
            <a:prstGeom prst="roundRect">
              <a:avLst>
                <a:gd name="adj" fmla="val 2062"/>
              </a:avLst>
            </a:prstGeom>
            <a:solidFill>
              <a:srgbClr val="FFF8E7"/>
            </a:solidFill>
            <a:ln w="19050">
              <a:solidFill>
                <a:srgbClr val="F4A100"/>
              </a:solidFill>
            </a:ln>
          </p:spPr>
        </p:sp>
        <p:sp>
          <p:nvSpPr>
            <p:cNvPr id="48" name="TextBox 48"/>
            <p:cNvSpPr txBox="1"/>
            <p:nvPr/>
          </p:nvSpPr>
          <p:spPr>
            <a:xfrm>
              <a:off x="8509254" y="2708910"/>
              <a:ext cx="1551127" cy="234696"/>
            </a:xfrm>
            <a:prstGeom prst="rect">
              <a:avLst/>
            </a:prstGeom>
            <a:noFill/>
            <a:ln>
              <a:noFill/>
            </a:ln>
          </p:spPr>
          <p:txBody>
            <a:bodyPr wrap="none" lIns="0" tIns="0" rIns="0" bIns="0" anchor="t" anchorCtr="0">
              <a:spAutoFit/>
            </a:bodyPr>
            <a:lstStyle/>
            <a:p>
              <a:pPr algn="l"/>
              <a:r>
                <a:rPr lang="zh-CN" sz="1200" b="1" dirty="0">
                  <a:solidFill>
                    <a:srgbClr val="C7000A"/>
                  </a:solidFill>
                  <a:latin typeface="Arial"/>
                  <a:ea typeface="Microsoft YaHei"/>
                  <a:cs typeface="Arial"/>
                </a:rPr>
                <a:t>同源Flexible Engine</a:t>
              </a:r>
            </a:p>
          </p:txBody>
        </p:sp>
        <p:sp>
          <p:nvSpPr>
            <p:cNvPr id="49" name="TextBox 49"/>
            <p:cNvSpPr txBox="1"/>
            <p:nvPr/>
          </p:nvSpPr>
          <p:spPr>
            <a:xfrm>
              <a:off x="8509635" y="2964656"/>
              <a:ext cx="1691640"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华为AUTIN智能运维系统</a:t>
              </a:r>
            </a:p>
          </p:txBody>
        </p:sp>
        <p:sp>
          <p:nvSpPr>
            <p:cNvPr id="50" name="TextBox 50"/>
            <p:cNvSpPr txBox="1"/>
            <p:nvPr/>
          </p:nvSpPr>
          <p:spPr>
            <a:xfrm>
              <a:off x="8509635" y="3174206"/>
              <a:ext cx="1995678"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直接部署于其上，服务GNOC</a:t>
              </a:r>
            </a:p>
          </p:txBody>
        </p:sp>
        <p:sp>
          <p:nvSpPr>
            <p:cNvPr id="51" name="TextBox 51"/>
            <p:cNvSpPr txBox="1"/>
            <p:nvPr/>
          </p:nvSpPr>
          <p:spPr>
            <a:xfrm>
              <a:off x="8509635" y="3383756"/>
              <a:ext cx="1912096"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（达喀尔+阿比让双活运维）</a:t>
              </a:r>
            </a:p>
          </p:txBody>
        </p:sp>
        <p:sp>
          <p:nvSpPr>
            <p:cNvPr id="52" name="TextBox 52"/>
            <p:cNvSpPr txBox="1"/>
            <p:nvPr/>
          </p:nvSpPr>
          <p:spPr>
            <a:xfrm>
              <a:off x="8509635" y="3688556"/>
              <a:ext cx="1458511" cy="220028"/>
            </a:xfrm>
            <a:prstGeom prst="rect">
              <a:avLst/>
            </a:prstGeom>
            <a:noFill/>
            <a:ln>
              <a:noFill/>
            </a:ln>
          </p:spPr>
          <p:txBody>
            <a:bodyPr wrap="none" lIns="0" tIns="0" rIns="0" bIns="0" anchor="t" anchorCtr="0">
              <a:spAutoFit/>
            </a:bodyPr>
            <a:lstStyle/>
            <a:p>
              <a:pPr algn="l"/>
              <a:r>
                <a:rPr lang="zh-CN" sz="1120" b="1" dirty="0">
                  <a:solidFill>
                    <a:srgbClr val="C7000A"/>
                  </a:solidFill>
                  <a:latin typeface="Arial"/>
                  <a:ea typeface="Microsoft YaHei"/>
                  <a:cs typeface="Arial"/>
                </a:rPr>
                <a:t>从"底层技术"升级为</a:t>
              </a:r>
            </a:p>
          </p:txBody>
        </p:sp>
        <p:sp>
          <p:nvSpPr>
            <p:cNvPr id="53" name="TextBox 53"/>
            <p:cNvSpPr txBox="1"/>
            <p:nvPr/>
          </p:nvSpPr>
          <p:spPr>
            <a:xfrm>
              <a:off x="8509635" y="3898106"/>
              <a:ext cx="1776551" cy="220028"/>
            </a:xfrm>
            <a:prstGeom prst="rect">
              <a:avLst/>
            </a:prstGeom>
            <a:noFill/>
            <a:ln>
              <a:noFill/>
            </a:ln>
          </p:spPr>
          <p:txBody>
            <a:bodyPr wrap="none" lIns="0" tIns="0" rIns="0" bIns="0" anchor="t" anchorCtr="0">
              <a:spAutoFit/>
            </a:bodyPr>
            <a:lstStyle/>
            <a:p>
              <a:pPr algn="l"/>
              <a:r>
                <a:rPr lang="zh-CN" sz="1120" b="1" dirty="0">
                  <a:solidFill>
                    <a:srgbClr val="C7000A"/>
                  </a:solidFill>
                  <a:latin typeface="Arial"/>
                  <a:ea typeface="Microsoft YaHei"/>
                  <a:cs typeface="Arial"/>
                </a:rPr>
                <a:t>"看得见的联合运维平台"</a:t>
              </a:r>
            </a:p>
          </p:txBody>
        </p:sp>
        <p:sp>
          <p:nvSpPr>
            <p:cNvPr id="54" name="TextBox 54"/>
            <p:cNvSpPr txBox="1"/>
            <p:nvPr/>
          </p:nvSpPr>
          <p:spPr>
            <a:xfrm>
              <a:off x="8091297" y="4561999"/>
              <a:ext cx="2983132"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RUN OMEA计划：Mutualized Services集中式运维</a:t>
              </a:r>
            </a:p>
          </p:txBody>
        </p:sp>
        <p:sp>
          <p:nvSpPr>
            <p:cNvPr id="55" name="TextBox 55"/>
            <p:cNvSpPr txBox="1"/>
            <p:nvPr/>
          </p:nvSpPr>
          <p:spPr>
            <a:xfrm>
              <a:off x="8090154" y="4823460"/>
              <a:ext cx="1538783"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华为：深度联合运维</a:t>
              </a:r>
            </a:p>
          </p:txBody>
        </p:sp>
      </p:grpSp>
      <p:grpSp>
        <p:nvGrpSpPr>
          <p:cNvPr id="59" name="Group 59"/>
          <p:cNvGrpSpPr/>
          <p:nvPr/>
        </p:nvGrpSpPr>
        <p:grpSpPr>
          <a:xfrm>
            <a:off x="528447" y="6562249"/>
            <a:ext cx="11135106" cy="190690"/>
            <a:chOff x="528447" y="6562249"/>
            <a:chExt cx="11135106" cy="190690"/>
          </a:xfrm>
        </p:grpSpPr>
        <p:sp>
          <p:nvSpPr>
            <p:cNvPr id="57" name="TextBox 57"/>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8" name="TextBox 58"/>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2732" y="268605"/>
            <a:ext cx="11135868" cy="731520"/>
            <a:chOff x="522732" y="268605"/>
            <a:chExt cx="11135868" cy="731520"/>
          </a:xfrm>
        </p:grpSpPr>
        <p:sp>
          <p:nvSpPr>
            <p:cNvPr id="3" name="TextBox 3"/>
            <p:cNvSpPr txBox="1"/>
            <p:nvPr/>
          </p:nvSpPr>
          <p:spPr>
            <a:xfrm>
              <a:off x="522732" y="268605"/>
              <a:ext cx="7815270" cy="410718"/>
            </a:xfrm>
            <a:prstGeom prst="rect">
              <a:avLst/>
            </a:prstGeom>
            <a:noFill/>
            <a:ln>
              <a:noFill/>
            </a:ln>
          </p:spPr>
          <p:txBody>
            <a:bodyPr wrap="none" lIns="0" tIns="0" rIns="0" bIns="0" anchor="t" anchorCtr="0">
              <a:spAutoFit/>
            </a:bodyPr>
            <a:lstStyle/>
            <a:p>
              <a:pPr algn="l"/>
              <a:r>
                <a:rPr lang="zh-CN" sz="2100" b="1" dirty="0">
                  <a:solidFill>
                    <a:srgbClr val="1A1A1A"/>
                  </a:solidFill>
                  <a:latin typeface="Arial"/>
                  <a:ea typeface="Microsoft YaHei"/>
                  <a:cs typeface="Arial"/>
                </a:rPr>
                <a:t>安全托管服务三分天下——</a:t>
              </a:r>
              <a:r>
                <a:rPr lang="zh-CN" sz="2100" b="1" dirty="0">
                  <a:solidFill>
                    <a:srgbClr val="E9002F"/>
                  </a:solidFill>
                  <a:latin typeface="Arial"/>
                  <a:ea typeface="Microsoft YaHei"/>
                  <a:cs typeface="Arial"/>
                </a:rPr>
                <a:t>OB自营、OEU合资、OMEA孵化</a:t>
              </a:r>
            </a:p>
          </p:txBody>
        </p:sp>
        <p:sp>
          <p:nvSpPr>
            <p:cNvPr id="4" name="TextBox 4"/>
            <p:cNvSpPr txBox="1"/>
            <p:nvPr/>
          </p:nvSpPr>
          <p:spPr>
            <a:xfrm>
              <a:off x="527685" y="716756"/>
              <a:ext cx="5090779"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Orange Cyberdefense协同网络 · MSSP/终端安全/数据保护/IoT-OT安全</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22" name="Group 22"/>
          <p:cNvGrpSpPr/>
          <p:nvPr/>
        </p:nvGrpSpPr>
        <p:grpSpPr>
          <a:xfrm>
            <a:off x="525780" y="1333500"/>
            <a:ext cx="3560445" cy="3724656"/>
            <a:chOff x="525780" y="1333500"/>
            <a:chExt cx="3560445" cy="3724656"/>
          </a:xfrm>
        </p:grpSpPr>
        <p:sp>
          <p:nvSpPr>
            <p:cNvPr id="7" name="Rectangle 7"/>
            <p:cNvSpPr/>
            <p:nvPr/>
          </p:nvSpPr>
          <p:spPr>
            <a:xfrm>
              <a:off x="533400" y="1333500"/>
              <a:ext cx="3552825" cy="76200"/>
            </a:xfrm>
            <a:prstGeom prst="rect">
              <a:avLst/>
            </a:prstGeom>
            <a:solidFill>
              <a:srgbClr val="C7000A"/>
            </a:solidFill>
            <a:ln>
              <a:noFill/>
            </a:ln>
          </p:spPr>
        </p:sp>
        <p:sp>
          <p:nvSpPr>
            <p:cNvPr id="8" name="TextBox 8"/>
            <p:cNvSpPr txBox="1"/>
            <p:nvPr/>
          </p:nvSpPr>
          <p:spPr>
            <a:xfrm>
              <a:off x="525780" y="1504950"/>
              <a:ext cx="1460221" cy="293370"/>
            </a:xfrm>
            <a:prstGeom prst="rect">
              <a:avLst/>
            </a:prstGeom>
            <a:noFill/>
            <a:ln>
              <a:noFill/>
            </a:ln>
          </p:spPr>
          <p:txBody>
            <a:bodyPr wrap="none" lIns="0" tIns="0" rIns="0" bIns="0" anchor="t" anchorCtr="0">
              <a:spAutoFit/>
            </a:bodyPr>
            <a:lstStyle/>
            <a:p>
              <a:pPr algn="l"/>
              <a:r>
                <a:rPr lang="zh-CN" sz="1500" b="1" dirty="0">
                  <a:solidFill>
                    <a:srgbClr val="C7000A"/>
                  </a:solidFill>
                  <a:latin typeface="Arial"/>
                  <a:ea typeface="Microsoft YaHei"/>
                  <a:cs typeface="Arial"/>
                </a:rPr>
                <a:t>OB · 自营巨头</a:t>
              </a:r>
            </a:p>
          </p:txBody>
        </p:sp>
        <p:sp>
          <p:nvSpPr>
            <p:cNvPr id="9" name="TextBox 9"/>
            <p:cNvSpPr txBox="1"/>
            <p:nvPr/>
          </p:nvSpPr>
          <p:spPr>
            <a:xfrm>
              <a:off x="527304" y="1756410"/>
              <a:ext cx="3410346"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Orange Cyberdefense 1,300M€/Y（+6.8%）</a:t>
              </a:r>
            </a:p>
          </p:txBody>
        </p:sp>
        <p:sp>
          <p:nvSpPr>
            <p:cNvPr id="10" name="Line 10"/>
            <p:cNvSpPr/>
            <p:nvPr/>
          </p:nvSpPr>
          <p:spPr>
            <a:xfrm>
              <a:off x="53340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11" name="Rectangle 11"/>
            <p:cNvSpPr/>
            <p:nvPr/>
          </p:nvSpPr>
          <p:spPr>
            <a:xfrm>
              <a:off x="533400" y="2190750"/>
              <a:ext cx="3552825" cy="857250"/>
            </a:xfrm>
            <a:prstGeom prst="roundRect">
              <a:avLst>
                <a:gd name="adj" fmla="val 4444"/>
              </a:avLst>
            </a:prstGeom>
            <a:solidFill>
              <a:srgbClr val="FBF6F1"/>
            </a:solidFill>
            <a:ln w="9525">
              <a:solidFill>
                <a:srgbClr val="E8E2DA"/>
              </a:solidFill>
            </a:ln>
          </p:spPr>
        </p:sp>
        <p:sp>
          <p:nvSpPr>
            <p:cNvPr id="12" name="TextBox 12"/>
            <p:cNvSpPr txBox="1"/>
            <p:nvPr/>
          </p:nvSpPr>
          <p:spPr>
            <a:xfrm>
              <a:off x="712470" y="2195512"/>
              <a:ext cx="1072391" cy="440055"/>
            </a:xfrm>
            <a:prstGeom prst="rect">
              <a:avLst/>
            </a:prstGeom>
            <a:noFill/>
            <a:ln>
              <a:noFill/>
            </a:ln>
          </p:spPr>
          <p:txBody>
            <a:bodyPr wrap="none" lIns="0" tIns="0" rIns="0" bIns="0" anchor="t" anchorCtr="0">
              <a:spAutoFit/>
            </a:bodyPr>
            <a:lstStyle/>
            <a:p>
              <a:pPr algn="l"/>
              <a:r>
                <a:rPr lang="en-US" sz="2250" b="1" dirty="0">
                  <a:solidFill>
                    <a:srgbClr val="C7000A"/>
                  </a:solidFill>
                  <a:latin typeface="Arial"/>
                  <a:ea typeface="Arial"/>
                  <a:cs typeface="Arial"/>
                </a:rPr>
                <a:t>3,300+</a:t>
              </a:r>
            </a:p>
          </p:txBody>
        </p:sp>
        <p:sp>
          <p:nvSpPr>
            <p:cNvPr id="13" name="TextBox 13"/>
            <p:cNvSpPr txBox="1"/>
            <p:nvPr/>
          </p:nvSpPr>
          <p:spPr>
            <a:xfrm>
              <a:off x="1898904" y="2308860"/>
              <a:ext cx="1869948"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专家 · 23国 · 36检测中心</a:t>
              </a:r>
            </a:p>
          </p:txBody>
        </p:sp>
        <p:sp>
          <p:nvSpPr>
            <p:cNvPr id="14" name="TextBox 14"/>
            <p:cNvSpPr txBox="1"/>
            <p:nvPr/>
          </p:nvSpPr>
          <p:spPr>
            <a:xfrm>
              <a:off x="717804" y="2632710"/>
              <a:ext cx="1174097"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2030目标20亿€</a:t>
              </a:r>
            </a:p>
          </p:txBody>
        </p:sp>
        <p:sp>
          <p:nvSpPr>
            <p:cNvPr id="15" name="TextBox 15"/>
            <p:cNvSpPr txBox="1"/>
            <p:nvPr/>
          </p:nvSpPr>
          <p:spPr>
            <a:xfrm>
              <a:off x="2184654" y="2632710"/>
              <a:ext cx="1104595"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欧洲第一MSSP</a:t>
              </a:r>
            </a:p>
          </p:txBody>
        </p:sp>
        <p:sp>
          <p:nvSpPr>
            <p:cNvPr id="16" name="TextBox 16"/>
            <p:cNvSpPr txBox="1"/>
            <p:nvPr/>
          </p:nvSpPr>
          <p:spPr>
            <a:xfrm>
              <a:off x="528066" y="3182302"/>
              <a:ext cx="3305693"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主要Vendor：CrowdStrike/Palo Alto（威胁检测）</a:t>
              </a:r>
            </a:p>
          </p:txBody>
        </p:sp>
        <p:sp>
          <p:nvSpPr>
            <p:cNvPr id="17" name="TextBox 17"/>
            <p:cNvSpPr txBox="1"/>
            <p:nvPr/>
          </p:nvSpPr>
          <p:spPr>
            <a:xfrm>
              <a:off x="528066" y="3372802"/>
              <a:ext cx="2994321"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Microsoft（安全套件）、Thales（数据保护）</a:t>
              </a:r>
            </a:p>
          </p:txBody>
        </p:sp>
        <p:sp>
          <p:nvSpPr>
            <p:cNvPr id="18" name="TextBox 18"/>
            <p:cNvSpPr txBox="1"/>
            <p:nvPr/>
          </p:nvSpPr>
          <p:spPr>
            <a:xfrm>
              <a:off x="528066" y="3563302"/>
              <a:ext cx="3044183"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Netskope/Zscaler（网络安全）、Nozomi(OT)</a:t>
              </a:r>
            </a:p>
          </p:txBody>
        </p:sp>
        <p:sp>
          <p:nvSpPr>
            <p:cNvPr id="19" name="TextBox 19"/>
            <p:cNvSpPr txBox="1"/>
            <p:nvPr/>
          </p:nvSpPr>
          <p:spPr>
            <a:xfrm>
              <a:off x="528447" y="3799999"/>
              <a:ext cx="302311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2016年起步，2019年收购SecureLink/SecureData</a:t>
              </a:r>
            </a:p>
          </p:txBody>
        </p:sp>
        <p:sp>
          <p:nvSpPr>
            <p:cNvPr id="20" name="TextBox 20"/>
            <p:cNvSpPr txBox="1"/>
            <p:nvPr/>
          </p:nvSpPr>
          <p:spPr>
            <a:xfrm>
              <a:off x="528447" y="3990499"/>
              <a:ext cx="2937996"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2025前九月+6-8%动态增长，40+安全Vendor集成</a:t>
              </a:r>
            </a:p>
          </p:txBody>
        </p:sp>
        <p:sp>
          <p:nvSpPr>
            <p:cNvPr id="21" name="TextBox 21"/>
            <p:cNvSpPr txBox="1"/>
            <p:nvPr/>
          </p:nvSpPr>
          <p:spPr>
            <a:xfrm>
              <a:off x="527304" y="4823460"/>
              <a:ext cx="1775772"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华为：不在Vendor目录</a:t>
              </a:r>
            </a:p>
          </p:txBody>
        </p:sp>
      </p:grpSp>
      <p:grpSp>
        <p:nvGrpSpPr>
          <p:cNvPr id="35" name="Group 35"/>
          <p:cNvGrpSpPr/>
          <p:nvPr/>
        </p:nvGrpSpPr>
        <p:grpSpPr>
          <a:xfrm>
            <a:off x="4307205" y="1333500"/>
            <a:ext cx="3560445" cy="3724656"/>
            <a:chOff x="4307205" y="1333500"/>
            <a:chExt cx="3560445" cy="3724656"/>
          </a:xfrm>
        </p:grpSpPr>
        <p:sp>
          <p:nvSpPr>
            <p:cNvPr id="23" name="Rectangle 23"/>
            <p:cNvSpPr/>
            <p:nvPr/>
          </p:nvSpPr>
          <p:spPr>
            <a:xfrm>
              <a:off x="4314825" y="1333500"/>
              <a:ext cx="3552825" cy="76200"/>
            </a:xfrm>
            <a:prstGeom prst="rect">
              <a:avLst/>
            </a:prstGeom>
            <a:solidFill>
              <a:srgbClr val="E9002F"/>
            </a:solidFill>
            <a:ln>
              <a:noFill/>
            </a:ln>
          </p:spPr>
        </p:sp>
        <p:sp>
          <p:nvSpPr>
            <p:cNvPr id="24" name="TextBox 24"/>
            <p:cNvSpPr txBox="1"/>
            <p:nvPr/>
          </p:nvSpPr>
          <p:spPr>
            <a:xfrm>
              <a:off x="4307205" y="1504950"/>
              <a:ext cx="1583436" cy="293370"/>
            </a:xfrm>
            <a:prstGeom prst="rect">
              <a:avLst/>
            </a:prstGeom>
            <a:noFill/>
            <a:ln>
              <a:noFill/>
            </a:ln>
          </p:spPr>
          <p:txBody>
            <a:bodyPr wrap="none" lIns="0" tIns="0" rIns="0" bIns="0" anchor="t" anchorCtr="0">
              <a:spAutoFit/>
            </a:bodyPr>
            <a:lstStyle/>
            <a:p>
              <a:pPr algn="l"/>
              <a:r>
                <a:rPr lang="zh-CN" sz="1500" b="1" dirty="0">
                  <a:solidFill>
                    <a:srgbClr val="E9002F"/>
                  </a:solidFill>
                  <a:latin typeface="Arial"/>
                  <a:ea typeface="Microsoft YaHei"/>
                  <a:cs typeface="Arial"/>
                </a:rPr>
                <a:t>OEU · 合资节点</a:t>
              </a:r>
            </a:p>
          </p:txBody>
        </p:sp>
        <p:sp>
          <p:nvSpPr>
            <p:cNvPr id="25" name="TextBox 25"/>
            <p:cNvSpPr txBox="1"/>
            <p:nvPr/>
          </p:nvSpPr>
          <p:spPr>
            <a:xfrm>
              <a:off x="4308729" y="1756410"/>
              <a:ext cx="2589581"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约180M€/Y（估，占B2B约6.7%）</a:t>
              </a:r>
            </a:p>
          </p:txBody>
        </p:sp>
        <p:sp>
          <p:nvSpPr>
            <p:cNvPr id="26" name="Line 26"/>
            <p:cNvSpPr/>
            <p:nvPr/>
          </p:nvSpPr>
          <p:spPr>
            <a:xfrm>
              <a:off x="4314825"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27" name="Rectangle 27"/>
            <p:cNvSpPr/>
            <p:nvPr/>
          </p:nvSpPr>
          <p:spPr>
            <a:xfrm>
              <a:off x="4314825" y="2190750"/>
              <a:ext cx="3552825" cy="857250"/>
            </a:xfrm>
            <a:prstGeom prst="roundRect">
              <a:avLst>
                <a:gd name="adj" fmla="val 4444"/>
              </a:avLst>
            </a:prstGeom>
            <a:solidFill>
              <a:srgbClr val="FBF6F1"/>
            </a:solidFill>
            <a:ln w="9525">
              <a:solidFill>
                <a:srgbClr val="E8E2DA"/>
              </a:solidFill>
            </a:ln>
          </p:spPr>
        </p:sp>
        <p:sp>
          <p:nvSpPr>
            <p:cNvPr id="28" name="TextBox 28"/>
            <p:cNvSpPr txBox="1"/>
            <p:nvPr/>
          </p:nvSpPr>
          <p:spPr>
            <a:xfrm>
              <a:off x="4498848" y="2338864"/>
              <a:ext cx="1574429"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SCUT（罗马尼亚）</a:t>
              </a:r>
            </a:p>
          </p:txBody>
        </p:sp>
        <p:sp>
          <p:nvSpPr>
            <p:cNvPr id="29" name="TextBox 29"/>
            <p:cNvSpPr txBox="1"/>
            <p:nvPr/>
          </p:nvSpPr>
          <p:spPr>
            <a:xfrm>
              <a:off x="4499610" y="2583656"/>
              <a:ext cx="2358390"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与Orange Cyberdefense合资成立</a:t>
              </a:r>
            </a:p>
          </p:txBody>
        </p:sp>
        <p:sp>
          <p:nvSpPr>
            <p:cNvPr id="30" name="TextBox 30"/>
            <p:cNvSpPr txBox="1"/>
            <p:nvPr/>
          </p:nvSpPr>
          <p:spPr>
            <a:xfrm>
              <a:off x="4499610" y="2774156"/>
              <a:ext cx="1071563"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的网络安全公司</a:t>
              </a:r>
            </a:p>
          </p:txBody>
        </p:sp>
        <p:sp>
          <p:nvSpPr>
            <p:cNvPr id="31" name="Rectangle 31"/>
            <p:cNvSpPr/>
            <p:nvPr/>
          </p:nvSpPr>
          <p:spPr>
            <a:xfrm>
              <a:off x="4314825" y="3143250"/>
              <a:ext cx="3552825" cy="666750"/>
            </a:xfrm>
            <a:prstGeom prst="roundRect">
              <a:avLst>
                <a:gd name="adj" fmla="val 5714"/>
              </a:avLst>
            </a:prstGeom>
            <a:solidFill>
              <a:srgbClr val="FBF6F1"/>
            </a:solidFill>
            <a:ln w="9525">
              <a:solidFill>
                <a:srgbClr val="E8E2DA"/>
              </a:solidFill>
            </a:ln>
          </p:spPr>
        </p:sp>
        <p:sp>
          <p:nvSpPr>
            <p:cNvPr id="32" name="TextBox 32"/>
            <p:cNvSpPr txBox="1"/>
            <p:nvPr/>
          </p:nvSpPr>
          <p:spPr>
            <a:xfrm>
              <a:off x="4498848" y="3272314"/>
              <a:ext cx="1121323"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波兰 / 比利时</a:t>
              </a:r>
            </a:p>
          </p:txBody>
        </p:sp>
        <p:sp>
          <p:nvSpPr>
            <p:cNvPr id="33" name="TextBox 33"/>
            <p:cNvSpPr txBox="1"/>
            <p:nvPr/>
          </p:nvSpPr>
          <p:spPr>
            <a:xfrm>
              <a:off x="4499610" y="3517106"/>
              <a:ext cx="1587627"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OCD区域协同网络节点</a:t>
              </a:r>
            </a:p>
          </p:txBody>
        </p:sp>
        <p:sp>
          <p:nvSpPr>
            <p:cNvPr id="34" name="TextBox 34"/>
            <p:cNvSpPr txBox="1"/>
            <p:nvPr/>
          </p:nvSpPr>
          <p:spPr>
            <a:xfrm>
              <a:off x="4308729" y="4823460"/>
              <a:ext cx="1199540"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华为：未见参与</a:t>
              </a:r>
            </a:p>
          </p:txBody>
        </p:sp>
      </p:grpSp>
      <p:grpSp>
        <p:nvGrpSpPr>
          <p:cNvPr id="45" name="Group 45"/>
          <p:cNvGrpSpPr/>
          <p:nvPr/>
        </p:nvGrpSpPr>
        <p:grpSpPr>
          <a:xfrm>
            <a:off x="8088630" y="1333500"/>
            <a:ext cx="3560445" cy="3718084"/>
            <a:chOff x="8088630" y="1333500"/>
            <a:chExt cx="3560445" cy="3718084"/>
          </a:xfrm>
        </p:grpSpPr>
        <p:sp>
          <p:nvSpPr>
            <p:cNvPr id="36" name="Rectangle 36"/>
            <p:cNvSpPr/>
            <p:nvPr/>
          </p:nvSpPr>
          <p:spPr>
            <a:xfrm>
              <a:off x="8096250" y="1333500"/>
              <a:ext cx="3552825" cy="76200"/>
            </a:xfrm>
            <a:prstGeom prst="rect">
              <a:avLst/>
            </a:prstGeom>
            <a:solidFill>
              <a:srgbClr val="F4A100"/>
            </a:solidFill>
            <a:ln>
              <a:noFill/>
            </a:ln>
          </p:spPr>
        </p:sp>
        <p:sp>
          <p:nvSpPr>
            <p:cNvPr id="37" name="TextBox 37"/>
            <p:cNvSpPr txBox="1"/>
            <p:nvPr/>
          </p:nvSpPr>
          <p:spPr>
            <a:xfrm>
              <a:off x="8088630" y="1504950"/>
              <a:ext cx="1527429" cy="293370"/>
            </a:xfrm>
            <a:prstGeom prst="rect">
              <a:avLst/>
            </a:prstGeom>
            <a:noFill/>
            <a:ln>
              <a:noFill/>
            </a:ln>
          </p:spPr>
          <p:txBody>
            <a:bodyPr wrap="none" lIns="0" tIns="0" rIns="0" bIns="0" anchor="t" anchorCtr="0">
              <a:spAutoFit/>
            </a:bodyPr>
            <a:lstStyle/>
            <a:p>
              <a:pPr algn="l"/>
              <a:r>
                <a:rPr lang="zh-CN" sz="1500" b="1" dirty="0">
                  <a:solidFill>
                    <a:srgbClr val="8A6D00"/>
                  </a:solidFill>
                  <a:latin typeface="Arial"/>
                  <a:ea typeface="Microsoft YaHei"/>
                  <a:cs typeface="Arial"/>
                </a:rPr>
                <a:t>OMEA · 孵化中</a:t>
              </a:r>
            </a:p>
          </p:txBody>
        </p:sp>
        <p:sp>
          <p:nvSpPr>
            <p:cNvPr id="38" name="TextBox 38"/>
            <p:cNvSpPr txBox="1"/>
            <p:nvPr/>
          </p:nvSpPr>
          <p:spPr>
            <a:xfrm>
              <a:off x="8090154" y="1756410"/>
              <a:ext cx="2529840"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约27M€/Y（估，ICT总盘约25%）</a:t>
              </a:r>
            </a:p>
          </p:txBody>
        </p:sp>
        <p:sp>
          <p:nvSpPr>
            <p:cNvPr id="39" name="Line 39"/>
            <p:cNvSpPr/>
            <p:nvPr/>
          </p:nvSpPr>
          <p:spPr>
            <a:xfrm>
              <a:off x="809625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40" name="Rectangle 40"/>
            <p:cNvSpPr/>
            <p:nvPr/>
          </p:nvSpPr>
          <p:spPr>
            <a:xfrm>
              <a:off x="8096250" y="2190750"/>
              <a:ext cx="3552825" cy="857250"/>
            </a:xfrm>
            <a:prstGeom prst="roundRect">
              <a:avLst>
                <a:gd name="adj" fmla="val 4444"/>
              </a:avLst>
            </a:prstGeom>
            <a:solidFill>
              <a:srgbClr val="FBF6F1"/>
            </a:solidFill>
            <a:ln w="9525">
              <a:solidFill>
                <a:srgbClr val="E8E2DA"/>
              </a:solidFill>
            </a:ln>
          </p:spPr>
        </p:sp>
        <p:sp>
          <p:nvSpPr>
            <p:cNvPr id="41" name="TextBox 41"/>
            <p:cNvSpPr txBox="1"/>
            <p:nvPr/>
          </p:nvSpPr>
          <p:spPr>
            <a:xfrm>
              <a:off x="8280273" y="2319814"/>
              <a:ext cx="2069531"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G3 ICT加速计划组成部分</a:t>
              </a:r>
            </a:p>
          </p:txBody>
        </p:sp>
        <p:sp>
          <p:nvSpPr>
            <p:cNvPr id="42" name="TextBox 42"/>
            <p:cNvSpPr txBox="1"/>
            <p:nvPr/>
          </p:nvSpPr>
          <p:spPr>
            <a:xfrm>
              <a:off x="8281035" y="2564606"/>
              <a:ext cx="2133124"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云/安全/IoT标准化即开即售包</a:t>
              </a:r>
            </a:p>
          </p:txBody>
        </p:sp>
        <p:sp>
          <p:nvSpPr>
            <p:cNvPr id="43" name="TextBox 43"/>
            <p:cNvSpPr txBox="1"/>
            <p:nvPr/>
          </p:nvSpPr>
          <p:spPr>
            <a:xfrm>
              <a:off x="8281035" y="2774156"/>
              <a:ext cx="1321994" cy="220028"/>
            </a:xfrm>
            <a:prstGeom prst="rect">
              <a:avLst/>
            </a:prstGeom>
            <a:noFill/>
            <a:ln>
              <a:noFill/>
            </a:ln>
          </p:spPr>
          <p:txBody>
            <a:bodyPr wrap="none" lIns="0" tIns="0" rIns="0" bIns="0" anchor="t" anchorCtr="0">
              <a:spAutoFit/>
            </a:bodyPr>
            <a:lstStyle/>
            <a:p>
              <a:pPr algn="l"/>
              <a:r>
                <a:rPr lang="zh-CN" sz="1120" b="1" dirty="0">
                  <a:solidFill>
                    <a:srgbClr val="2E8B57"/>
                  </a:solidFill>
                  <a:latin typeface="Arial"/>
                  <a:ea typeface="Microsoft YaHei"/>
                  <a:cs typeface="Arial"/>
                </a:rPr>
                <a:t>ICT整体收入+28%</a:t>
              </a:r>
            </a:p>
          </p:txBody>
        </p:sp>
        <p:sp>
          <p:nvSpPr>
            <p:cNvPr id="44" name="TextBox 44"/>
            <p:cNvSpPr txBox="1"/>
            <p:nvPr/>
          </p:nvSpPr>
          <p:spPr>
            <a:xfrm>
              <a:off x="8090535" y="4831556"/>
              <a:ext cx="3077813" cy="220028"/>
            </a:xfrm>
            <a:prstGeom prst="rect">
              <a:avLst/>
            </a:prstGeom>
            <a:noFill/>
            <a:ln>
              <a:noFill/>
            </a:ln>
          </p:spPr>
          <p:txBody>
            <a:bodyPr wrap="none" lIns="0" tIns="0" rIns="0" bIns="0" anchor="t" anchorCtr="0">
              <a:spAutoFit/>
            </a:bodyPr>
            <a:lstStyle/>
            <a:p>
              <a:pPr algn="l"/>
              <a:r>
                <a:rPr lang="zh-CN" sz="1120" b="1" dirty="0">
                  <a:solidFill>
                    <a:srgbClr val="6B6B6B"/>
                  </a:solidFill>
                  <a:latin typeface="Arial"/>
                  <a:ea typeface="Microsoft YaHei"/>
                  <a:cs typeface="Arial"/>
                </a:rPr>
                <a:t>华为：约10%（估，网络设备，非MSSP）</a:t>
              </a:r>
            </a:p>
          </p:txBody>
        </p:sp>
      </p:grpSp>
      <p:grpSp>
        <p:nvGrpSpPr>
          <p:cNvPr id="48" name="Group 48"/>
          <p:cNvGrpSpPr/>
          <p:nvPr/>
        </p:nvGrpSpPr>
        <p:grpSpPr>
          <a:xfrm>
            <a:off x="533400" y="5715000"/>
            <a:ext cx="11125200" cy="571500"/>
            <a:chOff x="533400" y="5715000"/>
            <a:chExt cx="11125200" cy="571500"/>
          </a:xfrm>
        </p:grpSpPr>
        <p:sp>
          <p:nvSpPr>
            <p:cNvPr id="46" name="Rectangle 46"/>
            <p:cNvSpPr/>
            <p:nvPr/>
          </p:nvSpPr>
          <p:spPr>
            <a:xfrm>
              <a:off x="533400" y="5715000"/>
              <a:ext cx="11125200" cy="571500"/>
            </a:xfrm>
            <a:prstGeom prst="roundRect">
              <a:avLst>
                <a:gd name="adj" fmla="val 6667"/>
              </a:avLst>
            </a:prstGeom>
            <a:solidFill>
              <a:srgbClr val="FBF6F1"/>
            </a:solidFill>
            <a:ln w="9525">
              <a:solidFill>
                <a:srgbClr val="E8E2DA"/>
              </a:solidFill>
            </a:ln>
          </p:spPr>
        </p:sp>
        <p:sp>
          <p:nvSpPr>
            <p:cNvPr id="47" name="TextBox 47"/>
            <p:cNvSpPr txBox="1"/>
            <p:nvPr/>
          </p:nvSpPr>
          <p:spPr>
            <a:xfrm>
              <a:off x="755523" y="5920264"/>
              <a:ext cx="6287418"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三区域安全模式各异——</a:t>
              </a:r>
              <a:r>
                <a:rPr lang="zh-CN" sz="1280" b="1" dirty="0">
                  <a:solidFill>
                    <a:srgbClr val="C7000A"/>
                  </a:solidFill>
                  <a:latin typeface="Arial"/>
                  <a:ea typeface="Microsoft YaHei"/>
                  <a:cs typeface="Arial"/>
                </a:rPr>
                <a:t>OB自营巨头</a:t>
              </a:r>
              <a:r>
                <a:rPr lang="zh-CN" sz="1280" b="1" dirty="0">
                  <a:solidFill>
                    <a:srgbClr val="1A1A1A"/>
                  </a:solidFill>
                  <a:latin typeface="Arial"/>
                  <a:ea typeface="Microsoft YaHei"/>
                  <a:cs typeface="Arial"/>
                </a:rPr>
                <a:t>、</a:t>
              </a:r>
              <a:r>
                <a:rPr lang="zh-CN" sz="1280" b="1" dirty="0">
                  <a:solidFill>
                    <a:srgbClr val="E9002F"/>
                  </a:solidFill>
                  <a:latin typeface="Arial"/>
                  <a:ea typeface="Microsoft YaHei"/>
                  <a:cs typeface="Arial"/>
                </a:rPr>
                <a:t>OEU合资节点</a:t>
              </a:r>
              <a:r>
                <a:rPr lang="zh-CN" sz="1280" b="1" dirty="0">
                  <a:solidFill>
                    <a:srgbClr val="1A1A1A"/>
                  </a:solidFill>
                  <a:latin typeface="Arial"/>
                  <a:ea typeface="Microsoft YaHei"/>
                  <a:cs typeface="Arial"/>
                </a:rPr>
                <a:t>、</a:t>
              </a:r>
              <a:r>
                <a:rPr lang="zh-CN" sz="1280" b="1" dirty="0">
                  <a:solidFill>
                    <a:srgbClr val="8A6D00"/>
                  </a:solidFill>
                  <a:latin typeface="Arial"/>
                  <a:ea typeface="Microsoft YaHei"/>
                  <a:cs typeface="Arial"/>
                </a:rPr>
                <a:t>OMEA尚在G3计划孵化</a:t>
              </a:r>
            </a:p>
          </p:txBody>
        </p:sp>
      </p:grpSp>
      <p:grpSp>
        <p:nvGrpSpPr>
          <p:cNvPr id="51" name="Group 51"/>
          <p:cNvGrpSpPr/>
          <p:nvPr/>
        </p:nvGrpSpPr>
        <p:grpSpPr>
          <a:xfrm>
            <a:off x="528447" y="6562249"/>
            <a:ext cx="11135106" cy="190690"/>
            <a:chOff x="528447" y="6562249"/>
            <a:chExt cx="11135106" cy="190690"/>
          </a:xfrm>
        </p:grpSpPr>
        <p:sp>
          <p:nvSpPr>
            <p:cNvPr id="49" name="TextBox 49"/>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0" name="TextBox 50"/>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3494" y="227648"/>
            <a:ext cx="11135106" cy="562927"/>
            <a:chOff x="523494" y="227648"/>
            <a:chExt cx="11135106" cy="562927"/>
          </a:xfrm>
        </p:grpSpPr>
        <p:sp>
          <p:nvSpPr>
            <p:cNvPr id="3" name="TextBox 3"/>
            <p:cNvSpPr txBox="1"/>
            <p:nvPr/>
          </p:nvSpPr>
          <p:spPr>
            <a:xfrm>
              <a:off x="523494" y="227648"/>
              <a:ext cx="10504322" cy="381381"/>
            </a:xfrm>
            <a:prstGeom prst="rect">
              <a:avLst/>
            </a:prstGeom>
            <a:noFill/>
            <a:ln>
              <a:noFill/>
            </a:ln>
          </p:spPr>
          <p:txBody>
            <a:bodyPr wrap="none" lIns="0" tIns="0" rIns="0" bIns="0" anchor="t" anchorCtr="0">
              <a:spAutoFit/>
            </a:bodyPr>
            <a:lstStyle/>
            <a:p>
              <a:pPr algn="l"/>
              <a:r>
                <a:rPr lang="zh-CN" sz="1950" b="1" dirty="0">
                  <a:solidFill>
                    <a:srgbClr val="1A1A1A"/>
                  </a:solidFill>
                  <a:latin typeface="Arial"/>
                  <a:ea typeface="Microsoft YaHei"/>
                  <a:cs typeface="Arial"/>
                </a:rPr>
                <a:t>集成/转售＝非管理服务的项目招标业务——</a:t>
              </a:r>
              <a:r>
                <a:rPr lang="zh-CN" sz="1950" b="1" dirty="0">
                  <a:solidFill>
                    <a:srgbClr val="E9002F"/>
                  </a:solidFill>
                  <a:latin typeface="Arial"/>
                  <a:ea typeface="Microsoft YaHei"/>
                  <a:cs typeface="Arial"/>
                </a:rPr>
                <a:t>OB的2,080M€按行业招标分布高度分散</a:t>
              </a:r>
            </a:p>
          </p:txBody>
        </p:sp>
        <p:sp>
          <p:nvSpPr>
            <p:cNvPr id="4" name="TextBox 4"/>
            <p:cNvSpPr txBox="1"/>
            <p:nvPr/>
          </p:nvSpPr>
          <p:spPr>
            <a:xfrm>
              <a:off x="527685" y="545306"/>
              <a:ext cx="8628793"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定义：业主以项目形式发起招标，运营商应标方式展开的一次性/非经常性收入，涵盖硬件转售、软件license、垂直行业系统集成</a:t>
              </a:r>
            </a:p>
          </p:txBody>
        </p:sp>
        <p:sp>
          <p:nvSpPr>
            <p:cNvPr id="5" name="Line 5"/>
            <p:cNvSpPr/>
            <p:nvPr/>
          </p:nvSpPr>
          <p:spPr>
            <a:xfrm>
              <a:off x="533400" y="78105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61" name="Group 61"/>
          <p:cNvGrpSpPr/>
          <p:nvPr/>
        </p:nvGrpSpPr>
        <p:grpSpPr>
          <a:xfrm>
            <a:off x="528066" y="953452"/>
            <a:ext cx="6672834" cy="3792855"/>
            <a:chOff x="528066" y="953452"/>
            <a:chExt cx="6672834" cy="3792855"/>
          </a:xfrm>
        </p:grpSpPr>
        <p:sp>
          <p:nvSpPr>
            <p:cNvPr id="7" name="TextBox 7"/>
            <p:cNvSpPr txBox="1"/>
            <p:nvPr/>
          </p:nvSpPr>
          <p:spPr>
            <a:xfrm>
              <a:off x="528066" y="953452"/>
              <a:ext cx="5686925"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OB · 按行业招标类型的收入分布（估，总额2,080M€，IT&amp;Integration项目型部分）</a:t>
              </a:r>
            </a:p>
          </p:txBody>
        </p:sp>
        <p:sp>
          <p:nvSpPr>
            <p:cNvPr id="8" name="Line 8"/>
            <p:cNvSpPr/>
            <p:nvPr/>
          </p:nvSpPr>
          <p:spPr>
            <a:xfrm>
              <a:off x="533400" y="1162050"/>
              <a:ext cx="6667500" cy="9525"/>
            </a:xfrm>
            <a:custGeom>
              <a:avLst/>
              <a:gdLst/>
              <a:ahLst/>
              <a:cxnLst/>
              <a:rect l="l" t="t" r="r" b="b"/>
              <a:pathLst>
                <a:path w="6667500" h="9525">
                  <a:moveTo>
                    <a:pt x="0" y="0"/>
                  </a:moveTo>
                  <a:lnTo>
                    <a:pt x="6667500" y="0"/>
                  </a:lnTo>
                </a:path>
              </a:pathLst>
            </a:custGeom>
            <a:noFill/>
            <a:ln w="19050">
              <a:solidFill>
                <a:srgbClr val="CBD5E1"/>
              </a:solidFill>
            </a:ln>
          </p:spPr>
        </p:sp>
        <p:sp>
          <p:nvSpPr>
            <p:cNvPr id="9" name="TextBox 9"/>
            <p:cNvSpPr txBox="1"/>
            <p:nvPr/>
          </p:nvSpPr>
          <p:spPr>
            <a:xfrm>
              <a:off x="623888" y="1236345"/>
              <a:ext cx="842789" cy="176212"/>
            </a:xfrm>
            <a:prstGeom prst="rect">
              <a:avLst/>
            </a:prstGeom>
            <a:noFill/>
            <a:ln>
              <a:noFill/>
            </a:ln>
          </p:spPr>
          <p:txBody>
            <a:bodyPr wrap="none" lIns="0" tIns="0" rIns="0" bIns="0" anchor="t" anchorCtr="0">
              <a:spAutoFit/>
            </a:bodyPr>
            <a:lstStyle/>
            <a:p>
              <a:pPr algn="l"/>
              <a:r>
                <a:rPr lang="zh-CN" sz="900" b="1" dirty="0">
                  <a:solidFill>
                    <a:srgbClr val="6B6B6B"/>
                  </a:solidFill>
                  <a:latin typeface="Arial"/>
                  <a:ea typeface="Microsoft YaHei"/>
                  <a:cs typeface="Arial"/>
                </a:rPr>
                <a:t>行业/招标类型</a:t>
              </a:r>
            </a:p>
          </p:txBody>
        </p:sp>
        <p:sp>
          <p:nvSpPr>
            <p:cNvPr id="10" name="TextBox 10"/>
            <p:cNvSpPr txBox="1"/>
            <p:nvPr/>
          </p:nvSpPr>
          <p:spPr>
            <a:xfrm>
              <a:off x="3138488" y="1236345"/>
              <a:ext cx="263957" cy="176212"/>
            </a:xfrm>
            <a:prstGeom prst="rect">
              <a:avLst/>
            </a:prstGeom>
            <a:noFill/>
            <a:ln>
              <a:noFill/>
            </a:ln>
          </p:spPr>
          <p:txBody>
            <a:bodyPr wrap="none" lIns="0" tIns="0" rIns="0" bIns="0" anchor="t" anchorCtr="0">
              <a:spAutoFit/>
            </a:bodyPr>
            <a:lstStyle/>
            <a:p>
              <a:pPr algn="l"/>
              <a:r>
                <a:rPr lang="zh-CN" sz="900" b="1" dirty="0">
                  <a:solidFill>
                    <a:srgbClr val="6B6B6B"/>
                  </a:solidFill>
                  <a:latin typeface="Arial"/>
                  <a:ea typeface="Microsoft YaHei"/>
                  <a:cs typeface="Arial"/>
                </a:rPr>
                <a:t>占比</a:t>
              </a:r>
            </a:p>
          </p:txBody>
        </p:sp>
        <p:sp>
          <p:nvSpPr>
            <p:cNvPr id="11" name="TextBox 11"/>
            <p:cNvSpPr txBox="1"/>
            <p:nvPr/>
          </p:nvSpPr>
          <p:spPr>
            <a:xfrm>
              <a:off x="3805238" y="1236345"/>
              <a:ext cx="184267" cy="176212"/>
            </a:xfrm>
            <a:prstGeom prst="rect">
              <a:avLst/>
            </a:prstGeom>
            <a:noFill/>
            <a:ln>
              <a:noFill/>
            </a:ln>
          </p:spPr>
          <p:txBody>
            <a:bodyPr wrap="none" lIns="0" tIns="0" rIns="0" bIns="0" anchor="t" anchorCtr="0">
              <a:spAutoFit/>
            </a:bodyPr>
            <a:lstStyle/>
            <a:p>
              <a:pPr algn="l"/>
              <a:r>
                <a:rPr lang="en-US" sz="900" b="1" dirty="0">
                  <a:solidFill>
                    <a:srgbClr val="6B6B6B"/>
                  </a:solidFill>
                  <a:latin typeface="Arial"/>
                  <a:ea typeface="Arial"/>
                  <a:cs typeface="Arial"/>
                </a:rPr>
                <a:t>M€</a:t>
              </a:r>
            </a:p>
          </p:txBody>
        </p:sp>
        <p:sp>
          <p:nvSpPr>
            <p:cNvPr id="12" name="TextBox 12"/>
            <p:cNvSpPr txBox="1"/>
            <p:nvPr/>
          </p:nvSpPr>
          <p:spPr>
            <a:xfrm>
              <a:off x="4567238" y="1236345"/>
              <a:ext cx="970005" cy="176212"/>
            </a:xfrm>
            <a:prstGeom prst="rect">
              <a:avLst/>
            </a:prstGeom>
            <a:noFill/>
            <a:ln>
              <a:noFill/>
            </a:ln>
          </p:spPr>
          <p:txBody>
            <a:bodyPr wrap="none" lIns="0" tIns="0" rIns="0" bIns="0" anchor="t" anchorCtr="0">
              <a:spAutoFit/>
            </a:bodyPr>
            <a:lstStyle/>
            <a:p>
              <a:pPr algn="l"/>
              <a:r>
                <a:rPr lang="zh-CN" sz="900" b="1" dirty="0">
                  <a:solidFill>
                    <a:srgbClr val="6B6B6B"/>
                  </a:solidFill>
                  <a:latin typeface="Arial"/>
                  <a:ea typeface="Microsoft YaHei"/>
                  <a:cs typeface="Arial"/>
                </a:rPr>
                <a:t>代表性招标/项目</a:t>
              </a:r>
            </a:p>
          </p:txBody>
        </p:sp>
        <p:sp>
          <p:nvSpPr>
            <p:cNvPr id="13" name="Rectangle 13"/>
            <p:cNvSpPr/>
            <p:nvPr/>
          </p:nvSpPr>
          <p:spPr>
            <a:xfrm>
              <a:off x="533400" y="1409700"/>
              <a:ext cx="6667500" cy="285750"/>
            </a:xfrm>
            <a:prstGeom prst="rect">
              <a:avLst/>
            </a:prstGeom>
            <a:solidFill>
              <a:srgbClr val="FBF6F1"/>
            </a:solidFill>
            <a:ln>
              <a:noFill/>
            </a:ln>
          </p:spPr>
        </p:sp>
        <p:sp>
          <p:nvSpPr>
            <p:cNvPr id="14" name="TextBox 14"/>
            <p:cNvSpPr txBox="1"/>
            <p:nvPr/>
          </p:nvSpPr>
          <p:spPr>
            <a:xfrm>
              <a:off x="623316" y="1486852"/>
              <a:ext cx="1049598"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国防与国土安全</a:t>
              </a:r>
            </a:p>
          </p:txBody>
        </p:sp>
        <p:sp>
          <p:nvSpPr>
            <p:cNvPr id="15" name="TextBox 15"/>
            <p:cNvSpPr txBox="1"/>
            <p:nvPr/>
          </p:nvSpPr>
          <p:spPr>
            <a:xfrm>
              <a:off x="3006217" y="1486852"/>
              <a:ext cx="28524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20%</a:t>
              </a:r>
            </a:p>
          </p:txBody>
        </p:sp>
        <p:sp>
          <p:nvSpPr>
            <p:cNvPr id="16" name="TextBox 16"/>
            <p:cNvSpPr txBox="1"/>
            <p:nvPr/>
          </p:nvSpPr>
          <p:spPr>
            <a:xfrm>
              <a:off x="3809562" y="148685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416</a:t>
              </a:r>
            </a:p>
          </p:txBody>
        </p:sp>
        <p:sp>
          <p:nvSpPr>
            <p:cNvPr id="17" name="TextBox 17"/>
            <p:cNvSpPr txBox="1"/>
            <p:nvPr/>
          </p:nvSpPr>
          <p:spPr>
            <a:xfrm>
              <a:off x="4567047" y="1494949"/>
              <a:ext cx="2003067"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军队部卫星通信框架(Telespazio)</a:t>
              </a:r>
            </a:p>
          </p:txBody>
        </p:sp>
        <p:sp>
          <p:nvSpPr>
            <p:cNvPr id="18" name="TextBox 18"/>
            <p:cNvSpPr txBox="1"/>
            <p:nvPr/>
          </p:nvSpPr>
          <p:spPr>
            <a:xfrm>
              <a:off x="623316" y="1772602"/>
              <a:ext cx="1428065"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公共部门/政府信息化</a:t>
              </a:r>
            </a:p>
          </p:txBody>
        </p:sp>
        <p:sp>
          <p:nvSpPr>
            <p:cNvPr id="19" name="TextBox 19"/>
            <p:cNvSpPr txBox="1"/>
            <p:nvPr/>
          </p:nvSpPr>
          <p:spPr>
            <a:xfrm>
              <a:off x="3006217" y="1772602"/>
              <a:ext cx="28524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18%</a:t>
              </a:r>
            </a:p>
          </p:txBody>
        </p:sp>
        <p:sp>
          <p:nvSpPr>
            <p:cNvPr id="20" name="TextBox 20"/>
            <p:cNvSpPr txBox="1"/>
            <p:nvPr/>
          </p:nvSpPr>
          <p:spPr>
            <a:xfrm>
              <a:off x="3809562" y="177260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374</a:t>
              </a:r>
            </a:p>
          </p:txBody>
        </p:sp>
        <p:sp>
          <p:nvSpPr>
            <p:cNvPr id="21" name="TextBox 21"/>
            <p:cNvSpPr txBox="1"/>
            <p:nvPr/>
          </p:nvSpPr>
          <p:spPr>
            <a:xfrm>
              <a:off x="4567047" y="1780699"/>
              <a:ext cx="142448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UGAP电信服务框架协议</a:t>
              </a:r>
            </a:p>
          </p:txBody>
        </p:sp>
        <p:sp>
          <p:nvSpPr>
            <p:cNvPr id="22" name="Rectangle 22"/>
            <p:cNvSpPr/>
            <p:nvPr/>
          </p:nvSpPr>
          <p:spPr>
            <a:xfrm>
              <a:off x="533400" y="1981200"/>
              <a:ext cx="6667500" cy="285750"/>
            </a:xfrm>
            <a:prstGeom prst="rect">
              <a:avLst/>
            </a:prstGeom>
            <a:solidFill>
              <a:srgbClr val="FBF6F1"/>
            </a:solidFill>
            <a:ln>
              <a:noFill/>
            </a:ln>
          </p:spPr>
        </p:sp>
        <p:sp>
          <p:nvSpPr>
            <p:cNvPr id="23" name="TextBox 23"/>
            <p:cNvSpPr txBox="1"/>
            <p:nvPr/>
          </p:nvSpPr>
          <p:spPr>
            <a:xfrm>
              <a:off x="623316" y="2058352"/>
              <a:ext cx="1361277"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医疗健康(医院集团)</a:t>
              </a:r>
            </a:p>
          </p:txBody>
        </p:sp>
        <p:sp>
          <p:nvSpPr>
            <p:cNvPr id="24" name="TextBox 24"/>
            <p:cNvSpPr txBox="1"/>
            <p:nvPr/>
          </p:nvSpPr>
          <p:spPr>
            <a:xfrm>
              <a:off x="3006217" y="2058352"/>
              <a:ext cx="28524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12%</a:t>
              </a:r>
            </a:p>
          </p:txBody>
        </p:sp>
        <p:sp>
          <p:nvSpPr>
            <p:cNvPr id="25" name="TextBox 25"/>
            <p:cNvSpPr txBox="1"/>
            <p:nvPr/>
          </p:nvSpPr>
          <p:spPr>
            <a:xfrm>
              <a:off x="3809562" y="205835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250</a:t>
              </a:r>
            </a:p>
          </p:txBody>
        </p:sp>
        <p:sp>
          <p:nvSpPr>
            <p:cNvPr id="26" name="TextBox 26"/>
            <p:cNvSpPr txBox="1"/>
            <p:nvPr/>
          </p:nvSpPr>
          <p:spPr>
            <a:xfrm>
              <a:off x="4567047" y="2066449"/>
              <a:ext cx="120952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GHT网络与托管框架</a:t>
              </a:r>
            </a:p>
          </p:txBody>
        </p:sp>
        <p:sp>
          <p:nvSpPr>
            <p:cNvPr id="27" name="TextBox 27"/>
            <p:cNvSpPr txBox="1"/>
            <p:nvPr/>
          </p:nvSpPr>
          <p:spPr>
            <a:xfrm>
              <a:off x="623316" y="2344102"/>
              <a:ext cx="604342"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金融保险</a:t>
              </a:r>
            </a:p>
          </p:txBody>
        </p:sp>
        <p:sp>
          <p:nvSpPr>
            <p:cNvPr id="28" name="TextBox 28"/>
            <p:cNvSpPr txBox="1"/>
            <p:nvPr/>
          </p:nvSpPr>
          <p:spPr>
            <a:xfrm>
              <a:off x="3006217" y="2344102"/>
              <a:ext cx="28524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10%</a:t>
              </a:r>
            </a:p>
          </p:txBody>
        </p:sp>
        <p:sp>
          <p:nvSpPr>
            <p:cNvPr id="29" name="TextBox 29"/>
            <p:cNvSpPr txBox="1"/>
            <p:nvPr/>
          </p:nvSpPr>
          <p:spPr>
            <a:xfrm>
              <a:off x="3809562" y="234410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208</a:t>
              </a:r>
            </a:p>
          </p:txBody>
        </p:sp>
        <p:sp>
          <p:nvSpPr>
            <p:cNvPr id="30" name="TextBox 30"/>
            <p:cNvSpPr txBox="1"/>
            <p:nvPr/>
          </p:nvSpPr>
          <p:spPr>
            <a:xfrm>
              <a:off x="4567047" y="2352199"/>
              <a:ext cx="1394641"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数据分析/核心系统集成</a:t>
              </a:r>
            </a:p>
          </p:txBody>
        </p:sp>
        <p:sp>
          <p:nvSpPr>
            <p:cNvPr id="31" name="Rectangle 31"/>
            <p:cNvSpPr/>
            <p:nvPr/>
          </p:nvSpPr>
          <p:spPr>
            <a:xfrm>
              <a:off x="533400" y="2552700"/>
              <a:ext cx="6667500" cy="285750"/>
            </a:xfrm>
            <a:prstGeom prst="rect">
              <a:avLst/>
            </a:prstGeom>
            <a:solidFill>
              <a:srgbClr val="FBF6F1"/>
            </a:solidFill>
            <a:ln>
              <a:noFill/>
            </a:ln>
          </p:spPr>
        </p:sp>
        <p:sp>
          <p:nvSpPr>
            <p:cNvPr id="32" name="TextBox 32"/>
            <p:cNvSpPr txBox="1"/>
            <p:nvPr/>
          </p:nvSpPr>
          <p:spPr>
            <a:xfrm>
              <a:off x="623316" y="2629852"/>
              <a:ext cx="1279647"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交通运输/机场枢纽</a:t>
              </a:r>
            </a:p>
          </p:txBody>
        </p:sp>
        <p:sp>
          <p:nvSpPr>
            <p:cNvPr id="33" name="TextBox 33"/>
            <p:cNvSpPr txBox="1"/>
            <p:nvPr/>
          </p:nvSpPr>
          <p:spPr>
            <a:xfrm>
              <a:off x="3087847" y="2629852"/>
              <a:ext cx="20361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8%</a:t>
              </a:r>
            </a:p>
          </p:txBody>
        </p:sp>
        <p:sp>
          <p:nvSpPr>
            <p:cNvPr id="34" name="TextBox 34"/>
            <p:cNvSpPr txBox="1"/>
            <p:nvPr/>
          </p:nvSpPr>
          <p:spPr>
            <a:xfrm>
              <a:off x="3809562" y="262985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166</a:t>
              </a:r>
            </a:p>
          </p:txBody>
        </p:sp>
        <p:sp>
          <p:nvSpPr>
            <p:cNvPr id="35" name="TextBox 35"/>
            <p:cNvSpPr txBox="1"/>
            <p:nvPr/>
          </p:nvSpPr>
          <p:spPr>
            <a:xfrm>
              <a:off x="4567047" y="2637949"/>
              <a:ext cx="1643034"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Wi-Fi/专网集成(交通枢纽)</a:t>
              </a:r>
            </a:p>
          </p:txBody>
        </p:sp>
        <p:sp>
          <p:nvSpPr>
            <p:cNvPr id="36" name="TextBox 36"/>
            <p:cNvSpPr txBox="1"/>
            <p:nvPr/>
          </p:nvSpPr>
          <p:spPr>
            <a:xfrm>
              <a:off x="623316" y="2915602"/>
              <a:ext cx="604342"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零售物流</a:t>
              </a:r>
            </a:p>
          </p:txBody>
        </p:sp>
        <p:sp>
          <p:nvSpPr>
            <p:cNvPr id="37" name="TextBox 37"/>
            <p:cNvSpPr txBox="1"/>
            <p:nvPr/>
          </p:nvSpPr>
          <p:spPr>
            <a:xfrm>
              <a:off x="3087847" y="2915602"/>
              <a:ext cx="20361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8%</a:t>
              </a:r>
            </a:p>
          </p:txBody>
        </p:sp>
        <p:sp>
          <p:nvSpPr>
            <p:cNvPr id="38" name="TextBox 38"/>
            <p:cNvSpPr txBox="1"/>
            <p:nvPr/>
          </p:nvSpPr>
          <p:spPr>
            <a:xfrm>
              <a:off x="3809562" y="291560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166</a:t>
              </a:r>
            </a:p>
          </p:txBody>
        </p:sp>
        <p:sp>
          <p:nvSpPr>
            <p:cNvPr id="39" name="TextBox 39"/>
            <p:cNvSpPr txBox="1"/>
            <p:nvPr/>
          </p:nvSpPr>
          <p:spPr>
            <a:xfrm>
              <a:off x="4567047" y="2923699"/>
              <a:ext cx="1132132"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企业硬件转售/终端</a:t>
              </a:r>
            </a:p>
          </p:txBody>
        </p:sp>
        <p:sp>
          <p:nvSpPr>
            <p:cNvPr id="40" name="Rectangle 40"/>
            <p:cNvSpPr/>
            <p:nvPr/>
          </p:nvSpPr>
          <p:spPr>
            <a:xfrm>
              <a:off x="533400" y="3124200"/>
              <a:ext cx="6667500" cy="285750"/>
            </a:xfrm>
            <a:prstGeom prst="rect">
              <a:avLst/>
            </a:prstGeom>
            <a:solidFill>
              <a:srgbClr val="FBF6F1"/>
            </a:solidFill>
            <a:ln>
              <a:noFill/>
            </a:ln>
          </p:spPr>
        </p:sp>
        <p:sp>
          <p:nvSpPr>
            <p:cNvPr id="41" name="TextBox 41"/>
            <p:cNvSpPr txBox="1"/>
            <p:nvPr/>
          </p:nvSpPr>
          <p:spPr>
            <a:xfrm>
              <a:off x="623316" y="3201352"/>
              <a:ext cx="901179"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能源公用事业</a:t>
              </a:r>
            </a:p>
          </p:txBody>
        </p:sp>
        <p:sp>
          <p:nvSpPr>
            <p:cNvPr id="42" name="TextBox 42"/>
            <p:cNvSpPr txBox="1"/>
            <p:nvPr/>
          </p:nvSpPr>
          <p:spPr>
            <a:xfrm>
              <a:off x="3087847" y="3201352"/>
              <a:ext cx="20361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8%</a:t>
              </a:r>
            </a:p>
          </p:txBody>
        </p:sp>
        <p:sp>
          <p:nvSpPr>
            <p:cNvPr id="43" name="TextBox 43"/>
            <p:cNvSpPr txBox="1"/>
            <p:nvPr/>
          </p:nvSpPr>
          <p:spPr>
            <a:xfrm>
              <a:off x="3809562" y="320135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166</a:t>
              </a:r>
            </a:p>
          </p:txBody>
        </p:sp>
        <p:sp>
          <p:nvSpPr>
            <p:cNvPr id="44" name="TextBox 44"/>
            <p:cNvSpPr txBox="1"/>
            <p:nvPr/>
          </p:nvSpPr>
          <p:spPr>
            <a:xfrm>
              <a:off x="4567047" y="3209449"/>
              <a:ext cx="1403680"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SD-WAN/安全改造项目</a:t>
              </a:r>
            </a:p>
          </p:txBody>
        </p:sp>
        <p:sp>
          <p:nvSpPr>
            <p:cNvPr id="45" name="TextBox 45"/>
            <p:cNvSpPr txBox="1"/>
            <p:nvPr/>
          </p:nvSpPr>
          <p:spPr>
            <a:xfrm>
              <a:off x="623316" y="3487102"/>
              <a:ext cx="604342"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工业制造</a:t>
              </a:r>
            </a:p>
          </p:txBody>
        </p:sp>
        <p:sp>
          <p:nvSpPr>
            <p:cNvPr id="46" name="TextBox 46"/>
            <p:cNvSpPr txBox="1"/>
            <p:nvPr/>
          </p:nvSpPr>
          <p:spPr>
            <a:xfrm>
              <a:off x="3087847" y="3487102"/>
              <a:ext cx="20361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7%</a:t>
              </a:r>
            </a:p>
          </p:txBody>
        </p:sp>
        <p:sp>
          <p:nvSpPr>
            <p:cNvPr id="47" name="TextBox 47"/>
            <p:cNvSpPr txBox="1"/>
            <p:nvPr/>
          </p:nvSpPr>
          <p:spPr>
            <a:xfrm>
              <a:off x="3809562" y="348710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146</a:t>
              </a:r>
            </a:p>
          </p:txBody>
        </p:sp>
        <p:sp>
          <p:nvSpPr>
            <p:cNvPr id="48" name="TextBox 48"/>
            <p:cNvSpPr txBox="1"/>
            <p:nvPr/>
          </p:nvSpPr>
          <p:spPr>
            <a:xfrm>
              <a:off x="4567047" y="3495199"/>
              <a:ext cx="1059942"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企业网络设备供应</a:t>
              </a:r>
            </a:p>
          </p:txBody>
        </p:sp>
        <p:sp>
          <p:nvSpPr>
            <p:cNvPr id="49" name="Rectangle 49"/>
            <p:cNvSpPr/>
            <p:nvPr/>
          </p:nvSpPr>
          <p:spPr>
            <a:xfrm>
              <a:off x="533400" y="3695700"/>
              <a:ext cx="6667500" cy="285750"/>
            </a:xfrm>
            <a:prstGeom prst="rect">
              <a:avLst/>
            </a:prstGeom>
            <a:solidFill>
              <a:srgbClr val="FBF6F1"/>
            </a:solidFill>
            <a:ln>
              <a:noFill/>
            </a:ln>
          </p:spPr>
        </p:sp>
        <p:sp>
          <p:nvSpPr>
            <p:cNvPr id="50" name="TextBox 50"/>
            <p:cNvSpPr txBox="1"/>
            <p:nvPr/>
          </p:nvSpPr>
          <p:spPr>
            <a:xfrm>
              <a:off x="623316" y="3772852"/>
              <a:ext cx="307505"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教育</a:t>
              </a:r>
            </a:p>
          </p:txBody>
        </p:sp>
        <p:sp>
          <p:nvSpPr>
            <p:cNvPr id="51" name="TextBox 51"/>
            <p:cNvSpPr txBox="1"/>
            <p:nvPr/>
          </p:nvSpPr>
          <p:spPr>
            <a:xfrm>
              <a:off x="3087847" y="3772852"/>
              <a:ext cx="20361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5%</a:t>
              </a:r>
            </a:p>
          </p:txBody>
        </p:sp>
        <p:sp>
          <p:nvSpPr>
            <p:cNvPr id="52" name="TextBox 52"/>
            <p:cNvSpPr txBox="1"/>
            <p:nvPr/>
          </p:nvSpPr>
          <p:spPr>
            <a:xfrm>
              <a:off x="3809562" y="3772852"/>
              <a:ext cx="243897"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104</a:t>
              </a:r>
            </a:p>
          </p:txBody>
        </p:sp>
        <p:sp>
          <p:nvSpPr>
            <p:cNvPr id="53" name="TextBox 53"/>
            <p:cNvSpPr txBox="1"/>
            <p:nvPr/>
          </p:nvSpPr>
          <p:spPr>
            <a:xfrm>
              <a:off x="4567047" y="3780949"/>
              <a:ext cx="1191197"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数字化工作场所项目</a:t>
              </a:r>
            </a:p>
          </p:txBody>
        </p:sp>
        <p:sp>
          <p:nvSpPr>
            <p:cNvPr id="54" name="TextBox 54"/>
            <p:cNvSpPr txBox="1"/>
            <p:nvPr/>
          </p:nvSpPr>
          <p:spPr>
            <a:xfrm>
              <a:off x="623316" y="4058602"/>
              <a:ext cx="1739744" cy="205359"/>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其他(智慧城市/地方政府)</a:t>
              </a:r>
            </a:p>
          </p:txBody>
        </p:sp>
        <p:sp>
          <p:nvSpPr>
            <p:cNvPr id="55" name="TextBox 55"/>
            <p:cNvSpPr txBox="1"/>
            <p:nvPr/>
          </p:nvSpPr>
          <p:spPr>
            <a:xfrm>
              <a:off x="3087847" y="4058602"/>
              <a:ext cx="203612" cy="205359"/>
            </a:xfrm>
            <a:prstGeom prst="rect">
              <a:avLst/>
            </a:prstGeom>
            <a:noFill/>
            <a:ln>
              <a:noFill/>
            </a:ln>
          </p:spPr>
          <p:txBody>
            <a:bodyPr wrap="none" lIns="0" tIns="0" rIns="0" bIns="0" anchor="t" anchorCtr="0">
              <a:spAutoFit/>
            </a:bodyPr>
            <a:lstStyle/>
            <a:p>
              <a:pPr algn="r"/>
              <a:r>
                <a:rPr lang="en-US" sz="1050" b="1" dirty="0">
                  <a:solidFill>
                    <a:srgbClr val="C7000A"/>
                  </a:solidFill>
                  <a:latin typeface="Arial"/>
                  <a:ea typeface="Arial"/>
                  <a:cs typeface="Arial"/>
                </a:rPr>
                <a:t>4%</a:t>
              </a:r>
            </a:p>
          </p:txBody>
        </p:sp>
        <p:sp>
          <p:nvSpPr>
            <p:cNvPr id="56" name="TextBox 56"/>
            <p:cNvSpPr txBox="1"/>
            <p:nvPr/>
          </p:nvSpPr>
          <p:spPr>
            <a:xfrm>
              <a:off x="3887305" y="4058602"/>
              <a:ext cx="166154" cy="205359"/>
            </a:xfrm>
            <a:prstGeom prst="rect">
              <a:avLst/>
            </a:prstGeom>
            <a:noFill/>
            <a:ln>
              <a:noFill/>
            </a:ln>
          </p:spPr>
          <p:txBody>
            <a:bodyPr wrap="none" lIns="0" tIns="0" rIns="0" bIns="0" anchor="t" anchorCtr="0">
              <a:spAutoFit/>
            </a:bodyPr>
            <a:lstStyle/>
            <a:p>
              <a:pPr algn="r"/>
              <a:r>
                <a:rPr lang="en-US" sz="1050" dirty="0">
                  <a:solidFill>
                    <a:srgbClr val="1A1A1A"/>
                  </a:solidFill>
                  <a:latin typeface="Arial"/>
                  <a:ea typeface="Arial"/>
                  <a:cs typeface="Arial"/>
                </a:rPr>
                <a:t>84</a:t>
              </a:r>
            </a:p>
          </p:txBody>
        </p:sp>
        <p:sp>
          <p:nvSpPr>
            <p:cNvPr id="57" name="TextBox 57"/>
            <p:cNvSpPr txBox="1"/>
            <p:nvPr/>
          </p:nvSpPr>
          <p:spPr>
            <a:xfrm>
              <a:off x="4567047" y="4066699"/>
              <a:ext cx="1426464"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IoT计量与视频安防集成</a:t>
              </a:r>
            </a:p>
          </p:txBody>
        </p:sp>
        <p:sp>
          <p:nvSpPr>
            <p:cNvPr id="58" name="Line 58"/>
            <p:cNvSpPr/>
            <p:nvPr/>
          </p:nvSpPr>
          <p:spPr>
            <a:xfrm>
              <a:off x="533400" y="4286250"/>
              <a:ext cx="6667500" cy="9525"/>
            </a:xfrm>
            <a:custGeom>
              <a:avLst/>
              <a:gdLst/>
              <a:ahLst/>
              <a:cxnLst/>
              <a:rect l="l" t="t" r="r" b="b"/>
              <a:pathLst>
                <a:path w="6667500" h="9525">
                  <a:moveTo>
                    <a:pt x="0" y="0"/>
                  </a:moveTo>
                  <a:lnTo>
                    <a:pt x="6667500" y="0"/>
                  </a:lnTo>
                </a:path>
              </a:pathLst>
            </a:custGeom>
            <a:noFill/>
            <a:ln w="19050">
              <a:solidFill>
                <a:srgbClr val="1A1A1A"/>
              </a:solidFill>
            </a:ln>
          </p:spPr>
        </p:sp>
        <p:sp>
          <p:nvSpPr>
            <p:cNvPr id="59" name="TextBox 59"/>
            <p:cNvSpPr txBox="1"/>
            <p:nvPr/>
          </p:nvSpPr>
          <p:spPr>
            <a:xfrm>
              <a:off x="623697" y="4371499"/>
              <a:ext cx="3606676" cy="190690"/>
            </a:xfrm>
            <a:prstGeom prst="rect">
              <a:avLst/>
            </a:prstGeom>
            <a:noFill/>
            <a:ln>
              <a:noFill/>
            </a:ln>
          </p:spPr>
          <p:txBody>
            <a:bodyPr wrap="none" lIns="0" tIns="0" rIns="0" bIns="0" anchor="t" anchorCtr="0">
              <a:spAutoFit/>
            </a:bodyPr>
            <a:lstStyle/>
            <a:p>
              <a:pPr algn="l"/>
              <a:r>
                <a:rPr lang="zh-CN" sz="980" b="1" dirty="0">
                  <a:solidFill>
                    <a:srgbClr val="1A1A1A"/>
                  </a:solidFill>
                  <a:latin typeface="Arial"/>
                  <a:ea typeface="Microsoft YaHei"/>
                  <a:cs typeface="Arial"/>
                </a:rPr>
                <a:t>国防+公共部门合计38%，是OB集成转售的最大单一板块</a:t>
              </a:r>
            </a:p>
          </p:txBody>
        </p:sp>
        <p:sp>
          <p:nvSpPr>
            <p:cNvPr id="60" name="TextBox 60"/>
            <p:cNvSpPr txBox="1"/>
            <p:nvPr/>
          </p:nvSpPr>
          <p:spPr>
            <a:xfrm>
              <a:off x="623888" y="4570095"/>
              <a:ext cx="3435668" cy="176212"/>
            </a:xfrm>
            <a:prstGeom prst="rect">
              <a:avLst/>
            </a:prstGeom>
            <a:noFill/>
            <a:ln>
              <a:noFill/>
            </a:ln>
          </p:spPr>
          <p:txBody>
            <a:bodyPr wrap="none" lIns="0" tIns="0" rIns="0" bIns="0" anchor="t" anchorCtr="0">
              <a:spAutoFit/>
            </a:bodyPr>
            <a:lstStyle/>
            <a:p>
              <a:pPr algn="l"/>
              <a:r>
                <a:rPr lang="zh-CN" sz="900" dirty="0">
                  <a:solidFill>
                    <a:srgbClr val="9B9B9B"/>
                  </a:solidFill>
                  <a:latin typeface="Arial"/>
                  <a:ea typeface="Microsoft YaHei"/>
                  <a:cs typeface="Arial"/>
                </a:rPr>
                <a:t>口径参考原始材料Aena案例结构，按OB已知垂直布局估算分布</a:t>
              </a:r>
            </a:p>
          </p:txBody>
        </p:sp>
      </p:grpSp>
      <p:grpSp>
        <p:nvGrpSpPr>
          <p:cNvPr id="78" name="Group 78"/>
          <p:cNvGrpSpPr/>
          <p:nvPr/>
        </p:nvGrpSpPr>
        <p:grpSpPr>
          <a:xfrm>
            <a:off x="528447" y="4847749"/>
            <a:ext cx="5247323" cy="1568767"/>
            <a:chOff x="528447" y="4847749"/>
            <a:chExt cx="5247323" cy="1568767"/>
          </a:xfrm>
        </p:grpSpPr>
        <p:sp>
          <p:nvSpPr>
            <p:cNvPr id="62" name="TextBox 62"/>
            <p:cNvSpPr txBox="1"/>
            <p:nvPr/>
          </p:nvSpPr>
          <p:spPr>
            <a:xfrm>
              <a:off x="528447" y="4847749"/>
              <a:ext cx="2904068" cy="190690"/>
            </a:xfrm>
            <a:prstGeom prst="rect">
              <a:avLst/>
            </a:prstGeom>
            <a:noFill/>
            <a:ln>
              <a:noFill/>
            </a:ln>
          </p:spPr>
          <p:txBody>
            <a:bodyPr wrap="none" lIns="0" tIns="0" rIns="0" bIns="0" anchor="t" anchorCtr="0">
              <a:spAutoFit/>
            </a:bodyPr>
            <a:lstStyle/>
            <a:p>
              <a:pPr algn="l"/>
              <a:r>
                <a:rPr lang="zh-CN" sz="980" b="1" dirty="0">
                  <a:solidFill>
                    <a:srgbClr val="1A1A1A"/>
                  </a:solidFill>
                  <a:latin typeface="Arial"/>
                  <a:ea typeface="Microsoft YaHei"/>
                  <a:cs typeface="Arial"/>
                </a:rPr>
                <a:t>附：办公终端厂商份额（估，硬件转售子品类）</a:t>
              </a:r>
            </a:p>
          </p:txBody>
        </p:sp>
        <p:grpSp>
          <p:nvGrpSpPr>
            <p:cNvPr id="76" name="Group 76"/>
            <p:cNvGrpSpPr/>
            <p:nvPr/>
          </p:nvGrpSpPr>
          <p:grpSpPr>
            <a:xfrm>
              <a:off x="762000" y="5455920"/>
              <a:ext cx="3095625" cy="960596"/>
              <a:chOff x="762000" y="5455920"/>
              <a:chExt cx="3095625" cy="960596"/>
            </a:xfrm>
          </p:grpSpPr>
          <p:sp>
            <p:nvSpPr>
              <p:cNvPr id="63" name="Line 63"/>
              <p:cNvSpPr/>
              <p:nvPr/>
            </p:nvSpPr>
            <p:spPr>
              <a:xfrm>
                <a:off x="762000" y="61912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64" name="Rectangle 64"/>
              <p:cNvSpPr/>
              <p:nvPr/>
            </p:nvSpPr>
            <p:spPr>
              <a:xfrm>
                <a:off x="904875" y="5619750"/>
                <a:ext cx="476250" cy="571500"/>
              </a:xfrm>
              <a:prstGeom prst="rect">
                <a:avLst/>
              </a:prstGeom>
              <a:solidFill>
                <a:srgbClr val="C7C2B8"/>
              </a:solidFill>
              <a:ln>
                <a:noFill/>
              </a:ln>
            </p:spPr>
          </p:sp>
          <p:sp>
            <p:nvSpPr>
              <p:cNvPr id="65" name="TextBox 65"/>
              <p:cNvSpPr txBox="1"/>
              <p:nvPr/>
            </p:nvSpPr>
            <p:spPr>
              <a:xfrm>
                <a:off x="1020563" y="5455920"/>
                <a:ext cx="244874" cy="176212"/>
              </a:xfrm>
              <a:prstGeom prst="rect">
                <a:avLst/>
              </a:prstGeom>
              <a:noFill/>
              <a:ln>
                <a:noFill/>
              </a:ln>
            </p:spPr>
            <p:txBody>
              <a:bodyPr wrap="none" lIns="0" tIns="0" rIns="0" bIns="0" anchor="t" anchorCtr="0">
                <a:spAutoFit/>
              </a:bodyPr>
              <a:lstStyle/>
              <a:p>
                <a:pPr algn="ctr"/>
                <a:r>
                  <a:rPr lang="en-US" sz="900" b="1" dirty="0">
                    <a:solidFill>
                      <a:srgbClr val="1A1A1A"/>
                    </a:solidFill>
                    <a:latin typeface="Arial"/>
                    <a:ea typeface="Arial"/>
                    <a:cs typeface="Arial"/>
                  </a:rPr>
                  <a:t>35%</a:t>
                </a:r>
              </a:p>
            </p:txBody>
          </p:sp>
          <p:sp>
            <p:nvSpPr>
              <p:cNvPr id="66" name="TextBox 66"/>
              <p:cNvSpPr txBox="1"/>
              <p:nvPr/>
            </p:nvSpPr>
            <p:spPr>
              <a:xfrm>
                <a:off x="1073696" y="6254591"/>
                <a:ext cx="138608" cy="161925"/>
              </a:xfrm>
              <a:prstGeom prst="rect">
                <a:avLst/>
              </a:prstGeom>
              <a:noFill/>
              <a:ln>
                <a:noFill/>
              </a:ln>
            </p:spPr>
            <p:txBody>
              <a:bodyPr wrap="none" lIns="0" tIns="0" rIns="0" bIns="0" anchor="t" anchorCtr="0">
                <a:spAutoFit/>
              </a:bodyPr>
              <a:lstStyle/>
              <a:p>
                <a:pPr algn="ctr"/>
                <a:r>
                  <a:rPr lang="en-US" sz="820" dirty="0">
                    <a:solidFill>
                      <a:srgbClr val="6B6B6B"/>
                    </a:solidFill>
                    <a:latin typeface="Arial"/>
                    <a:ea typeface="Arial"/>
                    <a:cs typeface="Arial"/>
                  </a:rPr>
                  <a:t>HP</a:t>
                </a:r>
              </a:p>
            </p:txBody>
          </p:sp>
          <p:sp>
            <p:nvSpPr>
              <p:cNvPr id="67" name="Rectangle 67"/>
              <p:cNvSpPr/>
              <p:nvPr/>
            </p:nvSpPr>
            <p:spPr>
              <a:xfrm>
                <a:off x="1571625" y="5781675"/>
                <a:ext cx="476250" cy="409575"/>
              </a:xfrm>
              <a:prstGeom prst="rect">
                <a:avLst/>
              </a:prstGeom>
              <a:solidFill>
                <a:srgbClr val="C7C2B8"/>
              </a:solidFill>
              <a:ln>
                <a:noFill/>
              </a:ln>
            </p:spPr>
          </p:sp>
          <p:sp>
            <p:nvSpPr>
              <p:cNvPr id="68" name="TextBox 68"/>
              <p:cNvSpPr txBox="1"/>
              <p:nvPr/>
            </p:nvSpPr>
            <p:spPr>
              <a:xfrm>
                <a:off x="1687313" y="5617845"/>
                <a:ext cx="244874" cy="176212"/>
              </a:xfrm>
              <a:prstGeom prst="rect">
                <a:avLst/>
              </a:prstGeom>
              <a:noFill/>
              <a:ln>
                <a:noFill/>
              </a:ln>
            </p:spPr>
            <p:txBody>
              <a:bodyPr wrap="none" lIns="0" tIns="0" rIns="0" bIns="0" anchor="t" anchorCtr="0">
                <a:spAutoFit/>
              </a:bodyPr>
              <a:lstStyle/>
              <a:p>
                <a:pPr algn="ctr"/>
                <a:r>
                  <a:rPr lang="en-US" sz="900" b="1" dirty="0">
                    <a:solidFill>
                      <a:srgbClr val="1A1A1A"/>
                    </a:solidFill>
                    <a:latin typeface="Arial"/>
                    <a:ea typeface="Arial"/>
                    <a:cs typeface="Arial"/>
                  </a:rPr>
                  <a:t>25%</a:t>
                </a:r>
              </a:p>
            </p:txBody>
          </p:sp>
          <p:sp>
            <p:nvSpPr>
              <p:cNvPr id="69" name="TextBox 69"/>
              <p:cNvSpPr txBox="1"/>
              <p:nvPr/>
            </p:nvSpPr>
            <p:spPr>
              <a:xfrm>
                <a:off x="1709249" y="6254591"/>
                <a:ext cx="201001" cy="161925"/>
              </a:xfrm>
              <a:prstGeom prst="rect">
                <a:avLst/>
              </a:prstGeom>
              <a:noFill/>
              <a:ln>
                <a:noFill/>
              </a:ln>
            </p:spPr>
            <p:txBody>
              <a:bodyPr wrap="none" lIns="0" tIns="0" rIns="0" bIns="0" anchor="t" anchorCtr="0">
                <a:spAutoFit/>
              </a:bodyPr>
              <a:lstStyle/>
              <a:p>
                <a:pPr algn="ctr"/>
                <a:r>
                  <a:rPr lang="en-US" sz="820" dirty="0">
                    <a:solidFill>
                      <a:srgbClr val="6B6B6B"/>
                    </a:solidFill>
                    <a:latin typeface="Arial"/>
                    <a:ea typeface="Arial"/>
                    <a:cs typeface="Arial"/>
                  </a:rPr>
                  <a:t>Dell</a:t>
                </a:r>
              </a:p>
            </p:txBody>
          </p:sp>
          <p:sp>
            <p:nvSpPr>
              <p:cNvPr id="70" name="Rectangle 70"/>
              <p:cNvSpPr/>
              <p:nvPr/>
            </p:nvSpPr>
            <p:spPr>
              <a:xfrm>
                <a:off x="2238375" y="5867400"/>
                <a:ext cx="476250" cy="323850"/>
              </a:xfrm>
              <a:prstGeom prst="rect">
                <a:avLst/>
              </a:prstGeom>
              <a:solidFill>
                <a:srgbClr val="C7C2B8"/>
              </a:solidFill>
              <a:ln>
                <a:noFill/>
              </a:ln>
            </p:spPr>
          </p:sp>
          <p:sp>
            <p:nvSpPr>
              <p:cNvPr id="71" name="TextBox 71"/>
              <p:cNvSpPr txBox="1"/>
              <p:nvPr/>
            </p:nvSpPr>
            <p:spPr>
              <a:xfrm>
                <a:off x="2354063" y="5703570"/>
                <a:ext cx="244874" cy="176212"/>
              </a:xfrm>
              <a:prstGeom prst="rect">
                <a:avLst/>
              </a:prstGeom>
              <a:noFill/>
              <a:ln>
                <a:noFill/>
              </a:ln>
            </p:spPr>
            <p:txBody>
              <a:bodyPr wrap="none" lIns="0" tIns="0" rIns="0" bIns="0" anchor="t" anchorCtr="0">
                <a:spAutoFit/>
              </a:bodyPr>
              <a:lstStyle/>
              <a:p>
                <a:pPr algn="ctr"/>
                <a:r>
                  <a:rPr lang="en-US" sz="900" b="1" dirty="0">
                    <a:solidFill>
                      <a:srgbClr val="1A1A1A"/>
                    </a:solidFill>
                    <a:latin typeface="Arial"/>
                    <a:ea typeface="Arial"/>
                    <a:cs typeface="Arial"/>
                  </a:rPr>
                  <a:t>20%</a:t>
                </a:r>
              </a:p>
            </p:txBody>
          </p:sp>
          <p:sp>
            <p:nvSpPr>
              <p:cNvPr id="72" name="TextBox 72"/>
              <p:cNvSpPr txBox="1"/>
              <p:nvPr/>
            </p:nvSpPr>
            <p:spPr>
              <a:xfrm>
                <a:off x="2286757" y="6254591"/>
                <a:ext cx="379486" cy="161925"/>
              </a:xfrm>
              <a:prstGeom prst="rect">
                <a:avLst/>
              </a:prstGeom>
              <a:noFill/>
              <a:ln>
                <a:noFill/>
              </a:ln>
            </p:spPr>
            <p:txBody>
              <a:bodyPr wrap="none" lIns="0" tIns="0" rIns="0" bIns="0" anchor="t" anchorCtr="0">
                <a:spAutoFit/>
              </a:bodyPr>
              <a:lstStyle/>
              <a:p>
                <a:pPr algn="ctr"/>
                <a:r>
                  <a:rPr lang="en-US" sz="820" dirty="0">
                    <a:solidFill>
                      <a:srgbClr val="6B6B6B"/>
                    </a:solidFill>
                    <a:latin typeface="Arial"/>
                    <a:ea typeface="Arial"/>
                    <a:cs typeface="Arial"/>
                  </a:rPr>
                  <a:t>Lenovo</a:t>
                </a:r>
              </a:p>
            </p:txBody>
          </p:sp>
          <p:sp>
            <p:nvSpPr>
              <p:cNvPr id="73" name="Rectangle 73"/>
              <p:cNvSpPr/>
              <p:nvPr/>
            </p:nvSpPr>
            <p:spPr>
              <a:xfrm>
                <a:off x="2905125" y="5943600"/>
                <a:ext cx="476250" cy="247650"/>
              </a:xfrm>
              <a:prstGeom prst="rect">
                <a:avLst/>
              </a:prstGeom>
              <a:solidFill>
                <a:srgbClr val="C7C2B8"/>
              </a:solidFill>
              <a:ln>
                <a:noFill/>
              </a:ln>
            </p:spPr>
          </p:sp>
          <p:sp>
            <p:nvSpPr>
              <p:cNvPr id="74" name="TextBox 74"/>
              <p:cNvSpPr txBox="1"/>
              <p:nvPr/>
            </p:nvSpPr>
            <p:spPr>
              <a:xfrm>
                <a:off x="3020813" y="5779770"/>
                <a:ext cx="244874" cy="176212"/>
              </a:xfrm>
              <a:prstGeom prst="rect">
                <a:avLst/>
              </a:prstGeom>
              <a:noFill/>
              <a:ln>
                <a:noFill/>
              </a:ln>
            </p:spPr>
            <p:txBody>
              <a:bodyPr wrap="none" lIns="0" tIns="0" rIns="0" bIns="0" anchor="t" anchorCtr="0">
                <a:spAutoFit/>
              </a:bodyPr>
              <a:lstStyle/>
              <a:p>
                <a:pPr algn="ctr"/>
                <a:r>
                  <a:rPr lang="en-US" sz="900" b="1" dirty="0">
                    <a:solidFill>
                      <a:srgbClr val="1A1A1A"/>
                    </a:solidFill>
                    <a:latin typeface="Arial"/>
                    <a:ea typeface="Arial"/>
                    <a:cs typeface="Arial"/>
                  </a:rPr>
                  <a:t>15%</a:t>
                </a:r>
              </a:p>
            </p:txBody>
          </p:sp>
          <p:sp>
            <p:nvSpPr>
              <p:cNvPr id="75" name="TextBox 75"/>
              <p:cNvSpPr txBox="1"/>
              <p:nvPr/>
            </p:nvSpPr>
            <p:spPr>
              <a:xfrm>
                <a:off x="2998089" y="6254591"/>
                <a:ext cx="290322" cy="161925"/>
              </a:xfrm>
              <a:prstGeom prst="rect">
                <a:avLst/>
              </a:prstGeom>
              <a:noFill/>
              <a:ln>
                <a:noFill/>
              </a:ln>
            </p:spPr>
            <p:txBody>
              <a:bodyPr wrap="none" lIns="0" tIns="0" rIns="0" bIns="0" anchor="t" anchorCtr="0">
                <a:spAutoFit/>
              </a:bodyPr>
              <a:lstStyle/>
              <a:p>
                <a:pPr algn="ctr"/>
                <a:r>
                  <a:rPr lang="en-US" sz="820" dirty="0">
                    <a:solidFill>
                      <a:srgbClr val="6B6B6B"/>
                    </a:solidFill>
                    <a:latin typeface="Arial"/>
                    <a:ea typeface="Arial"/>
                    <a:cs typeface="Arial"/>
                  </a:rPr>
                  <a:t>Apple</a:t>
                </a:r>
              </a:p>
            </p:txBody>
          </p:sp>
        </p:grpSp>
        <p:sp>
          <p:nvSpPr>
            <p:cNvPr id="77" name="TextBox 77"/>
            <p:cNvSpPr txBox="1"/>
            <p:nvPr/>
          </p:nvSpPr>
          <p:spPr>
            <a:xfrm>
              <a:off x="4280916" y="5506402"/>
              <a:ext cx="1494854" cy="205359"/>
            </a:xfrm>
            <a:prstGeom prst="rect">
              <a:avLst/>
            </a:prstGeom>
            <a:noFill/>
            <a:ln>
              <a:noFill/>
            </a:ln>
          </p:spPr>
          <p:txBody>
            <a:bodyPr wrap="none" lIns="0" tIns="0" rIns="0" bIns="0" anchor="t" anchorCtr="0">
              <a:spAutoFit/>
            </a:bodyPr>
            <a:lstStyle/>
            <a:p>
              <a:pPr algn="l"/>
              <a:r>
                <a:rPr lang="zh-CN" sz="1050" b="1" dirty="0">
                  <a:solidFill>
                    <a:srgbClr val="C0392B"/>
                  </a:solidFill>
                  <a:latin typeface="Arial"/>
                  <a:ea typeface="Microsoft YaHei"/>
                  <a:cs typeface="Arial"/>
                </a:rPr>
                <a:t>华为：终端目录不可见</a:t>
              </a:r>
            </a:p>
          </p:txBody>
        </p:sp>
      </p:grpSp>
      <p:grpSp>
        <p:nvGrpSpPr>
          <p:cNvPr id="93" name="Group 93"/>
          <p:cNvGrpSpPr/>
          <p:nvPr/>
        </p:nvGrpSpPr>
        <p:grpSpPr>
          <a:xfrm>
            <a:off x="7460361" y="914400"/>
            <a:ext cx="4198239" cy="3463861"/>
            <a:chOff x="7460361" y="914400"/>
            <a:chExt cx="4198239" cy="3463861"/>
          </a:xfrm>
        </p:grpSpPr>
        <p:sp>
          <p:nvSpPr>
            <p:cNvPr id="79" name="Rectangle 79"/>
            <p:cNvSpPr/>
            <p:nvPr/>
          </p:nvSpPr>
          <p:spPr>
            <a:xfrm>
              <a:off x="7467600" y="914400"/>
              <a:ext cx="4191000" cy="76200"/>
            </a:xfrm>
            <a:prstGeom prst="rect">
              <a:avLst/>
            </a:prstGeom>
            <a:solidFill>
              <a:srgbClr val="E9002F"/>
            </a:solidFill>
            <a:ln>
              <a:noFill/>
            </a:ln>
          </p:spPr>
        </p:sp>
        <p:sp>
          <p:nvSpPr>
            <p:cNvPr id="80" name="TextBox 80"/>
            <p:cNvSpPr txBox="1"/>
            <p:nvPr/>
          </p:nvSpPr>
          <p:spPr>
            <a:xfrm>
              <a:off x="7460361" y="1065371"/>
              <a:ext cx="408207" cy="278702"/>
            </a:xfrm>
            <a:prstGeom prst="rect">
              <a:avLst/>
            </a:prstGeom>
            <a:noFill/>
            <a:ln>
              <a:noFill/>
            </a:ln>
          </p:spPr>
          <p:txBody>
            <a:bodyPr wrap="none" lIns="0" tIns="0" rIns="0" bIns="0" anchor="t" anchorCtr="0">
              <a:spAutoFit/>
            </a:bodyPr>
            <a:lstStyle/>
            <a:p>
              <a:pPr algn="l"/>
              <a:r>
                <a:rPr lang="en-US" sz="1420" b="1" dirty="0">
                  <a:solidFill>
                    <a:srgbClr val="E9002F"/>
                  </a:solidFill>
                  <a:latin typeface="Arial"/>
                  <a:ea typeface="Arial"/>
                  <a:cs typeface="Arial"/>
                </a:rPr>
                <a:t>OEU</a:t>
              </a:r>
            </a:p>
          </p:txBody>
        </p:sp>
        <p:sp>
          <p:nvSpPr>
            <p:cNvPr id="81" name="TextBox 81"/>
            <p:cNvSpPr txBox="1"/>
            <p:nvPr/>
          </p:nvSpPr>
          <p:spPr>
            <a:xfrm>
              <a:off x="7462266" y="1315402"/>
              <a:ext cx="2542184"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行业占比（估，项目型总额约490M€）</a:t>
              </a:r>
            </a:p>
          </p:txBody>
        </p:sp>
        <p:sp>
          <p:nvSpPr>
            <p:cNvPr id="82" name="Line 82"/>
            <p:cNvSpPr/>
            <p:nvPr/>
          </p:nvSpPr>
          <p:spPr>
            <a:xfrm>
              <a:off x="7467600" y="1543050"/>
              <a:ext cx="4191000" cy="9525"/>
            </a:xfrm>
            <a:custGeom>
              <a:avLst/>
              <a:gdLst/>
              <a:ahLst/>
              <a:cxnLst/>
              <a:rect l="l" t="t" r="r" b="b"/>
              <a:pathLst>
                <a:path w="4191000" h="9525">
                  <a:moveTo>
                    <a:pt x="0" y="0"/>
                  </a:moveTo>
                  <a:lnTo>
                    <a:pt x="4191000" y="0"/>
                  </a:lnTo>
                </a:path>
              </a:pathLst>
            </a:custGeom>
            <a:noFill/>
            <a:ln w="9525">
              <a:solidFill>
                <a:srgbClr val="E8E2DA"/>
              </a:solidFill>
            </a:ln>
          </p:spPr>
        </p:sp>
        <p:sp>
          <p:nvSpPr>
            <p:cNvPr id="83" name="TextBox 83"/>
            <p:cNvSpPr txBox="1"/>
            <p:nvPr/>
          </p:nvSpPr>
          <p:spPr>
            <a:xfrm>
              <a:off x="7462647" y="1647349"/>
              <a:ext cx="3253551"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IT系统集成(波兰BlueSoft/Craftware)</a:t>
              </a:r>
              <a:r>
                <a:rPr lang="en-US" sz="980" dirty="0">
                  <a:solidFill>
                    <a:srgbClr val="6B6B6B"/>
                  </a:solidFill>
                  <a:latin typeface="Arial"/>
                  <a:ea typeface="Arial"/>
                  <a:cs typeface="Arial"/>
                </a:rPr>
                <a:t xml:space="preserve"> — 35%/172M€</a:t>
              </a:r>
            </a:p>
          </p:txBody>
        </p:sp>
        <p:sp>
          <p:nvSpPr>
            <p:cNvPr id="84" name="TextBox 84"/>
            <p:cNvSpPr txBox="1"/>
            <p:nvPr/>
          </p:nvSpPr>
          <p:spPr>
            <a:xfrm>
              <a:off x="7462647" y="1856899"/>
              <a:ext cx="2658832"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公共部门项目(西班牙Correos)</a:t>
              </a:r>
              <a:r>
                <a:rPr lang="en-US" sz="980" dirty="0">
                  <a:solidFill>
                    <a:srgbClr val="6B6B6B"/>
                  </a:solidFill>
                  <a:latin typeface="Arial"/>
                  <a:ea typeface="Arial"/>
                  <a:cs typeface="Arial"/>
                </a:rPr>
                <a:t xml:space="preserve"> — 20%/98M€</a:t>
              </a:r>
            </a:p>
          </p:txBody>
        </p:sp>
        <p:sp>
          <p:nvSpPr>
            <p:cNvPr id="85" name="TextBox 85"/>
            <p:cNvSpPr txBox="1"/>
            <p:nvPr/>
          </p:nvSpPr>
          <p:spPr>
            <a:xfrm>
              <a:off x="7462647" y="2066449"/>
              <a:ext cx="2626983"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能源工业项目(TotalEnergies)</a:t>
              </a:r>
              <a:r>
                <a:rPr lang="en-US" sz="980" dirty="0">
                  <a:solidFill>
                    <a:srgbClr val="6B6B6B"/>
                  </a:solidFill>
                  <a:latin typeface="Arial"/>
                  <a:ea typeface="Arial"/>
                  <a:cs typeface="Arial"/>
                </a:rPr>
                <a:t xml:space="preserve"> — 15%/74M€</a:t>
              </a:r>
            </a:p>
          </p:txBody>
        </p:sp>
        <p:sp>
          <p:nvSpPr>
            <p:cNvPr id="86" name="TextBox 86"/>
            <p:cNvSpPr txBox="1"/>
            <p:nvPr/>
          </p:nvSpPr>
          <p:spPr>
            <a:xfrm>
              <a:off x="7462647" y="2275999"/>
              <a:ext cx="3234309"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网络安全集成(罗马尼亚SCUT项目部分)</a:t>
              </a:r>
              <a:r>
                <a:rPr lang="en-US" sz="980" dirty="0">
                  <a:solidFill>
                    <a:srgbClr val="6B6B6B"/>
                  </a:solidFill>
                  <a:latin typeface="Arial"/>
                  <a:ea typeface="Arial"/>
                  <a:cs typeface="Arial"/>
                </a:rPr>
                <a:t xml:space="preserve"> — 12%/59M€</a:t>
              </a:r>
            </a:p>
          </p:txBody>
        </p:sp>
        <p:sp>
          <p:nvSpPr>
            <p:cNvPr id="87" name="TextBox 87"/>
            <p:cNvSpPr txBox="1"/>
            <p:nvPr/>
          </p:nvSpPr>
          <p:spPr>
            <a:xfrm>
              <a:off x="7462647" y="2485549"/>
              <a:ext cx="2310124"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地产建筑(Merlin/OHLA)</a:t>
              </a:r>
              <a:r>
                <a:rPr lang="en-US" sz="980" dirty="0">
                  <a:solidFill>
                    <a:srgbClr val="6B6B6B"/>
                  </a:solidFill>
                  <a:latin typeface="Arial"/>
                  <a:ea typeface="Arial"/>
                  <a:cs typeface="Arial"/>
                </a:rPr>
                <a:t xml:space="preserve"> — 10%/49M€</a:t>
              </a:r>
            </a:p>
          </p:txBody>
        </p:sp>
        <p:sp>
          <p:nvSpPr>
            <p:cNvPr id="88" name="TextBox 88"/>
            <p:cNvSpPr txBox="1"/>
            <p:nvPr/>
          </p:nvSpPr>
          <p:spPr>
            <a:xfrm>
              <a:off x="7462647" y="2695099"/>
              <a:ext cx="2329107"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其他(博彩Loterías/物流)</a:t>
              </a:r>
              <a:r>
                <a:rPr lang="en-US" sz="980" dirty="0">
                  <a:solidFill>
                    <a:srgbClr val="6B6B6B"/>
                  </a:solidFill>
                  <a:latin typeface="Arial"/>
                  <a:ea typeface="Arial"/>
                  <a:cs typeface="Arial"/>
                </a:rPr>
                <a:t xml:space="preserve"> — 8%/38M€</a:t>
              </a:r>
            </a:p>
          </p:txBody>
        </p:sp>
        <p:sp>
          <p:nvSpPr>
            <p:cNvPr id="89" name="Rectangle 89"/>
            <p:cNvSpPr/>
            <p:nvPr/>
          </p:nvSpPr>
          <p:spPr>
            <a:xfrm>
              <a:off x="7467600" y="3352800"/>
              <a:ext cx="4191000" cy="666750"/>
            </a:xfrm>
            <a:prstGeom prst="roundRect">
              <a:avLst>
                <a:gd name="adj" fmla="val 5714"/>
              </a:avLst>
            </a:prstGeom>
            <a:solidFill>
              <a:srgbClr val="FFF0F1"/>
            </a:solidFill>
            <a:ln w="9525">
              <a:solidFill>
                <a:srgbClr val="F4A100"/>
              </a:solidFill>
            </a:ln>
          </p:spPr>
        </p:sp>
        <p:sp>
          <p:nvSpPr>
            <p:cNvPr id="90" name="TextBox 90"/>
            <p:cNvSpPr txBox="1"/>
            <p:nvPr/>
          </p:nvSpPr>
          <p:spPr>
            <a:xfrm>
              <a:off x="7615047" y="3476149"/>
              <a:ext cx="2791214" cy="190690"/>
            </a:xfrm>
            <a:prstGeom prst="rect">
              <a:avLst/>
            </a:prstGeom>
            <a:noFill/>
            <a:ln>
              <a:noFill/>
            </a:ln>
          </p:spPr>
          <p:txBody>
            <a:bodyPr wrap="none" lIns="0" tIns="0" rIns="0" bIns="0" anchor="t" anchorCtr="0">
              <a:spAutoFit/>
            </a:bodyPr>
            <a:lstStyle/>
            <a:p>
              <a:pPr algn="l"/>
              <a:r>
                <a:rPr lang="zh-CN" sz="980" b="1" dirty="0">
                  <a:solidFill>
                    <a:srgbClr val="C7000A"/>
                  </a:solidFill>
                  <a:latin typeface="Arial"/>
                  <a:ea typeface="Microsoft YaHei"/>
                  <a:cs typeface="Arial"/>
                </a:rPr>
                <a:t>波兰IT集成36%的实证ICT占比是拆分锚点，</a:t>
              </a:r>
            </a:p>
          </p:txBody>
        </p:sp>
        <p:sp>
          <p:nvSpPr>
            <p:cNvPr id="91" name="TextBox 91"/>
            <p:cNvSpPr txBox="1"/>
            <p:nvPr/>
          </p:nvSpPr>
          <p:spPr>
            <a:xfrm>
              <a:off x="7615047" y="3685699"/>
              <a:ext cx="2077164" cy="190690"/>
            </a:xfrm>
            <a:prstGeom prst="rect">
              <a:avLst/>
            </a:prstGeom>
            <a:noFill/>
            <a:ln>
              <a:noFill/>
            </a:ln>
          </p:spPr>
          <p:txBody>
            <a:bodyPr wrap="none" lIns="0" tIns="0" rIns="0" bIns="0" anchor="t" anchorCtr="0">
              <a:spAutoFit/>
            </a:bodyPr>
            <a:lstStyle/>
            <a:p>
              <a:pPr algn="l"/>
              <a:r>
                <a:rPr lang="zh-CN" sz="980" b="1" dirty="0">
                  <a:solidFill>
                    <a:srgbClr val="C7000A"/>
                  </a:solidFill>
                  <a:latin typeface="Arial"/>
                  <a:ea typeface="Microsoft YaHei"/>
                  <a:cs typeface="Arial"/>
                </a:rPr>
                <a:t>其余国别按已知案例权重估算分布</a:t>
              </a:r>
            </a:p>
          </p:txBody>
        </p:sp>
        <p:sp>
          <p:nvSpPr>
            <p:cNvPr id="92" name="TextBox 92"/>
            <p:cNvSpPr txBox="1"/>
            <p:nvPr/>
          </p:nvSpPr>
          <p:spPr>
            <a:xfrm>
              <a:off x="7462266" y="4172902"/>
              <a:ext cx="1346435" cy="205359"/>
            </a:xfrm>
            <a:prstGeom prst="rect">
              <a:avLst/>
            </a:prstGeom>
            <a:noFill/>
            <a:ln>
              <a:noFill/>
            </a:ln>
          </p:spPr>
          <p:txBody>
            <a:bodyPr wrap="none" lIns="0" tIns="0" rIns="0" bIns="0" anchor="t" anchorCtr="0">
              <a:spAutoFit/>
            </a:bodyPr>
            <a:lstStyle/>
            <a:p>
              <a:pPr algn="l"/>
              <a:r>
                <a:rPr lang="zh-CN" sz="1050" b="1" dirty="0">
                  <a:solidFill>
                    <a:srgbClr val="C0392B"/>
                  </a:solidFill>
                  <a:latin typeface="Arial"/>
                  <a:ea typeface="Microsoft YaHei"/>
                  <a:cs typeface="Arial"/>
                </a:rPr>
                <a:t>华为：生态未见身影</a:t>
              </a:r>
            </a:p>
          </p:txBody>
        </p:sp>
      </p:grpSp>
      <p:grpSp>
        <p:nvGrpSpPr>
          <p:cNvPr id="103" name="Group 103"/>
          <p:cNvGrpSpPr/>
          <p:nvPr/>
        </p:nvGrpSpPr>
        <p:grpSpPr>
          <a:xfrm>
            <a:off x="7460361" y="4476750"/>
            <a:ext cx="4198239" cy="1825561"/>
            <a:chOff x="7460361" y="4476750"/>
            <a:chExt cx="4198239" cy="1825561"/>
          </a:xfrm>
        </p:grpSpPr>
        <p:sp>
          <p:nvSpPr>
            <p:cNvPr id="94" name="Rectangle 94"/>
            <p:cNvSpPr/>
            <p:nvPr/>
          </p:nvSpPr>
          <p:spPr>
            <a:xfrm>
              <a:off x="7467600" y="4476750"/>
              <a:ext cx="4191000" cy="76200"/>
            </a:xfrm>
            <a:prstGeom prst="rect">
              <a:avLst/>
            </a:prstGeom>
            <a:solidFill>
              <a:srgbClr val="F4A100"/>
            </a:solidFill>
            <a:ln>
              <a:noFill/>
            </a:ln>
          </p:spPr>
        </p:sp>
        <p:sp>
          <p:nvSpPr>
            <p:cNvPr id="95" name="TextBox 95"/>
            <p:cNvSpPr txBox="1"/>
            <p:nvPr/>
          </p:nvSpPr>
          <p:spPr>
            <a:xfrm>
              <a:off x="7460361" y="4627721"/>
              <a:ext cx="567827" cy="278702"/>
            </a:xfrm>
            <a:prstGeom prst="rect">
              <a:avLst/>
            </a:prstGeom>
            <a:noFill/>
            <a:ln>
              <a:noFill/>
            </a:ln>
          </p:spPr>
          <p:txBody>
            <a:bodyPr wrap="none" lIns="0" tIns="0" rIns="0" bIns="0" anchor="t" anchorCtr="0">
              <a:spAutoFit/>
            </a:bodyPr>
            <a:lstStyle/>
            <a:p>
              <a:pPr algn="l"/>
              <a:r>
                <a:rPr lang="en-US" sz="1420" b="1" dirty="0">
                  <a:solidFill>
                    <a:srgbClr val="8A6D00"/>
                  </a:solidFill>
                  <a:latin typeface="Arial"/>
                  <a:ea typeface="Arial"/>
                  <a:cs typeface="Arial"/>
                </a:rPr>
                <a:t>OMEA</a:t>
              </a:r>
            </a:p>
          </p:txBody>
        </p:sp>
        <p:sp>
          <p:nvSpPr>
            <p:cNvPr id="96" name="TextBox 96"/>
            <p:cNvSpPr txBox="1"/>
            <p:nvPr/>
          </p:nvSpPr>
          <p:spPr>
            <a:xfrm>
              <a:off x="7462266" y="4877752"/>
              <a:ext cx="2094128" cy="205359"/>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行业占比（估，总额约110M€）</a:t>
              </a:r>
            </a:p>
          </p:txBody>
        </p:sp>
        <p:sp>
          <p:nvSpPr>
            <p:cNvPr id="97" name="Line 97"/>
            <p:cNvSpPr/>
            <p:nvPr/>
          </p:nvSpPr>
          <p:spPr>
            <a:xfrm>
              <a:off x="7467600" y="5105400"/>
              <a:ext cx="4191000" cy="9525"/>
            </a:xfrm>
            <a:custGeom>
              <a:avLst/>
              <a:gdLst/>
              <a:ahLst/>
              <a:cxnLst/>
              <a:rect l="l" t="t" r="r" b="b"/>
              <a:pathLst>
                <a:path w="4191000" h="9525">
                  <a:moveTo>
                    <a:pt x="0" y="0"/>
                  </a:moveTo>
                  <a:lnTo>
                    <a:pt x="4191000" y="0"/>
                  </a:lnTo>
                </a:path>
              </a:pathLst>
            </a:custGeom>
            <a:noFill/>
            <a:ln w="9525">
              <a:solidFill>
                <a:srgbClr val="E8E2DA"/>
              </a:solidFill>
            </a:ln>
          </p:spPr>
        </p:sp>
        <p:sp>
          <p:nvSpPr>
            <p:cNvPr id="98" name="TextBox 98"/>
            <p:cNvSpPr txBox="1"/>
            <p:nvPr/>
          </p:nvSpPr>
          <p:spPr>
            <a:xfrm>
              <a:off x="7462647" y="5209699"/>
              <a:ext cx="2124113"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矿业(Essakane Mine)</a:t>
              </a:r>
              <a:r>
                <a:rPr lang="en-US" sz="980" dirty="0">
                  <a:solidFill>
                    <a:srgbClr val="6B6B6B"/>
                  </a:solidFill>
                  <a:latin typeface="Arial"/>
                  <a:ea typeface="Arial"/>
                  <a:cs typeface="Arial"/>
                </a:rPr>
                <a:t xml:space="preserve"> — 35%/39M€</a:t>
              </a:r>
            </a:p>
          </p:txBody>
        </p:sp>
        <p:sp>
          <p:nvSpPr>
            <p:cNvPr id="99" name="TextBox 99"/>
            <p:cNvSpPr txBox="1"/>
            <p:nvPr/>
          </p:nvSpPr>
          <p:spPr>
            <a:xfrm>
              <a:off x="7462647" y="5419249"/>
              <a:ext cx="2624347"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港口(Tanger Port/Aqaba CT)</a:t>
              </a:r>
              <a:r>
                <a:rPr lang="en-US" sz="980" dirty="0">
                  <a:solidFill>
                    <a:srgbClr val="6B6B6B"/>
                  </a:solidFill>
                  <a:latin typeface="Arial"/>
                  <a:ea typeface="Arial"/>
                  <a:cs typeface="Arial"/>
                </a:rPr>
                <a:t xml:space="preserve"> — 30%/33M€</a:t>
              </a:r>
            </a:p>
          </p:txBody>
        </p:sp>
        <p:sp>
          <p:nvSpPr>
            <p:cNvPr id="100" name="TextBox 100"/>
            <p:cNvSpPr txBox="1"/>
            <p:nvPr/>
          </p:nvSpPr>
          <p:spPr>
            <a:xfrm>
              <a:off x="7462647" y="5628799"/>
              <a:ext cx="2097100"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电子政务(塞内加尔)</a:t>
              </a:r>
              <a:r>
                <a:rPr lang="en-US" sz="980" dirty="0">
                  <a:solidFill>
                    <a:srgbClr val="6B6B6B"/>
                  </a:solidFill>
                  <a:latin typeface="Arial"/>
                  <a:ea typeface="Arial"/>
                  <a:cs typeface="Arial"/>
                </a:rPr>
                <a:t xml:space="preserve"> — 15%/17M€</a:t>
              </a:r>
            </a:p>
          </p:txBody>
        </p:sp>
        <p:sp>
          <p:nvSpPr>
            <p:cNvPr id="101" name="TextBox 101"/>
            <p:cNvSpPr txBox="1"/>
            <p:nvPr/>
          </p:nvSpPr>
          <p:spPr>
            <a:xfrm>
              <a:off x="7462647" y="5838349"/>
              <a:ext cx="2832895" cy="190690"/>
            </a:xfrm>
            <a:prstGeom prst="rect">
              <a:avLst/>
            </a:prstGeom>
            <a:noFill/>
            <a:ln>
              <a:noFill/>
            </a:ln>
          </p:spPr>
          <p:txBody>
            <a:bodyPr wrap="none" lIns="0" tIns="0" rIns="0" bIns="0" anchor="t" anchorCtr="0">
              <a:spAutoFit/>
            </a:bodyPr>
            <a:lstStyle/>
            <a:p>
              <a:pPr algn="l"/>
              <a:r>
                <a:rPr lang="zh-CN" sz="980" dirty="0">
                  <a:solidFill>
                    <a:srgbClr val="1A1A1A"/>
                  </a:solidFill>
                  <a:latin typeface="Arial"/>
                  <a:ea typeface="Microsoft YaHei"/>
                  <a:cs typeface="Arial"/>
                </a:rPr>
                <a:t>金融科技/能源(Money/Energies)</a:t>
              </a:r>
              <a:r>
                <a:rPr lang="en-US" sz="980" dirty="0">
                  <a:solidFill>
                    <a:srgbClr val="6B6B6B"/>
                  </a:solidFill>
                  <a:latin typeface="Arial"/>
                  <a:ea typeface="Arial"/>
                  <a:cs typeface="Arial"/>
                </a:rPr>
                <a:t xml:space="preserve"> — 20%/22M€</a:t>
              </a:r>
            </a:p>
          </p:txBody>
        </p:sp>
        <p:sp>
          <p:nvSpPr>
            <p:cNvPr id="102" name="TextBox 102"/>
            <p:cNvSpPr txBox="1"/>
            <p:nvPr/>
          </p:nvSpPr>
          <p:spPr>
            <a:xfrm>
              <a:off x="7462266" y="6096952"/>
              <a:ext cx="2569852" cy="205359"/>
            </a:xfrm>
            <a:prstGeom prst="rect">
              <a:avLst/>
            </a:prstGeom>
            <a:noFill/>
            <a:ln>
              <a:noFill/>
            </a:ln>
          </p:spPr>
          <p:txBody>
            <a:bodyPr wrap="none" lIns="0" tIns="0" rIns="0" bIns="0" anchor="t" anchorCtr="0">
              <a:spAutoFit/>
            </a:bodyPr>
            <a:lstStyle/>
            <a:p>
              <a:pPr algn="l"/>
              <a:r>
                <a:rPr lang="zh-CN" sz="1050" b="1" dirty="0">
                  <a:solidFill>
                    <a:srgbClr val="2E8B57"/>
                  </a:solidFill>
                  <a:latin typeface="Arial"/>
                  <a:ea typeface="Microsoft YaHei"/>
                  <a:cs typeface="Arial"/>
                </a:rPr>
                <a:t>华为：与Nokia并列主力（矿业/港口）</a:t>
              </a:r>
            </a:p>
          </p:txBody>
        </p:sp>
      </p:grpSp>
      <p:grpSp>
        <p:nvGrpSpPr>
          <p:cNvPr id="106" name="Group 106"/>
          <p:cNvGrpSpPr/>
          <p:nvPr/>
        </p:nvGrpSpPr>
        <p:grpSpPr>
          <a:xfrm>
            <a:off x="528447" y="6562249"/>
            <a:ext cx="11135106" cy="190690"/>
            <a:chOff x="528447" y="6562249"/>
            <a:chExt cx="11135106" cy="190690"/>
          </a:xfrm>
        </p:grpSpPr>
        <p:sp>
          <p:nvSpPr>
            <p:cNvPr id="104" name="TextBox 104"/>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105" name="TextBox 105"/>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252412"/>
            <a:ext cx="11136630" cy="747713"/>
            <a:chOff x="521970" y="252412"/>
            <a:chExt cx="11136630" cy="747713"/>
          </a:xfrm>
        </p:grpSpPr>
        <p:sp>
          <p:nvSpPr>
            <p:cNvPr id="3" name="TextBox 3"/>
            <p:cNvSpPr txBox="1"/>
            <p:nvPr/>
          </p:nvSpPr>
          <p:spPr>
            <a:xfrm>
              <a:off x="521970" y="252412"/>
              <a:ext cx="10813845"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移动专网MPN是本次调研最重要的发现——</a:t>
              </a:r>
              <a:r>
                <a:rPr lang="zh-CN" sz="2250" b="1" dirty="0">
                  <a:solidFill>
                    <a:srgbClr val="E9002F"/>
                  </a:solidFill>
                  <a:latin typeface="Arial"/>
                  <a:ea typeface="Microsoft YaHei"/>
                  <a:cs typeface="Arial"/>
                </a:rPr>
                <a:t>华为在OMEA的参与度全deck最高</a:t>
              </a:r>
            </a:p>
          </p:txBody>
        </p:sp>
        <p:sp>
          <p:nvSpPr>
            <p:cNvPr id="4" name="TextBox 4"/>
            <p:cNvSpPr txBox="1"/>
            <p:nvPr/>
          </p:nvSpPr>
          <p:spPr>
            <a:xfrm>
              <a:off x="527304" y="708660"/>
              <a:ext cx="6990893"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说明：原始输入材料无此维度，本次调研新增 · Catalogue：工业MPN专网 · 港口/矿业连接方案</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20" name="Group 20"/>
          <p:cNvGrpSpPr/>
          <p:nvPr/>
        </p:nvGrpSpPr>
        <p:grpSpPr>
          <a:xfrm>
            <a:off x="525780" y="1333500"/>
            <a:ext cx="3560445" cy="3724656"/>
            <a:chOff x="525780" y="1333500"/>
            <a:chExt cx="3560445" cy="3724656"/>
          </a:xfrm>
        </p:grpSpPr>
        <p:sp>
          <p:nvSpPr>
            <p:cNvPr id="7" name="Rectangle 7"/>
            <p:cNvSpPr/>
            <p:nvPr/>
          </p:nvSpPr>
          <p:spPr>
            <a:xfrm>
              <a:off x="533400" y="1333500"/>
              <a:ext cx="3552825" cy="76200"/>
            </a:xfrm>
            <a:prstGeom prst="rect">
              <a:avLst/>
            </a:prstGeom>
            <a:solidFill>
              <a:srgbClr val="C7000A">
                <a:alpha val="50000"/>
              </a:srgbClr>
            </a:solidFill>
            <a:ln>
              <a:noFill/>
            </a:ln>
          </p:spPr>
        </p:sp>
        <p:sp>
          <p:nvSpPr>
            <p:cNvPr id="8" name="TextBox 8"/>
            <p:cNvSpPr txBox="1"/>
            <p:nvPr/>
          </p:nvSpPr>
          <p:spPr>
            <a:xfrm>
              <a:off x="525780" y="1504950"/>
              <a:ext cx="306476" cy="293370"/>
            </a:xfrm>
            <a:prstGeom prst="rect">
              <a:avLst/>
            </a:prstGeom>
            <a:noFill/>
            <a:ln>
              <a:noFill/>
            </a:ln>
          </p:spPr>
          <p:txBody>
            <a:bodyPr wrap="none" lIns="0" tIns="0" rIns="0" bIns="0" anchor="t" anchorCtr="0">
              <a:spAutoFit/>
            </a:bodyPr>
            <a:lstStyle/>
            <a:p>
              <a:pPr algn="l"/>
              <a:r>
                <a:rPr lang="en-US" sz="1500" b="1" dirty="0">
                  <a:solidFill>
                    <a:srgbClr val="C7000A"/>
                  </a:solidFill>
                  <a:latin typeface="Arial"/>
                  <a:ea typeface="Arial"/>
                  <a:cs typeface="Arial"/>
                </a:rPr>
                <a:t>OB</a:t>
              </a:r>
            </a:p>
          </p:txBody>
        </p:sp>
        <p:sp>
          <p:nvSpPr>
            <p:cNvPr id="9" name="TextBox 9"/>
            <p:cNvSpPr txBox="1"/>
            <p:nvPr/>
          </p:nvSpPr>
          <p:spPr>
            <a:xfrm>
              <a:off x="527304" y="1756410"/>
              <a:ext cx="819912"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非战略重心</a:t>
              </a:r>
            </a:p>
          </p:txBody>
        </p:sp>
        <p:sp>
          <p:nvSpPr>
            <p:cNvPr id="10" name="Line 10"/>
            <p:cNvSpPr/>
            <p:nvPr/>
          </p:nvSpPr>
          <p:spPr>
            <a:xfrm>
              <a:off x="53340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11" name="TextBox 11"/>
            <p:cNvSpPr txBox="1"/>
            <p:nvPr/>
          </p:nvSpPr>
          <p:spPr>
            <a:xfrm>
              <a:off x="528447" y="2161699"/>
              <a:ext cx="2593391"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法国再工业化背景下的Hybrid MPN试点探索</a:t>
              </a:r>
            </a:p>
          </p:txBody>
        </p:sp>
        <p:sp>
          <p:nvSpPr>
            <p:cNvPr id="12" name="Rectangle 12"/>
            <p:cNvSpPr/>
            <p:nvPr/>
          </p:nvSpPr>
          <p:spPr>
            <a:xfrm>
              <a:off x="533400" y="2438400"/>
              <a:ext cx="3552825" cy="1428750"/>
            </a:xfrm>
            <a:prstGeom prst="roundRect">
              <a:avLst>
                <a:gd name="adj" fmla="val 2667"/>
              </a:avLst>
            </a:prstGeom>
            <a:solidFill>
              <a:srgbClr val="FBF6F1"/>
            </a:solidFill>
            <a:ln w="9525">
              <a:solidFill>
                <a:srgbClr val="E8E2DA"/>
              </a:solidFill>
            </a:ln>
          </p:spPr>
        </p:sp>
        <p:sp>
          <p:nvSpPr>
            <p:cNvPr id="13" name="TextBox 13"/>
            <p:cNvSpPr txBox="1"/>
            <p:nvPr/>
          </p:nvSpPr>
          <p:spPr>
            <a:xfrm>
              <a:off x="1237016" y="2679382"/>
              <a:ext cx="2136069" cy="322707"/>
            </a:xfrm>
            <a:prstGeom prst="rect">
              <a:avLst/>
            </a:prstGeom>
            <a:noFill/>
            <a:ln>
              <a:noFill/>
            </a:ln>
          </p:spPr>
          <p:txBody>
            <a:bodyPr wrap="none" lIns="0" tIns="0" rIns="0" bIns="0" anchor="t" anchorCtr="0">
              <a:spAutoFit/>
            </a:bodyPr>
            <a:lstStyle/>
            <a:p>
              <a:pPr algn="ctr"/>
              <a:r>
                <a:rPr lang="zh-CN" sz="1650" b="1" dirty="0">
                  <a:solidFill>
                    <a:srgbClr val="9B9B9B"/>
                  </a:solidFill>
                  <a:latin typeface="Arial"/>
                  <a:ea typeface="Microsoft YaHei"/>
                  <a:cs typeface="Arial"/>
                </a:rPr>
                <a:t>约5-10M€/Y（估）</a:t>
              </a:r>
            </a:p>
          </p:txBody>
        </p:sp>
        <p:sp>
          <p:nvSpPr>
            <p:cNvPr id="14" name="TextBox 14"/>
            <p:cNvSpPr txBox="1"/>
            <p:nvPr/>
          </p:nvSpPr>
          <p:spPr>
            <a:xfrm>
              <a:off x="1466374" y="2983706"/>
              <a:ext cx="1677352" cy="220028"/>
            </a:xfrm>
            <a:prstGeom prst="rect">
              <a:avLst/>
            </a:prstGeom>
            <a:noFill/>
            <a:ln>
              <a:noFill/>
            </a:ln>
          </p:spPr>
          <p:txBody>
            <a:bodyPr wrap="none" lIns="0" tIns="0" rIns="0" bIns="0" anchor="t" anchorCtr="0">
              <a:spAutoFit/>
            </a:bodyPr>
            <a:lstStyle/>
            <a:p>
              <a:pPr algn="ctr"/>
              <a:r>
                <a:rPr lang="zh-CN" sz="1120" dirty="0">
                  <a:solidFill>
                    <a:srgbClr val="9B9B9B"/>
                  </a:solidFill>
                  <a:latin typeface="Arial"/>
                  <a:ea typeface="Microsoft YaHei"/>
                  <a:cs typeface="Arial"/>
                </a:rPr>
                <a:t>试点规模，非独立产品线</a:t>
              </a:r>
            </a:p>
          </p:txBody>
        </p:sp>
        <p:sp>
          <p:nvSpPr>
            <p:cNvPr id="15" name="TextBox 15"/>
            <p:cNvSpPr txBox="1"/>
            <p:nvPr/>
          </p:nvSpPr>
          <p:spPr>
            <a:xfrm>
              <a:off x="1728025" y="3228499"/>
              <a:ext cx="1154049" cy="190690"/>
            </a:xfrm>
            <a:prstGeom prst="rect">
              <a:avLst/>
            </a:prstGeom>
            <a:noFill/>
            <a:ln>
              <a:noFill/>
            </a:ln>
          </p:spPr>
          <p:txBody>
            <a:bodyPr wrap="none" lIns="0" tIns="0" rIns="0" bIns="0" anchor="t" anchorCtr="0">
              <a:spAutoFit/>
            </a:bodyPr>
            <a:lstStyle/>
            <a:p>
              <a:pPr algn="ctr"/>
              <a:r>
                <a:rPr lang="zh-CN" sz="980" dirty="0">
                  <a:solidFill>
                    <a:srgbClr val="9B9B9B"/>
                  </a:solidFill>
                  <a:latin typeface="Arial"/>
                  <a:ea typeface="Microsoft YaHei"/>
                  <a:cs typeface="Arial"/>
                </a:rPr>
                <a:t>占OB总收入&lt;0.2%</a:t>
              </a:r>
            </a:p>
          </p:txBody>
        </p:sp>
        <p:sp>
          <p:nvSpPr>
            <p:cNvPr id="16" name="TextBox 16"/>
            <p:cNvSpPr txBox="1"/>
            <p:nvPr/>
          </p:nvSpPr>
          <p:spPr>
            <a:xfrm>
              <a:off x="1578197" y="3457099"/>
              <a:ext cx="1453706" cy="190690"/>
            </a:xfrm>
            <a:prstGeom prst="rect">
              <a:avLst/>
            </a:prstGeom>
            <a:noFill/>
            <a:ln>
              <a:noFill/>
            </a:ln>
          </p:spPr>
          <p:txBody>
            <a:bodyPr wrap="none" lIns="0" tIns="0" rIns="0" bIns="0" anchor="t" anchorCtr="0">
              <a:spAutoFit/>
            </a:bodyPr>
            <a:lstStyle/>
            <a:p>
              <a:pPr algn="ctr"/>
              <a:r>
                <a:rPr lang="zh-CN" sz="980" dirty="0">
                  <a:solidFill>
                    <a:srgbClr val="9B9B9B"/>
                  </a:solidFill>
                  <a:latin typeface="Arial"/>
                  <a:ea typeface="Microsoft YaHei"/>
                  <a:cs typeface="Arial"/>
                </a:rPr>
                <a:t>尚未形成独立商业化路径</a:t>
              </a:r>
            </a:p>
          </p:txBody>
        </p:sp>
        <p:sp>
          <p:nvSpPr>
            <p:cNvPr id="17" name="TextBox 17"/>
            <p:cNvSpPr txBox="1"/>
            <p:nvPr/>
          </p:nvSpPr>
          <p:spPr>
            <a:xfrm>
              <a:off x="528447" y="3990499"/>
              <a:ext cx="2241232"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利用宏基站基础设施获得专网级低时延</a:t>
              </a:r>
            </a:p>
          </p:txBody>
        </p:sp>
        <p:sp>
          <p:nvSpPr>
            <p:cNvPr id="18" name="TextBox 18"/>
            <p:cNvSpPr txBox="1"/>
            <p:nvPr/>
          </p:nvSpPr>
          <p:spPr>
            <a:xfrm>
              <a:off x="528447" y="4180999"/>
              <a:ext cx="2069363"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和数据隔离，对抗纯IT集成商竞争</a:t>
              </a:r>
            </a:p>
          </p:txBody>
        </p:sp>
        <p:sp>
          <p:nvSpPr>
            <p:cNvPr id="19" name="TextBox 19"/>
            <p:cNvSpPr txBox="1"/>
            <p:nvPr/>
          </p:nvSpPr>
          <p:spPr>
            <a:xfrm>
              <a:off x="527304" y="4823460"/>
              <a:ext cx="1369162" cy="234696"/>
            </a:xfrm>
            <a:prstGeom prst="rect">
              <a:avLst/>
            </a:prstGeom>
            <a:noFill/>
            <a:ln>
              <a:noFill/>
            </a:ln>
          </p:spPr>
          <p:txBody>
            <a:bodyPr wrap="none" lIns="0" tIns="0" rIns="0" bIns="0" anchor="t" anchorCtr="0">
              <a:spAutoFit/>
            </a:bodyPr>
            <a:lstStyle/>
            <a:p>
              <a:pPr algn="l"/>
              <a:r>
                <a:rPr lang="zh-CN" sz="1200" b="1" dirty="0">
                  <a:solidFill>
                    <a:srgbClr val="6B6B6B"/>
                  </a:solidFill>
                  <a:latin typeface="Arial"/>
                  <a:ea typeface="Microsoft YaHei"/>
                  <a:cs typeface="Arial"/>
                </a:rPr>
                <a:t>华为：无相关信息</a:t>
              </a:r>
            </a:p>
          </p:txBody>
        </p:sp>
      </p:grpSp>
      <p:grpSp>
        <p:nvGrpSpPr>
          <p:cNvPr id="34" name="Group 34"/>
          <p:cNvGrpSpPr/>
          <p:nvPr/>
        </p:nvGrpSpPr>
        <p:grpSpPr>
          <a:xfrm>
            <a:off x="4307205" y="1333500"/>
            <a:ext cx="3881591" cy="3718084"/>
            <a:chOff x="4307205" y="1333500"/>
            <a:chExt cx="3881591" cy="3718084"/>
          </a:xfrm>
        </p:grpSpPr>
        <p:sp>
          <p:nvSpPr>
            <p:cNvPr id="21" name="Rectangle 21"/>
            <p:cNvSpPr/>
            <p:nvPr/>
          </p:nvSpPr>
          <p:spPr>
            <a:xfrm>
              <a:off x="4314825" y="1333500"/>
              <a:ext cx="3552825" cy="76200"/>
            </a:xfrm>
            <a:prstGeom prst="rect">
              <a:avLst/>
            </a:prstGeom>
            <a:solidFill>
              <a:srgbClr val="E9002F">
                <a:alpha val="50000"/>
              </a:srgbClr>
            </a:solidFill>
            <a:ln>
              <a:noFill/>
            </a:ln>
          </p:spPr>
        </p:sp>
        <p:sp>
          <p:nvSpPr>
            <p:cNvPr id="22" name="TextBox 22"/>
            <p:cNvSpPr txBox="1"/>
            <p:nvPr/>
          </p:nvSpPr>
          <p:spPr>
            <a:xfrm>
              <a:off x="4307205" y="1504950"/>
              <a:ext cx="429692" cy="293370"/>
            </a:xfrm>
            <a:prstGeom prst="rect">
              <a:avLst/>
            </a:prstGeom>
            <a:noFill/>
            <a:ln>
              <a:noFill/>
            </a:ln>
          </p:spPr>
          <p:txBody>
            <a:bodyPr wrap="none" lIns="0" tIns="0" rIns="0" bIns="0" anchor="t" anchorCtr="0">
              <a:spAutoFit/>
            </a:bodyPr>
            <a:lstStyle/>
            <a:p>
              <a:pPr algn="l"/>
              <a:r>
                <a:rPr lang="en-US" sz="1500" b="1" dirty="0">
                  <a:solidFill>
                    <a:srgbClr val="E9002F"/>
                  </a:solidFill>
                  <a:latin typeface="Arial"/>
                  <a:ea typeface="Arial"/>
                  <a:cs typeface="Arial"/>
                </a:rPr>
                <a:t>OEU</a:t>
              </a:r>
            </a:p>
          </p:txBody>
        </p:sp>
        <p:sp>
          <p:nvSpPr>
            <p:cNvPr id="23" name="TextBox 23"/>
            <p:cNvSpPr txBox="1"/>
            <p:nvPr/>
          </p:nvSpPr>
          <p:spPr>
            <a:xfrm>
              <a:off x="4308729" y="1756410"/>
              <a:ext cx="658368"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起步阶段</a:t>
              </a:r>
            </a:p>
          </p:txBody>
        </p:sp>
        <p:sp>
          <p:nvSpPr>
            <p:cNvPr id="24" name="Line 24"/>
            <p:cNvSpPr/>
            <p:nvPr/>
          </p:nvSpPr>
          <p:spPr>
            <a:xfrm>
              <a:off x="4314825"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25" name="Rectangle 25"/>
            <p:cNvSpPr/>
            <p:nvPr/>
          </p:nvSpPr>
          <p:spPr>
            <a:xfrm>
              <a:off x="4314825" y="2667000"/>
              <a:ext cx="3552825" cy="1905000"/>
            </a:xfrm>
            <a:prstGeom prst="roundRect">
              <a:avLst>
                <a:gd name="adj" fmla="val 2000"/>
              </a:avLst>
            </a:prstGeom>
            <a:solidFill>
              <a:srgbClr val="FBF6F1"/>
            </a:solidFill>
            <a:ln w="9525">
              <a:solidFill>
                <a:srgbClr val="E8E2DA"/>
              </a:solidFill>
            </a:ln>
          </p:spPr>
        </p:sp>
        <p:sp>
          <p:nvSpPr>
            <p:cNvPr id="26" name="TextBox 26"/>
            <p:cNvSpPr txBox="1"/>
            <p:nvPr/>
          </p:nvSpPr>
          <p:spPr>
            <a:xfrm>
              <a:off x="4498848" y="2862739"/>
              <a:ext cx="1591488"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西班牙 MasOrange</a:t>
              </a:r>
            </a:p>
          </p:txBody>
        </p:sp>
        <p:sp>
          <p:nvSpPr>
            <p:cNvPr id="27" name="TextBox 27"/>
            <p:cNvSpPr txBox="1"/>
            <p:nvPr/>
          </p:nvSpPr>
          <p:spPr>
            <a:xfrm>
              <a:off x="4499610" y="3117056"/>
              <a:ext cx="1147572"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新签5G专网合同</a:t>
              </a:r>
            </a:p>
          </p:txBody>
        </p:sp>
        <p:sp>
          <p:nvSpPr>
            <p:cNvPr id="28" name="TextBox 28"/>
            <p:cNvSpPr txBox="1"/>
            <p:nvPr/>
          </p:nvSpPr>
          <p:spPr>
            <a:xfrm>
              <a:off x="4499610" y="3326606"/>
              <a:ext cx="1485625"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（TotalEnergies等）</a:t>
              </a:r>
            </a:p>
          </p:txBody>
        </p:sp>
        <p:sp>
          <p:nvSpPr>
            <p:cNvPr id="29" name="Line 29"/>
            <p:cNvSpPr/>
            <p:nvPr/>
          </p:nvSpPr>
          <p:spPr>
            <a:xfrm>
              <a:off x="4505325" y="3714750"/>
              <a:ext cx="3171825" cy="9525"/>
            </a:xfrm>
            <a:custGeom>
              <a:avLst/>
              <a:gdLst/>
              <a:ahLst/>
              <a:cxnLst/>
              <a:rect l="l" t="t" r="r" b="b"/>
              <a:pathLst>
                <a:path w="3171825" h="9525">
                  <a:moveTo>
                    <a:pt x="0" y="0"/>
                  </a:moveTo>
                  <a:lnTo>
                    <a:pt x="3171825" y="0"/>
                  </a:lnTo>
                </a:path>
              </a:pathLst>
            </a:custGeom>
            <a:noFill/>
            <a:ln w="9525">
              <a:solidFill>
                <a:srgbClr val="E8E2DA"/>
              </a:solidFill>
            </a:ln>
          </p:spPr>
        </p:sp>
        <p:sp>
          <p:nvSpPr>
            <p:cNvPr id="30" name="TextBox 30"/>
            <p:cNvSpPr txBox="1"/>
            <p:nvPr/>
          </p:nvSpPr>
          <p:spPr>
            <a:xfrm>
              <a:off x="4498848" y="3862864"/>
              <a:ext cx="1193412"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波兰/罗马尼亚</a:t>
              </a:r>
            </a:p>
          </p:txBody>
        </p:sp>
        <p:sp>
          <p:nvSpPr>
            <p:cNvPr id="31" name="TextBox 31"/>
            <p:cNvSpPr txBox="1"/>
            <p:nvPr/>
          </p:nvSpPr>
          <p:spPr>
            <a:xfrm>
              <a:off x="4499610" y="4117181"/>
              <a:ext cx="3689186"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规模极小（估&lt;5M€）；Open RAN试点聚焦RAN非MPN</a:t>
              </a:r>
            </a:p>
          </p:txBody>
        </p:sp>
        <p:sp>
          <p:nvSpPr>
            <p:cNvPr id="32" name="TextBox 32"/>
            <p:cNvSpPr txBox="1"/>
            <p:nvPr/>
          </p:nvSpPr>
          <p:spPr>
            <a:xfrm>
              <a:off x="4309872" y="4657249"/>
              <a:ext cx="2521820" cy="190690"/>
            </a:xfrm>
            <a:prstGeom prst="rect">
              <a:avLst/>
            </a:prstGeom>
            <a:noFill/>
            <a:ln>
              <a:noFill/>
            </a:ln>
          </p:spPr>
          <p:txBody>
            <a:bodyPr wrap="none" lIns="0" tIns="0" rIns="0" bIns="0" anchor="t" anchorCtr="0">
              <a:spAutoFit/>
            </a:bodyPr>
            <a:lstStyle/>
            <a:p>
              <a:pPr algn="l"/>
              <a:r>
                <a:rPr lang="zh-CN" sz="980" dirty="0">
                  <a:solidFill>
                    <a:srgbClr val="6B6B6B"/>
                  </a:solidFill>
                  <a:latin typeface="Arial"/>
                  <a:ea typeface="Microsoft YaHei"/>
                  <a:cs typeface="Arial"/>
                </a:rPr>
                <a:t>MasOrange客户群集中于能源/工业大企业</a:t>
              </a:r>
            </a:p>
          </p:txBody>
        </p:sp>
        <p:sp>
          <p:nvSpPr>
            <p:cNvPr id="33" name="TextBox 33"/>
            <p:cNvSpPr txBox="1"/>
            <p:nvPr/>
          </p:nvSpPr>
          <p:spPr>
            <a:xfrm>
              <a:off x="4309110" y="4831556"/>
              <a:ext cx="3262636" cy="220028"/>
            </a:xfrm>
            <a:prstGeom prst="rect">
              <a:avLst/>
            </a:prstGeom>
            <a:noFill/>
            <a:ln>
              <a:noFill/>
            </a:ln>
          </p:spPr>
          <p:txBody>
            <a:bodyPr wrap="none" lIns="0" tIns="0" rIns="0" bIns="0" anchor="t" anchorCtr="0">
              <a:spAutoFit/>
            </a:bodyPr>
            <a:lstStyle/>
            <a:p>
              <a:pPr algn="l"/>
              <a:r>
                <a:rPr lang="zh-CN" sz="1120" b="1" dirty="0">
                  <a:solidFill>
                    <a:srgbClr val="C0392B"/>
                  </a:solidFill>
                  <a:latin typeface="Arial"/>
                  <a:ea typeface="Microsoft YaHei"/>
                  <a:cs typeface="Arial"/>
                </a:rPr>
                <a:t>华为：预计排除（估0%，同WAN/RAN环境）</a:t>
              </a:r>
            </a:p>
          </p:txBody>
        </p:sp>
      </p:grpSp>
      <p:grpSp>
        <p:nvGrpSpPr>
          <p:cNvPr id="52" name="Group 52"/>
          <p:cNvGrpSpPr/>
          <p:nvPr/>
        </p:nvGrpSpPr>
        <p:grpSpPr>
          <a:xfrm>
            <a:off x="8088630" y="1333500"/>
            <a:ext cx="3752621" cy="3724656"/>
            <a:chOff x="8088630" y="1333500"/>
            <a:chExt cx="3752621" cy="3724656"/>
          </a:xfrm>
        </p:grpSpPr>
        <p:sp>
          <p:nvSpPr>
            <p:cNvPr id="35" name="Rectangle 35"/>
            <p:cNvSpPr/>
            <p:nvPr/>
          </p:nvSpPr>
          <p:spPr>
            <a:xfrm>
              <a:off x="8096250" y="1333500"/>
              <a:ext cx="3552825" cy="76200"/>
            </a:xfrm>
            <a:prstGeom prst="rect">
              <a:avLst/>
            </a:prstGeom>
            <a:solidFill>
              <a:srgbClr val="F4A100"/>
            </a:solidFill>
            <a:ln>
              <a:noFill/>
            </a:ln>
          </p:spPr>
        </p:sp>
        <p:sp>
          <p:nvSpPr>
            <p:cNvPr id="36" name="TextBox 36"/>
            <p:cNvSpPr txBox="1"/>
            <p:nvPr/>
          </p:nvSpPr>
          <p:spPr>
            <a:xfrm>
              <a:off x="8088630" y="1504950"/>
              <a:ext cx="2199513" cy="293370"/>
            </a:xfrm>
            <a:prstGeom prst="rect">
              <a:avLst/>
            </a:prstGeom>
            <a:noFill/>
            <a:ln>
              <a:noFill/>
            </a:ln>
          </p:spPr>
          <p:txBody>
            <a:bodyPr wrap="none" lIns="0" tIns="0" rIns="0" bIns="0" anchor="t" anchorCtr="0">
              <a:spAutoFit/>
            </a:bodyPr>
            <a:lstStyle/>
            <a:p>
              <a:pPr algn="l"/>
              <a:r>
                <a:rPr lang="zh-CN" sz="1500" b="1" dirty="0">
                  <a:solidFill>
                    <a:srgbClr val="8A6D00"/>
                  </a:solidFill>
                  <a:latin typeface="Arial"/>
                  <a:ea typeface="Microsoft YaHei"/>
                  <a:cs typeface="Arial"/>
                </a:rPr>
                <a:t>OMEA · 核心增长引擎</a:t>
              </a:r>
            </a:p>
          </p:txBody>
        </p:sp>
        <p:sp>
          <p:nvSpPr>
            <p:cNvPr id="37" name="TextBox 37"/>
            <p:cNvSpPr txBox="1"/>
            <p:nvPr/>
          </p:nvSpPr>
          <p:spPr>
            <a:xfrm>
              <a:off x="8090154" y="1756410"/>
              <a:ext cx="1554937"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矿业+港口双典型场景</a:t>
              </a:r>
            </a:p>
          </p:txBody>
        </p:sp>
        <p:sp>
          <p:nvSpPr>
            <p:cNvPr id="38" name="Line 38"/>
            <p:cNvSpPr/>
            <p:nvPr/>
          </p:nvSpPr>
          <p:spPr>
            <a:xfrm>
              <a:off x="8096250" y="2038350"/>
              <a:ext cx="3552825" cy="9525"/>
            </a:xfrm>
            <a:custGeom>
              <a:avLst/>
              <a:gdLst/>
              <a:ahLst/>
              <a:cxnLst/>
              <a:rect l="l" t="t" r="r" b="b"/>
              <a:pathLst>
                <a:path w="3552825" h="9525">
                  <a:moveTo>
                    <a:pt x="0" y="0"/>
                  </a:moveTo>
                  <a:lnTo>
                    <a:pt x="3552825" y="0"/>
                  </a:lnTo>
                </a:path>
              </a:pathLst>
            </a:custGeom>
            <a:noFill/>
            <a:ln w="9525">
              <a:solidFill>
                <a:srgbClr val="E8E2DA"/>
              </a:solidFill>
            </a:ln>
          </p:spPr>
        </p:sp>
        <p:sp>
          <p:nvSpPr>
            <p:cNvPr id="39" name="TextBox 39"/>
            <p:cNvSpPr txBox="1"/>
            <p:nvPr/>
          </p:nvSpPr>
          <p:spPr>
            <a:xfrm>
              <a:off x="8090916" y="2153602"/>
              <a:ext cx="3750335"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Essakane Mine马里 · Tanger Port马士基 · Aqaba CT约旦</a:t>
              </a:r>
            </a:p>
          </p:txBody>
        </p:sp>
        <p:grpSp>
          <p:nvGrpSpPr>
            <p:cNvPr id="50" name="Group 50"/>
            <p:cNvGrpSpPr/>
            <p:nvPr/>
          </p:nvGrpSpPr>
          <p:grpSpPr>
            <a:xfrm>
              <a:off x="8324850" y="2804160"/>
              <a:ext cx="3095625" cy="1961674"/>
              <a:chOff x="8324850" y="2804160"/>
              <a:chExt cx="3095625" cy="1961674"/>
            </a:xfrm>
          </p:grpSpPr>
          <p:sp>
            <p:nvSpPr>
              <p:cNvPr id="40" name="Line 40"/>
              <p:cNvSpPr/>
              <p:nvPr/>
            </p:nvSpPr>
            <p:spPr>
              <a:xfrm>
                <a:off x="8324850" y="4476750"/>
                <a:ext cx="3095625" cy="9525"/>
              </a:xfrm>
              <a:custGeom>
                <a:avLst/>
                <a:gdLst/>
                <a:ahLst/>
                <a:cxnLst/>
                <a:rect l="l" t="t" r="r" b="b"/>
                <a:pathLst>
                  <a:path w="3095625" h="9525">
                    <a:moveTo>
                      <a:pt x="0" y="0"/>
                    </a:moveTo>
                    <a:lnTo>
                      <a:pt x="3095625" y="0"/>
                    </a:lnTo>
                  </a:path>
                </a:pathLst>
              </a:custGeom>
              <a:noFill/>
              <a:ln w="9525">
                <a:solidFill>
                  <a:srgbClr val="E8E2DA"/>
                </a:solidFill>
              </a:ln>
            </p:spPr>
          </p:sp>
          <p:sp>
            <p:nvSpPr>
              <p:cNvPr id="41" name="Rectangle 41"/>
              <p:cNvSpPr/>
              <p:nvPr/>
            </p:nvSpPr>
            <p:spPr>
              <a:xfrm>
                <a:off x="8515350" y="3019425"/>
                <a:ext cx="666750" cy="1457325"/>
              </a:xfrm>
              <a:prstGeom prst="rect">
                <a:avLst/>
              </a:prstGeom>
              <a:solidFill>
                <a:srgbClr val="E9002F"/>
              </a:solidFill>
              <a:ln w="19050">
                <a:solidFill>
                  <a:srgbClr val="C7000A"/>
                </a:solidFill>
              </a:ln>
            </p:spPr>
          </p:sp>
          <p:sp>
            <p:nvSpPr>
              <p:cNvPr id="42" name="TextBox 42"/>
              <p:cNvSpPr txBox="1"/>
              <p:nvPr/>
            </p:nvSpPr>
            <p:spPr>
              <a:xfrm>
                <a:off x="8431298" y="2804160"/>
                <a:ext cx="834855" cy="234696"/>
              </a:xfrm>
              <a:prstGeom prst="rect">
                <a:avLst/>
              </a:prstGeom>
              <a:noFill/>
              <a:ln>
                <a:noFill/>
              </a:ln>
            </p:spPr>
            <p:txBody>
              <a:bodyPr wrap="none" lIns="0" tIns="0" rIns="0" bIns="0" anchor="t" anchorCtr="0">
                <a:spAutoFit/>
              </a:bodyPr>
              <a:lstStyle/>
              <a:p>
                <a:pPr algn="ctr"/>
                <a:r>
                  <a:rPr lang="zh-CN" sz="1200" b="1" dirty="0">
                    <a:solidFill>
                      <a:srgbClr val="C7000A"/>
                    </a:solidFill>
                    <a:latin typeface="Arial"/>
                    <a:ea typeface="Microsoft YaHei"/>
                    <a:cs typeface="Arial"/>
                  </a:rPr>
                  <a:t>45%（估）</a:t>
                </a:r>
              </a:p>
            </p:txBody>
          </p:sp>
          <p:sp>
            <p:nvSpPr>
              <p:cNvPr id="43" name="TextBox 43"/>
              <p:cNvSpPr txBox="1"/>
              <p:nvPr/>
            </p:nvSpPr>
            <p:spPr>
              <a:xfrm>
                <a:off x="8582165" y="4545806"/>
                <a:ext cx="533120" cy="220028"/>
              </a:xfrm>
              <a:prstGeom prst="rect">
                <a:avLst/>
              </a:prstGeom>
              <a:noFill/>
              <a:ln>
                <a:noFill/>
              </a:ln>
            </p:spPr>
            <p:txBody>
              <a:bodyPr wrap="none" lIns="0" tIns="0" rIns="0" bIns="0" anchor="t" anchorCtr="0">
                <a:spAutoFit/>
              </a:bodyPr>
              <a:lstStyle/>
              <a:p>
                <a:pPr algn="ctr"/>
                <a:r>
                  <a:rPr lang="en-US" sz="1120" b="1" dirty="0">
                    <a:solidFill>
                      <a:srgbClr val="C7000A"/>
                    </a:solidFill>
                    <a:latin typeface="Arial"/>
                    <a:ea typeface="Arial"/>
                    <a:cs typeface="Arial"/>
                  </a:rPr>
                  <a:t>Huawei</a:t>
                </a:r>
              </a:p>
            </p:txBody>
          </p:sp>
          <p:sp>
            <p:nvSpPr>
              <p:cNvPr id="44" name="Rectangle 44"/>
              <p:cNvSpPr/>
              <p:nvPr/>
            </p:nvSpPr>
            <p:spPr>
              <a:xfrm>
                <a:off x="9372600" y="3114675"/>
                <a:ext cx="666750" cy="1362075"/>
              </a:xfrm>
              <a:prstGeom prst="rect">
                <a:avLst/>
              </a:prstGeom>
              <a:solidFill>
                <a:srgbClr val="C7C2B8"/>
              </a:solidFill>
              <a:ln>
                <a:noFill/>
              </a:ln>
            </p:spPr>
          </p:sp>
          <p:sp>
            <p:nvSpPr>
              <p:cNvPr id="45" name="TextBox 45"/>
              <p:cNvSpPr txBox="1"/>
              <p:nvPr/>
            </p:nvSpPr>
            <p:spPr>
              <a:xfrm>
                <a:off x="9288548" y="2899410"/>
                <a:ext cx="834855" cy="234696"/>
              </a:xfrm>
              <a:prstGeom prst="rect">
                <a:avLst/>
              </a:prstGeom>
              <a:noFill/>
              <a:ln>
                <a:noFill/>
              </a:ln>
            </p:spPr>
            <p:txBody>
              <a:bodyPr wrap="none" lIns="0" tIns="0" rIns="0" bIns="0" anchor="t" anchorCtr="0">
                <a:spAutoFit/>
              </a:bodyPr>
              <a:lstStyle/>
              <a:p>
                <a:pPr algn="ctr"/>
                <a:r>
                  <a:rPr lang="zh-CN" sz="1200" b="1" dirty="0">
                    <a:solidFill>
                      <a:srgbClr val="1A1A1A"/>
                    </a:solidFill>
                    <a:latin typeface="Arial"/>
                    <a:ea typeface="Microsoft YaHei"/>
                    <a:cs typeface="Arial"/>
                  </a:rPr>
                  <a:t>42%（估）</a:t>
                </a:r>
              </a:p>
            </p:txBody>
          </p:sp>
          <p:sp>
            <p:nvSpPr>
              <p:cNvPr id="46" name="TextBox 46"/>
              <p:cNvSpPr txBox="1"/>
              <p:nvPr/>
            </p:nvSpPr>
            <p:spPr>
              <a:xfrm>
                <a:off x="9508808" y="4545806"/>
                <a:ext cx="394335" cy="220028"/>
              </a:xfrm>
              <a:prstGeom prst="rect">
                <a:avLst/>
              </a:prstGeom>
              <a:noFill/>
              <a:ln>
                <a:noFill/>
              </a:ln>
            </p:spPr>
            <p:txBody>
              <a:bodyPr wrap="none" lIns="0" tIns="0" rIns="0" bIns="0" anchor="t" anchorCtr="0">
                <a:spAutoFit/>
              </a:bodyPr>
              <a:lstStyle/>
              <a:p>
                <a:pPr algn="ctr"/>
                <a:r>
                  <a:rPr lang="en-US" sz="1120" dirty="0">
                    <a:solidFill>
                      <a:srgbClr val="6B6B6B"/>
                    </a:solidFill>
                    <a:latin typeface="Arial"/>
                    <a:ea typeface="Arial"/>
                    <a:cs typeface="Arial"/>
                  </a:rPr>
                  <a:t>Nokia</a:t>
                </a:r>
              </a:p>
            </p:txBody>
          </p:sp>
          <p:sp>
            <p:nvSpPr>
              <p:cNvPr id="47" name="Rectangle 47"/>
              <p:cNvSpPr/>
              <p:nvPr/>
            </p:nvSpPr>
            <p:spPr>
              <a:xfrm>
                <a:off x="10229850" y="4048125"/>
                <a:ext cx="666750" cy="428625"/>
              </a:xfrm>
              <a:prstGeom prst="rect">
                <a:avLst/>
              </a:prstGeom>
              <a:solidFill>
                <a:srgbClr val="C7C2B8"/>
              </a:solidFill>
              <a:ln>
                <a:noFill/>
              </a:ln>
            </p:spPr>
          </p:sp>
          <p:sp>
            <p:nvSpPr>
              <p:cNvPr id="48" name="TextBox 48"/>
              <p:cNvSpPr txBox="1"/>
              <p:nvPr/>
            </p:nvSpPr>
            <p:spPr>
              <a:xfrm>
                <a:off x="10145798" y="3832860"/>
                <a:ext cx="834855" cy="234696"/>
              </a:xfrm>
              <a:prstGeom prst="rect">
                <a:avLst/>
              </a:prstGeom>
              <a:noFill/>
              <a:ln>
                <a:noFill/>
              </a:ln>
            </p:spPr>
            <p:txBody>
              <a:bodyPr wrap="none" lIns="0" tIns="0" rIns="0" bIns="0" anchor="t" anchorCtr="0">
                <a:spAutoFit/>
              </a:bodyPr>
              <a:lstStyle/>
              <a:p>
                <a:pPr algn="ctr"/>
                <a:r>
                  <a:rPr lang="zh-CN" sz="1200" b="1" dirty="0">
                    <a:solidFill>
                      <a:srgbClr val="1A1A1A"/>
                    </a:solidFill>
                    <a:latin typeface="Arial"/>
                    <a:ea typeface="Microsoft YaHei"/>
                    <a:cs typeface="Arial"/>
                  </a:rPr>
                  <a:t>13%（估）</a:t>
                </a:r>
              </a:p>
            </p:txBody>
          </p:sp>
          <p:sp>
            <p:nvSpPr>
              <p:cNvPr id="49" name="TextBox 49"/>
              <p:cNvSpPr txBox="1"/>
              <p:nvPr/>
            </p:nvSpPr>
            <p:spPr>
              <a:xfrm>
                <a:off x="10406062" y="4545806"/>
                <a:ext cx="314325" cy="220028"/>
              </a:xfrm>
              <a:prstGeom prst="rect">
                <a:avLst/>
              </a:prstGeom>
              <a:noFill/>
              <a:ln>
                <a:noFill/>
              </a:ln>
            </p:spPr>
            <p:txBody>
              <a:bodyPr wrap="none" lIns="0" tIns="0" rIns="0" bIns="0" anchor="t" anchorCtr="0">
                <a:spAutoFit/>
              </a:bodyPr>
              <a:lstStyle/>
              <a:p>
                <a:pPr algn="ctr"/>
                <a:r>
                  <a:rPr lang="zh-CN" sz="1120" dirty="0">
                    <a:solidFill>
                      <a:srgbClr val="6B6B6B"/>
                    </a:solidFill>
                    <a:latin typeface="Arial"/>
                    <a:ea typeface="Microsoft YaHei"/>
                    <a:cs typeface="Arial"/>
                  </a:rPr>
                  <a:t>其他</a:t>
                </a:r>
              </a:p>
            </p:txBody>
          </p:sp>
        </p:grpSp>
        <p:sp>
          <p:nvSpPr>
            <p:cNvPr id="51" name="TextBox 51"/>
            <p:cNvSpPr txBox="1"/>
            <p:nvPr/>
          </p:nvSpPr>
          <p:spPr>
            <a:xfrm>
              <a:off x="8090154" y="4823460"/>
              <a:ext cx="2328001"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华为：与Nokia并列供应商主力</a:t>
              </a:r>
            </a:p>
          </p:txBody>
        </p:sp>
      </p:grpSp>
      <p:grpSp>
        <p:nvGrpSpPr>
          <p:cNvPr id="55" name="Group 55"/>
          <p:cNvGrpSpPr/>
          <p:nvPr/>
        </p:nvGrpSpPr>
        <p:grpSpPr>
          <a:xfrm>
            <a:off x="533400" y="5715000"/>
            <a:ext cx="11125200" cy="571500"/>
            <a:chOff x="533400" y="5715000"/>
            <a:chExt cx="11125200" cy="571500"/>
          </a:xfrm>
        </p:grpSpPr>
        <p:sp>
          <p:nvSpPr>
            <p:cNvPr id="53" name="Rectangle 53"/>
            <p:cNvSpPr/>
            <p:nvPr/>
          </p:nvSpPr>
          <p:spPr>
            <a:xfrm>
              <a:off x="533400" y="5715000"/>
              <a:ext cx="11125200" cy="571500"/>
            </a:xfrm>
            <a:prstGeom prst="roundRect">
              <a:avLst>
                <a:gd name="adj" fmla="val 6667"/>
              </a:avLst>
            </a:prstGeom>
            <a:solidFill>
              <a:srgbClr val="FFF8E7"/>
            </a:solidFill>
            <a:ln w="14288">
              <a:solidFill>
                <a:srgbClr val="F4A100"/>
              </a:solidFill>
            </a:ln>
          </p:spPr>
        </p:sp>
        <p:sp>
          <p:nvSpPr>
            <p:cNvPr id="54" name="TextBox 54"/>
            <p:cNvSpPr txBox="1"/>
            <p:nvPr/>
          </p:nvSpPr>
          <p:spPr>
            <a:xfrm>
              <a:off x="755523" y="5920264"/>
              <a:ext cx="6764576" cy="249364"/>
            </a:xfrm>
            <a:prstGeom prst="rect">
              <a:avLst/>
            </a:prstGeom>
            <a:noFill/>
            <a:ln>
              <a:noFill/>
            </a:ln>
          </p:spPr>
          <p:txBody>
            <a:bodyPr wrap="none" lIns="0" tIns="0" rIns="0" bIns="0" anchor="t" anchorCtr="0">
              <a:spAutoFit/>
            </a:bodyPr>
            <a:lstStyle/>
            <a:p>
              <a:pPr algn="l"/>
              <a:r>
                <a:rPr lang="zh-CN" sz="1280" b="1" dirty="0">
                  <a:solidFill>
                    <a:srgbClr val="C7000A"/>
                  </a:solidFill>
                  <a:latin typeface="Arial"/>
                  <a:ea typeface="Microsoft YaHei"/>
                  <a:cs typeface="Arial"/>
                </a:rPr>
                <a:t>MPN是唯一华为与Nokia并列主力供应商的场景，值得作为对OB/OEU的突破口参考</a:t>
              </a:r>
            </a:p>
          </p:txBody>
        </p:sp>
      </p:grpSp>
      <p:grpSp>
        <p:nvGrpSpPr>
          <p:cNvPr id="58" name="Group 58"/>
          <p:cNvGrpSpPr/>
          <p:nvPr/>
        </p:nvGrpSpPr>
        <p:grpSpPr>
          <a:xfrm>
            <a:off x="528447" y="6562249"/>
            <a:ext cx="11135106" cy="190690"/>
            <a:chOff x="528447" y="6562249"/>
            <a:chExt cx="11135106" cy="190690"/>
          </a:xfrm>
        </p:grpSpPr>
        <p:sp>
          <p:nvSpPr>
            <p:cNvPr id="56" name="TextBox 56"/>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7" name="TextBox 57"/>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252412"/>
            <a:ext cx="11440787" cy="747713"/>
            <a:chOff x="521970" y="252412"/>
            <a:chExt cx="11440787" cy="747713"/>
          </a:xfrm>
        </p:grpSpPr>
        <p:sp>
          <p:nvSpPr>
            <p:cNvPr id="3" name="TextBox 3"/>
            <p:cNvSpPr txBox="1"/>
            <p:nvPr/>
          </p:nvSpPr>
          <p:spPr>
            <a:xfrm>
              <a:off x="521970" y="252412"/>
              <a:ext cx="11440787"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OB是生态位竞争排除区——华为唯一存量锚点是</a:t>
              </a:r>
              <a:r>
                <a:rPr lang="zh-CN" sz="2250" b="1" dirty="0">
                  <a:solidFill>
                    <a:srgbClr val="E9002F"/>
                  </a:solidFill>
                  <a:latin typeface="Arial"/>
                  <a:ea typeface="Microsoft YaHei"/>
                  <a:cs typeface="Arial"/>
                </a:rPr>
                <a:t>看不见的Flexible Engine云栈底层</a:t>
              </a:r>
            </a:p>
          </p:txBody>
        </p:sp>
        <p:sp>
          <p:nvSpPr>
            <p:cNvPr id="4" name="TextBox 4"/>
            <p:cNvSpPr txBox="1"/>
            <p:nvPr/>
          </p:nvSpPr>
          <p:spPr>
            <a:xfrm>
              <a:off x="527304" y="708660"/>
              <a:ext cx="6088685"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法国WAN/LAN/安全目录基本不在准入清单，排除是市场化竞争结果而非行政禁令</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48" name="Group 48"/>
          <p:cNvGrpSpPr/>
          <p:nvPr/>
        </p:nvGrpSpPr>
        <p:grpSpPr>
          <a:xfrm>
            <a:off x="533400" y="1315402"/>
            <a:ext cx="11125200" cy="3653409"/>
            <a:chOff x="533400" y="1315402"/>
            <a:chExt cx="11125200" cy="3653409"/>
          </a:xfrm>
        </p:grpSpPr>
        <p:sp>
          <p:nvSpPr>
            <p:cNvPr id="7" name="Line 7"/>
            <p:cNvSpPr/>
            <p:nvPr/>
          </p:nvSpPr>
          <p:spPr>
            <a:xfrm>
              <a:off x="533400" y="1552575"/>
              <a:ext cx="11125200" cy="9525"/>
            </a:xfrm>
            <a:custGeom>
              <a:avLst/>
              <a:gdLst/>
              <a:ahLst/>
              <a:cxnLst/>
              <a:rect l="l" t="t" r="r" b="b"/>
              <a:pathLst>
                <a:path w="11125200" h="9525">
                  <a:moveTo>
                    <a:pt x="0" y="0"/>
                  </a:moveTo>
                  <a:lnTo>
                    <a:pt x="11125200" y="0"/>
                  </a:lnTo>
                </a:path>
              </a:pathLst>
            </a:custGeom>
            <a:noFill/>
            <a:ln w="19050">
              <a:solidFill>
                <a:srgbClr val="CBD5E1"/>
              </a:solidFill>
            </a:ln>
          </p:spPr>
        </p:sp>
        <p:sp>
          <p:nvSpPr>
            <p:cNvPr id="8" name="TextBox 8"/>
            <p:cNvSpPr txBox="1"/>
            <p:nvPr/>
          </p:nvSpPr>
          <p:spPr>
            <a:xfrm>
              <a:off x="718566" y="1315402"/>
              <a:ext cx="1006472"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OFFERING维度</a:t>
              </a:r>
            </a:p>
          </p:txBody>
        </p:sp>
        <p:sp>
          <p:nvSpPr>
            <p:cNvPr id="9" name="TextBox 9"/>
            <p:cNvSpPr txBox="1"/>
            <p:nvPr/>
          </p:nvSpPr>
          <p:spPr>
            <a:xfrm>
              <a:off x="3042666" y="1315402"/>
              <a:ext cx="873176"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主要VENDOR</a:t>
              </a:r>
            </a:p>
          </p:txBody>
        </p:sp>
        <p:sp>
          <p:nvSpPr>
            <p:cNvPr id="10" name="TextBox 10"/>
            <p:cNvSpPr txBox="1"/>
            <p:nvPr/>
          </p:nvSpPr>
          <p:spPr>
            <a:xfrm>
              <a:off x="7043166" y="1315402"/>
              <a:ext cx="604342"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华为现状</a:t>
              </a:r>
            </a:p>
          </p:txBody>
        </p:sp>
        <p:sp>
          <p:nvSpPr>
            <p:cNvPr id="11" name="TextBox 11"/>
            <p:cNvSpPr txBox="1"/>
            <p:nvPr/>
          </p:nvSpPr>
          <p:spPr>
            <a:xfrm>
              <a:off x="9995916" y="1315402"/>
              <a:ext cx="901179"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参与度（估）</a:t>
              </a:r>
            </a:p>
          </p:txBody>
        </p:sp>
        <p:sp>
          <p:nvSpPr>
            <p:cNvPr id="12" name="Rectangle 12"/>
            <p:cNvSpPr/>
            <p:nvPr/>
          </p:nvSpPr>
          <p:spPr>
            <a:xfrm>
              <a:off x="533400" y="1647825"/>
              <a:ext cx="11125200" cy="552450"/>
            </a:xfrm>
            <a:prstGeom prst="rect">
              <a:avLst/>
            </a:prstGeom>
            <a:solidFill>
              <a:srgbClr val="FBF6F1"/>
            </a:solidFill>
            <a:ln>
              <a:noFill/>
            </a:ln>
          </p:spPr>
        </p:sp>
        <p:sp>
          <p:nvSpPr>
            <p:cNvPr id="13" name="TextBox 13"/>
            <p:cNvSpPr txBox="1"/>
            <p:nvPr/>
          </p:nvSpPr>
          <p:spPr>
            <a:xfrm>
              <a:off x="717423" y="1834039"/>
              <a:ext cx="746086"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WAN连接</a:t>
              </a:r>
            </a:p>
          </p:txBody>
        </p:sp>
        <p:sp>
          <p:nvSpPr>
            <p:cNvPr id="14" name="TextBox 14"/>
            <p:cNvSpPr txBox="1"/>
            <p:nvPr/>
          </p:nvSpPr>
          <p:spPr>
            <a:xfrm>
              <a:off x="3041904" y="1842135"/>
              <a:ext cx="3110582" cy="234696"/>
            </a:xfrm>
            <a:prstGeom prst="rect">
              <a:avLst/>
            </a:prstGeom>
            <a:noFill/>
            <a:ln>
              <a:noFill/>
            </a:ln>
          </p:spPr>
          <p:txBody>
            <a:bodyPr wrap="none" lIns="0" tIns="0" rIns="0" bIns="0" anchor="t" anchorCtr="0">
              <a:spAutoFit/>
            </a:bodyPr>
            <a:lstStyle/>
            <a:p>
              <a:pPr algn="l"/>
              <a:r>
                <a:rPr lang="en-US" sz="1200" dirty="0">
                  <a:solidFill>
                    <a:srgbClr val="1A1A1A"/>
                  </a:solidFill>
                  <a:latin typeface="Arial"/>
                  <a:ea typeface="Arial"/>
                  <a:cs typeface="Arial"/>
                </a:rPr>
                <a:t>Cisco / Fortinet / VMware / OneAccess</a:t>
              </a:r>
            </a:p>
          </p:txBody>
        </p:sp>
        <p:sp>
          <p:nvSpPr>
            <p:cNvPr id="15" name="TextBox 15"/>
            <p:cNvSpPr txBox="1"/>
            <p:nvPr/>
          </p:nvSpPr>
          <p:spPr>
            <a:xfrm>
              <a:off x="7042404" y="1842135"/>
              <a:ext cx="521056"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不可见</a:t>
              </a:r>
            </a:p>
          </p:txBody>
        </p:sp>
        <p:sp>
          <p:nvSpPr>
            <p:cNvPr id="16" name="Rectangle 16"/>
            <p:cNvSpPr/>
            <p:nvPr/>
          </p:nvSpPr>
          <p:spPr>
            <a:xfrm>
              <a:off x="9525000" y="1828800"/>
              <a:ext cx="1714500" cy="114300"/>
            </a:xfrm>
            <a:prstGeom prst="roundRect">
              <a:avLst>
                <a:gd name="adj" fmla="val 50000"/>
              </a:avLst>
            </a:prstGeom>
            <a:solidFill>
              <a:srgbClr val="E8E2DA"/>
            </a:solidFill>
            <a:ln>
              <a:noFill/>
            </a:ln>
          </p:spPr>
        </p:sp>
        <p:sp>
          <p:nvSpPr>
            <p:cNvPr id="17" name="TextBox 17"/>
            <p:cNvSpPr txBox="1"/>
            <p:nvPr/>
          </p:nvSpPr>
          <p:spPr>
            <a:xfrm>
              <a:off x="10285038" y="200120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18" name="TextBox 18"/>
            <p:cNvSpPr txBox="1"/>
            <p:nvPr/>
          </p:nvSpPr>
          <p:spPr>
            <a:xfrm>
              <a:off x="717423" y="2386489"/>
              <a:ext cx="708001"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LAN管理</a:t>
              </a:r>
            </a:p>
          </p:txBody>
        </p:sp>
        <p:sp>
          <p:nvSpPr>
            <p:cNvPr id="19" name="TextBox 19"/>
            <p:cNvSpPr txBox="1"/>
            <p:nvPr/>
          </p:nvSpPr>
          <p:spPr>
            <a:xfrm>
              <a:off x="3041904" y="2394585"/>
              <a:ext cx="1754848" cy="234696"/>
            </a:xfrm>
            <a:prstGeom prst="rect">
              <a:avLst/>
            </a:prstGeom>
            <a:noFill/>
            <a:ln>
              <a:noFill/>
            </a:ln>
          </p:spPr>
          <p:txBody>
            <a:bodyPr wrap="none" lIns="0" tIns="0" rIns="0" bIns="0" anchor="t" anchorCtr="0">
              <a:spAutoFit/>
            </a:bodyPr>
            <a:lstStyle/>
            <a:p>
              <a:pPr algn="l"/>
              <a:r>
                <a:rPr lang="en-US" sz="1200" dirty="0">
                  <a:solidFill>
                    <a:srgbClr val="1A1A1A"/>
                  </a:solidFill>
                  <a:latin typeface="Arial"/>
                  <a:ea typeface="Arial"/>
                  <a:cs typeface="Arial"/>
                </a:rPr>
                <a:t>Cisco / HPE / Fortinet</a:t>
              </a:r>
            </a:p>
          </p:txBody>
        </p:sp>
        <p:sp>
          <p:nvSpPr>
            <p:cNvPr id="20" name="TextBox 20"/>
            <p:cNvSpPr txBox="1"/>
            <p:nvPr/>
          </p:nvSpPr>
          <p:spPr>
            <a:xfrm>
              <a:off x="7042404" y="2394585"/>
              <a:ext cx="521056"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不可见</a:t>
              </a:r>
            </a:p>
          </p:txBody>
        </p:sp>
        <p:sp>
          <p:nvSpPr>
            <p:cNvPr id="21" name="Rectangle 21"/>
            <p:cNvSpPr/>
            <p:nvPr/>
          </p:nvSpPr>
          <p:spPr>
            <a:xfrm>
              <a:off x="9525000" y="2381250"/>
              <a:ext cx="1714500" cy="114300"/>
            </a:xfrm>
            <a:prstGeom prst="roundRect">
              <a:avLst>
                <a:gd name="adj" fmla="val 50000"/>
              </a:avLst>
            </a:prstGeom>
            <a:solidFill>
              <a:srgbClr val="E8E2DA"/>
            </a:solidFill>
            <a:ln>
              <a:noFill/>
            </a:ln>
          </p:spPr>
        </p:sp>
        <p:sp>
          <p:nvSpPr>
            <p:cNvPr id="22" name="TextBox 22"/>
            <p:cNvSpPr txBox="1"/>
            <p:nvPr/>
          </p:nvSpPr>
          <p:spPr>
            <a:xfrm>
              <a:off x="10285038" y="255365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23" name="Rectangle 23"/>
            <p:cNvSpPr/>
            <p:nvPr/>
          </p:nvSpPr>
          <p:spPr>
            <a:xfrm>
              <a:off x="533400" y="2752725"/>
              <a:ext cx="11125200" cy="552450"/>
            </a:xfrm>
            <a:prstGeom prst="rect">
              <a:avLst/>
            </a:prstGeom>
            <a:solidFill>
              <a:srgbClr val="FBF6F1"/>
            </a:solidFill>
            <a:ln>
              <a:noFill/>
            </a:ln>
          </p:spPr>
        </p:sp>
        <p:sp>
          <p:nvSpPr>
            <p:cNvPr id="24" name="TextBox 24"/>
            <p:cNvSpPr txBox="1"/>
            <p:nvPr/>
          </p:nvSpPr>
          <p:spPr>
            <a:xfrm>
              <a:off x="717423" y="2938939"/>
              <a:ext cx="553622"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云服务</a:t>
              </a:r>
            </a:p>
          </p:txBody>
        </p:sp>
        <p:sp>
          <p:nvSpPr>
            <p:cNvPr id="25" name="TextBox 25"/>
            <p:cNvSpPr txBox="1"/>
            <p:nvPr/>
          </p:nvSpPr>
          <p:spPr>
            <a:xfrm>
              <a:off x="3041904" y="2870835"/>
              <a:ext cx="3168575"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自有Cloud Avenue / Flexible Engine / Bleu</a:t>
              </a:r>
            </a:p>
          </p:txBody>
        </p:sp>
        <p:sp>
          <p:nvSpPr>
            <p:cNvPr id="26" name="TextBox 26"/>
            <p:cNvSpPr txBox="1"/>
            <p:nvPr/>
          </p:nvSpPr>
          <p:spPr>
            <a:xfrm>
              <a:off x="7042404" y="2870835"/>
              <a:ext cx="1029919"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云栈底层技术</a:t>
              </a:r>
            </a:p>
          </p:txBody>
        </p:sp>
        <p:sp>
          <p:nvSpPr>
            <p:cNvPr id="27" name="TextBox 27"/>
            <p:cNvSpPr txBox="1"/>
            <p:nvPr/>
          </p:nvSpPr>
          <p:spPr>
            <a:xfrm>
              <a:off x="7043166" y="3077528"/>
              <a:ext cx="1000125"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（非品牌可见）</a:t>
              </a:r>
            </a:p>
          </p:txBody>
        </p:sp>
        <p:sp>
          <p:nvSpPr>
            <p:cNvPr id="28" name="Rectangle 28"/>
            <p:cNvSpPr/>
            <p:nvPr/>
          </p:nvSpPr>
          <p:spPr>
            <a:xfrm>
              <a:off x="9525000" y="2933700"/>
              <a:ext cx="1714500" cy="114300"/>
            </a:xfrm>
            <a:prstGeom prst="roundRect">
              <a:avLst>
                <a:gd name="adj" fmla="val 50000"/>
              </a:avLst>
            </a:prstGeom>
            <a:solidFill>
              <a:srgbClr val="E8E2DA"/>
            </a:solidFill>
            <a:ln>
              <a:noFill/>
            </a:ln>
          </p:spPr>
        </p:sp>
        <p:sp>
          <p:nvSpPr>
            <p:cNvPr id="29" name="Rectangle 29"/>
            <p:cNvSpPr/>
            <p:nvPr/>
          </p:nvSpPr>
          <p:spPr>
            <a:xfrm>
              <a:off x="9525000" y="2933700"/>
              <a:ext cx="514350" cy="114300"/>
            </a:xfrm>
            <a:prstGeom prst="roundRect">
              <a:avLst>
                <a:gd name="adj" fmla="val 50000"/>
              </a:avLst>
            </a:prstGeom>
            <a:solidFill>
              <a:srgbClr val="E9002F"/>
            </a:solidFill>
            <a:ln>
              <a:noFill/>
            </a:ln>
          </p:spPr>
        </p:sp>
        <p:sp>
          <p:nvSpPr>
            <p:cNvPr id="30" name="TextBox 30"/>
            <p:cNvSpPr txBox="1"/>
            <p:nvPr/>
          </p:nvSpPr>
          <p:spPr>
            <a:xfrm>
              <a:off x="10239629" y="310610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30%</a:t>
              </a:r>
            </a:p>
          </p:txBody>
        </p:sp>
        <p:sp>
          <p:nvSpPr>
            <p:cNvPr id="31" name="TextBox 31"/>
            <p:cNvSpPr txBox="1"/>
            <p:nvPr/>
          </p:nvSpPr>
          <p:spPr>
            <a:xfrm>
              <a:off x="717423" y="3491389"/>
              <a:ext cx="733844"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安全托管</a:t>
              </a:r>
            </a:p>
          </p:txBody>
        </p:sp>
        <p:sp>
          <p:nvSpPr>
            <p:cNvPr id="32" name="TextBox 32"/>
            <p:cNvSpPr txBox="1"/>
            <p:nvPr/>
          </p:nvSpPr>
          <p:spPr>
            <a:xfrm>
              <a:off x="3041904" y="3499485"/>
              <a:ext cx="2851469" cy="234696"/>
            </a:xfrm>
            <a:prstGeom prst="rect">
              <a:avLst/>
            </a:prstGeom>
            <a:noFill/>
            <a:ln>
              <a:noFill/>
            </a:ln>
          </p:spPr>
          <p:txBody>
            <a:bodyPr wrap="none" lIns="0" tIns="0" rIns="0" bIns="0" anchor="t" anchorCtr="0">
              <a:spAutoFit/>
            </a:bodyPr>
            <a:lstStyle/>
            <a:p>
              <a:pPr algn="l"/>
              <a:r>
                <a:rPr lang="en-US" sz="1200" dirty="0">
                  <a:solidFill>
                    <a:srgbClr val="1A1A1A"/>
                  </a:solidFill>
                  <a:latin typeface="Arial"/>
                  <a:ea typeface="Arial"/>
                  <a:cs typeface="Arial"/>
                </a:rPr>
                <a:t>CrowdStrike / Palo Alto / Microsoft</a:t>
              </a:r>
            </a:p>
          </p:txBody>
        </p:sp>
        <p:sp>
          <p:nvSpPr>
            <p:cNvPr id="33" name="TextBox 33"/>
            <p:cNvSpPr txBox="1"/>
            <p:nvPr/>
          </p:nvSpPr>
          <p:spPr>
            <a:xfrm>
              <a:off x="7042404" y="3499485"/>
              <a:ext cx="1262108"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不在Vendor目录</a:t>
              </a:r>
            </a:p>
          </p:txBody>
        </p:sp>
        <p:sp>
          <p:nvSpPr>
            <p:cNvPr id="34" name="Rectangle 34"/>
            <p:cNvSpPr/>
            <p:nvPr/>
          </p:nvSpPr>
          <p:spPr>
            <a:xfrm>
              <a:off x="9525000" y="3486150"/>
              <a:ext cx="1714500" cy="114300"/>
            </a:xfrm>
            <a:prstGeom prst="roundRect">
              <a:avLst>
                <a:gd name="adj" fmla="val 50000"/>
              </a:avLst>
            </a:prstGeom>
            <a:solidFill>
              <a:srgbClr val="E8E2DA"/>
            </a:solidFill>
            <a:ln>
              <a:noFill/>
            </a:ln>
          </p:spPr>
        </p:sp>
        <p:sp>
          <p:nvSpPr>
            <p:cNvPr id="35" name="TextBox 35"/>
            <p:cNvSpPr txBox="1"/>
            <p:nvPr/>
          </p:nvSpPr>
          <p:spPr>
            <a:xfrm>
              <a:off x="10285038" y="365855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36" name="Rectangle 36"/>
            <p:cNvSpPr/>
            <p:nvPr/>
          </p:nvSpPr>
          <p:spPr>
            <a:xfrm>
              <a:off x="533400" y="3857625"/>
              <a:ext cx="11125200" cy="552450"/>
            </a:xfrm>
            <a:prstGeom prst="rect">
              <a:avLst/>
            </a:prstGeom>
            <a:solidFill>
              <a:srgbClr val="FBF6F1"/>
            </a:solidFill>
            <a:ln>
              <a:noFill/>
            </a:ln>
          </p:spPr>
        </p:sp>
        <p:sp>
          <p:nvSpPr>
            <p:cNvPr id="37" name="TextBox 37"/>
            <p:cNvSpPr txBox="1"/>
            <p:nvPr/>
          </p:nvSpPr>
          <p:spPr>
            <a:xfrm>
              <a:off x="717423" y="3977164"/>
              <a:ext cx="1923313"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集成/转售(占比28.4%)</a:t>
              </a:r>
            </a:p>
          </p:txBody>
        </p:sp>
        <p:sp>
          <p:nvSpPr>
            <p:cNvPr id="38" name="TextBox 38"/>
            <p:cNvSpPr txBox="1"/>
            <p:nvPr/>
          </p:nvSpPr>
          <p:spPr>
            <a:xfrm>
              <a:off x="3042285" y="3993356"/>
              <a:ext cx="1071563"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系统集成商生态</a:t>
              </a:r>
            </a:p>
          </p:txBody>
        </p:sp>
        <p:sp>
          <p:nvSpPr>
            <p:cNvPr id="39" name="TextBox 39"/>
            <p:cNvSpPr txBox="1"/>
            <p:nvPr/>
          </p:nvSpPr>
          <p:spPr>
            <a:xfrm>
              <a:off x="3042666" y="4191952"/>
              <a:ext cx="2338677" cy="205359"/>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 HP/Dell/Lenovo/Apple(硬件转售)</a:t>
              </a:r>
            </a:p>
          </p:txBody>
        </p:sp>
        <p:sp>
          <p:nvSpPr>
            <p:cNvPr id="40" name="TextBox 40"/>
            <p:cNvSpPr txBox="1"/>
            <p:nvPr/>
          </p:nvSpPr>
          <p:spPr>
            <a:xfrm>
              <a:off x="7042404" y="4051935"/>
              <a:ext cx="1199540"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终端目录不可见</a:t>
              </a:r>
            </a:p>
          </p:txBody>
        </p:sp>
        <p:sp>
          <p:nvSpPr>
            <p:cNvPr id="41" name="Rectangle 41"/>
            <p:cNvSpPr/>
            <p:nvPr/>
          </p:nvSpPr>
          <p:spPr>
            <a:xfrm>
              <a:off x="9525000" y="4038600"/>
              <a:ext cx="1714500" cy="114300"/>
            </a:xfrm>
            <a:prstGeom prst="roundRect">
              <a:avLst>
                <a:gd name="adj" fmla="val 50000"/>
              </a:avLst>
            </a:prstGeom>
            <a:solidFill>
              <a:srgbClr val="E8E2DA"/>
            </a:solidFill>
            <a:ln>
              <a:noFill/>
            </a:ln>
          </p:spPr>
        </p:sp>
        <p:sp>
          <p:nvSpPr>
            <p:cNvPr id="42" name="TextBox 42"/>
            <p:cNvSpPr txBox="1"/>
            <p:nvPr/>
          </p:nvSpPr>
          <p:spPr>
            <a:xfrm>
              <a:off x="10285038" y="421100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43" name="TextBox 43"/>
            <p:cNvSpPr txBox="1"/>
            <p:nvPr/>
          </p:nvSpPr>
          <p:spPr>
            <a:xfrm>
              <a:off x="717423" y="4596289"/>
              <a:ext cx="1126933"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移动专网MPN</a:t>
              </a:r>
            </a:p>
          </p:txBody>
        </p:sp>
        <p:sp>
          <p:nvSpPr>
            <p:cNvPr id="44" name="TextBox 44"/>
            <p:cNvSpPr txBox="1"/>
            <p:nvPr/>
          </p:nvSpPr>
          <p:spPr>
            <a:xfrm>
              <a:off x="3041904" y="4604385"/>
              <a:ext cx="2695042"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法国Hybrid MPN试点（非战略重心）</a:t>
              </a:r>
            </a:p>
          </p:txBody>
        </p:sp>
        <p:sp>
          <p:nvSpPr>
            <p:cNvPr id="45" name="TextBox 45"/>
            <p:cNvSpPr txBox="1"/>
            <p:nvPr/>
          </p:nvSpPr>
          <p:spPr>
            <a:xfrm>
              <a:off x="7042404" y="4604385"/>
              <a:ext cx="860298" cy="234696"/>
            </a:xfrm>
            <a:prstGeom prst="rect">
              <a:avLst/>
            </a:prstGeom>
            <a:noFill/>
            <a:ln>
              <a:noFill/>
            </a:ln>
          </p:spPr>
          <p:txBody>
            <a:bodyPr wrap="none" lIns="0" tIns="0" rIns="0" bIns="0" anchor="t" anchorCtr="0">
              <a:spAutoFit/>
            </a:bodyPr>
            <a:lstStyle/>
            <a:p>
              <a:pPr algn="l"/>
              <a:r>
                <a:rPr lang="zh-CN" sz="1200" b="1" dirty="0">
                  <a:solidFill>
                    <a:srgbClr val="9B9B9B"/>
                  </a:solidFill>
                  <a:latin typeface="Arial"/>
                  <a:ea typeface="Microsoft YaHei"/>
                  <a:cs typeface="Arial"/>
                </a:rPr>
                <a:t>无相关信息</a:t>
              </a:r>
            </a:p>
          </p:txBody>
        </p:sp>
        <p:sp>
          <p:nvSpPr>
            <p:cNvPr id="46" name="Rectangle 46"/>
            <p:cNvSpPr/>
            <p:nvPr/>
          </p:nvSpPr>
          <p:spPr>
            <a:xfrm>
              <a:off x="9525000" y="4591050"/>
              <a:ext cx="1714500" cy="114300"/>
            </a:xfrm>
            <a:prstGeom prst="roundRect">
              <a:avLst>
                <a:gd name="adj" fmla="val 50000"/>
              </a:avLst>
            </a:prstGeom>
            <a:solidFill>
              <a:srgbClr val="E8E2DA"/>
            </a:solidFill>
            <a:ln>
              <a:noFill/>
            </a:ln>
          </p:spPr>
        </p:sp>
        <p:sp>
          <p:nvSpPr>
            <p:cNvPr id="47" name="TextBox 47"/>
            <p:cNvSpPr txBox="1"/>
            <p:nvPr/>
          </p:nvSpPr>
          <p:spPr>
            <a:xfrm>
              <a:off x="10338044" y="4763452"/>
              <a:ext cx="88411"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a:t>
              </a:r>
            </a:p>
          </p:txBody>
        </p:sp>
      </p:grpSp>
      <p:grpSp>
        <p:nvGrpSpPr>
          <p:cNvPr id="54" name="Group 54"/>
          <p:cNvGrpSpPr/>
          <p:nvPr/>
        </p:nvGrpSpPr>
        <p:grpSpPr>
          <a:xfrm>
            <a:off x="533400" y="5143500"/>
            <a:ext cx="11125200" cy="762000"/>
            <a:chOff x="533400" y="5143500"/>
            <a:chExt cx="11125200" cy="762000"/>
          </a:xfrm>
        </p:grpSpPr>
        <p:sp>
          <p:nvSpPr>
            <p:cNvPr id="49" name="Line 49"/>
            <p:cNvSpPr/>
            <p:nvPr/>
          </p:nvSpPr>
          <p:spPr>
            <a:xfrm>
              <a:off x="533400" y="5143500"/>
              <a:ext cx="11125200" cy="9525"/>
            </a:xfrm>
            <a:custGeom>
              <a:avLst/>
              <a:gdLst/>
              <a:ahLst/>
              <a:cxnLst/>
              <a:rect l="l" t="t" r="r" b="b"/>
              <a:pathLst>
                <a:path w="11125200" h="9525">
                  <a:moveTo>
                    <a:pt x="0" y="0"/>
                  </a:moveTo>
                  <a:lnTo>
                    <a:pt x="11125200" y="0"/>
                  </a:lnTo>
                </a:path>
              </a:pathLst>
            </a:custGeom>
            <a:noFill/>
            <a:ln w="28575">
              <a:solidFill>
                <a:srgbClr val="1A1A1A"/>
              </a:solidFill>
            </a:ln>
          </p:spPr>
        </p:sp>
        <p:sp>
          <p:nvSpPr>
            <p:cNvPr id="50" name="Rectangle 50"/>
            <p:cNvSpPr/>
            <p:nvPr/>
          </p:nvSpPr>
          <p:spPr>
            <a:xfrm>
              <a:off x="533400" y="5314950"/>
              <a:ext cx="11125200" cy="590550"/>
            </a:xfrm>
            <a:prstGeom prst="roundRect">
              <a:avLst>
                <a:gd name="adj" fmla="val 6452"/>
              </a:avLst>
            </a:prstGeom>
            <a:solidFill>
              <a:srgbClr val="1A1A1A"/>
            </a:solidFill>
            <a:ln>
              <a:noFill/>
            </a:ln>
          </p:spPr>
        </p:sp>
        <p:sp>
          <p:nvSpPr>
            <p:cNvPr id="51" name="Rectangle 51"/>
            <p:cNvSpPr/>
            <p:nvPr/>
          </p:nvSpPr>
          <p:spPr>
            <a:xfrm>
              <a:off x="533400" y="5314950"/>
              <a:ext cx="57150" cy="590550"/>
            </a:xfrm>
            <a:prstGeom prst="rect">
              <a:avLst/>
            </a:prstGeom>
            <a:solidFill>
              <a:srgbClr val="E9002F"/>
            </a:solidFill>
            <a:ln>
              <a:noFill/>
            </a:ln>
          </p:spPr>
        </p:sp>
        <p:sp>
          <p:nvSpPr>
            <p:cNvPr id="52" name="TextBox 52"/>
            <p:cNvSpPr txBox="1"/>
            <p:nvPr/>
          </p:nvSpPr>
          <p:spPr>
            <a:xfrm>
              <a:off x="755904" y="5423535"/>
              <a:ext cx="4252722"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定性：生态位竞争排除（市场化竞争结果，非行政禁令）</a:t>
              </a:r>
            </a:p>
          </p:txBody>
        </p:sp>
        <p:sp>
          <p:nvSpPr>
            <p:cNvPr id="53" name="TextBox 53"/>
            <p:cNvSpPr txBox="1"/>
            <p:nvPr/>
          </p:nvSpPr>
          <p:spPr>
            <a:xfrm>
              <a:off x="756285" y="5650706"/>
              <a:ext cx="5385489" cy="220028"/>
            </a:xfrm>
            <a:prstGeom prst="rect">
              <a:avLst/>
            </a:prstGeom>
            <a:noFill/>
            <a:ln>
              <a:noFill/>
            </a:ln>
          </p:spPr>
          <p:txBody>
            <a:bodyPr wrap="none" lIns="0" tIns="0" rIns="0" bIns="0" anchor="t" anchorCtr="0">
              <a:spAutoFit/>
            </a:bodyPr>
            <a:lstStyle/>
            <a:p>
              <a:pPr algn="l"/>
              <a:r>
                <a:rPr lang="zh-CN" sz="1120" dirty="0">
                  <a:solidFill>
                    <a:srgbClr val="B0B0B0"/>
                  </a:solidFill>
                  <a:latin typeface="Arial"/>
                  <a:ea typeface="Microsoft YaHei"/>
                  <a:cs typeface="Arial"/>
                </a:rPr>
                <a:t>唯一存量锚点：Flexible Engine云平台底座（2016年起技术合作，非品牌可见）</a:t>
              </a:r>
            </a:p>
          </p:txBody>
        </p:sp>
      </p:grpSp>
      <p:grpSp>
        <p:nvGrpSpPr>
          <p:cNvPr id="57" name="Group 57"/>
          <p:cNvGrpSpPr/>
          <p:nvPr/>
        </p:nvGrpSpPr>
        <p:grpSpPr>
          <a:xfrm>
            <a:off x="528447" y="6562249"/>
            <a:ext cx="11135106" cy="190690"/>
            <a:chOff x="528447" y="6562249"/>
            <a:chExt cx="11135106" cy="190690"/>
          </a:xfrm>
        </p:grpSpPr>
        <p:sp>
          <p:nvSpPr>
            <p:cNvPr id="55" name="TextBox 55"/>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6" name="TextBox 56"/>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252412"/>
            <a:ext cx="11616309" cy="747713"/>
            <a:chOff x="521970" y="252412"/>
            <a:chExt cx="11616309" cy="747713"/>
          </a:xfrm>
        </p:grpSpPr>
        <p:sp>
          <p:nvSpPr>
            <p:cNvPr id="3" name="TextBox 3"/>
            <p:cNvSpPr txBox="1"/>
            <p:nvPr/>
          </p:nvSpPr>
          <p:spPr>
            <a:xfrm>
              <a:off x="521970" y="252412"/>
              <a:ext cx="11616309"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OEU是三区域中对华为最不友好的法律环境——</a:t>
              </a:r>
              <a:r>
                <a:rPr lang="zh-CN" sz="2250" b="1" dirty="0">
                  <a:solidFill>
                    <a:srgbClr val="E9002F"/>
                  </a:solidFill>
                  <a:latin typeface="Arial"/>
                  <a:ea typeface="Microsoft YaHei"/>
                  <a:cs typeface="Arial"/>
                </a:rPr>
                <a:t>国家安全立法+对美协议强制退出</a:t>
              </a:r>
            </a:p>
          </p:txBody>
        </p:sp>
        <p:sp>
          <p:nvSpPr>
            <p:cNvPr id="4" name="TextBox 4"/>
            <p:cNvSpPr txBox="1"/>
            <p:nvPr/>
          </p:nvSpPr>
          <p:spPr>
            <a:xfrm>
              <a:off x="527304" y="708660"/>
              <a:ext cx="6974738"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波兰与罗马尼亚均已完成对华为的法律层面排除，罗马尼亚更在进行"拆除并更换"的存量替换工程</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47" name="Group 47"/>
          <p:cNvGrpSpPr/>
          <p:nvPr/>
        </p:nvGrpSpPr>
        <p:grpSpPr>
          <a:xfrm>
            <a:off x="533400" y="1315402"/>
            <a:ext cx="11125200" cy="3653409"/>
            <a:chOff x="533400" y="1315402"/>
            <a:chExt cx="11125200" cy="3653409"/>
          </a:xfrm>
        </p:grpSpPr>
        <p:sp>
          <p:nvSpPr>
            <p:cNvPr id="7" name="Line 7"/>
            <p:cNvSpPr/>
            <p:nvPr/>
          </p:nvSpPr>
          <p:spPr>
            <a:xfrm>
              <a:off x="533400" y="1552575"/>
              <a:ext cx="11125200" cy="9525"/>
            </a:xfrm>
            <a:custGeom>
              <a:avLst/>
              <a:gdLst/>
              <a:ahLst/>
              <a:cxnLst/>
              <a:rect l="l" t="t" r="r" b="b"/>
              <a:pathLst>
                <a:path w="11125200" h="9525">
                  <a:moveTo>
                    <a:pt x="0" y="0"/>
                  </a:moveTo>
                  <a:lnTo>
                    <a:pt x="11125200" y="0"/>
                  </a:lnTo>
                </a:path>
              </a:pathLst>
            </a:custGeom>
            <a:noFill/>
            <a:ln w="19050">
              <a:solidFill>
                <a:srgbClr val="CBD5E1"/>
              </a:solidFill>
            </a:ln>
          </p:spPr>
        </p:sp>
        <p:sp>
          <p:nvSpPr>
            <p:cNvPr id="8" name="TextBox 8"/>
            <p:cNvSpPr txBox="1"/>
            <p:nvPr/>
          </p:nvSpPr>
          <p:spPr>
            <a:xfrm>
              <a:off x="718566" y="1315402"/>
              <a:ext cx="1006472"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OFFERING维度</a:t>
              </a:r>
            </a:p>
          </p:txBody>
        </p:sp>
        <p:sp>
          <p:nvSpPr>
            <p:cNvPr id="9" name="TextBox 9"/>
            <p:cNvSpPr txBox="1"/>
            <p:nvPr/>
          </p:nvSpPr>
          <p:spPr>
            <a:xfrm>
              <a:off x="3042666" y="1315402"/>
              <a:ext cx="873176"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主要VENDOR</a:t>
              </a:r>
            </a:p>
          </p:txBody>
        </p:sp>
        <p:sp>
          <p:nvSpPr>
            <p:cNvPr id="10" name="TextBox 10"/>
            <p:cNvSpPr txBox="1"/>
            <p:nvPr/>
          </p:nvSpPr>
          <p:spPr>
            <a:xfrm>
              <a:off x="7043166" y="1315402"/>
              <a:ext cx="604342"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华为现状</a:t>
              </a:r>
            </a:p>
          </p:txBody>
        </p:sp>
        <p:sp>
          <p:nvSpPr>
            <p:cNvPr id="11" name="TextBox 11"/>
            <p:cNvSpPr txBox="1"/>
            <p:nvPr/>
          </p:nvSpPr>
          <p:spPr>
            <a:xfrm>
              <a:off x="9995916" y="1315402"/>
              <a:ext cx="901179"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参与度（估）</a:t>
              </a:r>
            </a:p>
          </p:txBody>
        </p:sp>
        <p:sp>
          <p:nvSpPr>
            <p:cNvPr id="12" name="Rectangle 12"/>
            <p:cNvSpPr/>
            <p:nvPr/>
          </p:nvSpPr>
          <p:spPr>
            <a:xfrm>
              <a:off x="533400" y="1647825"/>
              <a:ext cx="11125200" cy="552450"/>
            </a:xfrm>
            <a:prstGeom prst="rect">
              <a:avLst/>
            </a:prstGeom>
            <a:solidFill>
              <a:srgbClr val="FBF6F1"/>
            </a:solidFill>
            <a:ln>
              <a:noFill/>
            </a:ln>
          </p:spPr>
        </p:sp>
        <p:sp>
          <p:nvSpPr>
            <p:cNvPr id="13" name="TextBox 13"/>
            <p:cNvSpPr txBox="1"/>
            <p:nvPr/>
          </p:nvSpPr>
          <p:spPr>
            <a:xfrm>
              <a:off x="717423" y="1767364"/>
              <a:ext cx="1165018"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WAN连接/RAN</a:t>
              </a:r>
            </a:p>
          </p:txBody>
        </p:sp>
        <p:sp>
          <p:nvSpPr>
            <p:cNvPr id="14" name="TextBox 14"/>
            <p:cNvSpPr txBox="1"/>
            <p:nvPr/>
          </p:nvSpPr>
          <p:spPr>
            <a:xfrm>
              <a:off x="3041904" y="1775460"/>
              <a:ext cx="2224713" cy="234696"/>
            </a:xfrm>
            <a:prstGeom prst="rect">
              <a:avLst/>
            </a:prstGeom>
            <a:noFill/>
            <a:ln>
              <a:noFill/>
            </a:ln>
          </p:spPr>
          <p:txBody>
            <a:bodyPr wrap="none" lIns="0" tIns="0" rIns="0" bIns="0" anchor="t" anchorCtr="0">
              <a:spAutoFit/>
            </a:bodyPr>
            <a:lstStyle/>
            <a:p>
              <a:pPr algn="l"/>
              <a:r>
                <a:rPr lang="en-US" sz="1200" dirty="0">
                  <a:solidFill>
                    <a:srgbClr val="1A1A1A"/>
                  </a:solidFill>
                  <a:latin typeface="Arial"/>
                  <a:ea typeface="Arial"/>
                  <a:cs typeface="Arial"/>
                </a:rPr>
                <a:t>OneAccess / Cisco / Juniper</a:t>
              </a:r>
            </a:p>
          </p:txBody>
        </p:sp>
        <p:sp>
          <p:nvSpPr>
            <p:cNvPr id="15" name="TextBox 15"/>
            <p:cNvSpPr txBox="1"/>
            <p:nvPr/>
          </p:nvSpPr>
          <p:spPr>
            <a:xfrm>
              <a:off x="3042285" y="1974056"/>
              <a:ext cx="2275804"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 Ericsson（罗马尼亚RAN替换）</a:t>
              </a:r>
            </a:p>
          </p:txBody>
        </p:sp>
        <p:sp>
          <p:nvSpPr>
            <p:cNvPr id="16" name="TextBox 16"/>
            <p:cNvSpPr txBox="1"/>
            <p:nvPr/>
          </p:nvSpPr>
          <p:spPr>
            <a:xfrm>
              <a:off x="7042404" y="1842135"/>
              <a:ext cx="1369162"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完全排除（法律）</a:t>
              </a:r>
            </a:p>
          </p:txBody>
        </p:sp>
        <p:sp>
          <p:nvSpPr>
            <p:cNvPr id="17" name="Rectangle 17"/>
            <p:cNvSpPr/>
            <p:nvPr/>
          </p:nvSpPr>
          <p:spPr>
            <a:xfrm>
              <a:off x="9525000" y="1828800"/>
              <a:ext cx="1714500" cy="114300"/>
            </a:xfrm>
            <a:prstGeom prst="roundRect">
              <a:avLst>
                <a:gd name="adj" fmla="val 50000"/>
              </a:avLst>
            </a:prstGeom>
            <a:solidFill>
              <a:srgbClr val="E8E2DA"/>
            </a:solidFill>
            <a:ln>
              <a:noFill/>
            </a:ln>
          </p:spPr>
        </p:sp>
        <p:sp>
          <p:nvSpPr>
            <p:cNvPr id="18" name="TextBox 18"/>
            <p:cNvSpPr txBox="1"/>
            <p:nvPr/>
          </p:nvSpPr>
          <p:spPr>
            <a:xfrm>
              <a:off x="10285038" y="200120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19" name="TextBox 19"/>
            <p:cNvSpPr txBox="1"/>
            <p:nvPr/>
          </p:nvSpPr>
          <p:spPr>
            <a:xfrm>
              <a:off x="717423" y="2386489"/>
              <a:ext cx="708001"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LAN管理</a:t>
              </a:r>
            </a:p>
          </p:txBody>
        </p:sp>
        <p:sp>
          <p:nvSpPr>
            <p:cNvPr id="20" name="TextBox 20"/>
            <p:cNvSpPr txBox="1"/>
            <p:nvPr/>
          </p:nvSpPr>
          <p:spPr>
            <a:xfrm>
              <a:off x="3042285" y="2402681"/>
              <a:ext cx="2693229" cy="220028"/>
            </a:xfrm>
            <a:prstGeom prst="rect">
              <a:avLst/>
            </a:prstGeom>
            <a:noFill/>
            <a:ln>
              <a:noFill/>
            </a:ln>
          </p:spPr>
          <p:txBody>
            <a:bodyPr wrap="none" lIns="0" tIns="0" rIns="0" bIns="0" anchor="t" anchorCtr="0">
              <a:spAutoFit/>
            </a:bodyPr>
            <a:lstStyle/>
            <a:p>
              <a:pPr algn="l"/>
              <a:r>
                <a:rPr lang="en-US" sz="1120" dirty="0">
                  <a:solidFill>
                    <a:srgbClr val="1A1A1A"/>
                  </a:solidFill>
                  <a:latin typeface="Arial"/>
                  <a:ea typeface="Arial"/>
                  <a:cs typeface="Arial"/>
                </a:rPr>
                <a:t>Cisco/HPE/Fortinet</a:t>
              </a:r>
              <a:r>
                <a:rPr lang="zh-CN" sz="1120" dirty="0">
                  <a:solidFill>
                    <a:srgbClr val="6B6B6B"/>
                  </a:solidFill>
                  <a:latin typeface="Arial"/>
                  <a:ea typeface="Microsoft YaHei"/>
                  <a:cs typeface="Arial"/>
                </a:rPr>
                <a:t>（估，欧洲份额）</a:t>
              </a:r>
            </a:p>
          </p:txBody>
        </p:sp>
        <p:sp>
          <p:nvSpPr>
            <p:cNvPr id="21" name="TextBox 21"/>
            <p:cNvSpPr txBox="1"/>
            <p:nvPr/>
          </p:nvSpPr>
          <p:spPr>
            <a:xfrm>
              <a:off x="7042404" y="2394585"/>
              <a:ext cx="690677"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法律排除</a:t>
              </a:r>
            </a:p>
          </p:txBody>
        </p:sp>
        <p:sp>
          <p:nvSpPr>
            <p:cNvPr id="22" name="Rectangle 22"/>
            <p:cNvSpPr/>
            <p:nvPr/>
          </p:nvSpPr>
          <p:spPr>
            <a:xfrm>
              <a:off x="9525000" y="2381250"/>
              <a:ext cx="1714500" cy="114300"/>
            </a:xfrm>
            <a:prstGeom prst="roundRect">
              <a:avLst>
                <a:gd name="adj" fmla="val 50000"/>
              </a:avLst>
            </a:prstGeom>
            <a:solidFill>
              <a:srgbClr val="E8E2DA"/>
            </a:solidFill>
            <a:ln>
              <a:noFill/>
            </a:ln>
          </p:spPr>
        </p:sp>
        <p:sp>
          <p:nvSpPr>
            <p:cNvPr id="23" name="TextBox 23"/>
            <p:cNvSpPr txBox="1"/>
            <p:nvPr/>
          </p:nvSpPr>
          <p:spPr>
            <a:xfrm>
              <a:off x="10285038" y="255365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24" name="Rectangle 24"/>
            <p:cNvSpPr/>
            <p:nvPr/>
          </p:nvSpPr>
          <p:spPr>
            <a:xfrm>
              <a:off x="533400" y="2752725"/>
              <a:ext cx="11125200" cy="552450"/>
            </a:xfrm>
            <a:prstGeom prst="rect">
              <a:avLst/>
            </a:prstGeom>
            <a:solidFill>
              <a:srgbClr val="FBF6F1"/>
            </a:solidFill>
            <a:ln>
              <a:noFill/>
            </a:ln>
          </p:spPr>
        </p:sp>
        <p:sp>
          <p:nvSpPr>
            <p:cNvPr id="25" name="TextBox 25"/>
            <p:cNvSpPr txBox="1"/>
            <p:nvPr/>
          </p:nvSpPr>
          <p:spPr>
            <a:xfrm>
              <a:off x="717423" y="2938939"/>
              <a:ext cx="553622"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云服务</a:t>
              </a:r>
            </a:p>
          </p:txBody>
        </p:sp>
        <p:sp>
          <p:nvSpPr>
            <p:cNvPr id="26" name="TextBox 26"/>
            <p:cNvSpPr txBox="1"/>
            <p:nvPr/>
          </p:nvSpPr>
          <p:spPr>
            <a:xfrm>
              <a:off x="3041904" y="2947035"/>
              <a:ext cx="2043505"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波兰BlueSoft / Craftware</a:t>
              </a:r>
            </a:p>
          </p:txBody>
        </p:sp>
        <p:sp>
          <p:nvSpPr>
            <p:cNvPr id="27" name="TextBox 27"/>
            <p:cNvSpPr txBox="1"/>
            <p:nvPr/>
          </p:nvSpPr>
          <p:spPr>
            <a:xfrm>
              <a:off x="7042404" y="2947035"/>
              <a:ext cx="690677"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未见参与</a:t>
              </a:r>
            </a:p>
          </p:txBody>
        </p:sp>
        <p:sp>
          <p:nvSpPr>
            <p:cNvPr id="28" name="Rectangle 28"/>
            <p:cNvSpPr/>
            <p:nvPr/>
          </p:nvSpPr>
          <p:spPr>
            <a:xfrm>
              <a:off x="9525000" y="2933700"/>
              <a:ext cx="1714500" cy="114300"/>
            </a:xfrm>
            <a:prstGeom prst="roundRect">
              <a:avLst>
                <a:gd name="adj" fmla="val 50000"/>
              </a:avLst>
            </a:prstGeom>
            <a:solidFill>
              <a:srgbClr val="E8E2DA"/>
            </a:solidFill>
            <a:ln>
              <a:noFill/>
            </a:ln>
          </p:spPr>
        </p:sp>
        <p:sp>
          <p:nvSpPr>
            <p:cNvPr id="29" name="TextBox 29"/>
            <p:cNvSpPr txBox="1"/>
            <p:nvPr/>
          </p:nvSpPr>
          <p:spPr>
            <a:xfrm>
              <a:off x="10285038" y="310610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30" name="TextBox 30"/>
            <p:cNvSpPr txBox="1"/>
            <p:nvPr/>
          </p:nvSpPr>
          <p:spPr>
            <a:xfrm>
              <a:off x="717423" y="3491389"/>
              <a:ext cx="733844"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安全托管</a:t>
              </a:r>
            </a:p>
          </p:txBody>
        </p:sp>
        <p:sp>
          <p:nvSpPr>
            <p:cNvPr id="31" name="TextBox 31"/>
            <p:cNvSpPr txBox="1"/>
            <p:nvPr/>
          </p:nvSpPr>
          <p:spPr>
            <a:xfrm>
              <a:off x="3041904" y="3499485"/>
              <a:ext cx="2265274"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罗马尼亚SCUT / OCD区域节点</a:t>
              </a:r>
            </a:p>
          </p:txBody>
        </p:sp>
        <p:sp>
          <p:nvSpPr>
            <p:cNvPr id="32" name="TextBox 32"/>
            <p:cNvSpPr txBox="1"/>
            <p:nvPr/>
          </p:nvSpPr>
          <p:spPr>
            <a:xfrm>
              <a:off x="7042404" y="3499485"/>
              <a:ext cx="690677"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未见参与</a:t>
              </a:r>
            </a:p>
          </p:txBody>
        </p:sp>
        <p:sp>
          <p:nvSpPr>
            <p:cNvPr id="33" name="Rectangle 33"/>
            <p:cNvSpPr/>
            <p:nvPr/>
          </p:nvSpPr>
          <p:spPr>
            <a:xfrm>
              <a:off x="9525000" y="3486150"/>
              <a:ext cx="1714500" cy="114300"/>
            </a:xfrm>
            <a:prstGeom prst="roundRect">
              <a:avLst>
                <a:gd name="adj" fmla="val 50000"/>
              </a:avLst>
            </a:prstGeom>
            <a:solidFill>
              <a:srgbClr val="E8E2DA"/>
            </a:solidFill>
            <a:ln>
              <a:noFill/>
            </a:ln>
          </p:spPr>
        </p:sp>
        <p:sp>
          <p:nvSpPr>
            <p:cNvPr id="34" name="TextBox 34"/>
            <p:cNvSpPr txBox="1"/>
            <p:nvPr/>
          </p:nvSpPr>
          <p:spPr>
            <a:xfrm>
              <a:off x="10285038" y="365855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35" name="Rectangle 35"/>
            <p:cNvSpPr/>
            <p:nvPr/>
          </p:nvSpPr>
          <p:spPr>
            <a:xfrm>
              <a:off x="533400" y="3857625"/>
              <a:ext cx="11125200" cy="552450"/>
            </a:xfrm>
            <a:prstGeom prst="rect">
              <a:avLst/>
            </a:prstGeom>
            <a:solidFill>
              <a:srgbClr val="FBF6F1"/>
            </a:solidFill>
            <a:ln>
              <a:noFill/>
            </a:ln>
          </p:spPr>
        </p:sp>
        <p:sp>
          <p:nvSpPr>
            <p:cNvPr id="36" name="TextBox 36"/>
            <p:cNvSpPr txBox="1"/>
            <p:nvPr/>
          </p:nvSpPr>
          <p:spPr>
            <a:xfrm>
              <a:off x="717423" y="3977164"/>
              <a:ext cx="832966"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集成/转售</a:t>
              </a:r>
            </a:p>
          </p:txBody>
        </p:sp>
        <p:sp>
          <p:nvSpPr>
            <p:cNvPr id="37" name="TextBox 37"/>
            <p:cNvSpPr txBox="1"/>
            <p:nvPr/>
          </p:nvSpPr>
          <p:spPr>
            <a:xfrm>
              <a:off x="3041904" y="3985260"/>
              <a:ext cx="1688846"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OneAccess(法国自研)</a:t>
              </a:r>
            </a:p>
          </p:txBody>
        </p:sp>
        <p:sp>
          <p:nvSpPr>
            <p:cNvPr id="38" name="TextBox 38"/>
            <p:cNvSpPr txBox="1"/>
            <p:nvPr/>
          </p:nvSpPr>
          <p:spPr>
            <a:xfrm>
              <a:off x="3042285" y="4183856"/>
              <a:ext cx="1503188" cy="220028"/>
            </a:xfrm>
            <a:prstGeom prst="rect">
              <a:avLst/>
            </a:prstGeom>
            <a:noFill/>
            <a:ln>
              <a:noFill/>
            </a:ln>
          </p:spPr>
          <p:txBody>
            <a:bodyPr wrap="none" lIns="0" tIns="0" rIns="0" bIns="0" anchor="t" anchorCtr="0">
              <a:spAutoFit/>
            </a:bodyPr>
            <a:lstStyle/>
            <a:p>
              <a:pPr algn="l"/>
              <a:r>
                <a:rPr lang="zh-CN" sz="1120" dirty="0">
                  <a:solidFill>
                    <a:srgbClr val="6B6B6B"/>
                  </a:solidFill>
                  <a:latin typeface="Arial"/>
                  <a:ea typeface="Microsoft YaHei"/>
                  <a:cs typeface="Arial"/>
                </a:rPr>
                <a:t>/ 西班牙大型项目案例</a:t>
              </a:r>
            </a:p>
          </p:txBody>
        </p:sp>
        <p:sp>
          <p:nvSpPr>
            <p:cNvPr id="39" name="TextBox 39"/>
            <p:cNvSpPr txBox="1"/>
            <p:nvPr/>
          </p:nvSpPr>
          <p:spPr>
            <a:xfrm>
              <a:off x="7042404" y="4051935"/>
              <a:ext cx="1029919"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生态未见身影</a:t>
              </a:r>
            </a:p>
          </p:txBody>
        </p:sp>
        <p:sp>
          <p:nvSpPr>
            <p:cNvPr id="40" name="Rectangle 40"/>
            <p:cNvSpPr/>
            <p:nvPr/>
          </p:nvSpPr>
          <p:spPr>
            <a:xfrm>
              <a:off x="9525000" y="4038600"/>
              <a:ext cx="1714500" cy="114300"/>
            </a:xfrm>
            <a:prstGeom prst="roundRect">
              <a:avLst>
                <a:gd name="adj" fmla="val 50000"/>
              </a:avLst>
            </a:prstGeom>
            <a:solidFill>
              <a:srgbClr val="E8E2DA"/>
            </a:solidFill>
            <a:ln>
              <a:noFill/>
            </a:ln>
          </p:spPr>
        </p:sp>
        <p:sp>
          <p:nvSpPr>
            <p:cNvPr id="41" name="TextBox 41"/>
            <p:cNvSpPr txBox="1"/>
            <p:nvPr/>
          </p:nvSpPr>
          <p:spPr>
            <a:xfrm>
              <a:off x="10285038" y="421100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sp>
          <p:nvSpPr>
            <p:cNvPr id="42" name="TextBox 42"/>
            <p:cNvSpPr txBox="1"/>
            <p:nvPr/>
          </p:nvSpPr>
          <p:spPr>
            <a:xfrm>
              <a:off x="717423" y="4596289"/>
              <a:ext cx="1126933"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移动专网MPN</a:t>
              </a:r>
            </a:p>
          </p:txBody>
        </p:sp>
        <p:sp>
          <p:nvSpPr>
            <p:cNvPr id="43" name="TextBox 43"/>
            <p:cNvSpPr txBox="1"/>
            <p:nvPr/>
          </p:nvSpPr>
          <p:spPr>
            <a:xfrm>
              <a:off x="3041904" y="4604385"/>
              <a:ext cx="2032356"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西班牙MasOrange新签合同</a:t>
              </a:r>
            </a:p>
          </p:txBody>
        </p:sp>
        <p:sp>
          <p:nvSpPr>
            <p:cNvPr id="44" name="TextBox 44"/>
            <p:cNvSpPr txBox="1"/>
            <p:nvPr/>
          </p:nvSpPr>
          <p:spPr>
            <a:xfrm>
              <a:off x="7042404" y="4604385"/>
              <a:ext cx="1538783"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预计基本排除（估）</a:t>
              </a:r>
            </a:p>
          </p:txBody>
        </p:sp>
        <p:sp>
          <p:nvSpPr>
            <p:cNvPr id="45" name="Rectangle 45"/>
            <p:cNvSpPr/>
            <p:nvPr/>
          </p:nvSpPr>
          <p:spPr>
            <a:xfrm>
              <a:off x="9525000" y="4591050"/>
              <a:ext cx="1714500" cy="114300"/>
            </a:xfrm>
            <a:prstGeom prst="roundRect">
              <a:avLst>
                <a:gd name="adj" fmla="val 50000"/>
              </a:avLst>
            </a:prstGeom>
            <a:solidFill>
              <a:srgbClr val="E8E2DA"/>
            </a:solidFill>
            <a:ln>
              <a:noFill/>
            </a:ln>
          </p:spPr>
        </p:sp>
        <p:sp>
          <p:nvSpPr>
            <p:cNvPr id="46" name="TextBox 46"/>
            <p:cNvSpPr txBox="1"/>
            <p:nvPr/>
          </p:nvSpPr>
          <p:spPr>
            <a:xfrm>
              <a:off x="10285038" y="4763452"/>
              <a:ext cx="194424" cy="205359"/>
            </a:xfrm>
            <a:prstGeom prst="rect">
              <a:avLst/>
            </a:prstGeom>
            <a:noFill/>
            <a:ln>
              <a:noFill/>
            </a:ln>
          </p:spPr>
          <p:txBody>
            <a:bodyPr wrap="none" lIns="0" tIns="0" rIns="0" bIns="0" anchor="t" anchorCtr="0">
              <a:spAutoFit/>
            </a:bodyPr>
            <a:lstStyle/>
            <a:p>
              <a:pPr algn="ctr"/>
              <a:r>
                <a:rPr lang="en-US" sz="1050" dirty="0">
                  <a:solidFill>
                    <a:srgbClr val="9B9B9B"/>
                  </a:solidFill>
                  <a:latin typeface="Arial"/>
                  <a:ea typeface="Arial"/>
                  <a:cs typeface="Arial"/>
                </a:rPr>
                <a:t>0%</a:t>
              </a:r>
            </a:p>
          </p:txBody>
        </p:sp>
      </p:grpSp>
      <p:grpSp>
        <p:nvGrpSpPr>
          <p:cNvPr id="53" name="Group 53"/>
          <p:cNvGrpSpPr/>
          <p:nvPr/>
        </p:nvGrpSpPr>
        <p:grpSpPr>
          <a:xfrm>
            <a:off x="533400" y="5143500"/>
            <a:ext cx="11125200" cy="762000"/>
            <a:chOff x="533400" y="5143500"/>
            <a:chExt cx="11125200" cy="762000"/>
          </a:xfrm>
        </p:grpSpPr>
        <p:sp>
          <p:nvSpPr>
            <p:cNvPr id="48" name="Line 48"/>
            <p:cNvSpPr/>
            <p:nvPr/>
          </p:nvSpPr>
          <p:spPr>
            <a:xfrm>
              <a:off x="533400" y="5143500"/>
              <a:ext cx="11125200" cy="9525"/>
            </a:xfrm>
            <a:custGeom>
              <a:avLst/>
              <a:gdLst/>
              <a:ahLst/>
              <a:cxnLst/>
              <a:rect l="l" t="t" r="r" b="b"/>
              <a:pathLst>
                <a:path w="11125200" h="9525">
                  <a:moveTo>
                    <a:pt x="0" y="0"/>
                  </a:moveTo>
                  <a:lnTo>
                    <a:pt x="11125200" y="0"/>
                  </a:lnTo>
                </a:path>
              </a:pathLst>
            </a:custGeom>
            <a:noFill/>
            <a:ln w="28575">
              <a:solidFill>
                <a:srgbClr val="1A1A1A"/>
              </a:solidFill>
            </a:ln>
          </p:spPr>
        </p:sp>
        <p:sp>
          <p:nvSpPr>
            <p:cNvPr id="49" name="Rectangle 49"/>
            <p:cNvSpPr/>
            <p:nvPr/>
          </p:nvSpPr>
          <p:spPr>
            <a:xfrm>
              <a:off x="533400" y="5314950"/>
              <a:ext cx="11125200" cy="590550"/>
            </a:xfrm>
            <a:prstGeom prst="roundRect">
              <a:avLst>
                <a:gd name="adj" fmla="val 6452"/>
              </a:avLst>
            </a:prstGeom>
            <a:solidFill>
              <a:srgbClr val="1A1A1A"/>
            </a:solidFill>
            <a:ln>
              <a:noFill/>
            </a:ln>
          </p:spPr>
        </p:sp>
        <p:sp>
          <p:nvSpPr>
            <p:cNvPr id="50" name="Rectangle 50"/>
            <p:cNvSpPr/>
            <p:nvPr/>
          </p:nvSpPr>
          <p:spPr>
            <a:xfrm>
              <a:off x="533400" y="5314950"/>
              <a:ext cx="57150" cy="590550"/>
            </a:xfrm>
            <a:prstGeom prst="rect">
              <a:avLst/>
            </a:prstGeom>
            <a:solidFill>
              <a:srgbClr val="E9002F"/>
            </a:solidFill>
            <a:ln>
              <a:noFill/>
            </a:ln>
          </p:spPr>
        </p:sp>
        <p:sp>
          <p:nvSpPr>
            <p:cNvPr id="51" name="TextBox 51"/>
            <p:cNvSpPr txBox="1"/>
            <p:nvPr/>
          </p:nvSpPr>
          <p:spPr>
            <a:xfrm>
              <a:off x="755904" y="5394960"/>
              <a:ext cx="2989044"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定性：国家安全立法+对美协议强制退出</a:t>
              </a:r>
            </a:p>
          </p:txBody>
        </p:sp>
        <p:sp>
          <p:nvSpPr>
            <p:cNvPr id="52" name="TextBox 52"/>
            <p:cNvSpPr txBox="1"/>
            <p:nvPr/>
          </p:nvSpPr>
          <p:spPr>
            <a:xfrm>
              <a:off x="756285" y="5612606"/>
              <a:ext cx="6444567" cy="220028"/>
            </a:xfrm>
            <a:prstGeom prst="rect">
              <a:avLst/>
            </a:prstGeom>
            <a:noFill/>
            <a:ln>
              <a:noFill/>
            </a:ln>
          </p:spPr>
          <p:txBody>
            <a:bodyPr wrap="none" lIns="0" tIns="0" rIns="0" bIns="0" anchor="t" anchorCtr="0">
              <a:spAutoFit/>
            </a:bodyPr>
            <a:lstStyle/>
            <a:p>
              <a:pPr algn="l"/>
              <a:r>
                <a:rPr lang="zh-CN" sz="1120" dirty="0">
                  <a:solidFill>
                    <a:srgbClr val="B0B0B0"/>
                  </a:solidFill>
                  <a:latin typeface="Arial"/>
                  <a:ea typeface="Microsoft YaHei"/>
                  <a:cs typeface="Arial"/>
                </a:rPr>
                <a:t>波兰2024.11高风险供应商认定 · 罗马尼亚2021.6 5G安全法禁令，正"拆除并更换"至Ericsson</a:t>
              </a:r>
            </a:p>
          </p:txBody>
        </p:sp>
      </p:grpSp>
      <p:grpSp>
        <p:nvGrpSpPr>
          <p:cNvPr id="56" name="Group 56"/>
          <p:cNvGrpSpPr/>
          <p:nvPr/>
        </p:nvGrpSpPr>
        <p:grpSpPr>
          <a:xfrm>
            <a:off x="528447" y="6562249"/>
            <a:ext cx="11135106" cy="190690"/>
            <a:chOff x="528447" y="6562249"/>
            <a:chExt cx="11135106" cy="190690"/>
          </a:xfrm>
        </p:grpSpPr>
        <p:sp>
          <p:nvSpPr>
            <p:cNvPr id="54" name="TextBox 54"/>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5" name="TextBox 55"/>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1970" y="252412"/>
            <a:ext cx="11409283" cy="747713"/>
            <a:chOff x="521970" y="252412"/>
            <a:chExt cx="11409283" cy="747713"/>
          </a:xfrm>
        </p:grpSpPr>
        <p:sp>
          <p:nvSpPr>
            <p:cNvPr id="3" name="TextBox 3"/>
            <p:cNvSpPr txBox="1"/>
            <p:nvPr/>
          </p:nvSpPr>
          <p:spPr>
            <a:xfrm>
              <a:off x="521970" y="252412"/>
              <a:ext cx="11409283" cy="440055"/>
            </a:xfrm>
            <a:prstGeom prst="rect">
              <a:avLst/>
            </a:prstGeom>
            <a:noFill/>
            <a:ln>
              <a:noFill/>
            </a:ln>
          </p:spPr>
          <p:txBody>
            <a:bodyPr wrap="none" lIns="0" tIns="0" rIns="0" bIns="0" anchor="t" anchorCtr="0">
              <a:spAutoFit/>
            </a:bodyPr>
            <a:lstStyle/>
            <a:p>
              <a:pPr algn="l"/>
              <a:r>
                <a:rPr lang="zh-CN" sz="2250" b="1" dirty="0">
                  <a:solidFill>
                    <a:srgbClr val="1A1A1A"/>
                  </a:solidFill>
                  <a:latin typeface="Arial"/>
                  <a:ea typeface="Microsoft YaHei"/>
                  <a:cs typeface="Arial"/>
                </a:rPr>
                <a:t>OMEA是华为在Orange集团B2B中的</a:t>
              </a:r>
              <a:r>
                <a:rPr lang="zh-CN" sz="2250" b="1" dirty="0">
                  <a:solidFill>
                    <a:srgbClr val="E9002F"/>
                  </a:solidFill>
                  <a:latin typeface="Arial"/>
                  <a:ea typeface="Microsoft YaHei"/>
                  <a:cs typeface="Arial"/>
                </a:rPr>
                <a:t>核心阵地</a:t>
              </a:r>
              <a:r>
                <a:rPr lang="zh-CN" sz="2250" b="1" dirty="0">
                  <a:solidFill>
                    <a:srgbClr val="1A1A1A"/>
                  </a:solidFill>
                  <a:latin typeface="Arial"/>
                  <a:ea typeface="Microsoft YaHei"/>
                  <a:cs typeface="Arial"/>
                </a:rPr>
                <a:t>——从RAN到云运维的全栈深度绑定</a:t>
              </a:r>
            </a:p>
          </p:txBody>
        </p:sp>
        <p:sp>
          <p:nvSpPr>
            <p:cNvPr id="4" name="TextBox 4"/>
            <p:cNvSpPr txBox="1"/>
            <p:nvPr/>
          </p:nvSpPr>
          <p:spPr>
            <a:xfrm>
              <a:off x="527304" y="708660"/>
              <a:ext cx="8150066" cy="234696"/>
            </a:xfrm>
            <a:prstGeom prst="rect">
              <a:avLst/>
            </a:prstGeom>
            <a:noFill/>
            <a:ln>
              <a:noFill/>
            </a:ln>
          </p:spPr>
          <p:txBody>
            <a:bodyPr wrap="none" lIns="0" tIns="0" rIns="0" bIns="0" anchor="t" anchorCtr="0">
              <a:spAutoFit/>
            </a:bodyPr>
            <a:lstStyle/>
            <a:p>
              <a:pPr algn="l"/>
              <a:r>
                <a:rPr lang="zh-CN" sz="1200" dirty="0">
                  <a:solidFill>
                    <a:srgbClr val="6B6B6B"/>
                  </a:solidFill>
                  <a:latin typeface="Arial"/>
                  <a:ea typeface="Microsoft YaHei"/>
                  <a:cs typeface="Arial"/>
                </a:rPr>
                <a:t>华为占非洲4G骨干网份额约70%，Huawei AUTIN直接部署在Orange自有Flexible Engine云上，三区域中独一无二</a:t>
              </a:r>
            </a:p>
          </p:txBody>
        </p:sp>
        <p:sp>
          <p:nvSpPr>
            <p:cNvPr id="5" name="Line 5"/>
            <p:cNvSpPr/>
            <p:nvPr/>
          </p:nvSpPr>
          <p:spPr>
            <a:xfrm>
              <a:off x="533400" y="9906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51" name="Group 51"/>
          <p:cNvGrpSpPr/>
          <p:nvPr/>
        </p:nvGrpSpPr>
        <p:grpSpPr>
          <a:xfrm>
            <a:off x="533400" y="1315402"/>
            <a:ext cx="11125200" cy="3653409"/>
            <a:chOff x="533400" y="1315402"/>
            <a:chExt cx="11125200" cy="3653409"/>
          </a:xfrm>
        </p:grpSpPr>
        <p:sp>
          <p:nvSpPr>
            <p:cNvPr id="7" name="Line 7"/>
            <p:cNvSpPr/>
            <p:nvPr/>
          </p:nvSpPr>
          <p:spPr>
            <a:xfrm>
              <a:off x="533400" y="1552575"/>
              <a:ext cx="11125200" cy="9525"/>
            </a:xfrm>
            <a:custGeom>
              <a:avLst/>
              <a:gdLst/>
              <a:ahLst/>
              <a:cxnLst/>
              <a:rect l="l" t="t" r="r" b="b"/>
              <a:pathLst>
                <a:path w="11125200" h="9525">
                  <a:moveTo>
                    <a:pt x="0" y="0"/>
                  </a:moveTo>
                  <a:lnTo>
                    <a:pt x="11125200" y="0"/>
                  </a:lnTo>
                </a:path>
              </a:pathLst>
            </a:custGeom>
            <a:noFill/>
            <a:ln w="19050">
              <a:solidFill>
                <a:srgbClr val="CBD5E1"/>
              </a:solidFill>
            </a:ln>
          </p:spPr>
        </p:sp>
        <p:sp>
          <p:nvSpPr>
            <p:cNvPr id="8" name="TextBox 8"/>
            <p:cNvSpPr txBox="1"/>
            <p:nvPr/>
          </p:nvSpPr>
          <p:spPr>
            <a:xfrm>
              <a:off x="718566" y="1315402"/>
              <a:ext cx="307505"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维度</a:t>
              </a:r>
            </a:p>
          </p:txBody>
        </p:sp>
        <p:sp>
          <p:nvSpPr>
            <p:cNvPr id="9" name="TextBox 9"/>
            <p:cNvSpPr txBox="1"/>
            <p:nvPr/>
          </p:nvSpPr>
          <p:spPr>
            <a:xfrm>
              <a:off x="3042666" y="1315402"/>
              <a:ext cx="604342"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华为角色</a:t>
              </a:r>
            </a:p>
          </p:txBody>
        </p:sp>
        <p:sp>
          <p:nvSpPr>
            <p:cNvPr id="10" name="TextBox 10"/>
            <p:cNvSpPr txBox="1"/>
            <p:nvPr/>
          </p:nvSpPr>
          <p:spPr>
            <a:xfrm>
              <a:off x="7043166" y="1315402"/>
              <a:ext cx="307505"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现状</a:t>
              </a:r>
            </a:p>
          </p:txBody>
        </p:sp>
        <p:sp>
          <p:nvSpPr>
            <p:cNvPr id="11" name="TextBox 11"/>
            <p:cNvSpPr txBox="1"/>
            <p:nvPr/>
          </p:nvSpPr>
          <p:spPr>
            <a:xfrm>
              <a:off x="9995916" y="1315402"/>
              <a:ext cx="901179" cy="205359"/>
            </a:xfrm>
            <a:prstGeom prst="rect">
              <a:avLst/>
            </a:prstGeom>
            <a:noFill/>
            <a:ln>
              <a:noFill/>
            </a:ln>
          </p:spPr>
          <p:txBody>
            <a:bodyPr wrap="none" lIns="0" tIns="0" rIns="0" bIns="0" anchor="t" anchorCtr="0">
              <a:spAutoFit/>
            </a:bodyPr>
            <a:lstStyle/>
            <a:p>
              <a:pPr algn="l"/>
              <a:r>
                <a:rPr lang="zh-CN" sz="1050" b="1" dirty="0">
                  <a:solidFill>
                    <a:srgbClr val="6B6B6B"/>
                  </a:solidFill>
                  <a:latin typeface="Arial"/>
                  <a:ea typeface="Microsoft YaHei"/>
                  <a:cs typeface="Arial"/>
                </a:rPr>
                <a:t>参与度（估）</a:t>
              </a:r>
            </a:p>
          </p:txBody>
        </p:sp>
        <p:sp>
          <p:nvSpPr>
            <p:cNvPr id="12" name="Rectangle 12"/>
            <p:cNvSpPr/>
            <p:nvPr/>
          </p:nvSpPr>
          <p:spPr>
            <a:xfrm>
              <a:off x="533400" y="1647825"/>
              <a:ext cx="11125200" cy="552450"/>
            </a:xfrm>
            <a:prstGeom prst="rect">
              <a:avLst/>
            </a:prstGeom>
            <a:solidFill>
              <a:srgbClr val="FFF8E7"/>
            </a:solidFill>
            <a:ln>
              <a:noFill/>
            </a:ln>
          </p:spPr>
        </p:sp>
        <p:sp>
          <p:nvSpPr>
            <p:cNvPr id="13" name="TextBox 13"/>
            <p:cNvSpPr txBox="1"/>
            <p:nvPr/>
          </p:nvSpPr>
          <p:spPr>
            <a:xfrm>
              <a:off x="717423" y="1834039"/>
              <a:ext cx="1203103"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WAN连接/MPN</a:t>
              </a:r>
            </a:p>
          </p:txBody>
        </p:sp>
        <p:sp>
          <p:nvSpPr>
            <p:cNvPr id="14" name="TextBox 14"/>
            <p:cNvSpPr txBox="1"/>
            <p:nvPr/>
          </p:nvSpPr>
          <p:spPr>
            <a:xfrm>
              <a:off x="3041904" y="1842135"/>
              <a:ext cx="1727606"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与Nokia并列主力供应商</a:t>
              </a:r>
            </a:p>
          </p:txBody>
        </p:sp>
        <p:sp>
          <p:nvSpPr>
            <p:cNvPr id="15" name="TextBox 15"/>
            <p:cNvSpPr txBox="1"/>
            <p:nvPr/>
          </p:nvSpPr>
          <p:spPr>
            <a:xfrm>
              <a:off x="7042404" y="1842135"/>
              <a:ext cx="1369162"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矿业港口实证案例</a:t>
              </a:r>
            </a:p>
          </p:txBody>
        </p:sp>
        <p:sp>
          <p:nvSpPr>
            <p:cNvPr id="16" name="Rectangle 16"/>
            <p:cNvSpPr/>
            <p:nvPr/>
          </p:nvSpPr>
          <p:spPr>
            <a:xfrm>
              <a:off x="9525000" y="1828800"/>
              <a:ext cx="1714500" cy="114300"/>
            </a:xfrm>
            <a:prstGeom prst="roundRect">
              <a:avLst>
                <a:gd name="adj" fmla="val 50000"/>
              </a:avLst>
            </a:prstGeom>
            <a:solidFill>
              <a:srgbClr val="E8E2DA"/>
            </a:solidFill>
            <a:ln>
              <a:noFill/>
            </a:ln>
          </p:spPr>
        </p:sp>
        <p:sp>
          <p:nvSpPr>
            <p:cNvPr id="17" name="Rectangle 17"/>
            <p:cNvSpPr/>
            <p:nvPr/>
          </p:nvSpPr>
          <p:spPr>
            <a:xfrm>
              <a:off x="9525000" y="1828800"/>
              <a:ext cx="771525" cy="114300"/>
            </a:xfrm>
            <a:prstGeom prst="roundRect">
              <a:avLst>
                <a:gd name="adj" fmla="val 50000"/>
              </a:avLst>
            </a:prstGeom>
            <a:solidFill>
              <a:srgbClr val="E9002F"/>
            </a:solidFill>
            <a:ln>
              <a:noFill/>
            </a:ln>
          </p:spPr>
        </p:sp>
        <p:sp>
          <p:nvSpPr>
            <p:cNvPr id="18" name="TextBox 18"/>
            <p:cNvSpPr txBox="1"/>
            <p:nvPr/>
          </p:nvSpPr>
          <p:spPr>
            <a:xfrm>
              <a:off x="10239629" y="200120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45%</a:t>
              </a:r>
            </a:p>
          </p:txBody>
        </p:sp>
        <p:sp>
          <p:nvSpPr>
            <p:cNvPr id="19" name="TextBox 19"/>
            <p:cNvSpPr txBox="1"/>
            <p:nvPr/>
          </p:nvSpPr>
          <p:spPr>
            <a:xfrm>
              <a:off x="717423" y="2386489"/>
              <a:ext cx="553622"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云服务</a:t>
              </a:r>
            </a:p>
          </p:txBody>
        </p:sp>
        <p:sp>
          <p:nvSpPr>
            <p:cNvPr id="20" name="TextBox 20"/>
            <p:cNvSpPr txBox="1"/>
            <p:nvPr/>
          </p:nvSpPr>
          <p:spPr>
            <a:xfrm>
              <a:off x="3041904" y="2394585"/>
              <a:ext cx="2027301"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Flexible Engine（同源OB）</a:t>
              </a:r>
            </a:p>
          </p:txBody>
        </p:sp>
        <p:sp>
          <p:nvSpPr>
            <p:cNvPr id="21" name="TextBox 21"/>
            <p:cNvSpPr txBox="1"/>
            <p:nvPr/>
          </p:nvSpPr>
          <p:spPr>
            <a:xfrm>
              <a:off x="7042404" y="2394585"/>
              <a:ext cx="1607271"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AUTIN联合运维GNOC</a:t>
              </a:r>
            </a:p>
          </p:txBody>
        </p:sp>
        <p:sp>
          <p:nvSpPr>
            <p:cNvPr id="22" name="Rectangle 22"/>
            <p:cNvSpPr/>
            <p:nvPr/>
          </p:nvSpPr>
          <p:spPr>
            <a:xfrm>
              <a:off x="9525000" y="2381250"/>
              <a:ext cx="1714500" cy="114300"/>
            </a:xfrm>
            <a:prstGeom prst="roundRect">
              <a:avLst>
                <a:gd name="adj" fmla="val 50000"/>
              </a:avLst>
            </a:prstGeom>
            <a:solidFill>
              <a:srgbClr val="E8E2DA"/>
            </a:solidFill>
            <a:ln>
              <a:noFill/>
            </a:ln>
          </p:spPr>
        </p:sp>
        <p:sp>
          <p:nvSpPr>
            <p:cNvPr id="23" name="Rectangle 23"/>
            <p:cNvSpPr/>
            <p:nvPr/>
          </p:nvSpPr>
          <p:spPr>
            <a:xfrm>
              <a:off x="9525000" y="2381250"/>
              <a:ext cx="1200150" cy="114300"/>
            </a:xfrm>
            <a:prstGeom prst="roundRect">
              <a:avLst>
                <a:gd name="adj" fmla="val 50000"/>
              </a:avLst>
            </a:prstGeom>
            <a:solidFill>
              <a:srgbClr val="E9002F"/>
            </a:solidFill>
            <a:ln>
              <a:noFill/>
            </a:ln>
          </p:spPr>
        </p:sp>
        <p:sp>
          <p:nvSpPr>
            <p:cNvPr id="24" name="TextBox 24"/>
            <p:cNvSpPr txBox="1"/>
            <p:nvPr/>
          </p:nvSpPr>
          <p:spPr>
            <a:xfrm>
              <a:off x="10239629" y="255365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70%</a:t>
              </a:r>
            </a:p>
          </p:txBody>
        </p:sp>
        <p:sp>
          <p:nvSpPr>
            <p:cNvPr id="25" name="Rectangle 25"/>
            <p:cNvSpPr/>
            <p:nvPr/>
          </p:nvSpPr>
          <p:spPr>
            <a:xfrm>
              <a:off x="533400" y="2752725"/>
              <a:ext cx="11125200" cy="552450"/>
            </a:xfrm>
            <a:prstGeom prst="rect">
              <a:avLst/>
            </a:prstGeom>
            <a:solidFill>
              <a:srgbClr val="FFF8E7"/>
            </a:solidFill>
            <a:ln>
              <a:noFill/>
            </a:ln>
          </p:spPr>
        </p:sp>
        <p:sp>
          <p:nvSpPr>
            <p:cNvPr id="26" name="TextBox 26"/>
            <p:cNvSpPr txBox="1"/>
            <p:nvPr/>
          </p:nvSpPr>
          <p:spPr>
            <a:xfrm>
              <a:off x="717423" y="2938939"/>
              <a:ext cx="793692"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4G骨干网</a:t>
              </a:r>
            </a:p>
          </p:txBody>
        </p:sp>
        <p:sp>
          <p:nvSpPr>
            <p:cNvPr id="27" name="TextBox 27"/>
            <p:cNvSpPr txBox="1"/>
            <p:nvPr/>
          </p:nvSpPr>
          <p:spPr>
            <a:xfrm>
              <a:off x="3041904" y="2947035"/>
              <a:ext cx="819912"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主导供应商</a:t>
              </a:r>
            </a:p>
          </p:txBody>
        </p:sp>
        <p:sp>
          <p:nvSpPr>
            <p:cNvPr id="28" name="TextBox 28"/>
            <p:cNvSpPr txBox="1"/>
            <p:nvPr/>
          </p:nvSpPr>
          <p:spPr>
            <a:xfrm>
              <a:off x="7042404" y="2947035"/>
              <a:ext cx="1974677"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非洲4G骨干网份额约70%</a:t>
              </a:r>
            </a:p>
          </p:txBody>
        </p:sp>
        <p:sp>
          <p:nvSpPr>
            <p:cNvPr id="29" name="Rectangle 29"/>
            <p:cNvSpPr/>
            <p:nvPr/>
          </p:nvSpPr>
          <p:spPr>
            <a:xfrm>
              <a:off x="9525000" y="2933700"/>
              <a:ext cx="1714500" cy="114300"/>
            </a:xfrm>
            <a:prstGeom prst="roundRect">
              <a:avLst>
                <a:gd name="adj" fmla="val 50000"/>
              </a:avLst>
            </a:prstGeom>
            <a:solidFill>
              <a:srgbClr val="E8E2DA"/>
            </a:solidFill>
            <a:ln>
              <a:noFill/>
            </a:ln>
          </p:spPr>
        </p:sp>
        <p:sp>
          <p:nvSpPr>
            <p:cNvPr id="30" name="Rectangle 30"/>
            <p:cNvSpPr/>
            <p:nvPr/>
          </p:nvSpPr>
          <p:spPr>
            <a:xfrm>
              <a:off x="9525000" y="2933700"/>
              <a:ext cx="1200150" cy="114300"/>
            </a:xfrm>
            <a:prstGeom prst="roundRect">
              <a:avLst>
                <a:gd name="adj" fmla="val 50000"/>
              </a:avLst>
            </a:prstGeom>
            <a:solidFill>
              <a:srgbClr val="E9002F"/>
            </a:solidFill>
            <a:ln>
              <a:noFill/>
            </a:ln>
          </p:spPr>
        </p:sp>
        <p:sp>
          <p:nvSpPr>
            <p:cNvPr id="31" name="TextBox 31"/>
            <p:cNvSpPr txBox="1"/>
            <p:nvPr/>
          </p:nvSpPr>
          <p:spPr>
            <a:xfrm>
              <a:off x="10239629" y="310610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70%</a:t>
              </a:r>
            </a:p>
          </p:txBody>
        </p:sp>
        <p:sp>
          <p:nvSpPr>
            <p:cNvPr id="32" name="TextBox 32"/>
            <p:cNvSpPr txBox="1"/>
            <p:nvPr/>
          </p:nvSpPr>
          <p:spPr>
            <a:xfrm>
              <a:off x="717423" y="3491389"/>
              <a:ext cx="1094289"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乡村基站建设</a:t>
              </a:r>
            </a:p>
          </p:txBody>
        </p:sp>
        <p:sp>
          <p:nvSpPr>
            <p:cNvPr id="33" name="TextBox 33"/>
            <p:cNvSpPr txBox="1"/>
            <p:nvPr/>
          </p:nvSpPr>
          <p:spPr>
            <a:xfrm>
              <a:off x="3041904" y="3499485"/>
              <a:ext cx="1505712"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华为+HEHA电源系统</a:t>
              </a:r>
            </a:p>
          </p:txBody>
        </p:sp>
        <p:sp>
          <p:nvSpPr>
            <p:cNvPr id="34" name="TextBox 34"/>
            <p:cNvSpPr txBox="1"/>
            <p:nvPr/>
          </p:nvSpPr>
          <p:spPr>
            <a:xfrm>
              <a:off x="7042404" y="3499485"/>
              <a:ext cx="2412332"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联合部署2,000个(目标15,000)</a:t>
              </a:r>
            </a:p>
          </p:txBody>
        </p:sp>
        <p:sp>
          <p:nvSpPr>
            <p:cNvPr id="35" name="Rectangle 35"/>
            <p:cNvSpPr/>
            <p:nvPr/>
          </p:nvSpPr>
          <p:spPr>
            <a:xfrm>
              <a:off x="9525000" y="3486150"/>
              <a:ext cx="1714500" cy="114300"/>
            </a:xfrm>
            <a:prstGeom prst="roundRect">
              <a:avLst>
                <a:gd name="adj" fmla="val 50000"/>
              </a:avLst>
            </a:prstGeom>
            <a:solidFill>
              <a:srgbClr val="E8E2DA"/>
            </a:solidFill>
            <a:ln>
              <a:noFill/>
            </a:ln>
          </p:spPr>
        </p:sp>
        <p:sp>
          <p:nvSpPr>
            <p:cNvPr id="36" name="Rectangle 36"/>
            <p:cNvSpPr/>
            <p:nvPr/>
          </p:nvSpPr>
          <p:spPr>
            <a:xfrm>
              <a:off x="9525000" y="3486150"/>
              <a:ext cx="1028700" cy="114300"/>
            </a:xfrm>
            <a:prstGeom prst="roundRect">
              <a:avLst>
                <a:gd name="adj" fmla="val 50000"/>
              </a:avLst>
            </a:prstGeom>
            <a:solidFill>
              <a:srgbClr val="E9002F"/>
            </a:solidFill>
            <a:ln>
              <a:noFill/>
            </a:ln>
          </p:spPr>
        </p:sp>
        <p:sp>
          <p:nvSpPr>
            <p:cNvPr id="37" name="TextBox 37"/>
            <p:cNvSpPr txBox="1"/>
            <p:nvPr/>
          </p:nvSpPr>
          <p:spPr>
            <a:xfrm>
              <a:off x="10239629" y="365855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60%</a:t>
              </a:r>
            </a:p>
          </p:txBody>
        </p:sp>
        <p:sp>
          <p:nvSpPr>
            <p:cNvPr id="38" name="Rectangle 38"/>
            <p:cNvSpPr/>
            <p:nvPr/>
          </p:nvSpPr>
          <p:spPr>
            <a:xfrm>
              <a:off x="533400" y="3857625"/>
              <a:ext cx="11125200" cy="552450"/>
            </a:xfrm>
            <a:prstGeom prst="rect">
              <a:avLst/>
            </a:prstGeom>
            <a:solidFill>
              <a:srgbClr val="FFF8E7"/>
            </a:solidFill>
            <a:ln>
              <a:noFill/>
            </a:ln>
          </p:spPr>
        </p:sp>
        <p:sp>
          <p:nvSpPr>
            <p:cNvPr id="39" name="TextBox 39"/>
            <p:cNvSpPr txBox="1"/>
            <p:nvPr/>
          </p:nvSpPr>
          <p:spPr>
            <a:xfrm>
              <a:off x="717423" y="3977164"/>
              <a:ext cx="1564908"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安全/ICT(G3计划)</a:t>
              </a:r>
            </a:p>
          </p:txBody>
        </p:sp>
        <p:sp>
          <p:nvSpPr>
            <p:cNvPr id="40" name="TextBox 40"/>
            <p:cNvSpPr txBox="1"/>
            <p:nvPr/>
          </p:nvSpPr>
          <p:spPr>
            <a:xfrm>
              <a:off x="3042285" y="3993356"/>
              <a:ext cx="1828800" cy="220028"/>
            </a:xfrm>
            <a:prstGeom prst="rect">
              <a:avLst/>
            </a:prstGeom>
            <a:noFill/>
            <a:ln>
              <a:noFill/>
            </a:ln>
          </p:spPr>
          <p:txBody>
            <a:bodyPr wrap="none" lIns="0" tIns="0" rIns="0" bIns="0" anchor="t" anchorCtr="0">
              <a:spAutoFit/>
            </a:bodyPr>
            <a:lstStyle/>
            <a:p>
              <a:pPr algn="l"/>
              <a:r>
                <a:rPr lang="zh-CN" sz="1120" dirty="0">
                  <a:solidFill>
                    <a:srgbClr val="1A1A1A"/>
                  </a:solidFill>
                  <a:latin typeface="Arial"/>
                  <a:ea typeface="Microsoft YaHei"/>
                  <a:cs typeface="Arial"/>
                </a:rPr>
                <a:t>网络层安全设备供应</a:t>
              </a:r>
              <a:r>
                <a:rPr lang="zh-CN" sz="1120" dirty="0">
                  <a:solidFill>
                    <a:srgbClr val="6B6B6B"/>
                  </a:solidFill>
                  <a:latin typeface="Arial"/>
                  <a:ea typeface="Microsoft YaHei"/>
                  <a:cs typeface="Arial"/>
                </a:rPr>
                <a:t>（估）</a:t>
              </a:r>
            </a:p>
          </p:txBody>
        </p:sp>
        <p:sp>
          <p:nvSpPr>
            <p:cNvPr id="41" name="TextBox 41"/>
            <p:cNvSpPr txBox="1"/>
            <p:nvPr/>
          </p:nvSpPr>
          <p:spPr>
            <a:xfrm>
              <a:off x="7042785" y="3993356"/>
              <a:ext cx="2212505" cy="220028"/>
            </a:xfrm>
            <a:prstGeom prst="rect">
              <a:avLst/>
            </a:prstGeom>
            <a:noFill/>
            <a:ln>
              <a:noFill/>
            </a:ln>
          </p:spPr>
          <p:txBody>
            <a:bodyPr wrap="none" lIns="0" tIns="0" rIns="0" bIns="0" anchor="t" anchorCtr="0">
              <a:spAutoFit/>
            </a:bodyPr>
            <a:lstStyle/>
            <a:p>
              <a:pPr algn="l"/>
              <a:r>
                <a:rPr lang="zh-CN" sz="1120" b="1" dirty="0">
                  <a:solidFill>
                    <a:srgbClr val="9B9B9B"/>
                  </a:solidFill>
                  <a:latin typeface="Arial"/>
                  <a:ea typeface="Microsoft YaHei"/>
                  <a:cs typeface="Arial"/>
                </a:rPr>
                <a:t>G3安全包孵化期，格局未定型</a:t>
              </a:r>
            </a:p>
          </p:txBody>
        </p:sp>
        <p:sp>
          <p:nvSpPr>
            <p:cNvPr id="42" name="Rectangle 42"/>
            <p:cNvSpPr/>
            <p:nvPr/>
          </p:nvSpPr>
          <p:spPr>
            <a:xfrm>
              <a:off x="9525000" y="4038600"/>
              <a:ext cx="1714500" cy="114300"/>
            </a:xfrm>
            <a:prstGeom prst="roundRect">
              <a:avLst>
                <a:gd name="adj" fmla="val 50000"/>
              </a:avLst>
            </a:prstGeom>
            <a:solidFill>
              <a:srgbClr val="E8E2DA"/>
            </a:solidFill>
            <a:ln>
              <a:noFill/>
            </a:ln>
          </p:spPr>
        </p:sp>
        <p:sp>
          <p:nvSpPr>
            <p:cNvPr id="43" name="Rectangle 43"/>
            <p:cNvSpPr/>
            <p:nvPr/>
          </p:nvSpPr>
          <p:spPr>
            <a:xfrm>
              <a:off x="9525000" y="4038600"/>
              <a:ext cx="171450" cy="114300"/>
            </a:xfrm>
            <a:prstGeom prst="roundRect">
              <a:avLst>
                <a:gd name="adj" fmla="val 50000"/>
              </a:avLst>
            </a:prstGeom>
            <a:solidFill>
              <a:srgbClr val="E9002F"/>
            </a:solidFill>
            <a:ln>
              <a:noFill/>
            </a:ln>
          </p:spPr>
        </p:sp>
        <p:sp>
          <p:nvSpPr>
            <p:cNvPr id="44" name="TextBox 44"/>
            <p:cNvSpPr txBox="1"/>
            <p:nvPr/>
          </p:nvSpPr>
          <p:spPr>
            <a:xfrm>
              <a:off x="10239629" y="421100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10%</a:t>
              </a:r>
            </a:p>
          </p:txBody>
        </p:sp>
        <p:sp>
          <p:nvSpPr>
            <p:cNvPr id="45" name="TextBox 45"/>
            <p:cNvSpPr txBox="1"/>
            <p:nvPr/>
          </p:nvSpPr>
          <p:spPr>
            <a:xfrm>
              <a:off x="717423" y="4596289"/>
              <a:ext cx="1821980" cy="249364"/>
            </a:xfrm>
            <a:prstGeom prst="rect">
              <a:avLst/>
            </a:prstGeom>
            <a:noFill/>
            <a:ln>
              <a:noFill/>
            </a:ln>
          </p:spPr>
          <p:txBody>
            <a:bodyPr wrap="none" lIns="0" tIns="0" rIns="0" bIns="0" anchor="t" anchorCtr="0">
              <a:spAutoFit/>
            </a:bodyPr>
            <a:lstStyle/>
            <a:p>
              <a:pPr algn="l"/>
              <a:r>
                <a:rPr lang="zh-CN" sz="1280" b="1" dirty="0">
                  <a:solidFill>
                    <a:srgbClr val="1A1A1A"/>
                  </a:solidFill>
                  <a:latin typeface="Arial"/>
                  <a:ea typeface="Microsoft YaHei"/>
                  <a:cs typeface="Arial"/>
                </a:rPr>
                <a:t>RUN OMEA/GNOC运维</a:t>
              </a:r>
            </a:p>
          </p:txBody>
        </p:sp>
        <p:sp>
          <p:nvSpPr>
            <p:cNvPr id="46" name="TextBox 46"/>
            <p:cNvSpPr txBox="1"/>
            <p:nvPr/>
          </p:nvSpPr>
          <p:spPr>
            <a:xfrm>
              <a:off x="3041904" y="4604385"/>
              <a:ext cx="2639587" cy="234696"/>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与Orange共建Mutualized Services</a:t>
              </a:r>
            </a:p>
          </p:txBody>
        </p:sp>
        <p:sp>
          <p:nvSpPr>
            <p:cNvPr id="47" name="TextBox 47"/>
            <p:cNvSpPr txBox="1"/>
            <p:nvPr/>
          </p:nvSpPr>
          <p:spPr>
            <a:xfrm>
              <a:off x="7042404" y="4604385"/>
              <a:ext cx="1801696" cy="234696"/>
            </a:xfrm>
            <a:prstGeom prst="rect">
              <a:avLst/>
            </a:prstGeom>
            <a:noFill/>
            <a:ln>
              <a:noFill/>
            </a:ln>
          </p:spPr>
          <p:txBody>
            <a:bodyPr wrap="none" lIns="0" tIns="0" rIns="0" bIns="0" anchor="t" anchorCtr="0">
              <a:spAutoFit/>
            </a:bodyPr>
            <a:lstStyle/>
            <a:p>
              <a:pPr algn="l"/>
              <a:r>
                <a:rPr lang="zh-CN" sz="1200" b="1" dirty="0">
                  <a:solidFill>
                    <a:srgbClr val="2E8B57"/>
                  </a:solidFill>
                  <a:latin typeface="Arial"/>
                  <a:ea typeface="Microsoft YaHei"/>
                  <a:cs typeface="Arial"/>
                </a:rPr>
                <a:t>达喀尔+阿比让双活运维</a:t>
              </a:r>
            </a:p>
          </p:txBody>
        </p:sp>
        <p:sp>
          <p:nvSpPr>
            <p:cNvPr id="48" name="Rectangle 48"/>
            <p:cNvSpPr/>
            <p:nvPr/>
          </p:nvSpPr>
          <p:spPr>
            <a:xfrm>
              <a:off x="9525000" y="4591050"/>
              <a:ext cx="1714500" cy="114300"/>
            </a:xfrm>
            <a:prstGeom prst="roundRect">
              <a:avLst>
                <a:gd name="adj" fmla="val 50000"/>
              </a:avLst>
            </a:prstGeom>
            <a:solidFill>
              <a:srgbClr val="E8E2DA"/>
            </a:solidFill>
            <a:ln>
              <a:noFill/>
            </a:ln>
          </p:spPr>
        </p:sp>
        <p:sp>
          <p:nvSpPr>
            <p:cNvPr id="49" name="Rectangle 49"/>
            <p:cNvSpPr/>
            <p:nvPr/>
          </p:nvSpPr>
          <p:spPr>
            <a:xfrm>
              <a:off x="9525000" y="4591050"/>
              <a:ext cx="1371600" cy="114300"/>
            </a:xfrm>
            <a:prstGeom prst="roundRect">
              <a:avLst>
                <a:gd name="adj" fmla="val 50000"/>
              </a:avLst>
            </a:prstGeom>
            <a:solidFill>
              <a:srgbClr val="E9002F"/>
            </a:solidFill>
            <a:ln>
              <a:noFill/>
            </a:ln>
          </p:spPr>
        </p:sp>
        <p:sp>
          <p:nvSpPr>
            <p:cNvPr id="50" name="TextBox 50"/>
            <p:cNvSpPr txBox="1"/>
            <p:nvPr/>
          </p:nvSpPr>
          <p:spPr>
            <a:xfrm>
              <a:off x="10239629" y="4763452"/>
              <a:ext cx="285242" cy="205359"/>
            </a:xfrm>
            <a:prstGeom prst="rect">
              <a:avLst/>
            </a:prstGeom>
            <a:noFill/>
            <a:ln>
              <a:noFill/>
            </a:ln>
          </p:spPr>
          <p:txBody>
            <a:bodyPr wrap="none" lIns="0" tIns="0" rIns="0" bIns="0" anchor="t" anchorCtr="0">
              <a:spAutoFit/>
            </a:bodyPr>
            <a:lstStyle/>
            <a:p>
              <a:pPr algn="ctr"/>
              <a:r>
                <a:rPr lang="en-US" sz="1050" b="1" dirty="0">
                  <a:solidFill>
                    <a:srgbClr val="C7000A"/>
                  </a:solidFill>
                  <a:latin typeface="Arial"/>
                  <a:ea typeface="Arial"/>
                  <a:cs typeface="Arial"/>
                </a:rPr>
                <a:t>80%</a:t>
              </a:r>
            </a:p>
          </p:txBody>
        </p:sp>
      </p:grpSp>
      <p:grpSp>
        <p:nvGrpSpPr>
          <p:cNvPr id="57" name="Group 57"/>
          <p:cNvGrpSpPr/>
          <p:nvPr/>
        </p:nvGrpSpPr>
        <p:grpSpPr>
          <a:xfrm>
            <a:off x="533400" y="5143500"/>
            <a:ext cx="11125200" cy="762000"/>
            <a:chOff x="533400" y="5143500"/>
            <a:chExt cx="11125200" cy="762000"/>
          </a:xfrm>
        </p:grpSpPr>
        <p:sp>
          <p:nvSpPr>
            <p:cNvPr id="52" name="Line 52"/>
            <p:cNvSpPr/>
            <p:nvPr/>
          </p:nvSpPr>
          <p:spPr>
            <a:xfrm>
              <a:off x="533400" y="5143500"/>
              <a:ext cx="11125200" cy="9525"/>
            </a:xfrm>
            <a:custGeom>
              <a:avLst/>
              <a:gdLst/>
              <a:ahLst/>
              <a:cxnLst/>
              <a:rect l="l" t="t" r="r" b="b"/>
              <a:pathLst>
                <a:path w="11125200" h="9525">
                  <a:moveTo>
                    <a:pt x="0" y="0"/>
                  </a:moveTo>
                  <a:lnTo>
                    <a:pt x="11125200" y="0"/>
                  </a:lnTo>
                </a:path>
              </a:pathLst>
            </a:custGeom>
            <a:noFill/>
            <a:ln w="28575">
              <a:solidFill>
                <a:srgbClr val="1A1A1A"/>
              </a:solidFill>
            </a:ln>
          </p:spPr>
        </p:sp>
        <p:sp>
          <p:nvSpPr>
            <p:cNvPr id="53" name="Rectangle 53"/>
            <p:cNvSpPr/>
            <p:nvPr/>
          </p:nvSpPr>
          <p:spPr>
            <a:xfrm>
              <a:off x="533400" y="5314950"/>
              <a:ext cx="11125200" cy="590550"/>
            </a:xfrm>
            <a:prstGeom prst="roundRect">
              <a:avLst>
                <a:gd name="adj" fmla="val 6452"/>
              </a:avLst>
            </a:prstGeom>
            <a:solidFill>
              <a:srgbClr val="1A1A1A"/>
            </a:solidFill>
            <a:ln>
              <a:noFill/>
            </a:ln>
          </p:spPr>
        </p:sp>
        <p:sp>
          <p:nvSpPr>
            <p:cNvPr id="54" name="Rectangle 54"/>
            <p:cNvSpPr/>
            <p:nvPr/>
          </p:nvSpPr>
          <p:spPr>
            <a:xfrm>
              <a:off x="533400" y="5314950"/>
              <a:ext cx="57150" cy="590550"/>
            </a:xfrm>
            <a:prstGeom prst="rect">
              <a:avLst/>
            </a:prstGeom>
            <a:solidFill>
              <a:srgbClr val="F4A100"/>
            </a:solidFill>
            <a:ln>
              <a:noFill/>
            </a:ln>
          </p:spPr>
        </p:sp>
        <p:sp>
          <p:nvSpPr>
            <p:cNvPr id="55" name="TextBox 55"/>
            <p:cNvSpPr txBox="1"/>
            <p:nvPr/>
          </p:nvSpPr>
          <p:spPr>
            <a:xfrm>
              <a:off x="755904" y="5394960"/>
              <a:ext cx="3328286"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定性：技术底层深度绑定+基础设施合作伙伴</a:t>
              </a:r>
            </a:p>
          </p:txBody>
        </p:sp>
        <p:sp>
          <p:nvSpPr>
            <p:cNvPr id="56" name="TextBox 56"/>
            <p:cNvSpPr txBox="1"/>
            <p:nvPr/>
          </p:nvSpPr>
          <p:spPr>
            <a:xfrm>
              <a:off x="756285" y="5612606"/>
              <a:ext cx="6692265" cy="220028"/>
            </a:xfrm>
            <a:prstGeom prst="rect">
              <a:avLst/>
            </a:prstGeom>
            <a:noFill/>
            <a:ln>
              <a:noFill/>
            </a:ln>
          </p:spPr>
          <p:txBody>
            <a:bodyPr wrap="none" lIns="0" tIns="0" rIns="0" bIns="0" anchor="t" anchorCtr="0">
              <a:spAutoFit/>
            </a:bodyPr>
            <a:lstStyle/>
            <a:p>
              <a:pPr algn="l"/>
              <a:r>
                <a:rPr lang="zh-CN" sz="1120" dirty="0">
                  <a:solidFill>
                    <a:srgbClr val="B0B0B0"/>
                  </a:solidFill>
                  <a:latin typeface="Arial"/>
                  <a:ea typeface="Microsoft YaHei"/>
                  <a:cs typeface="Arial"/>
                </a:rPr>
                <a:t>RUN OMEA计划、GNOC双活站点、AUTIN运维、HEHA电源系统——是本次调研最强的华为叙事支点</a:t>
              </a:r>
            </a:p>
          </p:txBody>
        </p:sp>
      </p:grpSp>
      <p:grpSp>
        <p:nvGrpSpPr>
          <p:cNvPr id="60" name="Group 60"/>
          <p:cNvGrpSpPr/>
          <p:nvPr/>
        </p:nvGrpSpPr>
        <p:grpSpPr>
          <a:xfrm>
            <a:off x="528447" y="6562249"/>
            <a:ext cx="11135106" cy="190690"/>
            <a:chOff x="528447" y="6562249"/>
            <a:chExt cx="11135106" cy="190690"/>
          </a:xfrm>
        </p:grpSpPr>
        <p:sp>
          <p:nvSpPr>
            <p:cNvPr id="58" name="TextBox 58"/>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9" name="TextBox 59"/>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23494" y="284798"/>
            <a:ext cx="11596459" cy="639127"/>
            <a:chOff x="523494" y="284798"/>
            <a:chExt cx="11596459" cy="639127"/>
          </a:xfrm>
        </p:grpSpPr>
        <p:sp>
          <p:nvSpPr>
            <p:cNvPr id="3" name="TextBox 3"/>
            <p:cNvSpPr txBox="1"/>
            <p:nvPr/>
          </p:nvSpPr>
          <p:spPr>
            <a:xfrm>
              <a:off x="523494" y="284798"/>
              <a:ext cx="11596459" cy="381381"/>
            </a:xfrm>
            <a:prstGeom prst="rect">
              <a:avLst/>
            </a:prstGeom>
            <a:noFill/>
            <a:ln>
              <a:noFill/>
            </a:ln>
          </p:spPr>
          <p:txBody>
            <a:bodyPr wrap="none" lIns="0" tIns="0" rIns="0" bIns="0" anchor="t" anchorCtr="0">
              <a:spAutoFit/>
            </a:bodyPr>
            <a:lstStyle/>
            <a:p>
              <a:pPr algn="l"/>
              <a:r>
                <a:rPr lang="zh-CN" sz="1950" b="1" dirty="0">
                  <a:solidFill>
                    <a:srgbClr val="1A1A1A"/>
                  </a:solidFill>
                  <a:latin typeface="Arial"/>
                  <a:ea typeface="Microsoft YaHei"/>
                  <a:cs typeface="Arial"/>
                </a:rPr>
                <a:t>OMEA是华为核心阵地与增长引擎，OEU是</a:t>
              </a:r>
              <a:r>
                <a:rPr lang="zh-CN" sz="1950" b="1" dirty="0">
                  <a:solidFill>
                    <a:srgbClr val="E9002F"/>
                  </a:solidFill>
                  <a:latin typeface="Arial"/>
                  <a:ea typeface="Microsoft YaHei"/>
                  <a:cs typeface="Arial"/>
                </a:rPr>
                <a:t>法律强制退出的收缩区</a:t>
              </a:r>
              <a:r>
                <a:rPr lang="zh-CN" sz="1950" b="1" dirty="0">
                  <a:solidFill>
                    <a:srgbClr val="1A1A1A"/>
                  </a:solidFill>
                  <a:latin typeface="Arial"/>
                  <a:ea typeface="Microsoft YaHei"/>
                  <a:cs typeface="Arial"/>
                </a:rPr>
                <a:t>，OB是生态位竞争排除区</a:t>
              </a:r>
            </a:p>
          </p:txBody>
        </p:sp>
        <p:sp>
          <p:nvSpPr>
            <p:cNvPr id="4" name="TextBox 4"/>
            <p:cNvSpPr txBox="1"/>
            <p:nvPr/>
          </p:nvSpPr>
          <p:spPr>
            <a:xfrm>
              <a:off x="526923" y="624364"/>
              <a:ext cx="4287968" cy="249364"/>
            </a:xfrm>
            <a:prstGeom prst="rect">
              <a:avLst/>
            </a:prstGeom>
            <a:noFill/>
            <a:ln>
              <a:noFill/>
            </a:ln>
          </p:spPr>
          <p:txBody>
            <a:bodyPr wrap="none" lIns="0" tIns="0" rIns="0" bIns="0" anchor="t" anchorCtr="0">
              <a:spAutoFit/>
            </a:bodyPr>
            <a:lstStyle/>
            <a:p>
              <a:pPr algn="l"/>
              <a:r>
                <a:rPr lang="zh-CN" sz="1280" b="1" dirty="0">
                  <a:solidFill>
                    <a:srgbClr val="C7000A"/>
                  </a:solidFill>
                  <a:latin typeface="Arial"/>
                  <a:ea typeface="Microsoft YaHei"/>
                  <a:cs typeface="Arial"/>
                </a:rPr>
                <a:t>资源应向OMEA倾斜，尤其是MPN与云运维协同场景</a:t>
              </a:r>
            </a:p>
          </p:txBody>
        </p:sp>
        <p:sp>
          <p:nvSpPr>
            <p:cNvPr id="5" name="Line 5"/>
            <p:cNvSpPr/>
            <p:nvPr/>
          </p:nvSpPr>
          <p:spPr>
            <a:xfrm>
              <a:off x="533400" y="914400"/>
              <a:ext cx="11125200" cy="9525"/>
            </a:xfrm>
            <a:custGeom>
              <a:avLst/>
              <a:gdLst/>
              <a:ahLst/>
              <a:cxnLst/>
              <a:rect l="l" t="t" r="r" b="b"/>
              <a:pathLst>
                <a:path w="11125200" h="9525">
                  <a:moveTo>
                    <a:pt x="0" y="0"/>
                  </a:moveTo>
                  <a:lnTo>
                    <a:pt x="11125200" y="0"/>
                  </a:lnTo>
                </a:path>
              </a:pathLst>
            </a:custGeom>
            <a:noFill/>
            <a:ln w="14288">
              <a:solidFill>
                <a:srgbClr val="E8E2DA"/>
              </a:solidFill>
            </a:ln>
          </p:spPr>
        </p:sp>
      </p:grpSp>
      <p:grpSp>
        <p:nvGrpSpPr>
          <p:cNvPr id="27" name="Group 27"/>
          <p:cNvGrpSpPr/>
          <p:nvPr/>
        </p:nvGrpSpPr>
        <p:grpSpPr>
          <a:xfrm>
            <a:off x="23470" y="1524000"/>
            <a:ext cx="9930155" cy="5077206"/>
            <a:chOff x="23470" y="1524000"/>
            <a:chExt cx="9930155" cy="5077206"/>
          </a:xfrm>
        </p:grpSpPr>
        <p:sp>
          <p:nvSpPr>
            <p:cNvPr id="7" name="Rectangle 7"/>
            <p:cNvSpPr/>
            <p:nvPr/>
          </p:nvSpPr>
          <p:spPr>
            <a:xfrm>
              <a:off x="5381625" y="1619250"/>
              <a:ext cx="4572000" cy="2286000"/>
            </a:xfrm>
            <a:prstGeom prst="rect">
              <a:avLst/>
            </a:prstGeom>
            <a:solidFill>
              <a:srgbClr val="F4A100">
                <a:alpha val="28000"/>
              </a:srgbClr>
            </a:solidFill>
            <a:ln w="38100">
              <a:solidFill>
                <a:srgbClr val="FFFFFF"/>
              </a:solidFill>
            </a:ln>
          </p:spPr>
        </p:sp>
        <p:sp>
          <p:nvSpPr>
            <p:cNvPr id="8" name="Rectangle 8"/>
            <p:cNvSpPr/>
            <p:nvPr/>
          </p:nvSpPr>
          <p:spPr>
            <a:xfrm>
              <a:off x="809625" y="1619250"/>
              <a:ext cx="4572000" cy="2286000"/>
            </a:xfrm>
            <a:prstGeom prst="rect">
              <a:avLst/>
            </a:prstGeom>
            <a:solidFill>
              <a:srgbClr val="F4A100">
                <a:alpha val="14000"/>
              </a:srgbClr>
            </a:solidFill>
            <a:ln w="38100">
              <a:solidFill>
                <a:srgbClr val="FFFFFF"/>
              </a:solidFill>
            </a:ln>
          </p:spPr>
        </p:sp>
        <p:sp>
          <p:nvSpPr>
            <p:cNvPr id="9" name="Rectangle 9"/>
            <p:cNvSpPr/>
            <p:nvPr/>
          </p:nvSpPr>
          <p:spPr>
            <a:xfrm>
              <a:off x="809625" y="3905250"/>
              <a:ext cx="4572000" cy="2286000"/>
            </a:xfrm>
            <a:prstGeom prst="rect">
              <a:avLst/>
            </a:prstGeom>
            <a:solidFill>
              <a:srgbClr val="E8E2DA">
                <a:alpha val="50000"/>
              </a:srgbClr>
            </a:solidFill>
            <a:ln w="38100">
              <a:solidFill>
                <a:srgbClr val="FFFFFF"/>
              </a:solidFill>
            </a:ln>
          </p:spPr>
        </p:sp>
        <p:sp>
          <p:nvSpPr>
            <p:cNvPr id="10" name="Rectangle 10"/>
            <p:cNvSpPr/>
            <p:nvPr/>
          </p:nvSpPr>
          <p:spPr>
            <a:xfrm>
              <a:off x="5381625" y="3905250"/>
              <a:ext cx="4572000" cy="2286000"/>
            </a:xfrm>
            <a:prstGeom prst="rect">
              <a:avLst/>
            </a:prstGeom>
            <a:solidFill>
              <a:srgbClr val="F4A100">
                <a:alpha val="14000"/>
              </a:srgbClr>
            </a:solidFill>
            <a:ln w="38100">
              <a:solidFill>
                <a:srgbClr val="FFFFFF"/>
              </a:solidFill>
            </a:ln>
          </p:spPr>
        </p:sp>
        <p:sp>
          <p:nvSpPr>
            <p:cNvPr id="11" name="Line 11"/>
            <p:cNvSpPr/>
            <p:nvPr/>
          </p:nvSpPr>
          <p:spPr>
            <a:xfrm>
              <a:off x="809625" y="3905250"/>
              <a:ext cx="9144000" cy="1"/>
            </a:xfrm>
            <a:prstGeom prst="line">
              <a:avLst/>
            </a:prstGeom>
            <a:noFill/>
            <a:ln w="23812">
              <a:solidFill>
                <a:srgbClr val="1A1A1A"/>
              </a:solidFill>
              <a:tailEnd type="triangle" w="lg" len="lg"/>
            </a:ln>
          </p:spPr>
        </p:sp>
        <p:sp>
          <p:nvSpPr>
            <p:cNvPr id="12" name="Line 12"/>
            <p:cNvSpPr/>
            <p:nvPr/>
          </p:nvSpPr>
          <p:spPr>
            <a:xfrm>
              <a:off x="5381625" y="1524000"/>
              <a:ext cx="1" cy="4667250"/>
            </a:xfrm>
            <a:prstGeom prst="line">
              <a:avLst/>
            </a:prstGeom>
            <a:noFill/>
            <a:ln w="23812">
              <a:solidFill>
                <a:srgbClr val="1A1A1A"/>
              </a:solidFill>
              <a:headEnd type="triangle" w="lg" len="lg"/>
            </a:ln>
          </p:spPr>
        </p:sp>
        <p:sp>
          <p:nvSpPr>
            <p:cNvPr id="13" name="TextBox 13"/>
            <p:cNvSpPr txBox="1"/>
            <p:nvPr/>
          </p:nvSpPr>
          <p:spPr>
            <a:xfrm>
              <a:off x="5036287" y="6366510"/>
              <a:ext cx="690677" cy="234696"/>
            </a:xfrm>
            <a:prstGeom prst="rect">
              <a:avLst/>
            </a:prstGeom>
            <a:noFill/>
            <a:ln>
              <a:noFill/>
            </a:ln>
          </p:spPr>
          <p:txBody>
            <a:bodyPr wrap="none" lIns="0" tIns="0" rIns="0" bIns="0" anchor="t" anchorCtr="0">
              <a:spAutoFit/>
            </a:bodyPr>
            <a:lstStyle/>
            <a:p>
              <a:pPr algn="ctr"/>
              <a:r>
                <a:rPr lang="zh-CN" sz="1200" b="1" dirty="0">
                  <a:solidFill>
                    <a:srgbClr val="1A1A1A"/>
                  </a:solidFill>
                  <a:latin typeface="Arial"/>
                  <a:ea typeface="Microsoft YaHei"/>
                  <a:cs typeface="Arial"/>
                </a:rPr>
                <a:t>销售空间</a:t>
              </a:r>
            </a:p>
          </p:txBody>
        </p:sp>
        <p:sp>
          <p:nvSpPr>
            <p:cNvPr id="14" name="TextBox 14"/>
            <p:cNvSpPr txBox="1"/>
            <p:nvPr/>
          </p:nvSpPr>
          <p:spPr>
            <a:xfrm>
              <a:off x="1863338" y="6382702"/>
              <a:ext cx="464325" cy="205359"/>
            </a:xfrm>
            <a:prstGeom prst="rect">
              <a:avLst/>
            </a:prstGeom>
            <a:noFill/>
            <a:ln>
              <a:noFill/>
            </a:ln>
          </p:spPr>
          <p:txBody>
            <a:bodyPr wrap="none" lIns="0" tIns="0" rIns="0" bIns="0" anchor="t" anchorCtr="0">
              <a:spAutoFit/>
            </a:bodyPr>
            <a:lstStyle/>
            <a:p>
              <a:pPr algn="ctr"/>
              <a:r>
                <a:rPr lang="zh-CN" sz="1050" dirty="0">
                  <a:solidFill>
                    <a:srgbClr val="6B6B6B"/>
                  </a:solidFill>
                  <a:latin typeface="Arial"/>
                  <a:ea typeface="Microsoft YaHei"/>
                  <a:cs typeface="Arial"/>
                </a:rPr>
                <a:t>低 Low</a:t>
              </a:r>
            </a:p>
          </p:txBody>
        </p:sp>
        <p:sp>
          <p:nvSpPr>
            <p:cNvPr id="15" name="TextBox 15"/>
            <p:cNvSpPr txBox="1"/>
            <p:nvPr/>
          </p:nvSpPr>
          <p:spPr>
            <a:xfrm>
              <a:off x="8429470" y="6382702"/>
              <a:ext cx="476560" cy="205359"/>
            </a:xfrm>
            <a:prstGeom prst="rect">
              <a:avLst/>
            </a:prstGeom>
            <a:noFill/>
            <a:ln>
              <a:noFill/>
            </a:ln>
          </p:spPr>
          <p:txBody>
            <a:bodyPr wrap="none" lIns="0" tIns="0" rIns="0" bIns="0" anchor="t" anchorCtr="0">
              <a:spAutoFit/>
            </a:bodyPr>
            <a:lstStyle/>
            <a:p>
              <a:pPr algn="ctr"/>
              <a:r>
                <a:rPr lang="zh-CN" sz="1050" dirty="0">
                  <a:solidFill>
                    <a:srgbClr val="6B6B6B"/>
                  </a:solidFill>
                  <a:latin typeface="Arial"/>
                  <a:ea typeface="Microsoft YaHei"/>
                  <a:cs typeface="Arial"/>
                </a:rPr>
                <a:t>高 High</a:t>
              </a:r>
            </a:p>
          </p:txBody>
        </p:sp>
        <p:sp>
          <p:nvSpPr>
            <p:cNvPr id="16" name="TextBox 16"/>
            <p:cNvSpPr txBox="1"/>
            <p:nvPr/>
          </p:nvSpPr>
          <p:spPr>
            <a:xfrm rot="-5400000">
              <a:off x="23470" y="3787902"/>
              <a:ext cx="690677" cy="234696"/>
            </a:xfrm>
            <a:prstGeom prst="rect">
              <a:avLst/>
            </a:prstGeom>
            <a:noFill/>
            <a:ln>
              <a:noFill/>
            </a:ln>
          </p:spPr>
          <p:txBody>
            <a:bodyPr wrap="none" lIns="0" tIns="0" rIns="0" bIns="0" anchor="t" anchorCtr="0">
              <a:spAutoFit/>
            </a:bodyPr>
            <a:lstStyle/>
            <a:p>
              <a:pPr algn="ctr"/>
              <a:r>
                <a:rPr lang="zh-CN" sz="1200" b="1" dirty="0">
                  <a:solidFill>
                    <a:srgbClr val="1A1A1A"/>
                  </a:solidFill>
                  <a:latin typeface="Arial"/>
                  <a:ea typeface="Microsoft YaHei"/>
                  <a:cs typeface="Arial"/>
                </a:rPr>
                <a:t>场景价值</a:t>
              </a:r>
            </a:p>
          </p:txBody>
        </p:sp>
        <p:sp>
          <p:nvSpPr>
            <p:cNvPr id="17" name="TextBox 17"/>
            <p:cNvSpPr txBox="1"/>
            <p:nvPr/>
          </p:nvSpPr>
          <p:spPr>
            <a:xfrm>
              <a:off x="112509" y="5982652"/>
              <a:ext cx="464325" cy="205359"/>
            </a:xfrm>
            <a:prstGeom prst="rect">
              <a:avLst/>
            </a:prstGeom>
            <a:noFill/>
            <a:ln>
              <a:noFill/>
            </a:ln>
          </p:spPr>
          <p:txBody>
            <a:bodyPr wrap="none" lIns="0" tIns="0" rIns="0" bIns="0" anchor="t" anchorCtr="0">
              <a:spAutoFit/>
            </a:bodyPr>
            <a:lstStyle/>
            <a:p>
              <a:pPr algn="r"/>
              <a:r>
                <a:rPr lang="zh-CN" sz="1050" dirty="0">
                  <a:solidFill>
                    <a:srgbClr val="6B6B6B"/>
                  </a:solidFill>
                  <a:latin typeface="Arial"/>
                  <a:ea typeface="Microsoft YaHei"/>
                  <a:cs typeface="Arial"/>
                </a:rPr>
                <a:t>低 Low</a:t>
              </a:r>
            </a:p>
          </p:txBody>
        </p:sp>
        <p:sp>
          <p:nvSpPr>
            <p:cNvPr id="18" name="TextBox 18"/>
            <p:cNvSpPr txBox="1"/>
            <p:nvPr/>
          </p:nvSpPr>
          <p:spPr>
            <a:xfrm>
              <a:off x="100274" y="1601152"/>
              <a:ext cx="476560" cy="205359"/>
            </a:xfrm>
            <a:prstGeom prst="rect">
              <a:avLst/>
            </a:prstGeom>
            <a:noFill/>
            <a:ln>
              <a:noFill/>
            </a:ln>
          </p:spPr>
          <p:txBody>
            <a:bodyPr wrap="none" lIns="0" tIns="0" rIns="0" bIns="0" anchor="t" anchorCtr="0">
              <a:spAutoFit/>
            </a:bodyPr>
            <a:lstStyle/>
            <a:p>
              <a:pPr algn="r"/>
              <a:r>
                <a:rPr lang="zh-CN" sz="1050" dirty="0">
                  <a:solidFill>
                    <a:srgbClr val="6B6B6B"/>
                  </a:solidFill>
                  <a:latin typeface="Arial"/>
                  <a:ea typeface="Microsoft YaHei"/>
                  <a:cs typeface="Arial"/>
                </a:rPr>
                <a:t>高 High</a:t>
              </a:r>
            </a:p>
          </p:txBody>
        </p:sp>
        <p:sp>
          <p:nvSpPr>
            <p:cNvPr id="19" name="TextBox 19"/>
            <p:cNvSpPr txBox="1"/>
            <p:nvPr/>
          </p:nvSpPr>
          <p:spPr>
            <a:xfrm>
              <a:off x="5754243" y="1774508"/>
              <a:ext cx="716451" cy="322707"/>
            </a:xfrm>
            <a:prstGeom prst="rect">
              <a:avLst/>
            </a:prstGeom>
            <a:noFill/>
            <a:ln>
              <a:noFill/>
            </a:ln>
          </p:spPr>
          <p:txBody>
            <a:bodyPr wrap="none" lIns="0" tIns="0" rIns="0" bIns="0" anchor="t" anchorCtr="0">
              <a:spAutoFit/>
            </a:bodyPr>
            <a:lstStyle/>
            <a:p>
              <a:pPr algn="l"/>
              <a:r>
                <a:rPr lang="zh-CN" sz="1650" b="1" dirty="0">
                  <a:solidFill>
                    <a:srgbClr val="C7000A"/>
                  </a:solidFill>
                  <a:latin typeface="Arial"/>
                  <a:ea typeface="Microsoft YaHei"/>
                  <a:cs typeface="Arial"/>
                </a:rPr>
                <a:t>肥肉区</a:t>
              </a:r>
            </a:p>
          </p:txBody>
        </p:sp>
        <p:sp>
          <p:nvSpPr>
            <p:cNvPr id="20" name="TextBox 20"/>
            <p:cNvSpPr txBox="1"/>
            <p:nvPr/>
          </p:nvSpPr>
          <p:spPr>
            <a:xfrm>
              <a:off x="5757862" y="2045970"/>
              <a:ext cx="999891" cy="176212"/>
            </a:xfrm>
            <a:prstGeom prst="rect">
              <a:avLst/>
            </a:prstGeom>
            <a:noFill/>
            <a:ln>
              <a:noFill/>
            </a:ln>
          </p:spPr>
          <p:txBody>
            <a:bodyPr wrap="none" lIns="0" tIns="0" rIns="0" bIns="0" anchor="t" anchorCtr="0">
              <a:spAutoFit/>
            </a:bodyPr>
            <a:lstStyle/>
            <a:p>
              <a:pPr algn="l"/>
              <a:r>
                <a:rPr lang="zh-CN" sz="900" b="1" spc="75" dirty="0">
                  <a:solidFill>
                    <a:srgbClr val="C7000A"/>
                  </a:solidFill>
                  <a:latin typeface="Arial"/>
                  <a:ea typeface="Microsoft YaHei"/>
                  <a:cs typeface="Arial"/>
                </a:rPr>
                <a:t>高价值 · 高空间</a:t>
              </a:r>
            </a:p>
          </p:txBody>
        </p:sp>
        <p:sp>
          <p:nvSpPr>
            <p:cNvPr id="21" name="TextBox 21"/>
            <p:cNvSpPr txBox="1"/>
            <p:nvPr/>
          </p:nvSpPr>
          <p:spPr>
            <a:xfrm>
              <a:off x="1182243" y="1774508"/>
              <a:ext cx="716451" cy="322707"/>
            </a:xfrm>
            <a:prstGeom prst="rect">
              <a:avLst/>
            </a:prstGeom>
            <a:noFill/>
            <a:ln>
              <a:noFill/>
            </a:ln>
          </p:spPr>
          <p:txBody>
            <a:bodyPr wrap="none" lIns="0" tIns="0" rIns="0" bIns="0" anchor="t" anchorCtr="0">
              <a:spAutoFit/>
            </a:bodyPr>
            <a:lstStyle/>
            <a:p>
              <a:pPr algn="l"/>
              <a:r>
                <a:rPr lang="zh-CN" sz="1650" b="1" dirty="0">
                  <a:solidFill>
                    <a:srgbClr val="C7000A"/>
                  </a:solidFill>
                  <a:latin typeface="Arial"/>
                  <a:ea typeface="Microsoft YaHei"/>
                  <a:cs typeface="Arial"/>
                </a:rPr>
                <a:t>瘦肉区</a:t>
              </a:r>
            </a:p>
          </p:txBody>
        </p:sp>
        <p:sp>
          <p:nvSpPr>
            <p:cNvPr id="22" name="TextBox 22"/>
            <p:cNvSpPr txBox="1"/>
            <p:nvPr/>
          </p:nvSpPr>
          <p:spPr>
            <a:xfrm>
              <a:off x="1185862" y="2045970"/>
              <a:ext cx="999891" cy="176212"/>
            </a:xfrm>
            <a:prstGeom prst="rect">
              <a:avLst/>
            </a:prstGeom>
            <a:noFill/>
            <a:ln>
              <a:noFill/>
            </a:ln>
          </p:spPr>
          <p:txBody>
            <a:bodyPr wrap="none" lIns="0" tIns="0" rIns="0" bIns="0" anchor="t" anchorCtr="0">
              <a:spAutoFit/>
            </a:bodyPr>
            <a:lstStyle/>
            <a:p>
              <a:pPr algn="l"/>
              <a:r>
                <a:rPr lang="zh-CN" sz="900" b="1" spc="75" dirty="0">
                  <a:solidFill>
                    <a:srgbClr val="C7000A"/>
                  </a:solidFill>
                  <a:latin typeface="Arial"/>
                  <a:ea typeface="Microsoft YaHei"/>
                  <a:cs typeface="Arial"/>
                </a:rPr>
                <a:t>高价值 · 低空间</a:t>
              </a:r>
            </a:p>
          </p:txBody>
        </p:sp>
        <p:sp>
          <p:nvSpPr>
            <p:cNvPr id="23" name="TextBox 23"/>
            <p:cNvSpPr txBox="1"/>
            <p:nvPr/>
          </p:nvSpPr>
          <p:spPr>
            <a:xfrm>
              <a:off x="5754243" y="5679758"/>
              <a:ext cx="716451" cy="322707"/>
            </a:xfrm>
            <a:prstGeom prst="rect">
              <a:avLst/>
            </a:prstGeom>
            <a:noFill/>
            <a:ln>
              <a:noFill/>
            </a:ln>
          </p:spPr>
          <p:txBody>
            <a:bodyPr wrap="none" lIns="0" tIns="0" rIns="0" bIns="0" anchor="t" anchorCtr="0">
              <a:spAutoFit/>
            </a:bodyPr>
            <a:lstStyle/>
            <a:p>
              <a:pPr algn="l"/>
              <a:r>
                <a:rPr lang="zh-CN" sz="1650" b="1" dirty="0">
                  <a:solidFill>
                    <a:srgbClr val="C7000A"/>
                  </a:solidFill>
                  <a:latin typeface="Arial"/>
                  <a:ea typeface="Microsoft YaHei"/>
                  <a:cs typeface="Arial"/>
                </a:rPr>
                <a:t>瘦肉区</a:t>
              </a:r>
            </a:p>
          </p:txBody>
        </p:sp>
        <p:sp>
          <p:nvSpPr>
            <p:cNvPr id="24" name="TextBox 24"/>
            <p:cNvSpPr txBox="1"/>
            <p:nvPr/>
          </p:nvSpPr>
          <p:spPr>
            <a:xfrm>
              <a:off x="5757862" y="5951220"/>
              <a:ext cx="999891" cy="176212"/>
            </a:xfrm>
            <a:prstGeom prst="rect">
              <a:avLst/>
            </a:prstGeom>
            <a:noFill/>
            <a:ln>
              <a:noFill/>
            </a:ln>
          </p:spPr>
          <p:txBody>
            <a:bodyPr wrap="none" lIns="0" tIns="0" rIns="0" bIns="0" anchor="t" anchorCtr="0">
              <a:spAutoFit/>
            </a:bodyPr>
            <a:lstStyle/>
            <a:p>
              <a:pPr algn="l"/>
              <a:r>
                <a:rPr lang="zh-CN" sz="900" b="1" spc="75" dirty="0">
                  <a:solidFill>
                    <a:srgbClr val="C7000A"/>
                  </a:solidFill>
                  <a:latin typeface="Arial"/>
                  <a:ea typeface="Microsoft YaHei"/>
                  <a:cs typeface="Arial"/>
                </a:rPr>
                <a:t>低价值 · 高空间</a:t>
              </a:r>
            </a:p>
          </p:txBody>
        </p:sp>
        <p:sp>
          <p:nvSpPr>
            <p:cNvPr id="25" name="TextBox 25"/>
            <p:cNvSpPr txBox="1"/>
            <p:nvPr/>
          </p:nvSpPr>
          <p:spPr>
            <a:xfrm>
              <a:off x="1182243" y="5679758"/>
              <a:ext cx="716451" cy="322707"/>
            </a:xfrm>
            <a:prstGeom prst="rect">
              <a:avLst/>
            </a:prstGeom>
            <a:noFill/>
            <a:ln>
              <a:noFill/>
            </a:ln>
          </p:spPr>
          <p:txBody>
            <a:bodyPr wrap="none" lIns="0" tIns="0" rIns="0" bIns="0" anchor="t" anchorCtr="0">
              <a:spAutoFit/>
            </a:bodyPr>
            <a:lstStyle/>
            <a:p>
              <a:pPr algn="l"/>
              <a:r>
                <a:rPr lang="zh-CN" sz="1650" b="1" dirty="0">
                  <a:solidFill>
                    <a:srgbClr val="6B6B6B"/>
                  </a:solidFill>
                  <a:latin typeface="Arial"/>
                  <a:ea typeface="Microsoft YaHei"/>
                  <a:cs typeface="Arial"/>
                </a:rPr>
                <a:t>骨头区</a:t>
              </a:r>
            </a:p>
          </p:txBody>
        </p:sp>
        <p:sp>
          <p:nvSpPr>
            <p:cNvPr id="26" name="TextBox 26"/>
            <p:cNvSpPr txBox="1"/>
            <p:nvPr/>
          </p:nvSpPr>
          <p:spPr>
            <a:xfrm>
              <a:off x="1185862" y="5951220"/>
              <a:ext cx="999891" cy="176212"/>
            </a:xfrm>
            <a:prstGeom prst="rect">
              <a:avLst/>
            </a:prstGeom>
            <a:noFill/>
            <a:ln>
              <a:noFill/>
            </a:ln>
          </p:spPr>
          <p:txBody>
            <a:bodyPr wrap="none" lIns="0" tIns="0" rIns="0" bIns="0" anchor="t" anchorCtr="0">
              <a:spAutoFit/>
            </a:bodyPr>
            <a:lstStyle/>
            <a:p>
              <a:pPr algn="l"/>
              <a:r>
                <a:rPr lang="zh-CN" sz="900" b="1" spc="75" dirty="0">
                  <a:solidFill>
                    <a:srgbClr val="6B6B6B"/>
                  </a:solidFill>
                  <a:latin typeface="Arial"/>
                  <a:ea typeface="Microsoft YaHei"/>
                  <a:cs typeface="Arial"/>
                </a:rPr>
                <a:t>低价值 · 低空间</a:t>
              </a:r>
            </a:p>
          </p:txBody>
        </p:sp>
      </p:grpSp>
      <p:grpSp>
        <p:nvGrpSpPr>
          <p:cNvPr id="49" name="Group 49"/>
          <p:cNvGrpSpPr/>
          <p:nvPr/>
        </p:nvGrpSpPr>
        <p:grpSpPr>
          <a:xfrm>
            <a:off x="1809750" y="1876425"/>
            <a:ext cx="7010400" cy="4124325"/>
            <a:chOff x="1809750" y="1876425"/>
            <a:chExt cx="7010400" cy="4124325"/>
          </a:xfrm>
        </p:grpSpPr>
        <p:sp>
          <p:nvSpPr>
            <p:cNvPr id="28" name="Ellipse 28"/>
            <p:cNvSpPr/>
            <p:nvPr/>
          </p:nvSpPr>
          <p:spPr>
            <a:xfrm>
              <a:off x="7639050" y="1876425"/>
              <a:ext cx="1104900" cy="1104900"/>
            </a:xfrm>
            <a:prstGeom prst="ellipse">
              <a:avLst/>
            </a:prstGeom>
            <a:solidFill>
              <a:srgbClr val="F4A100"/>
            </a:solidFill>
            <a:ln w="19050">
              <a:solidFill>
                <a:srgbClr val="C7000A"/>
              </a:solidFill>
            </a:ln>
          </p:spPr>
        </p:sp>
        <p:sp>
          <p:nvSpPr>
            <p:cNvPr id="29" name="TextBox 29"/>
            <p:cNvSpPr txBox="1"/>
            <p:nvPr/>
          </p:nvSpPr>
          <p:spPr>
            <a:xfrm>
              <a:off x="7967358" y="2240756"/>
              <a:ext cx="448285" cy="220028"/>
            </a:xfrm>
            <a:prstGeom prst="rect">
              <a:avLst/>
            </a:prstGeom>
            <a:noFill/>
            <a:ln>
              <a:noFill/>
            </a:ln>
          </p:spPr>
          <p:txBody>
            <a:bodyPr wrap="none" lIns="0" tIns="0" rIns="0" bIns="0" anchor="t" anchorCtr="0">
              <a:spAutoFit/>
            </a:bodyPr>
            <a:lstStyle/>
            <a:p>
              <a:pPr algn="ctr"/>
              <a:r>
                <a:rPr lang="en-US" sz="1120" b="1" dirty="0">
                  <a:solidFill>
                    <a:srgbClr val="5C4400"/>
                  </a:solidFill>
                  <a:latin typeface="Arial"/>
                  <a:ea typeface="Arial"/>
                  <a:cs typeface="Arial"/>
                </a:rPr>
                <a:t>OMEA</a:t>
              </a:r>
            </a:p>
          </p:txBody>
        </p:sp>
        <p:sp>
          <p:nvSpPr>
            <p:cNvPr id="30" name="TextBox 30"/>
            <p:cNvSpPr txBox="1"/>
            <p:nvPr/>
          </p:nvSpPr>
          <p:spPr>
            <a:xfrm>
              <a:off x="7793378" y="2428399"/>
              <a:ext cx="796244" cy="190690"/>
            </a:xfrm>
            <a:prstGeom prst="rect">
              <a:avLst/>
            </a:prstGeom>
            <a:noFill/>
            <a:ln>
              <a:noFill/>
            </a:ln>
          </p:spPr>
          <p:txBody>
            <a:bodyPr wrap="none" lIns="0" tIns="0" rIns="0" bIns="0" anchor="t" anchorCtr="0">
              <a:spAutoFit/>
            </a:bodyPr>
            <a:lstStyle/>
            <a:p>
              <a:pPr algn="ctr"/>
              <a:r>
                <a:rPr lang="zh-CN" sz="980" b="1" dirty="0">
                  <a:solidFill>
                    <a:srgbClr val="5C4400"/>
                  </a:solidFill>
                  <a:latin typeface="Arial"/>
                  <a:ea typeface="Microsoft YaHei"/>
                  <a:cs typeface="Arial"/>
                </a:rPr>
                <a:t>MPN/云运维</a:t>
              </a:r>
            </a:p>
          </p:txBody>
        </p:sp>
        <p:sp>
          <p:nvSpPr>
            <p:cNvPr id="31" name="Ellipse 31"/>
            <p:cNvSpPr/>
            <p:nvPr/>
          </p:nvSpPr>
          <p:spPr>
            <a:xfrm>
              <a:off x="7943850" y="4895850"/>
              <a:ext cx="876300" cy="876300"/>
            </a:xfrm>
            <a:prstGeom prst="ellipse">
              <a:avLst/>
            </a:prstGeom>
            <a:solidFill>
              <a:srgbClr val="F4A100"/>
            </a:solidFill>
            <a:ln w="19050">
              <a:solidFill>
                <a:srgbClr val="C7000A"/>
              </a:solidFill>
            </a:ln>
          </p:spPr>
        </p:sp>
        <p:sp>
          <p:nvSpPr>
            <p:cNvPr id="32" name="TextBox 32"/>
            <p:cNvSpPr txBox="1"/>
            <p:nvPr/>
          </p:nvSpPr>
          <p:spPr>
            <a:xfrm>
              <a:off x="8187743" y="5171599"/>
              <a:ext cx="388513" cy="190690"/>
            </a:xfrm>
            <a:prstGeom prst="rect">
              <a:avLst/>
            </a:prstGeom>
            <a:noFill/>
            <a:ln>
              <a:noFill/>
            </a:ln>
          </p:spPr>
          <p:txBody>
            <a:bodyPr wrap="none" lIns="0" tIns="0" rIns="0" bIns="0" anchor="t" anchorCtr="0">
              <a:spAutoFit/>
            </a:bodyPr>
            <a:lstStyle/>
            <a:p>
              <a:pPr algn="ctr"/>
              <a:r>
                <a:rPr lang="en-US" sz="980" b="1" dirty="0">
                  <a:solidFill>
                    <a:srgbClr val="5C4400"/>
                  </a:solidFill>
                  <a:latin typeface="Arial"/>
                  <a:ea typeface="Arial"/>
                  <a:cs typeface="Arial"/>
                </a:rPr>
                <a:t>OMEA</a:t>
              </a:r>
            </a:p>
          </p:txBody>
        </p:sp>
        <p:sp>
          <p:nvSpPr>
            <p:cNvPr id="33" name="TextBox 33"/>
            <p:cNvSpPr txBox="1"/>
            <p:nvPr/>
          </p:nvSpPr>
          <p:spPr>
            <a:xfrm>
              <a:off x="8134921" y="5332095"/>
              <a:ext cx="494157" cy="176212"/>
            </a:xfrm>
            <a:prstGeom prst="rect">
              <a:avLst/>
            </a:prstGeom>
            <a:noFill/>
            <a:ln>
              <a:noFill/>
            </a:ln>
          </p:spPr>
          <p:txBody>
            <a:bodyPr wrap="none" lIns="0" tIns="0" rIns="0" bIns="0" anchor="t" anchorCtr="0">
              <a:spAutoFit/>
            </a:bodyPr>
            <a:lstStyle/>
            <a:p>
              <a:pPr algn="ctr"/>
              <a:r>
                <a:rPr lang="zh-CN" sz="900" dirty="0">
                  <a:solidFill>
                    <a:srgbClr val="5C4400"/>
                  </a:solidFill>
                  <a:latin typeface="Arial"/>
                  <a:ea typeface="Microsoft YaHei"/>
                  <a:cs typeface="Arial"/>
                </a:rPr>
                <a:t>核心连接</a:t>
              </a:r>
            </a:p>
          </p:txBody>
        </p:sp>
        <p:sp>
          <p:nvSpPr>
            <p:cNvPr id="34" name="Ellipse 34"/>
            <p:cNvSpPr/>
            <p:nvPr/>
          </p:nvSpPr>
          <p:spPr>
            <a:xfrm>
              <a:off x="5981700" y="2362200"/>
              <a:ext cx="800100" cy="800100"/>
            </a:xfrm>
            <a:prstGeom prst="ellipse">
              <a:avLst/>
            </a:prstGeom>
            <a:solidFill>
              <a:srgbClr val="F4A100"/>
            </a:solidFill>
            <a:ln w="19050">
              <a:solidFill>
                <a:srgbClr val="C7000A"/>
              </a:solidFill>
            </a:ln>
          </p:spPr>
        </p:sp>
        <p:sp>
          <p:nvSpPr>
            <p:cNvPr id="35" name="TextBox 35"/>
            <p:cNvSpPr txBox="1"/>
            <p:nvPr/>
          </p:nvSpPr>
          <p:spPr>
            <a:xfrm>
              <a:off x="6202246" y="2607945"/>
              <a:ext cx="359009" cy="176212"/>
            </a:xfrm>
            <a:prstGeom prst="rect">
              <a:avLst/>
            </a:prstGeom>
            <a:noFill/>
            <a:ln>
              <a:noFill/>
            </a:ln>
          </p:spPr>
          <p:txBody>
            <a:bodyPr wrap="none" lIns="0" tIns="0" rIns="0" bIns="0" anchor="t" anchorCtr="0">
              <a:spAutoFit/>
            </a:bodyPr>
            <a:lstStyle/>
            <a:p>
              <a:pPr algn="ctr"/>
              <a:r>
                <a:rPr lang="en-US" sz="900" b="1" dirty="0">
                  <a:solidFill>
                    <a:srgbClr val="5C4400"/>
                  </a:solidFill>
                  <a:latin typeface="Arial"/>
                  <a:ea typeface="Arial"/>
                  <a:cs typeface="Arial"/>
                </a:rPr>
                <a:t>OMEA</a:t>
              </a:r>
            </a:p>
          </p:txBody>
        </p:sp>
        <p:sp>
          <p:nvSpPr>
            <p:cNvPr id="36" name="TextBox 36"/>
            <p:cNvSpPr txBox="1"/>
            <p:nvPr/>
          </p:nvSpPr>
          <p:spPr>
            <a:xfrm>
              <a:off x="6016142" y="2758916"/>
              <a:ext cx="731215" cy="161925"/>
            </a:xfrm>
            <a:prstGeom prst="rect">
              <a:avLst/>
            </a:prstGeom>
            <a:noFill/>
            <a:ln>
              <a:noFill/>
            </a:ln>
          </p:spPr>
          <p:txBody>
            <a:bodyPr wrap="none" lIns="0" tIns="0" rIns="0" bIns="0" anchor="t" anchorCtr="0">
              <a:spAutoFit/>
            </a:bodyPr>
            <a:lstStyle/>
            <a:p>
              <a:pPr algn="ctr"/>
              <a:r>
                <a:rPr lang="zh-CN" sz="820" dirty="0">
                  <a:solidFill>
                    <a:srgbClr val="5C4400"/>
                  </a:solidFill>
                  <a:latin typeface="Arial"/>
                  <a:ea typeface="Microsoft YaHei"/>
                  <a:cs typeface="Arial"/>
                </a:rPr>
                <a:t>安全/ICT(G3)</a:t>
              </a:r>
            </a:p>
          </p:txBody>
        </p:sp>
        <p:sp>
          <p:nvSpPr>
            <p:cNvPr id="37" name="Ellipse 37"/>
            <p:cNvSpPr/>
            <p:nvPr/>
          </p:nvSpPr>
          <p:spPr>
            <a:xfrm>
              <a:off x="2171700" y="2171700"/>
              <a:ext cx="800100" cy="800100"/>
            </a:xfrm>
            <a:prstGeom prst="ellipse">
              <a:avLst/>
            </a:prstGeom>
            <a:solidFill>
              <a:srgbClr val="E9002F"/>
            </a:solidFill>
            <a:ln w="19050">
              <a:solidFill>
                <a:srgbClr val="C7000A"/>
              </a:solidFill>
            </a:ln>
          </p:spPr>
        </p:sp>
        <p:sp>
          <p:nvSpPr>
            <p:cNvPr id="38" name="TextBox 38"/>
            <p:cNvSpPr txBox="1"/>
            <p:nvPr/>
          </p:nvSpPr>
          <p:spPr>
            <a:xfrm>
              <a:off x="2442652" y="2417445"/>
              <a:ext cx="258196"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Arial"/>
                  <a:ea typeface="Arial"/>
                  <a:cs typeface="Arial"/>
                </a:rPr>
                <a:t>OEU</a:t>
              </a:r>
            </a:p>
          </p:txBody>
        </p:sp>
        <p:sp>
          <p:nvSpPr>
            <p:cNvPr id="39" name="TextBox 39"/>
            <p:cNvSpPr txBox="1"/>
            <p:nvPr/>
          </p:nvSpPr>
          <p:spPr>
            <a:xfrm>
              <a:off x="2282419" y="2568416"/>
              <a:ext cx="578663" cy="161925"/>
            </a:xfrm>
            <a:prstGeom prst="rect">
              <a:avLst/>
            </a:prstGeom>
            <a:noFill/>
            <a:ln>
              <a:noFill/>
            </a:ln>
          </p:spPr>
          <p:txBody>
            <a:bodyPr wrap="none" lIns="0" tIns="0" rIns="0" bIns="0" anchor="t" anchorCtr="0">
              <a:spAutoFit/>
            </a:bodyPr>
            <a:lstStyle/>
            <a:p>
              <a:pPr algn="ctr"/>
              <a:r>
                <a:rPr lang="zh-CN" sz="820" dirty="0">
                  <a:solidFill>
                    <a:srgbClr val="FFFFFF"/>
                  </a:solidFill>
                  <a:latin typeface="Arial"/>
                  <a:ea typeface="Microsoft YaHei"/>
                  <a:cs typeface="Arial"/>
                </a:rPr>
                <a:t>波兰IT集成</a:t>
              </a:r>
            </a:p>
          </p:txBody>
        </p:sp>
        <p:sp>
          <p:nvSpPr>
            <p:cNvPr id="40" name="Ellipse 40"/>
            <p:cNvSpPr/>
            <p:nvPr/>
          </p:nvSpPr>
          <p:spPr>
            <a:xfrm>
              <a:off x="1809750" y="3048000"/>
              <a:ext cx="762000" cy="762000"/>
            </a:xfrm>
            <a:prstGeom prst="ellipse">
              <a:avLst/>
            </a:prstGeom>
            <a:solidFill>
              <a:srgbClr val="C7000A"/>
            </a:solidFill>
            <a:ln w="19050">
              <a:solidFill>
                <a:srgbClr val="7A0007"/>
              </a:solidFill>
            </a:ln>
          </p:spPr>
        </p:sp>
        <p:sp>
          <p:nvSpPr>
            <p:cNvPr id="41" name="TextBox 41"/>
            <p:cNvSpPr txBox="1"/>
            <p:nvPr/>
          </p:nvSpPr>
          <p:spPr>
            <a:xfrm>
              <a:off x="2098617" y="3274695"/>
              <a:ext cx="184267"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Arial"/>
                  <a:ea typeface="Arial"/>
                  <a:cs typeface="Arial"/>
                </a:rPr>
                <a:t>OB</a:t>
              </a:r>
            </a:p>
          </p:txBody>
        </p:sp>
        <p:sp>
          <p:nvSpPr>
            <p:cNvPr id="42" name="TextBox 42"/>
            <p:cNvSpPr txBox="1"/>
            <p:nvPr/>
          </p:nvSpPr>
          <p:spPr>
            <a:xfrm>
              <a:off x="1963864" y="3425666"/>
              <a:ext cx="453771" cy="161925"/>
            </a:xfrm>
            <a:prstGeom prst="rect">
              <a:avLst/>
            </a:prstGeom>
            <a:noFill/>
            <a:ln>
              <a:noFill/>
            </a:ln>
          </p:spPr>
          <p:txBody>
            <a:bodyPr wrap="none" lIns="0" tIns="0" rIns="0" bIns="0" anchor="t" anchorCtr="0">
              <a:spAutoFit/>
            </a:bodyPr>
            <a:lstStyle/>
            <a:p>
              <a:pPr algn="ctr"/>
              <a:r>
                <a:rPr lang="zh-CN" sz="820" dirty="0">
                  <a:solidFill>
                    <a:srgbClr val="FFFFFF"/>
                  </a:solidFill>
                  <a:latin typeface="Arial"/>
                  <a:ea typeface="Microsoft YaHei"/>
                  <a:cs typeface="Arial"/>
                </a:rPr>
                <a:t>云栈存量</a:t>
              </a:r>
            </a:p>
          </p:txBody>
        </p:sp>
        <p:sp>
          <p:nvSpPr>
            <p:cNvPr id="43" name="Ellipse 43"/>
            <p:cNvSpPr/>
            <p:nvPr/>
          </p:nvSpPr>
          <p:spPr>
            <a:xfrm>
              <a:off x="1809750" y="4953000"/>
              <a:ext cx="762000" cy="762000"/>
            </a:xfrm>
            <a:prstGeom prst="ellipse">
              <a:avLst/>
            </a:prstGeom>
            <a:solidFill>
              <a:srgbClr val="9B9B9B"/>
            </a:solidFill>
            <a:ln w="19050">
              <a:solidFill>
                <a:srgbClr val="6B6B6B"/>
              </a:solidFill>
            </a:ln>
          </p:spPr>
        </p:sp>
        <p:sp>
          <p:nvSpPr>
            <p:cNvPr id="44" name="TextBox 44"/>
            <p:cNvSpPr txBox="1"/>
            <p:nvPr/>
          </p:nvSpPr>
          <p:spPr>
            <a:xfrm>
              <a:off x="2098617" y="5179695"/>
              <a:ext cx="184267"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Arial"/>
                  <a:ea typeface="Arial"/>
                  <a:cs typeface="Arial"/>
                </a:rPr>
                <a:t>OB</a:t>
              </a:r>
            </a:p>
          </p:txBody>
        </p:sp>
        <p:sp>
          <p:nvSpPr>
            <p:cNvPr id="45" name="TextBox 45"/>
            <p:cNvSpPr txBox="1"/>
            <p:nvPr/>
          </p:nvSpPr>
          <p:spPr>
            <a:xfrm>
              <a:off x="1948358" y="5330666"/>
              <a:ext cx="484784" cy="161925"/>
            </a:xfrm>
            <a:prstGeom prst="rect">
              <a:avLst/>
            </a:prstGeom>
            <a:noFill/>
            <a:ln>
              <a:noFill/>
            </a:ln>
          </p:spPr>
          <p:txBody>
            <a:bodyPr wrap="none" lIns="0" tIns="0" rIns="0" bIns="0" anchor="t" anchorCtr="0">
              <a:spAutoFit/>
            </a:bodyPr>
            <a:lstStyle/>
            <a:p>
              <a:pPr algn="ctr"/>
              <a:r>
                <a:rPr lang="en-US" sz="820" dirty="0">
                  <a:solidFill>
                    <a:srgbClr val="FFFFFF"/>
                  </a:solidFill>
                  <a:latin typeface="Arial"/>
                  <a:ea typeface="Arial"/>
                  <a:cs typeface="Arial"/>
                </a:rPr>
                <a:t>WAN/LAN</a:t>
              </a:r>
            </a:p>
          </p:txBody>
        </p:sp>
        <p:sp>
          <p:nvSpPr>
            <p:cNvPr id="46" name="Ellipse 46"/>
            <p:cNvSpPr/>
            <p:nvPr/>
          </p:nvSpPr>
          <p:spPr>
            <a:xfrm>
              <a:off x="3429000" y="5238750"/>
              <a:ext cx="762000" cy="762000"/>
            </a:xfrm>
            <a:prstGeom prst="ellipse">
              <a:avLst/>
            </a:prstGeom>
            <a:solidFill>
              <a:srgbClr val="9B9B9B"/>
            </a:solidFill>
            <a:ln w="19050">
              <a:solidFill>
                <a:srgbClr val="6B6B6B"/>
              </a:solidFill>
            </a:ln>
          </p:spPr>
        </p:sp>
        <p:sp>
          <p:nvSpPr>
            <p:cNvPr id="47" name="TextBox 47"/>
            <p:cNvSpPr txBox="1"/>
            <p:nvPr/>
          </p:nvSpPr>
          <p:spPr>
            <a:xfrm>
              <a:off x="3680902" y="5465445"/>
              <a:ext cx="258196"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Arial"/>
                  <a:ea typeface="Arial"/>
                  <a:cs typeface="Arial"/>
                </a:rPr>
                <a:t>OEU</a:t>
              </a:r>
            </a:p>
          </p:txBody>
        </p:sp>
        <p:sp>
          <p:nvSpPr>
            <p:cNvPr id="48" name="TextBox 48"/>
            <p:cNvSpPr txBox="1"/>
            <p:nvPr/>
          </p:nvSpPr>
          <p:spPr>
            <a:xfrm>
              <a:off x="3376917" y="5616416"/>
              <a:ext cx="866165" cy="161925"/>
            </a:xfrm>
            <a:prstGeom prst="rect">
              <a:avLst/>
            </a:prstGeom>
            <a:noFill/>
            <a:ln>
              <a:noFill/>
            </a:ln>
          </p:spPr>
          <p:txBody>
            <a:bodyPr wrap="none" lIns="0" tIns="0" rIns="0" bIns="0" anchor="t" anchorCtr="0">
              <a:spAutoFit/>
            </a:bodyPr>
            <a:lstStyle/>
            <a:p>
              <a:pPr algn="ctr"/>
              <a:r>
                <a:rPr lang="en-US" sz="820" dirty="0">
                  <a:solidFill>
                    <a:srgbClr val="FFFFFF"/>
                  </a:solidFill>
                  <a:latin typeface="Arial"/>
                  <a:ea typeface="Arial"/>
                  <a:cs typeface="Arial"/>
                </a:rPr>
                <a:t>RO/PL WAN-RAN</a:t>
              </a:r>
            </a:p>
          </p:txBody>
        </p:sp>
      </p:grpSp>
      <p:grpSp>
        <p:nvGrpSpPr>
          <p:cNvPr id="57" name="Group 57"/>
          <p:cNvGrpSpPr/>
          <p:nvPr/>
        </p:nvGrpSpPr>
        <p:grpSpPr>
          <a:xfrm>
            <a:off x="768604" y="2101691"/>
            <a:ext cx="10074153" cy="3358991"/>
            <a:chOff x="768604" y="2101691"/>
            <a:chExt cx="10074153" cy="3358991"/>
          </a:xfrm>
        </p:grpSpPr>
        <p:sp>
          <p:nvSpPr>
            <p:cNvPr id="50" name="TextBox 50"/>
            <p:cNvSpPr txBox="1"/>
            <p:nvPr/>
          </p:nvSpPr>
          <p:spPr>
            <a:xfrm>
              <a:off x="8190441" y="3331845"/>
              <a:ext cx="1716618" cy="176212"/>
            </a:xfrm>
            <a:prstGeom prst="rect">
              <a:avLst/>
            </a:prstGeom>
            <a:noFill/>
            <a:ln>
              <a:noFill/>
            </a:ln>
          </p:spPr>
          <p:txBody>
            <a:bodyPr wrap="none" lIns="0" tIns="0" rIns="0" bIns="0" anchor="t" anchorCtr="0">
              <a:spAutoFit/>
            </a:bodyPr>
            <a:lstStyle/>
            <a:p>
              <a:pPr algn="ctr"/>
              <a:r>
                <a:rPr lang="zh-CN" sz="900" b="1" dirty="0">
                  <a:solidFill>
                    <a:srgbClr val="C7000A"/>
                  </a:solidFill>
                  <a:latin typeface="Arial"/>
                  <a:ea typeface="Microsoft YaHei"/>
                  <a:cs typeface="Arial"/>
                </a:rPr>
                <a:t>MPN45% · 云运维70%（估）</a:t>
              </a:r>
            </a:p>
          </p:txBody>
        </p:sp>
        <p:sp>
          <p:nvSpPr>
            <p:cNvPr id="51" name="TextBox 51"/>
            <p:cNvSpPr txBox="1"/>
            <p:nvPr/>
          </p:nvSpPr>
          <p:spPr>
            <a:xfrm>
              <a:off x="8451380" y="3511391"/>
              <a:ext cx="1194740" cy="161925"/>
            </a:xfrm>
            <a:prstGeom prst="rect">
              <a:avLst/>
            </a:prstGeom>
            <a:noFill/>
            <a:ln>
              <a:noFill/>
            </a:ln>
          </p:spPr>
          <p:txBody>
            <a:bodyPr wrap="none" lIns="0" tIns="0" rIns="0" bIns="0" anchor="t" anchorCtr="0">
              <a:spAutoFit/>
            </a:bodyPr>
            <a:lstStyle/>
            <a:p>
              <a:pPr algn="ctr"/>
              <a:r>
                <a:rPr lang="zh-CN" sz="820" dirty="0">
                  <a:solidFill>
                    <a:srgbClr val="6B6B6B"/>
                  </a:solidFill>
                  <a:latin typeface="Arial"/>
                  <a:ea typeface="Microsoft YaHei"/>
                  <a:cs typeface="Arial"/>
                </a:rPr>
                <a:t>GNOC双活 · RUN OMEA</a:t>
              </a:r>
            </a:p>
          </p:txBody>
        </p:sp>
        <p:sp>
          <p:nvSpPr>
            <p:cNvPr id="52" name="TextBox 52"/>
            <p:cNvSpPr txBox="1"/>
            <p:nvPr/>
          </p:nvSpPr>
          <p:spPr>
            <a:xfrm>
              <a:off x="9159743" y="5284470"/>
              <a:ext cx="1683014" cy="176212"/>
            </a:xfrm>
            <a:prstGeom prst="rect">
              <a:avLst/>
            </a:prstGeom>
            <a:noFill/>
            <a:ln>
              <a:noFill/>
            </a:ln>
          </p:spPr>
          <p:txBody>
            <a:bodyPr wrap="none" lIns="0" tIns="0" rIns="0" bIns="0" anchor="t" anchorCtr="0">
              <a:spAutoFit/>
            </a:bodyPr>
            <a:lstStyle/>
            <a:p>
              <a:pPr algn="ctr"/>
              <a:r>
                <a:rPr lang="zh-CN" sz="900" b="1" dirty="0">
                  <a:solidFill>
                    <a:srgbClr val="C7000A"/>
                  </a:solidFill>
                  <a:latin typeface="Arial"/>
                  <a:ea typeface="Microsoft YaHei"/>
                  <a:cs typeface="Arial"/>
                </a:rPr>
                <a:t>11.9亿€·CAGR+9.2%（估）</a:t>
              </a:r>
            </a:p>
          </p:txBody>
        </p:sp>
        <p:sp>
          <p:nvSpPr>
            <p:cNvPr id="53" name="TextBox 53"/>
            <p:cNvSpPr txBox="1"/>
            <p:nvPr/>
          </p:nvSpPr>
          <p:spPr>
            <a:xfrm>
              <a:off x="5452872" y="3244691"/>
              <a:ext cx="1857756" cy="161925"/>
            </a:xfrm>
            <a:prstGeom prst="rect">
              <a:avLst/>
            </a:prstGeom>
            <a:noFill/>
            <a:ln>
              <a:noFill/>
            </a:ln>
          </p:spPr>
          <p:txBody>
            <a:bodyPr wrap="none" lIns="0" tIns="0" rIns="0" bIns="0" anchor="t" anchorCtr="0">
              <a:spAutoFit/>
            </a:bodyPr>
            <a:lstStyle/>
            <a:p>
              <a:pPr algn="ctr"/>
              <a:r>
                <a:rPr lang="zh-CN" sz="820" dirty="0">
                  <a:solidFill>
                    <a:srgbClr val="6B6B6B"/>
                  </a:solidFill>
                  <a:latin typeface="Arial"/>
                  <a:ea typeface="Microsoft YaHei"/>
                  <a:cs typeface="Arial"/>
                </a:rPr>
                <a:t>ICT8.3%/+28% · 参与约10%（估）</a:t>
              </a:r>
            </a:p>
          </p:txBody>
        </p:sp>
        <p:sp>
          <p:nvSpPr>
            <p:cNvPr id="54" name="TextBox 54"/>
            <p:cNvSpPr txBox="1"/>
            <p:nvPr/>
          </p:nvSpPr>
          <p:spPr>
            <a:xfrm>
              <a:off x="2405356" y="2101691"/>
              <a:ext cx="1475788" cy="161925"/>
            </a:xfrm>
            <a:prstGeom prst="rect">
              <a:avLst/>
            </a:prstGeom>
            <a:noFill/>
            <a:ln>
              <a:noFill/>
            </a:ln>
          </p:spPr>
          <p:txBody>
            <a:bodyPr wrap="none" lIns="0" tIns="0" rIns="0" bIns="0" anchor="t" anchorCtr="0">
              <a:spAutoFit/>
            </a:bodyPr>
            <a:lstStyle/>
            <a:p>
              <a:pPr algn="ctr"/>
              <a:r>
                <a:rPr lang="zh-CN" sz="820" b="1" dirty="0">
                  <a:solidFill>
                    <a:srgbClr val="E9002F"/>
                  </a:solidFill>
                  <a:latin typeface="Arial"/>
                  <a:ea typeface="Microsoft YaHei"/>
                  <a:cs typeface="Arial"/>
                </a:rPr>
                <a:t>波兰ICT占B2B36%（实证）</a:t>
              </a:r>
            </a:p>
          </p:txBody>
        </p:sp>
        <p:sp>
          <p:nvSpPr>
            <p:cNvPr id="55" name="TextBox 55"/>
            <p:cNvSpPr txBox="1"/>
            <p:nvPr/>
          </p:nvSpPr>
          <p:spPr>
            <a:xfrm>
              <a:off x="768604" y="2768441"/>
              <a:ext cx="1320292" cy="161925"/>
            </a:xfrm>
            <a:prstGeom prst="rect">
              <a:avLst/>
            </a:prstGeom>
            <a:noFill/>
            <a:ln>
              <a:noFill/>
            </a:ln>
          </p:spPr>
          <p:txBody>
            <a:bodyPr wrap="none" lIns="0" tIns="0" rIns="0" bIns="0" anchor="t" anchorCtr="0">
              <a:spAutoFit/>
            </a:bodyPr>
            <a:lstStyle/>
            <a:p>
              <a:pPr algn="ctr"/>
              <a:r>
                <a:rPr lang="zh-CN" sz="820" b="1" dirty="0">
                  <a:solidFill>
                    <a:srgbClr val="C7000A"/>
                  </a:solidFill>
                  <a:latin typeface="Arial"/>
                  <a:ea typeface="Microsoft YaHei"/>
                  <a:cs typeface="Arial"/>
                </a:rPr>
                <a:t>Flexible Engine 30%参与</a:t>
              </a:r>
            </a:p>
          </p:txBody>
        </p:sp>
        <p:sp>
          <p:nvSpPr>
            <p:cNvPr id="56" name="TextBox 56"/>
            <p:cNvSpPr txBox="1"/>
            <p:nvPr/>
          </p:nvSpPr>
          <p:spPr>
            <a:xfrm>
              <a:off x="2120494" y="4768691"/>
              <a:ext cx="2045513" cy="161925"/>
            </a:xfrm>
            <a:prstGeom prst="rect">
              <a:avLst/>
            </a:prstGeom>
            <a:noFill/>
            <a:ln>
              <a:noFill/>
            </a:ln>
          </p:spPr>
          <p:txBody>
            <a:bodyPr wrap="none" lIns="0" tIns="0" rIns="0" bIns="0" anchor="t" anchorCtr="0">
              <a:spAutoFit/>
            </a:bodyPr>
            <a:lstStyle/>
            <a:p>
              <a:pPr algn="ctr"/>
              <a:r>
                <a:rPr lang="zh-CN" sz="820" dirty="0">
                  <a:solidFill>
                    <a:srgbClr val="6B6B6B"/>
                  </a:solidFill>
                  <a:latin typeface="Arial"/>
                  <a:ea typeface="Microsoft YaHei"/>
                  <a:cs typeface="Arial"/>
                </a:rPr>
                <a:t>OB WAN/LAN 0%；OEU RO/PL法律排除</a:t>
              </a:r>
            </a:p>
          </p:txBody>
        </p:sp>
      </p:grpSp>
      <p:grpSp>
        <p:nvGrpSpPr>
          <p:cNvPr id="60" name="Group 60"/>
          <p:cNvGrpSpPr/>
          <p:nvPr/>
        </p:nvGrpSpPr>
        <p:grpSpPr>
          <a:xfrm>
            <a:off x="528447" y="6562249"/>
            <a:ext cx="11135106" cy="190690"/>
            <a:chOff x="528447" y="6562249"/>
            <a:chExt cx="11135106" cy="190690"/>
          </a:xfrm>
        </p:grpSpPr>
        <p:sp>
          <p:nvSpPr>
            <p:cNvPr id="58" name="TextBox 58"/>
            <p:cNvSpPr txBox="1"/>
            <p:nvPr/>
          </p:nvSpPr>
          <p:spPr>
            <a:xfrm>
              <a:off x="528447" y="6562249"/>
              <a:ext cx="1251458" cy="190690"/>
            </a:xfrm>
            <a:prstGeom prst="rect">
              <a:avLst/>
            </a:prstGeom>
            <a:noFill/>
            <a:ln>
              <a:noFill/>
            </a:ln>
          </p:spPr>
          <p:txBody>
            <a:bodyPr wrap="none" lIns="0" tIns="0" rIns="0" bIns="0" anchor="t" anchorCtr="0">
              <a:spAutoFit/>
            </a:bodyPr>
            <a:lstStyle/>
            <a:p>
              <a:pPr algn="l"/>
              <a:r>
                <a:rPr lang="en-US" sz="980" dirty="0">
                  <a:solidFill>
                    <a:srgbClr val="9B9B9B"/>
                  </a:solidFill>
                  <a:latin typeface="Arial"/>
                  <a:ea typeface="Arial"/>
                  <a:cs typeface="Arial"/>
                </a:rPr>
                <a:t>Huawei Confidential</a:t>
              </a:r>
            </a:p>
          </p:txBody>
        </p:sp>
        <p:sp>
          <p:nvSpPr>
            <p:cNvPr id="59" name="TextBox 59"/>
            <p:cNvSpPr txBox="1"/>
            <p:nvPr/>
          </p:nvSpPr>
          <p:spPr>
            <a:xfrm>
              <a:off x="11509267" y="6562249"/>
              <a:ext cx="154286" cy="190690"/>
            </a:xfrm>
            <a:prstGeom prst="rect">
              <a:avLst/>
            </a:prstGeom>
            <a:noFill/>
            <a:ln>
              <a:noFill/>
            </a:ln>
          </p:spPr>
          <p:txBody>
            <a:bodyPr wrap="none" lIns="0" tIns="0" rIns="0" bIns="0" anchor="t" anchorCtr="0">
              <a:spAutoFit/>
            </a:bodyPr>
            <a:lstStyle/>
            <a:p>
              <a:pPr algn="r"/>
              <a:r>
                <a:rPr lang="en-US" sz="980" dirty="0">
                  <a:solidFill>
                    <a:srgbClr val="9B9B9B"/>
                  </a:solidFill>
                  <a:latin typeface="Arial"/>
                  <a:ea typeface="Arial"/>
                  <a:cs typeface="Arial"/>
                </a:rPr>
                <a:t>16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2026-07-04T12:55:37Z</dcterms:created>
  <dcterms:modified xsi:type="dcterms:W3CDTF">2026-07-04T12:55:37Z</dcterms:modified>
  <cp:category/>
  <cp:contentStatus/>
</cp:coreProperties>
</file>