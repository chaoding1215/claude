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9.xml"/>
  <Override ContentType="application/vnd.openxmlformats-officedocument.presentationml.slideMaster+xml" PartName="/ppt/slideMasters/slideMaster11.xml"/>
  <Override ContentType="application/vnd.openxmlformats-officedocument.presentationml.slideMaster+xml" PartName="/ppt/slideMasters/slideMaster10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7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ms-office.chartcolorstyle+xml" PartName="/ppt/charts/colors1.xml"/>
  <Override ContentType="application/vnd.ms-office.chartcolorstyle+xml" PartName="/ppt/charts/colors2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11.xml"/>
  <Override ContentType="application/vnd.openxmlformats-officedocument.theme+xml" PartName="/ppt/theme/theme5.xml"/>
  <Override ContentType="application/vnd.openxmlformats-officedocument.theme+xml" PartName="/ppt/theme/theme8.xml"/>
  <Override ContentType="application/vnd.openxmlformats-officedocument.theme+xml" PartName="/ppt/theme/theme10.xml"/>
  <Override ContentType="application/vnd.openxmlformats-officedocument.theme+xml" PartName="/ppt/theme/theme12.xml"/>
  <Override ContentType="application/vnd.openxmlformats-officedocument.theme+xml" PartName="/ppt/theme/theme9.xml"/>
  <Override ContentType="application/vnd.openxmlformats-officedocument.drawingml.chart+xml" PartName="/ppt/charts/chart2.xml"/>
  <Override ContentType="application/vnd.openxmlformats-officedocument.drawingml.chart+xml" PartName="/ppt/charts/char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themeOverride+xml" PartName="/ppt/theme/themeOverride2.xml"/>
  <Override ContentType="application/vnd.openxmlformats-officedocument.themeOverride+xml" PartName="/ppt/theme/themeOverride1.xml"/>
  <Override ContentType="application/binary" PartName="/ppt/metadata"/>
  <Override ContentType="application/vnd.openxmlformats-officedocument.presentationml.notesMaster+xml" PartName="/ppt/notesMasters/notesMaster1.xml"/>
  <Override ContentType="application/vnd.ms-office.chartstyle+xml" PartName="/ppt/charts/style1.xml"/>
  <Override ContentType="application/vnd.ms-office.chartstyle+xml" PartName="/ppt/charts/style2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61" r:id="rId6"/>
    <p:sldMasterId id="2147483667" r:id="rId7"/>
    <p:sldMasterId id="2147483674" r:id="rId8"/>
    <p:sldMasterId id="2147483679" r:id="rId9"/>
    <p:sldMasterId id="2147483680" r:id="rId10"/>
    <p:sldMasterId id="2147483682" r:id="rId11"/>
    <p:sldMasterId id="2147483684" r:id="rId12"/>
    <p:sldMasterId id="2147483694" r:id="rId13"/>
    <p:sldMasterId id="2147483699" r:id="rId14"/>
    <p:sldMasterId id="2147483703" r:id="rId15"/>
  </p:sldMasterIdLst>
  <p:notesMasterIdLst>
    <p:notesMasterId r:id="rId16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</p:sldIdLst>
  <p:sldSz cy="6858000" cx="12196750"/>
  <p:notesSz cx="6858000" cy="9144000"/>
  <p:embeddedFontLst>
    <p:embeddedFont>
      <p:font typeface="Arial Narrow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  <p:ext uri="GoogleSlidesCustomDataVersion2">
      <go:slidesCustomData xmlns:go="http://customooxmlschemas.google.com/" r:id="rId34" roundtripDataSignature="AMtx7mjc/+ytv/feMWvhzCzg+ftWE8K7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23A52F-C6C4-47F3-B5B3-DDE31FCED2C8}">
  <a:tblStyle styleId="{0523A52F-C6C4-47F3-B5B3-DDE31FCED2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64C14190-8D63-4A36-A451-3DC54B930F20}" styleName="Table_1">
    <a:wholeTbl>
      <a:tcTxStyle b="off" i="off">
        <a:font>
          <a:latin typeface="Arial Narrow"/>
          <a:ea typeface="Arial Narrow"/>
          <a:cs typeface="Arial Narrow"/>
        </a:font>
        <a:schemeClr val="dk1"/>
      </a:tcTxStyle>
      <a:tcStyle>
        <a:tcBdr>
          <a:left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bottom>
        </a:tcBdr>
      </a:tcStyle>
    </a:band1H>
    <a:band2H>
      <a:tcTxStyle/>
    </a:band2H>
    <a:band1V>
      <a:tcTxStyle/>
      <a:tcStyle>
        <a:tcBdr>
          <a:left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1V>
    <a:band2V>
      <a:tcTxStyle/>
      <a:tcStyle>
        <a:tcBdr>
          <a:left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a:top>
        </a:tcBdr>
      </a:tcStyle>
    </a:lastRow>
    <a:seCell>
      <a:tcTxStyle/>
    </a:seCell>
    <a:swCell>
      <a:tcTxStyle/>
    </a:swCell>
    <a:firstRow>
      <a:tcTxStyle b="on" i="off">
        <a:font>
          <a:latin typeface="Arial Narrow"/>
          <a:ea typeface="Arial Narrow"/>
          <a:cs typeface="Arial Narrow"/>
        </a:font>
        <a:schemeClr val="lt1"/>
      </a:tcTxStyle>
      <a:tcStyle>
        <a:fill>
          <a:solidFill>
            <a:schemeClr val="accent2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1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4.xml"/><Relationship Id="rId22" Type="http://schemas.openxmlformats.org/officeDocument/2006/relationships/slide" Target="slides/slide6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3" Type="http://schemas.openxmlformats.org/officeDocument/2006/relationships/slide" Target="slides/slide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Master" Target="slideMasters/slideMaster5.xml"/><Relationship Id="rId26" Type="http://schemas.openxmlformats.org/officeDocument/2006/relationships/slide" Target="slides/slide10.xml"/><Relationship Id="rId25" Type="http://schemas.openxmlformats.org/officeDocument/2006/relationships/slide" Target="slides/slide9.xml"/><Relationship Id="rId28" Type="http://schemas.openxmlformats.org/officeDocument/2006/relationships/slide" Target="slides/slide12.xml"/><Relationship Id="rId27" Type="http://schemas.openxmlformats.org/officeDocument/2006/relationships/slide" Target="slides/slide11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13.xml"/><Relationship Id="rId7" Type="http://schemas.openxmlformats.org/officeDocument/2006/relationships/slideMaster" Target="slideMasters/slideMaster3.xml"/><Relationship Id="rId8" Type="http://schemas.openxmlformats.org/officeDocument/2006/relationships/slideMaster" Target="slideMasters/slideMaster4.xml"/><Relationship Id="rId31" Type="http://schemas.openxmlformats.org/officeDocument/2006/relationships/font" Target="fonts/ArialNarrow-bold.fntdata"/><Relationship Id="rId30" Type="http://schemas.openxmlformats.org/officeDocument/2006/relationships/font" Target="fonts/ArialNarrow-regular.fntdata"/><Relationship Id="rId11" Type="http://schemas.openxmlformats.org/officeDocument/2006/relationships/slideMaster" Target="slideMasters/slideMaster7.xml"/><Relationship Id="rId33" Type="http://schemas.openxmlformats.org/officeDocument/2006/relationships/font" Target="fonts/ArialNarrow-boldItalic.fntdata"/><Relationship Id="rId10" Type="http://schemas.openxmlformats.org/officeDocument/2006/relationships/slideMaster" Target="slideMasters/slideMaster6.xml"/><Relationship Id="rId32" Type="http://schemas.openxmlformats.org/officeDocument/2006/relationships/font" Target="fonts/ArialNarrow-italic.fntdata"/><Relationship Id="rId13" Type="http://schemas.openxmlformats.org/officeDocument/2006/relationships/slideMaster" Target="slideMasters/slideMaster9.xml"/><Relationship Id="rId12" Type="http://schemas.openxmlformats.org/officeDocument/2006/relationships/slideMaster" Target="slideMasters/slideMaster8.xml"/><Relationship Id="rId34" Type="http://customschemas.google.com/relationships/presentationmetadata" Target="metadata"/><Relationship Id="rId15" Type="http://schemas.openxmlformats.org/officeDocument/2006/relationships/slideMaster" Target="slideMasters/slideMaster11.xml"/><Relationship Id="rId14" Type="http://schemas.openxmlformats.org/officeDocument/2006/relationships/slideMaster" Target="slideMasters/slideMaster10.xml"/><Relationship Id="rId17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9" Type="http://schemas.openxmlformats.org/officeDocument/2006/relationships/slide" Target="slides/slide3.xml"/><Relationship Id="rId18" Type="http://schemas.openxmlformats.org/officeDocument/2006/relationships/slide" Target="slides/slide2.xml"/></Relationships>
</file>

<file path=ppt/charts/_rels/chart1.xml.rels><?xml version="1.0" encoding="UTF-8" standalone="yes"?>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D:\&#39033;&#30446;\2B%20&#27934;&#23519;\&#35199;&#29677;&#29273;TDE&#21382;&#21490;B2B&#20449;&#24687;.xlsx" TargetMode="External"/></Relationships>
</file>

<file path=ppt/charts/_rels/chart2.xml.rels><?xml version="1.0" encoding="UTF-8" standalone="yes"?>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D:\&#25628;&#38598;&#34013;\4%20&#32463;&#33829;&#25968;&#25454;\TEF%20B2B%20CEB%20&#28165;&#21333;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stacked"/>
        <c:varyColors val="0"/>
        <c:ser>
          <c:idx val="1"/>
          <c:order val="1"/>
          <c:tx>
            <c:strRef>
              <c:f>画图!$A$2</c:f>
              <c:strCache>
                <c:ptCount val="1"/>
                <c:pt idx="0">
                  <c:v>Servicios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1411-44FD-908D-AD72CA9F86B7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1411-44FD-908D-AD72CA9F86B7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1411-44FD-908D-AD72CA9F86B7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1411-44FD-908D-AD72CA9F86B7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1411-44FD-908D-AD72CA9F86B7}"/>
                </c:ext>
              </c:extLst>
            </c:dLbl>
            <c:dLbl>
              <c:idx val="5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1411-44FD-908D-AD72CA9F86B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  <a:sym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画图!$B$1:$G$1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2024.11</c:v>
                </c:pt>
              </c:numCache>
            </c:numRef>
          </c:cat>
          <c:val>
            <c:numRef>
              <c:f>画图!$B$2:$G$2</c:f>
              <c:numCache>
                <c:formatCode>#,##0\ [$€-1]_);[Red]\(#,##0\ [$€-1]\)</c:formatCode>
                <c:ptCount val="6"/>
                <c:pt idx="0">
                  <c:v>1809821587.2857146</c:v>
                </c:pt>
                <c:pt idx="1">
                  <c:v>1308260824.2714288</c:v>
                </c:pt>
                <c:pt idx="2">
                  <c:v>2253173957.9428568</c:v>
                </c:pt>
                <c:pt idx="3">
                  <c:v>1995060707.1571424</c:v>
                </c:pt>
                <c:pt idx="4">
                  <c:v>2388467096.1428566</c:v>
                </c:pt>
                <c:pt idx="5">
                  <c:v>1780738101.1142859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F4-4E18-943A-50D3E442C685}"/>
            </c:ext>
          </c:extLst>
        </c:ser>
        <c:ser>
          <c:idx val="2"/>
          <c:order val="2"/>
          <c:tx>
            <c:strRef>
              <c:f>画图!$A$3</c:f>
              <c:strCache>
                <c:ptCount val="1"/>
                <c:pt idx="0">
                  <c:v>Suministros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1411-44FD-908D-AD72CA9F86B7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1411-44FD-908D-AD72CA9F86B7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8-1411-44FD-908D-AD72CA9F86B7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9-1411-44FD-908D-AD72CA9F86B7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A-1411-44FD-908D-AD72CA9F86B7}"/>
                </c:ext>
              </c:extLst>
            </c:dLbl>
            <c:dLbl>
              <c:idx val="5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微软雅黑"/>
                      <a:ea typeface="微软雅黑"/>
                      <a:cs typeface="微软雅黑"/>
                      <a:sym typeface="Arial" panose="020B0604020202020204" pitchFamily="34" charset="0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B-1411-44FD-908D-AD72CA9F86B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  <a:sym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画图!$B$1:$G$1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2024.11</c:v>
                </c:pt>
              </c:numCache>
            </c:numRef>
          </c:cat>
          <c:val>
            <c:numRef>
              <c:f>画图!$B$3:$G$3</c:f>
              <c:numCache>
                <c:formatCode>#,##0\ [$€-1]_);[Red]\(#,##0\ [$€-1]\)</c:formatCode>
                <c:ptCount val="6"/>
                <c:pt idx="0">
                  <c:v>1740365872.6749995</c:v>
                </c:pt>
                <c:pt idx="1">
                  <c:v>475624564.69999987</c:v>
                </c:pt>
                <c:pt idx="2">
                  <c:v>842286608.10000026</c:v>
                </c:pt>
                <c:pt idx="3">
                  <c:v>987417620.18750048</c:v>
                </c:pt>
                <c:pt idx="4">
                  <c:v>1675697562.7624991</c:v>
                </c:pt>
                <c:pt idx="5">
                  <c:v>939717119.22500026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F4-4E18-943A-50D3E442C6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824836784"/>
        <c:axId val="824832624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画图!$A$1</c15:sqref>
                        </c15:formulaRef>
                      </c:ext>
                    </c:extLst>
                    <c:strCache>
                      <c:ptCount val="1"/>
                      <c:pt idx="0">
                        <c:v>TdE revenue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cat>
                  <c:numRef>
                    <c:extLst>
                      <c:ext uri="{02D57815-91ED-43cb-92C2-25804820EDAC}">
                        <c15:formulaRef>
                          <c15:sqref>画图!$B$1:$G$1</c15:sqref>
                        </c15:formulaRef>
                      </c:ext>
                    </c:extLst>
                    <c:numCache>
                      <c:formatCode>General</c:formatCode>
                      <c:ptCount val="6"/>
                      <c:pt idx="0">
                        <c:v>2019</c:v>
                      </c:pt>
                      <c:pt idx="1">
                        <c:v>2020</c:v>
                      </c:pt>
                      <c:pt idx="2">
                        <c:v>2021</c:v>
                      </c:pt>
                      <c:pt idx="3">
                        <c:v>2022</c:v>
                      </c:pt>
                      <c:pt idx="4">
                        <c:v>2023</c:v>
                      </c:pt>
                      <c:pt idx="5">
                        <c:v>2024.11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画图!$B$1:$G$1</c15:sqref>
                        </c15:formulaRef>
                      </c:ext>
                    </c:extLst>
                    <c:numCache>
                      <c:formatCode>General</c:formatCode>
                      <c:ptCount val="6"/>
                      <c:pt idx="0">
                        <c:v>2019</c:v>
                      </c:pt>
                      <c:pt idx="1">
                        <c:v>2020</c:v>
                      </c:pt>
                      <c:pt idx="2">
                        <c:v>2021</c:v>
                      </c:pt>
                      <c:pt idx="3">
                        <c:v>2022</c:v>
                      </c:pt>
                      <c:pt idx="4">
                        <c:v>2023</c:v>
                      </c:pt>
                      <c:pt idx="5">
                        <c:v>2024.11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2-86F4-4E18-943A-50D3E442C685}"/>
                  </c:ext>
                </c:extLst>
              </c15:ser>
            </c15:filteredBarSeries>
          </c:ext>
        </c:extLst>
      </c:barChart>
      <c:catAx>
        <c:axId val="8248367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defRPr>
            </a:pPr>
            <a:endParaRPr lang="en-US"/>
          </a:p>
        </c:txPr>
        <c:crossAx val="824832624"/>
        <c:crosses val="autoZero"/>
        <c:auto val="1"/>
        <c:lblAlgn val="ctr"/>
        <c:lblOffset val="100"/>
        <c:noMultiLvlLbl val="0"/>
      </c:catAx>
      <c:valAx>
        <c:axId val="824832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\ [$€-1]_);[Red]\(#,##0\ [$€-1]\)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defRPr>
            </a:pPr>
            <a:endParaRPr lang="en-US"/>
          </a:p>
        </c:txPr>
        <c:crossAx val="824836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软雅黑"/>
              <a:ea typeface="微软雅黑"/>
              <a:cs typeface="微软雅黑"/>
              <a:sym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600">
          <a:latin typeface="Arial" panose="020B0604020202020204" pitchFamily="34" charset="0"/>
          <a:ea typeface="微软雅黑" panose="020B0503020204020204" pitchFamily="34" charset="-122"/>
          <a:sym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defRPr>
            </a:pPr>
            <a:r>
              <a:rPr lang="zh-CN">
                <a:latin typeface="Arial" panose="020B0604020202020204" pitchFamily="34" charset="0"/>
                <a:ea typeface="微软雅黑" panose="020B0503020204020204" pitchFamily="34" charset="-122"/>
              </a:rPr>
              <a:t>项目招标预算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+mn-cs"/>
              <a:sym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90B-4371-849F-8C2E3EFFE921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90B-4371-849F-8C2E3EFFE921}"/>
              </c:ext>
            </c:extLst>
          </c:dPt>
          <c:dLbls>
            <c:dLbl>
              <c:idx val="0"/>
              <c:layout>
                <c:manualLayout>
                  <c:x val="4.4899943215433507E-3"/>
                  <c:y val="-3.1370561155463376E-2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90B-4371-849F-8C2E3EFFE921}"/>
                </c:ext>
              </c:extLst>
            </c:dLbl>
            <c:dLbl>
              <c:idx val="1"/>
              <c:layout>
                <c:manualLayout>
                  <c:x val="-4.2154067529038948E-2"/>
                  <c:y val="3.7061662017693946E-2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90B-4371-849F-8C2E3EFFE9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  <a:sym typeface="Arial" panose="020B0604020202020204" pitchFamily="34" charset="0"/>
                  </a:defRPr>
                </a:pPr>
                <a:endParaRPr lang="en-US"/>
              </a:p>
            </c:txPr>
            <c:dLblPos val="bestFit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'TdE B2B'!$E$45:$E$46</c:f>
              <c:strCache>
                <c:ptCount val="2"/>
                <c:pt idx="0">
                  <c:v>&gt;1M€</c:v>
                </c:pt>
                <c:pt idx="1">
                  <c:v>&lt;1M€</c:v>
                </c:pt>
              </c:strCache>
            </c:strRef>
          </c:cat>
          <c:val>
            <c:numRef>
              <c:f>'TdE B2B'!$F$45:$F$46</c:f>
              <c:numCache>
                <c:formatCode>#,##0\ [$€-1];[Red]\-#,##0\ [$€-1]</c:formatCode>
                <c:ptCount val="2"/>
                <c:pt idx="0">
                  <c:v>8355</c:v>
                </c:pt>
                <c:pt idx="1">
                  <c:v>9845.1500000000015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0B-4371-849F-8C2E3EFFE921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ea typeface="微软雅黑" panose="020B0503020204020204" pitchFamily="34" charset="-122"/>
          <a:sym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zh-C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t/>
            </a:r>
            <a:endParaRPr sz="3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3" name="Google Shape;44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7" name="Google Shape;5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6" name="Google Shape;67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7" name="Google Shape;74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5" name="Google Shape;75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" name="Google Shape;756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8" name="Google Shape;79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" name="Google Shape;79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zh-C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jp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4.jp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7.jpg"/><Relationship Id="rId3" Type="http://schemas.openxmlformats.org/officeDocument/2006/relationships/image" Target="../media/image6.jp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2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9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5"/>
          <p:cNvSpPr txBox="1"/>
          <p:nvPr>
            <p:ph type="title"/>
          </p:nvPr>
        </p:nvSpPr>
        <p:spPr>
          <a:xfrm>
            <a:off x="400066" y="297770"/>
            <a:ext cx="11202741" cy="6737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8"/>
              <a:buFont typeface="Arial Narrow"/>
              <a:buNone/>
              <a:defRPr b="1" i="0" sz="3198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8"/>
          <p:cNvSpPr txBox="1"/>
          <p:nvPr>
            <p:ph type="ctrTitle"/>
          </p:nvPr>
        </p:nvSpPr>
        <p:spPr>
          <a:xfrm>
            <a:off x="1524596" y="1122363"/>
            <a:ext cx="9147572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6" name="Google Shape;16;p18"/>
          <p:cNvSpPr txBox="1"/>
          <p:nvPr>
            <p:ph idx="1" type="subTitle"/>
          </p:nvPr>
        </p:nvSpPr>
        <p:spPr>
          <a:xfrm>
            <a:off x="1524596" y="3602038"/>
            <a:ext cx="9147572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" name="Google Shape;17;p18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/>
        </p:txBody>
      </p:sp>
      <p:sp>
        <p:nvSpPr>
          <p:cNvPr id="18" name="Google Shape;18;p18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/>
        </p:txBody>
      </p:sp>
      <p:sp>
        <p:nvSpPr>
          <p:cNvPr id="19" name="Google Shape;19;p18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430277" y="332663"/>
            <a:ext cx="11766494" cy="504057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850" spcFirstLastPara="1" rIns="121850" wrap="square" tIns="609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64A8D"/>
              </a:buClr>
              <a:buSzPts val="2397"/>
              <a:buFont typeface="Microsoft Yahei"/>
              <a:buNone/>
              <a:defRPr b="1" i="0" sz="2397" u="none" cap="none" strike="noStrike">
                <a:solidFill>
                  <a:srgbClr val="864A8D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标题和表格">
  <p:cSld name="12_标题和表格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3"/>
          <p:cNvSpPr txBox="1"/>
          <p:nvPr>
            <p:ph type="title"/>
          </p:nvPr>
        </p:nvSpPr>
        <p:spPr>
          <a:xfrm>
            <a:off x="987063" y="153771"/>
            <a:ext cx="10284328" cy="7402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None/>
              <a:defRPr b="0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4" name="Google Shape;24;p23"/>
          <p:cNvSpPr txBox="1"/>
          <p:nvPr>
            <p:ph idx="10" type="dt"/>
          </p:nvPr>
        </p:nvSpPr>
        <p:spPr>
          <a:xfrm>
            <a:off x="8484806" y="6500838"/>
            <a:ext cx="1043945" cy="214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4"/>
          <p:cNvSpPr txBox="1"/>
          <p:nvPr>
            <p:ph type="title"/>
          </p:nvPr>
        </p:nvSpPr>
        <p:spPr>
          <a:xfrm>
            <a:off x="374322" y="365126"/>
            <a:ext cx="10519708" cy="7266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None/>
              <a:defRPr b="1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" name="Google Shape;27;p24"/>
          <p:cNvSpPr txBox="1"/>
          <p:nvPr>
            <p:ph idx="1" type="body"/>
          </p:nvPr>
        </p:nvSpPr>
        <p:spPr>
          <a:xfrm>
            <a:off x="838528" y="1488898"/>
            <a:ext cx="10519708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4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Page </a:t>
            </a:r>
            <a:fld id="{00000000-1234-1234-1234-123412341234}" type="slidenum">
              <a:rPr lang="zh-CN"/>
              <a:t>‹#›</a:t>
            </a:fld>
            <a:endParaRPr/>
          </a:p>
        </p:txBody>
      </p:sp>
      <p:sp>
        <p:nvSpPr>
          <p:cNvPr id="29" name="Google Shape;29;p24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5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/>
        </p:txBody>
      </p:sp>
      <p:sp>
        <p:nvSpPr>
          <p:cNvPr id="32" name="Google Shape;32;p25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/>
        </p:txBody>
      </p:sp>
      <p:sp>
        <p:nvSpPr>
          <p:cNvPr id="33" name="Google Shape;33;p25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085" marR="0" rtl="0" algn="l">
              <a:spcBef>
                <a:spcPts val="0"/>
              </a:spcBef>
              <a:buNone/>
              <a:defRPr b="1" i="0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085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自定义版式">
  <p:cSld name="自定义版式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6"/>
          <p:cNvSpPr txBox="1"/>
          <p:nvPr/>
        </p:nvSpPr>
        <p:spPr>
          <a:xfrm>
            <a:off x="526843" y="6534878"/>
            <a:ext cx="499729" cy="1483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964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rPr>
              <a:t>‹#›</a:t>
            </a:fld>
            <a:endParaRPr sz="964">
              <a:solidFill>
                <a:srgbClr val="000000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36" name="Google Shape;36;p26"/>
          <p:cNvSpPr txBox="1"/>
          <p:nvPr>
            <p:ph type="title"/>
          </p:nvPr>
        </p:nvSpPr>
        <p:spPr>
          <a:xfrm>
            <a:off x="526842" y="337695"/>
            <a:ext cx="9658027" cy="59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SzPts val="2399"/>
              <a:buFont typeface="Arial"/>
              <a:buNone/>
              <a:defRPr b="1" i="0" sz="2399" u="none" cap="none" strike="noStrike">
                <a:solidFill>
                  <a:srgbClr val="0066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hinese text page">
  <p:cSld name="1_Chinese text page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7"/>
          <p:cNvSpPr txBox="1"/>
          <p:nvPr>
            <p:ph idx="1" type="subTitle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719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8"/>
              <a:buNone/>
              <a:defRPr sz="3198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6"/>
              <a:buNone/>
              <a:defRPr sz="2596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6"/>
              <a:buNone/>
              <a:defRPr sz="2336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7"/>
              <a:buNone/>
              <a:defRPr sz="2077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7"/>
              <a:buNone/>
              <a:defRPr sz="2077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7"/>
              <a:buNone/>
              <a:defRPr sz="2077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7"/>
              <a:buNone/>
              <a:defRPr sz="2077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7"/>
              <a:buNone/>
              <a:defRPr sz="2077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7"/>
              <a:buNone/>
              <a:defRPr sz="2077"/>
            </a:lvl9pPr>
          </a:lstStyle>
          <a:p/>
        </p:txBody>
      </p:sp>
      <p:sp>
        <p:nvSpPr>
          <p:cNvPr id="39" name="Google Shape;39;p27"/>
          <p:cNvSpPr txBox="1"/>
          <p:nvPr>
            <p:ph idx="2" type="body"/>
          </p:nvPr>
        </p:nvSpPr>
        <p:spPr>
          <a:xfrm>
            <a:off x="736910" y="1501989"/>
            <a:ext cx="10733557" cy="4690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8"/>
              <a:buFont typeface="Microsoft YaHei"/>
              <a:buNone/>
              <a:defRPr sz="1798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31096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97"/>
              <a:buFont typeface="Arial"/>
              <a:buChar char="•"/>
              <a:defRPr sz="1297"/>
            </a:lvl2pPr>
            <a:lvl3pPr indent="-31096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97"/>
              <a:buFont typeface="Arial"/>
              <a:buChar char="•"/>
              <a:defRPr sz="1297"/>
            </a:lvl3pPr>
            <a:lvl4pPr indent="-31096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97"/>
              <a:buFont typeface="Arial"/>
              <a:buChar char="•"/>
              <a:defRPr sz="1297"/>
            </a:lvl4pPr>
            <a:lvl5pPr indent="-31096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97"/>
              <a:buFont typeface="Arial"/>
              <a:buChar char="•"/>
              <a:defRPr sz="1297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探索">
  <p:cSld name="探索"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28"/>
          <p:cNvPicPr preferRelativeResize="0"/>
          <p:nvPr/>
        </p:nvPicPr>
        <p:blipFill rotWithShape="1">
          <a:blip r:embed="rId2">
            <a:alphaModFix/>
          </a:blip>
          <a:srcRect b="18667" l="0" r="0" t="0"/>
          <a:stretch/>
        </p:blipFill>
        <p:spPr>
          <a:xfrm>
            <a:off x="0" y="2"/>
            <a:ext cx="12206140" cy="5594695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28"/>
          <p:cNvSpPr/>
          <p:nvPr/>
        </p:nvSpPr>
        <p:spPr>
          <a:xfrm rot="5400000">
            <a:off x="7853942" y="2130562"/>
            <a:ext cx="701032" cy="717936"/>
          </a:xfrm>
          <a:prstGeom prst="corner">
            <a:avLst>
              <a:gd fmla="val 3243" name="adj1"/>
              <a:gd fmla="val 3048" name="adj2"/>
            </a:avLst>
          </a:prstGeom>
          <a:solidFill>
            <a:srgbClr val="C700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43" name="Google Shape;43;p28"/>
          <p:cNvSpPr txBox="1"/>
          <p:nvPr>
            <p:ph type="ctrTitle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9"/>
              <a:buFont typeface="Microsoft YaHei"/>
              <a:buNone/>
              <a:defRPr b="0" i="0" sz="3199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4" name="Google Shape;44;p28"/>
          <p:cNvSpPr txBox="1"/>
          <p:nvPr>
            <p:ph idx="1" type="body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17436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99"/>
              <a:buChar char="•"/>
              <a:defRPr sz="1399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28"/>
          <p:cNvSpPr txBox="1"/>
          <p:nvPr>
            <p:ph idx="2" type="body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结束页">
  <p:cSld name="结束页">
    <p:bg>
      <p:bgPr>
        <a:solidFill>
          <a:srgbClr val="FFFFFF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 txBox="1"/>
          <p:nvPr/>
        </p:nvSpPr>
        <p:spPr>
          <a:xfrm>
            <a:off x="607487" y="1402066"/>
            <a:ext cx="3921034" cy="8547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798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rPr>
              <a:t>Thank you.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Chinese text page">
  <p:cSld name="18_Chinese text page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0"/>
          <p:cNvSpPr txBox="1"/>
          <p:nvPr>
            <p:ph idx="1" type="subTitle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225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9"/>
              <a:buNone/>
              <a:defRPr sz="27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7"/>
              <a:buNone/>
              <a:defRPr sz="2597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7"/>
              <a:buNone/>
              <a:defRPr sz="2337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84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page">
  <p:cSld name="Chapter page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1"/>
          <p:cNvSpPr txBox="1"/>
          <p:nvPr>
            <p:ph idx="1" type="body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836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9"/>
              <a:buFont typeface="Arial"/>
              <a:buChar char="•"/>
              <a:defRPr sz="1799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indent="-330136" lvl="1" marL="914400" marR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599"/>
              <a:buFont typeface="Arial"/>
              <a:buChar char="&gt;"/>
              <a:defRPr sz="1599">
                <a:latin typeface="Arial Narrow"/>
                <a:ea typeface="Arial Narrow"/>
                <a:cs typeface="Arial Narrow"/>
                <a:sym typeface="Arial Narrow"/>
              </a:defRPr>
            </a:lvl2pPr>
            <a:lvl3pPr indent="-311023" lvl="2" marL="1371600" marR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-"/>
              <a:defRPr sz="1298">
                <a:latin typeface="Arial Narrow"/>
                <a:ea typeface="Arial Narrow"/>
                <a:cs typeface="Arial Narrow"/>
                <a:sym typeface="Arial Narrow"/>
              </a:defRPr>
            </a:lvl3pPr>
            <a:lvl4pPr indent="-311023" lvl="3" marL="1828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•"/>
              <a:defRPr sz="1298"/>
            </a:lvl4pPr>
            <a:lvl5pPr indent="-311023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•"/>
              <a:defRPr sz="1298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2" type="subTitle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718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9"/>
              <a:buNone/>
              <a:defRPr sz="31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7"/>
              <a:buNone/>
              <a:defRPr sz="2597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7"/>
              <a:buNone/>
              <a:defRPr sz="2337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None/>
              <a:defRPr sz="2078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/>
          <p:nvPr>
            <p:ph type="title"/>
          </p:nvPr>
        </p:nvSpPr>
        <p:spPr>
          <a:xfrm>
            <a:off x="430274" y="332657"/>
            <a:ext cx="11766494" cy="504057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850" spcFirstLastPara="1" rIns="121850" wrap="square" tIns="609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864A8D"/>
              </a:buClr>
              <a:buSzPts val="2400"/>
              <a:buFont typeface="Microsoft Yahei"/>
              <a:buNone/>
              <a:defRPr b="1" sz="2400">
                <a:solidFill>
                  <a:srgbClr val="864A8D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>
  <p:cSld name="标题幻灯片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6"/>
          <p:cNvSpPr/>
          <p:nvPr/>
        </p:nvSpPr>
        <p:spPr>
          <a:xfrm>
            <a:off x="0" y="6350"/>
            <a:ext cx="2700690" cy="6851651"/>
          </a:xfrm>
          <a:prstGeom prst="rect">
            <a:avLst/>
          </a:prstGeom>
          <a:solidFill>
            <a:srgbClr val="D8D8D8">
              <a:alpha val="49803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</a:pPr>
            <a:r>
              <a:t/>
            </a:r>
            <a:endParaRPr sz="1700">
              <a:solidFill>
                <a:srgbClr val="FFFFFF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grpSp>
        <p:nvGrpSpPr>
          <p:cNvPr id="62" name="Google Shape;62;p36"/>
          <p:cNvGrpSpPr/>
          <p:nvPr/>
        </p:nvGrpSpPr>
        <p:grpSpPr>
          <a:xfrm>
            <a:off x="95296" y="1568959"/>
            <a:ext cx="2525080" cy="3720087"/>
            <a:chOff x="95307" y="2564903"/>
            <a:chExt cx="2525409" cy="3720087"/>
          </a:xfrm>
        </p:grpSpPr>
        <p:grpSp>
          <p:nvGrpSpPr>
            <p:cNvPr id="63" name="Google Shape;63;p36"/>
            <p:cNvGrpSpPr/>
            <p:nvPr/>
          </p:nvGrpSpPr>
          <p:grpSpPr>
            <a:xfrm>
              <a:off x="265120" y="2564903"/>
              <a:ext cx="2185214" cy="1572215"/>
              <a:chOff x="401638" y="1734551"/>
              <a:chExt cx="2184645" cy="1572580"/>
            </a:xfrm>
          </p:grpSpPr>
          <p:sp>
            <p:nvSpPr>
              <p:cNvPr id="64" name="Google Shape;64;p36"/>
              <p:cNvSpPr/>
              <p:nvPr/>
            </p:nvSpPr>
            <p:spPr>
              <a:xfrm>
                <a:off x="401638" y="2660650"/>
                <a:ext cx="2184645" cy="6464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864A8D"/>
                  </a:buClr>
                  <a:buSzPts val="3600"/>
                  <a:buFont typeface="Arial"/>
                  <a:buNone/>
                </a:pPr>
                <a:r>
                  <a:rPr b="1" lang="zh-CN" sz="3600">
                    <a:solidFill>
                      <a:srgbClr val="864A8D"/>
                    </a:solidFill>
                    <a:latin typeface="Arial"/>
                    <a:ea typeface="Arial"/>
                    <a:cs typeface="Arial"/>
                    <a:sym typeface="Arial"/>
                  </a:rPr>
                  <a:t>Contents</a:t>
                </a:r>
                <a:endParaRPr b="1" sz="3600">
                  <a:solidFill>
                    <a:srgbClr val="864A8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5" name="Google Shape;65;p36"/>
              <p:cNvSpPr/>
              <p:nvPr/>
            </p:nvSpPr>
            <p:spPr>
              <a:xfrm>
                <a:off x="837814" y="1734551"/>
                <a:ext cx="1312838" cy="769620"/>
              </a:xfrm>
              <a:prstGeom prst="rect">
                <a:avLst/>
              </a:prstGeom>
              <a:solidFill>
                <a:srgbClr val="864A8D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ECECEC"/>
                  </a:buClr>
                  <a:buSzPts val="4400"/>
                  <a:buFont typeface="Arial"/>
                  <a:buNone/>
                </a:pPr>
                <a:r>
                  <a:rPr b="1" lang="zh-CN" sz="4400">
                    <a:solidFill>
                      <a:srgbClr val="ECECEC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目录</a:t>
                </a:r>
                <a:endParaRPr/>
              </a:p>
            </p:txBody>
          </p:sp>
        </p:grpSp>
        <p:pic>
          <p:nvPicPr>
            <p:cNvPr id="66" name="Google Shape;66;p3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95307" y="4268990"/>
              <a:ext cx="2525409" cy="2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标题幻灯片">
  <p:cSld name="2_标题幻灯片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s-tilte white - 40px-purple background" showMasterSp="0">
  <p:cSld name="Contents-tilte white - 40px-purple background">
    <p:bg>
      <p:bgPr>
        <a:solidFill>
          <a:schemeClr val="dk2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8"/>
          <p:cNvSpPr txBox="1"/>
          <p:nvPr>
            <p:ph idx="1" type="body"/>
          </p:nvPr>
        </p:nvSpPr>
        <p:spPr>
          <a:xfrm>
            <a:off x="10426053" y="236195"/>
            <a:ext cx="1811207" cy="1519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spcBef>
                <a:spcPts val="16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b="0" sz="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indent="-228600" lvl="3" marL="182880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/>
            </a:lvl4pPr>
            <a:lvl5pPr indent="-228600" lvl="4" marL="228600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38"/>
          <p:cNvSpPr txBox="1"/>
          <p:nvPr>
            <p:ph type="title"/>
          </p:nvPr>
        </p:nvSpPr>
        <p:spPr>
          <a:xfrm>
            <a:off x="373208" y="240430"/>
            <a:ext cx="5267795" cy="1543919"/>
          </a:xfrm>
          <a:prstGeom prst="rect">
            <a:avLst/>
          </a:prstGeom>
          <a:noFill/>
          <a:ln>
            <a:noFill/>
          </a:ln>
        </p:spPr>
        <p:txBody>
          <a:bodyPr anchorCtr="0" anchor="t" bIns="60950" lIns="121925" spcFirstLastPara="1" rIns="121925" wrap="square" tIns="60950">
            <a:norm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1" name="Google Shape;71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045454" y="6179820"/>
            <a:ext cx="708207" cy="3539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page">
  <p:cSld name="End page">
    <p:bg>
      <p:bgPr>
        <a:solidFill>
          <a:srgbClr val="FFFFFF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9"/>
          <p:cNvSpPr txBox="1"/>
          <p:nvPr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Thank you.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hinese text page">
  <p:cSld name="1_Chinese text page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idx="1" type="subTitle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8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9"/>
              <a:buFont typeface="Arial"/>
              <a:buNone/>
              <a:defRPr b="0" i="0" sz="3199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597"/>
              <a:buFont typeface="Arial"/>
              <a:buNone/>
              <a:defRPr b="0" i="0" sz="259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7"/>
              <a:buFont typeface="Arial"/>
              <a:buNone/>
              <a:defRPr b="0" i="0" sz="233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20"/>
          <p:cNvSpPr txBox="1"/>
          <p:nvPr>
            <p:ph idx="2" type="body"/>
          </p:nvPr>
        </p:nvSpPr>
        <p:spPr>
          <a:xfrm>
            <a:off x="736909" y="1501989"/>
            <a:ext cx="10733558" cy="4690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None/>
              <a:defRPr b="0" i="0" sz="1799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311086" lvl="1" marL="914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9"/>
              <a:buFont typeface="Arial"/>
              <a:buChar char="•"/>
              <a:defRPr b="0" i="0" sz="12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1087" lvl="2" marL="1371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9"/>
              <a:buFont typeface="Arial"/>
              <a:buChar char="•"/>
              <a:defRPr b="0" i="0" sz="12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1087" lvl="3" marL="1828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9"/>
              <a:buFont typeface="Arial"/>
              <a:buChar char="•"/>
              <a:defRPr b="0" i="0" sz="12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1086" lvl="4" marL="22860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9"/>
              <a:buFont typeface="Arial"/>
              <a:buChar char="•"/>
              <a:defRPr b="0" i="0" sz="12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76873" lvl="5" marL="27432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76873" lvl="6" marL="3200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76872" lvl="7" marL="3657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76872" lvl="8" marL="4114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84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>
            <p:ph type="title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710"/>
              <a:buFont typeface="Calibri"/>
              <a:buNone/>
              <a:defRPr b="0" i="0" sz="571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4" name="Google Shape;104;p21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59296" lvl="0" marL="457200" marR="0" rtl="0" algn="l">
              <a:lnSpc>
                <a:spcPct val="90000"/>
              </a:lnSpc>
              <a:spcBef>
                <a:spcPts val="1296"/>
              </a:spcBef>
              <a:spcAft>
                <a:spcPts val="0"/>
              </a:spcAft>
              <a:buClr>
                <a:schemeClr val="dk1"/>
              </a:buClr>
              <a:buSzPts val="3633"/>
              <a:buFont typeface="Arial"/>
              <a:buChar char="•"/>
              <a:defRPr b="0" i="0" sz="36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26403" lvl="1" marL="914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3115"/>
              <a:buFont typeface="Arial"/>
              <a:buChar char="•"/>
              <a:defRPr b="0" i="0" sz="311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93382" lvl="2" marL="1371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595"/>
              <a:buFont typeface="Arial"/>
              <a:buChar char="•"/>
              <a:defRPr b="0" i="0" sz="25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76873" lvl="3" marL="1828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76873" lvl="4" marL="22860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76873" lvl="5" marL="27432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76873" lvl="6" marL="3200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76872" lvl="7" marL="3657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76872" lvl="8" marL="4114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5"/>
              <a:buFont typeface="Arial"/>
              <a:buChar char="•"/>
              <a:defRPr b="0" i="0" sz="233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6" name="Google Shape;106;p21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7" name="Google Shape;107;p21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hinese text page">
  <p:cSld name="4_Chinese text page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2"/>
          <p:cNvSpPr txBox="1"/>
          <p:nvPr>
            <p:ph idx="1" type="subTitle"/>
          </p:nvPr>
        </p:nvSpPr>
        <p:spPr>
          <a:xfrm>
            <a:off x="729175" y="456138"/>
            <a:ext cx="10740640" cy="5435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4295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98"/>
              <a:buFont typeface="Arial"/>
              <a:buNone/>
              <a:defRPr b="1" i="0" sz="23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596"/>
              <a:buFont typeface="Arial"/>
              <a:buNone/>
              <a:defRPr b="0" i="0" sz="259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6"/>
              <a:buFont typeface="Arial"/>
              <a:buNone/>
              <a:defRPr b="0" i="0" sz="2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842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hinese text page">
  <p:cSld name="2_Chinese text page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3"/>
          <p:cNvSpPr txBox="1"/>
          <p:nvPr>
            <p:ph idx="1" type="subTitle"/>
          </p:nvPr>
        </p:nvSpPr>
        <p:spPr>
          <a:xfrm>
            <a:off x="729175" y="456138"/>
            <a:ext cx="10740640" cy="4124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225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8"/>
              <a:buFont typeface="Arial"/>
              <a:buNone/>
              <a:defRPr b="0" i="0" sz="2798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596"/>
              <a:buFont typeface="Arial"/>
              <a:buNone/>
              <a:defRPr b="0" i="0" sz="259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6"/>
              <a:buFont typeface="Arial"/>
              <a:buNone/>
              <a:defRPr b="0" i="0" sz="2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7"/>
              <a:buFont typeface="Arial"/>
              <a:buNone/>
              <a:defRPr b="0" i="0" sz="207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842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标题幻灯片">
  <p:cSld name="3_标题幻灯片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4"/>
          <p:cNvSpPr txBox="1"/>
          <p:nvPr>
            <p:ph type="title"/>
          </p:nvPr>
        </p:nvSpPr>
        <p:spPr>
          <a:xfrm>
            <a:off x="336993" y="261382"/>
            <a:ext cx="10520145" cy="8322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97"/>
              <a:buFont typeface="Calibri"/>
              <a:buNone/>
              <a:defRPr b="0" i="0" sz="2597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4" name="Google Shape;114;p34"/>
          <p:cNvSpPr/>
          <p:nvPr/>
        </p:nvSpPr>
        <p:spPr>
          <a:xfrm>
            <a:off x="5878310" y="6525174"/>
            <a:ext cx="905762" cy="3529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Page </a:t>
            </a:r>
            <a:fld id="{00000000-1234-1234-1234-123412341234}" type="slidenum">
              <a:rPr lang="zh-C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l00300370\AppData\Roaming\eSpace_Desktop\UserData\l00300370\imagefiles\originalImgfiles\D91AB1D1-0E26-440D-BB0E-7EBA4E515FF3.png" id="115" name="Google Shape;115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0938" y="6610232"/>
            <a:ext cx="825708" cy="1828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15737" y="6610232"/>
            <a:ext cx="365807" cy="1828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标题和内容">
  <p:cSld name="6_标题和内容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xplore">
  <p:cSld name="Explore">
    <p:bg>
      <p:bgPr>
        <a:solidFill>
          <a:schemeClr val="dk2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41"/>
          <p:cNvPicPr preferRelativeResize="0"/>
          <p:nvPr/>
        </p:nvPicPr>
        <p:blipFill rotWithShape="1">
          <a:blip r:embed="rId2">
            <a:alphaModFix/>
          </a:blip>
          <a:srcRect b="18667" l="0" r="0" t="0"/>
          <a:stretch/>
        </p:blipFill>
        <p:spPr>
          <a:xfrm>
            <a:off x="0" y="0"/>
            <a:ext cx="12206140" cy="559469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1"/>
          <p:cNvSpPr txBox="1"/>
          <p:nvPr>
            <p:ph idx="1" type="body"/>
          </p:nvPr>
        </p:nvSpPr>
        <p:spPr>
          <a:xfrm>
            <a:off x="912855" y="6237532"/>
            <a:ext cx="1483104" cy="2790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p41"/>
          <p:cNvSpPr/>
          <p:nvPr/>
        </p:nvSpPr>
        <p:spPr>
          <a:xfrm rot="5400000">
            <a:off x="7853942" y="2130562"/>
            <a:ext cx="701032" cy="717936"/>
          </a:xfrm>
          <a:prstGeom prst="corner">
            <a:avLst>
              <a:gd fmla="val 3243" name="adj1"/>
              <a:gd fmla="val 3048" name="adj2"/>
            </a:avLst>
          </a:prstGeom>
          <a:solidFill>
            <a:srgbClr val="C700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41"/>
          <p:cNvSpPr txBox="1"/>
          <p:nvPr>
            <p:ph idx="2" type="body"/>
          </p:nvPr>
        </p:nvSpPr>
        <p:spPr>
          <a:xfrm>
            <a:off x="936005" y="1940429"/>
            <a:ext cx="6522800" cy="1148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p41"/>
          <p:cNvSpPr txBox="1"/>
          <p:nvPr>
            <p:ph idx="3" type="subTitle"/>
          </p:nvPr>
        </p:nvSpPr>
        <p:spPr>
          <a:xfrm>
            <a:off x="894275" y="900634"/>
            <a:ext cx="6586025" cy="8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8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8"/>
              <a:buFont typeface="Arial"/>
              <a:buNone/>
              <a:defRPr b="0" i="0" sz="25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None/>
              <a:defRPr b="0" i="0" sz="233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lligence">
  <p:cSld name="Intelligence">
    <p:bg>
      <p:bgPr>
        <a:solidFill>
          <a:schemeClr val="dk2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42"/>
          <p:cNvPicPr preferRelativeResize="0"/>
          <p:nvPr/>
        </p:nvPicPr>
        <p:blipFill rotWithShape="1">
          <a:blip r:embed="rId2">
            <a:alphaModFix/>
          </a:blip>
          <a:srcRect b="18604" l="0" r="0" t="0"/>
          <a:stretch/>
        </p:blipFill>
        <p:spPr>
          <a:xfrm>
            <a:off x="0" y="375"/>
            <a:ext cx="12197432" cy="5599236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42"/>
          <p:cNvSpPr/>
          <p:nvPr/>
        </p:nvSpPr>
        <p:spPr>
          <a:xfrm rot="5400000">
            <a:off x="5352597" y="2376386"/>
            <a:ext cx="744262" cy="762208"/>
          </a:xfrm>
          <a:prstGeom prst="corner">
            <a:avLst>
              <a:gd fmla="val 3243" name="adj1"/>
              <a:gd fmla="val 3048" name="adj2"/>
            </a:avLst>
          </a:prstGeom>
          <a:solidFill>
            <a:srgbClr val="C700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2"/>
          <p:cNvSpPr txBox="1"/>
          <p:nvPr>
            <p:ph idx="1" type="body"/>
          </p:nvPr>
        </p:nvSpPr>
        <p:spPr>
          <a:xfrm>
            <a:off x="936005" y="1940429"/>
            <a:ext cx="4181685" cy="1148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42"/>
          <p:cNvSpPr txBox="1"/>
          <p:nvPr>
            <p:ph idx="2" type="body"/>
          </p:nvPr>
        </p:nvSpPr>
        <p:spPr>
          <a:xfrm>
            <a:off x="912855" y="6237532"/>
            <a:ext cx="1483104" cy="2790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1" name="Google Shape;131;p42"/>
          <p:cNvSpPr txBox="1"/>
          <p:nvPr>
            <p:ph idx="3" type="subTitle"/>
          </p:nvPr>
        </p:nvSpPr>
        <p:spPr>
          <a:xfrm>
            <a:off x="894275" y="900634"/>
            <a:ext cx="6586025" cy="8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8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8"/>
              <a:buFont typeface="Arial"/>
              <a:buNone/>
              <a:defRPr b="0" i="0" sz="25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None/>
              <a:defRPr b="0" i="0" sz="233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novation">
  <p:cSld name="Innovation">
    <p:bg>
      <p:bgPr>
        <a:solidFill>
          <a:schemeClr val="dk2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43"/>
          <p:cNvPicPr preferRelativeResize="0"/>
          <p:nvPr/>
        </p:nvPicPr>
        <p:blipFill rotWithShape="1">
          <a:blip r:embed="rId2">
            <a:alphaModFix/>
          </a:blip>
          <a:srcRect b="18476" l="0" r="0" t="1"/>
          <a:stretch/>
        </p:blipFill>
        <p:spPr>
          <a:xfrm>
            <a:off x="0" y="374"/>
            <a:ext cx="12197432" cy="559052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3"/>
          <p:cNvSpPr/>
          <p:nvPr/>
        </p:nvSpPr>
        <p:spPr>
          <a:xfrm rot="5400000">
            <a:off x="5945516" y="2323519"/>
            <a:ext cx="701032" cy="717936"/>
          </a:xfrm>
          <a:prstGeom prst="corner">
            <a:avLst>
              <a:gd fmla="val 3243" name="adj1"/>
              <a:gd fmla="val 3048" name="adj2"/>
            </a:avLst>
          </a:prstGeom>
          <a:solidFill>
            <a:srgbClr val="C700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43"/>
          <p:cNvSpPr txBox="1"/>
          <p:nvPr>
            <p:ph idx="1" type="body"/>
          </p:nvPr>
        </p:nvSpPr>
        <p:spPr>
          <a:xfrm>
            <a:off x="936005" y="1940429"/>
            <a:ext cx="4913952" cy="1148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6" name="Google Shape;136;p43"/>
          <p:cNvSpPr txBox="1"/>
          <p:nvPr>
            <p:ph idx="2" type="body"/>
          </p:nvPr>
        </p:nvSpPr>
        <p:spPr>
          <a:xfrm>
            <a:off x="912855" y="6237532"/>
            <a:ext cx="1483104" cy="2790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7" name="Google Shape;137;p43"/>
          <p:cNvSpPr txBox="1"/>
          <p:nvPr>
            <p:ph idx="3" type="subTitle"/>
          </p:nvPr>
        </p:nvSpPr>
        <p:spPr>
          <a:xfrm>
            <a:off x="894275" y="900634"/>
            <a:ext cx="6586025" cy="8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8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8"/>
              <a:buFont typeface="Arial"/>
              <a:buNone/>
              <a:defRPr b="0" i="0" sz="25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None/>
              <a:defRPr b="0" i="0" sz="233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scend">
  <p:cSld name="Ascend">
    <p:bg>
      <p:bgPr>
        <a:solidFill>
          <a:schemeClr val="dk2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44"/>
          <p:cNvPicPr preferRelativeResize="0"/>
          <p:nvPr/>
        </p:nvPicPr>
        <p:blipFill rotWithShape="1">
          <a:blip r:embed="rId2">
            <a:alphaModFix/>
          </a:blip>
          <a:srcRect b="17902" l="0" r="0" t="0"/>
          <a:stretch/>
        </p:blipFill>
        <p:spPr>
          <a:xfrm>
            <a:off x="0" y="-74021"/>
            <a:ext cx="12197432" cy="566871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4"/>
          <p:cNvSpPr/>
          <p:nvPr/>
        </p:nvSpPr>
        <p:spPr>
          <a:xfrm rot="5400000">
            <a:off x="7929967" y="1657555"/>
            <a:ext cx="701032" cy="717936"/>
          </a:xfrm>
          <a:prstGeom prst="corner">
            <a:avLst>
              <a:gd fmla="val 3243" name="adj1"/>
              <a:gd fmla="val 3048" name="adj2"/>
            </a:avLst>
          </a:prstGeom>
          <a:solidFill>
            <a:srgbClr val="C700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4"/>
          <p:cNvSpPr txBox="1"/>
          <p:nvPr>
            <p:ph idx="1" type="body"/>
          </p:nvPr>
        </p:nvSpPr>
        <p:spPr>
          <a:xfrm>
            <a:off x="936005" y="1940429"/>
            <a:ext cx="6522800" cy="1148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2" name="Google Shape;142;p44"/>
          <p:cNvSpPr txBox="1"/>
          <p:nvPr>
            <p:ph idx="2" type="body"/>
          </p:nvPr>
        </p:nvSpPr>
        <p:spPr>
          <a:xfrm>
            <a:off x="912855" y="6237532"/>
            <a:ext cx="1483104" cy="2790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44"/>
          <p:cNvSpPr txBox="1"/>
          <p:nvPr>
            <p:ph idx="3" type="subTitle"/>
          </p:nvPr>
        </p:nvSpPr>
        <p:spPr>
          <a:xfrm>
            <a:off x="894275" y="900634"/>
            <a:ext cx="6586025" cy="8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8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8"/>
              <a:buFont typeface="Arial"/>
              <a:buNone/>
              <a:defRPr b="0" i="0" sz="25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None/>
              <a:defRPr b="0" i="0" sz="233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ntents page">
  <p:cSld name="1_Contents page">
    <p:bg>
      <p:bgPr>
        <a:solidFill>
          <a:srgbClr val="EBEBEB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7"/>
          <p:cNvSpPr txBox="1"/>
          <p:nvPr>
            <p:ph idx="1" type="body"/>
          </p:nvPr>
        </p:nvSpPr>
        <p:spPr>
          <a:xfrm>
            <a:off x="1033620" y="1843089"/>
            <a:ext cx="10122060" cy="3013725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91425" spcFirstLastPara="1" rIns="91425" wrap="square" tIns="90000">
            <a:noAutofit/>
          </a:bodyPr>
          <a:lstStyle>
            <a:lvl1pPr indent="-368300" lvl="0" marL="45720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 Black"/>
              <a:buAutoNum type="arabicPeriod"/>
              <a:defRPr b="0" i="0" sz="2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276225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 Black"/>
              <a:buAutoNum type="arabicPeriod"/>
              <a:defRPr b="0" i="0" sz="7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 Black"/>
              <a:buNone/>
              <a:defRPr b="0" i="0" sz="2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 Black"/>
              <a:buNone/>
              <a:defRPr b="0" i="0" sz="2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 Black"/>
              <a:buNone/>
              <a:defRPr b="0" i="0" sz="2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149" name="Google Shape;149;p47"/>
          <p:cNvCxnSpPr/>
          <p:nvPr/>
        </p:nvCxnSpPr>
        <p:spPr>
          <a:xfrm rot="10800000">
            <a:off x="1029918" y="1349255"/>
            <a:ext cx="885967" cy="0"/>
          </a:xfrm>
          <a:prstGeom prst="straightConnector1">
            <a:avLst/>
          </a:prstGeom>
          <a:noFill/>
          <a:ln cap="flat" cmpd="sng" w="28575">
            <a:solidFill>
              <a:srgbClr val="C7000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0" name="Google Shape;150;p47"/>
          <p:cNvSpPr txBox="1"/>
          <p:nvPr/>
        </p:nvSpPr>
        <p:spPr>
          <a:xfrm>
            <a:off x="918917" y="630374"/>
            <a:ext cx="1147485" cy="6535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5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目录</a:t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结束页">
  <p:cSld name="结束页"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9"/>
          <p:cNvSpPr txBox="1"/>
          <p:nvPr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Thank you.</a:t>
            </a: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>
  <p:cSld name="标题幻灯片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1"/>
          <p:cNvSpPr txBox="1"/>
          <p:nvPr>
            <p:ph type="ctrTitle"/>
          </p:nvPr>
        </p:nvSpPr>
        <p:spPr>
          <a:xfrm>
            <a:off x="409008" y="170345"/>
            <a:ext cx="11235233" cy="9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199"/>
              <a:buFont typeface="Arial"/>
              <a:buNone/>
              <a:defRPr b="0" sz="3199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>
  <p:cSld name="仅标题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，文本与内容">
  <p:cSld name="标题，文本与内容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4"/>
          <p:cNvSpPr txBox="1"/>
          <p:nvPr>
            <p:ph type="title"/>
          </p:nvPr>
        </p:nvSpPr>
        <p:spPr>
          <a:xfrm>
            <a:off x="824021" y="341790"/>
            <a:ext cx="10848799" cy="61555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6855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4D86"/>
              </a:buClr>
              <a:buSzPts val="4000"/>
              <a:buFont typeface="Microsoft Yahei"/>
              <a:buNone/>
              <a:defRPr b="0" sz="4000">
                <a:solidFill>
                  <a:srgbClr val="004D86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54"/>
          <p:cNvSpPr/>
          <p:nvPr/>
        </p:nvSpPr>
        <p:spPr>
          <a:xfrm>
            <a:off x="824021" y="6489702"/>
            <a:ext cx="2097360" cy="4556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934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34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7_标题幻灯片">
  <p:cSld name="27_标题幻灯片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5"/>
          <p:cNvSpPr txBox="1"/>
          <p:nvPr>
            <p:ph idx="1" type="subTitle"/>
          </p:nvPr>
        </p:nvSpPr>
        <p:spPr>
          <a:xfrm>
            <a:off x="458850" y="727546"/>
            <a:ext cx="11346556" cy="6154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50" lIns="121925" spcFirstLastPara="1" rIns="121925" wrap="square" tIns="60950">
            <a:spAutoFit/>
          </a:bodyPr>
          <a:lstStyle>
            <a:lvl1pPr lvl="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04040"/>
              </a:buClr>
              <a:buSzPts val="3199"/>
              <a:buFont typeface="Arial"/>
              <a:buNone/>
              <a:defRPr sz="3199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740"/>
              </a:spcBef>
              <a:spcAft>
                <a:spcPts val="0"/>
              </a:spcAft>
              <a:buClr>
                <a:srgbClr val="888888"/>
              </a:buClr>
              <a:buSzPts val="3699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199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标题幻灯片">
  <p:cSld name="1_标题幻灯片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56"/>
          <p:cNvSpPr txBox="1"/>
          <p:nvPr>
            <p:ph idx="1" type="subTitle"/>
          </p:nvPr>
        </p:nvSpPr>
        <p:spPr>
          <a:xfrm>
            <a:off x="425104" y="2646690"/>
            <a:ext cx="11346556" cy="1564620"/>
          </a:xfrm>
          <a:prstGeom prst="rect">
            <a:avLst/>
          </a:prstGeom>
          <a:noFill/>
          <a:ln>
            <a:noFill/>
          </a:ln>
        </p:spPr>
        <p:txBody>
          <a:bodyPr anchorCtr="0" anchor="t" bIns="60950" lIns="121925" spcFirstLastPara="1" rIns="121925" wrap="square" tIns="60950">
            <a:normAutofit/>
          </a:bodyPr>
          <a:lstStyle>
            <a:lvl1pPr lvl="0" marR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999"/>
              <a:buFont typeface="Arial"/>
              <a:buNone/>
              <a:defRPr sz="3999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740"/>
              </a:spcBef>
              <a:spcAft>
                <a:spcPts val="0"/>
              </a:spcAft>
              <a:buClr>
                <a:srgbClr val="888888"/>
              </a:buClr>
              <a:buSzPts val="3699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199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699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空白">
  <p:cSld name="1_空白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7"/>
          <p:cNvSpPr txBox="1"/>
          <p:nvPr>
            <p:ph type="title"/>
          </p:nvPr>
        </p:nvSpPr>
        <p:spPr>
          <a:xfrm>
            <a:off x="922297" y="115414"/>
            <a:ext cx="10977404" cy="1331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Autofit/>
          </a:bodyPr>
          <a:lstStyle>
            <a:lvl1pPr lvl="0" algn="l">
              <a:lnSpc>
                <a:spcPct val="125007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99"/>
              <a:buFont typeface="Microsoft Yahei"/>
              <a:buNone/>
              <a:defRPr b="1" sz="3199">
                <a:solidFill>
                  <a:schemeClr val="dk2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57"/>
          <p:cNvSpPr/>
          <p:nvPr/>
        </p:nvSpPr>
        <p:spPr>
          <a:xfrm>
            <a:off x="6282030" y="6520536"/>
            <a:ext cx="1803634" cy="276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D8D8D8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 </a:t>
            </a:r>
            <a:fld id="{00000000-1234-1234-1234-123412341234}" type="slidenum">
              <a:rPr lang="zh-CN" sz="1200">
                <a:solidFill>
                  <a:srgbClr val="D8D8D8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‹#›</a:t>
            </a:fld>
            <a:endParaRPr sz="1200">
              <a:solidFill>
                <a:srgbClr val="D8D8D8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181" name="Google Shape;181;p57"/>
          <p:cNvSpPr/>
          <p:nvPr/>
        </p:nvSpPr>
        <p:spPr>
          <a:xfrm>
            <a:off x="5841585" y="6478332"/>
            <a:ext cx="520356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80050" spcFirstLastPara="1" rIns="8005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D8D8D8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Page</a:t>
            </a:r>
            <a:endParaRPr/>
          </a:p>
        </p:txBody>
      </p:sp>
      <p:sp>
        <p:nvSpPr>
          <p:cNvPr id="182" name="Google Shape;182;p57"/>
          <p:cNvSpPr/>
          <p:nvPr/>
        </p:nvSpPr>
        <p:spPr>
          <a:xfrm>
            <a:off x="10054878" y="6438900"/>
            <a:ext cx="1693585" cy="265524"/>
          </a:xfrm>
          <a:prstGeom prst="rect">
            <a:avLst/>
          </a:prstGeom>
          <a:noFill/>
          <a:ln>
            <a:noFill/>
          </a:ln>
        </p:spPr>
        <p:txBody>
          <a:bodyPr anchorCtr="0" anchor="t" bIns="40025" lIns="80050" spcFirstLastPara="1" rIns="80050" wrap="square" tIns="400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D8D8D8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Huawei Confidential </a:t>
            </a:r>
            <a:endParaRPr/>
          </a:p>
        </p:txBody>
      </p:sp>
    </p:spTree>
  </p:cSld>
  <p:clrMapOvr>
    <a:masterClrMapping/>
  </p:clrMapOvr>
  <p:transition>
    <p:fade thruBlk="1"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Custom Layout">
  <p:cSld name="7_Custom Layout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8"/>
          <p:cNvSpPr txBox="1"/>
          <p:nvPr>
            <p:ph type="title"/>
          </p:nvPr>
        </p:nvSpPr>
        <p:spPr>
          <a:xfrm>
            <a:off x="1007927" y="369038"/>
            <a:ext cx="10180910" cy="74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ransition>
    <p:fade thruBlk="1"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标题幻灯片">
  <p:cSld name="3_标题幻灯片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9"/>
          <p:cNvSpPr txBox="1"/>
          <p:nvPr>
            <p:ph type="ctrTitle"/>
          </p:nvPr>
        </p:nvSpPr>
        <p:spPr>
          <a:xfrm>
            <a:off x="914523" y="2129932"/>
            <a:ext cx="10367725" cy="1471272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99"/>
              <a:buFont typeface="Microsoft Yahei"/>
              <a:buNone/>
              <a:defRPr sz="3999"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1"/>
          <p:cNvSpPr txBox="1"/>
          <p:nvPr>
            <p:ph type="ctrTitle"/>
          </p:nvPr>
        </p:nvSpPr>
        <p:spPr>
          <a:xfrm>
            <a:off x="48921" y="45407"/>
            <a:ext cx="12147842" cy="5282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2200"/>
              <a:buFont typeface="Calibri"/>
              <a:buNone/>
              <a:defRPr b="1" i="0" sz="2200" u="none" cap="none" strike="noStrike">
                <a:solidFill>
                  <a:srgbClr val="99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1" name="Google Shape;191;p61"/>
          <p:cNvSpPr txBox="1"/>
          <p:nvPr>
            <p:ph idx="12" type="sldNum"/>
          </p:nvPr>
        </p:nvSpPr>
        <p:spPr>
          <a:xfrm>
            <a:off x="5687205" y="6491818"/>
            <a:ext cx="822356" cy="3661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Page </a:t>
            </a: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章节页">
  <p:cSld name="1_章节页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探索">
  <p:cSld name="探索"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63"/>
          <p:cNvPicPr preferRelativeResize="0"/>
          <p:nvPr/>
        </p:nvPicPr>
        <p:blipFill rotWithShape="1">
          <a:blip r:embed="rId2">
            <a:alphaModFix/>
          </a:blip>
          <a:srcRect b="18667" l="0" r="0" t="0"/>
          <a:stretch/>
        </p:blipFill>
        <p:spPr>
          <a:xfrm>
            <a:off x="0" y="0"/>
            <a:ext cx="12206140" cy="559469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63"/>
          <p:cNvSpPr/>
          <p:nvPr/>
        </p:nvSpPr>
        <p:spPr>
          <a:xfrm rot="5400000">
            <a:off x="7853942" y="2130562"/>
            <a:ext cx="701032" cy="717936"/>
          </a:xfrm>
          <a:prstGeom prst="corner">
            <a:avLst>
              <a:gd fmla="val 3243" name="adj1"/>
              <a:gd fmla="val 3048" name="adj2"/>
            </a:avLst>
          </a:prstGeom>
          <a:solidFill>
            <a:srgbClr val="C700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3"/>
          <p:cNvSpPr txBox="1"/>
          <p:nvPr>
            <p:ph type="ctrTitle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YaHei"/>
              <a:buNone/>
              <a:defRPr b="0" i="0" sz="3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7" name="Google Shape;197;p63"/>
          <p:cNvSpPr txBox="1"/>
          <p:nvPr>
            <p:ph idx="1" type="body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1299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26593" lvl="1" marL="914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3118"/>
              <a:buFont typeface="Arial"/>
              <a:buChar char="•"/>
              <a:defRPr b="0" i="0" sz="31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93573" lvl="2" marL="1371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598"/>
              <a:buFont typeface="Arial"/>
              <a:buChar char="•"/>
              <a:defRPr b="0" i="0" sz="25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77063" lvl="3" marL="1828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77063" lvl="4" marL="22860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77063" lvl="5" marL="27432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77063" lvl="6" marL="3200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77063" lvl="7" marL="3657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77063" lvl="8" marL="4114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8" name="Google Shape;198;p63"/>
          <p:cNvSpPr txBox="1"/>
          <p:nvPr>
            <p:ph idx="2" type="body"/>
          </p:nvPr>
        </p:nvSpPr>
        <p:spPr>
          <a:xfrm>
            <a:off x="913588" y="6227190"/>
            <a:ext cx="1617170" cy="3227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marR="0" rtl="0" algn="l">
              <a:lnSpc>
                <a:spcPct val="90000"/>
              </a:lnSpc>
              <a:spcBef>
                <a:spcPts val="1299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26593" lvl="1" marL="914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3118"/>
              <a:buFont typeface="Arial"/>
              <a:buChar char="•"/>
              <a:defRPr b="0" i="0" sz="31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93573" lvl="2" marL="1371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598"/>
              <a:buFont typeface="Arial"/>
              <a:buChar char="•"/>
              <a:defRPr b="0" i="0" sz="25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77063" lvl="3" marL="1828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77063" lvl="4" marL="22860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77063" lvl="5" marL="27432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77063" lvl="6" marL="3200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77063" lvl="7" marL="3657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77063" lvl="8" marL="4114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99" name="Google Shape;199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" y="-1168"/>
            <a:ext cx="12196571" cy="68591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hinese text page">
  <p:cSld name="13_Chinese text page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4"/>
          <p:cNvSpPr txBox="1"/>
          <p:nvPr>
            <p:ph idx="1" type="subTitle"/>
          </p:nvPr>
        </p:nvSpPr>
        <p:spPr>
          <a:xfrm>
            <a:off x="729175" y="456135"/>
            <a:ext cx="10740640" cy="9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6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5"/>
              <a:buFont typeface="Arial"/>
              <a:buNone/>
              <a:defRPr b="0" i="0" sz="3195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593"/>
              <a:buFont typeface="Arial"/>
              <a:buNone/>
              <a:defRPr b="0" i="0" sz="259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3"/>
              <a:buFont typeface="Arial"/>
              <a:buNone/>
              <a:defRPr b="0" i="0" sz="23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5"/>
              <a:buFont typeface="Arial"/>
              <a:buNone/>
              <a:defRPr b="0" i="0" sz="207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5"/>
              <a:buFont typeface="Arial"/>
              <a:buNone/>
              <a:defRPr b="0" i="0" sz="207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5"/>
              <a:buFont typeface="Arial"/>
              <a:buNone/>
              <a:defRPr b="0" i="0" sz="207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5"/>
              <a:buFont typeface="Arial"/>
              <a:buNone/>
              <a:defRPr b="0" i="0" sz="207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5"/>
              <a:buFont typeface="Arial"/>
              <a:buNone/>
              <a:defRPr b="0" i="0" sz="207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075"/>
              <a:buFont typeface="Arial"/>
              <a:buNone/>
              <a:defRPr b="0" i="0" sz="207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2" name="Google Shape;202;p64"/>
          <p:cNvSpPr txBox="1"/>
          <p:nvPr>
            <p:ph idx="2" type="body"/>
          </p:nvPr>
        </p:nvSpPr>
        <p:spPr>
          <a:xfrm>
            <a:off x="736913" y="1501989"/>
            <a:ext cx="10733557" cy="4690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5"/>
              <a:buFont typeface="Arial"/>
              <a:buNone/>
              <a:defRPr b="0" i="0" sz="1795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310832" lvl="1" marL="914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5"/>
              <a:buFont typeface="Arial"/>
              <a:buChar char="•"/>
              <a:defRPr b="0" i="0" sz="12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0832" lvl="2" marL="1371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5"/>
              <a:buFont typeface="Arial"/>
              <a:buChar char="•"/>
              <a:defRPr b="0" i="0" sz="12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0832" lvl="3" marL="1828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5"/>
              <a:buFont typeface="Arial"/>
              <a:buChar char="•"/>
              <a:defRPr b="0" i="0" sz="12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0833" lvl="4" marL="22860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1295"/>
              <a:buFont typeface="Arial"/>
              <a:buChar char="•"/>
              <a:defRPr b="0" i="0" sz="12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77063" lvl="5" marL="27432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77063" lvl="6" marL="32004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77063" lvl="7" marL="36576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77063" lvl="8" marL="4114800" marR="0" rtl="0" algn="l">
              <a:lnSpc>
                <a:spcPct val="90000"/>
              </a:lnSpc>
              <a:spcBef>
                <a:spcPts val="65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Char char="•"/>
              <a:defRPr b="0" i="0" sz="23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7683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自定义版式">
  <p:cSld name="自定义版式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" name="Google Shape;207;p66"/>
          <p:cNvCxnSpPr/>
          <p:nvPr/>
        </p:nvCxnSpPr>
        <p:spPr>
          <a:xfrm>
            <a:off x="447232" y="794468"/>
            <a:ext cx="11495819" cy="0"/>
          </a:xfrm>
          <a:prstGeom prst="straightConnector1">
            <a:avLst/>
          </a:prstGeom>
          <a:noFill/>
          <a:ln cap="flat" cmpd="sng" w="25400">
            <a:solidFill>
              <a:srgbClr val="F6F6F6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8" name="Google Shape;208;p66"/>
          <p:cNvSpPr txBox="1"/>
          <p:nvPr>
            <p:ph type="title"/>
          </p:nvPr>
        </p:nvSpPr>
        <p:spPr>
          <a:xfrm>
            <a:off x="447232" y="284887"/>
            <a:ext cx="10520363" cy="5095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43333"/>
              </a:lnSpc>
              <a:spcBef>
                <a:spcPts val="0"/>
              </a:spcBef>
              <a:spcAft>
                <a:spcPts val="0"/>
              </a:spcAft>
              <a:buClr>
                <a:srgbClr val="E10074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E1007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自定义版式">
  <p:cSld name="1_自定义版式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hinese text page">
  <p:cSld name="1_Chinese text page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68"/>
          <p:cNvSpPr txBox="1"/>
          <p:nvPr>
            <p:ph idx="1" type="subTitle"/>
          </p:nvPr>
        </p:nvSpPr>
        <p:spPr>
          <a:xfrm>
            <a:off x="590550" y="325506"/>
            <a:ext cx="10740640" cy="476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42916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400"/>
              <a:buFont typeface="Microsoft YaHei"/>
              <a:buNone/>
              <a:defRPr b="1" sz="24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8"/>
              <a:buFont typeface="Arial"/>
              <a:buNone/>
              <a:defRPr sz="2598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8"/>
              <a:buFont typeface="Arial"/>
              <a:buNone/>
              <a:defRPr sz="2338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sz="2079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None/>
              <a:defRPr sz="2079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842">
          <p15:clr>
            <a:srgbClr val="FBAE40"/>
          </p15:clr>
        </p15:guide>
        <p15:guide id="2" pos="372">
          <p15:clr>
            <a:srgbClr val="FBAE40"/>
          </p15:clr>
        </p15:guide>
        <p15:guide id="3" pos="7334">
          <p15:clr>
            <a:srgbClr val="FBAE40"/>
          </p15:clr>
        </p15:guide>
        <p15:guide id="4" orient="horz" pos="2160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50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page">
  <p:cSld name="Chapter page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0"/>
          <p:cNvSpPr txBox="1"/>
          <p:nvPr>
            <p:ph idx="1" type="body"/>
          </p:nvPr>
        </p:nvSpPr>
        <p:spPr>
          <a:xfrm>
            <a:off x="726022" y="1512877"/>
            <a:ext cx="10733557" cy="4690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836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0136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599"/>
              <a:buFont typeface="Arial"/>
              <a:buChar char="&gt;"/>
              <a:defRPr b="0" i="0" sz="15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023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-"/>
              <a:defRPr b="0" i="0" sz="12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1023" lvl="3" marL="18288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•"/>
              <a:defRPr b="0" i="0" sz="12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1023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•"/>
              <a:defRPr b="0" i="0" sz="12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7" name="Google Shape;217;p70"/>
          <p:cNvSpPr txBox="1"/>
          <p:nvPr>
            <p:ph idx="2" type="subTitle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8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9"/>
              <a:buFont typeface="Arial"/>
              <a:buNone/>
              <a:defRPr b="0" i="0" sz="31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7"/>
              <a:buFont typeface="Arial"/>
              <a:buNone/>
              <a:defRPr b="0" i="0" sz="259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7"/>
              <a:buFont typeface="Arial"/>
              <a:buNone/>
              <a:defRPr b="0" i="0" sz="233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章节页">
  <p:cSld name="1_章节页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71"/>
          <p:cNvSpPr txBox="1"/>
          <p:nvPr>
            <p:ph idx="1" type="subTitle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718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9"/>
              <a:buFont typeface="Microsoft YaHei"/>
              <a:buNone/>
              <a:defRPr b="0" i="0" sz="3199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97"/>
              <a:buFont typeface="Arial"/>
              <a:buNone/>
              <a:defRPr b="0" i="0" sz="259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37"/>
              <a:buFont typeface="Arial"/>
              <a:buNone/>
              <a:defRPr b="0" i="0" sz="233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78"/>
              <a:buFont typeface="Arial"/>
              <a:buNone/>
              <a:defRPr b="0" i="0" sz="207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0" name="Google Shape;220;p71"/>
          <p:cNvSpPr txBox="1"/>
          <p:nvPr>
            <p:ph idx="2" type="body"/>
          </p:nvPr>
        </p:nvSpPr>
        <p:spPr>
          <a:xfrm>
            <a:off x="726022" y="1512877"/>
            <a:ext cx="10733557" cy="4690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836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330136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599"/>
              <a:buFont typeface="Arial"/>
              <a:buChar char="&gt;"/>
              <a:defRPr b="0" i="0" sz="1599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-311023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-"/>
              <a:defRPr b="0" i="0" sz="1298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-311023" lvl="3" marL="18288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•"/>
              <a:defRPr b="0" i="0" sz="12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1023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98"/>
              <a:buFont typeface="Arial"/>
              <a:buChar char="•"/>
              <a:defRPr b="0" i="0" sz="1298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21" name="Google Shape;221;p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96176" y="6323416"/>
            <a:ext cx="1270800" cy="275024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71"/>
          <p:cNvSpPr txBox="1"/>
          <p:nvPr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Huawei Proprietary - Restricted Distribution</a:t>
            </a:r>
            <a:endParaRPr sz="900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71"/>
          <p:cNvSpPr txBox="1"/>
          <p:nvPr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9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标题幻灯片">
  <p:cSld name="8_标题幻灯片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708694" y="6508750"/>
            <a:ext cx="1269075" cy="277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9.jpg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theme" Target="../theme/theme4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image" Target="../media/image25.jpg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theme" Target="../theme/theme12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theme" Target="../theme/theme11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theme" Target="../theme/theme6.xml"/></Relationships>
</file>

<file path=ppt/slideMasters/_rels/slideMaster7.xml.rels><?xml version="1.0" encoding="UTF-8" standalone="yes"?>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9.xml"/><Relationship Id="rId3" Type="http://schemas.openxmlformats.org/officeDocument/2006/relationships/theme" Target="../theme/theme5.xml"/></Relationships>
</file>

<file path=ppt/slideMasters/_rels/slideMaster8.xml.rels><?xml version="1.0" encoding="UTF-8" standalone="yes"?><Relationships xmlns="http://schemas.openxmlformats.org/package/2006/relationships"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38.xml"/><Relationship Id="rId1" Type="http://schemas.openxmlformats.org/officeDocument/2006/relationships/image" Target="../media/image12.jpg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/Relationships>
</file>

<file path=ppt/slideMasters/_rels/slideMaster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.xml"/></Relationships>
</file>

<file path=ppt/slideMasters/_rels/slideMaster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0.xml"/></Relationships>
</file>

<file path=ppt/slideMasters/_rels/slideMaster11.xml.rels><?xml version="1.0" encoding="UTF-8" standalone="yes"?>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46.xml"/><Relationship Id="rId3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8.xml"/><Relationship Id="rId5" Type="http://schemas.openxmlformats.org/officeDocument/2006/relationships/theme" Target="../theme/theme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idx="1" type="body"/>
          </p:nvPr>
        </p:nvSpPr>
        <p:spPr>
          <a:xfrm>
            <a:off x="838528" y="1825625"/>
            <a:ext cx="10519708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336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799"/>
              <a:buFont typeface="Arial"/>
              <a:buChar char="•"/>
              <a:defRPr b="0" i="0" sz="27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indent="-380936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Char char="•"/>
              <a:defRPr b="0" i="0" sz="23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indent="-355537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indent="-342837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/>
        </p:txBody>
      </p:sp>
      <p:pic>
        <p:nvPicPr>
          <p:cNvPr id="11" name="Google Shape;11;p1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746682" y="6470973"/>
            <a:ext cx="1270800" cy="27502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6"/>
          <p:cNvSpPr txBox="1"/>
          <p:nvPr>
            <p:ph type="title"/>
          </p:nvPr>
        </p:nvSpPr>
        <p:spPr>
          <a:xfrm>
            <a:off x="609838" y="275170"/>
            <a:ext cx="10977088" cy="114299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899"/>
              <a:buFont typeface="Arial"/>
              <a:buNone/>
              <a:defRPr b="0" i="0" sz="58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5" name="Google Shape;55;p16"/>
          <p:cNvSpPr txBox="1"/>
          <p:nvPr>
            <p:ph idx="1" type="body"/>
          </p:nvPr>
        </p:nvSpPr>
        <p:spPr>
          <a:xfrm>
            <a:off x="609838" y="1600205"/>
            <a:ext cx="10977088" cy="4525433"/>
          </a:xfrm>
          <a:prstGeom prst="rect">
            <a:avLst/>
          </a:prstGeom>
          <a:noFill/>
          <a:ln>
            <a:noFill/>
          </a:ln>
        </p:spPr>
        <p:txBody>
          <a:bodyPr anchorCtr="0" anchor="t" bIns="60950" lIns="121925" spcFirstLastPara="1" rIns="121925" wrap="square" tIns="60950">
            <a:normAutofit/>
          </a:bodyPr>
          <a:lstStyle>
            <a:lvl1pPr indent="-501650" lvl="0" marL="457200" marR="0" rtl="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/>
              <a:buChar char="•"/>
              <a:defRPr b="0" i="0" sz="4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63550" lvl="1" marL="914400" marR="0" rtl="0" algn="l">
              <a:spcBef>
                <a:spcPts val="74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Char char="–"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31800" lvl="2" marL="13716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0050" lvl="3" marL="18288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–"/>
              <a:defRPr b="0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0050" lvl="4" marL="22860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»"/>
              <a:defRPr b="0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0050" lvl="5" marL="27432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b="0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0050" lvl="6" marL="32004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b="0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0050" lvl="7" marL="36576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b="0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0050" lvl="8" marL="41148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b="0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6"/>
          <p:cNvSpPr txBox="1"/>
          <p:nvPr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zh-CN" sz="974" u="none" cap="none" strike="noStrike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74" u="none" cap="none" strike="noStrike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6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195998" y="6321130"/>
            <a:ext cx="1269075" cy="27754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2"/>
    <p:sldLayoutId id="2147483663" r:id="rId3"/>
    <p:sldLayoutId id="2147483664" r:id="rId4"/>
    <p:sldLayoutId id="2147483665" r:id="rId5"/>
    <p:sldLayoutId id="2147483666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/>
        </p:nvSpPr>
        <p:spPr>
          <a:xfrm>
            <a:off x="1095470" y="6356945"/>
            <a:ext cx="146346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Huawei Confidential</a:t>
            </a:r>
            <a:endParaRPr/>
          </a:p>
        </p:txBody>
      </p:sp>
      <p:sp>
        <p:nvSpPr>
          <p:cNvPr id="76" name="Google Shape;76;p19"/>
          <p:cNvSpPr txBox="1"/>
          <p:nvPr/>
        </p:nvSpPr>
        <p:spPr>
          <a:xfrm>
            <a:off x="734134" y="6402806"/>
            <a:ext cx="499729" cy="1502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974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74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7" name="Google Shape;77;p19"/>
          <p:cNvGrpSpPr/>
          <p:nvPr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78" name="Google Shape;78;p19"/>
            <p:cNvGrpSpPr/>
            <p:nvPr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79" name="Google Shape;79;p19"/>
              <p:cNvSpPr/>
              <p:nvPr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PANTONE 186C</a:t>
                </a:r>
                <a:endParaRPr/>
              </a:p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200/16/46</a:t>
                </a:r>
                <a:endParaRPr/>
              </a:p>
            </p:txBody>
          </p:sp>
          <p:sp>
            <p:nvSpPr>
              <p:cNvPr id="80" name="Google Shape;80;p19"/>
              <p:cNvSpPr/>
              <p:nvPr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PANTONE 185C</a:t>
                </a:r>
                <a:endParaRPr/>
              </a:p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199/0/11</a:t>
                </a:r>
                <a:endParaRPr/>
              </a:p>
            </p:txBody>
          </p:sp>
          <p:sp>
            <p:nvSpPr>
              <p:cNvPr id="81" name="Google Shape;81;p19"/>
              <p:cNvSpPr txBox="1"/>
              <p:nvPr/>
            </p:nvSpPr>
            <p:spPr>
              <a:xfrm>
                <a:off x="12326898" y="2207613"/>
                <a:ext cx="384721" cy="1800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CN" sz="1000">
                    <a:solidFill>
                      <a:srgbClr val="000000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品牌色</a:t>
                </a:r>
                <a:endParaRPr/>
              </a:p>
            </p:txBody>
          </p:sp>
        </p:grpSp>
        <p:grpSp>
          <p:nvGrpSpPr>
            <p:cNvPr id="82" name="Google Shape;82;p19"/>
            <p:cNvGrpSpPr/>
            <p:nvPr/>
          </p:nvGrpSpPr>
          <p:grpSpPr>
            <a:xfrm>
              <a:off x="12216278" y="3054642"/>
              <a:ext cx="1982912" cy="3811978"/>
              <a:chOff x="12216278" y="3054642"/>
              <a:chExt cx="1982912" cy="3811978"/>
            </a:xfrm>
          </p:grpSpPr>
          <p:sp>
            <p:nvSpPr>
              <p:cNvPr id="83" name="Google Shape;83;p19"/>
              <p:cNvSpPr/>
              <p:nvPr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 cap="flat" cmpd="sng" w="12700">
                <a:solidFill>
                  <a:srgbClr val="EA5A4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234/90/79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" name="Google Shape;84;p19"/>
              <p:cNvSpPr/>
              <p:nvPr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120/0/15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" name="Google Shape;85;p19"/>
              <p:cNvSpPr txBox="1"/>
              <p:nvPr/>
            </p:nvSpPr>
            <p:spPr>
              <a:xfrm>
                <a:off x="12216278" y="3054642"/>
                <a:ext cx="569387" cy="1800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b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CN" sz="1000">
                    <a:solidFill>
                      <a:srgbClr val="000000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辅助色</a:t>
                </a:r>
                <a:endParaRPr/>
              </a:p>
            </p:txBody>
          </p:sp>
          <p:sp>
            <p:nvSpPr>
              <p:cNvPr id="86" name="Google Shape;86;p19"/>
              <p:cNvSpPr/>
              <p:nvPr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248/181/60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" name="Google Shape;87;p19"/>
              <p:cNvSpPr/>
              <p:nvPr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235/92/1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" name="Google Shape;88;p19"/>
              <p:cNvSpPr/>
              <p:nvPr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137/137/137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" name="Google Shape;89;p19"/>
              <p:cNvSpPr/>
              <p:nvPr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35/24/21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" name="Google Shape;90;p19"/>
              <p:cNvSpPr/>
              <p:nvPr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RGB 221/221/221</a:t>
                </a:r>
                <a:endParaRPr b="1" sz="7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19"/>
              <p:cNvSpPr/>
              <p:nvPr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233/140/128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" name="Google Shape;92;p19"/>
              <p:cNvSpPr/>
              <p:nvPr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 cap="flat" cmpd="sng" w="12700">
                <a:solidFill>
                  <a:srgbClr val="9F0001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159/0/1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" name="Google Shape;93;p19"/>
              <p:cNvSpPr/>
              <p:nvPr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RGB 245/220/87</a:t>
                </a:r>
                <a:endParaRPr b="1" sz="7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19"/>
              <p:cNvSpPr/>
              <p:nvPr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240/133/0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" name="Google Shape;95;p19"/>
              <p:cNvSpPr/>
              <p:nvPr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181/181/181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" name="Google Shape;96;p19"/>
              <p:cNvSpPr/>
              <p:nvPr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F497D"/>
                    </a:solidFill>
                    <a:latin typeface="Arial"/>
                    <a:ea typeface="Arial"/>
                    <a:cs typeface="Arial"/>
                    <a:sym typeface="Arial"/>
                  </a:rPr>
                  <a:t>RGB 89/87/87</a:t>
                </a:r>
                <a:endParaRPr b="1" sz="700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19"/>
              <p:cNvSpPr/>
              <p:nvPr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cap="flat" cmpd="sng" w="9525">
                <a:solidFill>
                  <a:srgbClr val="FEFEFE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RGB 255/255/255</a:t>
                </a:r>
                <a:endParaRPr b="1" sz="7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98" name="Google Shape;98;p19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196001" y="6321130"/>
            <a:ext cx="1269075" cy="27754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0"/>
          <p:cNvSpPr/>
          <p:nvPr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/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6"/>
          <p:cNvSpPr/>
          <p:nvPr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8"/>
          <p:cNvSpPr txBox="1"/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53" name="Google Shape;153;p48"/>
          <p:cNvSpPr txBox="1"/>
          <p:nvPr/>
        </p:nvSpPr>
        <p:spPr>
          <a:xfrm>
            <a:off x="7979357" y="2794960"/>
            <a:ext cx="3225168" cy="2029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5294"/>
              </a:lnSpc>
              <a:spcBef>
                <a:spcPts val="0"/>
              </a:spcBef>
              <a:spcAft>
                <a:spcPts val="0"/>
              </a:spcAft>
              <a:buClr>
                <a:srgbClr val="1D1D1B"/>
              </a:buClr>
              <a:buSzPts val="850"/>
              <a:buFont typeface="Arial"/>
              <a:buNone/>
            </a:pPr>
            <a:r>
              <a:rPr b="1"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Copyright©2018 Huawei Technologies Co., Ltd.</a:t>
            </a:r>
            <a:br>
              <a:rPr b="1"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All Rights Reserved.</a:t>
            </a:r>
            <a:br>
              <a:rPr lang="zh-CN" sz="779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zh-CN" sz="779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The information in this document may contain predictive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statements including, without limitation, statements regarding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the future financial and operating results, future product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portfolio, new technology, etc. There are a number of factors that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could cause actual results and developments to differ materially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from those expressed or implied in the predictive statements.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Therefore, such information is provided for reference purpose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only and constitutes neither an offer nor an acceptance. Huawei </a:t>
            </a:r>
            <a:b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85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may change the information at any time without notice. </a:t>
            </a:r>
            <a:endParaRPr/>
          </a:p>
          <a:p>
            <a:pPr indent="0" lvl="0" marL="0" marR="0" rtl="0" algn="l">
              <a:lnSpc>
                <a:spcPct val="13671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779"/>
              <a:buFont typeface="Arial"/>
              <a:buNone/>
            </a:pPr>
            <a:r>
              <a:t/>
            </a:r>
            <a:endParaRPr sz="779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48"/>
          <p:cNvSpPr txBox="1"/>
          <p:nvPr/>
        </p:nvSpPr>
        <p:spPr>
          <a:xfrm>
            <a:off x="7987276" y="1631849"/>
            <a:ext cx="3477701" cy="4911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9307"/>
              </a:lnSpc>
              <a:spcBef>
                <a:spcPts val="0"/>
              </a:spcBef>
              <a:spcAft>
                <a:spcPts val="0"/>
              </a:spcAft>
              <a:buClr>
                <a:srgbClr val="1D1D1B"/>
              </a:buClr>
              <a:buSzPts val="1300"/>
              <a:buFont typeface="Arial"/>
              <a:buNone/>
            </a:pPr>
            <a:r>
              <a:rPr lang="zh-CN" sz="1300">
                <a:solidFill>
                  <a:srgbClr val="1D1D1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把数字世界带入每个人、每个家庭、</a:t>
            </a:r>
            <a:br>
              <a:rPr lang="zh-CN" sz="1300">
                <a:solidFill>
                  <a:srgbClr val="1D1D1B"/>
                </a:solidFill>
                <a:latin typeface="Microsoft YaHei"/>
                <a:ea typeface="Microsoft YaHei"/>
                <a:cs typeface="Microsoft YaHei"/>
                <a:sym typeface="Microsoft YaHei"/>
              </a:rPr>
            </a:br>
            <a:r>
              <a:rPr lang="zh-CN" sz="1300">
                <a:solidFill>
                  <a:srgbClr val="1D1D1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每个组织，构建万物互联的智能世界。</a:t>
            </a:r>
            <a:endParaRPr/>
          </a:p>
        </p:txBody>
      </p:sp>
      <p:sp>
        <p:nvSpPr>
          <p:cNvPr id="155" name="Google Shape;155;p48"/>
          <p:cNvSpPr txBox="1"/>
          <p:nvPr/>
        </p:nvSpPr>
        <p:spPr>
          <a:xfrm>
            <a:off x="7977672" y="2106124"/>
            <a:ext cx="3481833" cy="582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833"/>
              </a:lnSpc>
              <a:spcBef>
                <a:spcPts val="0"/>
              </a:spcBef>
              <a:spcAft>
                <a:spcPts val="0"/>
              </a:spcAft>
              <a:buClr>
                <a:srgbClr val="1D1D1B"/>
              </a:buClr>
              <a:buSzPts val="1200"/>
              <a:buFont typeface="Arial"/>
              <a:buNone/>
            </a:pPr>
            <a:r>
              <a:rPr lang="zh-CN" sz="12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Bring digital to every person, home and </a:t>
            </a:r>
            <a:br>
              <a:rPr lang="zh-CN" sz="12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12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organization for a fully connected, </a:t>
            </a:r>
            <a:br>
              <a:rPr lang="zh-CN" sz="12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CN" sz="12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intelligent world.</a:t>
            </a:r>
            <a:endParaRPr sz="1200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" name="Google Shape;156;p4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973676" y="5237566"/>
            <a:ext cx="1875600" cy="40591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83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50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587" y="794"/>
            <a:ext cx="12193588" cy="68564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50"/>
          <p:cNvSpPr txBox="1"/>
          <p:nvPr>
            <p:ph type="title"/>
          </p:nvPr>
        </p:nvSpPr>
        <p:spPr>
          <a:xfrm>
            <a:off x="609839" y="275167"/>
            <a:ext cx="10977087" cy="114299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899"/>
              <a:buFont typeface="Arial"/>
              <a:buNone/>
              <a:defRPr b="0" i="0" sz="58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62" name="Google Shape;162;p50"/>
          <p:cNvSpPr txBox="1"/>
          <p:nvPr>
            <p:ph idx="1" type="body"/>
          </p:nvPr>
        </p:nvSpPr>
        <p:spPr>
          <a:xfrm>
            <a:off x="609839" y="1600202"/>
            <a:ext cx="10977087" cy="4525433"/>
          </a:xfrm>
          <a:prstGeom prst="rect">
            <a:avLst/>
          </a:prstGeom>
          <a:noFill/>
          <a:ln>
            <a:noFill/>
          </a:ln>
        </p:spPr>
        <p:txBody>
          <a:bodyPr anchorCtr="0" anchor="t" bIns="60950" lIns="121925" spcFirstLastPara="1" rIns="121925" wrap="square" tIns="60950">
            <a:normAutofit/>
          </a:bodyPr>
          <a:lstStyle>
            <a:lvl1pPr indent="-501587" lvl="0" marL="457200" marR="0" rtl="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299"/>
              <a:buFont typeface="Arial"/>
              <a:buChar char="•"/>
              <a:defRPr b="0" i="0" sz="42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63487" lvl="1" marL="914400" marR="0" rtl="0" algn="l">
              <a:spcBef>
                <a:spcPts val="740"/>
              </a:spcBef>
              <a:spcAft>
                <a:spcPts val="0"/>
              </a:spcAft>
              <a:buClr>
                <a:schemeClr val="dk1"/>
              </a:buClr>
              <a:buSzPts val="3699"/>
              <a:buFont typeface="Arial"/>
              <a:buChar char="–"/>
              <a:defRPr b="0" i="0" sz="36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31737" lvl="2" marL="13716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199"/>
              <a:buFont typeface="Arial"/>
              <a:buChar char="•"/>
              <a:defRPr b="0" i="0" sz="31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99987" lvl="3" marL="18288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699"/>
              <a:buFont typeface="Arial"/>
              <a:buChar char="–"/>
              <a:defRPr b="0" i="0" sz="26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99986" lvl="4" marL="22860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699"/>
              <a:buFont typeface="Arial"/>
              <a:buChar char="»"/>
              <a:defRPr b="0" i="0" sz="26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99986" lvl="5" marL="27432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699"/>
              <a:buFont typeface="Arial"/>
              <a:buChar char="•"/>
              <a:defRPr b="0" i="0" sz="26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99986" lvl="6" marL="32004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699"/>
              <a:buFont typeface="Arial"/>
              <a:buChar char="•"/>
              <a:defRPr b="0" i="0" sz="26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99986" lvl="7" marL="36576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699"/>
              <a:buFont typeface="Arial"/>
              <a:buChar char="•"/>
              <a:defRPr b="0" i="0" sz="26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99986" lvl="8" marL="4114800" marR="0" rtl="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699"/>
              <a:buFont typeface="Arial"/>
              <a:buChar char="•"/>
              <a:defRPr b="0" i="0" sz="26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3" name="Google Shape;163;p50"/>
          <p:cNvSpPr txBox="1"/>
          <p:nvPr>
            <p:ph idx="10" type="dt"/>
          </p:nvPr>
        </p:nvSpPr>
        <p:spPr>
          <a:xfrm>
            <a:off x="609839" y="6356353"/>
            <a:ext cx="2845912" cy="366182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50"/>
          <p:cNvSpPr txBox="1"/>
          <p:nvPr>
            <p:ph idx="11" type="ftr"/>
          </p:nvPr>
        </p:nvSpPr>
        <p:spPr>
          <a:xfrm>
            <a:off x="4167228" y="6356353"/>
            <a:ext cx="3862308" cy="366182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5" name="Google Shape;165;p50"/>
          <p:cNvSpPr txBox="1"/>
          <p:nvPr>
            <p:ph idx="12" type="sldNum"/>
          </p:nvPr>
        </p:nvSpPr>
        <p:spPr>
          <a:xfrm>
            <a:off x="8741014" y="6356353"/>
            <a:ext cx="2845912" cy="366182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50" lIns="121925" spcFirstLastPara="1" rIns="121925" wrap="square" tIns="6095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  <p:sp>
        <p:nvSpPr>
          <p:cNvPr id="166" name="Google Shape;166;p50"/>
          <p:cNvSpPr/>
          <p:nvPr/>
        </p:nvSpPr>
        <p:spPr>
          <a:xfrm>
            <a:off x="11843798" y="6348968"/>
            <a:ext cx="328322" cy="4260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t/>
            </a:r>
            <a:endParaRPr b="0"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b="0" lang="zh-CN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9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0"/>
          <p:cNvSpPr txBox="1"/>
          <p:nvPr/>
        </p:nvSpPr>
        <p:spPr>
          <a:xfrm>
            <a:off x="734131" y="6537556"/>
            <a:ext cx="499729" cy="138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B"/>
              </a:buClr>
              <a:buSzPts val="900"/>
              <a:buFont typeface="Arial"/>
              <a:buNone/>
            </a:pPr>
            <a:fld id="{00000000-1234-1234-1234-123412341234}" type="slidenum">
              <a:rPr lang="zh-CN" sz="9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5" r:id="rId1"/>
    <p:sldLayoutId id="2147483696" r:id="rId2"/>
    <p:sldLayoutId id="2147483697" r:id="rId3"/>
    <p:sldLayoutId id="2147483698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65"/>
          <p:cNvSpPr txBox="1"/>
          <p:nvPr>
            <p:ph idx="1" type="body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B"/>
              </a:buClr>
              <a:buSzPts val="1000"/>
              <a:buFont typeface="Microsoft YaHei"/>
              <a:buNone/>
              <a:defRPr b="0" i="0" sz="1000" u="none" cap="none" strike="noStrike">
                <a:solidFill>
                  <a:srgbClr val="1D1D1B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b="0" i="0" sz="7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b="0" i="0" sz="7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b="0" i="0" sz="7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b="0" i="0" sz="7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5" name="Google Shape;205;p65"/>
          <p:cNvSpPr txBox="1"/>
          <p:nvPr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B"/>
              </a:buClr>
              <a:buSzPts val="900"/>
              <a:buFont typeface="Arial"/>
              <a:buNone/>
            </a:pPr>
            <a:fld id="{00000000-1234-1234-1234-123412341234}" type="slidenum">
              <a:rPr lang="zh-CN" sz="9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1D1D1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304">
          <p15:clr>
            <a:srgbClr val="F26B43"/>
          </p15:clr>
        </p15:guide>
        <p15:guide id="2" pos="7368">
          <p15:clr>
            <a:srgbClr val="F26B43"/>
          </p15:clr>
        </p15:guide>
        <p15:guide id="3" orient="horz" pos="472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69"/>
          <p:cNvSpPr/>
          <p:nvPr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69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9208751" y="5970991"/>
            <a:ext cx="2260800" cy="489278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704" r:id="rId2"/>
    <p:sldLayoutId id="2147483705" r:id="rId3"/>
    <p:sldLayoutId id="2147483706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2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"/>
          <p:cNvSpPr txBox="1"/>
          <p:nvPr/>
        </p:nvSpPr>
        <p:spPr>
          <a:xfrm>
            <a:off x="343645" y="225409"/>
            <a:ext cx="11509472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2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T&amp;G</a:t>
            </a:r>
            <a:r>
              <a:rPr b="1" i="0" lang="zh-CN" sz="20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战略</a:t>
            </a:r>
            <a:r>
              <a:rPr b="1" i="0" lang="zh-CN" sz="2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：6Pillar </a:t>
            </a:r>
            <a:r>
              <a:rPr b="1" i="0" lang="zh-CN" sz="20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支持实现</a:t>
            </a:r>
            <a:r>
              <a:rPr b="1" i="0" lang="zh-CN" sz="2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 World-class European Telco </a:t>
            </a:r>
            <a:endParaRPr/>
          </a:p>
        </p:txBody>
      </p:sp>
      <p:pic>
        <p:nvPicPr>
          <p:cNvPr id="232" name="Google Shape;23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898" y="2448058"/>
            <a:ext cx="4310603" cy="2452127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"/>
          <p:cNvSpPr/>
          <p:nvPr/>
        </p:nvSpPr>
        <p:spPr>
          <a:xfrm>
            <a:off x="785898" y="1001914"/>
            <a:ext cx="4310603" cy="753037"/>
          </a:xfrm>
          <a:prstGeom prst="triangle">
            <a:avLst>
              <a:gd fmla="val 50000" name="adj"/>
            </a:avLst>
          </a:prstGeom>
          <a:solidFill>
            <a:srgbClr val="0066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"/>
          <p:cNvSpPr/>
          <p:nvPr/>
        </p:nvSpPr>
        <p:spPr>
          <a:xfrm>
            <a:off x="785898" y="1843547"/>
            <a:ext cx="4310603" cy="52322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"/>
          <p:cNvSpPr txBox="1"/>
          <p:nvPr/>
        </p:nvSpPr>
        <p:spPr>
          <a:xfrm>
            <a:off x="939352" y="1868019"/>
            <a:ext cx="400369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Mission: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Deliver the best digital experience to our customers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"/>
          <p:cNvSpPr txBox="1"/>
          <p:nvPr/>
        </p:nvSpPr>
        <p:spPr>
          <a:xfrm>
            <a:off x="1368983" y="1076213"/>
            <a:ext cx="314443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Vision: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Become a world-class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European Telco with profitable scale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"/>
          <p:cNvSpPr/>
          <p:nvPr/>
        </p:nvSpPr>
        <p:spPr>
          <a:xfrm>
            <a:off x="5630737" y="1303655"/>
            <a:ext cx="5810609" cy="612892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t" dir="5400000" dist="38100">
              <a:srgbClr val="0000FF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 Arial"/>
              <a:ea typeface=" Arial"/>
              <a:cs typeface=" Arial"/>
              <a:sym typeface=" Arial"/>
            </a:endParaRPr>
          </a:p>
        </p:txBody>
      </p:sp>
      <p:pic>
        <p:nvPicPr>
          <p:cNvPr descr="\\Bchief-sever180\共享\华为\2016\6月\D-201606417-金融营销材料设计-刘泉\文件\link\组 26.png" id="238" name="Google Shape;23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5400000">
            <a:off x="2982659" y="3621866"/>
            <a:ext cx="4774675" cy="405368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"/>
          <p:cNvSpPr/>
          <p:nvPr/>
        </p:nvSpPr>
        <p:spPr>
          <a:xfrm>
            <a:off x="7001821" y="1147378"/>
            <a:ext cx="252000" cy="252000"/>
          </a:xfrm>
          <a:prstGeom prst="ellipse">
            <a:avLst/>
          </a:prstGeom>
          <a:solidFill>
            <a:srgbClr val="70706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"/>
          <p:cNvSpPr/>
          <p:nvPr/>
        </p:nvSpPr>
        <p:spPr>
          <a:xfrm>
            <a:off x="7654649" y="1119491"/>
            <a:ext cx="1850323" cy="3077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4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提供一流的客户体验</a:t>
            </a:r>
            <a:endParaRPr b="1" i="0" sz="14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41" name="Google Shape;241;p1"/>
          <p:cNvSpPr txBox="1"/>
          <p:nvPr/>
        </p:nvSpPr>
        <p:spPr>
          <a:xfrm>
            <a:off x="5807925" y="1406774"/>
            <a:ext cx="546324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到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2028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年在核心市场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（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西班牙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巴西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德国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实现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NPS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平均提升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个点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减少流失率</a:t>
            </a:r>
            <a:endParaRPr b="0" i="0" sz="1200" u="none" cap="none" strike="noStrik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42" name="Google Shape;242;p1"/>
          <p:cNvSpPr/>
          <p:nvPr/>
        </p:nvSpPr>
        <p:spPr>
          <a:xfrm>
            <a:off x="5630737" y="2177013"/>
            <a:ext cx="5810609" cy="612892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t" dir="5400000" dist="38100">
              <a:srgbClr val="0000FF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 Arial"/>
              <a:ea typeface=" Arial"/>
              <a:cs typeface=" Arial"/>
              <a:sym typeface=" Arial"/>
            </a:endParaRPr>
          </a:p>
        </p:txBody>
      </p:sp>
      <p:sp>
        <p:nvSpPr>
          <p:cNvPr id="243" name="Google Shape;243;p1"/>
          <p:cNvSpPr/>
          <p:nvPr/>
        </p:nvSpPr>
        <p:spPr>
          <a:xfrm>
            <a:off x="7001821" y="2020736"/>
            <a:ext cx="252000" cy="252000"/>
          </a:xfrm>
          <a:prstGeom prst="ellipse">
            <a:avLst/>
          </a:prstGeom>
          <a:solidFill>
            <a:srgbClr val="70706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"/>
          <p:cNvSpPr/>
          <p:nvPr/>
        </p:nvSpPr>
        <p:spPr>
          <a:xfrm>
            <a:off x="7654649" y="1992849"/>
            <a:ext cx="1850323" cy="3077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4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扩大</a:t>
            </a:r>
            <a:r>
              <a:rPr b="1" i="0" lang="zh-CN" sz="14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B2C</a:t>
            </a:r>
            <a:r>
              <a:rPr b="1" i="0" lang="zh-CN" sz="14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产品</a:t>
            </a:r>
            <a:endParaRPr b="1" i="0" sz="14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45" name="Google Shape;245;p1"/>
          <p:cNvSpPr txBox="1"/>
          <p:nvPr/>
        </p:nvSpPr>
        <p:spPr>
          <a:xfrm>
            <a:off x="5807925" y="2280132"/>
            <a:ext cx="546324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专注于融合业务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在西班牙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巴西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德国将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FMC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渗透率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平均提升到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生态系统收入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实现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CAGR 3.4%  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（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安防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绿电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，IoT，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家电保险等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"/>
          <p:cNvSpPr/>
          <p:nvPr/>
        </p:nvSpPr>
        <p:spPr>
          <a:xfrm>
            <a:off x="5630737" y="3059258"/>
            <a:ext cx="5810609" cy="612892"/>
          </a:xfrm>
          <a:prstGeom prst="roundRect">
            <a:avLst>
              <a:gd fmla="val 0" name="adj"/>
            </a:avLst>
          </a:prstGeom>
          <a:solidFill>
            <a:srgbClr val="0000FF">
              <a:alpha val="30196"/>
            </a:srgbClr>
          </a:solidFill>
          <a:ln>
            <a:noFill/>
          </a:ln>
          <a:effectLst>
            <a:outerShdw blurRad="114300" rotWithShape="0" algn="t" dir="5400000" dist="38100">
              <a:srgbClr val="0000FF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 Arial"/>
              <a:ea typeface=" Arial"/>
              <a:cs typeface=" Arial"/>
              <a:sym typeface=" Arial"/>
            </a:endParaRPr>
          </a:p>
        </p:txBody>
      </p:sp>
      <p:sp>
        <p:nvSpPr>
          <p:cNvPr id="247" name="Google Shape;247;p1"/>
          <p:cNvSpPr/>
          <p:nvPr/>
        </p:nvSpPr>
        <p:spPr>
          <a:xfrm>
            <a:off x="7001821" y="2902981"/>
            <a:ext cx="252000" cy="252000"/>
          </a:xfrm>
          <a:prstGeom prst="ellipse">
            <a:avLst/>
          </a:prstGeom>
          <a:solidFill>
            <a:srgbClr val="70706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"/>
          <p:cNvSpPr/>
          <p:nvPr/>
        </p:nvSpPr>
        <p:spPr>
          <a:xfrm>
            <a:off x="7654649" y="2875094"/>
            <a:ext cx="1850323" cy="307777"/>
          </a:xfrm>
          <a:prstGeom prst="rect">
            <a:avLst/>
          </a:prstGeom>
          <a:solidFill>
            <a:srgbClr val="0000FF">
              <a:alpha val="4000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400" u="none" cap="none" strike="noStrike">
                <a:solidFill>
                  <a:srgbClr val="FFFF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规模化</a:t>
            </a:r>
            <a:r>
              <a:rPr b="1" i="0" lang="zh-CN" sz="1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B2B</a:t>
            </a:r>
            <a:r>
              <a:rPr b="1" i="0" lang="zh-CN" sz="1400" u="none" cap="none" strike="noStrike">
                <a:solidFill>
                  <a:srgbClr val="FFFF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业务</a:t>
            </a:r>
            <a:endParaRPr b="1" i="0" sz="1400" u="none" cap="none" strike="noStrike">
              <a:solidFill>
                <a:srgbClr val="FFFF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49" name="Google Shape;249;p1"/>
          <p:cNvSpPr txBox="1"/>
          <p:nvPr/>
        </p:nvSpPr>
        <p:spPr>
          <a:xfrm>
            <a:off x="5807925" y="3182871"/>
            <a:ext cx="546324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增长引擎</a:t>
            </a:r>
            <a:r>
              <a:rPr b="0" i="0" lang="zh-CN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，28年</a:t>
            </a:r>
            <a:r>
              <a:rPr b="0" i="0" lang="zh-CN" sz="1200" u="none" cap="none" strike="noStrik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目标</a:t>
            </a:r>
            <a:r>
              <a:rPr b="1" i="0" lang="zh-CN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B2B</a:t>
            </a:r>
            <a:r>
              <a:rPr b="0" i="0" lang="zh-CN" sz="1200" u="none" cap="none" strike="noStrik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收入占比提升到</a:t>
            </a:r>
            <a:r>
              <a:rPr b="1" i="0" lang="zh-CN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26% (+3PCT)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</a:pPr>
            <a:r>
              <a:rPr b="1" i="0" lang="zh-CN" sz="1200" u="none" cap="none" strike="noStrik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扩展</a:t>
            </a:r>
            <a:r>
              <a:rPr b="1" i="0" lang="zh-CN" sz="1200" u="none" cap="none" strike="noStrike">
                <a:solidFill>
                  <a:srgbClr val="FFFF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数字服务并加大安全方案</a:t>
            </a:r>
            <a:r>
              <a:rPr b="0" i="0" lang="zh-CN" sz="1200" u="none" cap="none" strike="noStrik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投入</a:t>
            </a:r>
            <a:r>
              <a:rPr b="0" i="0" lang="zh-CN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收入实现</a:t>
            </a:r>
            <a:r>
              <a:rPr b="0" i="0" lang="zh-CN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10.2%</a:t>
            </a:r>
            <a:r>
              <a:rPr b="0" i="0" lang="zh-CN" sz="1200" u="none" cap="none" strike="noStrik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</a:t>
            </a:r>
            <a:r>
              <a:rPr b="0" i="0" lang="zh-CN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CAGR</a:t>
            </a:r>
            <a:endParaRPr/>
          </a:p>
        </p:txBody>
      </p:sp>
      <p:sp>
        <p:nvSpPr>
          <p:cNvPr id="250" name="Google Shape;250;p1"/>
          <p:cNvSpPr/>
          <p:nvPr/>
        </p:nvSpPr>
        <p:spPr>
          <a:xfrm>
            <a:off x="5630737" y="3922216"/>
            <a:ext cx="5810609" cy="612892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t" dir="5400000" dist="38100">
              <a:srgbClr val="0000FF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 Arial"/>
              <a:ea typeface=" Arial"/>
              <a:cs typeface=" Arial"/>
              <a:sym typeface=" Arial"/>
            </a:endParaRPr>
          </a:p>
        </p:txBody>
      </p:sp>
      <p:sp>
        <p:nvSpPr>
          <p:cNvPr id="251" name="Google Shape;251;p1"/>
          <p:cNvSpPr/>
          <p:nvPr/>
        </p:nvSpPr>
        <p:spPr>
          <a:xfrm>
            <a:off x="7001821" y="3765939"/>
            <a:ext cx="252000" cy="252000"/>
          </a:xfrm>
          <a:prstGeom prst="ellipse">
            <a:avLst/>
          </a:prstGeom>
          <a:solidFill>
            <a:srgbClr val="70706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"/>
          <p:cNvSpPr/>
          <p:nvPr/>
        </p:nvSpPr>
        <p:spPr>
          <a:xfrm>
            <a:off x="7654649" y="3738052"/>
            <a:ext cx="1850323" cy="3077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4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发展技术能力</a:t>
            </a:r>
            <a:endParaRPr b="1" i="0" sz="14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53" name="Google Shape;253;p1"/>
          <p:cNvSpPr txBox="1"/>
          <p:nvPr/>
        </p:nvSpPr>
        <p:spPr>
          <a:xfrm>
            <a:off x="5807925" y="4025335"/>
            <a:ext cx="546324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投资网络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(5G,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光纤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)，AI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和云技术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26-28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年累计投入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320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亿欧元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ICT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支出</a:t>
            </a:r>
            <a:endParaRPr b="1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2028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年实现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L3.75 ANJ 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网络自动化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/>
          </a:p>
        </p:txBody>
      </p:sp>
      <p:sp>
        <p:nvSpPr>
          <p:cNvPr id="254" name="Google Shape;254;p1"/>
          <p:cNvSpPr/>
          <p:nvPr/>
        </p:nvSpPr>
        <p:spPr>
          <a:xfrm>
            <a:off x="5630737" y="4795574"/>
            <a:ext cx="5810609" cy="612892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t" dir="5400000" dist="38100">
              <a:srgbClr val="0000FF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 Arial"/>
              <a:ea typeface=" Arial"/>
              <a:cs typeface=" Arial"/>
              <a:sym typeface=" Arial"/>
            </a:endParaRPr>
          </a:p>
        </p:txBody>
      </p:sp>
      <p:sp>
        <p:nvSpPr>
          <p:cNvPr id="255" name="Google Shape;255;p1"/>
          <p:cNvSpPr/>
          <p:nvPr/>
        </p:nvSpPr>
        <p:spPr>
          <a:xfrm>
            <a:off x="7001821" y="4639297"/>
            <a:ext cx="252000" cy="252000"/>
          </a:xfrm>
          <a:prstGeom prst="ellipse">
            <a:avLst/>
          </a:prstGeom>
          <a:solidFill>
            <a:srgbClr val="70706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"/>
          <p:cNvSpPr/>
          <p:nvPr/>
        </p:nvSpPr>
        <p:spPr>
          <a:xfrm>
            <a:off x="7654649" y="4611410"/>
            <a:ext cx="1850323" cy="3077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4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简化运营模式</a:t>
            </a:r>
            <a:endParaRPr b="1" i="0" sz="14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57" name="Google Shape;257;p1"/>
          <p:cNvSpPr txBox="1"/>
          <p:nvPr/>
        </p:nvSpPr>
        <p:spPr>
          <a:xfrm>
            <a:off x="5807925" y="4891298"/>
            <a:ext cx="581060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提升效率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精简集团组织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去中心化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权利下发子网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裁剪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集团类人员支出</a:t>
            </a:r>
            <a:endParaRPr b="1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目标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年可节省</a:t>
            </a:r>
            <a:r>
              <a:rPr b="1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r>
              <a:rPr b="1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亿欧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TotEx （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其中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15.1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亿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OpEx）, 30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年可节省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亿欧</a:t>
            </a:r>
            <a:endParaRPr b="0" i="0" sz="1200" u="none" cap="none" strike="noStrik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58" name="Google Shape;258;p1"/>
          <p:cNvSpPr/>
          <p:nvPr/>
        </p:nvSpPr>
        <p:spPr>
          <a:xfrm>
            <a:off x="5630737" y="5677820"/>
            <a:ext cx="5810609" cy="456317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t" dir="5400000" dist="38100">
              <a:srgbClr val="0000FF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 Arial"/>
              <a:ea typeface=" Arial"/>
              <a:cs typeface=" Arial"/>
              <a:sym typeface=" Arial"/>
            </a:endParaRPr>
          </a:p>
        </p:txBody>
      </p:sp>
      <p:sp>
        <p:nvSpPr>
          <p:cNvPr id="259" name="Google Shape;259;p1"/>
          <p:cNvSpPr/>
          <p:nvPr/>
        </p:nvSpPr>
        <p:spPr>
          <a:xfrm>
            <a:off x="7001821" y="5521542"/>
            <a:ext cx="252000" cy="252000"/>
          </a:xfrm>
          <a:prstGeom prst="ellipse">
            <a:avLst/>
          </a:prstGeom>
          <a:solidFill>
            <a:srgbClr val="70706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"/>
          <p:cNvSpPr/>
          <p:nvPr/>
        </p:nvSpPr>
        <p:spPr>
          <a:xfrm>
            <a:off x="7654649" y="5493655"/>
            <a:ext cx="1850323" cy="3077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4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发展人才</a:t>
            </a:r>
            <a:endParaRPr b="1" i="0" sz="14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61" name="Google Shape;261;p1"/>
          <p:cNvSpPr txBox="1"/>
          <p:nvPr/>
        </p:nvSpPr>
        <p:spPr>
          <a:xfrm>
            <a:off x="5807925" y="5788558"/>
            <a:ext cx="5463243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专注于构建新能力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确保</a:t>
            </a:r>
            <a:r>
              <a:rPr b="0" i="0" lang="zh-C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  <a:r>
              <a:rPr b="0" i="0" lang="zh-CN" sz="12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以上的关键岗位得到覆盖</a:t>
            </a:r>
            <a:endParaRPr b="0" i="0" sz="1200" u="none" cap="none" strike="noStrik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grpSp>
        <p:nvGrpSpPr>
          <p:cNvPr id="262" name="Google Shape;262;p1"/>
          <p:cNvGrpSpPr/>
          <p:nvPr/>
        </p:nvGrpSpPr>
        <p:grpSpPr>
          <a:xfrm>
            <a:off x="778665" y="5033330"/>
            <a:ext cx="4316109" cy="1100805"/>
            <a:chOff x="755929" y="5225143"/>
            <a:chExt cx="4310603" cy="776294"/>
          </a:xfrm>
        </p:grpSpPr>
        <p:sp>
          <p:nvSpPr>
            <p:cNvPr id="263" name="Google Shape;263;p1"/>
            <p:cNvSpPr/>
            <p:nvPr/>
          </p:nvSpPr>
          <p:spPr>
            <a:xfrm>
              <a:off x="755929" y="5225143"/>
              <a:ext cx="4310603" cy="7762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114300" rotWithShape="0" algn="t" dir="5400000" dist="38100">
                <a:srgbClr val="0000FF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rgbClr val="000000"/>
                </a:solidFill>
                <a:latin typeface=" Arial"/>
                <a:ea typeface=" Arial"/>
                <a:cs typeface=" Arial"/>
                <a:sym typeface=" Arial"/>
              </a:endParaRPr>
            </a:p>
          </p:txBody>
        </p:sp>
        <p:sp>
          <p:nvSpPr>
            <p:cNvPr id="264" name="Google Shape;264;p1"/>
            <p:cNvSpPr txBox="1"/>
            <p:nvPr/>
          </p:nvSpPr>
          <p:spPr>
            <a:xfrm>
              <a:off x="837398" y="5232646"/>
              <a:ext cx="4075678" cy="26045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CN" sz="18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De-risked FCF &amp; Efficiency Plan </a:t>
              </a:r>
              <a:endParaRPr/>
            </a:p>
          </p:txBody>
        </p:sp>
        <p:sp>
          <p:nvSpPr>
            <p:cNvPr id="265" name="Google Shape;265;p1"/>
            <p:cNvSpPr txBox="1"/>
            <p:nvPr/>
          </p:nvSpPr>
          <p:spPr>
            <a:xfrm>
              <a:off x="811306" y="5489185"/>
              <a:ext cx="4199846" cy="4638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0000"/>
                </a:buClr>
                <a:buSzPts val="1600"/>
                <a:buFont typeface="Arial"/>
                <a:buChar char="•"/>
              </a:pPr>
              <a:r>
                <a:rPr b="0" i="0" lang="zh-CN" sz="16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减少分红，26年减半，后续与FCF挂钩</a:t>
              </a:r>
              <a:endParaRPr b="0" i="0" sz="16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71450" lvl="0" marL="17145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0000"/>
                </a:buClr>
                <a:buSzPts val="1600"/>
                <a:buFont typeface="Arial"/>
                <a:buChar char="•"/>
              </a:pPr>
              <a:r>
                <a:rPr b="0" i="0" lang="zh-CN" sz="16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节省OpEx，25~28年 FCF CAGR 3%~5%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"/>
          <p:cNvSpPr txBox="1"/>
          <p:nvPr>
            <p:ph type="title"/>
          </p:nvPr>
        </p:nvSpPr>
        <p:spPr>
          <a:xfrm>
            <a:off x="238389" y="212507"/>
            <a:ext cx="11594647" cy="5039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850" spcFirstLastPara="1" rIns="121850" wrap="square" tIns="609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000"/>
              <a:buFont typeface="Arial"/>
              <a:buNone/>
            </a:pPr>
            <a:r>
              <a:rPr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TDE B2B</a:t>
            </a:r>
            <a:r>
              <a:rPr lang="zh-CN" sz="2000">
                <a:solidFill>
                  <a:srgbClr val="C00000"/>
                </a:solidFill>
              </a:rPr>
              <a:t>业务历史经营</a:t>
            </a:r>
            <a:r>
              <a:rPr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r>
              <a:rPr lang="zh-CN" sz="2000">
                <a:solidFill>
                  <a:srgbClr val="C00000"/>
                </a:solidFill>
              </a:rPr>
              <a:t>平均在</a:t>
            </a:r>
            <a:r>
              <a:rPr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4B€ +（24年4.2B） ，</a:t>
            </a:r>
            <a:r>
              <a:rPr lang="zh-CN" sz="2000">
                <a:solidFill>
                  <a:srgbClr val="C00000"/>
                </a:solidFill>
              </a:rPr>
              <a:t>占集团的</a:t>
            </a:r>
            <a:r>
              <a:rPr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40%，</a:t>
            </a:r>
            <a:r>
              <a:rPr lang="zh-CN" sz="2000">
                <a:solidFill>
                  <a:srgbClr val="C00000"/>
                </a:solidFill>
              </a:rPr>
              <a:t>政府公共大项目占收入主体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318345" y="2138636"/>
            <a:ext cx="3760397" cy="611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从产商品构成来看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分为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Service（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管理服务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和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Supply（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供应品投标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endParaRPr b="1" i="0" sz="12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"/>
          <p:cNvSpPr txBox="1"/>
          <p:nvPr/>
        </p:nvSpPr>
        <p:spPr>
          <a:xfrm>
            <a:off x="4234880" y="2137418"/>
            <a:ext cx="3727006" cy="6131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从客户群构成来看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  <a:r>
              <a:rPr b="1" i="0" lang="zh-CN" sz="12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来自政府公共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大企业和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SME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各占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  <a:endParaRPr/>
          </a:p>
        </p:txBody>
      </p:sp>
      <p:sp>
        <p:nvSpPr>
          <p:cNvPr id="274" name="Google Shape;274;p2"/>
          <p:cNvSpPr/>
          <p:nvPr/>
        </p:nvSpPr>
        <p:spPr>
          <a:xfrm>
            <a:off x="318345" y="2138636"/>
            <a:ext cx="3760397" cy="3769323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"/>
          <p:cNvSpPr/>
          <p:nvPr/>
        </p:nvSpPr>
        <p:spPr>
          <a:xfrm>
            <a:off x="4234880" y="2138636"/>
            <a:ext cx="3727005" cy="3769323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"/>
          <p:cNvSpPr/>
          <p:nvPr/>
        </p:nvSpPr>
        <p:spPr>
          <a:xfrm>
            <a:off x="8048421" y="2138635"/>
            <a:ext cx="3760908" cy="3769323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"/>
          <p:cNvSpPr txBox="1"/>
          <p:nvPr/>
        </p:nvSpPr>
        <p:spPr>
          <a:xfrm>
            <a:off x="6677743" y="3619340"/>
            <a:ext cx="1128463" cy="8599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政府公共是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最主要收入来源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3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  <a:endParaRPr b="1" i="0" sz="105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"/>
          <p:cNvSpPr/>
          <p:nvPr/>
        </p:nvSpPr>
        <p:spPr>
          <a:xfrm>
            <a:off x="6403653" y="3598742"/>
            <a:ext cx="192563" cy="954637"/>
          </a:xfrm>
          <a:prstGeom prst="rightBrace">
            <a:avLst>
              <a:gd fmla="val 8333" name="adj1"/>
              <a:gd fmla="val 50000" name="adj2"/>
            </a:avLst>
          </a:prstGeom>
          <a:noFill/>
          <a:ln cap="flat" cmpd="sng" w="1905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None/>
            </a:pPr>
            <a:r>
              <a:t/>
            </a:r>
            <a:endParaRPr b="0" i="0" sz="1799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"/>
          <p:cNvSpPr txBox="1"/>
          <p:nvPr/>
        </p:nvSpPr>
        <p:spPr>
          <a:xfrm>
            <a:off x="4445350" y="2962079"/>
            <a:ext cx="1886586" cy="3159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1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1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客户群的收入占比</a:t>
            </a:r>
            <a:endParaRPr b="1" i="0" sz="11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80" name="Google Shape;280;p2"/>
          <p:cNvSpPr txBox="1"/>
          <p:nvPr/>
        </p:nvSpPr>
        <p:spPr>
          <a:xfrm>
            <a:off x="986575" y="976041"/>
            <a:ext cx="10223612" cy="698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经营总结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：TEF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集团在西班牙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B2B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业务过去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年平均收入在</a:t>
            </a:r>
            <a:r>
              <a:rPr b="1" i="0" lang="zh-CN" sz="13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4bn€</a:t>
            </a:r>
            <a:r>
              <a:rPr b="1" i="0" lang="zh-CN" sz="1399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以上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占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TEF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集团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B2B</a:t>
            </a:r>
            <a:r>
              <a:rPr b="1" i="0" lang="zh-CN" sz="1399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整体收入的</a:t>
            </a:r>
            <a:r>
              <a:rPr b="1" i="0" lang="zh-CN" sz="13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40%, </a:t>
            </a:r>
            <a:r>
              <a:rPr b="1" i="0" lang="zh-CN" sz="1399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占</a:t>
            </a:r>
            <a:r>
              <a:rPr b="1" i="0" lang="zh-CN" sz="13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399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总收入的</a:t>
            </a:r>
            <a:r>
              <a:rPr b="1" i="0" lang="zh-CN" sz="13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30%。</a:t>
            </a:r>
            <a:endParaRPr b="1" i="0" sz="1399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分析过去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中标的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5417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个项目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涉及金额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9bn€；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从产商品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客户群</a:t>
            </a: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项目规模三个维度得出如下结论</a:t>
            </a:r>
            <a:r>
              <a:rPr b="1" i="0" lang="zh-CN" sz="13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endParaRPr b="1" i="0" sz="1399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"/>
          <p:cNvSpPr txBox="1"/>
          <p:nvPr/>
        </p:nvSpPr>
        <p:spPr>
          <a:xfrm>
            <a:off x="457525" y="4480024"/>
            <a:ext cx="3593859" cy="14086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000"/>
              <a:buFont typeface="Arial"/>
              <a:buChar char="•"/>
            </a:pPr>
            <a:r>
              <a:rPr b="1" i="0" lang="zh-CN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Service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为具体活动或者工程</a:t>
            </a:r>
            <a:r>
              <a:rPr b="1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提供服务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包括承包商</a:t>
            </a:r>
            <a:r>
              <a:rPr b="1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以订阅的方式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执行服务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通常包括装维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托管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、XaaS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即服务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0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000"/>
              <a:buFont typeface="Arial"/>
              <a:buChar char="•"/>
            </a:pPr>
            <a:r>
              <a:rPr b="1" i="0" lang="zh-CN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Supply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:  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b="1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产品或动产的采购或租赁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（acquisition or leasing products or movable goods）。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通常指设备硬件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软件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license；</a:t>
            </a:r>
            <a:r>
              <a:rPr b="1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不包含软件定制费用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和系统集成费用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b="0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7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--  </a:t>
            </a:r>
            <a:r>
              <a:rPr b="0" i="0" lang="zh-CN" sz="7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定义来自西班牙公共招标法</a:t>
            </a:r>
            <a:r>
              <a:rPr b="0" i="0" lang="zh-CN" sz="7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 Ley de Contratos del Sector Público</a:t>
            </a:r>
            <a:endParaRPr b="1" i="0" sz="7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2" name="Google Shape;282;p2"/>
          <p:cNvGraphicFramePr/>
          <p:nvPr/>
        </p:nvGraphicFramePr>
        <p:xfrm>
          <a:off x="565942" y="2750551"/>
          <a:ext cx="3284842" cy="188683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283" name="Google Shape;283;p2"/>
          <p:cNvGraphicFramePr/>
          <p:nvPr/>
        </p:nvGraphicFramePr>
        <p:xfrm>
          <a:off x="4499273" y="336743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1011675"/>
                <a:gridCol w="852975"/>
              </a:tblGrid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CN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客户群</a:t>
                      </a:r>
                      <a:endParaRPr b="1" i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收入占比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中央机关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20.4%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大区政府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17.6%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地方当局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3.0%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公法机构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2.0%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其他公共部门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5.7%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全国范围大企业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17.1%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国有企业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2.1%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地方大企业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7.3%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&lt;250人企业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24.7%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84" name="Google Shape;284;p2"/>
          <p:cNvSpPr txBox="1"/>
          <p:nvPr/>
        </p:nvSpPr>
        <p:spPr>
          <a:xfrm>
            <a:off x="6688081" y="4808368"/>
            <a:ext cx="1128463" cy="7892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大企业占比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SME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占比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  <a:endParaRPr b="1" i="0" sz="105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"/>
          <p:cNvSpPr/>
          <p:nvPr/>
        </p:nvSpPr>
        <p:spPr>
          <a:xfrm>
            <a:off x="6403653" y="4745846"/>
            <a:ext cx="192563" cy="533400"/>
          </a:xfrm>
          <a:prstGeom prst="rightBrace">
            <a:avLst>
              <a:gd fmla="val 8333" name="adj1"/>
              <a:gd fmla="val 50000" name="adj2"/>
            </a:avLst>
          </a:prstGeom>
          <a:noFill/>
          <a:ln cap="flat" cmpd="sng" w="1905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None/>
            </a:pPr>
            <a:r>
              <a:t/>
            </a:r>
            <a:endParaRPr b="0" i="0" sz="1799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"/>
          <p:cNvSpPr txBox="1"/>
          <p:nvPr/>
        </p:nvSpPr>
        <p:spPr>
          <a:xfrm>
            <a:off x="8048421" y="2131466"/>
            <a:ext cx="3760909" cy="6131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从项目规模来看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平均每年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个大项目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占了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 B2B</a:t>
            </a:r>
            <a:r>
              <a:rPr b="1" i="0" lang="zh-CN" sz="12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总收入的</a:t>
            </a:r>
            <a:r>
              <a:rPr b="1" i="0" lang="zh-CN" sz="1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  <a:r>
              <a:rPr b="1" i="0" lang="zh-CN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/>
          </a:p>
        </p:txBody>
      </p:sp>
      <p:graphicFrame>
        <p:nvGraphicFramePr>
          <p:cNvPr id="287" name="Google Shape;287;p2"/>
          <p:cNvGraphicFramePr/>
          <p:nvPr/>
        </p:nvGraphicFramePr>
        <p:xfrm>
          <a:off x="7469921" y="3191136"/>
          <a:ext cx="3362277" cy="1640757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id="288" name="Google Shape;288;p2"/>
          <p:cNvGraphicFramePr/>
          <p:nvPr/>
        </p:nvGraphicFramePr>
        <p:xfrm>
          <a:off x="10190926" y="44243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706150"/>
                <a:gridCol w="595375"/>
              </a:tblGrid>
              <a:tr h="2571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中央机关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41.5%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1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大区政府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35.16%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1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其他公共部门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11%</a:t>
                      </a:r>
                      <a:endParaRPr b="0" i="0" sz="9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89" name="Google Shape;289;p2"/>
          <p:cNvSpPr/>
          <p:nvPr/>
        </p:nvSpPr>
        <p:spPr>
          <a:xfrm rot="1616177">
            <a:off x="9755089" y="4479778"/>
            <a:ext cx="347569" cy="171687"/>
          </a:xfrm>
          <a:prstGeom prst="rightArrow">
            <a:avLst>
              <a:gd fmla="val 50000" name="adj1"/>
              <a:gd fmla="val 50000" name="adj2"/>
            </a:avLst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"/>
          <p:cNvSpPr txBox="1"/>
          <p:nvPr/>
        </p:nvSpPr>
        <p:spPr>
          <a:xfrm>
            <a:off x="10092785" y="3256457"/>
            <a:ext cx="1555068" cy="8614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过去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，1013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个大项目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(&gt;1M€）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给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带来</a:t>
            </a:r>
            <a:r>
              <a:rPr b="1" i="0" lang="zh-CN" sz="13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8.4bn€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</a:t>
            </a:r>
            <a:endParaRPr b="0" i="0" sz="1050" u="none" cap="none" strike="noStrike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91" name="Google Shape;291;p2"/>
          <p:cNvSpPr txBox="1"/>
          <p:nvPr/>
        </p:nvSpPr>
        <p:spPr>
          <a:xfrm>
            <a:off x="9769780" y="5238474"/>
            <a:ext cx="2039550" cy="2752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9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其他</a:t>
            </a:r>
            <a:r>
              <a:rPr b="0" i="0" lang="zh-CN" sz="9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：Aena、Red.es、</a:t>
            </a:r>
            <a:r>
              <a:rPr b="0" i="0" lang="zh-CN" sz="9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水务公司等</a:t>
            </a:r>
            <a:endParaRPr b="0" i="0" sz="900" u="none" cap="none" strike="noStrike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292" name="Google Shape;292;p2"/>
          <p:cNvSpPr/>
          <p:nvPr/>
        </p:nvSpPr>
        <p:spPr>
          <a:xfrm>
            <a:off x="6403653" y="5355417"/>
            <a:ext cx="192563" cy="152340"/>
          </a:xfrm>
          <a:prstGeom prst="rightBrace">
            <a:avLst>
              <a:gd fmla="val 8333" name="adj1"/>
              <a:gd fmla="val 50000" name="adj2"/>
            </a:avLst>
          </a:prstGeom>
          <a:noFill/>
          <a:ln cap="flat" cmpd="sng" w="1905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None/>
            </a:pPr>
            <a:r>
              <a:t/>
            </a:r>
            <a:endParaRPr b="0" i="0" sz="1799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"/>
          <p:cNvSpPr txBox="1"/>
          <p:nvPr/>
        </p:nvSpPr>
        <p:spPr>
          <a:xfrm>
            <a:off x="343645" y="225409"/>
            <a:ext cx="11509472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2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20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经营分析</a:t>
            </a:r>
            <a:r>
              <a:rPr b="1" i="0" lang="zh-CN" sz="2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：ToB</a:t>
            </a:r>
            <a:r>
              <a:rPr b="1" i="0" lang="zh-CN" sz="20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收入构成</a:t>
            </a:r>
            <a:endParaRPr b="1" i="0" sz="2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"/>
          <p:cNvSpPr/>
          <p:nvPr/>
        </p:nvSpPr>
        <p:spPr>
          <a:xfrm>
            <a:off x="497822" y="1211375"/>
            <a:ext cx="4812490" cy="5002814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t" dir="5400000" dist="38100">
              <a:srgbClr val="0000FF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 Arial"/>
              <a:ea typeface=" Arial"/>
              <a:cs typeface=" Arial"/>
              <a:sym typeface=" Arial"/>
            </a:endParaRPr>
          </a:p>
        </p:txBody>
      </p:sp>
      <p:pic>
        <p:nvPicPr>
          <p:cNvPr id="300" name="Google Shape;30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8369" y="1565274"/>
            <a:ext cx="4581327" cy="4432057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"/>
          <p:cNvSpPr/>
          <p:nvPr/>
        </p:nvSpPr>
        <p:spPr>
          <a:xfrm>
            <a:off x="674156" y="1045165"/>
            <a:ext cx="4439729" cy="5847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 Narrow"/>
              <a:buNone/>
            </a:pPr>
            <a:r>
              <a:rPr b="1" i="0" lang="zh-CN" sz="16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集团整体：收入 / EBIDTA / FCF 均同比负增长，</a:t>
            </a:r>
            <a:r>
              <a:rPr b="1" i="0" lang="zh-CN" sz="1600" u="none" cap="none" strike="noStrike">
                <a:solidFill>
                  <a:srgbClr val="C00000"/>
                </a:solidFill>
                <a:latin typeface="Arial Narrow"/>
                <a:ea typeface="Arial Narrow"/>
                <a:cs typeface="Arial Narrow"/>
                <a:sym typeface="Arial Narrow"/>
              </a:rPr>
              <a:t>B2B成四类业务中唯一正增长 </a:t>
            </a:r>
            <a:endParaRPr/>
          </a:p>
        </p:txBody>
      </p:sp>
      <p:sp>
        <p:nvSpPr>
          <p:cNvPr id="302" name="Google Shape;302;p3"/>
          <p:cNvSpPr/>
          <p:nvPr/>
        </p:nvSpPr>
        <p:spPr>
          <a:xfrm>
            <a:off x="3838133" y="3314223"/>
            <a:ext cx="564844" cy="287242"/>
          </a:xfrm>
          <a:prstGeom prst="ellipse">
            <a:avLst/>
          </a:prstGeom>
          <a:noFill/>
          <a:ln cap="flat" cmpd="sng" w="19050">
            <a:solidFill>
              <a:srgbClr val="C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303" name="Google Shape;303;p3"/>
          <p:cNvSpPr/>
          <p:nvPr/>
        </p:nvSpPr>
        <p:spPr>
          <a:xfrm>
            <a:off x="3131772" y="3330589"/>
            <a:ext cx="564844" cy="287242"/>
          </a:xfrm>
          <a:prstGeom prst="ellipse">
            <a:avLst/>
          </a:prstGeom>
          <a:noFill/>
          <a:ln cap="flat" cmpd="sng" w="19050">
            <a:solidFill>
              <a:srgbClr val="C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3131772" y="2466200"/>
            <a:ext cx="564844" cy="287242"/>
          </a:xfrm>
          <a:prstGeom prst="ellipse">
            <a:avLst/>
          </a:prstGeom>
          <a:noFill/>
          <a:ln cap="flat" cmpd="sng" w="19050">
            <a:solidFill>
              <a:srgbClr val="C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305" name="Google Shape;305;p3"/>
          <p:cNvSpPr/>
          <p:nvPr/>
        </p:nvSpPr>
        <p:spPr>
          <a:xfrm>
            <a:off x="1602584" y="2980184"/>
            <a:ext cx="1177151" cy="517328"/>
          </a:xfrm>
          <a:prstGeom prst="roundRect">
            <a:avLst>
              <a:gd fmla="val 16667" name="adj"/>
            </a:avLst>
          </a:prstGeom>
          <a:solidFill>
            <a:srgbClr val="0000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10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toB 占比 </a:t>
            </a:r>
            <a:r>
              <a:rPr b="0" i="0" lang="zh-CN" sz="20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22.65%</a:t>
            </a:r>
            <a:endParaRPr b="0" i="0" sz="20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cxnSp>
        <p:nvCxnSpPr>
          <p:cNvPr id="306" name="Google Shape;306;p3"/>
          <p:cNvCxnSpPr/>
          <p:nvPr/>
        </p:nvCxnSpPr>
        <p:spPr>
          <a:xfrm flipH="1" rot="10800000">
            <a:off x="2779735" y="2716594"/>
            <a:ext cx="352037" cy="299099"/>
          </a:xfrm>
          <a:prstGeom prst="straightConnector1">
            <a:avLst/>
          </a:prstGeom>
          <a:noFill/>
          <a:ln cap="flat" cmpd="sng" w="25400">
            <a:solidFill>
              <a:srgbClr val="0000FF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07" name="Google Shape;307;p3"/>
          <p:cNvCxnSpPr/>
          <p:nvPr/>
        </p:nvCxnSpPr>
        <p:spPr>
          <a:xfrm>
            <a:off x="2841171" y="3429000"/>
            <a:ext cx="223935" cy="68512"/>
          </a:xfrm>
          <a:prstGeom prst="straightConnector1">
            <a:avLst/>
          </a:prstGeom>
          <a:noFill/>
          <a:ln cap="flat" cmpd="sng" w="25400">
            <a:solidFill>
              <a:srgbClr val="0000F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08" name="Google Shape;308;p3"/>
          <p:cNvSpPr txBox="1"/>
          <p:nvPr/>
        </p:nvSpPr>
        <p:spPr>
          <a:xfrm>
            <a:off x="5964646" y="674096"/>
            <a:ext cx="5160553" cy="3385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Microsoft Yahei"/>
              <a:buNone/>
            </a:pPr>
            <a:r>
              <a:rPr b="1" i="0" lang="zh-CN" sz="1600" u="none" cap="none" strike="noStrike">
                <a:solidFill>
                  <a:srgbClr val="26262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TdE toB 现状：收入约40亿欧元，联结份额超60%</a:t>
            </a:r>
            <a:endParaRPr/>
          </a:p>
        </p:txBody>
      </p:sp>
      <p:graphicFrame>
        <p:nvGraphicFramePr>
          <p:cNvPr id="309" name="Google Shape;309;p3"/>
          <p:cNvGraphicFramePr/>
          <p:nvPr/>
        </p:nvGraphicFramePr>
        <p:xfrm>
          <a:off x="5897962" y="11608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665600"/>
                <a:gridCol w="829950"/>
                <a:gridCol w="1581250"/>
                <a:gridCol w="881875"/>
                <a:gridCol w="710625"/>
                <a:gridCol w="557975"/>
              </a:tblGrid>
              <a:tr h="3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类别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TdE Offering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管理服务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（2,880M€）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集成服务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（1,330M€）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市场格局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</a:tr>
              <a:tr h="322125">
                <a:tc rowSpan="7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5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大企业</a:t>
                      </a:r>
                      <a:endParaRPr b="1" i="0" sz="105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100" u="none" cap="none" strike="noStrike">
                          <a:solidFill>
                            <a:srgbClr val="FFC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30亿€</a:t>
                      </a:r>
                      <a:endParaRPr b="1" i="0" sz="1100" u="none" cap="none" strike="noStrike">
                        <a:solidFill>
                          <a:srgbClr val="FFC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1" lang="zh-CN" sz="800" u="none" cap="none" strike="noStrike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b="0" i="1" lang="zh-CN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3,010M€</a:t>
                      </a:r>
                      <a:r>
                        <a:rPr b="0" i="1" lang="zh-CN" sz="8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Connectivity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（Internet &amp; network &amp; Voice）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1,200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250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62%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1675">
                <a:tc vMerge="1"/>
                <a:tc rowSpan="6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IT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Security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20%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5167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For Client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6.2%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1037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For Employee （workplace）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3.1%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1037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For Process （Application &amp; Service）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-  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1.3%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18960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Cloud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550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1.1%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15520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Consulting &amp; Innovation 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　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1%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10375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5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SMB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100" u="none" cap="none" strike="noStrike">
                          <a:solidFill>
                            <a:srgbClr val="FFC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12亿€</a:t>
                      </a:r>
                      <a:endParaRPr b="1" i="0" sz="1100" u="none" cap="none" strike="noStrike">
                        <a:solidFill>
                          <a:srgbClr val="FFC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1" lang="zh-CN" sz="900" u="none" cap="none" strike="noStrike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（</a:t>
                      </a:r>
                      <a:r>
                        <a:rPr b="0" i="1" lang="zh-CN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1,200M€</a:t>
                      </a:r>
                      <a:r>
                        <a:rPr b="0" i="1" lang="zh-CN" sz="900" u="none" cap="none" strike="noStrike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b="1" i="0" sz="1000" u="none" cap="none" strike="noStrike">
                        <a:solidFill>
                          <a:schemeClr val="dk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Connectivity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SME Connectivity Fusion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="1" i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35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IT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SME Digital Kit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200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3.9%</a:t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10" name="Google Shape;310;p3"/>
          <p:cNvSpPr/>
          <p:nvPr/>
        </p:nvSpPr>
        <p:spPr>
          <a:xfrm>
            <a:off x="3838133" y="6307603"/>
            <a:ext cx="1526347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 Narrow"/>
              <a:buNone/>
            </a:pPr>
            <a:r>
              <a:rPr b="0" i="0" lang="zh-CN" sz="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数据来源：25Q4 Telefonica财报</a:t>
            </a:r>
            <a:endParaRPr b="0" i="0" sz="800" u="none" cap="none" strike="noStrike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311" name="Google Shape;311;p3"/>
          <p:cNvSpPr/>
          <p:nvPr/>
        </p:nvSpPr>
        <p:spPr>
          <a:xfrm>
            <a:off x="6098380" y="4239218"/>
            <a:ext cx="445187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18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大企业，经营占比占比约73%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●"/>
            </a:pPr>
            <a:r>
              <a:rPr lang="zh-CN" sz="14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联结服务的市场格局具有绝对优势 </a:t>
            </a:r>
            <a:endParaRPr sz="14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●"/>
            </a:pPr>
            <a:r>
              <a:rPr lang="zh-CN" sz="14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IT服务全面进入，份额较低，市场空间大</a:t>
            </a:r>
            <a:endParaRPr sz="14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968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312" name="Google Shape;312;p3"/>
          <p:cNvSpPr/>
          <p:nvPr/>
        </p:nvSpPr>
        <p:spPr>
          <a:xfrm>
            <a:off x="6098381" y="5290859"/>
            <a:ext cx="445187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8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SMB，经营占比约27%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●"/>
            </a:pPr>
            <a:r>
              <a:rPr lang="zh-CN" sz="1400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连接服务为主，其他为转售服务，比如电脑等硬件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"/>
          <p:cNvSpPr/>
          <p:nvPr/>
        </p:nvSpPr>
        <p:spPr>
          <a:xfrm>
            <a:off x="253967" y="199489"/>
            <a:ext cx="309924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Telefonica B2B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组织架构</a:t>
            </a:r>
            <a:endParaRPr/>
          </a:p>
        </p:txBody>
      </p:sp>
      <p:grpSp>
        <p:nvGrpSpPr>
          <p:cNvPr id="319" name="Google Shape;319;p4"/>
          <p:cNvGrpSpPr/>
          <p:nvPr/>
        </p:nvGrpSpPr>
        <p:grpSpPr>
          <a:xfrm>
            <a:off x="300906" y="1117928"/>
            <a:ext cx="11266964" cy="5107453"/>
            <a:chOff x="368403" y="1300808"/>
            <a:chExt cx="7378598" cy="5107453"/>
          </a:xfrm>
        </p:grpSpPr>
        <p:sp>
          <p:nvSpPr>
            <p:cNvPr id="320" name="Google Shape;320;p4"/>
            <p:cNvSpPr/>
            <p:nvPr/>
          </p:nvSpPr>
          <p:spPr>
            <a:xfrm>
              <a:off x="690585" y="2161515"/>
              <a:ext cx="774422" cy="568818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AGE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中央政府</a:t>
              </a:r>
              <a:endParaRPr/>
            </a:p>
          </p:txBody>
        </p:sp>
        <p:sp>
          <p:nvSpPr>
            <p:cNvPr id="321" name="Google Shape;321;p4"/>
            <p:cNvSpPr/>
            <p:nvPr/>
          </p:nvSpPr>
          <p:spPr>
            <a:xfrm>
              <a:off x="1517039" y="2161515"/>
              <a:ext cx="774422" cy="568818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BOS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金融媒体</a:t>
              </a:r>
              <a:endParaRPr/>
            </a:p>
          </p:txBody>
        </p:sp>
        <p:sp>
          <p:nvSpPr>
            <p:cNvPr id="322" name="Google Shape;322;p4"/>
            <p:cNvSpPr/>
            <p:nvPr/>
          </p:nvSpPr>
          <p:spPr>
            <a:xfrm>
              <a:off x="3169947" y="2161515"/>
              <a:ext cx="774422" cy="568818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中区</a:t>
              </a:r>
              <a:endParaRPr/>
            </a:p>
          </p:txBody>
        </p:sp>
        <p:sp>
          <p:nvSpPr>
            <p:cNvPr id="323" name="Google Shape;323;p4"/>
            <p:cNvSpPr/>
            <p:nvPr/>
          </p:nvSpPr>
          <p:spPr>
            <a:xfrm>
              <a:off x="3996401" y="2161515"/>
              <a:ext cx="774422" cy="568818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东区</a:t>
              </a:r>
              <a:endParaRPr b="1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4"/>
            <p:cNvSpPr/>
            <p:nvPr/>
          </p:nvSpPr>
          <p:spPr>
            <a:xfrm>
              <a:off x="4822855" y="2161515"/>
              <a:ext cx="774422" cy="568818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北区</a:t>
              </a:r>
              <a:endParaRPr/>
            </a:p>
          </p:txBody>
        </p:sp>
        <p:sp>
          <p:nvSpPr>
            <p:cNvPr id="325" name="Google Shape;325;p4"/>
            <p:cNvSpPr/>
            <p:nvPr/>
          </p:nvSpPr>
          <p:spPr>
            <a:xfrm>
              <a:off x="5649312" y="2161515"/>
              <a:ext cx="774422" cy="568818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南区</a:t>
              </a:r>
              <a:endParaRPr/>
            </a:p>
          </p:txBody>
        </p:sp>
        <p:sp>
          <p:nvSpPr>
            <p:cNvPr id="326" name="Google Shape;326;p4"/>
            <p:cNvSpPr/>
            <p:nvPr/>
          </p:nvSpPr>
          <p:spPr>
            <a:xfrm>
              <a:off x="641080" y="2842656"/>
              <a:ext cx="774423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Jose Luis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Giliperze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4"/>
            <p:cNvSpPr/>
            <p:nvPr/>
          </p:nvSpPr>
          <p:spPr>
            <a:xfrm>
              <a:off x="1486198" y="2842656"/>
              <a:ext cx="774423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Eduardo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Ariste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4"/>
            <p:cNvSpPr/>
            <p:nvPr/>
          </p:nvSpPr>
          <p:spPr>
            <a:xfrm>
              <a:off x="2309195" y="2842656"/>
              <a:ext cx="774423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Maria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Munoz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4"/>
            <p:cNvSpPr/>
            <p:nvPr/>
          </p:nvSpPr>
          <p:spPr>
            <a:xfrm>
              <a:off x="3131004" y="2842656"/>
              <a:ext cx="774423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Beatriz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Herranz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4"/>
            <p:cNvSpPr/>
            <p:nvPr/>
          </p:nvSpPr>
          <p:spPr>
            <a:xfrm>
              <a:off x="3976122" y="2842656"/>
              <a:ext cx="774423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Jordi G.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Jose Manuel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4"/>
            <p:cNvSpPr/>
            <p:nvPr/>
          </p:nvSpPr>
          <p:spPr>
            <a:xfrm>
              <a:off x="4821240" y="2842656"/>
              <a:ext cx="774423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Manuel Alonso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4"/>
            <p:cNvSpPr/>
            <p:nvPr/>
          </p:nvSpPr>
          <p:spPr>
            <a:xfrm>
              <a:off x="5666358" y="2842656"/>
              <a:ext cx="774423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Joaquin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Segovia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4"/>
            <p:cNvSpPr txBox="1"/>
            <p:nvPr/>
          </p:nvSpPr>
          <p:spPr>
            <a:xfrm rot="5400000">
              <a:off x="-131006" y="1849113"/>
              <a:ext cx="1237701" cy="1410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4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主要销售团队</a:t>
              </a:r>
              <a:endParaRPr/>
            </a:p>
          </p:txBody>
        </p:sp>
        <p:sp>
          <p:nvSpPr>
            <p:cNvPr id="334" name="Google Shape;334;p4"/>
            <p:cNvSpPr/>
            <p:nvPr/>
          </p:nvSpPr>
          <p:spPr>
            <a:xfrm>
              <a:off x="641080" y="4274330"/>
              <a:ext cx="1405165" cy="348537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Specialized Presales  </a:t>
              </a:r>
              <a:endParaRPr/>
            </a:p>
            <a:p>
              <a:pPr indent="0" lvl="0" marL="0" marR="0" rtl="0" algn="ctr">
                <a:lnSpc>
                  <a:spcPct val="90000"/>
                </a:lnSpc>
                <a:spcBef>
                  <a:spcPts val="315"/>
                </a:spcBef>
                <a:spcAft>
                  <a:spcPts val="0"/>
                </a:spcAft>
                <a:buNone/>
              </a:pPr>
              <a:r>
                <a:rPr lang="zh-CN" sz="9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Juan Manuel Gallego</a:t>
              </a:r>
              <a:endParaRPr sz="9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4"/>
            <p:cNvSpPr/>
            <p:nvPr/>
          </p:nvSpPr>
          <p:spPr>
            <a:xfrm>
              <a:off x="2180553" y="4274330"/>
              <a:ext cx="1405165" cy="348537"/>
            </a:xfrm>
            <a:prstGeom prst="roundRect">
              <a:avLst>
                <a:gd fmla="val 16667" name="adj"/>
              </a:avLst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Smart City &amp;IOT  </a:t>
              </a:r>
              <a:endParaRPr/>
            </a:p>
            <a:p>
              <a:pPr indent="0" lvl="0" marL="0" marR="0" rtl="0" algn="ctr">
                <a:lnSpc>
                  <a:spcPct val="90000"/>
                </a:lnSpc>
                <a:spcBef>
                  <a:spcPts val="315"/>
                </a:spcBef>
                <a:spcAft>
                  <a:spcPts val="0"/>
                </a:spcAft>
                <a:buNone/>
              </a:pPr>
              <a:r>
                <a:rPr lang="zh-CN" sz="9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Juan Manuel Gallego</a:t>
              </a:r>
              <a:endParaRPr/>
            </a:p>
          </p:txBody>
        </p:sp>
        <p:sp>
          <p:nvSpPr>
            <p:cNvPr id="336" name="Google Shape;336;p4"/>
            <p:cNvSpPr/>
            <p:nvPr/>
          </p:nvSpPr>
          <p:spPr>
            <a:xfrm>
              <a:off x="3663422" y="4274330"/>
              <a:ext cx="980602" cy="338094"/>
            </a:xfrm>
            <a:prstGeom prst="roundRect">
              <a:avLst>
                <a:gd fmla="val 16667" name="adj"/>
              </a:avLst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Digital Trans</a:t>
              </a:r>
              <a:endParaRPr b="1" sz="9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90000"/>
                </a:lnSpc>
                <a:spcBef>
                  <a:spcPts val="315"/>
                </a:spcBef>
                <a:spcAft>
                  <a:spcPts val="0"/>
                </a:spcAft>
                <a:buNone/>
              </a:pPr>
              <a:r>
                <a:rPr lang="zh-CN" sz="9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Julio Jesus</a:t>
              </a:r>
              <a:endParaRPr sz="9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4"/>
            <p:cNvSpPr/>
            <p:nvPr/>
          </p:nvSpPr>
          <p:spPr>
            <a:xfrm>
              <a:off x="4749349" y="4274330"/>
              <a:ext cx="895925" cy="354188"/>
            </a:xfrm>
            <a:prstGeom prst="roundRect">
              <a:avLst>
                <a:gd fmla="val 16667" name="adj"/>
              </a:avLst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Pro. vision  </a:t>
              </a:r>
              <a:endParaRPr/>
            </a:p>
            <a:p>
              <a:pPr indent="0" lvl="0" marL="0" marR="0" rtl="0" algn="ctr">
                <a:lnSpc>
                  <a:spcPct val="90000"/>
                </a:lnSpc>
                <a:spcBef>
                  <a:spcPts val="315"/>
                </a:spcBef>
                <a:spcAft>
                  <a:spcPts val="0"/>
                </a:spcAft>
                <a:buNone/>
              </a:pPr>
              <a:r>
                <a:rPr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Montserrat</a:t>
              </a:r>
              <a:endParaRPr/>
            </a:p>
          </p:txBody>
        </p:sp>
        <p:sp>
          <p:nvSpPr>
            <p:cNvPr id="338" name="Google Shape;338;p4"/>
            <p:cNvSpPr/>
            <p:nvPr/>
          </p:nvSpPr>
          <p:spPr>
            <a:xfrm>
              <a:off x="5649312" y="4274330"/>
              <a:ext cx="980601" cy="348537"/>
            </a:xfrm>
            <a:prstGeom prst="roundRect">
              <a:avLst>
                <a:gd fmla="val 16667" name="adj"/>
              </a:avLst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Cloud  </a:t>
              </a:r>
              <a:endParaRPr/>
            </a:p>
            <a:p>
              <a:pPr indent="0" lvl="0" marL="0" marR="0" rtl="0" algn="ctr">
                <a:lnSpc>
                  <a:spcPct val="90000"/>
                </a:lnSpc>
                <a:spcBef>
                  <a:spcPts val="315"/>
                </a:spcBef>
                <a:spcAft>
                  <a:spcPts val="0"/>
                </a:spcAft>
                <a:buNone/>
              </a:pPr>
              <a:r>
                <a:rPr lang="zh-CN" sz="9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Luis Enrique</a:t>
              </a:r>
              <a:endPara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4"/>
            <p:cNvSpPr/>
            <p:nvPr/>
          </p:nvSpPr>
          <p:spPr>
            <a:xfrm>
              <a:off x="3058547" y="3981102"/>
              <a:ext cx="2217794" cy="207179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Pre-Sales团队  Javier Pascual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4"/>
            <p:cNvSpPr/>
            <p:nvPr/>
          </p:nvSpPr>
          <p:spPr>
            <a:xfrm>
              <a:off x="608476" y="5098020"/>
              <a:ext cx="3012757" cy="553998"/>
            </a:xfrm>
            <a:prstGeom prst="rect">
              <a:avLst/>
            </a:prstGeom>
            <a:noFill/>
            <a:ln cap="flat" cmpd="sng" w="9525">
              <a:solidFill>
                <a:srgbClr val="61B23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Marketing (Javier Pascual）</a:t>
              </a:r>
              <a:endParaRPr b="1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新产品、新方案规划和导入</a:t>
              </a:r>
              <a:endParaRPr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伙伴管理，激励</a:t>
              </a:r>
              <a:endParaRPr/>
            </a:p>
          </p:txBody>
        </p:sp>
        <p:sp>
          <p:nvSpPr>
            <p:cNvPr id="341" name="Google Shape;341;p4"/>
            <p:cNvSpPr/>
            <p:nvPr/>
          </p:nvSpPr>
          <p:spPr>
            <a:xfrm>
              <a:off x="2156742" y="5762531"/>
              <a:ext cx="833062" cy="553998"/>
            </a:xfrm>
            <a:prstGeom prst="rect">
              <a:avLst/>
            </a:prstGeom>
            <a:solidFill>
              <a:srgbClr val="DEF3D0"/>
            </a:solidFill>
            <a:ln cap="flat" cmpd="sng" w="9525">
              <a:solidFill>
                <a:srgbClr val="61B23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TdE采购</a:t>
              </a:r>
              <a:endParaRPr b="1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框架合同</a:t>
              </a:r>
              <a:endParaRPr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项目发标</a:t>
              </a:r>
              <a:endParaRPr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4"/>
            <p:cNvSpPr/>
            <p:nvPr/>
          </p:nvSpPr>
          <p:spPr>
            <a:xfrm>
              <a:off x="3720215" y="5106194"/>
              <a:ext cx="966740" cy="553998"/>
            </a:xfrm>
            <a:prstGeom prst="rect">
              <a:avLst/>
            </a:prstGeom>
            <a:noFill/>
            <a:ln cap="flat" cmpd="sng" w="9525">
              <a:solidFill>
                <a:srgbClr val="61B23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O&amp;M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项目交付</a:t>
              </a:r>
              <a:endParaRPr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和维护</a:t>
              </a:r>
              <a:endParaRPr/>
            </a:p>
          </p:txBody>
        </p:sp>
        <p:sp>
          <p:nvSpPr>
            <p:cNvPr id="343" name="Google Shape;343;p4"/>
            <p:cNvSpPr/>
            <p:nvPr/>
          </p:nvSpPr>
          <p:spPr>
            <a:xfrm>
              <a:off x="858358" y="5762531"/>
              <a:ext cx="1045892" cy="400110"/>
            </a:xfrm>
            <a:prstGeom prst="rect">
              <a:avLst/>
            </a:prstGeom>
            <a:solidFill>
              <a:srgbClr val="DEF3D0"/>
            </a:solidFill>
            <a:ln cap="flat" cmpd="sng" w="9525">
              <a:solidFill>
                <a:srgbClr val="61B23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DSS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新产品准入测试</a:t>
              </a:r>
              <a:endParaRPr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4"/>
            <p:cNvSpPr/>
            <p:nvPr/>
          </p:nvSpPr>
          <p:spPr>
            <a:xfrm>
              <a:off x="3207539" y="5758669"/>
              <a:ext cx="1320289" cy="400110"/>
            </a:xfrm>
            <a:prstGeom prst="rect">
              <a:avLst/>
            </a:prstGeom>
            <a:noFill/>
            <a:ln cap="flat" cmpd="sng" w="9525">
              <a:solidFill>
                <a:srgbClr val="61B23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Logistics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发货、库存管理，要货计划等</a:t>
              </a:r>
              <a:endParaRPr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4"/>
            <p:cNvSpPr/>
            <p:nvPr/>
          </p:nvSpPr>
          <p:spPr>
            <a:xfrm>
              <a:off x="1782067" y="4716673"/>
              <a:ext cx="2328847" cy="23113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TdE HQ 销售支撑团队</a:t>
              </a:r>
              <a:endParaRPr/>
            </a:p>
          </p:txBody>
        </p:sp>
        <p:sp>
          <p:nvSpPr>
            <p:cNvPr id="346" name="Google Shape;346;p4"/>
            <p:cNvSpPr/>
            <p:nvPr/>
          </p:nvSpPr>
          <p:spPr>
            <a:xfrm>
              <a:off x="2887240" y="1300808"/>
              <a:ext cx="2515120" cy="34853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B2B CMO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Adrian Garcia Nevado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4"/>
            <p:cNvSpPr/>
            <p:nvPr/>
          </p:nvSpPr>
          <p:spPr>
            <a:xfrm>
              <a:off x="5292077" y="4694484"/>
              <a:ext cx="1695069" cy="32376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集团产品团队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T.Tech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4"/>
            <p:cNvSpPr txBox="1"/>
            <p:nvPr/>
          </p:nvSpPr>
          <p:spPr>
            <a:xfrm rot="5400000">
              <a:off x="-76837" y="3289170"/>
              <a:ext cx="1073232" cy="1410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4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区域销售</a:t>
              </a:r>
              <a:endParaRPr/>
            </a:p>
          </p:txBody>
        </p:sp>
        <p:sp>
          <p:nvSpPr>
            <p:cNvPr id="349" name="Google Shape;349;p4"/>
            <p:cNvSpPr txBox="1"/>
            <p:nvPr/>
          </p:nvSpPr>
          <p:spPr>
            <a:xfrm rot="5400000">
              <a:off x="11489" y="4460778"/>
              <a:ext cx="893266" cy="1410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4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专家团队</a:t>
              </a:r>
              <a:endParaRPr/>
            </a:p>
          </p:txBody>
        </p:sp>
        <p:sp>
          <p:nvSpPr>
            <p:cNvPr id="350" name="Google Shape;350;p4"/>
            <p:cNvSpPr/>
            <p:nvPr/>
          </p:nvSpPr>
          <p:spPr>
            <a:xfrm>
              <a:off x="2343493" y="2161515"/>
              <a:ext cx="774422" cy="568818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ISR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企业</a:t>
              </a:r>
              <a:endParaRPr/>
            </a:p>
          </p:txBody>
        </p:sp>
        <p:sp>
          <p:nvSpPr>
            <p:cNvPr id="351" name="Google Shape;351;p4"/>
            <p:cNvSpPr/>
            <p:nvPr/>
          </p:nvSpPr>
          <p:spPr>
            <a:xfrm>
              <a:off x="687235" y="1725505"/>
              <a:ext cx="2403659" cy="34853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Industry Sales Team *3</a:t>
              </a:r>
              <a:endParaRPr/>
            </a:p>
          </p:txBody>
        </p:sp>
        <p:sp>
          <p:nvSpPr>
            <p:cNvPr id="352" name="Google Shape;352;p4"/>
            <p:cNvSpPr/>
            <p:nvPr/>
          </p:nvSpPr>
          <p:spPr>
            <a:xfrm>
              <a:off x="3150547" y="1710298"/>
              <a:ext cx="3225304" cy="34853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Territory Sales Team *4</a:t>
              </a:r>
              <a:endParaRPr/>
            </a:p>
          </p:txBody>
        </p:sp>
        <p:sp>
          <p:nvSpPr>
            <p:cNvPr id="353" name="Google Shape;353;p4"/>
            <p:cNvSpPr/>
            <p:nvPr/>
          </p:nvSpPr>
          <p:spPr>
            <a:xfrm>
              <a:off x="6498454" y="1704913"/>
              <a:ext cx="1074451" cy="34853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Inside Sales</a:t>
              </a:r>
              <a:endParaRPr/>
            </a:p>
          </p:txBody>
        </p:sp>
        <p:sp>
          <p:nvSpPr>
            <p:cNvPr id="354" name="Google Shape;354;p4"/>
            <p:cNvSpPr/>
            <p:nvPr/>
          </p:nvSpPr>
          <p:spPr>
            <a:xfrm>
              <a:off x="6522520" y="2142484"/>
              <a:ext cx="1064212" cy="603474"/>
            </a:xfrm>
            <a:prstGeom prst="roundRect">
              <a:avLst>
                <a:gd fmla="val 16667" name="adj"/>
              </a:avLst>
            </a:prstGeom>
            <a:solidFill>
              <a:srgbClr val="DEF3D0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SMB on-line &amp;电销，直销中型客户</a:t>
              </a:r>
              <a:endParaRPr b="1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4"/>
            <p:cNvSpPr/>
            <p:nvPr/>
          </p:nvSpPr>
          <p:spPr>
            <a:xfrm>
              <a:off x="6606249" y="2842656"/>
              <a:ext cx="988329" cy="533216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Javier Vizcanio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4"/>
            <p:cNvSpPr/>
            <p:nvPr/>
          </p:nvSpPr>
          <p:spPr>
            <a:xfrm>
              <a:off x="660481" y="3530410"/>
              <a:ext cx="5784926" cy="354188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1000人 大企业AM+pre-sale团队</a:t>
              </a:r>
              <a:endParaRPr/>
            </a:p>
          </p:txBody>
        </p:sp>
        <p:sp>
          <p:nvSpPr>
            <p:cNvPr id="357" name="Google Shape;357;p4"/>
            <p:cNvSpPr/>
            <p:nvPr/>
          </p:nvSpPr>
          <p:spPr>
            <a:xfrm>
              <a:off x="6635533" y="3561701"/>
              <a:ext cx="1002156" cy="321978"/>
            </a:xfrm>
            <a:prstGeom prst="roundRect">
              <a:avLst>
                <a:gd fmla="val 16667" name="adj"/>
              </a:avLst>
            </a:prstGeom>
            <a:solidFill>
              <a:srgbClr val="D3F1F4"/>
            </a:solidFill>
            <a:ln cap="flat" cmpd="sng" w="12700">
              <a:solidFill>
                <a:srgbClr val="00B0F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200人AM</a:t>
              </a:r>
              <a:endParaRPr b="1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4"/>
            <p:cNvSpPr txBox="1"/>
            <p:nvPr/>
          </p:nvSpPr>
          <p:spPr>
            <a:xfrm rot="5400000">
              <a:off x="-7684" y="5451617"/>
              <a:ext cx="893266" cy="1410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4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专家团队</a:t>
              </a:r>
              <a:endParaRPr/>
            </a:p>
          </p:txBody>
        </p:sp>
        <p:sp>
          <p:nvSpPr>
            <p:cNvPr id="359" name="Google Shape;359;p4"/>
            <p:cNvSpPr/>
            <p:nvPr/>
          </p:nvSpPr>
          <p:spPr>
            <a:xfrm>
              <a:off x="6680052" y="4252461"/>
              <a:ext cx="980601" cy="348537"/>
            </a:xfrm>
            <a:prstGeom prst="roundRect">
              <a:avLst>
                <a:gd fmla="val 16667" name="adj"/>
              </a:avLst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9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SME</a:t>
              </a:r>
              <a:endParaRPr/>
            </a:p>
            <a:p>
              <a:pPr indent="0" lvl="0" marL="0" marR="0" rtl="0" algn="ctr">
                <a:lnSpc>
                  <a:spcPct val="90000"/>
                </a:lnSpc>
                <a:spcBef>
                  <a:spcPts val="315"/>
                </a:spcBef>
                <a:spcAft>
                  <a:spcPts val="0"/>
                </a:spcAft>
                <a:buNone/>
              </a:pPr>
              <a:r>
                <a:rPr lang="zh-CN" sz="9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MKT\Dev</a:t>
              </a:r>
              <a:endPara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4"/>
            <p:cNvSpPr/>
            <p:nvPr/>
          </p:nvSpPr>
          <p:spPr>
            <a:xfrm>
              <a:off x="4785937" y="5106195"/>
              <a:ext cx="2961064" cy="1302066"/>
            </a:xfrm>
            <a:prstGeom prst="rect">
              <a:avLst/>
            </a:prstGeom>
            <a:solidFill>
              <a:srgbClr val="A8E3EA"/>
            </a:solidFill>
            <a:ln cap="flat" cmpd="sng" w="12700">
              <a:solidFill>
                <a:srgbClr val="00206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CN" sz="105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多厂商兼容，预集成</a:t>
              </a:r>
              <a:endParaRPr/>
            </a:p>
          </p:txBody>
        </p:sp>
        <p:grpSp>
          <p:nvGrpSpPr>
            <p:cNvPr id="361" name="Google Shape;361;p4"/>
            <p:cNvGrpSpPr/>
            <p:nvPr/>
          </p:nvGrpSpPr>
          <p:grpSpPr>
            <a:xfrm>
              <a:off x="4924522" y="5310793"/>
              <a:ext cx="2644120" cy="1024468"/>
              <a:chOff x="4924522" y="5300651"/>
              <a:chExt cx="3495648" cy="1323341"/>
            </a:xfrm>
          </p:grpSpPr>
          <p:sp>
            <p:nvSpPr>
              <p:cNvPr id="362" name="Google Shape;362;p4"/>
              <p:cNvSpPr/>
              <p:nvPr/>
            </p:nvSpPr>
            <p:spPr>
              <a:xfrm>
                <a:off x="6970503" y="5370225"/>
                <a:ext cx="1449667" cy="25841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Hyber Cloud</a:t>
                </a:r>
                <a:endParaRPr sz="7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4"/>
              <p:cNvSpPr/>
              <p:nvPr/>
            </p:nvSpPr>
            <p:spPr>
              <a:xfrm>
                <a:off x="4924525" y="5300651"/>
                <a:ext cx="1902974" cy="397567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Cyber</a:t>
                </a:r>
                <a:endParaRPr/>
              </a:p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Security&amp;NaaS</a:t>
                </a:r>
                <a:endParaRPr i="1" sz="7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4"/>
              <p:cNvSpPr/>
              <p:nvPr/>
            </p:nvSpPr>
            <p:spPr>
              <a:xfrm>
                <a:off x="4934232" y="6365574"/>
                <a:ext cx="1902974" cy="25841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360 Digital Biz</a:t>
                </a:r>
                <a:endParaRPr sz="7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4"/>
              <p:cNvSpPr/>
              <p:nvPr/>
            </p:nvSpPr>
            <p:spPr>
              <a:xfrm>
                <a:off x="4924522" y="6093341"/>
                <a:ext cx="1902974" cy="25841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Future workplace</a:t>
                </a:r>
                <a:endParaRPr b="1" sz="700">
                  <a:solidFill>
                    <a:srgbClr val="191A1E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6" name="Google Shape;366;p4"/>
              <p:cNvSpPr/>
              <p:nvPr/>
            </p:nvSpPr>
            <p:spPr>
              <a:xfrm>
                <a:off x="6970503" y="6093341"/>
                <a:ext cx="1449667" cy="25841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Business APP</a:t>
                </a:r>
                <a:endParaRPr b="1" sz="700">
                  <a:solidFill>
                    <a:srgbClr val="191A1E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4"/>
              <p:cNvSpPr/>
              <p:nvPr/>
            </p:nvSpPr>
            <p:spPr>
              <a:xfrm>
                <a:off x="4924525" y="5652999"/>
                <a:ext cx="1902974" cy="39756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IoT /</a:t>
                </a:r>
                <a:endParaRPr sz="700">
                  <a:solidFill>
                    <a:srgbClr val="191A1E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Connectivity</a:t>
                </a:r>
                <a:endParaRPr sz="7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4"/>
              <p:cNvSpPr/>
              <p:nvPr/>
            </p:nvSpPr>
            <p:spPr>
              <a:xfrm>
                <a:off x="6970503" y="5722573"/>
                <a:ext cx="1449667" cy="25841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zh-CN" sz="700">
                    <a:solidFill>
                      <a:srgbClr val="191A1E"/>
                    </a:solidFill>
                    <a:latin typeface="Arial"/>
                    <a:ea typeface="Arial"/>
                    <a:cs typeface="Arial"/>
                    <a:sym typeface="Arial"/>
                  </a:rPr>
                  <a:t>AI/Big Data</a:t>
                </a:r>
                <a:endParaRPr sz="700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"/>
          <p:cNvSpPr txBox="1"/>
          <p:nvPr/>
        </p:nvSpPr>
        <p:spPr>
          <a:xfrm>
            <a:off x="343645" y="121055"/>
            <a:ext cx="11509472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的产商品分为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Service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和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Supply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两个大类</a:t>
            </a:r>
            <a:endParaRPr b="1" i="0" sz="20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75" name="Google Shape;375;p5"/>
          <p:cNvSpPr txBox="1"/>
          <p:nvPr/>
        </p:nvSpPr>
        <p:spPr>
          <a:xfrm>
            <a:off x="446439" y="4351227"/>
            <a:ext cx="1383744" cy="5230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供应品</a:t>
            </a:r>
            <a:endParaRPr b="1" sz="1399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Supply</a:t>
            </a:r>
            <a:endParaRPr b="1" sz="1399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5"/>
          <p:cNvSpPr txBox="1"/>
          <p:nvPr/>
        </p:nvSpPr>
        <p:spPr>
          <a:xfrm>
            <a:off x="348014" y="2264146"/>
            <a:ext cx="1580594" cy="7383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服务</a:t>
            </a: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399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Service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99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7" name="Google Shape;377;p5"/>
          <p:cNvCxnSpPr/>
          <p:nvPr/>
        </p:nvCxnSpPr>
        <p:spPr>
          <a:xfrm>
            <a:off x="634471" y="3681209"/>
            <a:ext cx="10908790" cy="0"/>
          </a:xfrm>
          <a:prstGeom prst="straightConnector1">
            <a:avLst/>
          </a:prstGeom>
          <a:noFill/>
          <a:ln cap="flat" cmpd="sng" w="28575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378" name="Google Shape;378;p5"/>
          <p:cNvSpPr txBox="1"/>
          <p:nvPr/>
        </p:nvSpPr>
        <p:spPr>
          <a:xfrm>
            <a:off x="2235970" y="1433280"/>
            <a:ext cx="8735474" cy="3076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Service: TdE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B2B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市场利润的主要来源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Margin</a:t>
            </a: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要求</a:t>
            </a: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 &gt; 40%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从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WAN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联接服务向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DICT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服务扩展</a:t>
            </a:r>
            <a:endParaRPr b="1" sz="1200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79" name="Google Shape;379;p5"/>
          <p:cNvSpPr txBox="1"/>
          <p:nvPr/>
        </p:nvSpPr>
        <p:spPr>
          <a:xfrm>
            <a:off x="2448013" y="2571250"/>
            <a:ext cx="512761" cy="6637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固网专线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无线专线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Internet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5"/>
          <p:cNvSpPr txBox="1"/>
          <p:nvPr/>
        </p:nvSpPr>
        <p:spPr>
          <a:xfrm>
            <a:off x="3146836" y="2626692"/>
            <a:ext cx="743944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含</a:t>
            </a: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CPE</a:t>
            </a: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</a:t>
            </a:r>
            <a:endParaRPr sz="10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81" name="Google Shape;381;p5"/>
          <p:cNvSpPr txBox="1"/>
          <p:nvPr/>
        </p:nvSpPr>
        <p:spPr>
          <a:xfrm>
            <a:off x="2692279" y="2112603"/>
            <a:ext cx="1442443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WAN Connectivity</a:t>
            </a:r>
            <a:endParaRPr/>
          </a:p>
        </p:txBody>
      </p:sp>
      <p:sp>
        <p:nvSpPr>
          <p:cNvPr id="382" name="Google Shape;382;p5"/>
          <p:cNvSpPr txBox="1"/>
          <p:nvPr/>
        </p:nvSpPr>
        <p:spPr>
          <a:xfrm>
            <a:off x="2923082" y="2805849"/>
            <a:ext cx="1163253" cy="4340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</a:t>
            </a: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卡</a:t>
            </a: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电话终端等</a:t>
            </a:r>
            <a:endParaRPr/>
          </a:p>
        </p:txBody>
      </p:sp>
      <p:sp>
        <p:nvSpPr>
          <p:cNvPr id="383" name="Google Shape;383;p5"/>
          <p:cNvSpPr/>
          <p:nvPr/>
        </p:nvSpPr>
        <p:spPr>
          <a:xfrm>
            <a:off x="2206621" y="1957532"/>
            <a:ext cx="1994947" cy="1484391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84" name="Google Shape;384;p5"/>
          <p:cNvSpPr txBox="1"/>
          <p:nvPr/>
        </p:nvSpPr>
        <p:spPr>
          <a:xfrm>
            <a:off x="4621642" y="2626692"/>
            <a:ext cx="743866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</a:t>
            </a: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托管</a:t>
            </a:r>
            <a:endParaRPr/>
          </a:p>
        </p:txBody>
      </p:sp>
      <p:sp>
        <p:nvSpPr>
          <p:cNvPr id="385" name="Google Shape;385;p5"/>
          <p:cNvSpPr txBox="1"/>
          <p:nvPr/>
        </p:nvSpPr>
        <p:spPr>
          <a:xfrm>
            <a:off x="5299507" y="2692344"/>
            <a:ext cx="743866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现场装维</a:t>
            </a:r>
            <a:endParaRPr/>
          </a:p>
        </p:txBody>
      </p:sp>
      <p:sp>
        <p:nvSpPr>
          <p:cNvPr id="386" name="Google Shape;386;p5"/>
          <p:cNvSpPr txBox="1"/>
          <p:nvPr/>
        </p:nvSpPr>
        <p:spPr>
          <a:xfrm>
            <a:off x="4616165" y="2882782"/>
            <a:ext cx="743866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安全托管</a:t>
            </a:r>
            <a:endParaRPr/>
          </a:p>
        </p:txBody>
      </p:sp>
      <p:sp>
        <p:nvSpPr>
          <p:cNvPr id="387" name="Google Shape;387;p5"/>
          <p:cNvSpPr txBox="1"/>
          <p:nvPr/>
        </p:nvSpPr>
        <p:spPr>
          <a:xfrm>
            <a:off x="4575014" y="3142349"/>
            <a:ext cx="826166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办公终端托管</a:t>
            </a:r>
            <a:endParaRPr/>
          </a:p>
        </p:txBody>
      </p:sp>
      <p:sp>
        <p:nvSpPr>
          <p:cNvPr id="388" name="Google Shape;388;p5"/>
          <p:cNvSpPr/>
          <p:nvPr/>
        </p:nvSpPr>
        <p:spPr>
          <a:xfrm>
            <a:off x="4534679" y="1957532"/>
            <a:ext cx="1482302" cy="1484391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89" name="Google Shape;389;p5"/>
          <p:cNvSpPr/>
          <p:nvPr/>
        </p:nvSpPr>
        <p:spPr>
          <a:xfrm>
            <a:off x="2398936" y="2070019"/>
            <a:ext cx="311886" cy="269763"/>
          </a:xfrm>
          <a:custGeom>
            <a:rect b="b" l="l" r="r" t="t"/>
            <a:pathLst>
              <a:path extrusionOk="0" h="1137190" w="1137186">
                <a:moveTo>
                  <a:pt x="592454" y="900779"/>
                </a:moveTo>
                <a:lnTo>
                  <a:pt x="592454" y="1085108"/>
                </a:lnTo>
                <a:lnTo>
                  <a:pt x="623465" y="1079305"/>
                </a:lnTo>
                <a:cubicBezTo>
                  <a:pt x="677884" y="1058706"/>
                  <a:pt x="726980" y="1008161"/>
                  <a:pt x="765350" y="937444"/>
                </a:cubicBezTo>
                <a:lnTo>
                  <a:pt x="782614" y="900779"/>
                </a:lnTo>
                <a:close/>
                <a:moveTo>
                  <a:pt x="354600" y="900779"/>
                </a:moveTo>
                <a:lnTo>
                  <a:pt x="371849" y="937396"/>
                </a:lnTo>
                <a:cubicBezTo>
                  <a:pt x="410246" y="1008132"/>
                  <a:pt x="459377" y="1058695"/>
                  <a:pt x="513811" y="1079301"/>
                </a:cubicBezTo>
                <a:lnTo>
                  <a:pt x="544829" y="1085107"/>
                </a:lnTo>
                <a:lnTo>
                  <a:pt x="544829" y="900779"/>
                </a:lnTo>
                <a:close/>
                <a:moveTo>
                  <a:pt x="170271" y="900779"/>
                </a:moveTo>
                <a:lnTo>
                  <a:pt x="193501" y="930176"/>
                </a:lnTo>
                <a:cubicBezTo>
                  <a:pt x="217544" y="955076"/>
                  <a:pt x="244440" y="977938"/>
                  <a:pt x="274099" y="998276"/>
                </a:cubicBezTo>
                <a:cubicBezTo>
                  <a:pt x="296332" y="1013521"/>
                  <a:pt x="319452" y="1026857"/>
                  <a:pt x="343237" y="1038284"/>
                </a:cubicBezTo>
                <a:lnTo>
                  <a:pt x="409916" y="1064318"/>
                </a:lnTo>
                <a:lnTo>
                  <a:pt x="388071" y="1044365"/>
                </a:lnTo>
                <a:cubicBezTo>
                  <a:pt x="355735" y="1007605"/>
                  <a:pt x="327422" y="961156"/>
                  <a:pt x="304486" y="907263"/>
                </a:cubicBezTo>
                <a:lnTo>
                  <a:pt x="302213" y="900779"/>
                </a:lnTo>
                <a:close/>
                <a:moveTo>
                  <a:pt x="893886" y="609600"/>
                </a:moveTo>
                <a:lnTo>
                  <a:pt x="883819" y="725499"/>
                </a:lnTo>
                <a:cubicBezTo>
                  <a:pt x="878448" y="758766"/>
                  <a:pt x="871393" y="790734"/>
                  <a:pt x="862822" y="821121"/>
                </a:cubicBezTo>
                <a:lnTo>
                  <a:pt x="851632" y="853154"/>
                </a:lnTo>
                <a:lnTo>
                  <a:pt x="981369" y="853154"/>
                </a:lnTo>
                <a:lnTo>
                  <a:pt x="982815" y="850019"/>
                </a:lnTo>
                <a:lnTo>
                  <a:pt x="1011313" y="839490"/>
                </a:lnTo>
                <a:lnTo>
                  <a:pt x="1048958" y="770681"/>
                </a:lnTo>
                <a:cubicBezTo>
                  <a:pt x="1062412" y="738790"/>
                  <a:pt x="1072471" y="706025"/>
                  <a:pt x="1079223" y="672872"/>
                </a:cubicBezTo>
                <a:lnTo>
                  <a:pt x="1085813" y="609600"/>
                </a:lnTo>
                <a:close/>
                <a:moveTo>
                  <a:pt x="592454" y="609600"/>
                </a:moveTo>
                <a:lnTo>
                  <a:pt x="592454" y="853154"/>
                </a:lnTo>
                <a:lnTo>
                  <a:pt x="801697" y="853154"/>
                </a:lnTo>
                <a:lnTo>
                  <a:pt x="814186" y="817459"/>
                </a:lnTo>
                <a:cubicBezTo>
                  <a:pt x="827333" y="773236"/>
                  <a:pt x="837123" y="725190"/>
                  <a:pt x="842881" y="674545"/>
                </a:cubicBezTo>
                <a:lnTo>
                  <a:pt x="847104" y="609600"/>
                </a:lnTo>
                <a:close/>
                <a:moveTo>
                  <a:pt x="290085" y="609600"/>
                </a:moveTo>
                <a:lnTo>
                  <a:pt x="294286" y="674454"/>
                </a:lnTo>
                <a:cubicBezTo>
                  <a:pt x="300037" y="725103"/>
                  <a:pt x="309829" y="773154"/>
                  <a:pt x="322982" y="817386"/>
                </a:cubicBezTo>
                <a:lnTo>
                  <a:pt x="335502" y="853154"/>
                </a:lnTo>
                <a:lnTo>
                  <a:pt x="544829" y="853154"/>
                </a:lnTo>
                <a:lnTo>
                  <a:pt x="544829" y="609600"/>
                </a:lnTo>
                <a:close/>
                <a:moveTo>
                  <a:pt x="51742" y="609600"/>
                </a:moveTo>
                <a:lnTo>
                  <a:pt x="56596" y="664133"/>
                </a:lnTo>
                <a:cubicBezTo>
                  <a:pt x="68814" y="729662"/>
                  <a:pt x="93530" y="792859"/>
                  <a:pt x="130022" y="849844"/>
                </a:cubicBezTo>
                <a:lnTo>
                  <a:pt x="132638" y="853154"/>
                </a:lnTo>
                <a:lnTo>
                  <a:pt x="285515" y="853154"/>
                </a:lnTo>
                <a:lnTo>
                  <a:pt x="274285" y="821121"/>
                </a:lnTo>
                <a:cubicBezTo>
                  <a:pt x="265675" y="790734"/>
                  <a:pt x="258579" y="758766"/>
                  <a:pt x="253165" y="725499"/>
                </a:cubicBezTo>
                <a:lnTo>
                  <a:pt x="242952" y="609600"/>
                </a:lnTo>
                <a:close/>
                <a:moveTo>
                  <a:pt x="720852" y="331565"/>
                </a:moveTo>
                <a:lnTo>
                  <a:pt x="772096" y="331565"/>
                </a:lnTo>
                <a:lnTo>
                  <a:pt x="801719" y="441864"/>
                </a:lnTo>
                <a:lnTo>
                  <a:pt x="833914" y="331565"/>
                </a:lnTo>
                <a:lnTo>
                  <a:pt x="876110" y="331565"/>
                </a:lnTo>
                <a:lnTo>
                  <a:pt x="907161" y="441674"/>
                </a:lnTo>
                <a:lnTo>
                  <a:pt x="936308" y="331565"/>
                </a:lnTo>
                <a:lnTo>
                  <a:pt x="985266" y="331565"/>
                </a:lnTo>
                <a:lnTo>
                  <a:pt x="929259" y="518827"/>
                </a:lnTo>
                <a:lnTo>
                  <a:pt x="883825" y="518827"/>
                </a:lnTo>
                <a:lnTo>
                  <a:pt x="853916" y="413099"/>
                </a:lnTo>
                <a:lnTo>
                  <a:pt x="821817" y="518827"/>
                </a:lnTo>
                <a:lnTo>
                  <a:pt x="777240" y="518827"/>
                </a:lnTo>
                <a:close/>
                <a:moveTo>
                  <a:pt x="445484" y="331565"/>
                </a:moveTo>
                <a:lnTo>
                  <a:pt x="496729" y="331565"/>
                </a:lnTo>
                <a:lnTo>
                  <a:pt x="526447" y="441864"/>
                </a:lnTo>
                <a:lnTo>
                  <a:pt x="558546" y="331565"/>
                </a:lnTo>
                <a:lnTo>
                  <a:pt x="600837" y="331565"/>
                </a:lnTo>
                <a:lnTo>
                  <a:pt x="631888" y="441674"/>
                </a:lnTo>
                <a:lnTo>
                  <a:pt x="660939" y="331565"/>
                </a:lnTo>
                <a:lnTo>
                  <a:pt x="709898" y="331565"/>
                </a:lnTo>
                <a:lnTo>
                  <a:pt x="653891" y="518827"/>
                </a:lnTo>
                <a:lnTo>
                  <a:pt x="608552" y="518827"/>
                </a:lnTo>
                <a:lnTo>
                  <a:pt x="578644" y="413099"/>
                </a:lnTo>
                <a:lnTo>
                  <a:pt x="546449" y="518827"/>
                </a:lnTo>
                <a:lnTo>
                  <a:pt x="501872" y="518827"/>
                </a:lnTo>
                <a:close/>
                <a:moveTo>
                  <a:pt x="170211" y="331565"/>
                </a:moveTo>
                <a:lnTo>
                  <a:pt x="221360" y="331565"/>
                </a:lnTo>
                <a:lnTo>
                  <a:pt x="251078" y="441864"/>
                </a:lnTo>
                <a:lnTo>
                  <a:pt x="283177" y="331565"/>
                </a:lnTo>
                <a:lnTo>
                  <a:pt x="325468" y="331565"/>
                </a:lnTo>
                <a:lnTo>
                  <a:pt x="356520" y="441674"/>
                </a:lnTo>
                <a:lnTo>
                  <a:pt x="385571" y="331565"/>
                </a:lnTo>
                <a:lnTo>
                  <a:pt x="434625" y="331565"/>
                </a:lnTo>
                <a:lnTo>
                  <a:pt x="378523" y="518827"/>
                </a:lnTo>
                <a:lnTo>
                  <a:pt x="333184" y="518827"/>
                </a:lnTo>
                <a:lnTo>
                  <a:pt x="303275" y="413099"/>
                </a:lnTo>
                <a:lnTo>
                  <a:pt x="271176" y="518827"/>
                </a:lnTo>
                <a:lnTo>
                  <a:pt x="226599" y="518827"/>
                </a:lnTo>
                <a:close/>
                <a:moveTo>
                  <a:pt x="133147" y="284892"/>
                </a:moveTo>
                <a:lnTo>
                  <a:pt x="88430" y="366629"/>
                </a:lnTo>
                <a:cubicBezTo>
                  <a:pt x="74976" y="398520"/>
                  <a:pt x="64918" y="431285"/>
                  <a:pt x="58165" y="464438"/>
                </a:cubicBezTo>
                <a:lnTo>
                  <a:pt x="48006" y="561975"/>
                </a:lnTo>
                <a:lnTo>
                  <a:pt x="264161" y="561975"/>
                </a:lnTo>
                <a:lnTo>
                  <a:pt x="264271" y="561927"/>
                </a:lnTo>
                <a:lnTo>
                  <a:pt x="264393" y="561975"/>
                </a:lnTo>
                <a:lnTo>
                  <a:pt x="568642" y="561975"/>
                </a:lnTo>
                <a:lnTo>
                  <a:pt x="872490" y="561975"/>
                </a:lnTo>
                <a:lnTo>
                  <a:pt x="1088696" y="561975"/>
                </a:lnTo>
                <a:lnTo>
                  <a:pt x="1080792" y="473178"/>
                </a:lnTo>
                <a:cubicBezTo>
                  <a:pt x="1068574" y="407650"/>
                  <a:pt x="1043858" y="344451"/>
                  <a:pt x="1007366" y="287466"/>
                </a:cubicBezTo>
                <a:lnTo>
                  <a:pt x="1005332" y="284892"/>
                </a:lnTo>
                <a:lnTo>
                  <a:pt x="819632" y="284892"/>
                </a:lnTo>
                <a:lnTo>
                  <a:pt x="819626" y="284893"/>
                </a:lnTo>
                <a:lnTo>
                  <a:pt x="819623" y="284892"/>
                </a:lnTo>
                <a:lnTo>
                  <a:pt x="568644" y="284892"/>
                </a:lnTo>
                <a:lnTo>
                  <a:pt x="568642" y="284893"/>
                </a:lnTo>
                <a:lnTo>
                  <a:pt x="568640" y="284892"/>
                </a:lnTo>
                <a:close/>
                <a:moveTo>
                  <a:pt x="731534" y="76267"/>
                </a:moveTo>
                <a:lnTo>
                  <a:pt x="789049" y="146389"/>
                </a:lnTo>
                <a:lnTo>
                  <a:pt x="834200" y="237267"/>
                </a:lnTo>
                <a:lnTo>
                  <a:pt x="967698" y="237267"/>
                </a:lnTo>
                <a:lnTo>
                  <a:pt x="943887" y="207134"/>
                </a:lnTo>
                <a:cubicBezTo>
                  <a:pt x="919844" y="182234"/>
                  <a:pt x="892948" y="159373"/>
                  <a:pt x="863289" y="139035"/>
                </a:cubicBezTo>
                <a:cubicBezTo>
                  <a:pt x="833630" y="118697"/>
                  <a:pt x="802612" y="101847"/>
                  <a:pt x="770720" y="88392"/>
                </a:cubicBezTo>
                <a:close/>
                <a:moveTo>
                  <a:pt x="406566" y="75714"/>
                </a:moveTo>
                <a:lnTo>
                  <a:pt x="377157" y="84167"/>
                </a:lnTo>
                <a:cubicBezTo>
                  <a:pt x="307151" y="111770"/>
                  <a:pt x="242551" y="154734"/>
                  <a:pt x="188887" y="212028"/>
                </a:cubicBezTo>
                <a:lnTo>
                  <a:pt x="168619" y="237267"/>
                </a:lnTo>
                <a:lnTo>
                  <a:pt x="302671" y="237267"/>
                </a:lnTo>
                <a:lnTo>
                  <a:pt x="350874" y="142290"/>
                </a:lnTo>
                <a:close/>
                <a:moveTo>
                  <a:pt x="592454" y="50350"/>
                </a:moveTo>
                <a:lnTo>
                  <a:pt x="592454" y="237267"/>
                </a:lnTo>
                <a:lnTo>
                  <a:pt x="782054" y="237267"/>
                </a:lnTo>
                <a:lnTo>
                  <a:pt x="758112" y="186681"/>
                </a:lnTo>
                <a:cubicBezTo>
                  <a:pt x="714829" y="112409"/>
                  <a:pt x="660242" y="64796"/>
                  <a:pt x="602159" y="51461"/>
                </a:cubicBezTo>
                <a:close/>
                <a:moveTo>
                  <a:pt x="544829" y="50318"/>
                </a:moveTo>
                <a:lnTo>
                  <a:pt x="535728" y="51347"/>
                </a:lnTo>
                <a:cubicBezTo>
                  <a:pt x="478634" y="64284"/>
                  <a:pt x="424687" y="110478"/>
                  <a:pt x="381803" y="182555"/>
                </a:cubicBezTo>
                <a:lnTo>
                  <a:pt x="355339" y="237267"/>
                </a:lnTo>
                <a:lnTo>
                  <a:pt x="544829" y="237267"/>
                </a:lnTo>
                <a:close/>
                <a:moveTo>
                  <a:pt x="568642" y="0"/>
                </a:moveTo>
                <a:cubicBezTo>
                  <a:pt x="582465" y="0"/>
                  <a:pt x="596151" y="1475"/>
                  <a:pt x="609638" y="4365"/>
                </a:cubicBezTo>
                <a:lnTo>
                  <a:pt x="609822" y="4424"/>
                </a:lnTo>
                <a:lnTo>
                  <a:pt x="683387" y="11853"/>
                </a:lnTo>
                <a:cubicBezTo>
                  <a:pt x="812900" y="38377"/>
                  <a:pt x="926361" y="108945"/>
                  <a:pt x="1007438" y="207220"/>
                </a:cubicBezTo>
                <a:lnTo>
                  <a:pt x="1032251" y="243038"/>
                </a:lnTo>
                <a:lnTo>
                  <a:pt x="1035155" y="244242"/>
                </a:lnTo>
                <a:lnTo>
                  <a:pt x="1038236" y="251678"/>
                </a:lnTo>
                <a:lnTo>
                  <a:pt x="1061919" y="285866"/>
                </a:lnTo>
                <a:cubicBezTo>
                  <a:pt x="1109817" y="369197"/>
                  <a:pt x="1137203" y="465815"/>
                  <a:pt x="1137186" y="568829"/>
                </a:cubicBezTo>
                <a:lnTo>
                  <a:pt x="1135926" y="585495"/>
                </a:lnTo>
                <a:lnTo>
                  <a:pt x="1136047" y="585788"/>
                </a:lnTo>
                <a:lnTo>
                  <a:pt x="1135871" y="586212"/>
                </a:lnTo>
                <a:lnTo>
                  <a:pt x="1130735" y="654138"/>
                </a:lnTo>
                <a:cubicBezTo>
                  <a:pt x="1124326" y="696310"/>
                  <a:pt x="1113196" y="737587"/>
                  <a:pt x="1097587" y="777190"/>
                </a:cubicBezTo>
                <a:lnTo>
                  <a:pt x="1054675" y="857980"/>
                </a:lnTo>
                <a:lnTo>
                  <a:pt x="1065922" y="888206"/>
                </a:lnTo>
                <a:cubicBezTo>
                  <a:pt x="1065460" y="900874"/>
                  <a:pt x="1060165" y="913365"/>
                  <a:pt x="1050148" y="922677"/>
                </a:cubicBezTo>
                <a:cubicBezTo>
                  <a:pt x="1050110" y="922712"/>
                  <a:pt x="1050073" y="922747"/>
                  <a:pt x="1050035" y="922782"/>
                </a:cubicBezTo>
                <a:cubicBezTo>
                  <a:pt x="1029942" y="941344"/>
                  <a:pt x="998606" y="940103"/>
                  <a:pt x="980044" y="920010"/>
                </a:cubicBezTo>
                <a:lnTo>
                  <a:pt x="972956" y="900779"/>
                </a:lnTo>
                <a:lnTo>
                  <a:pt x="834994" y="900779"/>
                </a:lnTo>
                <a:lnTo>
                  <a:pt x="832729" y="907263"/>
                </a:lnTo>
                <a:cubicBezTo>
                  <a:pt x="809859" y="961156"/>
                  <a:pt x="781598" y="1007605"/>
                  <a:pt x="749289" y="1044365"/>
                </a:cubicBezTo>
                <a:lnTo>
                  <a:pt x="727294" y="1064464"/>
                </a:lnTo>
                <a:lnTo>
                  <a:pt x="795150" y="1037803"/>
                </a:lnTo>
                <a:lnTo>
                  <a:pt x="859690" y="1000272"/>
                </a:lnTo>
                <a:lnTo>
                  <a:pt x="855163" y="988063"/>
                </a:lnTo>
                <a:cubicBezTo>
                  <a:pt x="855641" y="975372"/>
                  <a:pt x="860961" y="962864"/>
                  <a:pt x="871009" y="953545"/>
                </a:cubicBezTo>
                <a:cubicBezTo>
                  <a:pt x="891105" y="934908"/>
                  <a:pt x="922503" y="936091"/>
                  <a:pt x="941140" y="956187"/>
                </a:cubicBezTo>
                <a:cubicBezTo>
                  <a:pt x="941148" y="956196"/>
                  <a:pt x="941157" y="956205"/>
                  <a:pt x="941165" y="956214"/>
                </a:cubicBezTo>
                <a:cubicBezTo>
                  <a:pt x="959777" y="976313"/>
                  <a:pt x="958583" y="1007691"/>
                  <a:pt x="938498" y="1026318"/>
                </a:cubicBezTo>
                <a:cubicBezTo>
                  <a:pt x="928450" y="1035636"/>
                  <a:pt x="915577" y="1040000"/>
                  <a:pt x="902885" y="1039522"/>
                </a:cubicBezTo>
                <a:lnTo>
                  <a:pt x="893217" y="1035084"/>
                </a:lnTo>
                <a:lnTo>
                  <a:pt x="892865" y="1035682"/>
                </a:lnTo>
                <a:cubicBezTo>
                  <a:pt x="892344" y="1036075"/>
                  <a:pt x="891806" y="1036446"/>
                  <a:pt x="891254" y="1036795"/>
                </a:cubicBezTo>
                <a:cubicBezTo>
                  <a:pt x="820173" y="1085993"/>
                  <a:pt x="739079" y="1117999"/>
                  <a:pt x="654349" y="1130827"/>
                </a:cubicBezTo>
                <a:lnTo>
                  <a:pt x="568645" y="1137189"/>
                </a:lnTo>
                <a:lnTo>
                  <a:pt x="568642" y="1137190"/>
                </a:lnTo>
                <a:lnTo>
                  <a:pt x="568639" y="1137189"/>
                </a:lnTo>
                <a:lnTo>
                  <a:pt x="468018" y="1128294"/>
                </a:lnTo>
                <a:cubicBezTo>
                  <a:pt x="325132" y="1102747"/>
                  <a:pt x="200751" y="1023813"/>
                  <a:pt x="116245" y="912867"/>
                </a:cubicBezTo>
                <a:lnTo>
                  <a:pt x="104492" y="894823"/>
                </a:lnTo>
                <a:lnTo>
                  <a:pt x="102034" y="893805"/>
                </a:lnTo>
                <a:lnTo>
                  <a:pt x="98898" y="886234"/>
                </a:lnTo>
                <a:lnTo>
                  <a:pt x="70496" y="842629"/>
                </a:lnTo>
                <a:cubicBezTo>
                  <a:pt x="43415" y="793471"/>
                  <a:pt x="23398" y="739876"/>
                  <a:pt x="11812" y="683210"/>
                </a:cubicBezTo>
                <a:lnTo>
                  <a:pt x="2652" y="592189"/>
                </a:lnTo>
                <a:lnTo>
                  <a:pt x="0" y="585788"/>
                </a:lnTo>
                <a:lnTo>
                  <a:pt x="1615" y="581889"/>
                </a:lnTo>
                <a:lnTo>
                  <a:pt x="282" y="568645"/>
                </a:lnTo>
                <a:cubicBezTo>
                  <a:pt x="299" y="465631"/>
                  <a:pt x="27716" y="369021"/>
                  <a:pt x="75641" y="285706"/>
                </a:cubicBezTo>
                <a:lnTo>
                  <a:pt x="98542" y="252670"/>
                </a:lnTo>
                <a:lnTo>
                  <a:pt x="102034" y="244242"/>
                </a:lnTo>
                <a:lnTo>
                  <a:pt x="105332" y="242875"/>
                </a:lnTo>
                <a:lnTo>
                  <a:pt x="130148" y="207078"/>
                </a:lnTo>
                <a:cubicBezTo>
                  <a:pt x="211257" y="108829"/>
                  <a:pt x="324740" y="38297"/>
                  <a:pt x="454261" y="11815"/>
                </a:cubicBezTo>
                <a:lnTo>
                  <a:pt x="527765" y="4418"/>
                </a:lnTo>
                <a:lnTo>
                  <a:pt x="528305" y="4246"/>
                </a:lnTo>
                <a:cubicBezTo>
                  <a:pt x="541590" y="1435"/>
                  <a:pt x="555057" y="0"/>
                  <a:pt x="568642" y="0"/>
                </a:cubicBezTo>
                <a:close/>
              </a:path>
            </a:pathLst>
          </a:cu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90" name="Google Shape;390;p5"/>
          <p:cNvSpPr txBox="1"/>
          <p:nvPr/>
        </p:nvSpPr>
        <p:spPr>
          <a:xfrm>
            <a:off x="4164476" y="2480512"/>
            <a:ext cx="370203" cy="4307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799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 sz="2799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5"/>
          <p:cNvSpPr txBox="1"/>
          <p:nvPr/>
        </p:nvSpPr>
        <p:spPr>
          <a:xfrm>
            <a:off x="4884895" y="2112603"/>
            <a:ext cx="1098474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 Service</a:t>
            </a:r>
            <a:endParaRPr/>
          </a:p>
        </p:txBody>
      </p:sp>
      <p:sp>
        <p:nvSpPr>
          <p:cNvPr id="392" name="Google Shape;392;p5"/>
          <p:cNvSpPr/>
          <p:nvPr/>
        </p:nvSpPr>
        <p:spPr>
          <a:xfrm>
            <a:off x="4590714" y="2027831"/>
            <a:ext cx="346621" cy="354141"/>
          </a:xfrm>
          <a:custGeom>
            <a:rect b="b" l="l" r="r" t="t"/>
            <a:pathLst>
              <a:path extrusionOk="0" h="565150" w="603250">
                <a:moveTo>
                  <a:pt x="18923" y="474512"/>
                </a:moveTo>
                <a:lnTo>
                  <a:pt x="246469" y="474512"/>
                </a:lnTo>
                <a:lnTo>
                  <a:pt x="274853" y="492109"/>
                </a:lnTo>
                <a:lnTo>
                  <a:pt x="274853" y="508279"/>
                </a:lnTo>
                <a:lnTo>
                  <a:pt x="184630" y="508279"/>
                </a:lnTo>
                <a:lnTo>
                  <a:pt x="184630" y="520235"/>
                </a:lnTo>
                <a:lnTo>
                  <a:pt x="362454" y="520235"/>
                </a:lnTo>
                <a:lnTo>
                  <a:pt x="366573" y="510559"/>
                </a:lnTo>
                <a:cubicBezTo>
                  <a:pt x="372511" y="504764"/>
                  <a:pt x="380707" y="501171"/>
                  <a:pt x="389733" y="501171"/>
                </a:cubicBezTo>
                <a:cubicBezTo>
                  <a:pt x="408262" y="501171"/>
                  <a:pt x="422989" y="515543"/>
                  <a:pt x="422989" y="533161"/>
                </a:cubicBezTo>
                <a:cubicBezTo>
                  <a:pt x="422989" y="550778"/>
                  <a:pt x="408262" y="565150"/>
                  <a:pt x="389733" y="565150"/>
                </a:cubicBezTo>
                <a:cubicBezTo>
                  <a:pt x="380707" y="565150"/>
                  <a:pt x="372511" y="561557"/>
                  <a:pt x="366573" y="555762"/>
                </a:cubicBezTo>
                <a:lnTo>
                  <a:pt x="365273" y="552709"/>
                </a:lnTo>
                <a:lnTo>
                  <a:pt x="169059" y="552709"/>
                </a:lnTo>
                <a:cubicBezTo>
                  <a:pt x="160566" y="552709"/>
                  <a:pt x="153489" y="545439"/>
                  <a:pt x="153489" y="536714"/>
                </a:cubicBezTo>
                <a:lnTo>
                  <a:pt x="153489" y="508279"/>
                </a:lnTo>
                <a:lnTo>
                  <a:pt x="0" y="508279"/>
                </a:lnTo>
                <a:lnTo>
                  <a:pt x="0" y="492109"/>
                </a:lnTo>
                <a:close/>
                <a:moveTo>
                  <a:pt x="41042" y="316477"/>
                </a:moveTo>
                <a:lnTo>
                  <a:pt x="41042" y="440612"/>
                </a:lnTo>
                <a:lnTo>
                  <a:pt x="233339" y="440612"/>
                </a:lnTo>
                <a:lnTo>
                  <a:pt x="233339" y="316477"/>
                </a:lnTo>
                <a:lnTo>
                  <a:pt x="194238" y="316477"/>
                </a:lnTo>
                <a:lnTo>
                  <a:pt x="193660" y="316852"/>
                </a:lnTo>
                <a:lnTo>
                  <a:pt x="193419" y="316477"/>
                </a:lnTo>
                <a:close/>
                <a:moveTo>
                  <a:pt x="255994" y="243412"/>
                </a:moveTo>
                <a:cubicBezTo>
                  <a:pt x="259647" y="243826"/>
                  <a:pt x="263182" y="245480"/>
                  <a:pt x="265774" y="248316"/>
                </a:cubicBezTo>
                <a:lnTo>
                  <a:pt x="313850" y="301254"/>
                </a:lnTo>
                <a:lnTo>
                  <a:pt x="338360" y="282348"/>
                </a:lnTo>
                <a:cubicBezTo>
                  <a:pt x="340717" y="280457"/>
                  <a:pt x="344487" y="279039"/>
                  <a:pt x="347787" y="279039"/>
                </a:cubicBezTo>
                <a:lnTo>
                  <a:pt x="400105" y="279039"/>
                </a:lnTo>
                <a:cubicBezTo>
                  <a:pt x="403404" y="279039"/>
                  <a:pt x="406704" y="279984"/>
                  <a:pt x="409060" y="282348"/>
                </a:cubicBezTo>
                <a:lnTo>
                  <a:pt x="434984" y="300782"/>
                </a:lnTo>
                <a:lnTo>
                  <a:pt x="484003" y="248316"/>
                </a:lnTo>
                <a:cubicBezTo>
                  <a:pt x="488716" y="243117"/>
                  <a:pt x="496257" y="241699"/>
                  <a:pt x="502856" y="245008"/>
                </a:cubicBezTo>
                <a:cubicBezTo>
                  <a:pt x="505684" y="246898"/>
                  <a:pt x="575913" y="284711"/>
                  <a:pt x="597123" y="300309"/>
                </a:cubicBezTo>
                <a:cubicBezTo>
                  <a:pt x="600894" y="303145"/>
                  <a:pt x="603250" y="307872"/>
                  <a:pt x="603250" y="312598"/>
                </a:cubicBezTo>
                <a:lnTo>
                  <a:pt x="603250" y="537112"/>
                </a:lnTo>
                <a:cubicBezTo>
                  <a:pt x="603250" y="545620"/>
                  <a:pt x="596180" y="552710"/>
                  <a:pt x="587696" y="552710"/>
                </a:cubicBezTo>
                <a:lnTo>
                  <a:pt x="514569" y="552710"/>
                </a:lnTo>
                <a:lnTo>
                  <a:pt x="513507" y="555334"/>
                </a:lnTo>
                <a:cubicBezTo>
                  <a:pt x="507687" y="561366"/>
                  <a:pt x="499656" y="565150"/>
                  <a:pt x="490810" y="565150"/>
                </a:cubicBezTo>
                <a:cubicBezTo>
                  <a:pt x="472652" y="565150"/>
                  <a:pt x="458684" y="550012"/>
                  <a:pt x="458684" y="532035"/>
                </a:cubicBezTo>
                <a:cubicBezTo>
                  <a:pt x="458684" y="514058"/>
                  <a:pt x="472652" y="499393"/>
                  <a:pt x="490810" y="499393"/>
                </a:cubicBezTo>
                <a:cubicBezTo>
                  <a:pt x="499656" y="499393"/>
                  <a:pt x="507687" y="503060"/>
                  <a:pt x="513507" y="508973"/>
                </a:cubicBezTo>
                <a:lnTo>
                  <a:pt x="518441" y="521042"/>
                </a:lnTo>
                <a:lnTo>
                  <a:pt x="572142" y="521042"/>
                </a:lnTo>
                <a:lnTo>
                  <a:pt x="572142" y="321106"/>
                </a:lnTo>
                <a:cubicBezTo>
                  <a:pt x="554703" y="309762"/>
                  <a:pt x="519824" y="290383"/>
                  <a:pt x="498614" y="278566"/>
                </a:cubicBezTo>
                <a:lnTo>
                  <a:pt x="448652" y="332450"/>
                </a:lnTo>
                <a:cubicBezTo>
                  <a:pt x="442996" y="338595"/>
                  <a:pt x="434041" y="339540"/>
                  <a:pt x="427442" y="334813"/>
                </a:cubicBezTo>
                <a:lnTo>
                  <a:pt x="398685" y="313498"/>
                </a:lnTo>
                <a:lnTo>
                  <a:pt x="394387" y="332705"/>
                </a:lnTo>
                <a:lnTo>
                  <a:pt x="414064" y="433054"/>
                </a:lnTo>
                <a:lnTo>
                  <a:pt x="377521" y="474513"/>
                </a:lnTo>
                <a:lnTo>
                  <a:pt x="339104" y="433054"/>
                </a:lnTo>
                <a:lnTo>
                  <a:pt x="354565" y="331763"/>
                </a:lnTo>
                <a:lnTo>
                  <a:pt x="349516" y="313764"/>
                </a:lnTo>
                <a:lnTo>
                  <a:pt x="321863" y="335286"/>
                </a:lnTo>
                <a:cubicBezTo>
                  <a:pt x="315264" y="340485"/>
                  <a:pt x="305837" y="339540"/>
                  <a:pt x="300653" y="333395"/>
                </a:cubicBezTo>
                <a:lnTo>
                  <a:pt x="251163" y="279512"/>
                </a:lnTo>
                <a:lnTo>
                  <a:pt x="232761" y="291461"/>
                </a:lnTo>
                <a:lnTo>
                  <a:pt x="246064" y="291461"/>
                </a:lnTo>
                <a:cubicBezTo>
                  <a:pt x="253134" y="291461"/>
                  <a:pt x="258790" y="297125"/>
                  <a:pt x="258790" y="303733"/>
                </a:cubicBezTo>
                <a:lnTo>
                  <a:pt x="258790" y="453355"/>
                </a:lnTo>
                <a:cubicBezTo>
                  <a:pt x="258790" y="459963"/>
                  <a:pt x="253134" y="465627"/>
                  <a:pt x="246064" y="465627"/>
                </a:cubicBezTo>
                <a:lnTo>
                  <a:pt x="28788" y="465627"/>
                </a:lnTo>
                <a:cubicBezTo>
                  <a:pt x="21719" y="465627"/>
                  <a:pt x="16063" y="459963"/>
                  <a:pt x="16063" y="453355"/>
                </a:cubicBezTo>
                <a:lnTo>
                  <a:pt x="16063" y="303733"/>
                </a:lnTo>
                <a:cubicBezTo>
                  <a:pt x="16063" y="297125"/>
                  <a:pt x="21719" y="291461"/>
                  <a:pt x="28788" y="291461"/>
                </a:cubicBezTo>
                <a:lnTo>
                  <a:pt x="177383" y="291461"/>
                </a:lnTo>
                <a:lnTo>
                  <a:pt x="176692" y="290383"/>
                </a:lnTo>
                <a:lnTo>
                  <a:pt x="245507" y="245953"/>
                </a:lnTo>
                <a:cubicBezTo>
                  <a:pt x="248570" y="243826"/>
                  <a:pt x="252341" y="242999"/>
                  <a:pt x="255994" y="243412"/>
                </a:cubicBezTo>
                <a:close/>
                <a:moveTo>
                  <a:pt x="375929" y="30878"/>
                </a:moveTo>
                <a:cubicBezTo>
                  <a:pt x="321994" y="30878"/>
                  <a:pt x="277995" y="74389"/>
                  <a:pt x="277995" y="127724"/>
                </a:cubicBezTo>
                <a:cubicBezTo>
                  <a:pt x="277995" y="181060"/>
                  <a:pt x="321994" y="224571"/>
                  <a:pt x="375929" y="224571"/>
                </a:cubicBezTo>
                <a:cubicBezTo>
                  <a:pt x="429864" y="224571"/>
                  <a:pt x="473863" y="181060"/>
                  <a:pt x="473863" y="127724"/>
                </a:cubicBezTo>
                <a:cubicBezTo>
                  <a:pt x="473863" y="74389"/>
                  <a:pt x="429864" y="30878"/>
                  <a:pt x="375929" y="30878"/>
                </a:cubicBezTo>
                <a:close/>
                <a:moveTo>
                  <a:pt x="375929" y="0"/>
                </a:moveTo>
                <a:cubicBezTo>
                  <a:pt x="447369" y="0"/>
                  <a:pt x="505088" y="57078"/>
                  <a:pt x="505088" y="127724"/>
                </a:cubicBezTo>
                <a:cubicBezTo>
                  <a:pt x="505088" y="198371"/>
                  <a:pt x="447369" y="255917"/>
                  <a:pt x="375929" y="255917"/>
                </a:cubicBezTo>
                <a:cubicBezTo>
                  <a:pt x="304489" y="255917"/>
                  <a:pt x="246297" y="198371"/>
                  <a:pt x="246297" y="127724"/>
                </a:cubicBezTo>
                <a:cubicBezTo>
                  <a:pt x="246297" y="57078"/>
                  <a:pt x="304489" y="0"/>
                  <a:pt x="375929" y="0"/>
                </a:cubicBezTo>
                <a:close/>
              </a:path>
            </a:pathLst>
          </a:cu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93" name="Google Shape;393;p5"/>
          <p:cNvSpPr txBox="1"/>
          <p:nvPr/>
        </p:nvSpPr>
        <p:spPr>
          <a:xfrm>
            <a:off x="5298441" y="2972942"/>
            <a:ext cx="743866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远程监控</a:t>
            </a:r>
            <a:endParaRPr/>
          </a:p>
        </p:txBody>
      </p:sp>
      <p:sp>
        <p:nvSpPr>
          <p:cNvPr id="394" name="Google Shape;394;p5"/>
          <p:cNvSpPr/>
          <p:nvPr/>
        </p:nvSpPr>
        <p:spPr>
          <a:xfrm>
            <a:off x="6142718" y="2532138"/>
            <a:ext cx="256029" cy="49713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487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95" name="Google Shape;395;p5"/>
          <p:cNvSpPr/>
          <p:nvPr/>
        </p:nvSpPr>
        <p:spPr>
          <a:xfrm>
            <a:off x="6505970" y="1940512"/>
            <a:ext cx="1819639" cy="1484391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396" name="Google Shape;396;p5"/>
          <p:cNvSpPr txBox="1"/>
          <p:nvPr/>
        </p:nvSpPr>
        <p:spPr>
          <a:xfrm>
            <a:off x="6682307" y="2112603"/>
            <a:ext cx="1686557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网络管理服务</a:t>
            </a:r>
            <a:endParaRPr b="1" sz="12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grpSp>
        <p:nvGrpSpPr>
          <p:cNvPr id="397" name="Google Shape;397;p5"/>
          <p:cNvGrpSpPr/>
          <p:nvPr/>
        </p:nvGrpSpPr>
        <p:grpSpPr>
          <a:xfrm>
            <a:off x="6414704" y="2500439"/>
            <a:ext cx="1817507" cy="153828"/>
            <a:chOff x="7066513" y="2784211"/>
            <a:chExt cx="1818217" cy="153888"/>
          </a:xfrm>
        </p:grpSpPr>
        <p:sp>
          <p:nvSpPr>
            <p:cNvPr id="398" name="Google Shape;398;p5"/>
            <p:cNvSpPr txBox="1"/>
            <p:nvPr/>
          </p:nvSpPr>
          <p:spPr>
            <a:xfrm>
              <a:off x="8104409" y="2784211"/>
              <a:ext cx="780321" cy="1538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CPE设备订阅</a:t>
              </a:r>
              <a:endParaRPr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5"/>
            <p:cNvSpPr txBox="1"/>
            <p:nvPr/>
          </p:nvSpPr>
          <p:spPr>
            <a:xfrm>
              <a:off x="7066513" y="2784211"/>
              <a:ext cx="864000" cy="1538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SD-WAN  +</a:t>
              </a:r>
              <a:endParaRPr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0" name="Google Shape;400;p5"/>
          <p:cNvGrpSpPr/>
          <p:nvPr/>
        </p:nvGrpSpPr>
        <p:grpSpPr>
          <a:xfrm>
            <a:off x="6418038" y="2772231"/>
            <a:ext cx="1805871" cy="154396"/>
            <a:chOff x="7069849" y="3060902"/>
            <a:chExt cx="1806576" cy="154456"/>
          </a:xfrm>
        </p:grpSpPr>
        <p:sp>
          <p:nvSpPr>
            <p:cNvPr id="401" name="Google Shape;401;p5"/>
            <p:cNvSpPr txBox="1"/>
            <p:nvPr/>
          </p:nvSpPr>
          <p:spPr>
            <a:xfrm>
              <a:off x="8104409" y="3060902"/>
              <a:ext cx="772016" cy="1544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LAN设备订阅</a:t>
              </a:r>
              <a:endParaRPr/>
            </a:p>
          </p:txBody>
        </p:sp>
        <p:sp>
          <p:nvSpPr>
            <p:cNvPr id="402" name="Google Shape;402;p5"/>
            <p:cNvSpPr txBox="1"/>
            <p:nvPr/>
          </p:nvSpPr>
          <p:spPr>
            <a:xfrm>
              <a:off x="7069849" y="3061186"/>
              <a:ext cx="864000" cy="1538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SD-LAN  +</a:t>
              </a:r>
              <a:endParaRPr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5"/>
          <p:cNvGrpSpPr/>
          <p:nvPr/>
        </p:nvGrpSpPr>
        <p:grpSpPr>
          <a:xfrm>
            <a:off x="6421718" y="3036508"/>
            <a:ext cx="1786630" cy="154396"/>
            <a:chOff x="7073531" y="3389200"/>
            <a:chExt cx="1787328" cy="154456"/>
          </a:xfrm>
        </p:grpSpPr>
        <p:sp>
          <p:nvSpPr>
            <p:cNvPr id="404" name="Google Shape;404;p5"/>
            <p:cNvSpPr txBox="1"/>
            <p:nvPr/>
          </p:nvSpPr>
          <p:spPr>
            <a:xfrm>
              <a:off x="8088843" y="3389200"/>
              <a:ext cx="772016" cy="1544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安全设备订阅</a:t>
              </a:r>
              <a:endParaRPr/>
            </a:p>
          </p:txBody>
        </p:sp>
        <p:sp>
          <p:nvSpPr>
            <p:cNvPr id="405" name="Google Shape;405;p5"/>
            <p:cNvSpPr txBox="1"/>
            <p:nvPr/>
          </p:nvSpPr>
          <p:spPr>
            <a:xfrm>
              <a:off x="7073531" y="3389484"/>
              <a:ext cx="864000" cy="1538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10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SASE  +</a:t>
              </a:r>
              <a:endParaRPr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6" name="Google Shape;406;p5"/>
          <p:cNvSpPr/>
          <p:nvPr/>
        </p:nvSpPr>
        <p:spPr>
          <a:xfrm>
            <a:off x="6518593" y="2080659"/>
            <a:ext cx="401237" cy="248483"/>
          </a:xfrm>
          <a:custGeom>
            <a:rect b="b" l="l" r="r" t="t"/>
            <a:pathLst>
              <a:path extrusionOk="0" h="519113" w="827088">
                <a:moveTo>
                  <a:pt x="447411" y="295112"/>
                </a:moveTo>
                <a:lnTo>
                  <a:pt x="459889" y="295112"/>
                </a:lnTo>
                <a:lnTo>
                  <a:pt x="459889" y="337779"/>
                </a:lnTo>
                <a:lnTo>
                  <a:pt x="447411" y="337779"/>
                </a:lnTo>
                <a:close/>
                <a:moveTo>
                  <a:pt x="422456" y="295112"/>
                </a:moveTo>
                <a:lnTo>
                  <a:pt x="440281" y="295112"/>
                </a:lnTo>
                <a:lnTo>
                  <a:pt x="440281" y="337779"/>
                </a:lnTo>
                <a:lnTo>
                  <a:pt x="422456" y="337779"/>
                </a:lnTo>
                <a:close/>
                <a:moveTo>
                  <a:pt x="402849" y="295112"/>
                </a:moveTo>
                <a:lnTo>
                  <a:pt x="415327" y="295112"/>
                </a:lnTo>
                <a:lnTo>
                  <a:pt x="415327" y="337779"/>
                </a:lnTo>
                <a:lnTo>
                  <a:pt x="402849" y="337779"/>
                </a:lnTo>
                <a:close/>
                <a:moveTo>
                  <a:pt x="543140" y="265405"/>
                </a:moveTo>
                <a:cubicBezTo>
                  <a:pt x="544987" y="264406"/>
                  <a:pt x="547490" y="264523"/>
                  <a:pt x="550111" y="265934"/>
                </a:cubicBezTo>
                <a:lnTo>
                  <a:pt x="623985" y="309207"/>
                </a:lnTo>
                <a:cubicBezTo>
                  <a:pt x="629228" y="312029"/>
                  <a:pt x="629228" y="317203"/>
                  <a:pt x="623985" y="320496"/>
                </a:cubicBezTo>
                <a:lnTo>
                  <a:pt x="549634" y="364710"/>
                </a:lnTo>
                <a:cubicBezTo>
                  <a:pt x="544392" y="368002"/>
                  <a:pt x="540102" y="365650"/>
                  <a:pt x="540102" y="359536"/>
                </a:cubicBezTo>
                <a:lnTo>
                  <a:pt x="540102" y="337779"/>
                </a:lnTo>
                <a:lnTo>
                  <a:pt x="475932" y="337779"/>
                </a:lnTo>
                <a:lnTo>
                  <a:pt x="475932" y="293334"/>
                </a:lnTo>
                <a:lnTo>
                  <a:pt x="540102" y="293334"/>
                </a:lnTo>
                <a:lnTo>
                  <a:pt x="540102" y="271579"/>
                </a:lnTo>
                <a:cubicBezTo>
                  <a:pt x="540102" y="268521"/>
                  <a:pt x="541294" y="266405"/>
                  <a:pt x="543140" y="265405"/>
                </a:cubicBezTo>
                <a:close/>
                <a:moveTo>
                  <a:pt x="316327" y="265405"/>
                </a:moveTo>
                <a:cubicBezTo>
                  <a:pt x="318020" y="266405"/>
                  <a:pt x="319071" y="268521"/>
                  <a:pt x="319071" y="271579"/>
                </a:cubicBezTo>
                <a:lnTo>
                  <a:pt x="319071" y="295112"/>
                </a:lnTo>
                <a:lnTo>
                  <a:pt x="386806" y="295112"/>
                </a:lnTo>
                <a:lnTo>
                  <a:pt x="386806" y="339557"/>
                </a:lnTo>
                <a:lnTo>
                  <a:pt x="319071" y="339557"/>
                </a:lnTo>
                <a:lnTo>
                  <a:pt x="319071" y="359536"/>
                </a:lnTo>
                <a:cubicBezTo>
                  <a:pt x="319071" y="365650"/>
                  <a:pt x="314867" y="368002"/>
                  <a:pt x="309730" y="365180"/>
                </a:cubicBezTo>
                <a:lnTo>
                  <a:pt x="236865" y="321907"/>
                </a:lnTo>
                <a:cubicBezTo>
                  <a:pt x="231727" y="319085"/>
                  <a:pt x="231727" y="313911"/>
                  <a:pt x="236865" y="310618"/>
                </a:cubicBezTo>
                <a:lnTo>
                  <a:pt x="309730" y="265934"/>
                </a:lnTo>
                <a:cubicBezTo>
                  <a:pt x="312299" y="264523"/>
                  <a:pt x="314634" y="264406"/>
                  <a:pt x="316327" y="265405"/>
                </a:cubicBezTo>
                <a:close/>
                <a:moveTo>
                  <a:pt x="395400" y="0"/>
                </a:moveTo>
                <a:cubicBezTo>
                  <a:pt x="497667" y="0"/>
                  <a:pt x="592393" y="54276"/>
                  <a:pt x="644705" y="142061"/>
                </a:cubicBezTo>
                <a:cubicBezTo>
                  <a:pt x="746029" y="147725"/>
                  <a:pt x="827088" y="232678"/>
                  <a:pt x="827088" y="335567"/>
                </a:cubicBezTo>
                <a:cubicBezTo>
                  <a:pt x="827088" y="393618"/>
                  <a:pt x="799754" y="449310"/>
                  <a:pt x="752627" y="488011"/>
                </a:cubicBezTo>
                <a:cubicBezTo>
                  <a:pt x="740374" y="497922"/>
                  <a:pt x="723408" y="503114"/>
                  <a:pt x="704085" y="503114"/>
                </a:cubicBezTo>
                <a:lnTo>
                  <a:pt x="688262" y="503114"/>
                </a:lnTo>
                <a:lnTo>
                  <a:pt x="685766" y="509294"/>
                </a:lnTo>
                <a:cubicBezTo>
                  <a:pt x="679953" y="515327"/>
                  <a:pt x="671932" y="519113"/>
                  <a:pt x="663097" y="519113"/>
                </a:cubicBezTo>
                <a:cubicBezTo>
                  <a:pt x="644961" y="519113"/>
                  <a:pt x="631011" y="503970"/>
                  <a:pt x="631011" y="485987"/>
                </a:cubicBezTo>
                <a:cubicBezTo>
                  <a:pt x="631011" y="468004"/>
                  <a:pt x="644961" y="453334"/>
                  <a:pt x="663097" y="453334"/>
                </a:cubicBezTo>
                <a:cubicBezTo>
                  <a:pt x="671932" y="453334"/>
                  <a:pt x="679953" y="457002"/>
                  <a:pt x="685766" y="462917"/>
                </a:cubicBezTo>
                <a:lnTo>
                  <a:pt x="689266" y="471492"/>
                </a:lnTo>
                <a:lnTo>
                  <a:pt x="704085" y="471492"/>
                </a:lnTo>
                <a:cubicBezTo>
                  <a:pt x="715867" y="471492"/>
                  <a:pt x="726235" y="468661"/>
                  <a:pt x="732833" y="463469"/>
                </a:cubicBezTo>
                <a:cubicBezTo>
                  <a:pt x="772420" y="430904"/>
                  <a:pt x="795513" y="384179"/>
                  <a:pt x="795513" y="335567"/>
                </a:cubicBezTo>
                <a:cubicBezTo>
                  <a:pt x="795513" y="246837"/>
                  <a:pt x="723408" y="174155"/>
                  <a:pt x="635279" y="173211"/>
                </a:cubicBezTo>
                <a:cubicBezTo>
                  <a:pt x="629624" y="173211"/>
                  <a:pt x="624440" y="169907"/>
                  <a:pt x="621612" y="165187"/>
                </a:cubicBezTo>
                <a:cubicBezTo>
                  <a:pt x="575898" y="82594"/>
                  <a:pt x="489184" y="31622"/>
                  <a:pt x="395400" y="31622"/>
                </a:cubicBezTo>
                <a:cubicBezTo>
                  <a:pt x="277581" y="31622"/>
                  <a:pt x="174372" y="111384"/>
                  <a:pt x="144681" y="225599"/>
                </a:cubicBezTo>
                <a:cubicBezTo>
                  <a:pt x="143268" y="231734"/>
                  <a:pt x="138084" y="236454"/>
                  <a:pt x="131957" y="237398"/>
                </a:cubicBezTo>
                <a:cubicBezTo>
                  <a:pt x="74933" y="245893"/>
                  <a:pt x="31575" y="295922"/>
                  <a:pt x="31575" y="353973"/>
                </a:cubicBezTo>
                <a:cubicBezTo>
                  <a:pt x="31575" y="418632"/>
                  <a:pt x="84358" y="471492"/>
                  <a:pt x="149394" y="471492"/>
                </a:cubicBezTo>
                <a:lnTo>
                  <a:pt x="536046" y="471492"/>
                </a:lnTo>
                <a:lnTo>
                  <a:pt x="539016" y="464504"/>
                </a:lnTo>
                <a:cubicBezTo>
                  <a:pt x="544947" y="458707"/>
                  <a:pt x="553132" y="455113"/>
                  <a:pt x="562147" y="455113"/>
                </a:cubicBezTo>
                <a:cubicBezTo>
                  <a:pt x="580177" y="455113"/>
                  <a:pt x="595361" y="469490"/>
                  <a:pt x="595361" y="487113"/>
                </a:cubicBezTo>
                <a:cubicBezTo>
                  <a:pt x="595361" y="504736"/>
                  <a:pt x="580177" y="519113"/>
                  <a:pt x="562147" y="519113"/>
                </a:cubicBezTo>
                <a:cubicBezTo>
                  <a:pt x="553132" y="519113"/>
                  <a:pt x="544947" y="515519"/>
                  <a:pt x="539016" y="509722"/>
                </a:cubicBezTo>
                <a:lnTo>
                  <a:pt x="536207" y="503114"/>
                </a:lnTo>
                <a:lnTo>
                  <a:pt x="149394" y="503114"/>
                </a:lnTo>
                <a:cubicBezTo>
                  <a:pt x="66921" y="503114"/>
                  <a:pt x="0" y="436095"/>
                  <a:pt x="0" y="353973"/>
                </a:cubicBezTo>
                <a:cubicBezTo>
                  <a:pt x="0" y="284123"/>
                  <a:pt x="49955" y="223239"/>
                  <a:pt x="117347" y="208136"/>
                </a:cubicBezTo>
                <a:cubicBezTo>
                  <a:pt x="153636" y="84954"/>
                  <a:pt x="266271" y="0"/>
                  <a:pt x="395400" y="0"/>
                </a:cubicBezTo>
                <a:close/>
              </a:path>
            </a:pathLst>
          </a:cu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07" name="Google Shape;407;p5"/>
          <p:cNvSpPr/>
          <p:nvPr/>
        </p:nvSpPr>
        <p:spPr>
          <a:xfrm>
            <a:off x="8384407" y="1939427"/>
            <a:ext cx="1530691" cy="1484391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08" name="Google Shape;408;p5"/>
          <p:cNvSpPr txBox="1"/>
          <p:nvPr/>
        </p:nvSpPr>
        <p:spPr>
          <a:xfrm>
            <a:off x="8338232" y="2112603"/>
            <a:ext cx="1561186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云管理服务</a:t>
            </a:r>
            <a:endParaRPr b="1" sz="12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09" name="Google Shape;409;p5"/>
          <p:cNvSpPr txBox="1"/>
          <p:nvPr/>
        </p:nvSpPr>
        <p:spPr>
          <a:xfrm>
            <a:off x="8543829" y="2500439"/>
            <a:ext cx="1211845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云迁移</a:t>
            </a: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云管理服务</a:t>
            </a:r>
            <a:endParaRPr/>
          </a:p>
        </p:txBody>
      </p:sp>
      <p:sp>
        <p:nvSpPr>
          <p:cNvPr id="410" name="Google Shape;410;p5"/>
          <p:cNvSpPr txBox="1"/>
          <p:nvPr/>
        </p:nvSpPr>
        <p:spPr>
          <a:xfrm>
            <a:off x="8543829" y="2772232"/>
            <a:ext cx="1211845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混合云容器服务</a:t>
            </a:r>
            <a:endParaRPr/>
          </a:p>
        </p:txBody>
      </p:sp>
      <p:sp>
        <p:nvSpPr>
          <p:cNvPr id="411" name="Google Shape;411;p5"/>
          <p:cNvSpPr txBox="1"/>
          <p:nvPr/>
        </p:nvSpPr>
        <p:spPr>
          <a:xfrm>
            <a:off x="8714729" y="3036508"/>
            <a:ext cx="870046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伙伴云转售</a:t>
            </a:r>
            <a:endParaRPr/>
          </a:p>
        </p:txBody>
      </p:sp>
      <p:sp>
        <p:nvSpPr>
          <p:cNvPr id="412" name="Google Shape;412;p5"/>
          <p:cNvSpPr txBox="1"/>
          <p:nvPr/>
        </p:nvSpPr>
        <p:spPr>
          <a:xfrm>
            <a:off x="8644317" y="3234543"/>
            <a:ext cx="1010872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伙伴云</a:t>
            </a: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Host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5"/>
          <p:cNvSpPr/>
          <p:nvPr/>
        </p:nvSpPr>
        <p:spPr>
          <a:xfrm>
            <a:off x="9990915" y="1933131"/>
            <a:ext cx="1430379" cy="1484391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14" name="Google Shape;414;p5"/>
          <p:cNvSpPr txBox="1"/>
          <p:nvPr/>
        </p:nvSpPr>
        <p:spPr>
          <a:xfrm>
            <a:off x="10003611" y="2112603"/>
            <a:ext cx="1343136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终端管理服务</a:t>
            </a:r>
            <a:endParaRPr/>
          </a:p>
        </p:txBody>
      </p:sp>
      <p:sp>
        <p:nvSpPr>
          <p:cNvPr id="415" name="Google Shape;415;p5"/>
          <p:cNvSpPr txBox="1"/>
          <p:nvPr/>
        </p:nvSpPr>
        <p:spPr>
          <a:xfrm>
            <a:off x="10100182" y="2500439"/>
            <a:ext cx="1211845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电脑</a:t>
            </a:r>
            <a:r>
              <a:rPr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PAD</a:t>
            </a:r>
            <a:endParaRPr/>
          </a:p>
        </p:txBody>
      </p:sp>
      <p:sp>
        <p:nvSpPr>
          <p:cNvPr id="416" name="Google Shape;416;p5"/>
          <p:cNvSpPr txBox="1"/>
          <p:nvPr/>
        </p:nvSpPr>
        <p:spPr>
          <a:xfrm>
            <a:off x="10100182" y="2772232"/>
            <a:ext cx="1211845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终端远程管理</a:t>
            </a:r>
            <a:endParaRPr/>
          </a:p>
        </p:txBody>
      </p:sp>
      <p:sp>
        <p:nvSpPr>
          <p:cNvPr id="417" name="Google Shape;417;p5"/>
          <p:cNvSpPr txBox="1"/>
          <p:nvPr/>
        </p:nvSpPr>
        <p:spPr>
          <a:xfrm>
            <a:off x="10316098" y="3036508"/>
            <a:ext cx="780016" cy="153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办公终端订阅</a:t>
            </a:r>
            <a:endParaRPr sz="10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18" name="Google Shape;418;p5"/>
          <p:cNvSpPr txBox="1"/>
          <p:nvPr/>
        </p:nvSpPr>
        <p:spPr>
          <a:xfrm>
            <a:off x="2295749" y="4003901"/>
            <a:ext cx="8735474" cy="3076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Supply: TdE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集成和软硬件转售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Margin</a:t>
            </a: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一般</a:t>
            </a: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10-20%</a:t>
            </a:r>
            <a:r>
              <a:rPr b="1" lang="zh-CN" sz="1399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1399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核心竞争力是集成能力和客户关系</a:t>
            </a:r>
            <a:endParaRPr b="1" sz="1200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19" name="Google Shape;419;p5"/>
          <p:cNvSpPr txBox="1"/>
          <p:nvPr/>
        </p:nvSpPr>
        <p:spPr>
          <a:xfrm>
            <a:off x="2758643" y="4611704"/>
            <a:ext cx="922969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企业园区网络</a:t>
            </a:r>
            <a:endParaRPr/>
          </a:p>
        </p:txBody>
      </p:sp>
      <p:sp>
        <p:nvSpPr>
          <p:cNvPr id="420" name="Google Shape;420;p5"/>
          <p:cNvSpPr txBox="1"/>
          <p:nvPr/>
        </p:nvSpPr>
        <p:spPr>
          <a:xfrm>
            <a:off x="2635151" y="5063293"/>
            <a:ext cx="1169953" cy="415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数通交换机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、WLAN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企业无线专网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（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微波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、LTE、5G）</a:t>
            </a:r>
            <a:endParaRPr/>
          </a:p>
        </p:txBody>
      </p:sp>
      <p:sp>
        <p:nvSpPr>
          <p:cNvPr id="421" name="Google Shape;421;p5"/>
          <p:cNvSpPr/>
          <p:nvPr/>
        </p:nvSpPr>
        <p:spPr>
          <a:xfrm>
            <a:off x="2429862" y="4530877"/>
            <a:ext cx="1580531" cy="1224773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22" name="Google Shape;422;p5"/>
          <p:cNvSpPr txBox="1"/>
          <p:nvPr/>
        </p:nvSpPr>
        <p:spPr>
          <a:xfrm>
            <a:off x="4435742" y="4611704"/>
            <a:ext cx="922969" cy="3691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数据中心</a:t>
            </a:r>
            <a:endParaRPr b="1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基础设施</a:t>
            </a:r>
            <a:endParaRPr/>
          </a:p>
        </p:txBody>
      </p:sp>
      <p:sp>
        <p:nvSpPr>
          <p:cNvPr id="423" name="Google Shape;423;p5"/>
          <p:cNvSpPr txBox="1"/>
          <p:nvPr/>
        </p:nvSpPr>
        <p:spPr>
          <a:xfrm>
            <a:off x="4324996" y="5063293"/>
            <a:ext cx="1242311" cy="415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计算服务器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存储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、DCN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网络</a:t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VM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软件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容器管理软件</a:t>
            </a:r>
            <a:endParaRPr/>
          </a:p>
        </p:txBody>
      </p:sp>
      <p:sp>
        <p:nvSpPr>
          <p:cNvPr id="424" name="Google Shape;424;p5"/>
          <p:cNvSpPr/>
          <p:nvPr/>
        </p:nvSpPr>
        <p:spPr>
          <a:xfrm>
            <a:off x="4119707" y="4536677"/>
            <a:ext cx="1580531" cy="1224773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25" name="Google Shape;425;p5"/>
          <p:cNvSpPr txBox="1"/>
          <p:nvPr/>
        </p:nvSpPr>
        <p:spPr>
          <a:xfrm>
            <a:off x="6214975" y="4611705"/>
            <a:ext cx="65" cy="138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26" name="Google Shape;426;p5"/>
          <p:cNvSpPr txBox="1"/>
          <p:nvPr/>
        </p:nvSpPr>
        <p:spPr>
          <a:xfrm>
            <a:off x="6163698" y="4611704"/>
            <a:ext cx="922969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企业软件</a:t>
            </a:r>
            <a:endParaRPr/>
          </a:p>
        </p:txBody>
      </p:sp>
      <p:sp>
        <p:nvSpPr>
          <p:cNvPr id="427" name="Google Shape;427;p5"/>
          <p:cNvSpPr txBox="1"/>
          <p:nvPr/>
        </p:nvSpPr>
        <p:spPr>
          <a:xfrm>
            <a:off x="6004027" y="5063292"/>
            <a:ext cx="1242311" cy="5537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ERP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软件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、CRM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软件</a:t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操作系统</a:t>
            </a: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数据分析软件</a:t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电子政务软件</a:t>
            </a:r>
            <a:endParaRPr/>
          </a:p>
        </p:txBody>
      </p:sp>
      <p:sp>
        <p:nvSpPr>
          <p:cNvPr id="428" name="Google Shape;428;p5"/>
          <p:cNvSpPr/>
          <p:nvPr/>
        </p:nvSpPr>
        <p:spPr>
          <a:xfrm>
            <a:off x="5834917" y="4536677"/>
            <a:ext cx="1580531" cy="1224773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29" name="Google Shape;429;p5"/>
          <p:cNvSpPr txBox="1"/>
          <p:nvPr/>
        </p:nvSpPr>
        <p:spPr>
          <a:xfrm>
            <a:off x="8013672" y="4611704"/>
            <a:ext cx="65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30" name="Google Shape;430;p5"/>
          <p:cNvSpPr txBox="1"/>
          <p:nvPr/>
        </p:nvSpPr>
        <p:spPr>
          <a:xfrm>
            <a:off x="8412546" y="5063293"/>
            <a:ext cx="65" cy="138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31" name="Google Shape;431;p5"/>
          <p:cNvSpPr txBox="1"/>
          <p:nvPr/>
        </p:nvSpPr>
        <p:spPr>
          <a:xfrm>
            <a:off x="7955176" y="4611704"/>
            <a:ext cx="922969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办公终端</a:t>
            </a:r>
            <a:endParaRPr/>
          </a:p>
        </p:txBody>
      </p:sp>
      <p:sp>
        <p:nvSpPr>
          <p:cNvPr id="432" name="Google Shape;432;p5"/>
          <p:cNvSpPr txBox="1"/>
          <p:nvPr/>
        </p:nvSpPr>
        <p:spPr>
          <a:xfrm>
            <a:off x="7795505" y="5063292"/>
            <a:ext cx="1242311" cy="5537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Desktop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Laptop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Chrome PC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等</a:t>
            </a:r>
            <a:endParaRPr/>
          </a:p>
        </p:txBody>
      </p:sp>
      <p:sp>
        <p:nvSpPr>
          <p:cNvPr id="433" name="Google Shape;433;p5"/>
          <p:cNvSpPr/>
          <p:nvPr/>
        </p:nvSpPr>
        <p:spPr>
          <a:xfrm>
            <a:off x="7626395" y="4542131"/>
            <a:ext cx="1580531" cy="1224773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34" name="Google Shape;434;p5"/>
          <p:cNvSpPr txBox="1"/>
          <p:nvPr/>
        </p:nvSpPr>
        <p:spPr>
          <a:xfrm>
            <a:off x="9753873" y="4611704"/>
            <a:ext cx="65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35" name="Google Shape;435;p5"/>
          <p:cNvSpPr txBox="1"/>
          <p:nvPr/>
        </p:nvSpPr>
        <p:spPr>
          <a:xfrm>
            <a:off x="10152747" y="5063293"/>
            <a:ext cx="65" cy="138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36" name="Google Shape;436;p5"/>
          <p:cNvSpPr txBox="1"/>
          <p:nvPr/>
        </p:nvSpPr>
        <p:spPr>
          <a:xfrm>
            <a:off x="9695377" y="4611704"/>
            <a:ext cx="922969" cy="184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垂直行业集成</a:t>
            </a:r>
            <a:endParaRPr/>
          </a:p>
        </p:txBody>
      </p:sp>
      <p:sp>
        <p:nvSpPr>
          <p:cNvPr id="437" name="Google Shape;437;p5"/>
          <p:cNvSpPr txBox="1"/>
          <p:nvPr/>
        </p:nvSpPr>
        <p:spPr>
          <a:xfrm>
            <a:off x="9535706" y="5063293"/>
            <a:ext cx="1242311" cy="415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安防系统集成</a:t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IOT</a:t>
            </a: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系统集成</a:t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专用设备</a:t>
            </a:r>
            <a:endParaRPr/>
          </a:p>
        </p:txBody>
      </p:sp>
      <p:sp>
        <p:nvSpPr>
          <p:cNvPr id="438" name="Google Shape;438;p5"/>
          <p:cNvSpPr/>
          <p:nvPr/>
        </p:nvSpPr>
        <p:spPr>
          <a:xfrm>
            <a:off x="9366596" y="4531532"/>
            <a:ext cx="1580531" cy="1224773"/>
          </a:xfrm>
          <a:prstGeom prst="flowChartProcess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39" name="Google Shape;439;p5"/>
          <p:cNvSpPr txBox="1"/>
          <p:nvPr/>
        </p:nvSpPr>
        <p:spPr>
          <a:xfrm>
            <a:off x="504987" y="2795844"/>
            <a:ext cx="1322223" cy="6460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7875" lIns="47875" spcFirstLastPara="1" rIns="47875" wrap="square" tIns="478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399"/>
              <a:buFont typeface="Arial"/>
              <a:buNone/>
            </a:pPr>
            <a:r>
              <a:rPr b="1" lang="zh-CN" sz="1399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2400M€/Y</a:t>
            </a:r>
            <a:endParaRPr/>
          </a:p>
        </p:txBody>
      </p:sp>
      <p:sp>
        <p:nvSpPr>
          <p:cNvPr id="440" name="Google Shape;440;p5"/>
          <p:cNvSpPr txBox="1"/>
          <p:nvPr/>
        </p:nvSpPr>
        <p:spPr>
          <a:xfrm>
            <a:off x="520118" y="4898171"/>
            <a:ext cx="1310065" cy="6460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7875" lIns="47875" spcFirstLastPara="1" rIns="47875" wrap="square" tIns="478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399"/>
              <a:buFont typeface="Arial"/>
              <a:buNone/>
            </a:pPr>
            <a:r>
              <a:rPr b="1" lang="zh-CN" sz="1399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1800M€/Y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6"/>
          <p:cNvSpPr txBox="1"/>
          <p:nvPr/>
        </p:nvSpPr>
        <p:spPr>
          <a:xfrm>
            <a:off x="343645" y="121055"/>
            <a:ext cx="11509472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WAN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联接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主营产品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收入占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33%，Vendor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为西方厂商和西班牙本土厂商</a:t>
            </a:r>
            <a:endParaRPr/>
          </a:p>
        </p:txBody>
      </p:sp>
      <p:sp>
        <p:nvSpPr>
          <p:cNvPr id="447" name="Google Shape;447;p6"/>
          <p:cNvSpPr txBox="1"/>
          <p:nvPr/>
        </p:nvSpPr>
        <p:spPr>
          <a:xfrm>
            <a:off x="939901" y="2310909"/>
            <a:ext cx="1601223" cy="6460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7875" lIns="47875" spcFirstLastPara="1" rIns="47875" wrap="square" tIns="478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399"/>
              <a:buFont typeface="Arial"/>
              <a:buNone/>
            </a:pPr>
            <a:r>
              <a:rPr b="1" i="0" lang="zh-CN" sz="1399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 </a:t>
            </a:r>
            <a:r>
              <a:rPr b="1" i="0" lang="zh-CN" sz="15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1350M€/Y</a:t>
            </a:r>
            <a:endParaRPr/>
          </a:p>
        </p:txBody>
      </p:sp>
      <p:sp>
        <p:nvSpPr>
          <p:cNvPr id="448" name="Google Shape;448;p6"/>
          <p:cNvSpPr txBox="1"/>
          <p:nvPr/>
        </p:nvSpPr>
        <p:spPr>
          <a:xfrm>
            <a:off x="1740512" y="1731711"/>
            <a:ext cx="1241035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WAN Connectivity Service</a:t>
            </a:r>
            <a:endParaRPr/>
          </a:p>
        </p:txBody>
      </p:sp>
      <p:sp>
        <p:nvSpPr>
          <p:cNvPr id="449" name="Google Shape;449;p6"/>
          <p:cNvSpPr/>
          <p:nvPr/>
        </p:nvSpPr>
        <p:spPr>
          <a:xfrm>
            <a:off x="1302889" y="1694488"/>
            <a:ext cx="393588" cy="396780"/>
          </a:xfrm>
          <a:custGeom>
            <a:rect b="b" l="l" r="r" t="t"/>
            <a:pathLst>
              <a:path extrusionOk="0" h="1137190" w="1137186">
                <a:moveTo>
                  <a:pt x="592454" y="900779"/>
                </a:moveTo>
                <a:lnTo>
                  <a:pt x="592454" y="1085108"/>
                </a:lnTo>
                <a:lnTo>
                  <a:pt x="623465" y="1079305"/>
                </a:lnTo>
                <a:cubicBezTo>
                  <a:pt x="677884" y="1058706"/>
                  <a:pt x="726980" y="1008161"/>
                  <a:pt x="765350" y="937444"/>
                </a:cubicBezTo>
                <a:lnTo>
                  <a:pt x="782614" y="900779"/>
                </a:lnTo>
                <a:close/>
                <a:moveTo>
                  <a:pt x="354600" y="900779"/>
                </a:moveTo>
                <a:lnTo>
                  <a:pt x="371849" y="937396"/>
                </a:lnTo>
                <a:cubicBezTo>
                  <a:pt x="410246" y="1008132"/>
                  <a:pt x="459377" y="1058695"/>
                  <a:pt x="513811" y="1079301"/>
                </a:cubicBezTo>
                <a:lnTo>
                  <a:pt x="544829" y="1085107"/>
                </a:lnTo>
                <a:lnTo>
                  <a:pt x="544829" y="900779"/>
                </a:lnTo>
                <a:close/>
                <a:moveTo>
                  <a:pt x="170271" y="900779"/>
                </a:moveTo>
                <a:lnTo>
                  <a:pt x="193501" y="930176"/>
                </a:lnTo>
                <a:cubicBezTo>
                  <a:pt x="217544" y="955076"/>
                  <a:pt x="244440" y="977938"/>
                  <a:pt x="274099" y="998276"/>
                </a:cubicBezTo>
                <a:cubicBezTo>
                  <a:pt x="296332" y="1013521"/>
                  <a:pt x="319452" y="1026857"/>
                  <a:pt x="343237" y="1038284"/>
                </a:cubicBezTo>
                <a:lnTo>
                  <a:pt x="409916" y="1064318"/>
                </a:lnTo>
                <a:lnTo>
                  <a:pt x="388071" y="1044365"/>
                </a:lnTo>
                <a:cubicBezTo>
                  <a:pt x="355735" y="1007605"/>
                  <a:pt x="327422" y="961156"/>
                  <a:pt x="304486" y="907263"/>
                </a:cubicBezTo>
                <a:lnTo>
                  <a:pt x="302213" y="900779"/>
                </a:lnTo>
                <a:close/>
                <a:moveTo>
                  <a:pt x="893886" y="609600"/>
                </a:moveTo>
                <a:lnTo>
                  <a:pt x="883819" y="725499"/>
                </a:lnTo>
                <a:cubicBezTo>
                  <a:pt x="878448" y="758766"/>
                  <a:pt x="871393" y="790734"/>
                  <a:pt x="862822" y="821121"/>
                </a:cubicBezTo>
                <a:lnTo>
                  <a:pt x="851632" y="853154"/>
                </a:lnTo>
                <a:lnTo>
                  <a:pt x="981369" y="853154"/>
                </a:lnTo>
                <a:lnTo>
                  <a:pt x="982815" y="850019"/>
                </a:lnTo>
                <a:lnTo>
                  <a:pt x="1011313" y="839490"/>
                </a:lnTo>
                <a:lnTo>
                  <a:pt x="1048958" y="770681"/>
                </a:lnTo>
                <a:cubicBezTo>
                  <a:pt x="1062412" y="738790"/>
                  <a:pt x="1072471" y="706025"/>
                  <a:pt x="1079223" y="672872"/>
                </a:cubicBezTo>
                <a:lnTo>
                  <a:pt x="1085813" y="609600"/>
                </a:lnTo>
                <a:close/>
                <a:moveTo>
                  <a:pt x="592454" y="609600"/>
                </a:moveTo>
                <a:lnTo>
                  <a:pt x="592454" y="853154"/>
                </a:lnTo>
                <a:lnTo>
                  <a:pt x="801697" y="853154"/>
                </a:lnTo>
                <a:lnTo>
                  <a:pt x="814186" y="817459"/>
                </a:lnTo>
                <a:cubicBezTo>
                  <a:pt x="827333" y="773236"/>
                  <a:pt x="837123" y="725190"/>
                  <a:pt x="842881" y="674545"/>
                </a:cubicBezTo>
                <a:lnTo>
                  <a:pt x="847104" y="609600"/>
                </a:lnTo>
                <a:close/>
                <a:moveTo>
                  <a:pt x="290085" y="609600"/>
                </a:moveTo>
                <a:lnTo>
                  <a:pt x="294286" y="674454"/>
                </a:lnTo>
                <a:cubicBezTo>
                  <a:pt x="300037" y="725103"/>
                  <a:pt x="309829" y="773154"/>
                  <a:pt x="322982" y="817386"/>
                </a:cubicBezTo>
                <a:lnTo>
                  <a:pt x="335502" y="853154"/>
                </a:lnTo>
                <a:lnTo>
                  <a:pt x="544829" y="853154"/>
                </a:lnTo>
                <a:lnTo>
                  <a:pt x="544829" y="609600"/>
                </a:lnTo>
                <a:close/>
                <a:moveTo>
                  <a:pt x="51742" y="609600"/>
                </a:moveTo>
                <a:lnTo>
                  <a:pt x="56596" y="664133"/>
                </a:lnTo>
                <a:cubicBezTo>
                  <a:pt x="68814" y="729662"/>
                  <a:pt x="93530" y="792859"/>
                  <a:pt x="130022" y="849844"/>
                </a:cubicBezTo>
                <a:lnTo>
                  <a:pt x="132638" y="853154"/>
                </a:lnTo>
                <a:lnTo>
                  <a:pt x="285515" y="853154"/>
                </a:lnTo>
                <a:lnTo>
                  <a:pt x="274285" y="821121"/>
                </a:lnTo>
                <a:cubicBezTo>
                  <a:pt x="265675" y="790734"/>
                  <a:pt x="258579" y="758766"/>
                  <a:pt x="253165" y="725499"/>
                </a:cubicBezTo>
                <a:lnTo>
                  <a:pt x="242952" y="609600"/>
                </a:lnTo>
                <a:close/>
                <a:moveTo>
                  <a:pt x="720852" y="331565"/>
                </a:moveTo>
                <a:lnTo>
                  <a:pt x="772096" y="331565"/>
                </a:lnTo>
                <a:lnTo>
                  <a:pt x="801719" y="441864"/>
                </a:lnTo>
                <a:lnTo>
                  <a:pt x="833914" y="331565"/>
                </a:lnTo>
                <a:lnTo>
                  <a:pt x="876110" y="331565"/>
                </a:lnTo>
                <a:lnTo>
                  <a:pt x="907161" y="441674"/>
                </a:lnTo>
                <a:lnTo>
                  <a:pt x="936308" y="331565"/>
                </a:lnTo>
                <a:lnTo>
                  <a:pt x="985266" y="331565"/>
                </a:lnTo>
                <a:lnTo>
                  <a:pt x="929259" y="518827"/>
                </a:lnTo>
                <a:lnTo>
                  <a:pt x="883825" y="518827"/>
                </a:lnTo>
                <a:lnTo>
                  <a:pt x="853916" y="413099"/>
                </a:lnTo>
                <a:lnTo>
                  <a:pt x="821817" y="518827"/>
                </a:lnTo>
                <a:lnTo>
                  <a:pt x="777240" y="518827"/>
                </a:lnTo>
                <a:close/>
                <a:moveTo>
                  <a:pt x="445484" y="331565"/>
                </a:moveTo>
                <a:lnTo>
                  <a:pt x="496729" y="331565"/>
                </a:lnTo>
                <a:lnTo>
                  <a:pt x="526447" y="441864"/>
                </a:lnTo>
                <a:lnTo>
                  <a:pt x="558546" y="331565"/>
                </a:lnTo>
                <a:lnTo>
                  <a:pt x="600837" y="331565"/>
                </a:lnTo>
                <a:lnTo>
                  <a:pt x="631888" y="441674"/>
                </a:lnTo>
                <a:lnTo>
                  <a:pt x="660939" y="331565"/>
                </a:lnTo>
                <a:lnTo>
                  <a:pt x="709898" y="331565"/>
                </a:lnTo>
                <a:lnTo>
                  <a:pt x="653891" y="518827"/>
                </a:lnTo>
                <a:lnTo>
                  <a:pt x="608552" y="518827"/>
                </a:lnTo>
                <a:lnTo>
                  <a:pt x="578644" y="413099"/>
                </a:lnTo>
                <a:lnTo>
                  <a:pt x="546449" y="518827"/>
                </a:lnTo>
                <a:lnTo>
                  <a:pt x="501872" y="518827"/>
                </a:lnTo>
                <a:close/>
                <a:moveTo>
                  <a:pt x="170211" y="331565"/>
                </a:moveTo>
                <a:lnTo>
                  <a:pt x="221360" y="331565"/>
                </a:lnTo>
                <a:lnTo>
                  <a:pt x="251078" y="441864"/>
                </a:lnTo>
                <a:lnTo>
                  <a:pt x="283177" y="331565"/>
                </a:lnTo>
                <a:lnTo>
                  <a:pt x="325468" y="331565"/>
                </a:lnTo>
                <a:lnTo>
                  <a:pt x="356520" y="441674"/>
                </a:lnTo>
                <a:lnTo>
                  <a:pt x="385571" y="331565"/>
                </a:lnTo>
                <a:lnTo>
                  <a:pt x="434625" y="331565"/>
                </a:lnTo>
                <a:lnTo>
                  <a:pt x="378523" y="518827"/>
                </a:lnTo>
                <a:lnTo>
                  <a:pt x="333184" y="518827"/>
                </a:lnTo>
                <a:lnTo>
                  <a:pt x="303275" y="413099"/>
                </a:lnTo>
                <a:lnTo>
                  <a:pt x="271176" y="518827"/>
                </a:lnTo>
                <a:lnTo>
                  <a:pt x="226599" y="518827"/>
                </a:lnTo>
                <a:close/>
                <a:moveTo>
                  <a:pt x="133147" y="284892"/>
                </a:moveTo>
                <a:lnTo>
                  <a:pt x="88430" y="366629"/>
                </a:lnTo>
                <a:cubicBezTo>
                  <a:pt x="74976" y="398520"/>
                  <a:pt x="64918" y="431285"/>
                  <a:pt x="58165" y="464438"/>
                </a:cubicBezTo>
                <a:lnTo>
                  <a:pt x="48006" y="561975"/>
                </a:lnTo>
                <a:lnTo>
                  <a:pt x="264161" y="561975"/>
                </a:lnTo>
                <a:lnTo>
                  <a:pt x="264271" y="561927"/>
                </a:lnTo>
                <a:lnTo>
                  <a:pt x="264393" y="561975"/>
                </a:lnTo>
                <a:lnTo>
                  <a:pt x="568642" y="561975"/>
                </a:lnTo>
                <a:lnTo>
                  <a:pt x="872490" y="561975"/>
                </a:lnTo>
                <a:lnTo>
                  <a:pt x="1088696" y="561975"/>
                </a:lnTo>
                <a:lnTo>
                  <a:pt x="1080792" y="473178"/>
                </a:lnTo>
                <a:cubicBezTo>
                  <a:pt x="1068574" y="407650"/>
                  <a:pt x="1043858" y="344451"/>
                  <a:pt x="1007366" y="287466"/>
                </a:cubicBezTo>
                <a:lnTo>
                  <a:pt x="1005332" y="284892"/>
                </a:lnTo>
                <a:lnTo>
                  <a:pt x="819632" y="284892"/>
                </a:lnTo>
                <a:lnTo>
                  <a:pt x="819626" y="284893"/>
                </a:lnTo>
                <a:lnTo>
                  <a:pt x="819623" y="284892"/>
                </a:lnTo>
                <a:lnTo>
                  <a:pt x="568644" y="284892"/>
                </a:lnTo>
                <a:lnTo>
                  <a:pt x="568642" y="284893"/>
                </a:lnTo>
                <a:lnTo>
                  <a:pt x="568640" y="284892"/>
                </a:lnTo>
                <a:close/>
                <a:moveTo>
                  <a:pt x="731534" y="76267"/>
                </a:moveTo>
                <a:lnTo>
                  <a:pt x="789049" y="146389"/>
                </a:lnTo>
                <a:lnTo>
                  <a:pt x="834200" y="237267"/>
                </a:lnTo>
                <a:lnTo>
                  <a:pt x="967698" y="237267"/>
                </a:lnTo>
                <a:lnTo>
                  <a:pt x="943887" y="207134"/>
                </a:lnTo>
                <a:cubicBezTo>
                  <a:pt x="919844" y="182234"/>
                  <a:pt x="892948" y="159373"/>
                  <a:pt x="863289" y="139035"/>
                </a:cubicBezTo>
                <a:cubicBezTo>
                  <a:pt x="833630" y="118697"/>
                  <a:pt x="802612" y="101847"/>
                  <a:pt x="770720" y="88392"/>
                </a:cubicBezTo>
                <a:close/>
                <a:moveTo>
                  <a:pt x="406566" y="75714"/>
                </a:moveTo>
                <a:lnTo>
                  <a:pt x="377157" y="84167"/>
                </a:lnTo>
                <a:cubicBezTo>
                  <a:pt x="307151" y="111770"/>
                  <a:pt x="242551" y="154734"/>
                  <a:pt x="188887" y="212028"/>
                </a:cubicBezTo>
                <a:lnTo>
                  <a:pt x="168619" y="237267"/>
                </a:lnTo>
                <a:lnTo>
                  <a:pt x="302671" y="237267"/>
                </a:lnTo>
                <a:lnTo>
                  <a:pt x="350874" y="142290"/>
                </a:lnTo>
                <a:close/>
                <a:moveTo>
                  <a:pt x="592454" y="50350"/>
                </a:moveTo>
                <a:lnTo>
                  <a:pt x="592454" y="237267"/>
                </a:lnTo>
                <a:lnTo>
                  <a:pt x="782054" y="237267"/>
                </a:lnTo>
                <a:lnTo>
                  <a:pt x="758112" y="186681"/>
                </a:lnTo>
                <a:cubicBezTo>
                  <a:pt x="714829" y="112409"/>
                  <a:pt x="660242" y="64796"/>
                  <a:pt x="602159" y="51461"/>
                </a:cubicBezTo>
                <a:close/>
                <a:moveTo>
                  <a:pt x="544829" y="50318"/>
                </a:moveTo>
                <a:lnTo>
                  <a:pt x="535728" y="51347"/>
                </a:lnTo>
                <a:cubicBezTo>
                  <a:pt x="478634" y="64284"/>
                  <a:pt x="424687" y="110478"/>
                  <a:pt x="381803" y="182555"/>
                </a:cubicBezTo>
                <a:lnTo>
                  <a:pt x="355339" y="237267"/>
                </a:lnTo>
                <a:lnTo>
                  <a:pt x="544829" y="237267"/>
                </a:lnTo>
                <a:close/>
                <a:moveTo>
                  <a:pt x="568642" y="0"/>
                </a:moveTo>
                <a:cubicBezTo>
                  <a:pt x="582465" y="0"/>
                  <a:pt x="596151" y="1475"/>
                  <a:pt x="609638" y="4365"/>
                </a:cubicBezTo>
                <a:lnTo>
                  <a:pt x="609822" y="4424"/>
                </a:lnTo>
                <a:lnTo>
                  <a:pt x="683387" y="11853"/>
                </a:lnTo>
                <a:cubicBezTo>
                  <a:pt x="812900" y="38377"/>
                  <a:pt x="926361" y="108945"/>
                  <a:pt x="1007438" y="207220"/>
                </a:cubicBezTo>
                <a:lnTo>
                  <a:pt x="1032251" y="243038"/>
                </a:lnTo>
                <a:lnTo>
                  <a:pt x="1035155" y="244242"/>
                </a:lnTo>
                <a:lnTo>
                  <a:pt x="1038236" y="251678"/>
                </a:lnTo>
                <a:lnTo>
                  <a:pt x="1061919" y="285866"/>
                </a:lnTo>
                <a:cubicBezTo>
                  <a:pt x="1109817" y="369197"/>
                  <a:pt x="1137203" y="465815"/>
                  <a:pt x="1137186" y="568829"/>
                </a:cubicBezTo>
                <a:lnTo>
                  <a:pt x="1135926" y="585495"/>
                </a:lnTo>
                <a:lnTo>
                  <a:pt x="1136047" y="585788"/>
                </a:lnTo>
                <a:lnTo>
                  <a:pt x="1135871" y="586212"/>
                </a:lnTo>
                <a:lnTo>
                  <a:pt x="1130735" y="654138"/>
                </a:lnTo>
                <a:cubicBezTo>
                  <a:pt x="1124326" y="696310"/>
                  <a:pt x="1113196" y="737587"/>
                  <a:pt x="1097587" y="777190"/>
                </a:cubicBezTo>
                <a:lnTo>
                  <a:pt x="1054675" y="857980"/>
                </a:lnTo>
                <a:lnTo>
                  <a:pt x="1065922" y="888206"/>
                </a:lnTo>
                <a:cubicBezTo>
                  <a:pt x="1065460" y="900874"/>
                  <a:pt x="1060165" y="913365"/>
                  <a:pt x="1050148" y="922677"/>
                </a:cubicBezTo>
                <a:cubicBezTo>
                  <a:pt x="1050110" y="922712"/>
                  <a:pt x="1050073" y="922747"/>
                  <a:pt x="1050035" y="922782"/>
                </a:cubicBezTo>
                <a:cubicBezTo>
                  <a:pt x="1029942" y="941344"/>
                  <a:pt x="998606" y="940103"/>
                  <a:pt x="980044" y="920010"/>
                </a:cubicBezTo>
                <a:lnTo>
                  <a:pt x="972956" y="900779"/>
                </a:lnTo>
                <a:lnTo>
                  <a:pt x="834994" y="900779"/>
                </a:lnTo>
                <a:lnTo>
                  <a:pt x="832729" y="907263"/>
                </a:lnTo>
                <a:cubicBezTo>
                  <a:pt x="809859" y="961156"/>
                  <a:pt x="781598" y="1007605"/>
                  <a:pt x="749289" y="1044365"/>
                </a:cubicBezTo>
                <a:lnTo>
                  <a:pt x="727294" y="1064464"/>
                </a:lnTo>
                <a:lnTo>
                  <a:pt x="795150" y="1037803"/>
                </a:lnTo>
                <a:lnTo>
                  <a:pt x="859690" y="1000272"/>
                </a:lnTo>
                <a:lnTo>
                  <a:pt x="855163" y="988063"/>
                </a:lnTo>
                <a:cubicBezTo>
                  <a:pt x="855641" y="975372"/>
                  <a:pt x="860961" y="962864"/>
                  <a:pt x="871009" y="953545"/>
                </a:cubicBezTo>
                <a:cubicBezTo>
                  <a:pt x="891105" y="934908"/>
                  <a:pt x="922503" y="936091"/>
                  <a:pt x="941140" y="956187"/>
                </a:cubicBezTo>
                <a:cubicBezTo>
                  <a:pt x="941148" y="956196"/>
                  <a:pt x="941157" y="956205"/>
                  <a:pt x="941165" y="956214"/>
                </a:cubicBezTo>
                <a:cubicBezTo>
                  <a:pt x="959777" y="976313"/>
                  <a:pt x="958583" y="1007691"/>
                  <a:pt x="938498" y="1026318"/>
                </a:cubicBezTo>
                <a:cubicBezTo>
                  <a:pt x="928450" y="1035636"/>
                  <a:pt x="915577" y="1040000"/>
                  <a:pt x="902885" y="1039522"/>
                </a:cubicBezTo>
                <a:lnTo>
                  <a:pt x="893217" y="1035084"/>
                </a:lnTo>
                <a:lnTo>
                  <a:pt x="892865" y="1035682"/>
                </a:lnTo>
                <a:cubicBezTo>
                  <a:pt x="892344" y="1036075"/>
                  <a:pt x="891806" y="1036446"/>
                  <a:pt x="891254" y="1036795"/>
                </a:cubicBezTo>
                <a:cubicBezTo>
                  <a:pt x="820173" y="1085993"/>
                  <a:pt x="739079" y="1117999"/>
                  <a:pt x="654349" y="1130827"/>
                </a:cubicBezTo>
                <a:lnTo>
                  <a:pt x="568645" y="1137189"/>
                </a:lnTo>
                <a:lnTo>
                  <a:pt x="568642" y="1137190"/>
                </a:lnTo>
                <a:lnTo>
                  <a:pt x="568639" y="1137189"/>
                </a:lnTo>
                <a:lnTo>
                  <a:pt x="468018" y="1128294"/>
                </a:lnTo>
                <a:cubicBezTo>
                  <a:pt x="325132" y="1102747"/>
                  <a:pt x="200751" y="1023813"/>
                  <a:pt x="116245" y="912867"/>
                </a:cubicBezTo>
                <a:lnTo>
                  <a:pt x="104492" y="894823"/>
                </a:lnTo>
                <a:lnTo>
                  <a:pt x="102034" y="893805"/>
                </a:lnTo>
                <a:lnTo>
                  <a:pt x="98898" y="886234"/>
                </a:lnTo>
                <a:lnTo>
                  <a:pt x="70496" y="842629"/>
                </a:lnTo>
                <a:cubicBezTo>
                  <a:pt x="43415" y="793471"/>
                  <a:pt x="23398" y="739876"/>
                  <a:pt x="11812" y="683210"/>
                </a:cubicBezTo>
                <a:lnTo>
                  <a:pt x="2652" y="592189"/>
                </a:lnTo>
                <a:lnTo>
                  <a:pt x="0" y="585788"/>
                </a:lnTo>
                <a:lnTo>
                  <a:pt x="1615" y="581889"/>
                </a:lnTo>
                <a:lnTo>
                  <a:pt x="282" y="568645"/>
                </a:lnTo>
                <a:cubicBezTo>
                  <a:pt x="299" y="465631"/>
                  <a:pt x="27716" y="369021"/>
                  <a:pt x="75641" y="285706"/>
                </a:cubicBezTo>
                <a:lnTo>
                  <a:pt x="98542" y="252670"/>
                </a:lnTo>
                <a:lnTo>
                  <a:pt x="102034" y="244242"/>
                </a:lnTo>
                <a:lnTo>
                  <a:pt x="105332" y="242875"/>
                </a:lnTo>
                <a:lnTo>
                  <a:pt x="130148" y="207078"/>
                </a:lnTo>
                <a:cubicBezTo>
                  <a:pt x="211257" y="108829"/>
                  <a:pt x="324740" y="38297"/>
                  <a:pt x="454261" y="11815"/>
                </a:cubicBezTo>
                <a:lnTo>
                  <a:pt x="527765" y="4418"/>
                </a:lnTo>
                <a:lnTo>
                  <a:pt x="528305" y="4246"/>
                </a:lnTo>
                <a:cubicBezTo>
                  <a:pt x="541590" y="1435"/>
                  <a:pt x="555057" y="0"/>
                  <a:pt x="568642" y="0"/>
                </a:cubicBezTo>
                <a:close/>
              </a:path>
            </a:pathLst>
          </a:cu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6"/>
          <p:cNvSpPr/>
          <p:nvPr/>
        </p:nvSpPr>
        <p:spPr>
          <a:xfrm>
            <a:off x="2692940" y="2349553"/>
            <a:ext cx="665284" cy="718672"/>
          </a:xfrm>
          <a:prstGeom prst="pie">
            <a:avLst>
              <a:gd fmla="val 8676315" name="adj1"/>
              <a:gd fmla="val 16200000" name="adj2"/>
            </a:avLst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6"/>
          <p:cNvSpPr txBox="1"/>
          <p:nvPr/>
        </p:nvSpPr>
        <p:spPr>
          <a:xfrm>
            <a:off x="3066079" y="2289586"/>
            <a:ext cx="665284" cy="6460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7875" lIns="47875" spcFirstLastPara="1" rIns="47875" wrap="square" tIns="478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33% 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0" i="0" lang="zh-CN" sz="11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</a:t>
            </a:r>
            <a:endParaRPr b="0" i="0" sz="12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52" name="Google Shape;452;p6"/>
          <p:cNvSpPr/>
          <p:nvPr/>
        </p:nvSpPr>
        <p:spPr>
          <a:xfrm>
            <a:off x="697569" y="1467617"/>
            <a:ext cx="3224718" cy="459472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6"/>
          <p:cNvSpPr/>
          <p:nvPr/>
        </p:nvSpPr>
        <p:spPr>
          <a:xfrm>
            <a:off x="4114374" y="1467616"/>
            <a:ext cx="7056619" cy="459472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6"/>
          <p:cNvSpPr txBox="1"/>
          <p:nvPr/>
        </p:nvSpPr>
        <p:spPr>
          <a:xfrm>
            <a:off x="4114375" y="1731711"/>
            <a:ext cx="6992983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由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类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Catalog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组成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，Vendor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提供的设备空间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100M/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主要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Vendor 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西方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Forti/Cisco, 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本土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Teldat/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马可波罗</a:t>
            </a:r>
            <a:endParaRPr/>
          </a:p>
        </p:txBody>
      </p:sp>
      <p:sp>
        <p:nvSpPr>
          <p:cNvPr id="455" name="Google Shape;455;p6"/>
          <p:cNvSpPr/>
          <p:nvPr/>
        </p:nvSpPr>
        <p:spPr>
          <a:xfrm>
            <a:off x="784083" y="3489842"/>
            <a:ext cx="881166" cy="590792"/>
          </a:xfrm>
          <a:prstGeom prst="cloud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6"/>
          <p:cNvSpPr txBox="1"/>
          <p:nvPr/>
        </p:nvSpPr>
        <p:spPr>
          <a:xfrm>
            <a:off x="860702" y="3642886"/>
            <a:ext cx="780919" cy="2564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67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大网</a:t>
            </a:r>
            <a:endParaRPr sz="1067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pic>
        <p:nvPicPr>
          <p:cNvPr id="457" name="Google Shape;45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854182" y="4560380"/>
            <a:ext cx="898976" cy="128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6"/>
          <p:cNvSpPr txBox="1"/>
          <p:nvPr/>
        </p:nvSpPr>
        <p:spPr>
          <a:xfrm>
            <a:off x="826170" y="4195440"/>
            <a:ext cx="338697" cy="420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67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专线</a:t>
            </a:r>
            <a:endParaRPr sz="1067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59" name="Google Shape;459;p6"/>
          <p:cNvSpPr/>
          <p:nvPr/>
        </p:nvSpPr>
        <p:spPr>
          <a:xfrm>
            <a:off x="982528" y="5205875"/>
            <a:ext cx="732229" cy="231008"/>
          </a:xfrm>
          <a:prstGeom prst="flowChartProcess">
            <a:avLst/>
          </a:prstGeom>
          <a:noFill/>
          <a:ln cap="flat" cmpd="sng" w="28575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6"/>
          <p:cNvSpPr txBox="1"/>
          <p:nvPr/>
        </p:nvSpPr>
        <p:spPr>
          <a:xfrm>
            <a:off x="1029160" y="5210841"/>
            <a:ext cx="685596" cy="2564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CPE</a:t>
            </a: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6"/>
          <p:cNvSpPr txBox="1"/>
          <p:nvPr/>
        </p:nvSpPr>
        <p:spPr>
          <a:xfrm>
            <a:off x="1127313" y="5530353"/>
            <a:ext cx="1226398" cy="2307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收入中占比</a:t>
            </a:r>
            <a:r>
              <a:rPr lang="zh-CN" sz="9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5%-10%</a:t>
            </a:r>
            <a:endParaRPr sz="9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6"/>
          <p:cNvSpPr/>
          <p:nvPr/>
        </p:nvSpPr>
        <p:spPr>
          <a:xfrm>
            <a:off x="1733971" y="3654320"/>
            <a:ext cx="806472" cy="245011"/>
          </a:xfrm>
          <a:prstGeom prst="rect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50"/>
              <a:buFont typeface="Arial"/>
              <a:buNone/>
            </a:pPr>
            <a:r>
              <a:rPr b="1" i="0" lang="zh-CN" sz="10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NOC</a:t>
            </a:r>
            <a:r>
              <a:rPr b="1" i="0" lang="zh-CN" sz="105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中心</a:t>
            </a:r>
            <a:endParaRPr/>
          </a:p>
        </p:txBody>
      </p:sp>
      <p:cxnSp>
        <p:nvCxnSpPr>
          <p:cNvPr id="463" name="Google Shape;463;p6"/>
          <p:cNvCxnSpPr>
            <a:stCxn id="460" idx="0"/>
            <a:endCxn id="462" idx="2"/>
          </p:cNvCxnSpPr>
          <p:nvPr/>
        </p:nvCxnSpPr>
        <p:spPr>
          <a:xfrm flipH="1" rot="10800000">
            <a:off x="1371958" y="3899241"/>
            <a:ext cx="765300" cy="1311600"/>
          </a:xfrm>
          <a:prstGeom prst="straightConnector1">
            <a:avLst/>
          </a:prstGeom>
          <a:noFill/>
          <a:ln cap="flat" cmpd="sng" w="9525">
            <a:solidFill>
              <a:srgbClr val="1D1D1A"/>
            </a:solidFill>
            <a:prstDash val="dashDot"/>
            <a:miter lim="8000"/>
            <a:headEnd len="sm" w="sm" type="none"/>
            <a:tailEnd len="sm" w="sm" type="none"/>
          </a:ln>
        </p:spPr>
      </p:cxnSp>
      <p:sp>
        <p:nvSpPr>
          <p:cNvPr id="464" name="Google Shape;464;p6"/>
          <p:cNvSpPr txBox="1"/>
          <p:nvPr/>
        </p:nvSpPr>
        <p:spPr>
          <a:xfrm>
            <a:off x="2078779" y="4101322"/>
            <a:ext cx="1601223" cy="12377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大网及专线连接及远程管理</a:t>
            </a:r>
            <a:r>
              <a:rPr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T.Tech</a:t>
            </a:r>
            <a:r>
              <a:rPr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FlexWAN</a:t>
            </a:r>
            <a:r>
              <a:rPr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管理服务及平台</a:t>
            </a: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CPE</a:t>
            </a:r>
            <a:r>
              <a:rPr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</a:t>
            </a:r>
            <a:endParaRPr sz="1100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cxnSp>
        <p:nvCxnSpPr>
          <p:cNvPr id="465" name="Google Shape;465;p6"/>
          <p:cNvCxnSpPr/>
          <p:nvPr/>
        </p:nvCxnSpPr>
        <p:spPr>
          <a:xfrm>
            <a:off x="4726413" y="3420309"/>
            <a:ext cx="5731618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66" name="Google Shape;466;p6"/>
          <p:cNvCxnSpPr/>
          <p:nvPr/>
        </p:nvCxnSpPr>
        <p:spPr>
          <a:xfrm>
            <a:off x="4726413" y="4704438"/>
            <a:ext cx="5731618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67" name="Google Shape;467;p6"/>
          <p:cNvCxnSpPr/>
          <p:nvPr/>
        </p:nvCxnSpPr>
        <p:spPr>
          <a:xfrm rot="10800000">
            <a:off x="5806726" y="2365533"/>
            <a:ext cx="0" cy="347157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68" name="Google Shape;468;p6"/>
          <p:cNvCxnSpPr/>
          <p:nvPr/>
        </p:nvCxnSpPr>
        <p:spPr>
          <a:xfrm rot="10800000">
            <a:off x="8249957" y="2365533"/>
            <a:ext cx="0" cy="347157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69" name="Google Shape;469;p6"/>
          <p:cNvSpPr txBox="1"/>
          <p:nvPr/>
        </p:nvSpPr>
        <p:spPr>
          <a:xfrm>
            <a:off x="4114374" y="2192371"/>
            <a:ext cx="1713286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通过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Catalog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方式提供</a:t>
            </a:r>
            <a:endParaRPr/>
          </a:p>
        </p:txBody>
      </p:sp>
      <p:sp>
        <p:nvSpPr>
          <p:cNvPr id="470" name="Google Shape;470;p6"/>
          <p:cNvSpPr txBox="1"/>
          <p:nvPr/>
        </p:nvSpPr>
        <p:spPr>
          <a:xfrm>
            <a:off x="5834500" y="2192371"/>
            <a:ext cx="2394523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提供的产品</a:t>
            </a:r>
            <a:endParaRPr/>
          </a:p>
        </p:txBody>
      </p:sp>
      <p:sp>
        <p:nvSpPr>
          <p:cNvPr id="471" name="Google Shape;471;p6"/>
          <p:cNvSpPr txBox="1"/>
          <p:nvPr/>
        </p:nvSpPr>
        <p:spPr>
          <a:xfrm>
            <a:off x="8256796" y="2192371"/>
            <a:ext cx="2526592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的份额</a:t>
            </a:r>
            <a:endParaRPr/>
          </a:p>
        </p:txBody>
      </p:sp>
      <p:sp>
        <p:nvSpPr>
          <p:cNvPr id="472" name="Google Shape;472;p6"/>
          <p:cNvSpPr txBox="1"/>
          <p:nvPr/>
        </p:nvSpPr>
        <p:spPr>
          <a:xfrm>
            <a:off x="4337338" y="2626937"/>
            <a:ext cx="1320443" cy="477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VPN-IP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设备空间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：40M$</a:t>
            </a:r>
            <a:endParaRPr b="1" i="0" sz="11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6"/>
          <p:cNvSpPr txBox="1"/>
          <p:nvPr/>
        </p:nvSpPr>
        <p:spPr>
          <a:xfrm>
            <a:off x="4337337" y="3811770"/>
            <a:ext cx="1320443" cy="690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FlexWAN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设备空间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：45M$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900"/>
              <a:buFont typeface="Arial"/>
              <a:buNone/>
            </a:pPr>
            <a:r>
              <a:rPr b="1" i="0" lang="zh-CN" sz="9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T.Tech</a:t>
            </a:r>
            <a:r>
              <a:rPr b="1" i="0" lang="zh-CN" sz="9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提供管理平台</a:t>
            </a:r>
            <a:endParaRPr b="1" i="0" sz="9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74" name="Google Shape;474;p6"/>
          <p:cNvSpPr txBox="1"/>
          <p:nvPr/>
        </p:nvSpPr>
        <p:spPr>
          <a:xfrm>
            <a:off x="4390585" y="4915692"/>
            <a:ext cx="1320443" cy="983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Movistar Fusion Fiber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设备空间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：20M$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针对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SME</a:t>
            </a: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市场</a:t>
            </a:r>
            <a:endParaRPr/>
          </a:p>
        </p:txBody>
      </p:sp>
      <p:sp>
        <p:nvSpPr>
          <p:cNvPr id="475" name="Google Shape;475;p6"/>
          <p:cNvSpPr txBox="1"/>
          <p:nvPr/>
        </p:nvSpPr>
        <p:spPr>
          <a:xfrm>
            <a:off x="6006379" y="2554974"/>
            <a:ext cx="2043925" cy="676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高端企业级路由器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：Cisco ASR1000; Juniper MX; Huawei AR;</a:t>
            </a:r>
            <a:endParaRPr/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中低端路由器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：Teldat SDE</a:t>
            </a:r>
            <a:endParaRPr/>
          </a:p>
        </p:txBody>
      </p:sp>
      <p:sp>
        <p:nvSpPr>
          <p:cNvPr id="476" name="Google Shape;476;p6"/>
          <p:cNvSpPr/>
          <p:nvPr/>
        </p:nvSpPr>
        <p:spPr>
          <a:xfrm>
            <a:off x="8778946" y="2554975"/>
            <a:ext cx="167764" cy="570401"/>
          </a:xfrm>
          <a:prstGeom prst="rect">
            <a:avLst/>
          </a:prstGeom>
          <a:solidFill>
            <a:srgbClr val="026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6"/>
          <p:cNvSpPr txBox="1"/>
          <p:nvPr/>
        </p:nvSpPr>
        <p:spPr>
          <a:xfrm>
            <a:off x="8515247" y="3125376"/>
            <a:ext cx="695162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Cisco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6"/>
          <p:cNvSpPr txBox="1"/>
          <p:nvPr/>
        </p:nvSpPr>
        <p:spPr>
          <a:xfrm>
            <a:off x="10115147" y="3118148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Huawei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6"/>
          <p:cNvSpPr/>
          <p:nvPr/>
        </p:nvSpPr>
        <p:spPr>
          <a:xfrm>
            <a:off x="10439454" y="2935664"/>
            <a:ext cx="167764" cy="1852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6"/>
          <p:cNvSpPr txBox="1"/>
          <p:nvPr/>
        </p:nvSpPr>
        <p:spPr>
          <a:xfrm>
            <a:off x="9289556" y="3122644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Teldat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6"/>
          <p:cNvSpPr/>
          <p:nvPr/>
        </p:nvSpPr>
        <p:spPr>
          <a:xfrm>
            <a:off x="9616073" y="2673218"/>
            <a:ext cx="163342" cy="452157"/>
          </a:xfrm>
          <a:prstGeom prst="rect">
            <a:avLst/>
          </a:prstGeom>
          <a:solidFill>
            <a:srgbClr val="2487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6"/>
          <p:cNvSpPr txBox="1"/>
          <p:nvPr/>
        </p:nvSpPr>
        <p:spPr>
          <a:xfrm>
            <a:off x="10115146" y="2673219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6"/>
          <p:cNvSpPr txBox="1"/>
          <p:nvPr/>
        </p:nvSpPr>
        <p:spPr>
          <a:xfrm>
            <a:off x="9289556" y="2442288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15M$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6"/>
          <p:cNvSpPr txBox="1"/>
          <p:nvPr/>
        </p:nvSpPr>
        <p:spPr>
          <a:xfrm>
            <a:off x="8637128" y="2329601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20M$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6"/>
          <p:cNvSpPr txBox="1"/>
          <p:nvPr/>
        </p:nvSpPr>
        <p:spPr>
          <a:xfrm>
            <a:off x="6006379" y="3704835"/>
            <a:ext cx="2043925" cy="8460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SD-WAN CPE ：FortiGate； Meraki MX; Teldat SDE；Nokia ； Aruba EC；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SASE CPE : FortiGate</a:t>
            </a:r>
            <a:endParaRPr/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5G CPE: Teldat Celer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6"/>
          <p:cNvCxnSpPr/>
          <p:nvPr/>
        </p:nvCxnSpPr>
        <p:spPr>
          <a:xfrm>
            <a:off x="8449611" y="3115235"/>
            <a:ext cx="2356786" cy="0"/>
          </a:xfrm>
          <a:prstGeom prst="straightConnector1">
            <a:avLst/>
          </a:prstGeom>
          <a:noFill/>
          <a:ln cap="flat" cmpd="sng" w="9525">
            <a:solidFill>
              <a:srgbClr val="E9002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87" name="Google Shape;487;p6"/>
          <p:cNvSpPr/>
          <p:nvPr/>
        </p:nvSpPr>
        <p:spPr>
          <a:xfrm>
            <a:off x="8799967" y="3850739"/>
            <a:ext cx="167764" cy="570401"/>
          </a:xfrm>
          <a:prstGeom prst="rect">
            <a:avLst/>
          </a:prstGeom>
          <a:solidFill>
            <a:srgbClr val="FFA6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6"/>
          <p:cNvSpPr txBox="1"/>
          <p:nvPr/>
        </p:nvSpPr>
        <p:spPr>
          <a:xfrm>
            <a:off x="8536268" y="4421141"/>
            <a:ext cx="695162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Fortinet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6"/>
          <p:cNvSpPr txBox="1"/>
          <p:nvPr/>
        </p:nvSpPr>
        <p:spPr>
          <a:xfrm>
            <a:off x="9546093" y="4413913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Cisco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6"/>
          <p:cNvSpPr/>
          <p:nvPr/>
        </p:nvSpPr>
        <p:spPr>
          <a:xfrm>
            <a:off x="9870400" y="4231429"/>
            <a:ext cx="167764" cy="185215"/>
          </a:xfrm>
          <a:prstGeom prst="rect">
            <a:avLst/>
          </a:prstGeom>
          <a:solidFill>
            <a:srgbClr val="026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6"/>
          <p:cNvSpPr txBox="1"/>
          <p:nvPr/>
        </p:nvSpPr>
        <p:spPr>
          <a:xfrm>
            <a:off x="9015539" y="4418409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Teldat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6"/>
          <p:cNvSpPr/>
          <p:nvPr/>
        </p:nvSpPr>
        <p:spPr>
          <a:xfrm>
            <a:off x="9342056" y="3968983"/>
            <a:ext cx="163342" cy="452157"/>
          </a:xfrm>
          <a:prstGeom prst="rect">
            <a:avLst/>
          </a:prstGeom>
          <a:solidFill>
            <a:srgbClr val="2487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6"/>
          <p:cNvSpPr txBox="1"/>
          <p:nvPr/>
        </p:nvSpPr>
        <p:spPr>
          <a:xfrm>
            <a:off x="9546092" y="3968984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4M$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6"/>
          <p:cNvSpPr txBox="1"/>
          <p:nvPr/>
        </p:nvSpPr>
        <p:spPr>
          <a:xfrm>
            <a:off x="9015539" y="3738053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10M$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5" name="Google Shape;495;p6"/>
          <p:cNvCxnSpPr/>
          <p:nvPr/>
        </p:nvCxnSpPr>
        <p:spPr>
          <a:xfrm>
            <a:off x="8470632" y="4410999"/>
            <a:ext cx="2356786" cy="0"/>
          </a:xfrm>
          <a:prstGeom prst="straightConnector1">
            <a:avLst/>
          </a:prstGeom>
          <a:noFill/>
          <a:ln cap="flat" cmpd="sng" w="9525">
            <a:solidFill>
              <a:srgbClr val="E9002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96" name="Google Shape;496;p6"/>
          <p:cNvSpPr txBox="1"/>
          <p:nvPr/>
        </p:nvSpPr>
        <p:spPr>
          <a:xfrm>
            <a:off x="8679712" y="3574605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24M$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6"/>
          <p:cNvSpPr txBox="1"/>
          <p:nvPr/>
        </p:nvSpPr>
        <p:spPr>
          <a:xfrm>
            <a:off x="9958765" y="4421632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HPE</a:t>
            </a:r>
            <a:endParaRPr b="0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6"/>
          <p:cNvSpPr/>
          <p:nvPr/>
        </p:nvSpPr>
        <p:spPr>
          <a:xfrm>
            <a:off x="10283072" y="4239148"/>
            <a:ext cx="167764" cy="185215"/>
          </a:xfrm>
          <a:prstGeom prst="rect">
            <a:avLst/>
          </a:pr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6"/>
          <p:cNvSpPr txBox="1"/>
          <p:nvPr/>
        </p:nvSpPr>
        <p:spPr>
          <a:xfrm>
            <a:off x="9958764" y="3976703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4M$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6"/>
          <p:cNvSpPr txBox="1"/>
          <p:nvPr/>
        </p:nvSpPr>
        <p:spPr>
          <a:xfrm>
            <a:off x="10365644" y="4429348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Nokia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6"/>
          <p:cNvSpPr/>
          <p:nvPr/>
        </p:nvSpPr>
        <p:spPr>
          <a:xfrm>
            <a:off x="10689951" y="4246864"/>
            <a:ext cx="167764" cy="18521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6"/>
          <p:cNvSpPr txBox="1"/>
          <p:nvPr/>
        </p:nvSpPr>
        <p:spPr>
          <a:xfrm>
            <a:off x="10365643" y="3984419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4M$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6"/>
          <p:cNvSpPr txBox="1"/>
          <p:nvPr/>
        </p:nvSpPr>
        <p:spPr>
          <a:xfrm>
            <a:off x="5980310" y="5112544"/>
            <a:ext cx="2043925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ONT：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Marco Polo xHGU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二代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（TEF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自研品牌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6"/>
          <p:cNvSpPr/>
          <p:nvPr/>
        </p:nvSpPr>
        <p:spPr>
          <a:xfrm>
            <a:off x="8831447" y="5067222"/>
            <a:ext cx="167764" cy="570401"/>
          </a:xfrm>
          <a:prstGeom prst="rect">
            <a:avLst/>
          </a:prstGeom>
          <a:solidFill>
            <a:srgbClr val="026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6"/>
          <p:cNvSpPr txBox="1"/>
          <p:nvPr/>
        </p:nvSpPr>
        <p:spPr>
          <a:xfrm>
            <a:off x="8567748" y="5637624"/>
            <a:ext cx="695162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Marco Polo</a:t>
            </a:r>
            <a:endParaRPr b="1" i="0" sz="10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6"/>
          <p:cNvSpPr txBox="1"/>
          <p:nvPr/>
        </p:nvSpPr>
        <p:spPr>
          <a:xfrm>
            <a:off x="8689628" y="4841849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20M$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7" name="Google Shape;507;p6"/>
          <p:cNvCxnSpPr/>
          <p:nvPr/>
        </p:nvCxnSpPr>
        <p:spPr>
          <a:xfrm>
            <a:off x="8502111" y="5627482"/>
            <a:ext cx="863663" cy="0"/>
          </a:xfrm>
          <a:prstGeom prst="straightConnector1">
            <a:avLst/>
          </a:prstGeom>
          <a:noFill/>
          <a:ln cap="flat" cmpd="sng" w="9525">
            <a:solidFill>
              <a:srgbClr val="E9002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08" name="Google Shape;508;p6"/>
          <p:cNvSpPr txBox="1"/>
          <p:nvPr/>
        </p:nvSpPr>
        <p:spPr>
          <a:xfrm>
            <a:off x="9462195" y="5661726"/>
            <a:ext cx="1729731" cy="390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icrosoft Yahei"/>
              <a:buNone/>
            </a:pPr>
            <a:r>
              <a:rPr b="0" i="0" lang="zh-CN" sz="9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自</a:t>
            </a:r>
            <a:r>
              <a:rPr b="0" i="0" lang="zh-CN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2015</a:t>
            </a:r>
            <a:r>
              <a:rPr b="0" i="0" lang="zh-CN" sz="9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年开始自研的系列产品</a:t>
            </a:r>
            <a:r>
              <a:rPr b="0" i="0" lang="zh-CN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，xHGU III</a:t>
            </a:r>
            <a:r>
              <a:rPr b="0" i="0" lang="zh-CN" sz="9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代</a:t>
            </a:r>
            <a:r>
              <a:rPr b="0" i="0" lang="zh-CN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Wi-Fi7</a:t>
            </a:r>
            <a:r>
              <a:rPr b="0" i="0" lang="zh-CN" sz="9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正在研发中</a:t>
            </a:r>
            <a:endParaRPr b="1" i="0" sz="9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pic>
        <p:nvPicPr>
          <p:cNvPr id="509" name="Google Shape;50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5950" y="4990020"/>
            <a:ext cx="673309" cy="662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7"/>
          <p:cNvSpPr txBox="1"/>
          <p:nvPr/>
        </p:nvSpPr>
        <p:spPr>
          <a:xfrm>
            <a:off x="343644" y="121055"/>
            <a:ext cx="11741675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LAN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管理服务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：TdE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通过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FlexWAN2.0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升级传统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LAN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托管服务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当前仅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C\H\T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三家入围</a:t>
            </a:r>
            <a:endParaRPr/>
          </a:p>
        </p:txBody>
      </p:sp>
      <p:sp>
        <p:nvSpPr>
          <p:cNvPr id="516" name="Google Shape;516;p7"/>
          <p:cNvSpPr txBox="1"/>
          <p:nvPr/>
        </p:nvSpPr>
        <p:spPr>
          <a:xfrm>
            <a:off x="652816" y="1920608"/>
            <a:ext cx="4698384" cy="6460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7875" lIns="47875" spcFirstLastPara="1" rIns="47875" wrap="square" tIns="478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399"/>
              <a:buFont typeface="Microsoft Yahei"/>
              <a:buNone/>
            </a:pP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年收入</a:t>
            </a:r>
            <a:r>
              <a:rPr b="1" i="0" lang="zh-CN" sz="15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175M€</a:t>
            </a:r>
            <a:endParaRPr/>
          </a:p>
        </p:txBody>
      </p:sp>
      <p:sp>
        <p:nvSpPr>
          <p:cNvPr id="517" name="Google Shape;517;p7"/>
          <p:cNvSpPr txBox="1"/>
          <p:nvPr/>
        </p:nvSpPr>
        <p:spPr>
          <a:xfrm>
            <a:off x="685983" y="1587636"/>
            <a:ext cx="4665216" cy="353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 </a:t>
            </a: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管理服务</a:t>
            </a:r>
            <a:endParaRPr b="1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Managed Service</a:t>
            </a:r>
            <a:endParaRPr/>
          </a:p>
        </p:txBody>
      </p:sp>
      <p:sp>
        <p:nvSpPr>
          <p:cNvPr id="518" name="Google Shape;518;p7"/>
          <p:cNvSpPr/>
          <p:nvPr/>
        </p:nvSpPr>
        <p:spPr>
          <a:xfrm>
            <a:off x="666255" y="1449268"/>
            <a:ext cx="4684945" cy="459472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7"/>
          <p:cNvSpPr/>
          <p:nvPr/>
        </p:nvSpPr>
        <p:spPr>
          <a:xfrm>
            <a:off x="1237893" y="3324368"/>
            <a:ext cx="866190" cy="240302"/>
          </a:xfrm>
          <a:prstGeom prst="rect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1" i="0" lang="zh-CN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NOC</a:t>
            </a:r>
            <a:r>
              <a:rPr b="1" i="0" lang="zh-CN" sz="120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中心</a:t>
            </a:r>
            <a:endParaRPr/>
          </a:p>
        </p:txBody>
      </p:sp>
      <p:cxnSp>
        <p:nvCxnSpPr>
          <p:cNvPr id="520" name="Google Shape;520;p7"/>
          <p:cNvCxnSpPr>
            <a:stCxn id="519" idx="2"/>
            <a:endCxn id="521" idx="0"/>
          </p:cNvCxnSpPr>
          <p:nvPr/>
        </p:nvCxnSpPr>
        <p:spPr>
          <a:xfrm flipH="1">
            <a:off x="1237788" y="3564670"/>
            <a:ext cx="433200" cy="1170300"/>
          </a:xfrm>
          <a:prstGeom prst="straightConnector1">
            <a:avLst/>
          </a:prstGeom>
          <a:noFill/>
          <a:ln cap="flat" cmpd="sng" w="9525">
            <a:solidFill>
              <a:srgbClr val="1D1D1A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2" name="Google Shape;522;p7"/>
          <p:cNvSpPr/>
          <p:nvPr/>
        </p:nvSpPr>
        <p:spPr>
          <a:xfrm>
            <a:off x="652816" y="3633142"/>
            <a:ext cx="843851" cy="5025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50"/>
              <a:buFont typeface="Microsoft Yahei"/>
              <a:buNone/>
            </a:pPr>
            <a:r>
              <a:rPr b="1" i="0" lang="zh-CN" sz="105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远程</a:t>
            </a:r>
            <a:endParaRPr b="1" i="0" sz="1050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50"/>
              <a:buFont typeface="Microsoft Yahei"/>
              <a:buNone/>
            </a:pPr>
            <a:r>
              <a:rPr b="1" i="0" lang="zh-CN" sz="105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集中管理</a:t>
            </a:r>
            <a:endParaRPr/>
          </a:p>
        </p:txBody>
      </p:sp>
      <p:sp>
        <p:nvSpPr>
          <p:cNvPr id="521" name="Google Shape;521;p7"/>
          <p:cNvSpPr/>
          <p:nvPr/>
        </p:nvSpPr>
        <p:spPr>
          <a:xfrm>
            <a:off x="685983" y="4734962"/>
            <a:ext cx="1103819" cy="16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Microsoft Yahei"/>
              <a:buNone/>
            </a:pPr>
            <a:r>
              <a:rPr b="1" i="0" lang="zh-CN" sz="120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交换机</a:t>
            </a:r>
            <a:endParaRPr/>
          </a:p>
        </p:txBody>
      </p:sp>
      <p:sp>
        <p:nvSpPr>
          <p:cNvPr id="523" name="Google Shape;523;p7"/>
          <p:cNvSpPr/>
          <p:nvPr/>
        </p:nvSpPr>
        <p:spPr>
          <a:xfrm>
            <a:off x="1599890" y="4734962"/>
            <a:ext cx="1103819" cy="16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1" i="0" lang="zh-CN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WLAN AP</a:t>
            </a:r>
            <a:endParaRPr b="1" i="0" sz="1200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7"/>
          <p:cNvSpPr/>
          <p:nvPr/>
        </p:nvSpPr>
        <p:spPr>
          <a:xfrm>
            <a:off x="816624" y="4706359"/>
            <a:ext cx="732229" cy="231008"/>
          </a:xfrm>
          <a:prstGeom prst="flowChartProcess">
            <a:avLst/>
          </a:prstGeom>
          <a:noFill/>
          <a:ln cap="flat" cmpd="sng" w="28575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7"/>
          <p:cNvSpPr/>
          <p:nvPr/>
        </p:nvSpPr>
        <p:spPr>
          <a:xfrm>
            <a:off x="1686682" y="4706359"/>
            <a:ext cx="866190" cy="231008"/>
          </a:xfrm>
          <a:prstGeom prst="flowChartProcess">
            <a:avLst/>
          </a:prstGeom>
          <a:noFill/>
          <a:ln cap="flat" cmpd="sng" w="28575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6" name="Google Shape;526;p7"/>
          <p:cNvCxnSpPr>
            <a:stCxn id="519" idx="2"/>
            <a:endCxn id="523" idx="0"/>
          </p:cNvCxnSpPr>
          <p:nvPr/>
        </p:nvCxnSpPr>
        <p:spPr>
          <a:xfrm>
            <a:off x="1670988" y="3564670"/>
            <a:ext cx="480900" cy="1170300"/>
          </a:xfrm>
          <a:prstGeom prst="straightConnector1">
            <a:avLst/>
          </a:prstGeom>
          <a:noFill/>
          <a:ln cap="flat" cmpd="sng" w="9525">
            <a:solidFill>
              <a:srgbClr val="1D1D1A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27" name="Google Shape;527;p7"/>
          <p:cNvGrpSpPr/>
          <p:nvPr/>
        </p:nvGrpSpPr>
        <p:grpSpPr>
          <a:xfrm>
            <a:off x="2799235" y="4168332"/>
            <a:ext cx="2127259" cy="1633966"/>
            <a:chOff x="2779903" y="2431347"/>
            <a:chExt cx="2128090" cy="1634604"/>
          </a:xfrm>
        </p:grpSpPr>
        <p:sp>
          <p:nvSpPr>
            <p:cNvPr id="528" name="Google Shape;528;p7"/>
            <p:cNvSpPr/>
            <p:nvPr/>
          </p:nvSpPr>
          <p:spPr>
            <a:xfrm>
              <a:off x="2779903" y="2431347"/>
              <a:ext cx="2128090" cy="109796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D1D1A"/>
                </a:buClr>
                <a:buSzPts val="1200"/>
                <a:buFont typeface="Arial"/>
                <a:buNone/>
              </a:pPr>
              <a:r>
                <a:rPr b="1" i="0" lang="zh-CN" sz="1200" u="none" cap="none" strike="noStrike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模式2：LAN托管服务</a:t>
              </a:r>
              <a:endParaRPr b="1" i="0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71381" lvl="0" marL="171381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D1D1A"/>
                </a:buClr>
                <a:buSzPts val="1050"/>
                <a:buFont typeface="Arial"/>
                <a:buChar char="•"/>
              </a:pPr>
              <a:r>
                <a:rPr b="0" i="0" lang="zh-CN" sz="1050" u="none" cap="none" strike="noStrike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TdE通过自有的WOCU网管平台，提供</a:t>
              </a:r>
              <a:r>
                <a:rPr b="1" i="0" lang="zh-CN" sz="1050" u="none" cap="none" strike="noStrike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异厂商设备</a:t>
              </a:r>
              <a:r>
                <a:rPr b="0" i="0" lang="zh-CN" sz="1050" u="none" cap="none" strike="noStrike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的统一SNMP集中管理</a:t>
              </a:r>
              <a:endParaRPr/>
            </a:p>
          </p:txBody>
        </p:sp>
        <p:grpSp>
          <p:nvGrpSpPr>
            <p:cNvPr id="529" name="Google Shape;529;p7"/>
            <p:cNvGrpSpPr/>
            <p:nvPr/>
          </p:nvGrpSpPr>
          <p:grpSpPr>
            <a:xfrm>
              <a:off x="2779903" y="3484779"/>
              <a:ext cx="2128090" cy="581172"/>
              <a:chOff x="2718012" y="3496025"/>
              <a:chExt cx="2128090" cy="713119"/>
            </a:xfrm>
          </p:grpSpPr>
          <p:sp>
            <p:nvSpPr>
              <p:cNvPr id="530" name="Google Shape;530;p7"/>
              <p:cNvSpPr/>
              <p:nvPr/>
            </p:nvSpPr>
            <p:spPr>
              <a:xfrm>
                <a:off x="3222122" y="3592745"/>
                <a:ext cx="202936" cy="244486"/>
              </a:xfrm>
              <a:custGeom>
                <a:rect b="b" l="l" r="r" t="t"/>
                <a:pathLst>
                  <a:path extrusionOk="0" h="1080330" w="759905">
                    <a:moveTo>
                      <a:pt x="363665" y="499863"/>
                    </a:moveTo>
                    <a:lnTo>
                      <a:pt x="338432" y="842658"/>
                    </a:lnTo>
                    <a:lnTo>
                      <a:pt x="338043" y="842287"/>
                    </a:lnTo>
                    <a:lnTo>
                      <a:pt x="338424" y="842763"/>
                    </a:lnTo>
                    <a:lnTo>
                      <a:pt x="338432" y="842658"/>
                    </a:lnTo>
                    <a:lnTo>
                      <a:pt x="381001" y="883244"/>
                    </a:lnTo>
                    <a:lnTo>
                      <a:pt x="423959" y="842287"/>
                    </a:lnTo>
                    <a:lnTo>
                      <a:pt x="396527" y="499863"/>
                    </a:lnTo>
                    <a:close/>
                    <a:moveTo>
                      <a:pt x="381000" y="413852"/>
                    </a:moveTo>
                    <a:lnTo>
                      <a:pt x="354804" y="416394"/>
                    </a:lnTo>
                    <a:lnTo>
                      <a:pt x="346712" y="433284"/>
                    </a:lnTo>
                    <a:cubicBezTo>
                      <a:pt x="345739" y="451249"/>
                      <a:pt x="359514" y="466600"/>
                      <a:pt x="377479" y="467573"/>
                    </a:cubicBezTo>
                    <a:cubicBezTo>
                      <a:pt x="378652" y="467636"/>
                      <a:pt x="379828" y="467636"/>
                      <a:pt x="381001" y="467573"/>
                    </a:cubicBezTo>
                    <a:cubicBezTo>
                      <a:pt x="398965" y="468545"/>
                      <a:pt x="414317" y="454771"/>
                      <a:pt x="415289" y="436806"/>
                    </a:cubicBezTo>
                    <a:lnTo>
                      <a:pt x="408143" y="416515"/>
                    </a:lnTo>
                    <a:close/>
                    <a:moveTo>
                      <a:pt x="381000" y="368132"/>
                    </a:moveTo>
                    <a:cubicBezTo>
                      <a:pt x="581882" y="368132"/>
                      <a:pt x="759905" y="530724"/>
                      <a:pt x="759905" y="716176"/>
                    </a:cubicBezTo>
                    <a:lnTo>
                      <a:pt x="759905" y="1028596"/>
                    </a:lnTo>
                    <a:cubicBezTo>
                      <a:pt x="759957" y="1041168"/>
                      <a:pt x="749808" y="1051403"/>
                      <a:pt x="737236" y="1051456"/>
                    </a:cubicBezTo>
                    <a:cubicBezTo>
                      <a:pt x="737172" y="1051456"/>
                      <a:pt x="737108" y="1051456"/>
                      <a:pt x="737045" y="1051456"/>
                    </a:cubicBezTo>
                    <a:lnTo>
                      <a:pt x="645890" y="1051456"/>
                    </a:lnTo>
                    <a:cubicBezTo>
                      <a:pt x="633265" y="1051508"/>
                      <a:pt x="622988" y="1041316"/>
                      <a:pt x="622935" y="1028691"/>
                    </a:cubicBezTo>
                    <a:cubicBezTo>
                      <a:pt x="622935" y="1028659"/>
                      <a:pt x="622935" y="1028627"/>
                      <a:pt x="622935" y="1028596"/>
                    </a:cubicBezTo>
                    <a:lnTo>
                      <a:pt x="622935" y="731416"/>
                    </a:lnTo>
                    <a:lnTo>
                      <a:pt x="607695" y="731416"/>
                    </a:lnTo>
                    <a:lnTo>
                      <a:pt x="607695" y="1028596"/>
                    </a:lnTo>
                    <a:cubicBezTo>
                      <a:pt x="607748" y="1041168"/>
                      <a:pt x="597599" y="1051403"/>
                      <a:pt x="585026" y="1051456"/>
                    </a:cubicBezTo>
                    <a:cubicBezTo>
                      <a:pt x="584962" y="1051456"/>
                      <a:pt x="584899" y="1051456"/>
                      <a:pt x="584835" y="1051456"/>
                    </a:cubicBezTo>
                    <a:lnTo>
                      <a:pt x="529849" y="1051456"/>
                    </a:lnTo>
                    <a:lnTo>
                      <a:pt x="522907" y="1062915"/>
                    </a:lnTo>
                    <a:cubicBezTo>
                      <a:pt x="513783" y="1072970"/>
                      <a:pt x="500823" y="1079544"/>
                      <a:pt x="486189" y="1080254"/>
                    </a:cubicBezTo>
                    <a:cubicBezTo>
                      <a:pt x="485322" y="1080296"/>
                      <a:pt x="484453" y="1080317"/>
                      <a:pt x="483584" y="1080317"/>
                    </a:cubicBezTo>
                    <a:cubicBezTo>
                      <a:pt x="455037" y="1080956"/>
                      <a:pt x="431353" y="1058379"/>
                      <a:pt x="430625" y="1029834"/>
                    </a:cubicBezTo>
                    <a:lnTo>
                      <a:pt x="430626" y="1029834"/>
                    </a:lnTo>
                    <a:cubicBezTo>
                      <a:pt x="429205" y="1000568"/>
                      <a:pt x="451779" y="975691"/>
                      <a:pt x="481046" y="974271"/>
                    </a:cubicBezTo>
                    <a:cubicBezTo>
                      <a:pt x="502996" y="973205"/>
                      <a:pt x="522476" y="985637"/>
                      <a:pt x="531444" y="1004266"/>
                    </a:cubicBezTo>
                    <a:lnTo>
                      <a:pt x="531815" y="1005736"/>
                    </a:lnTo>
                    <a:lnTo>
                      <a:pt x="561975" y="1005736"/>
                    </a:lnTo>
                    <a:lnTo>
                      <a:pt x="561975" y="708555"/>
                    </a:lnTo>
                    <a:cubicBezTo>
                      <a:pt x="561923" y="695983"/>
                      <a:pt x="572072" y="685748"/>
                      <a:pt x="584644" y="685695"/>
                    </a:cubicBezTo>
                    <a:cubicBezTo>
                      <a:pt x="584708" y="685695"/>
                      <a:pt x="584772" y="685695"/>
                      <a:pt x="584835" y="685695"/>
                    </a:cubicBezTo>
                    <a:lnTo>
                      <a:pt x="645890" y="685696"/>
                    </a:lnTo>
                    <a:cubicBezTo>
                      <a:pt x="658463" y="685643"/>
                      <a:pt x="668698" y="695792"/>
                      <a:pt x="668750" y="708365"/>
                    </a:cubicBezTo>
                    <a:cubicBezTo>
                      <a:pt x="668751" y="708428"/>
                      <a:pt x="668751" y="708492"/>
                      <a:pt x="668750" y="708556"/>
                    </a:cubicBezTo>
                    <a:lnTo>
                      <a:pt x="668750" y="1005736"/>
                    </a:lnTo>
                    <a:lnTo>
                      <a:pt x="714375" y="1005736"/>
                    </a:lnTo>
                    <a:lnTo>
                      <a:pt x="714375" y="716176"/>
                    </a:lnTo>
                    <a:cubicBezTo>
                      <a:pt x="714375" y="576159"/>
                      <a:pt x="595652" y="449705"/>
                      <a:pt x="446519" y="420279"/>
                    </a:cubicBezTo>
                    <a:lnTo>
                      <a:pt x="445326" y="420162"/>
                    </a:lnTo>
                    <a:lnTo>
                      <a:pt x="448268" y="430499"/>
                    </a:lnTo>
                    <a:cubicBezTo>
                      <a:pt x="449616" y="447728"/>
                      <a:pt x="443852" y="463871"/>
                      <a:pt x="433445" y="476044"/>
                    </a:cubicBezTo>
                    <a:lnTo>
                      <a:pt x="425445" y="480115"/>
                    </a:lnTo>
                    <a:lnTo>
                      <a:pt x="426919" y="483361"/>
                    </a:lnTo>
                    <a:cubicBezTo>
                      <a:pt x="426932" y="483750"/>
                      <a:pt x="426929" y="484139"/>
                      <a:pt x="426911" y="484528"/>
                    </a:cubicBezTo>
                    <a:lnTo>
                      <a:pt x="454725" y="844858"/>
                    </a:lnTo>
                    <a:cubicBezTo>
                      <a:pt x="454616" y="849579"/>
                      <a:pt x="452826" y="854105"/>
                      <a:pt x="449676" y="857622"/>
                    </a:cubicBezTo>
                    <a:lnTo>
                      <a:pt x="391478" y="916867"/>
                    </a:lnTo>
                    <a:cubicBezTo>
                      <a:pt x="388713" y="919566"/>
                      <a:pt x="385191" y="921360"/>
                      <a:pt x="381382" y="922011"/>
                    </a:cubicBezTo>
                    <a:lnTo>
                      <a:pt x="381001" y="921535"/>
                    </a:lnTo>
                    <a:cubicBezTo>
                      <a:pt x="375953" y="921535"/>
                      <a:pt x="373476" y="918963"/>
                      <a:pt x="368428" y="916391"/>
                    </a:cubicBezTo>
                    <a:lnTo>
                      <a:pt x="310230" y="860194"/>
                    </a:lnTo>
                    <a:cubicBezTo>
                      <a:pt x="307658" y="855050"/>
                      <a:pt x="305182" y="852574"/>
                      <a:pt x="305182" y="847430"/>
                    </a:cubicBezTo>
                    <a:lnTo>
                      <a:pt x="333376" y="484528"/>
                    </a:lnTo>
                    <a:lnTo>
                      <a:pt x="335226" y="482655"/>
                    </a:lnTo>
                    <a:lnTo>
                      <a:pt x="320535" y="464159"/>
                    </a:lnTo>
                    <a:cubicBezTo>
                      <a:pt x="316794" y="456942"/>
                      <a:pt x="314407" y="448872"/>
                      <a:pt x="313733" y="440258"/>
                    </a:cubicBezTo>
                    <a:lnTo>
                      <a:pt x="316182" y="420141"/>
                    </a:lnTo>
                    <a:lnTo>
                      <a:pt x="314758" y="420279"/>
                    </a:lnTo>
                    <a:cubicBezTo>
                      <a:pt x="164157" y="449705"/>
                      <a:pt x="45434" y="576159"/>
                      <a:pt x="45434" y="716176"/>
                    </a:cubicBezTo>
                    <a:lnTo>
                      <a:pt x="45434" y="1005736"/>
                    </a:lnTo>
                    <a:lnTo>
                      <a:pt x="91154" y="1005736"/>
                    </a:lnTo>
                    <a:lnTo>
                      <a:pt x="91154" y="708555"/>
                    </a:lnTo>
                    <a:cubicBezTo>
                      <a:pt x="91102" y="695983"/>
                      <a:pt x="101251" y="685748"/>
                      <a:pt x="113824" y="685695"/>
                    </a:cubicBezTo>
                    <a:cubicBezTo>
                      <a:pt x="113887" y="685695"/>
                      <a:pt x="113951" y="685695"/>
                      <a:pt x="114014" y="685695"/>
                    </a:cubicBezTo>
                    <a:lnTo>
                      <a:pt x="175070" y="685696"/>
                    </a:lnTo>
                    <a:cubicBezTo>
                      <a:pt x="187642" y="685643"/>
                      <a:pt x="197877" y="695792"/>
                      <a:pt x="197930" y="708365"/>
                    </a:cubicBezTo>
                    <a:cubicBezTo>
                      <a:pt x="197930" y="708428"/>
                      <a:pt x="197930" y="708492"/>
                      <a:pt x="197930" y="708556"/>
                    </a:cubicBezTo>
                    <a:lnTo>
                      <a:pt x="197930" y="1005736"/>
                    </a:lnTo>
                    <a:lnTo>
                      <a:pt x="282763" y="1005736"/>
                    </a:lnTo>
                    <a:lnTo>
                      <a:pt x="290971" y="992910"/>
                    </a:lnTo>
                    <a:cubicBezTo>
                      <a:pt x="300104" y="983329"/>
                      <a:pt x="312892" y="977232"/>
                      <a:pt x="327170" y="976890"/>
                    </a:cubicBezTo>
                    <a:cubicBezTo>
                      <a:pt x="355726" y="976206"/>
                      <a:pt x="379430" y="998801"/>
                      <a:pt x="380114" y="1027358"/>
                    </a:cubicBezTo>
                    <a:cubicBezTo>
                      <a:pt x="380798" y="1055914"/>
                      <a:pt x="358203" y="1079618"/>
                      <a:pt x="329646" y="1080302"/>
                    </a:cubicBezTo>
                    <a:cubicBezTo>
                      <a:pt x="329239" y="1080312"/>
                      <a:pt x="328831" y="1080317"/>
                      <a:pt x="328423" y="1080317"/>
                    </a:cubicBezTo>
                    <a:cubicBezTo>
                      <a:pt x="314317" y="1080476"/>
                      <a:pt x="301478" y="1074908"/>
                      <a:pt x="292120" y="1065774"/>
                    </a:cubicBezTo>
                    <a:lnTo>
                      <a:pt x="282208" y="1051456"/>
                    </a:lnTo>
                    <a:lnTo>
                      <a:pt x="175451" y="1051456"/>
                    </a:lnTo>
                    <a:cubicBezTo>
                      <a:pt x="162878" y="1051508"/>
                      <a:pt x="152643" y="1041359"/>
                      <a:pt x="152591" y="1028786"/>
                    </a:cubicBezTo>
                    <a:cubicBezTo>
                      <a:pt x="152590" y="1028723"/>
                      <a:pt x="152590" y="1028659"/>
                      <a:pt x="152591" y="1028595"/>
                    </a:cubicBezTo>
                    <a:lnTo>
                      <a:pt x="152591" y="731416"/>
                    </a:lnTo>
                    <a:lnTo>
                      <a:pt x="137351" y="731416"/>
                    </a:lnTo>
                    <a:lnTo>
                      <a:pt x="137351" y="1028596"/>
                    </a:lnTo>
                    <a:cubicBezTo>
                      <a:pt x="137351" y="1041221"/>
                      <a:pt x="127116" y="1051456"/>
                      <a:pt x="114491" y="1051456"/>
                    </a:cubicBezTo>
                    <a:cubicBezTo>
                      <a:pt x="114459" y="1051456"/>
                      <a:pt x="114427" y="1051456"/>
                      <a:pt x="114395" y="1051456"/>
                    </a:cubicBezTo>
                    <a:lnTo>
                      <a:pt x="22860" y="1051456"/>
                    </a:lnTo>
                    <a:cubicBezTo>
                      <a:pt x="10288" y="1051508"/>
                      <a:pt x="53" y="1041359"/>
                      <a:pt x="0" y="1028786"/>
                    </a:cubicBezTo>
                    <a:cubicBezTo>
                      <a:pt x="0" y="1028723"/>
                      <a:pt x="0" y="1028659"/>
                      <a:pt x="0" y="1028595"/>
                    </a:cubicBezTo>
                    <a:lnTo>
                      <a:pt x="0" y="716176"/>
                    </a:lnTo>
                    <a:cubicBezTo>
                      <a:pt x="0" y="530724"/>
                      <a:pt x="178022" y="368132"/>
                      <a:pt x="381000" y="368132"/>
                    </a:cubicBezTo>
                    <a:close/>
                    <a:moveTo>
                      <a:pt x="382619" y="48284"/>
                    </a:moveTo>
                    <a:cubicBezTo>
                      <a:pt x="308978" y="47387"/>
                      <a:pt x="248552" y="106358"/>
                      <a:pt x="247655" y="180000"/>
                    </a:cubicBezTo>
                    <a:cubicBezTo>
                      <a:pt x="247653" y="180163"/>
                      <a:pt x="247651" y="180327"/>
                      <a:pt x="247650" y="180491"/>
                    </a:cubicBezTo>
                    <a:cubicBezTo>
                      <a:pt x="247650" y="254138"/>
                      <a:pt x="307353" y="313841"/>
                      <a:pt x="381000" y="313841"/>
                    </a:cubicBezTo>
                    <a:cubicBezTo>
                      <a:pt x="454647" y="313841"/>
                      <a:pt x="514350" y="254138"/>
                      <a:pt x="514350" y="180491"/>
                    </a:cubicBezTo>
                    <a:cubicBezTo>
                      <a:pt x="513733" y="107917"/>
                      <a:pt x="455190" y="49162"/>
                      <a:pt x="382619" y="48284"/>
                    </a:cubicBezTo>
                    <a:close/>
                    <a:moveTo>
                      <a:pt x="379671" y="4"/>
                    </a:moveTo>
                    <a:cubicBezTo>
                      <a:pt x="478671" y="-675"/>
                      <a:pt x="559478" y="79030"/>
                      <a:pt x="560157" y="178031"/>
                    </a:cubicBezTo>
                    <a:cubicBezTo>
                      <a:pt x="560835" y="276840"/>
                      <a:pt x="481427" y="357565"/>
                      <a:pt x="382619" y="358513"/>
                    </a:cubicBezTo>
                    <a:cubicBezTo>
                      <a:pt x="283780" y="359619"/>
                      <a:pt x="202759" y="280391"/>
                      <a:pt x="201653" y="181552"/>
                    </a:cubicBezTo>
                    <a:cubicBezTo>
                      <a:pt x="201649" y="181198"/>
                      <a:pt x="201646" y="180844"/>
                      <a:pt x="201644" y="180491"/>
                    </a:cubicBezTo>
                    <a:cubicBezTo>
                      <a:pt x="200965" y="81490"/>
                      <a:pt x="280670" y="684"/>
                      <a:pt x="379671" y="4"/>
                    </a:cubicBezTo>
                    <a:close/>
                  </a:path>
                </a:pathLst>
              </a:custGeom>
              <a:solidFill>
                <a:srgbClr val="1D1D1A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Calibri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7"/>
              <p:cNvSpPr/>
              <p:nvPr/>
            </p:nvSpPr>
            <p:spPr>
              <a:xfrm>
                <a:off x="2962524" y="3706410"/>
                <a:ext cx="695519" cy="5027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666666"/>
                  </a:buClr>
                  <a:buSzPts val="800"/>
                  <a:buFont typeface="Arial"/>
                  <a:buNone/>
                </a:pPr>
                <a:r>
                  <a:rPr b="1" i="0" lang="zh-CN" sz="800" u="none" cap="none" strike="noStrike">
                    <a:solidFill>
                      <a:srgbClr val="666666"/>
                    </a:solidFill>
                    <a:latin typeface="Arial"/>
                    <a:ea typeface="Arial"/>
                    <a:cs typeface="Arial"/>
                    <a:sym typeface="Arial"/>
                  </a:rPr>
                  <a:t>Noc工程师</a:t>
                </a:r>
                <a:endParaRPr/>
              </a:p>
            </p:txBody>
          </p:sp>
          <p:sp>
            <p:nvSpPr>
              <p:cNvPr id="532" name="Google Shape;532;p7"/>
              <p:cNvSpPr/>
              <p:nvPr/>
            </p:nvSpPr>
            <p:spPr>
              <a:xfrm>
                <a:off x="3728965" y="3744658"/>
                <a:ext cx="866528" cy="240396"/>
              </a:xfrm>
              <a:prstGeom prst="rect">
                <a:avLst/>
              </a:prstGeom>
              <a:noFill/>
              <a:ln cap="flat" cmpd="sng" w="12700">
                <a:solidFill>
                  <a:srgbClr val="1D1D1A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666666"/>
                  </a:buClr>
                  <a:buSzPts val="1000"/>
                  <a:buFont typeface="Arial"/>
                  <a:buNone/>
                </a:pPr>
                <a:r>
                  <a:rPr b="1" i="0" lang="zh-CN" sz="1000" u="none" cap="none" strike="noStrike">
                    <a:solidFill>
                      <a:srgbClr val="666666"/>
                    </a:solidFill>
                    <a:latin typeface="Arial"/>
                    <a:ea typeface="Arial"/>
                    <a:cs typeface="Arial"/>
                    <a:sym typeface="Arial"/>
                  </a:rPr>
                  <a:t>WOCU网管</a:t>
                </a:r>
                <a:endParaRPr/>
              </a:p>
            </p:txBody>
          </p:sp>
          <p:sp>
            <p:nvSpPr>
              <p:cNvPr id="533" name="Google Shape;533;p7"/>
              <p:cNvSpPr/>
              <p:nvPr/>
            </p:nvSpPr>
            <p:spPr>
              <a:xfrm>
                <a:off x="2718012" y="3496025"/>
                <a:ext cx="2128090" cy="640673"/>
              </a:xfrm>
              <a:prstGeom prst="ellipse">
                <a:avLst/>
              </a:prstGeom>
              <a:noFill/>
              <a:ln cap="flat" cmpd="sng" w="12700">
                <a:solidFill>
                  <a:srgbClr val="1D1D1A"/>
                </a:solidFill>
                <a:prstDash val="dash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799"/>
                  <a:buFont typeface="Calibri"/>
                  <a:buNone/>
                </a:pPr>
                <a:r>
                  <a:t/>
                </a:r>
                <a:endParaRPr b="0" i="0" sz="1799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34" name="Google Shape;534;p7"/>
          <p:cNvGrpSpPr/>
          <p:nvPr/>
        </p:nvGrpSpPr>
        <p:grpSpPr>
          <a:xfrm>
            <a:off x="2838907" y="2229000"/>
            <a:ext cx="2127259" cy="1794483"/>
            <a:chOff x="2779903" y="4191020"/>
            <a:chExt cx="2128090" cy="1795184"/>
          </a:xfrm>
        </p:grpSpPr>
        <p:sp>
          <p:nvSpPr>
            <p:cNvPr id="535" name="Google Shape;535;p7"/>
            <p:cNvSpPr/>
            <p:nvPr/>
          </p:nvSpPr>
          <p:spPr>
            <a:xfrm>
              <a:off x="2779903" y="4191020"/>
              <a:ext cx="2128090" cy="109796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D1D1A"/>
                </a:buClr>
                <a:buSzPts val="1200"/>
                <a:buFont typeface="Arial"/>
                <a:buNone/>
              </a:pPr>
              <a:r>
                <a:rPr b="1" i="0" lang="zh-CN" sz="1200" u="none" cap="none" strike="noStrike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模式1：SD-LAN管理服务</a:t>
              </a:r>
              <a:endParaRPr b="1" i="0" sz="12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71381" lvl="0" marL="171381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D1D1A"/>
                </a:buClr>
                <a:buSzPts val="1050"/>
                <a:buFont typeface="Arial"/>
                <a:buChar char="•"/>
              </a:pPr>
              <a:r>
                <a:rPr b="0" i="0" lang="zh-CN" sz="1050" u="none" cap="none" strike="noStrike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包含LAN设备的管理服务</a:t>
              </a:r>
              <a:endParaRPr b="0" i="0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71381" lvl="0" marL="171381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D1D1A"/>
                </a:buClr>
                <a:buSzPts val="1050"/>
                <a:buFont typeface="Arial"/>
                <a:buChar char="•"/>
              </a:pPr>
              <a:r>
                <a:rPr b="0" i="0" lang="zh-CN" sz="1050" u="none" cap="none" strike="noStrike">
                  <a:solidFill>
                    <a:srgbClr val="1D1D1A"/>
                  </a:solidFill>
                  <a:latin typeface="Arial"/>
                  <a:ea typeface="Arial"/>
                  <a:cs typeface="Arial"/>
                  <a:sym typeface="Arial"/>
                </a:rPr>
                <a:t>T.Tech提供SD-LAN平台</a:t>
              </a:r>
              <a:endParaRPr/>
            </a:p>
          </p:txBody>
        </p:sp>
        <p:grpSp>
          <p:nvGrpSpPr>
            <p:cNvPr id="536" name="Google Shape;536;p7"/>
            <p:cNvGrpSpPr/>
            <p:nvPr/>
          </p:nvGrpSpPr>
          <p:grpSpPr>
            <a:xfrm>
              <a:off x="2779903" y="5308881"/>
              <a:ext cx="2128090" cy="677323"/>
              <a:chOff x="2704765" y="5308881"/>
              <a:chExt cx="2128090" cy="677323"/>
            </a:xfrm>
          </p:grpSpPr>
          <p:sp>
            <p:nvSpPr>
              <p:cNvPr id="537" name="Google Shape;537;p7"/>
              <p:cNvSpPr/>
              <p:nvPr/>
            </p:nvSpPr>
            <p:spPr>
              <a:xfrm>
                <a:off x="3115272" y="5374030"/>
                <a:ext cx="202936" cy="244485"/>
              </a:xfrm>
              <a:custGeom>
                <a:rect b="b" l="l" r="r" t="t"/>
                <a:pathLst>
                  <a:path extrusionOk="0" h="1080330" w="759905">
                    <a:moveTo>
                      <a:pt x="363665" y="499863"/>
                    </a:moveTo>
                    <a:lnTo>
                      <a:pt x="338432" y="842658"/>
                    </a:lnTo>
                    <a:lnTo>
                      <a:pt x="338043" y="842287"/>
                    </a:lnTo>
                    <a:lnTo>
                      <a:pt x="338424" y="842763"/>
                    </a:lnTo>
                    <a:lnTo>
                      <a:pt x="338432" y="842658"/>
                    </a:lnTo>
                    <a:lnTo>
                      <a:pt x="381001" y="883244"/>
                    </a:lnTo>
                    <a:lnTo>
                      <a:pt x="423959" y="842287"/>
                    </a:lnTo>
                    <a:lnTo>
                      <a:pt x="396527" y="499863"/>
                    </a:lnTo>
                    <a:close/>
                    <a:moveTo>
                      <a:pt x="381000" y="413852"/>
                    </a:moveTo>
                    <a:lnTo>
                      <a:pt x="354804" y="416394"/>
                    </a:lnTo>
                    <a:lnTo>
                      <a:pt x="346712" y="433284"/>
                    </a:lnTo>
                    <a:cubicBezTo>
                      <a:pt x="345739" y="451249"/>
                      <a:pt x="359514" y="466600"/>
                      <a:pt x="377479" y="467573"/>
                    </a:cubicBezTo>
                    <a:cubicBezTo>
                      <a:pt x="378652" y="467636"/>
                      <a:pt x="379828" y="467636"/>
                      <a:pt x="381001" y="467573"/>
                    </a:cubicBezTo>
                    <a:cubicBezTo>
                      <a:pt x="398965" y="468545"/>
                      <a:pt x="414317" y="454771"/>
                      <a:pt x="415289" y="436806"/>
                    </a:cubicBezTo>
                    <a:lnTo>
                      <a:pt x="408143" y="416515"/>
                    </a:lnTo>
                    <a:close/>
                    <a:moveTo>
                      <a:pt x="381000" y="368132"/>
                    </a:moveTo>
                    <a:cubicBezTo>
                      <a:pt x="581882" y="368132"/>
                      <a:pt x="759905" y="530724"/>
                      <a:pt x="759905" y="716176"/>
                    </a:cubicBezTo>
                    <a:lnTo>
                      <a:pt x="759905" y="1028596"/>
                    </a:lnTo>
                    <a:cubicBezTo>
                      <a:pt x="759957" y="1041168"/>
                      <a:pt x="749808" y="1051403"/>
                      <a:pt x="737236" y="1051456"/>
                    </a:cubicBezTo>
                    <a:cubicBezTo>
                      <a:pt x="737172" y="1051456"/>
                      <a:pt x="737108" y="1051456"/>
                      <a:pt x="737045" y="1051456"/>
                    </a:cubicBezTo>
                    <a:lnTo>
                      <a:pt x="645890" y="1051456"/>
                    </a:lnTo>
                    <a:cubicBezTo>
                      <a:pt x="633265" y="1051508"/>
                      <a:pt x="622988" y="1041316"/>
                      <a:pt x="622935" y="1028691"/>
                    </a:cubicBezTo>
                    <a:cubicBezTo>
                      <a:pt x="622935" y="1028659"/>
                      <a:pt x="622935" y="1028627"/>
                      <a:pt x="622935" y="1028596"/>
                    </a:cubicBezTo>
                    <a:lnTo>
                      <a:pt x="622935" y="731416"/>
                    </a:lnTo>
                    <a:lnTo>
                      <a:pt x="607695" y="731416"/>
                    </a:lnTo>
                    <a:lnTo>
                      <a:pt x="607695" y="1028596"/>
                    </a:lnTo>
                    <a:cubicBezTo>
                      <a:pt x="607748" y="1041168"/>
                      <a:pt x="597599" y="1051403"/>
                      <a:pt x="585026" y="1051456"/>
                    </a:cubicBezTo>
                    <a:cubicBezTo>
                      <a:pt x="584962" y="1051456"/>
                      <a:pt x="584899" y="1051456"/>
                      <a:pt x="584835" y="1051456"/>
                    </a:cubicBezTo>
                    <a:lnTo>
                      <a:pt x="529849" y="1051456"/>
                    </a:lnTo>
                    <a:lnTo>
                      <a:pt x="522907" y="1062915"/>
                    </a:lnTo>
                    <a:cubicBezTo>
                      <a:pt x="513783" y="1072970"/>
                      <a:pt x="500823" y="1079544"/>
                      <a:pt x="486189" y="1080254"/>
                    </a:cubicBezTo>
                    <a:cubicBezTo>
                      <a:pt x="485322" y="1080296"/>
                      <a:pt x="484453" y="1080317"/>
                      <a:pt x="483584" y="1080317"/>
                    </a:cubicBezTo>
                    <a:cubicBezTo>
                      <a:pt x="455037" y="1080956"/>
                      <a:pt x="431353" y="1058379"/>
                      <a:pt x="430625" y="1029834"/>
                    </a:cubicBezTo>
                    <a:lnTo>
                      <a:pt x="430626" y="1029834"/>
                    </a:lnTo>
                    <a:cubicBezTo>
                      <a:pt x="429205" y="1000568"/>
                      <a:pt x="451779" y="975691"/>
                      <a:pt x="481046" y="974271"/>
                    </a:cubicBezTo>
                    <a:cubicBezTo>
                      <a:pt x="502996" y="973205"/>
                      <a:pt x="522476" y="985637"/>
                      <a:pt x="531444" y="1004266"/>
                    </a:cubicBezTo>
                    <a:lnTo>
                      <a:pt x="531815" y="1005736"/>
                    </a:lnTo>
                    <a:lnTo>
                      <a:pt x="561975" y="1005736"/>
                    </a:lnTo>
                    <a:lnTo>
                      <a:pt x="561975" y="708555"/>
                    </a:lnTo>
                    <a:cubicBezTo>
                      <a:pt x="561923" y="695983"/>
                      <a:pt x="572072" y="685748"/>
                      <a:pt x="584644" y="685695"/>
                    </a:cubicBezTo>
                    <a:cubicBezTo>
                      <a:pt x="584708" y="685695"/>
                      <a:pt x="584772" y="685695"/>
                      <a:pt x="584835" y="685695"/>
                    </a:cubicBezTo>
                    <a:lnTo>
                      <a:pt x="645890" y="685696"/>
                    </a:lnTo>
                    <a:cubicBezTo>
                      <a:pt x="658463" y="685643"/>
                      <a:pt x="668698" y="695792"/>
                      <a:pt x="668750" y="708365"/>
                    </a:cubicBezTo>
                    <a:cubicBezTo>
                      <a:pt x="668751" y="708428"/>
                      <a:pt x="668751" y="708492"/>
                      <a:pt x="668750" y="708556"/>
                    </a:cubicBezTo>
                    <a:lnTo>
                      <a:pt x="668750" y="1005736"/>
                    </a:lnTo>
                    <a:lnTo>
                      <a:pt x="714375" y="1005736"/>
                    </a:lnTo>
                    <a:lnTo>
                      <a:pt x="714375" y="716176"/>
                    </a:lnTo>
                    <a:cubicBezTo>
                      <a:pt x="714375" y="576159"/>
                      <a:pt x="595652" y="449705"/>
                      <a:pt x="446519" y="420279"/>
                    </a:cubicBezTo>
                    <a:lnTo>
                      <a:pt x="445326" y="420162"/>
                    </a:lnTo>
                    <a:lnTo>
                      <a:pt x="448268" y="430499"/>
                    </a:lnTo>
                    <a:cubicBezTo>
                      <a:pt x="449616" y="447728"/>
                      <a:pt x="443852" y="463871"/>
                      <a:pt x="433445" y="476044"/>
                    </a:cubicBezTo>
                    <a:lnTo>
                      <a:pt x="425445" y="480115"/>
                    </a:lnTo>
                    <a:lnTo>
                      <a:pt x="426919" y="483361"/>
                    </a:lnTo>
                    <a:cubicBezTo>
                      <a:pt x="426932" y="483750"/>
                      <a:pt x="426929" y="484139"/>
                      <a:pt x="426911" y="484528"/>
                    </a:cubicBezTo>
                    <a:lnTo>
                      <a:pt x="454725" y="844858"/>
                    </a:lnTo>
                    <a:cubicBezTo>
                      <a:pt x="454616" y="849579"/>
                      <a:pt x="452826" y="854105"/>
                      <a:pt x="449676" y="857622"/>
                    </a:cubicBezTo>
                    <a:lnTo>
                      <a:pt x="391478" y="916867"/>
                    </a:lnTo>
                    <a:cubicBezTo>
                      <a:pt x="388713" y="919566"/>
                      <a:pt x="385191" y="921360"/>
                      <a:pt x="381382" y="922011"/>
                    </a:cubicBezTo>
                    <a:lnTo>
                      <a:pt x="381001" y="921535"/>
                    </a:lnTo>
                    <a:cubicBezTo>
                      <a:pt x="375953" y="921535"/>
                      <a:pt x="373476" y="918963"/>
                      <a:pt x="368428" y="916391"/>
                    </a:cubicBezTo>
                    <a:lnTo>
                      <a:pt x="310230" y="860194"/>
                    </a:lnTo>
                    <a:cubicBezTo>
                      <a:pt x="307658" y="855050"/>
                      <a:pt x="305182" y="852574"/>
                      <a:pt x="305182" y="847430"/>
                    </a:cubicBezTo>
                    <a:lnTo>
                      <a:pt x="333376" y="484528"/>
                    </a:lnTo>
                    <a:lnTo>
                      <a:pt x="335226" y="482655"/>
                    </a:lnTo>
                    <a:lnTo>
                      <a:pt x="320535" y="464159"/>
                    </a:lnTo>
                    <a:cubicBezTo>
                      <a:pt x="316794" y="456942"/>
                      <a:pt x="314407" y="448872"/>
                      <a:pt x="313733" y="440258"/>
                    </a:cubicBezTo>
                    <a:lnTo>
                      <a:pt x="316182" y="420141"/>
                    </a:lnTo>
                    <a:lnTo>
                      <a:pt x="314758" y="420279"/>
                    </a:lnTo>
                    <a:cubicBezTo>
                      <a:pt x="164157" y="449705"/>
                      <a:pt x="45434" y="576159"/>
                      <a:pt x="45434" y="716176"/>
                    </a:cubicBezTo>
                    <a:lnTo>
                      <a:pt x="45434" y="1005736"/>
                    </a:lnTo>
                    <a:lnTo>
                      <a:pt x="91154" y="1005736"/>
                    </a:lnTo>
                    <a:lnTo>
                      <a:pt x="91154" y="708555"/>
                    </a:lnTo>
                    <a:cubicBezTo>
                      <a:pt x="91102" y="695983"/>
                      <a:pt x="101251" y="685748"/>
                      <a:pt x="113824" y="685695"/>
                    </a:cubicBezTo>
                    <a:cubicBezTo>
                      <a:pt x="113887" y="685695"/>
                      <a:pt x="113951" y="685695"/>
                      <a:pt x="114014" y="685695"/>
                    </a:cubicBezTo>
                    <a:lnTo>
                      <a:pt x="175070" y="685696"/>
                    </a:lnTo>
                    <a:cubicBezTo>
                      <a:pt x="187642" y="685643"/>
                      <a:pt x="197877" y="695792"/>
                      <a:pt x="197930" y="708365"/>
                    </a:cubicBezTo>
                    <a:cubicBezTo>
                      <a:pt x="197930" y="708428"/>
                      <a:pt x="197930" y="708492"/>
                      <a:pt x="197930" y="708556"/>
                    </a:cubicBezTo>
                    <a:lnTo>
                      <a:pt x="197930" y="1005736"/>
                    </a:lnTo>
                    <a:lnTo>
                      <a:pt x="282763" y="1005736"/>
                    </a:lnTo>
                    <a:lnTo>
                      <a:pt x="290971" y="992910"/>
                    </a:lnTo>
                    <a:cubicBezTo>
                      <a:pt x="300104" y="983329"/>
                      <a:pt x="312892" y="977232"/>
                      <a:pt x="327170" y="976890"/>
                    </a:cubicBezTo>
                    <a:cubicBezTo>
                      <a:pt x="355726" y="976206"/>
                      <a:pt x="379430" y="998801"/>
                      <a:pt x="380114" y="1027358"/>
                    </a:cubicBezTo>
                    <a:cubicBezTo>
                      <a:pt x="380798" y="1055914"/>
                      <a:pt x="358203" y="1079618"/>
                      <a:pt x="329646" y="1080302"/>
                    </a:cubicBezTo>
                    <a:cubicBezTo>
                      <a:pt x="329239" y="1080312"/>
                      <a:pt x="328831" y="1080317"/>
                      <a:pt x="328423" y="1080317"/>
                    </a:cubicBezTo>
                    <a:cubicBezTo>
                      <a:pt x="314317" y="1080476"/>
                      <a:pt x="301478" y="1074908"/>
                      <a:pt x="292120" y="1065774"/>
                    </a:cubicBezTo>
                    <a:lnTo>
                      <a:pt x="282208" y="1051456"/>
                    </a:lnTo>
                    <a:lnTo>
                      <a:pt x="175451" y="1051456"/>
                    </a:lnTo>
                    <a:cubicBezTo>
                      <a:pt x="162878" y="1051508"/>
                      <a:pt x="152643" y="1041359"/>
                      <a:pt x="152591" y="1028786"/>
                    </a:cubicBezTo>
                    <a:cubicBezTo>
                      <a:pt x="152590" y="1028723"/>
                      <a:pt x="152590" y="1028659"/>
                      <a:pt x="152591" y="1028595"/>
                    </a:cubicBezTo>
                    <a:lnTo>
                      <a:pt x="152591" y="731416"/>
                    </a:lnTo>
                    <a:lnTo>
                      <a:pt x="137351" y="731416"/>
                    </a:lnTo>
                    <a:lnTo>
                      <a:pt x="137351" y="1028596"/>
                    </a:lnTo>
                    <a:cubicBezTo>
                      <a:pt x="137351" y="1041221"/>
                      <a:pt x="127116" y="1051456"/>
                      <a:pt x="114491" y="1051456"/>
                    </a:cubicBezTo>
                    <a:cubicBezTo>
                      <a:pt x="114459" y="1051456"/>
                      <a:pt x="114427" y="1051456"/>
                      <a:pt x="114395" y="1051456"/>
                    </a:cubicBezTo>
                    <a:lnTo>
                      <a:pt x="22860" y="1051456"/>
                    </a:lnTo>
                    <a:cubicBezTo>
                      <a:pt x="10288" y="1051508"/>
                      <a:pt x="53" y="1041359"/>
                      <a:pt x="0" y="1028786"/>
                    </a:cubicBezTo>
                    <a:cubicBezTo>
                      <a:pt x="0" y="1028723"/>
                      <a:pt x="0" y="1028659"/>
                      <a:pt x="0" y="1028595"/>
                    </a:cubicBezTo>
                    <a:lnTo>
                      <a:pt x="0" y="716176"/>
                    </a:lnTo>
                    <a:cubicBezTo>
                      <a:pt x="0" y="530724"/>
                      <a:pt x="178022" y="368132"/>
                      <a:pt x="381000" y="368132"/>
                    </a:cubicBezTo>
                    <a:close/>
                    <a:moveTo>
                      <a:pt x="382619" y="48284"/>
                    </a:moveTo>
                    <a:cubicBezTo>
                      <a:pt x="308978" y="47387"/>
                      <a:pt x="248552" y="106358"/>
                      <a:pt x="247655" y="180000"/>
                    </a:cubicBezTo>
                    <a:cubicBezTo>
                      <a:pt x="247653" y="180163"/>
                      <a:pt x="247651" y="180327"/>
                      <a:pt x="247650" y="180491"/>
                    </a:cubicBezTo>
                    <a:cubicBezTo>
                      <a:pt x="247650" y="254138"/>
                      <a:pt x="307353" y="313841"/>
                      <a:pt x="381000" y="313841"/>
                    </a:cubicBezTo>
                    <a:cubicBezTo>
                      <a:pt x="454647" y="313841"/>
                      <a:pt x="514350" y="254138"/>
                      <a:pt x="514350" y="180491"/>
                    </a:cubicBezTo>
                    <a:cubicBezTo>
                      <a:pt x="513733" y="107917"/>
                      <a:pt x="455190" y="49162"/>
                      <a:pt x="382619" y="48284"/>
                    </a:cubicBezTo>
                    <a:close/>
                    <a:moveTo>
                      <a:pt x="379671" y="4"/>
                    </a:moveTo>
                    <a:cubicBezTo>
                      <a:pt x="478671" y="-675"/>
                      <a:pt x="559478" y="79030"/>
                      <a:pt x="560157" y="178031"/>
                    </a:cubicBezTo>
                    <a:cubicBezTo>
                      <a:pt x="560835" y="276840"/>
                      <a:pt x="481427" y="357565"/>
                      <a:pt x="382619" y="358513"/>
                    </a:cubicBezTo>
                    <a:cubicBezTo>
                      <a:pt x="283780" y="359619"/>
                      <a:pt x="202759" y="280391"/>
                      <a:pt x="201653" y="181552"/>
                    </a:cubicBezTo>
                    <a:cubicBezTo>
                      <a:pt x="201649" y="181198"/>
                      <a:pt x="201646" y="180844"/>
                      <a:pt x="201644" y="180491"/>
                    </a:cubicBezTo>
                    <a:cubicBezTo>
                      <a:pt x="200965" y="81490"/>
                      <a:pt x="280670" y="684"/>
                      <a:pt x="379671" y="4"/>
                    </a:cubicBezTo>
                    <a:close/>
                  </a:path>
                </a:pathLst>
              </a:custGeom>
              <a:solidFill>
                <a:srgbClr val="1D1D1A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Calibri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8" name="Google Shape;538;p7"/>
              <p:cNvSpPr/>
              <p:nvPr/>
            </p:nvSpPr>
            <p:spPr>
              <a:xfrm>
                <a:off x="2868980" y="5483470"/>
                <a:ext cx="695519" cy="5027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666666"/>
                  </a:buClr>
                  <a:buSzPts val="800"/>
                  <a:buFont typeface="Arial"/>
                  <a:buNone/>
                </a:pPr>
                <a:r>
                  <a:rPr b="1" i="0" lang="zh-CN" sz="800" u="none" cap="none" strike="noStrike">
                    <a:solidFill>
                      <a:srgbClr val="666666"/>
                    </a:solidFill>
                    <a:latin typeface="Arial"/>
                    <a:ea typeface="Arial"/>
                    <a:cs typeface="Arial"/>
                    <a:sym typeface="Arial"/>
                  </a:rPr>
                  <a:t>Noc工程师</a:t>
                </a:r>
                <a:endParaRPr/>
              </a:p>
            </p:txBody>
          </p:sp>
          <p:sp>
            <p:nvSpPr>
              <p:cNvPr id="539" name="Google Shape;539;p7"/>
              <p:cNvSpPr/>
              <p:nvPr/>
            </p:nvSpPr>
            <p:spPr>
              <a:xfrm>
                <a:off x="3615308" y="5400056"/>
                <a:ext cx="951036" cy="213367"/>
              </a:xfrm>
              <a:prstGeom prst="rect">
                <a:avLst/>
              </a:prstGeom>
              <a:noFill/>
              <a:ln cap="flat" cmpd="sng" w="12700">
                <a:solidFill>
                  <a:srgbClr val="1D1D1A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666666"/>
                  </a:buClr>
                  <a:buSzPts val="1000"/>
                  <a:buFont typeface="Arial"/>
                  <a:buNone/>
                </a:pPr>
                <a:r>
                  <a:rPr b="1" i="0" lang="zh-CN" sz="1000" u="none" cap="none" strike="noStrike">
                    <a:solidFill>
                      <a:srgbClr val="666666"/>
                    </a:solidFill>
                    <a:latin typeface="Arial"/>
                    <a:ea typeface="Arial"/>
                    <a:cs typeface="Arial"/>
                    <a:sym typeface="Arial"/>
                  </a:rPr>
                  <a:t>SD-LAN平台</a:t>
                </a:r>
                <a:endParaRPr/>
              </a:p>
            </p:txBody>
          </p:sp>
          <p:sp>
            <p:nvSpPr>
              <p:cNvPr id="540" name="Google Shape;540;p7"/>
              <p:cNvSpPr/>
              <p:nvPr/>
            </p:nvSpPr>
            <p:spPr>
              <a:xfrm>
                <a:off x="2704765" y="5308881"/>
                <a:ext cx="2128090" cy="667599"/>
              </a:xfrm>
              <a:prstGeom prst="ellipse">
                <a:avLst/>
              </a:prstGeom>
              <a:noFill/>
              <a:ln cap="flat" cmpd="sng" w="12700">
                <a:solidFill>
                  <a:srgbClr val="1D1D1A"/>
                </a:solidFill>
                <a:prstDash val="dash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799"/>
                  <a:buFont typeface="Calibri"/>
                  <a:buNone/>
                </a:pPr>
                <a:r>
                  <a:t/>
                </a:r>
                <a:endParaRPr b="0" i="0" sz="1799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1" name="Google Shape;541;p7"/>
              <p:cNvSpPr/>
              <p:nvPr/>
            </p:nvSpPr>
            <p:spPr>
              <a:xfrm>
                <a:off x="3715544" y="5678072"/>
                <a:ext cx="750565" cy="213367"/>
              </a:xfrm>
              <a:prstGeom prst="rect">
                <a:avLst/>
              </a:prstGeom>
              <a:noFill/>
              <a:ln cap="flat" cmpd="sng" w="12700">
                <a:solidFill>
                  <a:srgbClr val="1D1D1A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666666"/>
                  </a:buClr>
                  <a:buSzPts val="1000"/>
                  <a:buFont typeface="Arial"/>
                  <a:buNone/>
                </a:pPr>
                <a:r>
                  <a:rPr b="1" i="0" lang="zh-CN" sz="1000" u="none" cap="none" strike="noStrike">
                    <a:solidFill>
                      <a:srgbClr val="666666"/>
                    </a:solidFill>
                    <a:latin typeface="Arial"/>
                    <a:ea typeface="Arial"/>
                    <a:cs typeface="Arial"/>
                    <a:sym typeface="Arial"/>
                  </a:rPr>
                  <a:t>LAN 设备</a:t>
                </a:r>
                <a:endParaRPr/>
              </a:p>
            </p:txBody>
          </p:sp>
        </p:grpSp>
      </p:grpSp>
      <p:sp>
        <p:nvSpPr>
          <p:cNvPr id="542" name="Google Shape;542;p7"/>
          <p:cNvSpPr/>
          <p:nvPr/>
        </p:nvSpPr>
        <p:spPr>
          <a:xfrm>
            <a:off x="5473334" y="1467616"/>
            <a:ext cx="5697658" cy="459472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3" name="Google Shape;543;p7"/>
          <p:cNvCxnSpPr/>
          <p:nvPr/>
        </p:nvCxnSpPr>
        <p:spPr>
          <a:xfrm>
            <a:off x="5995749" y="5122220"/>
            <a:ext cx="4774169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44" name="Google Shape;544;p7"/>
          <p:cNvCxnSpPr/>
          <p:nvPr/>
        </p:nvCxnSpPr>
        <p:spPr>
          <a:xfrm rot="10800000">
            <a:off x="7224071" y="2537923"/>
            <a:ext cx="0" cy="347157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45" name="Google Shape;545;p7"/>
          <p:cNvCxnSpPr/>
          <p:nvPr/>
        </p:nvCxnSpPr>
        <p:spPr>
          <a:xfrm rot="10800000">
            <a:off x="8898314" y="2543250"/>
            <a:ext cx="0" cy="347157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46" name="Google Shape;546;p7"/>
          <p:cNvSpPr txBox="1"/>
          <p:nvPr/>
        </p:nvSpPr>
        <p:spPr>
          <a:xfrm>
            <a:off x="5507094" y="2404114"/>
            <a:ext cx="1713286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通过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Catalog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方式提供</a:t>
            </a:r>
            <a:endParaRPr/>
          </a:p>
        </p:txBody>
      </p:sp>
      <p:sp>
        <p:nvSpPr>
          <p:cNvPr id="547" name="Google Shape;547;p7"/>
          <p:cNvSpPr txBox="1"/>
          <p:nvPr/>
        </p:nvSpPr>
        <p:spPr>
          <a:xfrm>
            <a:off x="7238022" y="2404114"/>
            <a:ext cx="1660291" cy="1730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提供的产品</a:t>
            </a:r>
            <a:endParaRPr/>
          </a:p>
        </p:txBody>
      </p:sp>
      <p:sp>
        <p:nvSpPr>
          <p:cNvPr id="548" name="Google Shape;548;p7"/>
          <p:cNvSpPr txBox="1"/>
          <p:nvPr/>
        </p:nvSpPr>
        <p:spPr>
          <a:xfrm>
            <a:off x="9012594" y="2404114"/>
            <a:ext cx="2054268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的份额</a:t>
            </a:r>
            <a:endParaRPr/>
          </a:p>
        </p:txBody>
      </p:sp>
      <p:sp>
        <p:nvSpPr>
          <p:cNvPr id="549" name="Google Shape;549;p7"/>
          <p:cNvSpPr txBox="1"/>
          <p:nvPr/>
        </p:nvSpPr>
        <p:spPr>
          <a:xfrm>
            <a:off x="5507094" y="1699702"/>
            <a:ext cx="5663899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管理服务是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近两年新扩展的服务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厂商以</a:t>
            </a:r>
            <a:r>
              <a:rPr b="0" i="0" lang="zh-CN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与</a:t>
            </a:r>
            <a:r>
              <a:rPr b="0" i="0" lang="zh-CN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b="0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为主</a:t>
            </a:r>
            <a:r>
              <a:rPr b="0" i="0" lang="zh-CN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，Teldat</a:t>
            </a:r>
            <a:r>
              <a:rPr b="0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</a:t>
            </a:r>
            <a:r>
              <a:rPr b="0" i="0" lang="zh-CN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r>
              <a:rPr b="0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年新进加入</a:t>
            </a:r>
            <a:r>
              <a:rPr b="0" i="0" lang="zh-CN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T.Tech</a:t>
            </a: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作为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b="1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b="1" i="0" lang="zh-CN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Cloud </a:t>
            </a:r>
            <a:r>
              <a:rPr b="1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管理平台</a:t>
            </a:r>
            <a:r>
              <a:rPr b="1" i="0" lang="zh-CN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+Noc</a:t>
            </a:r>
            <a:r>
              <a:rPr b="1" i="0" lang="zh-CN" sz="11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中心管理服务</a:t>
            </a:r>
            <a:endParaRPr b="1" i="0" sz="1100" u="none" cap="none" strike="noStrik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550" name="Google Shape;550;p7"/>
          <p:cNvSpPr txBox="1"/>
          <p:nvPr/>
        </p:nvSpPr>
        <p:spPr>
          <a:xfrm>
            <a:off x="5693111" y="5392747"/>
            <a:ext cx="1320443" cy="477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托管服务</a:t>
            </a:r>
            <a:endParaRPr b="0" i="0" sz="1100" u="none" cap="none" strike="noStrik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551" name="Google Shape;551;p7"/>
          <p:cNvSpPr txBox="1"/>
          <p:nvPr/>
        </p:nvSpPr>
        <p:spPr>
          <a:xfrm>
            <a:off x="7414338" y="5393323"/>
            <a:ext cx="1320443" cy="4762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服务中不含设备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设备由客户单独采购</a:t>
            </a:r>
            <a:endParaRPr/>
          </a:p>
        </p:txBody>
      </p:sp>
      <p:sp>
        <p:nvSpPr>
          <p:cNvPr id="552" name="Google Shape;552;p7"/>
          <p:cNvSpPr txBox="1"/>
          <p:nvPr/>
        </p:nvSpPr>
        <p:spPr>
          <a:xfrm>
            <a:off x="9431203" y="5519653"/>
            <a:ext cx="1320443" cy="223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最终用户现网设备</a:t>
            </a:r>
            <a:endParaRPr/>
          </a:p>
        </p:txBody>
      </p:sp>
      <p:sp>
        <p:nvSpPr>
          <p:cNvPr id="553" name="Google Shape;553;p7"/>
          <p:cNvSpPr txBox="1"/>
          <p:nvPr/>
        </p:nvSpPr>
        <p:spPr>
          <a:xfrm>
            <a:off x="5723125" y="3298041"/>
            <a:ext cx="1320443" cy="7301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FlexWAN2.0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（LAN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部分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设备空间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：40M$</a:t>
            </a:r>
            <a:endParaRPr b="1" i="0" sz="11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7"/>
          <p:cNvSpPr txBox="1"/>
          <p:nvPr/>
        </p:nvSpPr>
        <p:spPr>
          <a:xfrm>
            <a:off x="7388821" y="3055893"/>
            <a:ext cx="1387754" cy="1692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SD-LAN 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：Meraki MS； Aruba CS/5x/7x；Teldat ESW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Cloud Wi-Fi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：Meraki MR； Aruba Instant On；Teldat WAP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7"/>
          <p:cNvSpPr/>
          <p:nvPr/>
        </p:nvSpPr>
        <p:spPr>
          <a:xfrm>
            <a:off x="9254452" y="3071962"/>
            <a:ext cx="163193" cy="452157"/>
          </a:xfrm>
          <a:prstGeom prst="rect">
            <a:avLst/>
          </a:prstGeom>
          <a:solidFill>
            <a:srgbClr val="026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7"/>
          <p:cNvSpPr txBox="1"/>
          <p:nvPr/>
        </p:nvSpPr>
        <p:spPr>
          <a:xfrm>
            <a:off x="9020670" y="3524119"/>
            <a:ext cx="616297" cy="18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zh-CN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Cisco</a:t>
            </a:r>
            <a:endParaRPr b="1" i="0" sz="9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7"/>
          <p:cNvSpPr txBox="1"/>
          <p:nvPr/>
        </p:nvSpPr>
        <p:spPr>
          <a:xfrm>
            <a:off x="10439063" y="3516891"/>
            <a:ext cx="723761" cy="18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zh-CN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Teldat</a:t>
            </a:r>
            <a:endParaRPr b="1" i="0" sz="9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7"/>
          <p:cNvSpPr/>
          <p:nvPr/>
        </p:nvSpPr>
        <p:spPr>
          <a:xfrm>
            <a:off x="10726577" y="3264433"/>
            <a:ext cx="144811" cy="255189"/>
          </a:xfrm>
          <a:prstGeom prst="rect">
            <a:avLst/>
          </a:prstGeom>
          <a:solidFill>
            <a:srgbClr val="66BA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7"/>
          <p:cNvSpPr txBox="1"/>
          <p:nvPr/>
        </p:nvSpPr>
        <p:spPr>
          <a:xfrm>
            <a:off x="9707134" y="3521387"/>
            <a:ext cx="723761" cy="18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zh-CN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HPE</a:t>
            </a:r>
            <a:endParaRPr b="1" i="0" sz="9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7"/>
          <p:cNvSpPr/>
          <p:nvPr/>
        </p:nvSpPr>
        <p:spPr>
          <a:xfrm>
            <a:off x="9996609" y="3071962"/>
            <a:ext cx="144811" cy="452157"/>
          </a:xfrm>
          <a:prstGeom prst="rect">
            <a:avLst/>
          </a:pr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7"/>
          <p:cNvSpPr txBox="1"/>
          <p:nvPr/>
        </p:nvSpPr>
        <p:spPr>
          <a:xfrm>
            <a:off x="10430895" y="3033652"/>
            <a:ext cx="723761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4M$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7"/>
          <p:cNvSpPr txBox="1"/>
          <p:nvPr/>
        </p:nvSpPr>
        <p:spPr>
          <a:xfrm>
            <a:off x="9707134" y="2821880"/>
            <a:ext cx="723761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10M$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7"/>
          <p:cNvSpPr txBox="1"/>
          <p:nvPr/>
        </p:nvSpPr>
        <p:spPr>
          <a:xfrm>
            <a:off x="9128723" y="2821880"/>
            <a:ext cx="361956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10M$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4" name="Google Shape;564;p7"/>
          <p:cNvCxnSpPr/>
          <p:nvPr/>
        </p:nvCxnSpPr>
        <p:spPr>
          <a:xfrm>
            <a:off x="8962480" y="3513978"/>
            <a:ext cx="2089413" cy="0"/>
          </a:xfrm>
          <a:prstGeom prst="straightConnector1">
            <a:avLst/>
          </a:prstGeom>
          <a:noFill/>
          <a:ln cap="flat" cmpd="sng" w="9525">
            <a:solidFill>
              <a:srgbClr val="E9002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65" name="Google Shape;565;p7"/>
          <p:cNvSpPr txBox="1"/>
          <p:nvPr/>
        </p:nvSpPr>
        <p:spPr>
          <a:xfrm>
            <a:off x="9681276" y="2631097"/>
            <a:ext cx="759377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Cloud Wi-Fi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7"/>
          <p:cNvSpPr/>
          <p:nvPr/>
        </p:nvSpPr>
        <p:spPr>
          <a:xfrm>
            <a:off x="9638743" y="4336821"/>
            <a:ext cx="163193" cy="407521"/>
          </a:xfrm>
          <a:prstGeom prst="rect">
            <a:avLst/>
          </a:prstGeom>
          <a:solidFill>
            <a:srgbClr val="026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7"/>
          <p:cNvSpPr txBox="1"/>
          <p:nvPr/>
        </p:nvSpPr>
        <p:spPr>
          <a:xfrm>
            <a:off x="9404961" y="4744343"/>
            <a:ext cx="616297" cy="161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zh-C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Cisco</a:t>
            </a:r>
            <a:endParaRPr b="1" i="0" sz="8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7"/>
          <p:cNvSpPr txBox="1"/>
          <p:nvPr/>
        </p:nvSpPr>
        <p:spPr>
          <a:xfrm>
            <a:off x="10091424" y="4741881"/>
            <a:ext cx="723761" cy="161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zh-C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HPE</a:t>
            </a:r>
            <a:endParaRPr b="1" i="0" sz="8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7"/>
          <p:cNvSpPr/>
          <p:nvPr/>
        </p:nvSpPr>
        <p:spPr>
          <a:xfrm>
            <a:off x="10380899" y="4336821"/>
            <a:ext cx="144811" cy="407521"/>
          </a:xfrm>
          <a:prstGeom prst="rect">
            <a:avLst/>
          </a:pr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7"/>
          <p:cNvSpPr txBox="1"/>
          <p:nvPr/>
        </p:nvSpPr>
        <p:spPr>
          <a:xfrm>
            <a:off x="10091424" y="4111427"/>
            <a:ext cx="723761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8M$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7"/>
          <p:cNvSpPr txBox="1"/>
          <p:nvPr/>
        </p:nvSpPr>
        <p:spPr>
          <a:xfrm>
            <a:off x="9513014" y="4111427"/>
            <a:ext cx="361956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8M$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2" name="Google Shape;572;p7"/>
          <p:cNvCxnSpPr/>
          <p:nvPr/>
        </p:nvCxnSpPr>
        <p:spPr>
          <a:xfrm>
            <a:off x="9346770" y="4740992"/>
            <a:ext cx="1423148" cy="0"/>
          </a:xfrm>
          <a:prstGeom prst="straightConnector1">
            <a:avLst/>
          </a:prstGeom>
          <a:noFill/>
          <a:ln cap="flat" cmpd="sng" w="9525">
            <a:solidFill>
              <a:srgbClr val="E9002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73" name="Google Shape;573;p7"/>
          <p:cNvSpPr txBox="1"/>
          <p:nvPr/>
        </p:nvSpPr>
        <p:spPr>
          <a:xfrm>
            <a:off x="9638743" y="3899745"/>
            <a:ext cx="951559" cy="203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None/>
            </a:pP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SD-LAN(</a:t>
            </a:r>
            <a:r>
              <a:rPr b="0" i="0" lang="zh-CN" sz="10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交换机</a:t>
            </a:r>
            <a:r>
              <a:rPr b="0" i="0" lang="zh-CN" sz="10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endParaRPr b="1" i="0" sz="100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7"/>
          <p:cNvSpPr/>
          <p:nvPr/>
        </p:nvSpPr>
        <p:spPr>
          <a:xfrm>
            <a:off x="3835391" y="5830704"/>
            <a:ext cx="750272" cy="213284"/>
          </a:xfrm>
          <a:prstGeom prst="rect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Microsoft Yahei"/>
              <a:buNone/>
            </a:pPr>
            <a:r>
              <a:rPr b="1" i="0" lang="zh-CN" sz="100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现网存量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8"/>
          <p:cNvSpPr txBox="1"/>
          <p:nvPr/>
        </p:nvSpPr>
        <p:spPr>
          <a:xfrm>
            <a:off x="343645" y="121055"/>
            <a:ext cx="11509472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云服务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通过伙伴云转售和提供本土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DC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机房租赁服务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为政府提供主权云服务</a:t>
            </a:r>
            <a:endParaRPr/>
          </a:p>
        </p:txBody>
      </p:sp>
      <p:pic>
        <p:nvPicPr>
          <p:cNvPr id="581" name="Google Shape;58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2579" y="5327308"/>
            <a:ext cx="903263" cy="676576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8"/>
          <p:cNvSpPr txBox="1"/>
          <p:nvPr/>
        </p:nvSpPr>
        <p:spPr>
          <a:xfrm>
            <a:off x="685983" y="1587636"/>
            <a:ext cx="4665216" cy="353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Cloud</a:t>
            </a: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管理服务</a:t>
            </a:r>
            <a:endParaRPr b="1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Managed Cloud Service</a:t>
            </a:r>
            <a:endParaRPr/>
          </a:p>
        </p:txBody>
      </p:sp>
      <p:sp>
        <p:nvSpPr>
          <p:cNvPr id="583" name="Google Shape;583;p8"/>
          <p:cNvSpPr/>
          <p:nvPr/>
        </p:nvSpPr>
        <p:spPr>
          <a:xfrm>
            <a:off x="666255" y="1449268"/>
            <a:ext cx="4684945" cy="459472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8"/>
          <p:cNvSpPr txBox="1"/>
          <p:nvPr/>
        </p:nvSpPr>
        <p:spPr>
          <a:xfrm>
            <a:off x="1478798" y="1996493"/>
            <a:ext cx="1601223" cy="6460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7875" lIns="47875" spcFirstLastPara="1" rIns="47875" wrap="square" tIns="478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399"/>
              <a:buFont typeface="Microsoft Yahei"/>
              <a:buNone/>
            </a:pPr>
            <a:r>
              <a:rPr b="1" i="0" lang="zh-CN" sz="1399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年收入</a:t>
            </a:r>
            <a:r>
              <a:rPr b="1" i="0" lang="zh-CN" sz="1599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450M€</a:t>
            </a:r>
            <a:endParaRPr/>
          </a:p>
        </p:txBody>
      </p:sp>
      <p:sp>
        <p:nvSpPr>
          <p:cNvPr id="585" name="Google Shape;585;p8"/>
          <p:cNvSpPr/>
          <p:nvPr/>
        </p:nvSpPr>
        <p:spPr>
          <a:xfrm>
            <a:off x="3289607" y="2118453"/>
            <a:ext cx="665284" cy="718672"/>
          </a:xfrm>
          <a:prstGeom prst="pie">
            <a:avLst>
              <a:gd fmla="val 13062462" name="adj1"/>
              <a:gd fmla="val 16200000" name="adj2"/>
            </a:avLst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8"/>
          <p:cNvSpPr txBox="1"/>
          <p:nvPr/>
        </p:nvSpPr>
        <p:spPr>
          <a:xfrm>
            <a:off x="3662746" y="2058486"/>
            <a:ext cx="665284" cy="6460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7875" lIns="47875" spcFirstLastPara="1" rIns="47875" wrap="square" tIns="478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12% 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100"/>
              <a:buFont typeface="Arial"/>
              <a:buNone/>
            </a:pPr>
            <a:r>
              <a:rPr b="0" i="0" lang="zh-CN" sz="110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0" i="0" lang="zh-CN" sz="110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</a:t>
            </a:r>
            <a:endParaRPr b="0" i="0" sz="12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grpSp>
        <p:nvGrpSpPr>
          <p:cNvPr id="587" name="Google Shape;587;p8"/>
          <p:cNvGrpSpPr/>
          <p:nvPr/>
        </p:nvGrpSpPr>
        <p:grpSpPr>
          <a:xfrm>
            <a:off x="884117" y="3141979"/>
            <a:ext cx="4319085" cy="2763416"/>
            <a:chOff x="812924" y="1705911"/>
            <a:chExt cx="4879146" cy="2779295"/>
          </a:xfrm>
        </p:grpSpPr>
        <p:sp>
          <p:nvSpPr>
            <p:cNvPr id="588" name="Google Shape;588;p8"/>
            <p:cNvSpPr/>
            <p:nvPr/>
          </p:nvSpPr>
          <p:spPr>
            <a:xfrm>
              <a:off x="2358671" y="2452885"/>
              <a:ext cx="3176987" cy="2032321"/>
            </a:xfrm>
            <a:prstGeom prst="rect">
              <a:avLst/>
            </a:prstGeom>
            <a:solidFill>
              <a:srgbClr val="DEF3D0"/>
            </a:solidFill>
            <a:ln cap="flat" cmpd="sng" w="12700">
              <a:solidFill>
                <a:srgbClr val="1D1D1A"/>
              </a:solidFill>
              <a:prstDash val="dash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599"/>
                <a:buFont typeface="Calibri"/>
                <a:buNone/>
              </a:pPr>
              <a:r>
                <a:t/>
              </a:r>
              <a:endParaRPr b="0" i="0" sz="1599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8"/>
            <p:cNvSpPr/>
            <p:nvPr/>
          </p:nvSpPr>
          <p:spPr>
            <a:xfrm>
              <a:off x="831312" y="1705911"/>
              <a:ext cx="4860758" cy="2779295"/>
            </a:xfrm>
            <a:custGeom>
              <a:rect b="b" l="l" r="r" t="t"/>
              <a:pathLst>
                <a:path extrusionOk="0" fill="none" h="2779295" w="4860758">
                  <a:moveTo>
                    <a:pt x="132348" y="36095"/>
                  </a:moveTo>
                  <a:cubicBezTo>
                    <a:pt x="471917" y="46429"/>
                    <a:pt x="625289" y="38115"/>
                    <a:pt x="902403" y="39034"/>
                  </a:cubicBezTo>
                  <a:cubicBezTo>
                    <a:pt x="1179517" y="39953"/>
                    <a:pt x="1259551" y="22640"/>
                    <a:pt x="1436038" y="41071"/>
                  </a:cubicBezTo>
                  <a:cubicBezTo>
                    <a:pt x="1612525" y="59502"/>
                    <a:pt x="1877392" y="44674"/>
                    <a:pt x="2016957" y="43288"/>
                  </a:cubicBezTo>
                  <a:cubicBezTo>
                    <a:pt x="2156522" y="41902"/>
                    <a:pt x="2308210" y="60852"/>
                    <a:pt x="2550592" y="45325"/>
                  </a:cubicBezTo>
                  <a:cubicBezTo>
                    <a:pt x="2792974" y="29798"/>
                    <a:pt x="2981107" y="60924"/>
                    <a:pt x="3226079" y="47903"/>
                  </a:cubicBezTo>
                  <a:cubicBezTo>
                    <a:pt x="3471051" y="34882"/>
                    <a:pt x="3681566" y="28854"/>
                    <a:pt x="3996134" y="50842"/>
                  </a:cubicBezTo>
                  <a:cubicBezTo>
                    <a:pt x="4310702" y="72830"/>
                    <a:pt x="4647529" y="17001"/>
                    <a:pt x="4860758" y="54142"/>
                  </a:cubicBezTo>
                  <a:cubicBezTo>
                    <a:pt x="4846857" y="269534"/>
                    <a:pt x="4854769" y="424123"/>
                    <a:pt x="4818648" y="595563"/>
                  </a:cubicBezTo>
                  <a:cubicBezTo>
                    <a:pt x="4520487" y="591810"/>
                    <a:pt x="4364507" y="613821"/>
                    <a:pt x="4092241" y="599353"/>
                  </a:cubicBezTo>
                  <a:cubicBezTo>
                    <a:pt x="3819975" y="584885"/>
                    <a:pt x="3676352" y="610386"/>
                    <a:pt x="3400426" y="602963"/>
                  </a:cubicBezTo>
                  <a:cubicBezTo>
                    <a:pt x="3124500" y="595540"/>
                    <a:pt x="3057957" y="611244"/>
                    <a:pt x="2812382" y="606031"/>
                  </a:cubicBezTo>
                  <a:cubicBezTo>
                    <a:pt x="2566807" y="600817"/>
                    <a:pt x="2244600" y="636957"/>
                    <a:pt x="2051385" y="610001"/>
                  </a:cubicBezTo>
                  <a:cubicBezTo>
                    <a:pt x="1858169" y="583045"/>
                    <a:pt x="1674124" y="592036"/>
                    <a:pt x="1359569" y="613611"/>
                  </a:cubicBezTo>
                  <a:cubicBezTo>
                    <a:pt x="1299225" y="1398549"/>
                    <a:pt x="1377142" y="1952727"/>
                    <a:pt x="1347537" y="2779295"/>
                  </a:cubicBezTo>
                  <a:cubicBezTo>
                    <a:pt x="1079468" y="2749461"/>
                    <a:pt x="948185" y="2800826"/>
                    <a:pt x="649946" y="2760526"/>
                  </a:cubicBezTo>
                  <a:cubicBezTo>
                    <a:pt x="351707" y="2720226"/>
                    <a:pt x="250954" y="2721292"/>
                    <a:pt x="6016" y="2743200"/>
                  </a:cubicBezTo>
                  <a:cubicBezTo>
                    <a:pt x="1775" y="2727289"/>
                    <a:pt x="4969" y="2701664"/>
                    <a:pt x="0" y="2664995"/>
                  </a:cubicBezTo>
                  <a:cubicBezTo>
                    <a:pt x="-18030" y="2398603"/>
                    <a:pt x="8500" y="2282588"/>
                    <a:pt x="20334" y="1975225"/>
                  </a:cubicBezTo>
                  <a:cubicBezTo>
                    <a:pt x="32167" y="1667862"/>
                    <a:pt x="11054" y="1558709"/>
                    <a:pt x="38321" y="1365043"/>
                  </a:cubicBezTo>
                  <a:cubicBezTo>
                    <a:pt x="65588" y="1171377"/>
                    <a:pt x="26470" y="954055"/>
                    <a:pt x="58655" y="675273"/>
                  </a:cubicBezTo>
                  <a:cubicBezTo>
                    <a:pt x="90840" y="396491"/>
                    <a:pt x="64300" y="291466"/>
                    <a:pt x="78206" y="12032"/>
                  </a:cubicBezTo>
                  <a:cubicBezTo>
                    <a:pt x="130112" y="14861"/>
                    <a:pt x="208136" y="10476"/>
                    <a:pt x="270711" y="12032"/>
                  </a:cubicBezTo>
                  <a:cubicBezTo>
                    <a:pt x="291201" y="5091"/>
                    <a:pt x="295176" y="3164"/>
                    <a:pt x="312821" y="0"/>
                  </a:cubicBezTo>
                  <a:cubicBezTo>
                    <a:pt x="321637" y="21486"/>
                    <a:pt x="327203" y="33606"/>
                    <a:pt x="336885" y="48127"/>
                  </a:cubicBezTo>
                </a:path>
                <a:path extrusionOk="0" h="2779295" w="4860758">
                  <a:moveTo>
                    <a:pt x="132348" y="36095"/>
                  </a:moveTo>
                  <a:cubicBezTo>
                    <a:pt x="466268" y="39910"/>
                    <a:pt x="609520" y="44467"/>
                    <a:pt x="807835" y="38673"/>
                  </a:cubicBezTo>
                  <a:cubicBezTo>
                    <a:pt x="1006150" y="32880"/>
                    <a:pt x="1407573" y="39398"/>
                    <a:pt x="1577890" y="41612"/>
                  </a:cubicBezTo>
                  <a:cubicBezTo>
                    <a:pt x="1748207" y="43826"/>
                    <a:pt x="2058477" y="69423"/>
                    <a:pt x="2347946" y="44551"/>
                  </a:cubicBezTo>
                  <a:cubicBezTo>
                    <a:pt x="2637415" y="19679"/>
                    <a:pt x="2693190" y="58975"/>
                    <a:pt x="3023433" y="47129"/>
                  </a:cubicBezTo>
                  <a:cubicBezTo>
                    <a:pt x="3353676" y="35283"/>
                    <a:pt x="3358258" y="73474"/>
                    <a:pt x="3604352" y="49347"/>
                  </a:cubicBezTo>
                  <a:cubicBezTo>
                    <a:pt x="3850446" y="25219"/>
                    <a:pt x="3957741" y="40564"/>
                    <a:pt x="4137987" y="51383"/>
                  </a:cubicBezTo>
                  <a:cubicBezTo>
                    <a:pt x="4318233" y="62202"/>
                    <a:pt x="4572978" y="65004"/>
                    <a:pt x="4860758" y="54142"/>
                  </a:cubicBezTo>
                  <a:cubicBezTo>
                    <a:pt x="4837905" y="229243"/>
                    <a:pt x="4848453" y="454984"/>
                    <a:pt x="4818648" y="595563"/>
                  </a:cubicBezTo>
                  <a:cubicBezTo>
                    <a:pt x="4624543" y="632390"/>
                    <a:pt x="4369814" y="573077"/>
                    <a:pt x="4057651" y="599534"/>
                  </a:cubicBezTo>
                  <a:cubicBezTo>
                    <a:pt x="3745488" y="625991"/>
                    <a:pt x="3750111" y="593759"/>
                    <a:pt x="3469607" y="602602"/>
                  </a:cubicBezTo>
                  <a:cubicBezTo>
                    <a:pt x="3189103" y="611445"/>
                    <a:pt x="3057491" y="620269"/>
                    <a:pt x="2708610" y="606572"/>
                  </a:cubicBezTo>
                  <a:cubicBezTo>
                    <a:pt x="2359729" y="592876"/>
                    <a:pt x="2138290" y="631706"/>
                    <a:pt x="1947612" y="610543"/>
                  </a:cubicBezTo>
                  <a:cubicBezTo>
                    <a:pt x="1756934" y="589380"/>
                    <a:pt x="1586411" y="612024"/>
                    <a:pt x="1359569" y="613611"/>
                  </a:cubicBezTo>
                  <a:cubicBezTo>
                    <a:pt x="1231187" y="1317381"/>
                    <a:pt x="1332285" y="2010048"/>
                    <a:pt x="1347537" y="2779295"/>
                  </a:cubicBezTo>
                  <a:cubicBezTo>
                    <a:pt x="1072161" y="2795186"/>
                    <a:pt x="917014" y="2770136"/>
                    <a:pt x="717022" y="2762330"/>
                  </a:cubicBezTo>
                  <a:cubicBezTo>
                    <a:pt x="517030" y="2754525"/>
                    <a:pt x="275246" y="2732644"/>
                    <a:pt x="6016" y="2743200"/>
                  </a:cubicBezTo>
                  <a:cubicBezTo>
                    <a:pt x="6115" y="2719304"/>
                    <a:pt x="5377" y="2702933"/>
                    <a:pt x="0" y="2664995"/>
                  </a:cubicBezTo>
                  <a:cubicBezTo>
                    <a:pt x="724" y="2364676"/>
                    <a:pt x="2935" y="2216234"/>
                    <a:pt x="17987" y="2054814"/>
                  </a:cubicBezTo>
                  <a:cubicBezTo>
                    <a:pt x="33039" y="1893394"/>
                    <a:pt x="62136" y="1529961"/>
                    <a:pt x="39103" y="1338514"/>
                  </a:cubicBezTo>
                  <a:cubicBezTo>
                    <a:pt x="16070" y="1147067"/>
                    <a:pt x="62392" y="980959"/>
                    <a:pt x="59437" y="648743"/>
                  </a:cubicBezTo>
                  <a:cubicBezTo>
                    <a:pt x="56482" y="316527"/>
                    <a:pt x="82909" y="152525"/>
                    <a:pt x="78206" y="12032"/>
                  </a:cubicBezTo>
                  <a:cubicBezTo>
                    <a:pt x="159813" y="12881"/>
                    <a:pt x="179558" y="3010"/>
                    <a:pt x="270711" y="12032"/>
                  </a:cubicBezTo>
                  <a:cubicBezTo>
                    <a:pt x="281285" y="8821"/>
                    <a:pt x="293047" y="7523"/>
                    <a:pt x="312821" y="0"/>
                  </a:cubicBezTo>
                  <a:cubicBezTo>
                    <a:pt x="322247" y="13898"/>
                    <a:pt x="332357" y="36495"/>
                    <a:pt x="336885" y="48127"/>
                  </a:cubicBezTo>
                </a:path>
              </a:pathLst>
            </a:custGeom>
            <a:solidFill>
              <a:srgbClr val="D3F1F4"/>
            </a:solidFill>
            <a:ln cap="flat" cmpd="sng" w="12700">
              <a:solidFill>
                <a:srgbClr val="1D1D1A"/>
              </a:solidFill>
              <a:prstDash val="dash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599"/>
                <a:buFont typeface="Calibri"/>
                <a:buNone/>
              </a:pPr>
              <a:r>
                <a:t/>
              </a:r>
              <a:endParaRPr b="0" i="0" sz="1599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8"/>
            <p:cNvSpPr/>
            <p:nvPr/>
          </p:nvSpPr>
          <p:spPr>
            <a:xfrm>
              <a:off x="4142169" y="3802339"/>
              <a:ext cx="1118935" cy="425237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伙伴云转售</a:t>
              </a:r>
              <a:endParaRPr b="1" i="0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AAG、Oracle</a:t>
              </a:r>
              <a:endParaRPr b="1" i="0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8"/>
            <p:cNvSpPr/>
            <p:nvPr/>
          </p:nvSpPr>
          <p:spPr>
            <a:xfrm>
              <a:off x="2888457" y="3802339"/>
              <a:ext cx="1118935" cy="425237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TECH云</a:t>
              </a:r>
              <a:endParaRPr b="1" i="0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（Acens云）</a:t>
              </a:r>
              <a:endParaRPr/>
            </a:p>
          </p:txBody>
        </p:sp>
        <p:sp>
          <p:nvSpPr>
            <p:cNvPr id="592" name="Google Shape;592;p8"/>
            <p:cNvSpPr/>
            <p:nvPr/>
          </p:nvSpPr>
          <p:spPr>
            <a:xfrm>
              <a:off x="1044562" y="3811852"/>
              <a:ext cx="833691" cy="425237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Hosting</a:t>
              </a:r>
              <a:endParaRPr b="1" i="0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8"/>
            <p:cNvSpPr/>
            <p:nvPr/>
          </p:nvSpPr>
          <p:spPr>
            <a:xfrm>
              <a:off x="2840586" y="3152971"/>
              <a:ext cx="2420518" cy="318311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统一的企业级容器管理平台 TROS（Kubernetes ）</a:t>
              </a:r>
              <a:endParaRPr/>
            </a:p>
          </p:txBody>
        </p:sp>
        <p:sp>
          <p:nvSpPr>
            <p:cNvPr id="594" name="Google Shape;594;p8"/>
            <p:cNvSpPr/>
            <p:nvPr/>
          </p:nvSpPr>
          <p:spPr>
            <a:xfrm>
              <a:off x="1941825" y="3799687"/>
              <a:ext cx="833691" cy="425237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客户</a:t>
              </a:r>
              <a:endParaRPr b="1" i="0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私有云</a:t>
              </a:r>
              <a:endParaRPr/>
            </a:p>
          </p:txBody>
        </p:sp>
        <p:cxnSp>
          <p:nvCxnSpPr>
            <p:cNvPr id="595" name="Google Shape;595;p8"/>
            <p:cNvCxnSpPr>
              <a:stCxn id="593" idx="2"/>
              <a:endCxn id="594" idx="0"/>
            </p:cNvCxnSpPr>
            <p:nvPr/>
          </p:nvCxnSpPr>
          <p:spPr>
            <a:xfrm flipH="1">
              <a:off x="2358545" y="3471282"/>
              <a:ext cx="1692300" cy="328500"/>
            </a:xfrm>
            <a:prstGeom prst="straightConnector1">
              <a:avLst/>
            </a:prstGeom>
            <a:noFill/>
            <a:ln cap="flat" cmpd="sng" w="19050">
              <a:solidFill>
                <a:srgbClr val="666666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6" name="Google Shape;596;p8"/>
            <p:cNvCxnSpPr>
              <a:stCxn id="593" idx="2"/>
              <a:endCxn id="591" idx="0"/>
            </p:cNvCxnSpPr>
            <p:nvPr/>
          </p:nvCxnSpPr>
          <p:spPr>
            <a:xfrm flipH="1">
              <a:off x="3447845" y="3471282"/>
              <a:ext cx="603000" cy="331200"/>
            </a:xfrm>
            <a:prstGeom prst="straightConnector1">
              <a:avLst/>
            </a:prstGeom>
            <a:noFill/>
            <a:ln cap="flat" cmpd="sng" w="19050">
              <a:solidFill>
                <a:srgbClr val="666666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7" name="Google Shape;597;p8"/>
            <p:cNvCxnSpPr>
              <a:stCxn id="593" idx="2"/>
              <a:endCxn id="590" idx="0"/>
            </p:cNvCxnSpPr>
            <p:nvPr/>
          </p:nvCxnSpPr>
          <p:spPr>
            <a:xfrm>
              <a:off x="4050845" y="3471282"/>
              <a:ext cx="650700" cy="331200"/>
            </a:xfrm>
            <a:prstGeom prst="straightConnector1">
              <a:avLst/>
            </a:prstGeom>
            <a:noFill/>
            <a:ln cap="flat" cmpd="sng" w="19050">
              <a:solidFill>
                <a:srgbClr val="666666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sp>
          <p:nvSpPr>
            <p:cNvPr id="598" name="Google Shape;598;p8"/>
            <p:cNvSpPr/>
            <p:nvPr/>
          </p:nvSpPr>
          <p:spPr>
            <a:xfrm>
              <a:off x="4675130" y="2461388"/>
              <a:ext cx="938734" cy="1700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0000"/>
                </a:buClr>
                <a:buSzPts val="1050"/>
                <a:buFont typeface="Arial"/>
                <a:buNone/>
              </a:pPr>
              <a:r>
                <a:rPr b="1" i="0" lang="zh-CN" sz="105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Ttech提供</a:t>
              </a:r>
              <a:endParaRPr/>
            </a:p>
          </p:txBody>
        </p:sp>
        <p:sp>
          <p:nvSpPr>
            <p:cNvPr id="599" name="Google Shape;599;p8"/>
            <p:cNvSpPr/>
            <p:nvPr/>
          </p:nvSpPr>
          <p:spPr>
            <a:xfrm>
              <a:off x="2840585" y="2708083"/>
              <a:ext cx="2420518" cy="318311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混合云管理服务中心（DOC）</a:t>
              </a:r>
              <a:endParaRPr/>
            </a:p>
          </p:txBody>
        </p:sp>
        <p:cxnSp>
          <p:nvCxnSpPr>
            <p:cNvPr id="600" name="Google Shape;600;p8"/>
            <p:cNvCxnSpPr>
              <a:stCxn id="599" idx="2"/>
              <a:endCxn id="593" idx="0"/>
            </p:cNvCxnSpPr>
            <p:nvPr/>
          </p:nvCxnSpPr>
          <p:spPr>
            <a:xfrm>
              <a:off x="4050844" y="3026394"/>
              <a:ext cx="0" cy="126600"/>
            </a:xfrm>
            <a:prstGeom prst="straightConnector1">
              <a:avLst/>
            </a:prstGeom>
            <a:noFill/>
            <a:ln cap="flat" cmpd="sng" w="19050">
              <a:solidFill>
                <a:srgbClr val="666666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sp>
          <p:nvSpPr>
            <p:cNvPr id="601" name="Google Shape;601;p8"/>
            <p:cNvSpPr/>
            <p:nvPr/>
          </p:nvSpPr>
          <p:spPr>
            <a:xfrm>
              <a:off x="1044562" y="3325914"/>
              <a:ext cx="833691" cy="318311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云接入服务</a:t>
              </a:r>
              <a:endParaRPr/>
            </a:p>
          </p:txBody>
        </p:sp>
        <p:sp>
          <p:nvSpPr>
            <p:cNvPr id="602" name="Google Shape;602;p8"/>
            <p:cNvSpPr/>
            <p:nvPr/>
          </p:nvSpPr>
          <p:spPr>
            <a:xfrm>
              <a:off x="812924" y="2308309"/>
              <a:ext cx="862832" cy="1724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0000"/>
                </a:buClr>
                <a:buSzPts val="1100"/>
                <a:buFont typeface="Arial"/>
                <a:buNone/>
              </a:pPr>
              <a:r>
                <a:rPr b="1" i="0" lang="zh-CN" sz="11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TdE提供</a:t>
              </a:r>
              <a:endParaRPr/>
            </a:p>
          </p:txBody>
        </p:sp>
        <p:sp>
          <p:nvSpPr>
            <p:cNvPr id="603" name="Google Shape;603;p8"/>
            <p:cNvSpPr/>
            <p:nvPr/>
          </p:nvSpPr>
          <p:spPr>
            <a:xfrm>
              <a:off x="1153757" y="1867266"/>
              <a:ext cx="4279634" cy="318311"/>
            </a:xfrm>
            <a:prstGeom prst="rect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900"/>
                <a:buFont typeface="Arial"/>
                <a:buNone/>
              </a:pPr>
              <a:r>
                <a:rPr b="1" i="0" lang="zh-CN" sz="9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Cloud Portal 云管理服务</a:t>
              </a:r>
              <a:endParaRPr/>
            </a:p>
          </p:txBody>
        </p:sp>
        <p:cxnSp>
          <p:nvCxnSpPr>
            <p:cNvPr id="604" name="Google Shape;604;p8"/>
            <p:cNvCxnSpPr>
              <a:stCxn id="603" idx="2"/>
              <a:endCxn id="599" idx="0"/>
            </p:cNvCxnSpPr>
            <p:nvPr/>
          </p:nvCxnSpPr>
          <p:spPr>
            <a:xfrm>
              <a:off x="3293574" y="2185577"/>
              <a:ext cx="757200" cy="522600"/>
            </a:xfrm>
            <a:prstGeom prst="straightConnector1">
              <a:avLst/>
            </a:prstGeom>
            <a:noFill/>
            <a:ln cap="flat" cmpd="sng" w="19050">
              <a:solidFill>
                <a:srgbClr val="666666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sp>
          <p:nvSpPr>
            <p:cNvPr id="605" name="Google Shape;605;p8"/>
            <p:cNvSpPr/>
            <p:nvPr/>
          </p:nvSpPr>
          <p:spPr>
            <a:xfrm>
              <a:off x="4273089" y="1881821"/>
              <a:ext cx="897263" cy="2788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800"/>
                <a:buFont typeface="Arial"/>
                <a:buNone/>
              </a:pPr>
              <a:r>
                <a:rPr b="0" i="0" lang="zh-CN" sz="8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告警</a:t>
              </a:r>
              <a:endParaRPr b="0" i="0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800"/>
                <a:buFont typeface="Arial"/>
                <a:buNone/>
              </a:pPr>
              <a:r>
                <a:rPr b="0" i="0" lang="zh-CN" sz="8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报表</a:t>
              </a:r>
              <a:endParaRPr/>
            </a:p>
          </p:txBody>
        </p:sp>
        <p:sp>
          <p:nvSpPr>
            <p:cNvPr id="606" name="Google Shape;606;p8"/>
            <p:cNvSpPr/>
            <p:nvPr/>
          </p:nvSpPr>
          <p:spPr>
            <a:xfrm>
              <a:off x="1355496" y="1888886"/>
              <a:ext cx="897263" cy="2788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800"/>
                <a:buFont typeface="Arial"/>
                <a:buNone/>
              </a:pPr>
              <a:r>
                <a:rPr b="0" i="0" lang="zh-CN" sz="8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托管服务</a:t>
              </a:r>
              <a:endParaRPr b="0" i="0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66666"/>
                </a:buClr>
                <a:buSzPts val="800"/>
                <a:buFont typeface="Arial"/>
                <a:buNone/>
              </a:pPr>
              <a:r>
                <a:rPr b="0" i="0" lang="zh-CN" sz="8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专业服务</a:t>
              </a:r>
              <a:endParaRPr/>
            </a:p>
          </p:txBody>
        </p:sp>
      </p:grpSp>
      <p:sp>
        <p:nvSpPr>
          <p:cNvPr id="607" name="Google Shape;607;p8"/>
          <p:cNvSpPr txBox="1"/>
          <p:nvPr/>
        </p:nvSpPr>
        <p:spPr>
          <a:xfrm>
            <a:off x="685984" y="2651878"/>
            <a:ext cx="4665216" cy="430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由三部分组成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：1、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云服务转售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(TTCP+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伙伴云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）2、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云迁移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管理服务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3、DC Hosting（for Google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、Oracle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endParaRPr/>
          </a:p>
        </p:txBody>
      </p:sp>
      <p:sp>
        <p:nvSpPr>
          <p:cNvPr id="608" name="Google Shape;608;p8"/>
          <p:cNvSpPr/>
          <p:nvPr/>
        </p:nvSpPr>
        <p:spPr>
          <a:xfrm>
            <a:off x="5473334" y="1467616"/>
            <a:ext cx="5697658" cy="459472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8"/>
          <p:cNvSpPr txBox="1"/>
          <p:nvPr/>
        </p:nvSpPr>
        <p:spPr>
          <a:xfrm>
            <a:off x="5473334" y="1566404"/>
            <a:ext cx="5697659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与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双算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，TdE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转售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+AAGO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伙伴云服务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同时为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Google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和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Oracle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DC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租赁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100" u="none" cap="none" strike="noStrike">
                <a:solidFill>
                  <a:srgbClr val="E9002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帮助</a:t>
            </a:r>
            <a:r>
              <a:rPr b="1" i="0" lang="zh-CN" sz="1100" u="none" cap="none" strike="noStrike">
                <a:solidFill>
                  <a:srgbClr val="E9002F"/>
                </a:solidFill>
                <a:latin typeface="Arial"/>
                <a:ea typeface="Arial"/>
                <a:cs typeface="Arial"/>
                <a:sym typeface="Arial"/>
              </a:rPr>
              <a:t>G/O</a:t>
            </a:r>
            <a:r>
              <a:rPr b="1" i="0" lang="zh-CN" sz="1100" u="none" cap="none" strike="noStrike">
                <a:solidFill>
                  <a:srgbClr val="E9002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在西班牙政府市场提供主权云服务</a:t>
            </a:r>
            <a:endParaRPr/>
          </a:p>
        </p:txBody>
      </p:sp>
      <p:cxnSp>
        <p:nvCxnSpPr>
          <p:cNvPr id="610" name="Google Shape;610;p8"/>
          <p:cNvCxnSpPr/>
          <p:nvPr/>
        </p:nvCxnSpPr>
        <p:spPr>
          <a:xfrm>
            <a:off x="5773753" y="3147366"/>
            <a:ext cx="5080507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611" name="Google Shape;611;p8"/>
          <p:cNvCxnSpPr/>
          <p:nvPr/>
        </p:nvCxnSpPr>
        <p:spPr>
          <a:xfrm rot="10800000">
            <a:off x="7274852" y="2224906"/>
            <a:ext cx="0" cy="347157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612" name="Google Shape;612;p8"/>
          <p:cNvCxnSpPr/>
          <p:nvPr/>
        </p:nvCxnSpPr>
        <p:spPr>
          <a:xfrm>
            <a:off x="5812401" y="4777889"/>
            <a:ext cx="5080507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pic>
        <p:nvPicPr>
          <p:cNvPr id="613" name="Google Shape;613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73753" y="5408568"/>
            <a:ext cx="5093885" cy="9521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8"/>
          <p:cNvSpPr txBox="1"/>
          <p:nvPr/>
        </p:nvSpPr>
        <p:spPr>
          <a:xfrm>
            <a:off x="5455990" y="2099434"/>
            <a:ext cx="1713286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云服务提供商</a:t>
            </a:r>
            <a:endParaRPr/>
          </a:p>
        </p:txBody>
      </p:sp>
      <p:sp>
        <p:nvSpPr>
          <p:cNvPr id="615" name="Google Shape;615;p8"/>
          <p:cNvSpPr txBox="1"/>
          <p:nvPr/>
        </p:nvSpPr>
        <p:spPr>
          <a:xfrm>
            <a:off x="7238021" y="2099433"/>
            <a:ext cx="3838402" cy="169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与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的合作方式</a:t>
            </a:r>
            <a:endParaRPr/>
          </a:p>
        </p:txBody>
      </p:sp>
      <p:pic>
        <p:nvPicPr>
          <p:cNvPr id="616" name="Google Shape;61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53803" y="2420483"/>
            <a:ext cx="1068423" cy="669645"/>
          </a:xfrm>
          <a:prstGeom prst="rect">
            <a:avLst/>
          </a:prstGeom>
          <a:noFill/>
          <a:ln>
            <a:noFill/>
          </a:ln>
        </p:spPr>
      </p:pic>
      <p:sp>
        <p:nvSpPr>
          <p:cNvPr id="617" name="Google Shape;617;p8"/>
          <p:cNvSpPr txBox="1"/>
          <p:nvPr/>
        </p:nvSpPr>
        <p:spPr>
          <a:xfrm>
            <a:off x="7363717" y="2336384"/>
            <a:ext cx="3706186" cy="676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西班牙云服务份额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TOP1，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尤其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MS365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的是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主要转售的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SaaS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服务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年计划西班牙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Azure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云由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Host，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但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年取消合作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直接投资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2.1bn$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在马德里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自建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DC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并上线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8"/>
          <p:cNvSpPr txBox="1"/>
          <p:nvPr/>
        </p:nvSpPr>
        <p:spPr>
          <a:xfrm>
            <a:off x="6464734" y="2637980"/>
            <a:ext cx="839253" cy="2224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120M$</a:t>
            </a:r>
            <a:endParaRPr b="1" i="0" sz="11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Google Cloud gratis: qué es, límites y ventajas - Blog Ausum Cloud" id="619" name="Google Shape;61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88635" y="3156613"/>
            <a:ext cx="1389442" cy="778087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8"/>
          <p:cNvSpPr txBox="1"/>
          <p:nvPr/>
        </p:nvSpPr>
        <p:spPr>
          <a:xfrm>
            <a:off x="6464734" y="3451308"/>
            <a:ext cx="839253" cy="2224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70M$</a:t>
            </a:r>
            <a:endParaRPr b="1" i="0" sz="11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8"/>
          <p:cNvSpPr txBox="1"/>
          <p:nvPr/>
        </p:nvSpPr>
        <p:spPr>
          <a:xfrm>
            <a:off x="7363717" y="3361494"/>
            <a:ext cx="3706186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年在西班牙上线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由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DC Host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Google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已经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投资了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609M€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2" name="Google Shape;622;p8"/>
          <p:cNvCxnSpPr/>
          <p:nvPr/>
        </p:nvCxnSpPr>
        <p:spPr>
          <a:xfrm>
            <a:off x="5787131" y="3948000"/>
            <a:ext cx="5080507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pic>
        <p:nvPicPr>
          <p:cNvPr descr="Oracle ofrece formación y certificación gratuitas para su infraestructura  en la nube | Data Center Market" id="623" name="Google Shape;62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598456" y="4087550"/>
            <a:ext cx="1098923" cy="629013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8"/>
          <p:cNvSpPr txBox="1"/>
          <p:nvPr/>
        </p:nvSpPr>
        <p:spPr>
          <a:xfrm>
            <a:off x="6464734" y="4270263"/>
            <a:ext cx="839253" cy="2224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50M$</a:t>
            </a:r>
            <a:endParaRPr b="1" i="0" sz="11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8"/>
          <p:cNvSpPr txBox="1"/>
          <p:nvPr/>
        </p:nvSpPr>
        <p:spPr>
          <a:xfrm>
            <a:off x="7363717" y="4222631"/>
            <a:ext cx="3706186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年在西班牙提供主权云服务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由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</a:t>
            </a: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DC Host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年起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年投资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1bn$;</a:t>
            </a:r>
            <a:endParaRPr/>
          </a:p>
        </p:txBody>
      </p:sp>
      <p:pic>
        <p:nvPicPr>
          <p:cNvPr descr="Servidor Cloud - acens" id="626" name="Google Shape;626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688586" y="4939453"/>
            <a:ext cx="909127" cy="309339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8"/>
          <p:cNvSpPr txBox="1"/>
          <p:nvPr/>
        </p:nvSpPr>
        <p:spPr>
          <a:xfrm>
            <a:off x="6464734" y="4982887"/>
            <a:ext cx="839253" cy="2224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40M$</a:t>
            </a:r>
            <a:endParaRPr b="1" i="0" sz="11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8"/>
          <p:cNvSpPr txBox="1"/>
          <p:nvPr/>
        </p:nvSpPr>
        <p:spPr>
          <a:xfrm>
            <a:off x="7363717" y="4924912"/>
            <a:ext cx="3706186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自有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公有云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专注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中小企业的云服务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Char char="•"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年针对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SME</a:t>
            </a: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提供云存储服务</a:t>
            </a: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i="0" lang="zh-CN" sz="1100" u="none" cap="none" strike="noStrike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获得政府补贴</a:t>
            </a:r>
            <a:endParaRPr b="1" i="0" sz="11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29" name="Google Shape;629;p8"/>
          <p:cNvSpPr txBox="1"/>
          <p:nvPr/>
        </p:nvSpPr>
        <p:spPr>
          <a:xfrm>
            <a:off x="6464734" y="5553899"/>
            <a:ext cx="839253" cy="2224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50M$</a:t>
            </a:r>
            <a:endParaRPr b="1" i="0" sz="11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8"/>
          <p:cNvSpPr txBox="1"/>
          <p:nvPr/>
        </p:nvSpPr>
        <p:spPr>
          <a:xfrm>
            <a:off x="7363717" y="5547550"/>
            <a:ext cx="3706186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年上线西班牙节点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Argon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投资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15.7bn€</a:t>
            </a: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自运营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主攻企业市场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与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0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合作不深</a:t>
            </a:r>
            <a:r>
              <a:rPr b="0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9"/>
          <p:cNvSpPr txBox="1"/>
          <p:nvPr/>
        </p:nvSpPr>
        <p:spPr>
          <a:xfrm>
            <a:off x="343644" y="121055"/>
            <a:ext cx="11741675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安全托管服务和终端管理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：TTech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提供产商品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，TdE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负责销售</a:t>
            </a:r>
            <a:endParaRPr/>
          </a:p>
        </p:txBody>
      </p:sp>
      <p:sp>
        <p:nvSpPr>
          <p:cNvPr id="637" name="Google Shape;637;p9"/>
          <p:cNvSpPr/>
          <p:nvPr/>
        </p:nvSpPr>
        <p:spPr>
          <a:xfrm>
            <a:off x="666255" y="1449267"/>
            <a:ext cx="5217897" cy="4506046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9"/>
          <p:cNvSpPr/>
          <p:nvPr/>
        </p:nvSpPr>
        <p:spPr>
          <a:xfrm>
            <a:off x="6096001" y="1449267"/>
            <a:ext cx="5126706" cy="4506046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9"/>
          <p:cNvSpPr txBox="1"/>
          <p:nvPr/>
        </p:nvSpPr>
        <p:spPr>
          <a:xfrm>
            <a:off x="1104920" y="1583517"/>
            <a:ext cx="2627423" cy="353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安全管理服务</a:t>
            </a:r>
            <a:endParaRPr b="1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Managed Security Service</a:t>
            </a:r>
            <a:endParaRPr/>
          </a:p>
        </p:txBody>
      </p:sp>
      <p:sp>
        <p:nvSpPr>
          <p:cNvPr id="640" name="Google Shape;640;p9"/>
          <p:cNvSpPr txBox="1"/>
          <p:nvPr/>
        </p:nvSpPr>
        <p:spPr>
          <a:xfrm>
            <a:off x="3626022" y="1606591"/>
            <a:ext cx="1896321" cy="3076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销售</a:t>
            </a: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250M€/</a:t>
            </a: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endParaRPr/>
          </a:p>
        </p:txBody>
      </p:sp>
      <p:sp>
        <p:nvSpPr>
          <p:cNvPr id="641" name="Google Shape;641;p9"/>
          <p:cNvSpPr txBox="1"/>
          <p:nvPr/>
        </p:nvSpPr>
        <p:spPr>
          <a:xfrm>
            <a:off x="2985508" y="2819898"/>
            <a:ext cx="2627423" cy="430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TTech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在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年从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继承了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约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200M€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的安全托管服务和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SOC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中心</a:t>
            </a:r>
            <a:endParaRPr sz="1100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graphicFrame>
        <p:nvGraphicFramePr>
          <p:cNvPr id="642" name="Google Shape;642;p9"/>
          <p:cNvGraphicFramePr/>
          <p:nvPr/>
        </p:nvGraphicFramePr>
        <p:xfrm>
          <a:off x="1126554" y="40657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1617625"/>
                <a:gridCol w="2845100"/>
              </a:tblGrid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安全服务分类</a:t>
                      </a:r>
                      <a:endParaRPr b="1" i="0"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66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Vendor合作厂商</a:t>
                      </a:r>
                      <a:endParaRPr b="1" i="0"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66FD"/>
                    </a:solidFill>
                  </a:tcPr>
                </a:tc>
              </a:tr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Detection &amp; Response</a:t>
                      </a:r>
                      <a:endParaRPr b="0" i="0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Crowdstrike, Palo Alto</a:t>
                      </a:r>
                      <a:endParaRPr/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CyberThreat Intelligence</a:t>
                      </a:r>
                      <a:endParaRPr b="0" i="0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Palo Alto，Cisco, Microsoft,bitsight</a:t>
                      </a:r>
                      <a:endParaRPr b="0" i="0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Vuluerability Rist Mgmt</a:t>
                      </a:r>
                      <a:endParaRPr/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Rapid7, Qualys, Tenable</a:t>
                      </a:r>
                      <a:endParaRPr/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Network Security</a:t>
                      </a:r>
                      <a:endParaRPr/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Palo Alto, Fortinet, Netskope, F5, Zscaler</a:t>
                      </a:r>
                      <a:endParaRPr b="0" i="0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Data Protection</a:t>
                      </a:r>
                      <a:endParaRPr/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Sealpath,Digicert,VU,Factum,Cyberark</a:t>
                      </a:r>
                      <a:endParaRPr b="0" i="0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IOT/OT Security</a:t>
                      </a:r>
                      <a:endParaRPr/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NOZOMI,Graland,gigamon,medicate</a:t>
                      </a:r>
                      <a:endParaRPr b="0" i="0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11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Secure Microsoft</a:t>
                      </a:r>
                      <a:endParaRPr/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Microsoft</a:t>
                      </a:r>
                      <a:endParaRPr b="0" i="0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43" name="Google Shape;643;p9"/>
          <p:cNvSpPr/>
          <p:nvPr/>
        </p:nvSpPr>
        <p:spPr>
          <a:xfrm>
            <a:off x="1972115" y="2323792"/>
            <a:ext cx="806472" cy="245011"/>
          </a:xfrm>
          <a:prstGeom prst="rect">
            <a:avLst/>
          </a:prstGeom>
          <a:noFill/>
          <a:ln cap="flat" cmpd="sng" w="12700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50"/>
              <a:buFont typeface="Arial"/>
              <a:buNone/>
            </a:pPr>
            <a:r>
              <a:rPr b="1" i="0" lang="zh-CN" sz="10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SOC</a:t>
            </a:r>
            <a:r>
              <a:rPr b="1" i="0" lang="zh-CN" sz="105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中心</a:t>
            </a:r>
            <a:endParaRPr/>
          </a:p>
        </p:txBody>
      </p:sp>
      <p:sp>
        <p:nvSpPr>
          <p:cNvPr id="644" name="Google Shape;644;p9"/>
          <p:cNvSpPr/>
          <p:nvPr/>
        </p:nvSpPr>
        <p:spPr>
          <a:xfrm>
            <a:off x="994930" y="3072056"/>
            <a:ext cx="1103819" cy="16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Microsoft Yahei"/>
              <a:buNone/>
            </a:pPr>
            <a:r>
              <a:rPr b="1" i="0" lang="zh-CN" sz="120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防火墙</a:t>
            </a:r>
            <a:endParaRPr/>
          </a:p>
        </p:txBody>
      </p:sp>
      <p:sp>
        <p:nvSpPr>
          <p:cNvPr id="645" name="Google Shape;645;p9"/>
          <p:cNvSpPr/>
          <p:nvPr/>
        </p:nvSpPr>
        <p:spPr>
          <a:xfrm>
            <a:off x="1908837" y="3072056"/>
            <a:ext cx="1103819" cy="16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Microsoft Yahei"/>
              <a:buNone/>
            </a:pPr>
            <a:r>
              <a:rPr b="1" i="0" lang="zh-CN" sz="1200" u="none" cap="none" strike="noStrike">
                <a:solidFill>
                  <a:srgbClr val="666666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安全软件</a:t>
            </a:r>
            <a:endParaRPr/>
          </a:p>
        </p:txBody>
      </p:sp>
      <p:sp>
        <p:nvSpPr>
          <p:cNvPr id="646" name="Google Shape;646;p9"/>
          <p:cNvSpPr/>
          <p:nvPr/>
        </p:nvSpPr>
        <p:spPr>
          <a:xfrm>
            <a:off x="1125570" y="3037311"/>
            <a:ext cx="732229" cy="231008"/>
          </a:xfrm>
          <a:prstGeom prst="flowChartProcess">
            <a:avLst/>
          </a:prstGeom>
          <a:noFill/>
          <a:ln cap="flat" cmpd="sng" w="28575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9"/>
          <p:cNvSpPr/>
          <p:nvPr/>
        </p:nvSpPr>
        <p:spPr>
          <a:xfrm>
            <a:off x="1995629" y="3037311"/>
            <a:ext cx="866190" cy="231008"/>
          </a:xfrm>
          <a:prstGeom prst="flowChartProcess">
            <a:avLst/>
          </a:prstGeom>
          <a:noFill/>
          <a:ln cap="flat" cmpd="sng" w="28575">
            <a:solidFill>
              <a:srgbClr val="1D1D1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8" name="Google Shape;648;p9"/>
          <p:cNvGrpSpPr/>
          <p:nvPr/>
        </p:nvGrpSpPr>
        <p:grpSpPr>
          <a:xfrm>
            <a:off x="988337" y="2404562"/>
            <a:ext cx="881166" cy="590792"/>
            <a:chOff x="896712" y="2553916"/>
            <a:chExt cx="881510" cy="591023"/>
          </a:xfrm>
        </p:grpSpPr>
        <p:sp>
          <p:nvSpPr>
            <p:cNvPr id="649" name="Google Shape;649;p9"/>
            <p:cNvSpPr/>
            <p:nvPr/>
          </p:nvSpPr>
          <p:spPr>
            <a:xfrm>
              <a:off x="896712" y="2553916"/>
              <a:ext cx="881510" cy="591023"/>
            </a:xfrm>
            <a:prstGeom prst="cloud">
              <a:avLst/>
            </a:prstGeom>
            <a:noFill/>
            <a:ln cap="flat" cmpd="sng" w="12700">
              <a:solidFill>
                <a:srgbClr val="1D1D1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799"/>
                <a:buFont typeface="Calibri"/>
                <a:buNone/>
              </a:pPr>
              <a:r>
                <a:t/>
              </a:r>
              <a:endParaRPr b="0" i="0" sz="1799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9"/>
            <p:cNvSpPr txBox="1"/>
            <p:nvPr/>
          </p:nvSpPr>
          <p:spPr>
            <a:xfrm>
              <a:off x="932386" y="2647142"/>
              <a:ext cx="781224" cy="420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67"/>
                <a:buFont typeface="Arial"/>
                <a:buNone/>
              </a:pPr>
              <a:r>
                <a:rPr b="0" i="0" lang="zh-CN" sz="106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大网流量分析</a:t>
              </a:r>
              <a:endParaRPr b="0" i="0" sz="106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651" name="Google Shape;651;p9"/>
          <p:cNvCxnSpPr>
            <a:stCxn id="646" idx="0"/>
            <a:endCxn id="643" idx="2"/>
          </p:cNvCxnSpPr>
          <p:nvPr/>
        </p:nvCxnSpPr>
        <p:spPr>
          <a:xfrm flipH="1" rot="10800000">
            <a:off x="1491685" y="2568711"/>
            <a:ext cx="883800" cy="468600"/>
          </a:xfrm>
          <a:prstGeom prst="straightConnector1">
            <a:avLst/>
          </a:prstGeom>
          <a:noFill/>
          <a:ln cap="flat" cmpd="sng" w="9525">
            <a:solidFill>
              <a:srgbClr val="1D1D1A"/>
            </a:solidFill>
            <a:prstDash val="dashDot"/>
            <a:miter lim="8000"/>
            <a:headEnd len="sm" w="sm" type="none"/>
            <a:tailEnd len="sm" w="sm" type="none"/>
          </a:ln>
        </p:spPr>
      </p:cxnSp>
      <p:cxnSp>
        <p:nvCxnSpPr>
          <p:cNvPr id="652" name="Google Shape;652;p9"/>
          <p:cNvCxnSpPr>
            <a:stCxn id="647" idx="0"/>
            <a:endCxn id="643" idx="2"/>
          </p:cNvCxnSpPr>
          <p:nvPr/>
        </p:nvCxnSpPr>
        <p:spPr>
          <a:xfrm rot="10800000">
            <a:off x="2375324" y="2568711"/>
            <a:ext cx="53400" cy="468600"/>
          </a:xfrm>
          <a:prstGeom prst="straightConnector1">
            <a:avLst/>
          </a:prstGeom>
          <a:noFill/>
          <a:ln cap="flat" cmpd="sng" w="9525">
            <a:solidFill>
              <a:srgbClr val="1D1D1A"/>
            </a:solidFill>
            <a:prstDash val="dashDot"/>
            <a:miter lim="8000"/>
            <a:headEnd len="sm" w="sm" type="none"/>
            <a:tailEnd len="sm" w="sm" type="none"/>
          </a:ln>
        </p:spPr>
      </p:cxnSp>
      <p:sp>
        <p:nvSpPr>
          <p:cNvPr id="653" name="Google Shape;653;p9"/>
          <p:cNvSpPr txBox="1"/>
          <p:nvPr/>
        </p:nvSpPr>
        <p:spPr>
          <a:xfrm>
            <a:off x="685532" y="3577724"/>
            <a:ext cx="5198620" cy="430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TTech</a:t>
            </a: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主要提供约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20+</a:t>
            </a: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安全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方案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大杂烩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集成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endParaRPr b="1"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每个细类选择全球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TOP</a:t>
            </a: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的产品和伙伴</a:t>
            </a:r>
            <a:endParaRPr sz="1100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pic>
        <p:nvPicPr>
          <p:cNvPr id="654" name="Google Shape;6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41887" y="2274314"/>
            <a:ext cx="1177980" cy="397760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9"/>
          <p:cNvSpPr txBox="1"/>
          <p:nvPr/>
        </p:nvSpPr>
        <p:spPr>
          <a:xfrm>
            <a:off x="6436838" y="1583517"/>
            <a:ext cx="2627423" cy="353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办公终端管理服务</a:t>
            </a:r>
            <a:endParaRPr b="1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Device as a service</a:t>
            </a:r>
            <a:endParaRPr/>
          </a:p>
        </p:txBody>
      </p:sp>
      <p:sp>
        <p:nvSpPr>
          <p:cNvPr id="656" name="Google Shape;656;p9"/>
          <p:cNvSpPr txBox="1"/>
          <p:nvPr/>
        </p:nvSpPr>
        <p:spPr>
          <a:xfrm>
            <a:off x="8942266" y="1591833"/>
            <a:ext cx="1902668" cy="3076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TdE</a:t>
            </a: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销售</a:t>
            </a:r>
            <a:r>
              <a:rPr b="1" lang="zh-CN" sz="13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200M€/</a:t>
            </a:r>
            <a:r>
              <a:rPr b="1" lang="zh-CN" sz="1399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endParaRPr/>
          </a:p>
        </p:txBody>
      </p:sp>
      <p:sp>
        <p:nvSpPr>
          <p:cNvPr id="657" name="Google Shape;657;p9"/>
          <p:cNvSpPr txBox="1"/>
          <p:nvPr/>
        </p:nvSpPr>
        <p:spPr>
          <a:xfrm>
            <a:off x="7685692" y="3289501"/>
            <a:ext cx="3501659" cy="2615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由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TTech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提供设备供应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安全和远程服务</a:t>
            </a:r>
            <a:endParaRPr/>
          </a:p>
        </p:txBody>
      </p:sp>
      <p:sp>
        <p:nvSpPr>
          <p:cNvPr id="658" name="Google Shape;658;p9"/>
          <p:cNvSpPr txBox="1"/>
          <p:nvPr/>
        </p:nvSpPr>
        <p:spPr>
          <a:xfrm>
            <a:off x="6140082" y="2092058"/>
            <a:ext cx="1895529" cy="1107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终端管理服务产品包括</a:t>
            </a: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endParaRPr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509" lvl="0" marL="228509" marR="0" rtl="0" algn="l"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100"/>
              <a:buFont typeface="Calibri"/>
              <a:buAutoNum type="arabicPeriod"/>
            </a:pP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设备供应</a:t>
            </a:r>
            <a:endParaRPr b="1"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509" lvl="0" marL="228509" marR="0" rtl="0" algn="l"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100"/>
              <a:buFont typeface="Calibri"/>
              <a:buAutoNum type="arabicPeriod"/>
            </a:pP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IT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一站服务坐席</a:t>
            </a:r>
            <a:endParaRPr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509" lvl="0" marL="228509" marR="0" rtl="0" algn="l"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100"/>
              <a:buFont typeface="Calibri"/>
              <a:buAutoNum type="arabicPeriod"/>
            </a:pP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远程设备维护</a:t>
            </a:r>
            <a:endParaRPr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509" lvl="0" marL="228509" marR="0" rtl="0" algn="l"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100"/>
              <a:buFont typeface="Calibri"/>
              <a:buAutoNum type="arabicPeriod"/>
            </a:pP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移动办公安全</a:t>
            </a:r>
            <a:endParaRPr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509" lvl="0" marL="228509" marR="0" rtl="0" algn="l"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100"/>
              <a:buFont typeface="Calibri"/>
              <a:buAutoNum type="arabicPeriod"/>
            </a:pP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虚拟桌面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VDI</a:t>
            </a:r>
            <a:endParaRPr b="1" sz="11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9" name="Google Shape;65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75591" y="2064179"/>
            <a:ext cx="3159180" cy="116724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0" name="Google Shape;660;p9"/>
          <p:cNvCxnSpPr/>
          <p:nvPr/>
        </p:nvCxnSpPr>
        <p:spPr>
          <a:xfrm>
            <a:off x="6298113" y="4644951"/>
            <a:ext cx="4774169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661" name="Google Shape;661;p9"/>
          <p:cNvSpPr txBox="1"/>
          <p:nvPr/>
        </p:nvSpPr>
        <p:spPr>
          <a:xfrm>
            <a:off x="6309611" y="4185529"/>
            <a:ext cx="1099259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设备订阅</a:t>
            </a:r>
            <a:endParaRPr/>
          </a:p>
        </p:txBody>
      </p:sp>
      <p:cxnSp>
        <p:nvCxnSpPr>
          <p:cNvPr id="662" name="Google Shape;662;p9"/>
          <p:cNvCxnSpPr/>
          <p:nvPr/>
        </p:nvCxnSpPr>
        <p:spPr>
          <a:xfrm rot="10800000">
            <a:off x="7469432" y="3783515"/>
            <a:ext cx="0" cy="205119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663" name="Google Shape;663;p9"/>
          <p:cNvSpPr txBox="1"/>
          <p:nvPr/>
        </p:nvSpPr>
        <p:spPr>
          <a:xfrm>
            <a:off x="7700322" y="3978935"/>
            <a:ext cx="1099259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HP Elitebook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9"/>
          <p:cNvSpPr txBox="1"/>
          <p:nvPr/>
        </p:nvSpPr>
        <p:spPr>
          <a:xfrm>
            <a:off x="7643659" y="4283486"/>
            <a:ext cx="1212585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Lenovo ThinkPad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9"/>
          <p:cNvSpPr txBox="1"/>
          <p:nvPr/>
        </p:nvSpPr>
        <p:spPr>
          <a:xfrm>
            <a:off x="8942266" y="3978935"/>
            <a:ext cx="1212585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Apple Macbook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9"/>
          <p:cNvSpPr txBox="1"/>
          <p:nvPr/>
        </p:nvSpPr>
        <p:spPr>
          <a:xfrm>
            <a:off x="9014033" y="4283486"/>
            <a:ext cx="1212585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MS Surface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9"/>
          <p:cNvSpPr txBox="1"/>
          <p:nvPr/>
        </p:nvSpPr>
        <p:spPr>
          <a:xfrm>
            <a:off x="9974766" y="3978935"/>
            <a:ext cx="1212585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Dell</a:t>
            </a:r>
            <a:endParaRPr/>
          </a:p>
        </p:txBody>
      </p:sp>
      <p:sp>
        <p:nvSpPr>
          <p:cNvPr id="668" name="Google Shape;668;p9"/>
          <p:cNvSpPr txBox="1"/>
          <p:nvPr/>
        </p:nvSpPr>
        <p:spPr>
          <a:xfrm>
            <a:off x="6367455" y="5149207"/>
            <a:ext cx="1099259" cy="338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终端配套软件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icrosoft Yahei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订阅</a:t>
            </a:r>
            <a:endParaRPr/>
          </a:p>
        </p:txBody>
      </p:sp>
      <p:sp>
        <p:nvSpPr>
          <p:cNvPr id="669" name="Google Shape;669;p9"/>
          <p:cNvSpPr/>
          <p:nvPr/>
        </p:nvSpPr>
        <p:spPr>
          <a:xfrm>
            <a:off x="7999871" y="5321745"/>
            <a:ext cx="1172243" cy="37434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6E6E6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SSL 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安全访问</a:t>
            </a:r>
            <a:endParaRPr b="0" i="0" sz="105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68.33€/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endParaRPr b="0" i="0" sz="1050" u="none" cap="none" strike="noStrike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70" name="Google Shape;670;p9"/>
          <p:cNvSpPr/>
          <p:nvPr/>
        </p:nvSpPr>
        <p:spPr>
          <a:xfrm>
            <a:off x="9388644" y="5321745"/>
            <a:ext cx="1172243" cy="37434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6E6E6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EDR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设备安全</a:t>
            </a:r>
            <a:endParaRPr b="0" i="0" sz="1050" u="none" cap="none" strike="noStrike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59.88€/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endParaRPr b="0" i="0" sz="1050" u="none" cap="none" strike="noStrike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71" name="Google Shape;671;p9"/>
          <p:cNvSpPr/>
          <p:nvPr/>
        </p:nvSpPr>
        <p:spPr>
          <a:xfrm>
            <a:off x="7991800" y="4860251"/>
            <a:ext cx="1172243" cy="37434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6E6E6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Microsoft Yahei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微软</a:t>
            </a: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M365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140€/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endParaRPr b="0" i="0" sz="1050" u="none" cap="none" strike="noStrike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72" name="Google Shape;672;p9"/>
          <p:cNvSpPr/>
          <p:nvPr/>
        </p:nvSpPr>
        <p:spPr>
          <a:xfrm>
            <a:off x="9377672" y="4860251"/>
            <a:ext cx="1172243" cy="37434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6E6E6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Google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None/>
            </a:pPr>
            <a:r>
              <a:rPr b="0" i="0" lang="zh-CN" sz="1050" u="none" cap="none" strike="noStrike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138€/</a:t>
            </a:r>
            <a:r>
              <a:rPr b="0" i="0" lang="zh-CN" sz="1050" u="none" cap="none" strike="noStrike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endParaRPr b="0" i="0" sz="1050" u="none" cap="none" strike="noStrike">
              <a:solidFill>
                <a:srgbClr val="1D1D1A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73" name="Google Shape;673;p9"/>
          <p:cNvSpPr txBox="1"/>
          <p:nvPr/>
        </p:nvSpPr>
        <p:spPr>
          <a:xfrm>
            <a:off x="9991079" y="4283486"/>
            <a:ext cx="1212585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zh-CN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ChromeBook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10"/>
          <p:cNvSpPr txBox="1"/>
          <p:nvPr/>
        </p:nvSpPr>
        <p:spPr>
          <a:xfrm>
            <a:off x="343645" y="121055"/>
            <a:ext cx="11509472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Supply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产商品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： 90%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收入围绕通用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office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办公标品转售</a:t>
            </a: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，10%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收入来自垂直行业的系统集成</a:t>
            </a:r>
            <a:endParaRPr/>
          </a:p>
        </p:txBody>
      </p:sp>
      <p:sp>
        <p:nvSpPr>
          <p:cNvPr id="680" name="Google Shape;680;p10"/>
          <p:cNvSpPr/>
          <p:nvPr/>
        </p:nvSpPr>
        <p:spPr>
          <a:xfrm>
            <a:off x="757736" y="1404835"/>
            <a:ext cx="7157623" cy="4506046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81" name="Google Shape;681;p10"/>
          <p:cNvSpPr txBox="1"/>
          <p:nvPr/>
        </p:nvSpPr>
        <p:spPr>
          <a:xfrm>
            <a:off x="774509" y="1420691"/>
            <a:ext cx="7157623" cy="215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3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Supply</a:t>
            </a:r>
            <a:r>
              <a:rPr b="1" lang="zh-CN" sz="1399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类产商品</a:t>
            </a:r>
            <a:r>
              <a:rPr b="1" lang="zh-CN" sz="13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1399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由最终用户发起硬件和软件的采购</a:t>
            </a:r>
            <a:r>
              <a:rPr b="1" lang="zh-CN" sz="13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，TdE</a:t>
            </a:r>
            <a:r>
              <a:rPr b="1" lang="zh-CN" sz="1399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提供渠道转售</a:t>
            </a:r>
            <a:endParaRPr b="1" sz="1399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cxnSp>
        <p:nvCxnSpPr>
          <p:cNvPr id="682" name="Google Shape;682;p10"/>
          <p:cNvCxnSpPr/>
          <p:nvPr/>
        </p:nvCxnSpPr>
        <p:spPr>
          <a:xfrm>
            <a:off x="1298001" y="3345736"/>
            <a:ext cx="6117610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683" name="Google Shape;683;p10"/>
          <p:cNvCxnSpPr/>
          <p:nvPr/>
        </p:nvCxnSpPr>
        <p:spPr>
          <a:xfrm>
            <a:off x="1220954" y="4274133"/>
            <a:ext cx="6117610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684" name="Google Shape;684;p10"/>
          <p:cNvCxnSpPr/>
          <p:nvPr/>
        </p:nvCxnSpPr>
        <p:spPr>
          <a:xfrm rot="10800000">
            <a:off x="2492572" y="2328795"/>
            <a:ext cx="0" cy="347157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685" name="Google Shape;685;p10"/>
          <p:cNvSpPr txBox="1"/>
          <p:nvPr/>
        </p:nvSpPr>
        <p:spPr>
          <a:xfrm>
            <a:off x="740962" y="2161346"/>
            <a:ext cx="1713286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Supply</a:t>
            </a:r>
            <a:r>
              <a:rPr b="1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产商品</a:t>
            </a:r>
            <a:endParaRPr/>
          </a:p>
        </p:txBody>
      </p:sp>
      <p:sp>
        <p:nvSpPr>
          <p:cNvPr id="686" name="Google Shape;686;p10"/>
          <p:cNvSpPr txBox="1"/>
          <p:nvPr/>
        </p:nvSpPr>
        <p:spPr>
          <a:xfrm>
            <a:off x="4828387" y="2161346"/>
            <a:ext cx="2526592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r>
              <a:rPr b="1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的份额</a:t>
            </a:r>
            <a:endParaRPr/>
          </a:p>
        </p:txBody>
      </p:sp>
      <p:sp>
        <p:nvSpPr>
          <p:cNvPr id="687" name="Google Shape;687;p10"/>
          <p:cNvSpPr txBox="1"/>
          <p:nvPr/>
        </p:nvSpPr>
        <p:spPr>
          <a:xfrm>
            <a:off x="2706238" y="2489815"/>
            <a:ext cx="1320443" cy="939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园区交换机</a:t>
            </a: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、AP</a:t>
            </a:r>
            <a:endParaRPr/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无线局域专网</a:t>
            </a: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MPN</a:t>
            </a:r>
            <a:endParaRPr/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企业专网</a:t>
            </a: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（</a:t>
            </a: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微波</a:t>
            </a: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）</a:t>
            </a:r>
            <a:endParaRPr b="0" sz="105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4706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sz="105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8" name="Google Shape;688;p10"/>
          <p:cNvCxnSpPr/>
          <p:nvPr/>
        </p:nvCxnSpPr>
        <p:spPr>
          <a:xfrm rot="10800000">
            <a:off x="4222526" y="2324576"/>
            <a:ext cx="0" cy="3471579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689" name="Google Shape;689;p10"/>
          <p:cNvSpPr txBox="1"/>
          <p:nvPr/>
        </p:nvSpPr>
        <p:spPr>
          <a:xfrm>
            <a:off x="2535465" y="2161346"/>
            <a:ext cx="1713286" cy="16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主要转售商品</a:t>
            </a:r>
            <a:endParaRPr/>
          </a:p>
        </p:txBody>
      </p:sp>
      <p:sp>
        <p:nvSpPr>
          <p:cNvPr id="690" name="Google Shape;690;p10"/>
          <p:cNvSpPr txBox="1"/>
          <p:nvPr/>
        </p:nvSpPr>
        <p:spPr>
          <a:xfrm>
            <a:off x="945356" y="2461500"/>
            <a:ext cx="1320443" cy="8195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企业园区网络</a:t>
            </a:r>
            <a:endParaRPr b="1" sz="11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Enterprise Network Equipment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140M$</a:t>
            </a:r>
            <a:endParaRPr b="1" sz="12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10"/>
          <p:cNvSpPr/>
          <p:nvPr/>
        </p:nvSpPr>
        <p:spPr>
          <a:xfrm>
            <a:off x="4893515" y="2548560"/>
            <a:ext cx="167764" cy="570401"/>
          </a:xfrm>
          <a:prstGeom prst="rect">
            <a:avLst/>
          </a:prstGeom>
          <a:solidFill>
            <a:srgbClr val="026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92" name="Google Shape;692;p10"/>
          <p:cNvSpPr txBox="1"/>
          <p:nvPr/>
        </p:nvSpPr>
        <p:spPr>
          <a:xfrm>
            <a:off x="4629816" y="3097647"/>
            <a:ext cx="695162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Cisco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10"/>
          <p:cNvSpPr txBox="1"/>
          <p:nvPr/>
        </p:nvSpPr>
        <p:spPr>
          <a:xfrm>
            <a:off x="5671134" y="3097647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Huawei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10"/>
          <p:cNvSpPr/>
          <p:nvPr/>
        </p:nvSpPr>
        <p:spPr>
          <a:xfrm>
            <a:off x="5982745" y="2795088"/>
            <a:ext cx="167764" cy="32387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95" name="Google Shape;695;p10"/>
          <p:cNvSpPr txBox="1"/>
          <p:nvPr/>
        </p:nvSpPr>
        <p:spPr>
          <a:xfrm>
            <a:off x="5269507" y="3097647"/>
            <a:ext cx="571217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HPE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0"/>
          <p:cNvSpPr/>
          <p:nvPr/>
        </p:nvSpPr>
        <p:spPr>
          <a:xfrm>
            <a:off x="5514826" y="2615158"/>
            <a:ext cx="167764" cy="503803"/>
          </a:xfrm>
          <a:prstGeom prst="rect">
            <a:avLst/>
          </a:pr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697" name="Google Shape;697;p10"/>
          <p:cNvSpPr txBox="1"/>
          <p:nvPr/>
        </p:nvSpPr>
        <p:spPr>
          <a:xfrm>
            <a:off x="5658437" y="2522475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15M$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0"/>
          <p:cNvSpPr txBox="1"/>
          <p:nvPr/>
        </p:nvSpPr>
        <p:spPr>
          <a:xfrm>
            <a:off x="5278101" y="2398782"/>
            <a:ext cx="592665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50M$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0"/>
          <p:cNvSpPr txBox="1"/>
          <p:nvPr/>
        </p:nvSpPr>
        <p:spPr>
          <a:xfrm>
            <a:off x="4751696" y="2312155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55M$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0" name="Google Shape;700;p10"/>
          <p:cNvCxnSpPr/>
          <p:nvPr/>
        </p:nvCxnSpPr>
        <p:spPr>
          <a:xfrm>
            <a:off x="4564179" y="3113657"/>
            <a:ext cx="2950847" cy="0"/>
          </a:xfrm>
          <a:prstGeom prst="straightConnector1">
            <a:avLst/>
          </a:prstGeom>
          <a:noFill/>
          <a:ln cap="flat" cmpd="sng" w="9525">
            <a:solidFill>
              <a:srgbClr val="E9002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701" name="Google Shape;701;p10"/>
          <p:cNvSpPr txBox="1"/>
          <p:nvPr/>
        </p:nvSpPr>
        <p:spPr>
          <a:xfrm>
            <a:off x="6188815" y="3097647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Eicsson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0"/>
          <p:cNvSpPr/>
          <p:nvPr/>
        </p:nvSpPr>
        <p:spPr>
          <a:xfrm>
            <a:off x="6519694" y="2913203"/>
            <a:ext cx="167764" cy="205759"/>
          </a:xfrm>
          <a:prstGeom prst="rect">
            <a:avLst/>
          </a:prstGeom>
          <a:solidFill>
            <a:srgbClr val="57574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03" name="Google Shape;703;p10"/>
          <p:cNvSpPr txBox="1"/>
          <p:nvPr/>
        </p:nvSpPr>
        <p:spPr>
          <a:xfrm>
            <a:off x="6188092" y="2718388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10M$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10"/>
          <p:cNvSpPr/>
          <p:nvPr/>
        </p:nvSpPr>
        <p:spPr>
          <a:xfrm>
            <a:off x="7048261" y="2933747"/>
            <a:ext cx="167764" cy="18521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05" name="Google Shape;705;p10"/>
          <p:cNvSpPr txBox="1"/>
          <p:nvPr/>
        </p:nvSpPr>
        <p:spPr>
          <a:xfrm>
            <a:off x="6745599" y="3097647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Nokia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10"/>
          <p:cNvSpPr txBox="1"/>
          <p:nvPr/>
        </p:nvSpPr>
        <p:spPr>
          <a:xfrm>
            <a:off x="6719641" y="2728813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10M$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10"/>
          <p:cNvSpPr txBox="1"/>
          <p:nvPr/>
        </p:nvSpPr>
        <p:spPr>
          <a:xfrm>
            <a:off x="999704" y="3425477"/>
            <a:ext cx="1320443" cy="7388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数据中心基础设施</a:t>
            </a:r>
            <a:endParaRPr b="1" sz="11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DC infrastructure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2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100M$</a:t>
            </a:r>
            <a:endParaRPr b="1" sz="12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0"/>
          <p:cNvSpPr txBox="1"/>
          <p:nvPr/>
        </p:nvSpPr>
        <p:spPr>
          <a:xfrm>
            <a:off x="999704" y="4295245"/>
            <a:ext cx="1320443" cy="718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企业软件</a:t>
            </a:r>
            <a:endParaRPr b="1" sz="11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成熟企业软件</a:t>
            </a: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license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200M$</a:t>
            </a:r>
            <a:endParaRPr b="1" sz="11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0"/>
          <p:cNvSpPr txBox="1"/>
          <p:nvPr/>
        </p:nvSpPr>
        <p:spPr>
          <a:xfrm>
            <a:off x="1020286" y="5182123"/>
            <a:ext cx="1320443" cy="720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办公场所终端</a:t>
            </a:r>
            <a:endParaRPr b="1" sz="11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一次性采购</a:t>
            </a:r>
            <a:endParaRPr b="0" sz="105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150M$</a:t>
            </a:r>
            <a:endParaRPr b="1" sz="11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0" name="Google Shape;710;p10"/>
          <p:cNvCxnSpPr/>
          <p:nvPr/>
        </p:nvCxnSpPr>
        <p:spPr>
          <a:xfrm>
            <a:off x="1220954" y="5131048"/>
            <a:ext cx="6117610" cy="0"/>
          </a:xfrm>
          <a:prstGeom prst="straightConnector1">
            <a:avLst/>
          </a:prstGeom>
          <a:noFill/>
          <a:ln cap="flat" cmpd="sng" w="12700">
            <a:solidFill>
              <a:srgbClr val="E9002F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711" name="Google Shape;711;p10"/>
          <p:cNvSpPr txBox="1"/>
          <p:nvPr/>
        </p:nvSpPr>
        <p:spPr>
          <a:xfrm>
            <a:off x="2706238" y="3440946"/>
            <a:ext cx="1320443" cy="6969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x86</a:t>
            </a: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服务器</a:t>
            </a:r>
            <a:endParaRPr b="0" sz="105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存储</a:t>
            </a: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、DCN</a:t>
            </a: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网络</a:t>
            </a:r>
            <a:endParaRPr b="0" sz="105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虚拟化管理软件</a:t>
            </a:r>
            <a:endParaRPr/>
          </a:p>
        </p:txBody>
      </p:sp>
      <p:sp>
        <p:nvSpPr>
          <p:cNvPr id="712" name="Google Shape;712;p10"/>
          <p:cNvSpPr txBox="1"/>
          <p:nvPr/>
        </p:nvSpPr>
        <p:spPr>
          <a:xfrm>
            <a:off x="2706238" y="4346093"/>
            <a:ext cx="1320443" cy="6969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数据分析软件</a:t>
            </a:r>
            <a:endParaRPr b="0" sz="105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ERP/CRM</a:t>
            </a:r>
            <a:endParaRPr/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电子政务软件</a:t>
            </a:r>
            <a:endParaRPr/>
          </a:p>
        </p:txBody>
      </p:sp>
      <p:sp>
        <p:nvSpPr>
          <p:cNvPr id="713" name="Google Shape;713;p10"/>
          <p:cNvSpPr txBox="1"/>
          <p:nvPr/>
        </p:nvSpPr>
        <p:spPr>
          <a:xfrm>
            <a:off x="2706238" y="5131049"/>
            <a:ext cx="1320443" cy="6969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Desktop、Laptop</a:t>
            </a:r>
            <a:endParaRPr/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Pad</a:t>
            </a:r>
            <a:endParaRPr/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50"/>
              <a:buFont typeface="Arial"/>
              <a:buChar char="•"/>
            </a:pPr>
            <a:r>
              <a:rPr b="0" lang="zh-CN" sz="105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会议室大屏</a:t>
            </a:r>
            <a:endParaRPr/>
          </a:p>
        </p:txBody>
      </p:sp>
      <p:sp>
        <p:nvSpPr>
          <p:cNvPr id="714" name="Google Shape;714;p10"/>
          <p:cNvSpPr txBox="1"/>
          <p:nvPr/>
        </p:nvSpPr>
        <p:spPr>
          <a:xfrm>
            <a:off x="4571676" y="4006119"/>
            <a:ext cx="695162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HPE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10"/>
          <p:cNvSpPr txBox="1"/>
          <p:nvPr/>
        </p:nvSpPr>
        <p:spPr>
          <a:xfrm>
            <a:off x="5612993" y="4006119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VMware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10"/>
          <p:cNvSpPr txBox="1"/>
          <p:nvPr/>
        </p:nvSpPr>
        <p:spPr>
          <a:xfrm>
            <a:off x="5211366" y="4006119"/>
            <a:ext cx="571217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Dell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7" name="Google Shape;717;p10"/>
          <p:cNvCxnSpPr/>
          <p:nvPr/>
        </p:nvCxnSpPr>
        <p:spPr>
          <a:xfrm>
            <a:off x="4506038" y="4022129"/>
            <a:ext cx="2950847" cy="0"/>
          </a:xfrm>
          <a:prstGeom prst="straightConnector1">
            <a:avLst/>
          </a:prstGeom>
          <a:noFill/>
          <a:ln cap="flat" cmpd="sng" w="9525">
            <a:solidFill>
              <a:srgbClr val="E9002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718" name="Google Shape;718;p10"/>
          <p:cNvSpPr txBox="1"/>
          <p:nvPr/>
        </p:nvSpPr>
        <p:spPr>
          <a:xfrm>
            <a:off x="6130675" y="4006119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Cisco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10"/>
          <p:cNvSpPr txBox="1"/>
          <p:nvPr/>
        </p:nvSpPr>
        <p:spPr>
          <a:xfrm>
            <a:off x="6687459" y="4006119"/>
            <a:ext cx="816378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Huawei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10"/>
          <p:cNvSpPr/>
          <p:nvPr/>
        </p:nvSpPr>
        <p:spPr>
          <a:xfrm>
            <a:off x="4875988" y="3666647"/>
            <a:ext cx="167764" cy="359800"/>
          </a:xfrm>
          <a:prstGeom prst="rect">
            <a:avLst/>
          </a:prstGeom>
          <a:solidFill>
            <a:srgbClr val="1D1D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21" name="Google Shape;721;p10"/>
          <p:cNvSpPr txBox="1"/>
          <p:nvPr/>
        </p:nvSpPr>
        <p:spPr>
          <a:xfrm>
            <a:off x="4742745" y="3424994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40M$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0"/>
          <p:cNvSpPr/>
          <p:nvPr/>
        </p:nvSpPr>
        <p:spPr>
          <a:xfrm>
            <a:off x="5415709" y="3721057"/>
            <a:ext cx="167764" cy="30160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23" name="Google Shape;723;p10"/>
          <p:cNvSpPr txBox="1"/>
          <p:nvPr/>
        </p:nvSpPr>
        <p:spPr>
          <a:xfrm>
            <a:off x="5292187" y="3480500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35M$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0"/>
          <p:cNvSpPr/>
          <p:nvPr/>
        </p:nvSpPr>
        <p:spPr>
          <a:xfrm>
            <a:off x="6450189" y="3849004"/>
            <a:ext cx="167764" cy="174286"/>
          </a:xfrm>
          <a:prstGeom prst="rect">
            <a:avLst/>
          </a:prstGeom>
          <a:solidFill>
            <a:srgbClr val="026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25" name="Google Shape;725;p10"/>
          <p:cNvSpPr txBox="1"/>
          <p:nvPr/>
        </p:nvSpPr>
        <p:spPr>
          <a:xfrm>
            <a:off x="6329934" y="3656484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10M$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10"/>
          <p:cNvSpPr/>
          <p:nvPr/>
        </p:nvSpPr>
        <p:spPr>
          <a:xfrm>
            <a:off x="7000565" y="3937548"/>
            <a:ext cx="167764" cy="8309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27" name="Google Shape;727;p10"/>
          <p:cNvSpPr txBox="1"/>
          <p:nvPr/>
        </p:nvSpPr>
        <p:spPr>
          <a:xfrm>
            <a:off x="6877285" y="3736813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2M$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10"/>
          <p:cNvSpPr/>
          <p:nvPr/>
        </p:nvSpPr>
        <p:spPr>
          <a:xfrm>
            <a:off x="5928236" y="3812214"/>
            <a:ext cx="167764" cy="211990"/>
          </a:xfrm>
          <a:prstGeom prst="rect">
            <a:avLst/>
          </a:prstGeom>
          <a:solidFill>
            <a:srgbClr val="57574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Calibri"/>
              <a:buNone/>
            </a:pPr>
            <a:r>
              <a:t/>
            </a:r>
            <a:endParaRPr b="0" i="0" sz="1799" u="none" cap="none" strike="noStrike">
              <a:solidFill>
                <a:srgbClr val="666666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29" name="Google Shape;729;p10"/>
          <p:cNvSpPr txBox="1"/>
          <p:nvPr/>
        </p:nvSpPr>
        <p:spPr>
          <a:xfrm>
            <a:off x="5817044" y="3580116"/>
            <a:ext cx="408274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15M$</a:t>
            </a:r>
            <a:endParaRPr b="1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10"/>
          <p:cNvSpPr txBox="1"/>
          <p:nvPr/>
        </p:nvSpPr>
        <p:spPr>
          <a:xfrm>
            <a:off x="4325673" y="4504487"/>
            <a:ext cx="1012752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ERP – 45M$</a:t>
            </a:r>
            <a:endParaRPr b="0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10"/>
          <p:cNvSpPr txBox="1"/>
          <p:nvPr/>
        </p:nvSpPr>
        <p:spPr>
          <a:xfrm>
            <a:off x="5308172" y="4504487"/>
            <a:ext cx="1012752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CRM – 22M$</a:t>
            </a:r>
            <a:endParaRPr b="0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10"/>
          <p:cNvSpPr txBox="1"/>
          <p:nvPr/>
        </p:nvSpPr>
        <p:spPr>
          <a:xfrm>
            <a:off x="4101175" y="4793293"/>
            <a:ext cx="1991526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Data Analysis – 63M$</a:t>
            </a:r>
            <a:endParaRPr b="0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10"/>
          <p:cNvSpPr txBox="1"/>
          <p:nvPr/>
        </p:nvSpPr>
        <p:spPr>
          <a:xfrm>
            <a:off x="6268763" y="4504487"/>
            <a:ext cx="1405087" cy="202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Private Cloud –  30M$</a:t>
            </a:r>
            <a:endParaRPr b="0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10"/>
          <p:cNvSpPr txBox="1"/>
          <p:nvPr/>
        </p:nvSpPr>
        <p:spPr>
          <a:xfrm>
            <a:off x="5887810" y="4793292"/>
            <a:ext cx="1632011" cy="203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电子政务软件定制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  –  40M$</a:t>
            </a:r>
            <a:endParaRPr b="0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10"/>
          <p:cNvSpPr txBox="1"/>
          <p:nvPr/>
        </p:nvSpPr>
        <p:spPr>
          <a:xfrm>
            <a:off x="4400050" y="5312772"/>
            <a:ext cx="730231" cy="4340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HPE 40%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--</a:t>
            </a:r>
            <a:r>
              <a:rPr b="0"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政府</a:t>
            </a:r>
            <a:endParaRPr b="1" sz="1000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36" name="Google Shape;736;p10"/>
          <p:cNvSpPr txBox="1"/>
          <p:nvPr/>
        </p:nvSpPr>
        <p:spPr>
          <a:xfrm>
            <a:off x="5107311" y="5312772"/>
            <a:ext cx="730231" cy="4340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Dell 20% 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r>
              <a:rPr b="0"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大企业</a:t>
            </a:r>
            <a:endParaRPr b="1" sz="1000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37" name="Google Shape;737;p10"/>
          <p:cNvSpPr txBox="1"/>
          <p:nvPr/>
        </p:nvSpPr>
        <p:spPr>
          <a:xfrm>
            <a:off x="5814572" y="5312771"/>
            <a:ext cx="949615" cy="432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Lenovo 20%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—SME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10"/>
          <p:cNvSpPr txBox="1"/>
          <p:nvPr/>
        </p:nvSpPr>
        <p:spPr>
          <a:xfrm>
            <a:off x="6741218" y="5312771"/>
            <a:ext cx="949615" cy="432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Apple 10%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—</a:t>
            </a:r>
            <a:r>
              <a:rPr b="0" lang="zh-CN" sz="1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教育</a:t>
            </a:r>
            <a:r>
              <a:rPr b="0" lang="zh-C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PAD</a:t>
            </a:r>
            <a:endParaRPr b="1" sz="10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10"/>
          <p:cNvSpPr/>
          <p:nvPr/>
        </p:nvSpPr>
        <p:spPr>
          <a:xfrm>
            <a:off x="7988435" y="1404835"/>
            <a:ext cx="3695079" cy="4506046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82828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740" name="Google Shape;740;p10"/>
          <p:cNvSpPr txBox="1"/>
          <p:nvPr/>
        </p:nvSpPr>
        <p:spPr>
          <a:xfrm>
            <a:off x="8067568" y="1482562"/>
            <a:ext cx="3621087" cy="5076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垂直行业总集</a:t>
            </a: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1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高度依赖对核心</a:t>
            </a:r>
            <a:r>
              <a:rPr b="1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</a:t>
            </a:r>
            <a:r>
              <a:rPr b="1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的持续经营</a:t>
            </a:r>
            <a:r>
              <a:rPr b="0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b="0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例如在</a:t>
            </a:r>
            <a:r>
              <a:rPr b="0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Aena</a:t>
            </a:r>
            <a:r>
              <a:rPr b="0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客户</a:t>
            </a:r>
            <a:r>
              <a:rPr b="0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累计获得</a:t>
            </a:r>
            <a:r>
              <a:rPr b="0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555M€</a:t>
            </a:r>
            <a:r>
              <a:rPr b="0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采购单</a:t>
            </a:r>
            <a:r>
              <a:rPr b="0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其中</a:t>
            </a:r>
            <a:r>
              <a:rPr b="0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470M</a:t>
            </a:r>
            <a:r>
              <a:rPr b="0" lang="zh-CN" sz="11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来自安保系统总集</a:t>
            </a:r>
            <a:r>
              <a:rPr b="0" lang="zh-C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；</a:t>
            </a:r>
            <a:endParaRPr/>
          </a:p>
        </p:txBody>
      </p:sp>
      <p:pic>
        <p:nvPicPr>
          <p:cNvPr descr="AENA (Aeropuertos Españoles y Navegación Aérea) - Spain" id="741" name="Google Shape;74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9197" y="2307320"/>
            <a:ext cx="1105312" cy="644765"/>
          </a:xfrm>
          <a:prstGeom prst="rect">
            <a:avLst/>
          </a:prstGeom>
          <a:noFill/>
          <a:ln>
            <a:noFill/>
          </a:ln>
        </p:spPr>
      </p:pic>
      <p:sp>
        <p:nvSpPr>
          <p:cNvPr id="742" name="Google Shape;742;p10"/>
          <p:cNvSpPr txBox="1"/>
          <p:nvPr/>
        </p:nvSpPr>
        <p:spPr>
          <a:xfrm>
            <a:off x="9537460" y="2120545"/>
            <a:ext cx="2077698" cy="895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Char char="•"/>
            </a:pP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西班牙机场运营航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国有企业</a:t>
            </a:r>
            <a:endParaRPr b="0" sz="1000">
              <a:solidFill>
                <a:srgbClr val="1D1D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381" lvl="0" marL="171381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A"/>
              </a:buClr>
              <a:buSzPts val="1000"/>
              <a:buFont typeface="Arial"/>
              <a:buChar char="•"/>
            </a:pP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过去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年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，TdE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承接了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Aena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约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555M€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ICT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采购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安防类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IOT</a:t>
            </a:r>
            <a:r>
              <a:rPr b="0" lang="zh-CN" sz="10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系统集成占</a:t>
            </a:r>
            <a:r>
              <a:rPr b="0" lang="zh-CN" sz="10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  <a:endParaRPr/>
          </a:p>
        </p:txBody>
      </p:sp>
      <p:graphicFrame>
        <p:nvGraphicFramePr>
          <p:cNvPr id="743" name="Google Shape;743;p10"/>
          <p:cNvGraphicFramePr/>
          <p:nvPr/>
        </p:nvGraphicFramePr>
        <p:xfrm>
          <a:off x="8322648" y="31577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2662400"/>
                <a:gridCol w="542050"/>
              </a:tblGrid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行业集成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66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金额</a:t>
                      </a:r>
                      <a:endParaRPr b="1" i="0"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66FD"/>
                    </a:solidFill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手提袋爆炸品自动检测系统（Edscb）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130M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出入境系统项目设备供货及安装框架协议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127M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2024-2027年通信设施供应和安装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46.7M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2021-2024年通信基础设施供应和安装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26.5M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2019-2021年通信基础设施供应和安装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25M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2022-2024年 Sica安全设备供应和安装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2020-2022年Sica安全设备供应与安装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16M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2020-2022年生物识别设备供应与安装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17M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Aena的旅客大数据和分析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16.3M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2023-2026年Uca设备供应和安装框架协议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12.8M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存储网络和服务器框架协议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12.8M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基础服务器和软件框架协议。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12.8M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84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2023-2026年Sipa设备供应和安装框架协议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12.75M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744" name="Google Shape;744;p10"/>
          <p:cNvSpPr txBox="1"/>
          <p:nvPr/>
        </p:nvSpPr>
        <p:spPr>
          <a:xfrm>
            <a:off x="5583474" y="5932769"/>
            <a:ext cx="2331886" cy="2615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*2024.12 </a:t>
            </a:r>
            <a:r>
              <a:rPr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与微软合作</a:t>
            </a:r>
            <a:r>
              <a:rPr b="1" lang="zh-CN" sz="1100">
                <a:solidFill>
                  <a:srgbClr val="1D1D1A"/>
                </a:solidFill>
                <a:latin typeface="Arial"/>
                <a:ea typeface="Arial"/>
                <a:cs typeface="Arial"/>
                <a:sym typeface="Arial"/>
              </a:rPr>
              <a:t>AI PC</a:t>
            </a:r>
            <a:r>
              <a:rPr b="1" lang="zh-CN" sz="1100">
                <a:solidFill>
                  <a:srgbClr val="1D1D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的转售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11"/>
          <p:cNvSpPr txBox="1"/>
          <p:nvPr/>
        </p:nvSpPr>
        <p:spPr>
          <a:xfrm>
            <a:off x="247915" y="190951"/>
            <a:ext cx="11580522" cy="4298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000"/>
              <a:buFont typeface="Arial"/>
              <a:buNone/>
            </a:pP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华为参与视角的portfolio</a:t>
            </a: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分类及现网格局，除安全外的可参与空间60M+</a:t>
            </a:r>
            <a:endParaRPr b="1" sz="2000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graphicFrame>
        <p:nvGraphicFramePr>
          <p:cNvPr id="751" name="Google Shape;751;p11"/>
          <p:cNvGraphicFramePr/>
          <p:nvPr/>
        </p:nvGraphicFramePr>
        <p:xfrm>
          <a:off x="566240" y="76551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2311400"/>
                <a:gridCol w="1227675"/>
                <a:gridCol w="905925"/>
                <a:gridCol w="3270300"/>
                <a:gridCol w="1214525"/>
                <a:gridCol w="1772025"/>
              </a:tblGrid>
              <a:tr h="286075"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Portfolio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性质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业务范围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业务目标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涉及产品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状态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25"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大企业管理服务 (SSGG)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管理服务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大企业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基于Telefonica大网，为大企业客户提供WAN/LAN连接管理服务，包括企业互联、Internet接入、交换机有线接入、Wi-Fi无线接入。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AR、NE、LSW、AP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部分款型销售中，逐步完成准入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100"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大企业SDN管理服务 (flexWAN)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管理服务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大企业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基于SDN技术，在大企业管理服务的基础上提供SD-WAN及SD-LAN管理服务。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AR、LSW、AP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无法突破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100"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SD-LAN管理服务 (On-Top MSP)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硬件转售 + 代维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大企业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面向大企业客户，转售LAN+Wi-Fi硬件并提供网络代维服务。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LSW、AP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标前，联合孵化中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25"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Smart Wi-Fi &amp; GPON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硬件转售 + 被集成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大企业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面向酒店行业，由TDE牵头，集成厂商硬件以及Captive Portal服务供应商，为最终客户提供Portal认证的Wi-Fi服务。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LSW、AP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已投标，待中标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25"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中小企业管理服务 (MFE/MFD)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管理服务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SME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针对中小企业需求，基于固定套餐形式为客户提供服务。MFE后续将演进为LEGO，形成模块化灵活拼接套餐销售的能力。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AR、LSW、AP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WAN：未突破</a:t>
                      </a:r>
                      <a:b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LAN：正常销售</a:t>
                      </a:r>
                      <a:b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Wi-Fi：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100"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企业互联网服务 (Internet Empresas)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管理服务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SME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面向中小企业，提供具备商务竞争力的中高质量Internet接入。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720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已中标，待启动准入</a:t>
                      </a:r>
                      <a:endParaRPr/>
                    </a:p>
                  </a:txBody>
                  <a:tcPr marT="5875" marB="0" marR="5875" marL="58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52" name="Google Shape;752;p11"/>
          <p:cNvGraphicFramePr/>
          <p:nvPr/>
        </p:nvGraphicFramePr>
        <p:xfrm>
          <a:off x="626492" y="384346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1431000"/>
                <a:gridCol w="1422475"/>
                <a:gridCol w="1016000"/>
                <a:gridCol w="1185400"/>
                <a:gridCol w="801350"/>
                <a:gridCol w="1237800"/>
                <a:gridCol w="1107750"/>
                <a:gridCol w="840550"/>
                <a:gridCol w="840550"/>
                <a:gridCol w="819000"/>
              </a:tblGrid>
              <a:tr h="221750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运营商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Portfolio类型/</a:t>
                      </a:r>
                      <a:b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华为Offering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WAN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安全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17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 路由器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 路由器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5G-CPE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SD-WAN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Wi-Fi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交换机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SD-LAN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Firewall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9950">
                <a:tc rowSpan="8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Telefonica</a:t>
                      </a:r>
                      <a:br>
                        <a:rPr b="0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b="0" i="0" lang="zh-CN" sz="10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Sell to 60-&gt;60-&gt;62M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5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SSGG大企业管理服务</a:t>
                      </a:r>
                      <a:b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(IPVPN、FlexWAN)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3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设备采购：56M/Y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 77%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Cisco  75%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100%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Fortinet 85%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Aruba 100%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Aruba 60%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Huawei </a:t>
                      </a:r>
                      <a:b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Extreme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Fortinet 80%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917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Cisco  15%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Huawei 35%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FF"/>
                    </a:solidFill>
                  </a:tcPr>
                </a:tc>
                <a:tc vMerge="1"/>
                <a:tc vMerge="1"/>
              </a:tr>
              <a:tr h="17917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Huawei  2%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Huawei  20%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FF"/>
                    </a:solidFill>
                  </a:tcPr>
                </a:tc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10%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Cisco 5%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</a:tr>
              <a:tr h="1999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Juniper  1%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Juniper  5%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Meraki 5%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Others 20%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917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0.5/26M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0.6/3M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0/3M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0/20M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0/0.6M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1/3M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800" u="none" cap="none" strike="noStrike">
                        <a:solidFill>
                          <a:srgbClr val="0000FF"/>
                        </a:solidFill>
                        <a:highlight>
                          <a:srgbClr val="FF0000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0/20M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9950">
                <a:tc vMerge="1"/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MFE中小企业管理服务</a:t>
                      </a:r>
                      <a:endParaRPr b="0" i="0" sz="800" u="none" cap="none" strike="noStrike">
                        <a:solidFill>
                          <a:srgbClr val="1D1D1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3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设备采购：6M/Y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100%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　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　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　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Microtik 100%</a:t>
                      </a:r>
                      <a:b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--&gt; TP-Link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Huawei 30%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FF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　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　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　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9950">
                <a:tc vMerge="1"/>
                <a:tc vMerge="1"/>
                <a:tc vMerge="1"/>
                <a:tc vMerge="1"/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800" u="none" cap="none" strike="noStrike">
                          <a:solidFill>
                            <a:srgbClr val="1D1D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Alcatel 70%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</a:tr>
              <a:tr h="17917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0/0.8M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0/3M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8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1/2.5M</a:t>
                      </a:r>
                      <a:endParaRPr/>
                    </a:p>
                  </a:txBody>
                  <a:tcPr marT="6350" marB="0" marR="6350" marL="6350" anchor="ctr">
                    <a:lnL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12"/>
          <p:cNvSpPr txBox="1"/>
          <p:nvPr/>
        </p:nvSpPr>
        <p:spPr>
          <a:xfrm>
            <a:off x="247915" y="190951"/>
            <a:ext cx="11580522" cy="4298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000"/>
              <a:buFont typeface="Arial"/>
              <a:buNone/>
            </a:pPr>
            <a:r>
              <a:rPr b="1" lang="zh-CN" sz="2000">
                <a:solidFill>
                  <a:srgbClr val="C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华为参与准入的可参与空间不到30M，对准肥肉市场深耕</a:t>
            </a:r>
            <a:endParaRPr b="1" sz="2000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graphicFrame>
        <p:nvGraphicFramePr>
          <p:cNvPr id="759" name="Google Shape;759;p12"/>
          <p:cNvGraphicFramePr/>
          <p:nvPr/>
        </p:nvGraphicFramePr>
        <p:xfrm>
          <a:off x="6324394" y="6969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{0523A52F-C6C4-47F3-B5B3-DDE31FCED2C8}</a:tableStyleId>
              </a:tblPr>
              <a:tblGrid>
                <a:gridCol w="950175"/>
                <a:gridCol w="579125"/>
                <a:gridCol w="682800"/>
                <a:gridCol w="1281200"/>
                <a:gridCol w="704275"/>
                <a:gridCol w="477875"/>
                <a:gridCol w="477875"/>
              </a:tblGrid>
              <a:tr h="720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客户Offering名称/客户招标套餐</a:t>
                      </a:r>
                      <a:endParaRPr/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带宽要求 (对称)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市场空间</a:t>
                      </a:r>
                      <a:endParaRPr/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华为款型</a:t>
                      </a:r>
                      <a:endParaRPr/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华为已销售款型</a:t>
                      </a:r>
                      <a:endParaRPr/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第一Vendor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第二Vendor</a:t>
                      </a:r>
                      <a:endParaRPr b="1" i="0" sz="10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</a:tr>
              <a:tr h="648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MPLS/FTTH/Internet 1/10/100G Full Routing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1/10/100G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NE8000-M4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AR6280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思科 90%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Juniper 5%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326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MPLS/Internet 100G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NE8000-M4 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NE40E-M2K-B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思科 90%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Juniper 10%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326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MPLS/FTTH/Internet 10G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AR8140-L12G10XG 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NE40E-M2K-B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75%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思科 20%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487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MPLS/FTTH/Internet 1G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 + Perf License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 + Perf License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70%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思科 20%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326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MPLS/FTTH/Internet 600M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600M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1.5M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80%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FF"/>
                        </a:buClr>
                        <a:buSzPts val="900"/>
                        <a:buFont typeface="Arial"/>
                        <a:buNone/>
                      </a:pPr>
                      <a:r>
                        <a:rPr b="1" i="0" lang="zh-CN" sz="9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华为 5%</a:t>
                      </a:r>
                      <a:endParaRPr b="0" i="0" sz="900" u="none" cap="none" strike="noStrike">
                        <a:solidFill>
                          <a:srgbClr val="0000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326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MPLS/FTTH/Internet 300M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300M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0.3M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　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98%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FF"/>
                        </a:buClr>
                        <a:buSzPts val="900"/>
                        <a:buFont typeface="Arial"/>
                        <a:buNone/>
                      </a:pPr>
                      <a:r>
                        <a:rPr b="1" i="0" lang="zh-CN" sz="9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华为 2%</a:t>
                      </a:r>
                      <a:endParaRPr b="0" i="0" sz="900" u="none" cap="none" strike="noStrike">
                        <a:solidFill>
                          <a:srgbClr val="0000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326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MPLS/FTTH/Internet 100M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100M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AR611W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AR611W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99%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FF"/>
                        </a:buClr>
                        <a:buSzPts val="900"/>
                        <a:buFont typeface="Arial"/>
                        <a:buNone/>
                      </a:pPr>
                      <a:r>
                        <a:rPr b="1" i="0" lang="zh-CN" sz="900" u="none" cap="none" strike="noStrik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华为 1%</a:t>
                      </a:r>
                      <a:endParaRPr b="0" i="0" sz="900" u="none" cap="none" strike="noStrike">
                        <a:solidFill>
                          <a:srgbClr val="0000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487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MPLS/FTTH/Internet 1G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 BCK LTE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1G + LTE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1.3M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 + MIC-LTE 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100%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  <a:tr h="648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MPLS/FTTH/Internet 1G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 BCK 5G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1G + 5G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zh-CN" sz="105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3.5M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AR5710-H2T4N2X-NRGL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AR651 + RU-301 </a:t>
                      </a:r>
                      <a:endParaRPr b="0" i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Teldat 100%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zh-CN" sz="9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b="0" i="0" sz="9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75" marB="0" marR="3675" marL="3675" anchor="ctr">
                    <a:lnL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D1D1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1DE"/>
                    </a:solidFill>
                  </a:tcPr>
                </a:tc>
              </a:tr>
            </a:tbl>
          </a:graphicData>
        </a:graphic>
      </p:graphicFrame>
      <p:grpSp>
        <p:nvGrpSpPr>
          <p:cNvPr id="760" name="Google Shape;760;p12"/>
          <p:cNvGrpSpPr/>
          <p:nvPr/>
        </p:nvGrpSpPr>
        <p:grpSpPr>
          <a:xfrm>
            <a:off x="344002" y="944880"/>
            <a:ext cx="5939958" cy="4865967"/>
            <a:chOff x="121717" y="2286386"/>
            <a:chExt cx="6349387" cy="4455484"/>
          </a:xfrm>
        </p:grpSpPr>
        <p:grpSp>
          <p:nvGrpSpPr>
            <p:cNvPr id="761" name="Google Shape;761;p12"/>
            <p:cNvGrpSpPr/>
            <p:nvPr/>
          </p:nvGrpSpPr>
          <p:grpSpPr>
            <a:xfrm>
              <a:off x="121717" y="2286386"/>
              <a:ext cx="6349387" cy="3991116"/>
              <a:chOff x="1365555" y="2424028"/>
              <a:chExt cx="6349387" cy="3991116"/>
            </a:xfrm>
          </p:grpSpPr>
          <p:grpSp>
            <p:nvGrpSpPr>
              <p:cNvPr id="762" name="Google Shape;762;p12"/>
              <p:cNvGrpSpPr/>
              <p:nvPr/>
            </p:nvGrpSpPr>
            <p:grpSpPr>
              <a:xfrm>
                <a:off x="1365555" y="2424028"/>
                <a:ext cx="6349387" cy="3991116"/>
                <a:chOff x="637208" y="2084929"/>
                <a:chExt cx="6128364" cy="4380647"/>
              </a:xfrm>
            </p:grpSpPr>
            <p:sp>
              <p:nvSpPr>
                <p:cNvPr id="763" name="Google Shape;763;p12"/>
                <p:cNvSpPr/>
                <p:nvPr/>
              </p:nvSpPr>
              <p:spPr>
                <a:xfrm>
                  <a:off x="996400" y="4924760"/>
                  <a:ext cx="1684836" cy="1285000"/>
                </a:xfrm>
                <a:prstGeom prst="rect">
                  <a:avLst/>
                </a:prstGeom>
                <a:solidFill>
                  <a:srgbClr val="C1C1C1">
                    <a:alpha val="40000"/>
                  </a:srgbClr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B2B2B2"/>
                    </a:buClr>
                    <a:buSzPts val="1600"/>
                    <a:buFont typeface="Microsoft Yahei"/>
                    <a:buNone/>
                  </a:pPr>
                  <a:r>
                    <a:rPr b="0" i="0" lang="zh-CN" sz="1600" u="none" cap="none" strike="noStrike">
                      <a:solidFill>
                        <a:srgbClr val="B2B2B2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rPr>
                    <a:t>骨头区</a:t>
                  </a:r>
                  <a:endParaRPr/>
                </a:p>
              </p:txBody>
            </p:sp>
            <p:sp>
              <p:nvSpPr>
                <p:cNvPr id="764" name="Google Shape;764;p12"/>
                <p:cNvSpPr/>
                <p:nvPr/>
              </p:nvSpPr>
              <p:spPr>
                <a:xfrm>
                  <a:off x="4521512" y="4915639"/>
                  <a:ext cx="1884294" cy="1285000"/>
                </a:xfrm>
                <a:prstGeom prst="rect">
                  <a:avLst/>
                </a:prstGeom>
                <a:solidFill>
                  <a:srgbClr val="BEE7A6">
                    <a:alpha val="40000"/>
                  </a:srgbClr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B2B2B2"/>
                    </a:buClr>
                    <a:buSzPts val="1600"/>
                    <a:buFont typeface="Microsoft Yahei"/>
                    <a:buNone/>
                  </a:pPr>
                  <a:r>
                    <a:rPr b="0" i="0" lang="zh-CN" sz="1600" u="none" cap="none" strike="noStrike">
                      <a:solidFill>
                        <a:srgbClr val="B2B2B2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rPr>
                    <a:t>瘦肉区</a:t>
                  </a:r>
                  <a:endParaRPr/>
                </a:p>
              </p:txBody>
            </p:sp>
            <p:sp>
              <p:nvSpPr>
                <p:cNvPr id="765" name="Google Shape;765;p12"/>
                <p:cNvSpPr/>
                <p:nvPr/>
              </p:nvSpPr>
              <p:spPr>
                <a:xfrm>
                  <a:off x="961576" y="2325933"/>
                  <a:ext cx="1705563" cy="2570375"/>
                </a:xfrm>
                <a:prstGeom prst="rect">
                  <a:avLst/>
                </a:prstGeom>
                <a:solidFill>
                  <a:srgbClr val="BDE6A5">
                    <a:alpha val="40000"/>
                  </a:srgbClr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B2B2B2"/>
                    </a:buClr>
                    <a:buSzPts val="1600"/>
                    <a:buFont typeface="Microsoft Yahei"/>
                    <a:buNone/>
                  </a:pPr>
                  <a:r>
                    <a:rPr b="0" i="0" lang="zh-CN" sz="1600" u="none" cap="none" strike="noStrike">
                      <a:solidFill>
                        <a:srgbClr val="B2B2B2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rPr>
                    <a:t>瘦肉区</a:t>
                  </a:r>
                  <a:endParaRPr/>
                </a:p>
              </p:txBody>
            </p:sp>
            <p:sp>
              <p:nvSpPr>
                <p:cNvPr id="766" name="Google Shape;766;p12"/>
                <p:cNvSpPr/>
                <p:nvPr/>
              </p:nvSpPr>
              <p:spPr>
                <a:xfrm>
                  <a:off x="2707748" y="3618509"/>
                  <a:ext cx="1845985" cy="2582130"/>
                </a:xfrm>
                <a:prstGeom prst="rect">
                  <a:avLst/>
                </a:prstGeom>
                <a:solidFill>
                  <a:srgbClr val="BEE7A6">
                    <a:alpha val="40000"/>
                  </a:srgbClr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B2B2B2"/>
                    </a:buClr>
                    <a:buSzPts val="1600"/>
                    <a:buFont typeface="Microsoft Yahei"/>
                    <a:buNone/>
                  </a:pPr>
                  <a:r>
                    <a:rPr b="0" i="0" lang="zh-CN" sz="1600" u="none" cap="none" strike="noStrike">
                      <a:solidFill>
                        <a:srgbClr val="B2B2B2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rPr>
                    <a:t>瘦肉区</a:t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</p:txBody>
            </p:sp>
            <p:sp>
              <p:nvSpPr>
                <p:cNvPr id="767" name="Google Shape;767;p12"/>
                <p:cNvSpPr/>
                <p:nvPr/>
              </p:nvSpPr>
              <p:spPr>
                <a:xfrm>
                  <a:off x="4585857" y="2325932"/>
                  <a:ext cx="1837763" cy="1285000"/>
                </a:xfrm>
                <a:prstGeom prst="rect">
                  <a:avLst/>
                </a:prstGeom>
                <a:solidFill>
                  <a:srgbClr val="A8E3EA">
                    <a:alpha val="36078"/>
                  </a:srgbClr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Calibri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rgbClr val="B2B2B2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endParaRPr>
                </a:p>
              </p:txBody>
            </p:sp>
            <p:sp>
              <p:nvSpPr>
                <p:cNvPr id="768" name="Google Shape;768;p12"/>
                <p:cNvSpPr/>
                <p:nvPr/>
              </p:nvSpPr>
              <p:spPr>
                <a:xfrm>
                  <a:off x="4582989" y="3611308"/>
                  <a:ext cx="1851210" cy="1285000"/>
                </a:xfrm>
                <a:prstGeom prst="rect">
                  <a:avLst/>
                </a:prstGeom>
                <a:solidFill>
                  <a:srgbClr val="A8E3EA">
                    <a:alpha val="36078"/>
                  </a:srgbClr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B2B2B2"/>
                    </a:buClr>
                    <a:buSzPts val="1600"/>
                    <a:buFont typeface="Microsoft Yahei"/>
                    <a:buNone/>
                  </a:pPr>
                  <a:r>
                    <a:rPr b="0" i="0" lang="zh-CN" sz="1600" u="none" cap="none" strike="noStrike">
                      <a:solidFill>
                        <a:srgbClr val="B2B2B2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rPr>
                    <a:t>肥肉区</a:t>
                  </a:r>
                  <a:endParaRPr/>
                </a:p>
              </p:txBody>
            </p:sp>
            <p:sp>
              <p:nvSpPr>
                <p:cNvPr id="769" name="Google Shape;769;p12"/>
                <p:cNvSpPr/>
                <p:nvPr/>
              </p:nvSpPr>
              <p:spPr>
                <a:xfrm>
                  <a:off x="2699051" y="2325932"/>
                  <a:ext cx="1854681" cy="1285000"/>
                </a:xfrm>
                <a:prstGeom prst="rect">
                  <a:avLst/>
                </a:prstGeom>
                <a:solidFill>
                  <a:srgbClr val="A8E3EA">
                    <a:alpha val="36078"/>
                  </a:srgbClr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B2B2B2"/>
                    </a:buClr>
                    <a:buSzPts val="1600"/>
                    <a:buFont typeface="Microsoft Yahei"/>
                    <a:buNone/>
                  </a:pPr>
                  <a:r>
                    <a:rPr b="0" i="0" lang="zh-CN" sz="1600" u="none" cap="none" strike="noStrike">
                      <a:solidFill>
                        <a:srgbClr val="B2B2B2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rPr>
                    <a:t>肥肉区</a:t>
                  </a:r>
                  <a:endParaRPr/>
                </a:p>
              </p:txBody>
            </p:sp>
            <p:grpSp>
              <p:nvGrpSpPr>
                <p:cNvPr id="770" name="Google Shape;770;p12"/>
                <p:cNvGrpSpPr/>
                <p:nvPr/>
              </p:nvGrpSpPr>
              <p:grpSpPr>
                <a:xfrm>
                  <a:off x="637208" y="2084929"/>
                  <a:ext cx="6128364" cy="4380647"/>
                  <a:chOff x="2574860" y="926128"/>
                  <a:chExt cx="5243662" cy="5490524"/>
                </a:xfrm>
              </p:grpSpPr>
              <p:cxnSp>
                <p:nvCxnSpPr>
                  <p:cNvPr id="771" name="Google Shape;771;p12"/>
                  <p:cNvCxnSpPr/>
                  <p:nvPr/>
                </p:nvCxnSpPr>
                <p:spPr>
                  <a:xfrm>
                    <a:off x="2862936" y="2842778"/>
                    <a:ext cx="4683451" cy="2970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FF0000">
                        <a:alpha val="60000"/>
                      </a:srgbClr>
                    </a:solidFill>
                    <a:prstDash val="dash"/>
                    <a:miter lim="8000"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772" name="Google Shape;772;p12"/>
                  <p:cNvCxnSpPr/>
                  <p:nvPr/>
                </p:nvCxnSpPr>
                <p:spPr>
                  <a:xfrm rot="10800000">
                    <a:off x="2864241" y="1058173"/>
                    <a:ext cx="0" cy="5046201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1D1D1A"/>
                    </a:solidFill>
                    <a:prstDash val="solid"/>
                    <a:miter lim="8000"/>
                    <a:headEnd len="sm" w="sm" type="none"/>
                    <a:tailEnd len="med" w="med" type="triangle"/>
                  </a:ln>
                </p:spPr>
              </p:cxnSp>
              <p:cxnSp>
                <p:nvCxnSpPr>
                  <p:cNvPr id="773" name="Google Shape;773;p12"/>
                  <p:cNvCxnSpPr/>
                  <p:nvPr/>
                </p:nvCxnSpPr>
                <p:spPr>
                  <a:xfrm>
                    <a:off x="2864241" y="6104374"/>
                    <a:ext cx="4841987" cy="0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1D1D1A"/>
                    </a:solidFill>
                    <a:prstDash val="solid"/>
                    <a:miter lim="8000"/>
                    <a:headEnd len="sm" w="sm" type="none"/>
                    <a:tailEnd len="med" w="med" type="triangle"/>
                  </a:ln>
                </p:spPr>
              </p:cxnSp>
              <p:cxnSp>
                <p:nvCxnSpPr>
                  <p:cNvPr id="774" name="Google Shape;774;p12"/>
                  <p:cNvCxnSpPr/>
                  <p:nvPr/>
                </p:nvCxnSpPr>
                <p:spPr>
                  <a:xfrm>
                    <a:off x="4337440" y="1064374"/>
                    <a:ext cx="0" cy="5040000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FF0000">
                        <a:alpha val="60000"/>
                      </a:srgbClr>
                    </a:solidFill>
                    <a:prstDash val="dash"/>
                    <a:miter lim="8000"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775" name="Google Shape;775;p12"/>
                  <p:cNvCxnSpPr/>
                  <p:nvPr/>
                </p:nvCxnSpPr>
                <p:spPr>
                  <a:xfrm>
                    <a:off x="5937388" y="1077964"/>
                    <a:ext cx="0" cy="5040000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FF0000">
                        <a:alpha val="60000"/>
                      </a:srgbClr>
                    </a:solidFill>
                    <a:prstDash val="dash"/>
                    <a:miter lim="8000"/>
                    <a:headEnd len="sm" w="sm" type="none"/>
                    <a:tailEnd len="sm" w="sm" type="none"/>
                  </a:ln>
                </p:spPr>
              </p:cxnSp>
              <p:sp>
                <p:nvSpPr>
                  <p:cNvPr id="776" name="Google Shape;776;p12"/>
                  <p:cNvSpPr txBox="1"/>
                  <p:nvPr/>
                </p:nvSpPr>
                <p:spPr>
                  <a:xfrm>
                    <a:off x="6753790" y="6204950"/>
                    <a:ext cx="1064732" cy="21170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1D1D1A"/>
                      </a:buClr>
                      <a:buSzPts val="1000"/>
                      <a:buFont typeface="Microsoft Yahei"/>
                      <a:buNone/>
                    </a:pPr>
                    <a:r>
                      <a:rPr b="1" i="0" lang="zh-CN" sz="1000" u="none" cap="none" strike="noStrike">
                        <a:solidFill>
                          <a:srgbClr val="1D1D1A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销售空间</a:t>
                    </a:r>
                    <a:endParaRPr b="1" i="0" sz="10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  <p:sp>
                <p:nvSpPr>
                  <p:cNvPr id="777" name="Google Shape;777;p12"/>
                  <p:cNvSpPr txBox="1"/>
                  <p:nvPr/>
                </p:nvSpPr>
                <p:spPr>
                  <a:xfrm>
                    <a:off x="3215831" y="6156063"/>
                    <a:ext cx="770019" cy="23287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100"/>
                      <a:buFont typeface="Microsoft Yahei"/>
                      <a:buNone/>
                    </a:pPr>
                    <a:r>
                      <a:rPr b="0" i="0" lang="zh-CN" sz="1100" u="none" cap="none" strike="noStrike">
                        <a:solidFill>
                          <a:srgbClr val="0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低 </a:t>
                    </a:r>
                    <a:r>
                      <a:rPr b="0" i="0" lang="zh-CN" sz="11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Low</a:t>
                    </a:r>
                    <a:endParaRPr b="0" i="0" sz="11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  <p:sp>
                <p:nvSpPr>
                  <p:cNvPr id="778" name="Google Shape;778;p12"/>
                  <p:cNvSpPr txBox="1"/>
                  <p:nvPr/>
                </p:nvSpPr>
                <p:spPr>
                  <a:xfrm>
                    <a:off x="4689030" y="6156063"/>
                    <a:ext cx="770019" cy="23287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100"/>
                      <a:buFont typeface="Microsoft Yahei"/>
                      <a:buNone/>
                    </a:pPr>
                    <a:r>
                      <a:rPr b="0" i="0" lang="zh-CN" sz="1100" u="none" cap="none" strike="noStrike">
                        <a:solidFill>
                          <a:srgbClr val="0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中 </a:t>
                    </a:r>
                    <a:r>
                      <a:rPr b="0" i="0" lang="zh-CN" sz="11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Middle</a:t>
                    </a:r>
                    <a:endParaRPr b="0" i="0" sz="11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  <p:sp>
                <p:nvSpPr>
                  <p:cNvPr id="779" name="Google Shape;779;p12"/>
                  <p:cNvSpPr txBox="1"/>
                  <p:nvPr/>
                </p:nvSpPr>
                <p:spPr>
                  <a:xfrm>
                    <a:off x="6162229" y="6156063"/>
                    <a:ext cx="770019" cy="23287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100"/>
                      <a:buFont typeface="Microsoft Yahei"/>
                      <a:buNone/>
                    </a:pPr>
                    <a:r>
                      <a:rPr b="0" i="0" lang="zh-CN" sz="1100" u="none" cap="none" strike="noStrike">
                        <a:solidFill>
                          <a:srgbClr val="0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高 </a:t>
                    </a:r>
                    <a:r>
                      <a:rPr b="0" i="0" lang="zh-CN" sz="11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High</a:t>
                    </a:r>
                    <a:endParaRPr b="0" i="0" sz="11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  <p:cxnSp>
                <p:nvCxnSpPr>
                  <p:cNvPr id="780" name="Google Shape;780;p12"/>
                  <p:cNvCxnSpPr/>
                  <p:nvPr/>
                </p:nvCxnSpPr>
                <p:spPr>
                  <a:xfrm>
                    <a:off x="7546387" y="1077964"/>
                    <a:ext cx="0" cy="5040000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FF0000">
                        <a:alpha val="60000"/>
                      </a:srgbClr>
                    </a:solidFill>
                    <a:prstDash val="dash"/>
                    <a:miter lim="8000"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781" name="Google Shape;781;p12"/>
                  <p:cNvCxnSpPr/>
                  <p:nvPr/>
                </p:nvCxnSpPr>
                <p:spPr>
                  <a:xfrm>
                    <a:off x="2885343" y="4465675"/>
                    <a:ext cx="4704274" cy="0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FF0000">
                        <a:alpha val="60000"/>
                      </a:srgbClr>
                    </a:solidFill>
                    <a:prstDash val="dash"/>
                    <a:miter lim="8000"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782" name="Google Shape;782;p12"/>
                  <p:cNvCxnSpPr/>
                  <p:nvPr/>
                </p:nvCxnSpPr>
                <p:spPr>
                  <a:xfrm>
                    <a:off x="2864240" y="1203094"/>
                    <a:ext cx="4720849" cy="12091"/>
                  </a:xfrm>
                  <a:prstGeom prst="straightConnector1">
                    <a:avLst/>
                  </a:prstGeom>
                  <a:noFill/>
                  <a:ln cap="flat" cmpd="sng" w="9525">
                    <a:solidFill>
                      <a:srgbClr val="FF0000">
                        <a:alpha val="60000"/>
                      </a:srgbClr>
                    </a:solidFill>
                    <a:prstDash val="dash"/>
                    <a:miter lim="8000"/>
                    <a:headEnd len="sm" w="sm" type="none"/>
                    <a:tailEnd len="sm" w="sm" type="none"/>
                  </a:ln>
                </p:spPr>
              </p:cxnSp>
              <p:sp>
                <p:nvSpPr>
                  <p:cNvPr id="783" name="Google Shape;783;p12"/>
                  <p:cNvSpPr txBox="1"/>
                  <p:nvPr/>
                </p:nvSpPr>
                <p:spPr>
                  <a:xfrm>
                    <a:off x="2899936" y="926128"/>
                    <a:ext cx="2287796" cy="21170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1D1D1A"/>
                      </a:buClr>
                      <a:buSzPts val="1000"/>
                      <a:buFont typeface="Microsoft Yahei"/>
                      <a:buNone/>
                    </a:pPr>
                    <a:r>
                      <a:rPr b="1" i="0" lang="zh-CN" sz="1000" u="none" cap="none" strike="noStrike">
                        <a:solidFill>
                          <a:srgbClr val="1D1D1A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场景价值</a:t>
                    </a:r>
                    <a:endParaRPr b="1" i="0" sz="10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  <p:sp>
                <p:nvSpPr>
                  <p:cNvPr id="784" name="Google Shape;784;p12"/>
                  <p:cNvSpPr txBox="1"/>
                  <p:nvPr/>
                </p:nvSpPr>
                <p:spPr>
                  <a:xfrm>
                    <a:off x="2610936" y="5284473"/>
                    <a:ext cx="252000" cy="46574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100"/>
                      <a:buFont typeface="Microsoft Yahei"/>
                      <a:buNone/>
                    </a:pPr>
                    <a:r>
                      <a:rPr b="0" i="0" lang="zh-CN" sz="1100" u="none" cap="none" strike="noStrike">
                        <a:solidFill>
                          <a:srgbClr val="0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低</a:t>
                    </a:r>
                    <a:endParaRPr b="0" i="0" sz="1100" u="none" cap="none" strike="noStrike">
                      <a:solidFill>
                        <a:srgbClr val="0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C00000"/>
                      </a:buClr>
                      <a:buSzPts val="1100"/>
                      <a:buFont typeface="Microsoft Yahei"/>
                      <a:buNone/>
                    </a:pPr>
                    <a:r>
                      <a:rPr b="0" i="0" lang="zh-CN" sz="11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Low</a:t>
                    </a:r>
                    <a:endParaRPr b="0" i="0" sz="11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  <p:sp>
                <p:nvSpPr>
                  <p:cNvPr id="785" name="Google Shape;785;p12"/>
                  <p:cNvSpPr txBox="1"/>
                  <p:nvPr/>
                </p:nvSpPr>
                <p:spPr>
                  <a:xfrm>
                    <a:off x="2574860" y="3584375"/>
                    <a:ext cx="389512" cy="38106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900"/>
                      <a:buFont typeface="Microsoft Yahei"/>
                      <a:buNone/>
                    </a:pPr>
                    <a:r>
                      <a:rPr b="0" i="0" lang="zh-CN" sz="900" u="none" cap="none" strike="noStrike">
                        <a:solidFill>
                          <a:srgbClr val="0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中</a:t>
                    </a:r>
                    <a:endParaRPr b="0" i="0" sz="900" u="none" cap="none" strike="noStrike">
                      <a:solidFill>
                        <a:srgbClr val="0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C00000"/>
                      </a:buClr>
                      <a:buSzPts val="900"/>
                      <a:buFont typeface="Microsoft Yahei"/>
                      <a:buNone/>
                    </a:pPr>
                    <a:r>
                      <a:rPr b="0" i="0" lang="zh-CN" sz="9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Middle</a:t>
                    </a:r>
                    <a:endParaRPr b="0" i="0" sz="9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  <p:sp>
                <p:nvSpPr>
                  <p:cNvPr id="786" name="Google Shape;786;p12"/>
                  <p:cNvSpPr txBox="1"/>
                  <p:nvPr/>
                </p:nvSpPr>
                <p:spPr>
                  <a:xfrm>
                    <a:off x="2579211" y="2136402"/>
                    <a:ext cx="315449" cy="38106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900"/>
                      <a:buFont typeface="Microsoft Yahei"/>
                      <a:buNone/>
                    </a:pPr>
                    <a:r>
                      <a:rPr b="0" i="0" lang="zh-CN" sz="900" u="none" cap="none" strike="noStrike">
                        <a:solidFill>
                          <a:srgbClr val="0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高</a:t>
                    </a:r>
                    <a:endParaRPr b="0" i="0" sz="900" u="none" cap="none" strike="noStrike">
                      <a:solidFill>
                        <a:srgbClr val="0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C00000"/>
                      </a:buClr>
                      <a:buSzPts val="900"/>
                      <a:buFont typeface="Microsoft Yahei"/>
                      <a:buNone/>
                    </a:pPr>
                    <a:r>
                      <a:rPr b="0" i="0" lang="zh-CN" sz="9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rPr>
                      <a:t>High</a:t>
                    </a:r>
                    <a:endParaRPr b="0" i="0" sz="900" u="none" cap="none" strike="noStrike">
                      <a:solidFill>
                        <a:srgbClr val="C00000"/>
                      </a:solidFill>
                      <a:latin typeface="Microsoft Yahei"/>
                      <a:ea typeface="Microsoft Yahei"/>
                      <a:cs typeface="Microsoft Yahei"/>
                      <a:sym typeface="Microsoft Yahei"/>
                    </a:endParaRPr>
                  </a:p>
                </p:txBody>
              </p:sp>
            </p:grpSp>
          </p:grpSp>
          <p:sp>
            <p:nvSpPr>
              <p:cNvPr id="787" name="Google Shape;787;p12"/>
              <p:cNvSpPr/>
              <p:nvPr/>
            </p:nvSpPr>
            <p:spPr>
              <a:xfrm>
                <a:off x="4589821" y="3499492"/>
                <a:ext cx="830808" cy="269905"/>
              </a:xfrm>
              <a:prstGeom prst="roundRect">
                <a:avLst>
                  <a:gd fmla="val 16667" name="adj"/>
                </a:avLst>
              </a:prstGeom>
              <a:solidFill>
                <a:srgbClr val="00B0F0"/>
              </a:solidFill>
              <a:ln cap="flat" cmpd="sng" w="12700">
                <a:solidFill>
                  <a:srgbClr val="A5A5A5"/>
                </a:solidFill>
                <a:prstDash val="solid"/>
                <a:miter lim="8000"/>
                <a:headEnd len="sm" w="sm" type="none"/>
                <a:tailEnd len="sm" w="sm" type="none"/>
              </a:ln>
              <a:effectLst>
                <a:outerShdw blurRad="50800" rotWithShape="0" algn="tl" dir="2700000" dist="38100">
                  <a:srgbClr val="000000">
                    <a:alpha val="40000"/>
                  </a:srgbClr>
                </a:outerShdw>
              </a:effectLst>
            </p:spPr>
            <p:txBody>
              <a:bodyPr anchorCtr="0" anchor="ctr" bIns="45700" lIns="36000" spcFirstLastPara="1" rIns="36000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1050"/>
                  <a:buFont typeface="Microsoft Yahei"/>
                  <a:buNone/>
                </a:pPr>
                <a:r>
                  <a:rPr b="0" i="0" lang="zh-CN" sz="105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TLF-SDLAN</a:t>
                </a:r>
                <a:endParaRPr/>
              </a:p>
            </p:txBody>
          </p:sp>
          <p:sp>
            <p:nvSpPr>
              <p:cNvPr id="788" name="Google Shape;788;p12"/>
              <p:cNvSpPr/>
              <p:nvPr/>
            </p:nvSpPr>
            <p:spPr>
              <a:xfrm>
                <a:off x="6366075" y="2778250"/>
                <a:ext cx="893761" cy="269905"/>
              </a:xfrm>
              <a:prstGeom prst="roundRect">
                <a:avLst>
                  <a:gd fmla="val 16667" name="adj"/>
                </a:avLst>
              </a:prstGeom>
              <a:solidFill>
                <a:srgbClr val="00B0F0"/>
              </a:solidFill>
              <a:ln cap="flat" cmpd="sng" w="12700">
                <a:solidFill>
                  <a:srgbClr val="A5A5A5"/>
                </a:solidFill>
                <a:prstDash val="solid"/>
                <a:miter lim="8000"/>
                <a:headEnd len="sm" w="sm" type="none"/>
                <a:tailEnd len="sm" w="sm" type="none"/>
              </a:ln>
              <a:effectLst>
                <a:outerShdw blurRad="50800" rotWithShape="0" algn="tl" dir="2700000" dist="38100">
                  <a:srgbClr val="000000">
                    <a:alpha val="40000"/>
                  </a:srgbClr>
                </a:outerShdw>
              </a:effectLst>
            </p:spPr>
            <p:txBody>
              <a:bodyPr anchorCtr="0" anchor="ctr" bIns="45700" lIns="36000" spcFirstLastPara="1" rIns="36000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1050"/>
                  <a:buFont typeface="Microsoft Yahei"/>
                  <a:buNone/>
                </a:pPr>
                <a:r>
                  <a:rPr b="0" i="0" lang="zh-CN" sz="105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TLF-SDWAN</a:t>
                </a:r>
                <a:endParaRPr/>
              </a:p>
            </p:txBody>
          </p:sp>
          <p:sp>
            <p:nvSpPr>
              <p:cNvPr id="789" name="Google Shape;789;p12"/>
              <p:cNvSpPr/>
              <p:nvPr/>
            </p:nvSpPr>
            <p:spPr>
              <a:xfrm>
                <a:off x="5788544" y="4500968"/>
                <a:ext cx="893761" cy="269905"/>
              </a:xfrm>
              <a:prstGeom prst="roundRect">
                <a:avLst>
                  <a:gd fmla="val 16667" name="adj"/>
                </a:avLst>
              </a:prstGeom>
              <a:solidFill>
                <a:srgbClr val="00B0F0"/>
              </a:solidFill>
              <a:ln cap="flat" cmpd="sng" w="12700">
                <a:solidFill>
                  <a:srgbClr val="A5A5A5"/>
                </a:solidFill>
                <a:prstDash val="solid"/>
                <a:miter lim="8000"/>
                <a:headEnd len="sm" w="sm" type="none"/>
                <a:tailEnd len="sm" w="sm" type="none"/>
              </a:ln>
              <a:effectLst>
                <a:outerShdw blurRad="50800" rotWithShape="0" algn="tl" dir="2700000" dist="38100">
                  <a:srgbClr val="000000">
                    <a:alpha val="40000"/>
                  </a:srgbClr>
                </a:outerShdw>
              </a:effectLst>
            </p:spPr>
            <p:txBody>
              <a:bodyPr anchorCtr="0" anchor="ctr" bIns="45700" lIns="36000" spcFirstLastPara="1" rIns="36000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1000"/>
                  <a:buFont typeface="Microsoft Yahei"/>
                  <a:buNone/>
                </a:pPr>
                <a:r>
                  <a:rPr b="0" i="0" lang="zh-CN" sz="100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TLF-IPVPN</a:t>
                </a:r>
                <a:endParaRPr/>
              </a:p>
            </p:txBody>
          </p:sp>
          <p:sp>
            <p:nvSpPr>
              <p:cNvPr id="790" name="Google Shape;790;p12"/>
              <p:cNvSpPr/>
              <p:nvPr/>
            </p:nvSpPr>
            <p:spPr>
              <a:xfrm>
                <a:off x="2069884" y="4642871"/>
                <a:ext cx="1091533" cy="281096"/>
              </a:xfrm>
              <a:prstGeom prst="roundRect">
                <a:avLst>
                  <a:gd fmla="val 16667" name="adj"/>
                </a:avLst>
              </a:prstGeom>
              <a:solidFill>
                <a:srgbClr val="9AD785"/>
              </a:solidFill>
              <a:ln cap="flat" cmpd="sng" w="12700">
                <a:solidFill>
                  <a:srgbClr val="A5A5A5"/>
                </a:solidFill>
                <a:prstDash val="solid"/>
                <a:miter lim="8000"/>
                <a:headEnd len="sm" w="sm" type="none"/>
                <a:tailEnd len="sm" w="sm" type="none"/>
              </a:ln>
              <a:effectLst>
                <a:outerShdw blurRad="50800" rotWithShape="0" algn="tl" dir="2700000" dist="38100">
                  <a:srgbClr val="000000">
                    <a:alpha val="40000"/>
                  </a:srgbClr>
                </a:outerShdw>
              </a:effectLst>
            </p:spPr>
            <p:txBody>
              <a:bodyPr anchorCtr="0" anchor="ctr" bIns="45700" lIns="36000" spcFirstLastPara="1" rIns="36000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1050"/>
                  <a:buFont typeface="Microsoft Yahei"/>
                  <a:buNone/>
                </a:pPr>
                <a:r>
                  <a:rPr b="0" i="0" lang="zh-CN" sz="105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TLF-WiFi(SMB)</a:t>
                </a:r>
                <a:endParaRPr b="0" i="0" sz="1050" u="none" cap="none" strike="noStrike">
                  <a:solidFill>
                    <a:srgbClr val="1D1D1A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</p:txBody>
          </p:sp>
          <p:sp>
            <p:nvSpPr>
              <p:cNvPr id="791" name="Google Shape;791;p12"/>
              <p:cNvSpPr/>
              <p:nvPr/>
            </p:nvSpPr>
            <p:spPr>
              <a:xfrm>
                <a:off x="2291166" y="4288452"/>
                <a:ext cx="1128218" cy="281096"/>
              </a:xfrm>
              <a:prstGeom prst="roundRect">
                <a:avLst>
                  <a:gd fmla="val 16667" name="adj"/>
                </a:avLst>
              </a:prstGeom>
              <a:solidFill>
                <a:srgbClr val="9AD785"/>
              </a:solidFill>
              <a:ln cap="flat" cmpd="sng" w="12700">
                <a:solidFill>
                  <a:srgbClr val="A5A5A5"/>
                </a:solidFill>
                <a:prstDash val="solid"/>
                <a:miter lim="8000"/>
                <a:headEnd len="sm" w="sm" type="none"/>
                <a:tailEnd len="sm" w="sm" type="none"/>
              </a:ln>
              <a:effectLst>
                <a:outerShdw blurRad="50800" rotWithShape="0" algn="tl" dir="2700000" dist="38100">
                  <a:srgbClr val="000000">
                    <a:alpha val="40000"/>
                  </a:srgbClr>
                </a:outerShdw>
              </a:effectLst>
            </p:spPr>
            <p:txBody>
              <a:bodyPr anchorCtr="0" anchor="ctr" bIns="45700" lIns="36000" spcFirstLastPara="1" rIns="36000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1050"/>
                  <a:buFont typeface="Microsoft Yahei"/>
                  <a:buNone/>
                </a:pPr>
                <a:r>
                  <a:rPr b="0" i="0" lang="zh-CN" sz="105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TLF-Switch(SMB)</a:t>
                </a:r>
                <a:endParaRPr b="0" i="0" sz="1050" u="none" cap="none" strike="noStrike">
                  <a:solidFill>
                    <a:srgbClr val="1D1D1A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</p:txBody>
          </p:sp>
        </p:grpSp>
        <p:grpSp>
          <p:nvGrpSpPr>
            <p:cNvPr id="792" name="Google Shape;792;p12"/>
            <p:cNvGrpSpPr/>
            <p:nvPr/>
          </p:nvGrpSpPr>
          <p:grpSpPr>
            <a:xfrm>
              <a:off x="3237461" y="6328422"/>
              <a:ext cx="1911673" cy="413448"/>
              <a:chOff x="4853535" y="5957445"/>
              <a:chExt cx="1911673" cy="459335"/>
            </a:xfrm>
          </p:grpSpPr>
          <p:sp>
            <p:nvSpPr>
              <p:cNvPr id="793" name="Google Shape;793;p12"/>
              <p:cNvSpPr/>
              <p:nvPr/>
            </p:nvSpPr>
            <p:spPr>
              <a:xfrm>
                <a:off x="4853535" y="5957445"/>
                <a:ext cx="604428" cy="45933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800"/>
                  <a:buFont typeface="Microsoft Yahei"/>
                  <a:buNone/>
                </a:pPr>
                <a:r>
                  <a:rPr b="0" i="0" lang="zh-CN" sz="80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肥肉区</a:t>
                </a:r>
                <a:endParaRPr b="0" i="0" sz="800" u="none" cap="none" strike="noStrike">
                  <a:solidFill>
                    <a:srgbClr val="1D1D1A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</p:txBody>
          </p:sp>
          <p:sp>
            <p:nvSpPr>
              <p:cNvPr id="794" name="Google Shape;794;p12"/>
              <p:cNvSpPr/>
              <p:nvPr/>
            </p:nvSpPr>
            <p:spPr>
              <a:xfrm>
                <a:off x="5523321" y="5957445"/>
                <a:ext cx="604428" cy="459335"/>
              </a:xfrm>
              <a:prstGeom prst="rect">
                <a:avLst/>
              </a:prstGeom>
              <a:solidFill>
                <a:srgbClr val="9AD785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900"/>
                  <a:buFont typeface="Calibri"/>
                  <a:buNone/>
                </a:pPr>
                <a:r>
                  <a:t/>
                </a:r>
                <a:endParaRPr b="0" i="0" sz="900" u="none" cap="none" strike="noStrike">
                  <a:solidFill>
                    <a:srgbClr val="1D1D1A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900"/>
                  <a:buFont typeface="Microsoft Yahei"/>
                  <a:buNone/>
                </a:pPr>
                <a:r>
                  <a:rPr b="0" i="0" lang="zh-CN" sz="90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瘦肉区</a:t>
                </a:r>
                <a:endParaRPr b="0" i="0" sz="700" u="none" cap="none" strike="noStrike">
                  <a:solidFill>
                    <a:srgbClr val="C00000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050"/>
                  <a:buFont typeface="Calibri"/>
                  <a:buNone/>
                </a:pPr>
                <a:r>
                  <a:t/>
                </a:r>
                <a:endParaRPr b="0" i="0" sz="1050" u="none" cap="none" strike="noStrike">
                  <a:solidFill>
                    <a:srgbClr val="1D1D1A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</p:txBody>
          </p:sp>
          <p:sp>
            <p:nvSpPr>
              <p:cNvPr id="795" name="Google Shape;795;p12"/>
              <p:cNvSpPr/>
              <p:nvPr/>
            </p:nvSpPr>
            <p:spPr>
              <a:xfrm>
                <a:off x="6160780" y="5957446"/>
                <a:ext cx="604428" cy="45933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1D1D1A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D1D1A"/>
                  </a:buClr>
                  <a:buSzPts val="1050"/>
                  <a:buFont typeface="Microsoft Yahei"/>
                  <a:buNone/>
                </a:pPr>
                <a:r>
                  <a:rPr b="0" i="0" lang="zh-CN" sz="1050" u="none" cap="none" strike="noStrike">
                    <a:solidFill>
                      <a:srgbClr val="1D1D1A"/>
                    </a:solidFill>
                    <a:latin typeface="Microsoft Yahei"/>
                    <a:ea typeface="Microsoft Yahei"/>
                    <a:cs typeface="Microsoft Yahei"/>
                    <a:sym typeface="Microsoft Yahei"/>
                  </a:rPr>
                  <a:t>骨头区</a:t>
                </a:r>
                <a:endParaRPr b="0" i="0" sz="700" u="none" cap="none" strike="noStrike">
                  <a:solidFill>
                    <a:srgbClr val="C00000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050"/>
                  <a:buFont typeface="Calibri"/>
                  <a:buNone/>
                </a:pPr>
                <a:r>
                  <a:t/>
                </a:r>
                <a:endParaRPr b="0" i="0" sz="1050" u="none" cap="none" strike="noStrike">
                  <a:solidFill>
                    <a:srgbClr val="1D1D1A"/>
                  </a:solidFill>
                  <a:latin typeface="Microsoft Yahei"/>
                  <a:ea typeface="Microsoft Yahei"/>
                  <a:cs typeface="Microsoft Yahei"/>
                  <a:sym typeface="Microsoft Yahei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3"/>
          <p:cNvSpPr txBox="1"/>
          <p:nvPr/>
        </p:nvSpPr>
        <p:spPr>
          <a:xfrm>
            <a:off x="343645" y="225409"/>
            <a:ext cx="11509472" cy="784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200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TDE B2B产商品</a:t>
            </a:r>
            <a:endParaRPr b="1" i="0" sz="2000" u="none" cap="none" strike="noStrike">
              <a:solidFill>
                <a:srgbClr val="C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graphicFrame>
        <p:nvGraphicFramePr>
          <p:cNvPr id="802" name="Google Shape;802;p13"/>
          <p:cNvGraphicFramePr/>
          <p:nvPr/>
        </p:nvGraphicFramePr>
        <p:xfrm>
          <a:off x="516754" y="258783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{64C14190-8D63-4A36-A451-3DC54B930F20}</a:tableStyleId>
              </a:tblPr>
              <a:tblGrid>
                <a:gridCol w="808425"/>
                <a:gridCol w="10053525"/>
              </a:tblGrid>
              <a:tr h="899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1" lang="zh-CN" sz="3600" u="none" cap="none" strike="noStrike">
                          <a:solidFill>
                            <a:srgbClr val="C00000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  <a:r>
                        <a:rPr b="1" i="1" lang="zh-CN" sz="2000" u="none" cap="none" strike="noStrike">
                          <a:solidFill>
                            <a:srgbClr val="C00000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.</a:t>
                      </a:r>
                      <a:endParaRPr b="1" i="1" sz="36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T="45700" marB="45700" marR="71975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Microsoft Yahei"/>
                        <a:buNone/>
                      </a:pPr>
                      <a:r>
                        <a:rPr b="1" lang="zh-CN" sz="1400" u="none" cap="none" strike="noStrike">
                          <a:solidFill>
                            <a:schemeClr val="dk1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TdE占40%的西班牙专线份额，MasOrange和VDF各占18%</a:t>
                      </a:r>
                      <a:endParaRPr/>
                    </a:p>
                  </a:txBody>
                  <a:tcPr marT="45700" marB="45700" marR="91400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9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1" lang="zh-CN" sz="3600" u="none" cap="none" strike="noStrike">
                          <a:solidFill>
                            <a:srgbClr val="C00000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  <a:r>
                        <a:rPr b="1" i="1" lang="zh-CN" sz="2000" u="none" cap="none" strike="noStrike">
                          <a:solidFill>
                            <a:srgbClr val="C00000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.</a:t>
                      </a:r>
                      <a:endParaRPr b="1" i="1" sz="36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T="45700" marB="45700" marR="71975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Microsoft Yahei"/>
                        <a:buNone/>
                      </a:pPr>
                      <a:r>
                        <a:rPr b="1" lang="zh-CN" sz="1400" u="none" cap="none" strike="noStrike"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WAN设备每年采购额110M+，为TdE带来13.5亿营收，投资比8%，华为可见空间50M+，26年目标4M（sellto）</a:t>
                      </a:r>
                      <a:endParaRPr b="1" sz="14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T="45700" marB="45700" marR="91400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9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1" lang="zh-CN" sz="3600" u="none" cap="none" strike="noStrike">
                          <a:solidFill>
                            <a:srgbClr val="C00000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  <a:r>
                        <a:rPr b="1" i="1" lang="zh-CN" sz="2000" u="none" cap="none" strike="noStrike">
                          <a:solidFill>
                            <a:srgbClr val="C00000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.</a:t>
                      </a:r>
                      <a:endParaRPr b="1" i="1" sz="36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T="45700" marB="45700" marR="71975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Microsoft Yahei"/>
                        <a:buNone/>
                      </a:pPr>
                      <a:r>
                        <a:rPr b="1" lang="zh-CN" sz="1400" u="none" cap="none" strike="noStrike">
                          <a:solidFill>
                            <a:schemeClr val="dk1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LAN设备每年采购额40M+，为TdE带来1.75亿营收</a:t>
                      </a:r>
                      <a:r>
                        <a:rPr b="1" lang="zh-CN" sz="1400" u="none" cap="none" strike="noStrike"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，投资比20%，AP 与交换机采购金额比例为3:2</a:t>
                      </a:r>
                      <a:endParaRPr b="1" sz="1400" u="none" cap="none" strike="noStrike">
                        <a:solidFill>
                          <a:schemeClr val="dk1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T="45700" marB="45700" marR="91400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9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1" sz="36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T="45700" marB="45700" marR="71975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 Narrow"/>
                        <a:buNone/>
                      </a:pPr>
                      <a:r>
                        <a:t/>
                      </a:r>
                      <a:endParaRPr b="1" sz="1400" u="none" cap="none" strike="noStrike">
                        <a:solidFill>
                          <a:srgbClr val="C00000"/>
                        </a:solidFill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T="45700" marB="45700" marR="91400" marL="914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03" name="Google Shape;803;p13"/>
          <p:cNvSpPr txBox="1"/>
          <p:nvPr/>
        </p:nvSpPr>
        <p:spPr>
          <a:xfrm>
            <a:off x="589931" y="1315096"/>
            <a:ext cx="9511906" cy="8744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CN" sz="1800">
                <a:solidFill>
                  <a:srgbClr val="0000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产商品分为两大类，Service和Supply。Service即传统流水业务，从连接向DICT扩展，华为重点聚焦连接，做大已完成准入产品（WAN/LAN）的份额。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内容Copytext 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3_Etisalat KAD">
  <a:themeElements>
    <a:clrScheme name="Etisalat KAD">
      <a:dk1>
        <a:srgbClr val="000000"/>
      </a:dk1>
      <a:lt1>
        <a:srgbClr val="FFFFFF"/>
      </a:lt1>
      <a:dk2>
        <a:srgbClr val="547612"/>
      </a:dk2>
      <a:lt2>
        <a:srgbClr val="C8C8C8"/>
      </a:lt2>
      <a:accent1>
        <a:srgbClr val="B3E455"/>
      </a:accent1>
      <a:accent2>
        <a:srgbClr val="547612"/>
      </a:accent2>
      <a:accent3>
        <a:srgbClr val="384F0C"/>
      </a:accent3>
      <a:accent4>
        <a:srgbClr val="93C3EA"/>
      </a:accent4>
      <a:accent5>
        <a:srgbClr val="2476B9"/>
      </a:accent5>
      <a:accent6>
        <a:srgbClr val="184E7B"/>
      </a:accent6>
      <a:hlink>
        <a:srgbClr val="3F3F3F"/>
      </a:hlink>
      <a:folHlink>
        <a:srgbClr val="99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1_内容Copytext 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1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ontents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4_Title Slid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over page_Image version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7_Chart page">
  <a:themeElements>
    <a:clrScheme name="Office 2007-2010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Override1.xml><?xml version="1.0" encoding="utf-8"?>
<a:themeOverride xmlns:a="http://schemas.openxmlformats.org/drawingml/2006/main">
  <a:clrScheme name="HuaWei colour 3">
    <a:dk1>
      <a:srgbClr val="1D1D1A"/>
    </a:dk1>
    <a:lt1>
      <a:srgbClr val="666666"/>
    </a:lt1>
    <a:dk2>
      <a:srgbClr val="FFFFFF"/>
    </a:dk2>
    <a:lt2>
      <a:srgbClr val="DDDDDD"/>
    </a:lt2>
    <a:accent1>
      <a:srgbClr val="E9002F"/>
    </a:accent1>
    <a:accent2>
      <a:srgbClr val="7F0000"/>
    </a:accent2>
    <a:accent3>
      <a:srgbClr val="ED6D00"/>
    </a:accent3>
    <a:accent4>
      <a:srgbClr val="FCC800"/>
    </a:accent4>
    <a:accent5>
      <a:srgbClr val="61B230"/>
    </a:accent5>
    <a:accent6>
      <a:srgbClr val="30B5C5"/>
    </a:accent6>
    <a:hlink>
      <a:srgbClr val="C7000B"/>
    </a:hlink>
    <a:folHlink>
      <a:srgbClr val="666666"/>
    </a:folHlink>
  </a:clrScheme>
  <a:fontScheme name="Arial">
    <a:majorFont>
      <a:latin typeface="Arial" panose="020B0604020202020204"/>
      <a:ea typeface=""/>
      <a:cs typeface=""/>
      <a:font script="Jpan" typeface="ＭＳ Ｐゴシック"/>
      <a:font script="Hang" typeface="굴림"/>
      <a:font script="Hans" typeface="黑体"/>
      <a:font script="Hant" typeface="微軟正黑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ajorFont>
    <a:minorFont>
      <a:latin typeface="Arial" panose="020B0604020202020204"/>
      <a:ea typeface=""/>
      <a:cs typeface=""/>
      <a:font script="Jpan" typeface="ＭＳ Ｐゴシック"/>
      <a:font script="Hang" typeface="굴림"/>
      <a:font script="Hans" typeface="黑体"/>
      <a:font script="Hant" typeface="微軟正黑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HuaWei colour 3">
    <a:dk1>
      <a:srgbClr val="1D1D1A"/>
    </a:dk1>
    <a:lt1>
      <a:srgbClr val="666666"/>
    </a:lt1>
    <a:dk2>
      <a:srgbClr val="FFFFFF"/>
    </a:dk2>
    <a:lt2>
      <a:srgbClr val="DDDDDD"/>
    </a:lt2>
    <a:accent1>
      <a:srgbClr val="E9002F"/>
    </a:accent1>
    <a:accent2>
      <a:srgbClr val="7F0000"/>
    </a:accent2>
    <a:accent3>
      <a:srgbClr val="ED6D00"/>
    </a:accent3>
    <a:accent4>
      <a:srgbClr val="FCC800"/>
    </a:accent4>
    <a:accent5>
      <a:srgbClr val="61B230"/>
    </a:accent5>
    <a:accent6>
      <a:srgbClr val="30B5C5"/>
    </a:accent6>
    <a:hlink>
      <a:srgbClr val="C7000B"/>
    </a:hlink>
    <a:folHlink>
      <a:srgbClr val="666666"/>
    </a:folHlink>
  </a:clrScheme>
  <a:fontScheme name="Arial">
    <a:majorFont>
      <a:latin typeface="Arial" panose="020B0604020202020204"/>
      <a:ea typeface=""/>
      <a:cs typeface=""/>
      <a:font script="Jpan" typeface="ＭＳ Ｐゴシック"/>
      <a:font script="Hang" typeface="굴림"/>
      <a:font script="Hans" typeface="黑体"/>
      <a:font script="Hant" typeface="微軟正黑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ajorFont>
    <a:minorFont>
      <a:latin typeface="Arial" panose="020B0604020202020204"/>
      <a:ea typeface=""/>
      <a:cs typeface=""/>
      <a:font script="Jpan" typeface="ＭＳ Ｐゴシック"/>
      <a:font script="Hang" typeface="굴림"/>
      <a:font script="Hans" typeface="黑体"/>
      <a:font script="Hant" typeface="微軟正黑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2020-08-28T08:44:19Z</dcterms:created>
  <dc:creator>Xubin(QianKun)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(3)4UZWS5F6wm3tNM1o9lxs18KWSculQ6Y6l4d644LUoVJIqkUv1qGGZ+PpW8hu0UYSCFJwV6G+
0fXYbnTikgafHqiBGmsas8QxIFur+6mtxE0VSu32eXv8IagfmfrzXwcb1cd7osdVR7XttJZq
1Nj2Z6quBJXEJheWN0Tr5Tb/DQhI2ZA3ODs5me/LJjxietGTKlQIQPf/0LDEBtHO+E9XeKz7
pqh4vMZ7eVsvbvvK3N</vt:lpwstr>
  </property>
  <property fmtid="{D5CDD505-2E9C-101B-9397-08002B2CF9AE}" pid="3" name="_2015_ms_pID_7253431">
    <vt:lpwstr>KWujFuTWBBb+S2h9wbeqOGSxOGdk9Xns2IsKgX70swCNhPptTv0UT7
Vh6Ej89rr5s93enFU6KDExAtjypY4fQF9G3W5iwLWSs6ICSZjaAF27iEIV5yuJQftJanGNxS
Zk4bLrG+QQzdriVSzxxXVyZF3KgVaTlVMhy+NZyrl+Omm9AO73vWsjKyjnejQqxu82x3VWlF
w1OqNXrL5mxB9e+2K9OlzYg7CtIQK0ZqupZf</vt:lpwstr>
  </property>
  <property fmtid="{D5CDD505-2E9C-101B-9397-08002B2CF9AE}" pid="4" name="_2015_ms_pID_7253432">
    <vt:lpwstr>yBilE+0U5w3rj7VXU88dyp0=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1744624003</vt:lpwstr>
  </property>
</Properties>
</file>