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76">
          <p15:clr>
            <a:srgbClr val="A4A3A4"/>
          </p15:clr>
        </p15:guide>
        <p15:guide id="2" pos="3958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vsD87yyMUoFkNNHO5PBpYREdV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9EC5A4-D3B5-423A-9084-938E6637AEE3}">
  <a:tblStyle styleId="{079EC5A4-D3B5-423A-9084-938E6637AEE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76" orient="horz"/>
        <p:guide pos="39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078427" cy="5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404" y="0"/>
            <a:ext cx="3078427" cy="5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720516"/>
            <a:ext cx="3078427" cy="51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404" y="9720516"/>
            <a:ext cx="3078427" cy="51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-1822450" y="1909763"/>
            <a:ext cx="9164638" cy="5154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4024404" y="9720516"/>
            <a:ext cx="3078427" cy="51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lang="zh-C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-1885950" y="1022350"/>
            <a:ext cx="9099550" cy="5118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712874" y="6481922"/>
            <a:ext cx="3902302" cy="614076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479425" y="1277938"/>
            <a:ext cx="6145213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 txBox="1"/>
          <p:nvPr>
            <p:ph idx="1" type="body"/>
          </p:nvPr>
        </p:nvSpPr>
        <p:spPr>
          <a:xfrm>
            <a:off x="710407" y="4925409"/>
            <a:ext cx="5683200" cy="40299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:notes"/>
          <p:cNvSpPr/>
          <p:nvPr>
            <p:ph idx="2" type="sldImg"/>
          </p:nvPr>
        </p:nvSpPr>
        <p:spPr>
          <a:xfrm>
            <a:off x="480043" y="1277938"/>
            <a:ext cx="6144000" cy="345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6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6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3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4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4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5:notes"/>
          <p:cNvSpPr/>
          <p:nvPr>
            <p:ph idx="2" type="sldImg"/>
          </p:nvPr>
        </p:nvSpPr>
        <p:spPr>
          <a:xfrm>
            <a:off x="479425" y="1277938"/>
            <a:ext cx="6145213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35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5:notes"/>
          <p:cNvSpPr txBox="1"/>
          <p:nvPr>
            <p:ph idx="12" type="sldNum"/>
          </p:nvPr>
        </p:nvSpPr>
        <p:spPr>
          <a:xfrm>
            <a:off x="4024404" y="9720516"/>
            <a:ext cx="3078427" cy="51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9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9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1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1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6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6:notes"/>
          <p:cNvSpPr/>
          <p:nvPr>
            <p:ph idx="2" type="sldImg"/>
          </p:nvPr>
        </p:nvSpPr>
        <p:spPr>
          <a:xfrm>
            <a:off x="480043" y="1277938"/>
            <a:ext cx="6143977" cy="3455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3:notes"/>
          <p:cNvSpPr/>
          <p:nvPr>
            <p:ph idx="2" type="sldImg"/>
          </p:nvPr>
        </p:nvSpPr>
        <p:spPr>
          <a:xfrm>
            <a:off x="-1822450" y="1909763"/>
            <a:ext cx="9164638" cy="5154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53:notes"/>
          <p:cNvSpPr txBox="1"/>
          <p:nvPr>
            <p:ph idx="1" type="body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6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6"/>
          <p:cNvSpPr txBox="1"/>
          <p:nvPr>
            <p:ph idx="1" type="body"/>
          </p:nvPr>
        </p:nvSpPr>
        <p:spPr>
          <a:xfrm>
            <a:off x="870598" y="1641022"/>
            <a:ext cx="10325656" cy="407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3pPr>
            <a:lvl4pPr indent="-342900" lvl="3" marL="1828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74320" lvl="4" marL="22860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indent="-274320" lvl="5" marL="2743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6pPr>
            <a:lvl7pPr indent="-274320" lvl="6" marL="3200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7pPr>
            <a:lvl8pPr indent="-274320" lvl="7" marL="3657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8pPr>
            <a:lvl9pPr indent="-274320" lvl="8" marL="4114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9pPr>
          </a:lstStyle>
          <a:p/>
        </p:txBody>
      </p:sp>
      <p:sp>
        <p:nvSpPr>
          <p:cNvPr id="17" name="Google Shape;17;p66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7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定义版式">
  <p:cSld name="1_自定义版式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9"/>
          <p:cNvSpPr txBox="1"/>
          <p:nvPr>
            <p:ph type="ctrTitle"/>
          </p:nvPr>
        </p:nvSpPr>
        <p:spPr>
          <a:xfrm>
            <a:off x="914128" y="1392011"/>
            <a:ext cx="7073609" cy="166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28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9"/>
          <p:cNvSpPr txBox="1"/>
          <p:nvPr>
            <p:ph idx="1" type="subTitle"/>
          </p:nvPr>
        </p:nvSpPr>
        <p:spPr>
          <a:xfrm>
            <a:off x="912315" y="3182711"/>
            <a:ext cx="7075422" cy="86405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lvl="2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3pPr>
            <a:lvl4pPr lvl="3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lvl="5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6pPr>
            <a:lvl7pPr lvl="6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7pPr>
            <a:lvl8pPr lvl="7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8pPr>
            <a:lvl9pPr lvl="8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9pPr>
          </a:lstStyle>
          <a:p/>
        </p:txBody>
      </p:sp>
      <p:sp>
        <p:nvSpPr>
          <p:cNvPr id="24" name="Google Shape;24;p69"/>
          <p:cNvSpPr txBox="1"/>
          <p:nvPr>
            <p:ph idx="10" type="dt"/>
          </p:nvPr>
        </p:nvSpPr>
        <p:spPr>
          <a:xfrm>
            <a:off x="912315" y="281669"/>
            <a:ext cx="1728500" cy="30393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37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0"/>
          <p:cNvSpPr txBox="1"/>
          <p:nvPr>
            <p:ph type="title"/>
          </p:nvPr>
        </p:nvSpPr>
        <p:spPr>
          <a:xfrm>
            <a:off x="963100" y="4407354"/>
            <a:ext cx="10363744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428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0"/>
          <p:cNvSpPr txBox="1"/>
          <p:nvPr>
            <p:ph idx="1" type="body"/>
          </p:nvPr>
        </p:nvSpPr>
        <p:spPr>
          <a:xfrm>
            <a:off x="963100" y="2906486"/>
            <a:ext cx="10363744" cy="150086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SzPts val="1714"/>
              <a:buFont typeface="Arial"/>
              <a:buNone/>
              <a:defRPr sz="1714"/>
            </a:lvl1pPr>
            <a:lvl2pPr indent="-228600" lvl="1" marL="9144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543"/>
            </a:lvl2pPr>
            <a:lvl3pPr indent="-228600" lvl="2" marL="13716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Clr>
                <a:schemeClr val="dk1"/>
              </a:buClr>
              <a:buSzPts val="1371"/>
              <a:buNone/>
              <a:defRPr sz="1371"/>
            </a:lvl3pPr>
            <a:lvl4pPr indent="-228600" lvl="3" marL="18288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5pPr>
            <a:lvl6pPr indent="-228600" lvl="5" marL="27432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6pPr>
            <a:lvl7pPr indent="-228600" lvl="6" marL="32004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7pPr>
            <a:lvl8pPr indent="-228600" lvl="7" marL="36576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8pPr>
            <a:lvl9pPr indent="-228600" lvl="8" marL="41148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480"/>
              <a:buNone/>
              <a:defRPr sz="1200"/>
            </a:lvl9pPr>
          </a:lstStyle>
          <a:p/>
        </p:txBody>
      </p:sp>
      <p:sp>
        <p:nvSpPr>
          <p:cNvPr id="28" name="Google Shape;28;p70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1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1"/>
          <p:cNvSpPr txBox="1"/>
          <p:nvPr>
            <p:ph idx="1" type="body"/>
          </p:nvPr>
        </p:nvSpPr>
        <p:spPr>
          <a:xfrm>
            <a:off x="870599" y="1641022"/>
            <a:ext cx="5074861" cy="407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9220" lvl="1" marL="9144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2057"/>
              <a:buChar char="›"/>
              <a:defRPr sz="2057"/>
            </a:lvl2pPr>
            <a:lvl3pPr indent="-337439" lvl="2" marL="13716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Char char="»"/>
              <a:defRPr sz="1714"/>
            </a:lvl3pPr>
            <a:lvl4pPr indent="-326580" lvl="3" marL="18288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Font typeface="Arial"/>
              <a:buChar char="–"/>
              <a:defRPr sz="1543"/>
            </a:lvl4pPr>
            <a:lvl5pPr indent="-267792" lvl="4" marL="22860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5pPr>
            <a:lvl6pPr indent="-267792" lvl="5" marL="27432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6pPr>
            <a:lvl7pPr indent="-267792" lvl="6" marL="32004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7pPr>
            <a:lvl8pPr indent="-267792" lvl="7" marL="36576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8pPr>
            <a:lvl9pPr indent="-267792" lvl="8" marL="41148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9pPr>
          </a:lstStyle>
          <a:p/>
        </p:txBody>
      </p:sp>
      <p:sp>
        <p:nvSpPr>
          <p:cNvPr id="32" name="Google Shape;32;p71"/>
          <p:cNvSpPr txBox="1"/>
          <p:nvPr>
            <p:ph idx="2" type="body"/>
          </p:nvPr>
        </p:nvSpPr>
        <p:spPr>
          <a:xfrm>
            <a:off x="6119579" y="1641022"/>
            <a:ext cx="5076675" cy="407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59220" lvl="1" marL="9144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2057"/>
              <a:buChar char="›"/>
              <a:defRPr sz="2057"/>
            </a:lvl2pPr>
            <a:lvl3pPr indent="-337439" lvl="2" marL="13716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Char char="»"/>
              <a:defRPr sz="1714"/>
            </a:lvl3pPr>
            <a:lvl4pPr indent="-326580" lvl="3" marL="18288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Font typeface="Arial"/>
              <a:buChar char="–"/>
              <a:defRPr sz="1543"/>
            </a:lvl4pPr>
            <a:lvl5pPr indent="-267792" lvl="4" marL="22860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5pPr>
            <a:lvl6pPr indent="-267792" lvl="5" marL="27432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6pPr>
            <a:lvl7pPr indent="-267792" lvl="6" marL="32004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7pPr>
            <a:lvl8pPr indent="-267792" lvl="7" marL="36576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8pPr>
            <a:lvl9pPr indent="-267792" lvl="8" marL="41148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SzPts val="617"/>
              <a:buChar char="●"/>
              <a:defRPr sz="1543"/>
            </a:lvl9pPr>
          </a:lstStyle>
          <a:p/>
        </p:txBody>
      </p:sp>
      <p:sp>
        <p:nvSpPr>
          <p:cNvPr id="33" name="Google Shape;33;p71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2"/>
          <p:cNvSpPr txBox="1"/>
          <p:nvPr>
            <p:ph type="title"/>
          </p:nvPr>
        </p:nvSpPr>
        <p:spPr>
          <a:xfrm>
            <a:off x="609419" y="274864"/>
            <a:ext cx="109731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2"/>
          <p:cNvSpPr txBox="1"/>
          <p:nvPr>
            <p:ph idx="1" type="body"/>
          </p:nvPr>
        </p:nvSpPr>
        <p:spPr>
          <a:xfrm>
            <a:off x="609419" y="1534886"/>
            <a:ext cx="5386825" cy="639536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SzPts val="2057"/>
              <a:buFont typeface="Arial"/>
              <a:buNone/>
              <a:defRPr b="1" sz="2057"/>
            </a:lvl1pPr>
            <a:lvl2pPr indent="-228600" lvl="1" marL="9144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None/>
              <a:defRPr b="1" sz="1714"/>
            </a:lvl2pPr>
            <a:lvl3pPr indent="-228600" lvl="2" marL="13716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b="1" sz="1543"/>
            </a:lvl3pPr>
            <a:lvl4pPr indent="-228600" lvl="3" marL="1828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Clr>
                <a:schemeClr val="dk1"/>
              </a:buClr>
              <a:buSzPts val="1371"/>
              <a:buFont typeface="Arial"/>
              <a:buNone/>
              <a:defRPr b="1" sz="1371"/>
            </a:lvl4pPr>
            <a:lvl5pPr indent="-228600" lvl="4" marL="22860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5pPr>
            <a:lvl6pPr indent="-228600" lvl="5" marL="27432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6pPr>
            <a:lvl7pPr indent="-228600" lvl="6" marL="32004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7pPr>
            <a:lvl8pPr indent="-228600" lvl="7" marL="36576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8pPr>
            <a:lvl9pPr indent="-228600" lvl="8" marL="4114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9pPr>
          </a:lstStyle>
          <a:p/>
        </p:txBody>
      </p:sp>
      <p:sp>
        <p:nvSpPr>
          <p:cNvPr id="37" name="Google Shape;37;p72"/>
          <p:cNvSpPr txBox="1"/>
          <p:nvPr>
            <p:ph idx="2" type="body"/>
          </p:nvPr>
        </p:nvSpPr>
        <p:spPr>
          <a:xfrm>
            <a:off x="609419" y="2174422"/>
            <a:ext cx="5386825" cy="395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9220" lvl="0" marL="4572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SzPts val="2057"/>
              <a:buFont typeface="Arial"/>
              <a:buChar char="•"/>
              <a:defRPr sz="2057"/>
            </a:lvl1pPr>
            <a:lvl2pPr indent="-337439" lvl="1" marL="9144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Char char="›"/>
              <a:defRPr sz="1714"/>
            </a:lvl2pPr>
            <a:lvl3pPr indent="-326580" lvl="2" marL="13716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Char char="»"/>
              <a:defRPr sz="1543"/>
            </a:lvl3pPr>
            <a:lvl4pPr indent="-315659" lvl="3" marL="1828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Clr>
                <a:schemeClr val="dk1"/>
              </a:buClr>
              <a:buSzPts val="1371"/>
              <a:buFont typeface="Arial"/>
              <a:buChar char="–"/>
              <a:defRPr sz="1371"/>
            </a:lvl4pPr>
            <a:lvl5pPr indent="-263423" lvl="4" marL="22860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5pPr>
            <a:lvl6pPr indent="-263423" lvl="5" marL="27432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6pPr>
            <a:lvl7pPr indent="-263423" lvl="6" marL="32004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7pPr>
            <a:lvl8pPr indent="-263423" lvl="7" marL="36576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8pPr>
            <a:lvl9pPr indent="-263423" lvl="8" marL="4114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9pPr>
          </a:lstStyle>
          <a:p/>
        </p:txBody>
      </p:sp>
      <p:sp>
        <p:nvSpPr>
          <p:cNvPr id="38" name="Google Shape;38;p72"/>
          <p:cNvSpPr txBox="1"/>
          <p:nvPr>
            <p:ph idx="3" type="body"/>
          </p:nvPr>
        </p:nvSpPr>
        <p:spPr>
          <a:xfrm>
            <a:off x="6193943" y="1534886"/>
            <a:ext cx="5388639" cy="639536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SzPts val="2057"/>
              <a:buFont typeface="Arial"/>
              <a:buNone/>
              <a:defRPr b="1" sz="2057"/>
            </a:lvl1pPr>
            <a:lvl2pPr indent="-228600" lvl="1" marL="9144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None/>
              <a:defRPr b="1" sz="1714"/>
            </a:lvl2pPr>
            <a:lvl3pPr indent="-228600" lvl="2" marL="13716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b="1" sz="1543"/>
            </a:lvl3pPr>
            <a:lvl4pPr indent="-228600" lvl="3" marL="1828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Clr>
                <a:schemeClr val="dk1"/>
              </a:buClr>
              <a:buSzPts val="1371"/>
              <a:buFont typeface="Arial"/>
              <a:buNone/>
              <a:defRPr b="1" sz="1371"/>
            </a:lvl4pPr>
            <a:lvl5pPr indent="-228600" lvl="4" marL="22860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5pPr>
            <a:lvl6pPr indent="-228600" lvl="5" marL="27432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6pPr>
            <a:lvl7pPr indent="-228600" lvl="6" marL="32004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7pPr>
            <a:lvl8pPr indent="-228600" lvl="7" marL="36576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8pPr>
            <a:lvl9pPr indent="-228600" lvl="8" marL="4114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None/>
              <a:defRPr b="1" sz="1371"/>
            </a:lvl9pPr>
          </a:lstStyle>
          <a:p/>
        </p:txBody>
      </p:sp>
      <p:sp>
        <p:nvSpPr>
          <p:cNvPr id="39" name="Google Shape;39;p72"/>
          <p:cNvSpPr txBox="1"/>
          <p:nvPr>
            <p:ph idx="4" type="body"/>
          </p:nvPr>
        </p:nvSpPr>
        <p:spPr>
          <a:xfrm>
            <a:off x="6193943" y="2174422"/>
            <a:ext cx="5388639" cy="3951514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9220" lvl="0" marL="4572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SzPts val="2057"/>
              <a:buFont typeface="Arial"/>
              <a:buChar char="•"/>
              <a:defRPr sz="2057"/>
            </a:lvl1pPr>
            <a:lvl2pPr indent="-337439" lvl="1" marL="9144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Char char="›"/>
              <a:defRPr sz="1714"/>
            </a:lvl2pPr>
            <a:lvl3pPr indent="-326580" lvl="2" marL="1371600" algn="l">
              <a:lnSpc>
                <a:spcPct val="125000"/>
              </a:lnSpc>
              <a:spcBef>
                <a:spcPts val="309"/>
              </a:spcBef>
              <a:spcAft>
                <a:spcPts val="0"/>
              </a:spcAft>
              <a:buClr>
                <a:schemeClr val="dk1"/>
              </a:buClr>
              <a:buSzPts val="1543"/>
              <a:buChar char="»"/>
              <a:defRPr sz="1543"/>
            </a:lvl3pPr>
            <a:lvl4pPr indent="-315659" lvl="3" marL="1828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Clr>
                <a:schemeClr val="dk1"/>
              </a:buClr>
              <a:buSzPts val="1371"/>
              <a:buFont typeface="Arial"/>
              <a:buChar char="–"/>
              <a:defRPr sz="1371"/>
            </a:lvl4pPr>
            <a:lvl5pPr indent="-263423" lvl="4" marL="22860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5pPr>
            <a:lvl6pPr indent="-263423" lvl="5" marL="27432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6pPr>
            <a:lvl7pPr indent="-263423" lvl="6" marL="32004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7pPr>
            <a:lvl8pPr indent="-263423" lvl="7" marL="36576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8pPr>
            <a:lvl9pPr indent="-263423" lvl="8" marL="4114800" algn="l">
              <a:lnSpc>
                <a:spcPct val="125000"/>
              </a:lnSpc>
              <a:spcBef>
                <a:spcPts val="274"/>
              </a:spcBef>
              <a:spcAft>
                <a:spcPts val="0"/>
              </a:spcAft>
              <a:buSzPts val="548"/>
              <a:buChar char="●"/>
              <a:defRPr sz="1371"/>
            </a:lvl9pPr>
          </a:lstStyle>
          <a:p/>
        </p:txBody>
      </p:sp>
      <p:sp>
        <p:nvSpPr>
          <p:cNvPr id="40" name="Google Shape;40;p72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3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3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4"/>
          <p:cNvSpPr txBox="1"/>
          <p:nvPr>
            <p:ph type="title"/>
          </p:nvPr>
        </p:nvSpPr>
        <p:spPr>
          <a:xfrm>
            <a:off x="609419" y="273504"/>
            <a:ext cx="4012006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714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4"/>
          <p:cNvSpPr txBox="1"/>
          <p:nvPr>
            <p:ph idx="1" type="body"/>
          </p:nvPr>
        </p:nvSpPr>
        <p:spPr>
          <a:xfrm>
            <a:off x="4766525" y="273504"/>
            <a:ext cx="6816057" cy="585243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2781" lvl="0" marL="457200" algn="l">
              <a:lnSpc>
                <a:spcPct val="125000"/>
              </a:lnSpc>
              <a:spcBef>
                <a:spcPts val="549"/>
              </a:spcBef>
              <a:spcAft>
                <a:spcPts val="0"/>
              </a:spcAft>
              <a:buSzPts val="2743"/>
              <a:buFont typeface="Arial"/>
              <a:buChar char="•"/>
              <a:defRPr sz="2743"/>
            </a:lvl1pPr>
            <a:lvl2pPr indent="-381000" lvl="1" marL="914400" algn="l">
              <a:lnSpc>
                <a:spcPct val="12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2pPr>
            <a:lvl3pPr indent="-359220" lvl="2" marL="1371600" algn="l">
              <a:lnSpc>
                <a:spcPct val="125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2057"/>
              <a:buChar char="»"/>
              <a:defRPr sz="2057"/>
            </a:lvl3pPr>
            <a:lvl4pPr indent="-337439" lvl="3" marL="18288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–"/>
              <a:defRPr sz="1714"/>
            </a:lvl4pPr>
            <a:lvl5pPr indent="-272136" lvl="4" marL="22860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SzPts val="686"/>
              <a:buChar char="●"/>
              <a:defRPr sz="1714"/>
            </a:lvl5pPr>
            <a:lvl6pPr indent="-272136" lvl="5" marL="27432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SzPts val="686"/>
              <a:buChar char="●"/>
              <a:defRPr sz="1714"/>
            </a:lvl6pPr>
            <a:lvl7pPr indent="-272136" lvl="6" marL="32004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SzPts val="686"/>
              <a:buChar char="●"/>
              <a:defRPr sz="1714"/>
            </a:lvl7pPr>
            <a:lvl8pPr indent="-272136" lvl="7" marL="36576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SzPts val="686"/>
              <a:buChar char="●"/>
              <a:defRPr sz="1714"/>
            </a:lvl8pPr>
            <a:lvl9pPr indent="-272136" lvl="8" marL="411480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SzPts val="686"/>
              <a:buChar char="●"/>
              <a:defRPr sz="1714"/>
            </a:lvl9pPr>
          </a:lstStyle>
          <a:p/>
        </p:txBody>
      </p:sp>
      <p:sp>
        <p:nvSpPr>
          <p:cNvPr id="47" name="Google Shape;47;p74"/>
          <p:cNvSpPr txBox="1"/>
          <p:nvPr>
            <p:ph idx="2" type="body"/>
          </p:nvPr>
        </p:nvSpPr>
        <p:spPr>
          <a:xfrm>
            <a:off x="609419" y="1435554"/>
            <a:ext cx="4012006" cy="469038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5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1029"/>
              <a:buNone/>
              <a:defRPr sz="1029"/>
            </a:lvl2pPr>
            <a:lvl3pPr indent="-228600" lvl="2" marL="1371600" algn="l">
              <a:lnSpc>
                <a:spcPct val="125000"/>
              </a:lnSpc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857"/>
              <a:buNone/>
              <a:defRPr sz="857"/>
            </a:lvl3pPr>
            <a:lvl4pPr indent="-228600" lvl="3" marL="18288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Clr>
                <a:schemeClr val="dk1"/>
              </a:buClr>
              <a:buSzPts val="771"/>
              <a:buFont typeface="Arial"/>
              <a:buNone/>
              <a:defRPr sz="771"/>
            </a:lvl4pPr>
            <a:lvl5pPr indent="-228600" lvl="4" marL="22860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5pPr>
            <a:lvl6pPr indent="-228600" lvl="5" marL="27432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6pPr>
            <a:lvl7pPr indent="-228600" lvl="6" marL="32004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7pPr>
            <a:lvl8pPr indent="-228600" lvl="7" marL="36576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8pPr>
            <a:lvl9pPr indent="-228600" lvl="8" marL="41148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9pPr>
          </a:lstStyle>
          <a:p/>
        </p:txBody>
      </p:sp>
      <p:sp>
        <p:nvSpPr>
          <p:cNvPr id="48" name="Google Shape;48;p74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5"/>
          <p:cNvSpPr txBox="1"/>
          <p:nvPr>
            <p:ph type="title"/>
          </p:nvPr>
        </p:nvSpPr>
        <p:spPr>
          <a:xfrm>
            <a:off x="2390517" y="4800600"/>
            <a:ext cx="7314838" cy="56741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714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5"/>
          <p:cNvSpPr/>
          <p:nvPr>
            <p:ph idx="2" type="pic"/>
          </p:nvPr>
        </p:nvSpPr>
        <p:spPr>
          <a:xfrm>
            <a:off x="2390517" y="612321"/>
            <a:ext cx="7314838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75"/>
          <p:cNvSpPr txBox="1"/>
          <p:nvPr>
            <p:ph idx="1" type="body"/>
          </p:nvPr>
        </p:nvSpPr>
        <p:spPr>
          <a:xfrm>
            <a:off x="2390517" y="5368018"/>
            <a:ext cx="7314838" cy="80418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25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1029"/>
              <a:buNone/>
              <a:defRPr sz="1029"/>
            </a:lvl2pPr>
            <a:lvl3pPr indent="-228600" lvl="2" marL="1371600" algn="l">
              <a:lnSpc>
                <a:spcPct val="125000"/>
              </a:lnSpc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857"/>
              <a:buNone/>
              <a:defRPr sz="857"/>
            </a:lvl3pPr>
            <a:lvl4pPr indent="-228600" lvl="3" marL="18288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Clr>
                <a:schemeClr val="dk1"/>
              </a:buClr>
              <a:buSzPts val="771"/>
              <a:buFont typeface="Arial"/>
              <a:buNone/>
              <a:defRPr sz="771"/>
            </a:lvl4pPr>
            <a:lvl5pPr indent="-228600" lvl="4" marL="22860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5pPr>
            <a:lvl6pPr indent="-228600" lvl="5" marL="27432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6pPr>
            <a:lvl7pPr indent="-228600" lvl="6" marL="32004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7pPr>
            <a:lvl8pPr indent="-228600" lvl="7" marL="36576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8pPr>
            <a:lvl9pPr indent="-228600" lvl="8" marL="4114800" algn="l">
              <a:lnSpc>
                <a:spcPct val="125000"/>
              </a:lnSpc>
              <a:spcBef>
                <a:spcPts val="154"/>
              </a:spcBef>
              <a:spcAft>
                <a:spcPts val="0"/>
              </a:spcAft>
              <a:buSzPts val="308"/>
              <a:buNone/>
              <a:defRPr sz="771"/>
            </a:lvl9pPr>
          </a:lstStyle>
          <a:p/>
        </p:txBody>
      </p:sp>
      <p:sp>
        <p:nvSpPr>
          <p:cNvPr id="53" name="Google Shape;53;p75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6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6"/>
          <p:cNvSpPr txBox="1"/>
          <p:nvPr>
            <p:ph idx="1" type="body"/>
          </p:nvPr>
        </p:nvSpPr>
        <p:spPr>
          <a:xfrm rot="5400000">
            <a:off x="3997797" y="-1486177"/>
            <a:ext cx="4071257" cy="10325656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3pPr>
            <a:lvl4pPr indent="-342900" lvl="3" marL="1828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74320" lvl="4" marL="22860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indent="-274320" lvl="5" marL="2743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6pPr>
            <a:lvl7pPr indent="-274320" lvl="6" marL="3200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7pPr>
            <a:lvl8pPr indent="-274320" lvl="7" marL="3657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8pPr>
            <a:lvl9pPr indent="-274320" lvl="8" marL="4114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9pPr>
          </a:lstStyle>
          <a:p/>
        </p:txBody>
      </p:sp>
      <p:sp>
        <p:nvSpPr>
          <p:cNvPr id="57" name="Google Shape;57;p76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7"/>
          <p:cNvSpPr txBox="1"/>
          <p:nvPr>
            <p:ph type="title"/>
          </p:nvPr>
        </p:nvSpPr>
        <p:spPr>
          <a:xfrm rot="5400000">
            <a:off x="7368723" y="1884747"/>
            <a:ext cx="5074103" cy="2580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7"/>
          <p:cNvSpPr txBox="1"/>
          <p:nvPr>
            <p:ph idx="1" type="body"/>
          </p:nvPr>
        </p:nvSpPr>
        <p:spPr>
          <a:xfrm rot="5400000">
            <a:off x="2118835" y="-610060"/>
            <a:ext cx="5074103" cy="757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3pPr>
            <a:lvl4pPr indent="-342900" lvl="3" marL="1828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74320" lvl="4" marL="22860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indent="-274320" lvl="5" marL="2743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6pPr>
            <a:lvl7pPr indent="-274320" lvl="6" marL="3200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7pPr>
            <a:lvl8pPr indent="-274320" lvl="7" marL="3657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8pPr>
            <a:lvl9pPr indent="-274320" lvl="8" marL="4114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9pPr>
          </a:lstStyle>
          <a:p/>
        </p:txBody>
      </p:sp>
      <p:sp>
        <p:nvSpPr>
          <p:cNvPr id="61" name="Google Shape;61;p77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8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8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，文本与内容" type="txAndObj">
  <p:cSld name="TEXT_AND_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9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9"/>
          <p:cNvSpPr txBox="1"/>
          <p:nvPr>
            <p:ph idx="1" type="body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3pPr>
            <a:lvl4pPr indent="-342900" lvl="3" marL="1828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74320" lvl="4" marL="22860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indent="-274320" lvl="5" marL="2743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6pPr>
            <a:lvl7pPr indent="-274320" lvl="6" marL="3200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7pPr>
            <a:lvl8pPr indent="-274320" lvl="7" marL="3657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8pPr>
            <a:lvl9pPr indent="-274320" lvl="8" marL="4114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9pPr>
          </a:lstStyle>
          <a:p/>
        </p:txBody>
      </p:sp>
      <p:sp>
        <p:nvSpPr>
          <p:cNvPr id="68" name="Google Shape;68;p79"/>
          <p:cNvSpPr txBox="1"/>
          <p:nvPr>
            <p:ph idx="2" type="body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2pPr>
            <a:lvl3pPr indent="-342900" lvl="2" marL="1371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3pPr>
            <a:lvl4pPr indent="-342900" lvl="3" marL="1828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274320" lvl="4" marL="22860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indent="-274320" lvl="5" marL="2743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6pPr>
            <a:lvl7pPr indent="-274320" lvl="6" marL="32004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7pPr>
            <a:lvl8pPr indent="-274320" lvl="7" marL="36576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8pPr>
            <a:lvl9pPr indent="-274320" lvl="8" marL="41148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9pPr>
          </a:lstStyle>
          <a:p/>
        </p:txBody>
      </p:sp>
      <p:sp>
        <p:nvSpPr>
          <p:cNvPr id="69" name="Google Shape;69;p79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 dir="r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21186"/>
            <a:ext cx="12204697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5"/>
          <p:cNvSpPr txBox="1"/>
          <p:nvPr>
            <p:ph idx="10" type="dt"/>
          </p:nvPr>
        </p:nvSpPr>
        <p:spPr>
          <a:xfrm>
            <a:off x="8481077" y="6489247"/>
            <a:ext cx="27967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5"/>
          <p:cNvSpPr txBox="1"/>
          <p:nvPr>
            <p:ph type="title"/>
          </p:nvPr>
        </p:nvSpPr>
        <p:spPr>
          <a:xfrm>
            <a:off x="870598" y="638176"/>
            <a:ext cx="10325656" cy="870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43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5"/>
          <p:cNvSpPr txBox="1"/>
          <p:nvPr>
            <p:ph idx="1" type="body"/>
          </p:nvPr>
        </p:nvSpPr>
        <p:spPr>
          <a:xfrm>
            <a:off x="870598" y="1641022"/>
            <a:ext cx="10325656" cy="407125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8361" lvl="0" marL="457200" marR="0" rtl="0" algn="l">
              <a:lnSpc>
                <a:spcPct val="125000"/>
              </a:lnSpc>
              <a:spcBef>
                <a:spcPts val="377"/>
              </a:spcBef>
              <a:spcAft>
                <a:spcPts val="0"/>
              </a:spcAft>
              <a:buClr>
                <a:srgbClr val="990000"/>
              </a:buClr>
              <a:buSzPts val="1886"/>
              <a:buFont typeface="Arial"/>
              <a:buChar char="•"/>
              <a:defRPr b="1" i="0" sz="188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7439" lvl="1" marL="9144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›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7439" lvl="2" marL="13716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»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7439" lvl="3" marL="18288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4"/>
              <a:buFont typeface="Arial"/>
              <a:buChar char="–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2136" lvl="4" marL="22860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lt2"/>
              </a:buClr>
              <a:buSzPts val="686"/>
              <a:buFont typeface="Noto Sans Symbols"/>
              <a:buChar char="●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2136" lvl="5" marL="27432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lt2"/>
              </a:buClr>
              <a:buSzPts val="686"/>
              <a:buFont typeface="Noto Sans Symbols"/>
              <a:buChar char="●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2136" lvl="6" marL="32004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lt2"/>
              </a:buClr>
              <a:buSzPts val="686"/>
              <a:buFont typeface="Noto Sans Symbols"/>
              <a:buChar char="●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2136" lvl="7" marL="36576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lt2"/>
              </a:buClr>
              <a:buSzPts val="686"/>
              <a:buFont typeface="Noto Sans Symbols"/>
              <a:buChar char="●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2136" lvl="8" marL="4114800" marR="0" rtl="0" algn="l">
              <a:lnSpc>
                <a:spcPct val="125000"/>
              </a:lnSpc>
              <a:spcBef>
                <a:spcPts val="343"/>
              </a:spcBef>
              <a:spcAft>
                <a:spcPts val="0"/>
              </a:spcAft>
              <a:buClr>
                <a:schemeClr val="lt2"/>
              </a:buClr>
              <a:buSzPts val="686"/>
              <a:buFont typeface="Noto Sans Symbols"/>
              <a:buChar char="●"/>
              <a:defRPr b="0" i="0" sz="17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spd="slow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jpg"/><Relationship Id="rId22" Type="http://schemas.openxmlformats.org/officeDocument/2006/relationships/image" Target="../media/image24.jpg"/><Relationship Id="rId21" Type="http://schemas.openxmlformats.org/officeDocument/2006/relationships/image" Target="../media/image25.jpg"/><Relationship Id="rId24" Type="http://schemas.openxmlformats.org/officeDocument/2006/relationships/image" Target="../media/image32.jpg"/><Relationship Id="rId23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9" Type="http://schemas.openxmlformats.org/officeDocument/2006/relationships/image" Target="../media/image19.jpg"/><Relationship Id="rId26" Type="http://schemas.openxmlformats.org/officeDocument/2006/relationships/image" Target="../media/image26.jpg"/><Relationship Id="rId25" Type="http://schemas.openxmlformats.org/officeDocument/2006/relationships/image" Target="../media/image28.jpg"/><Relationship Id="rId28" Type="http://schemas.openxmlformats.org/officeDocument/2006/relationships/image" Target="../media/image34.jpg"/><Relationship Id="rId27" Type="http://schemas.openxmlformats.org/officeDocument/2006/relationships/image" Target="../media/image30.jpg"/><Relationship Id="rId5" Type="http://schemas.openxmlformats.org/officeDocument/2006/relationships/image" Target="../media/image12.jpg"/><Relationship Id="rId6" Type="http://schemas.openxmlformats.org/officeDocument/2006/relationships/image" Target="../media/image10.jpg"/><Relationship Id="rId29" Type="http://schemas.openxmlformats.org/officeDocument/2006/relationships/image" Target="../media/image29.jpg"/><Relationship Id="rId7" Type="http://schemas.openxmlformats.org/officeDocument/2006/relationships/image" Target="../media/image11.jpg"/><Relationship Id="rId8" Type="http://schemas.openxmlformats.org/officeDocument/2006/relationships/image" Target="../media/image17.jpg"/><Relationship Id="rId31" Type="http://schemas.openxmlformats.org/officeDocument/2006/relationships/image" Target="../media/image4.png"/><Relationship Id="rId30" Type="http://schemas.openxmlformats.org/officeDocument/2006/relationships/image" Target="../media/image33.jpg"/><Relationship Id="rId11" Type="http://schemas.openxmlformats.org/officeDocument/2006/relationships/image" Target="../media/image14.jpg"/><Relationship Id="rId10" Type="http://schemas.openxmlformats.org/officeDocument/2006/relationships/image" Target="../media/image22.jpg"/><Relationship Id="rId13" Type="http://schemas.openxmlformats.org/officeDocument/2006/relationships/image" Target="../media/image8.jpg"/><Relationship Id="rId12" Type="http://schemas.openxmlformats.org/officeDocument/2006/relationships/image" Target="../media/image21.jpg"/><Relationship Id="rId15" Type="http://schemas.openxmlformats.org/officeDocument/2006/relationships/image" Target="../media/image15.jpg"/><Relationship Id="rId14" Type="http://schemas.openxmlformats.org/officeDocument/2006/relationships/image" Target="../media/image20.jpg"/><Relationship Id="rId17" Type="http://schemas.openxmlformats.org/officeDocument/2006/relationships/image" Target="../media/image9.jpg"/><Relationship Id="rId16" Type="http://schemas.openxmlformats.org/officeDocument/2006/relationships/image" Target="../media/image13.jpg"/><Relationship Id="rId19" Type="http://schemas.openxmlformats.org/officeDocument/2006/relationships/image" Target="../media/image18.jpg"/><Relationship Id="rId18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046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551083" y="307410"/>
            <a:ext cx="8581272" cy="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华为愿景变迁：最内核的战略控制点变化不大</a:t>
            </a:r>
            <a:endParaRPr b="1" i="0" sz="2000" u="none" cap="none" strike="noStrike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——站在10-30年后看今天的战略！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1725990" y="6292565"/>
            <a:ext cx="87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i="0" lang="zh-CN" sz="20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不管产业如何变化，只在核心能力圈内做事；能力圈可以扩展，但不会太快</a:t>
            </a:r>
            <a:endParaRPr b="1" i="0" sz="2000" u="none" cap="none" strike="noStrike">
              <a:solidFill>
                <a:srgbClr val="FFFF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77" name="Google Shape;77;p2"/>
          <p:cNvGrpSpPr/>
          <p:nvPr/>
        </p:nvGrpSpPr>
        <p:grpSpPr>
          <a:xfrm>
            <a:off x="2365631" y="1781449"/>
            <a:ext cx="7248649" cy="518742"/>
            <a:chOff x="685606" y="2151176"/>
            <a:chExt cx="7248649" cy="518742"/>
          </a:xfrm>
        </p:grpSpPr>
        <p:sp>
          <p:nvSpPr>
            <p:cNvPr id="78" name="Google Shape;78;p2"/>
            <p:cNvSpPr/>
            <p:nvPr/>
          </p:nvSpPr>
          <p:spPr>
            <a:xfrm>
              <a:off x="3161694" y="2151176"/>
              <a:ext cx="2214880" cy="39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2000" u="none" cap="none" strike="noStrike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例：华为愿景演变</a:t>
              </a:r>
              <a:endParaRPr/>
            </a:p>
          </p:txBody>
        </p:sp>
        <p:cxnSp>
          <p:nvCxnSpPr>
            <p:cNvPr id="79" name="Google Shape;79;p2"/>
            <p:cNvCxnSpPr/>
            <p:nvPr/>
          </p:nvCxnSpPr>
          <p:spPr>
            <a:xfrm>
              <a:off x="685606" y="2669918"/>
              <a:ext cx="7248649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" name="Google Shape;80;p2"/>
          <p:cNvGrpSpPr/>
          <p:nvPr/>
        </p:nvGrpSpPr>
        <p:grpSpPr>
          <a:xfrm>
            <a:off x="875133" y="2894206"/>
            <a:ext cx="2850275" cy="2386028"/>
            <a:chOff x="699176" y="3212976"/>
            <a:chExt cx="2850275" cy="2386028"/>
          </a:xfrm>
        </p:grpSpPr>
        <p:grpSp>
          <p:nvGrpSpPr>
            <p:cNvPr id="81" name="Google Shape;81;p2"/>
            <p:cNvGrpSpPr/>
            <p:nvPr/>
          </p:nvGrpSpPr>
          <p:grpSpPr>
            <a:xfrm>
              <a:off x="699176" y="3212976"/>
              <a:ext cx="2850275" cy="2386028"/>
              <a:chOff x="1316106" y="3821667"/>
              <a:chExt cx="2850275" cy="2386028"/>
            </a:xfrm>
          </p:grpSpPr>
          <p:sp>
            <p:nvSpPr>
              <p:cNvPr id="82" name="Google Shape;82;p2"/>
              <p:cNvSpPr/>
              <p:nvPr/>
            </p:nvSpPr>
            <p:spPr>
              <a:xfrm>
                <a:off x="1316106" y="4005392"/>
                <a:ext cx="2850275" cy="2202303"/>
              </a:xfrm>
              <a:prstGeom prst="roundRect">
                <a:avLst>
                  <a:gd fmla="val 4669" name="adj"/>
                </a:avLst>
              </a:prstGeom>
              <a:noFill/>
              <a:ln cap="flat" cmpd="sng" w="25400">
                <a:solidFill>
                  <a:srgbClr val="88A3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grpSp>
            <p:nvGrpSpPr>
              <p:cNvPr id="83" name="Google Shape;83;p2"/>
              <p:cNvGrpSpPr/>
              <p:nvPr/>
            </p:nvGrpSpPr>
            <p:grpSpPr>
              <a:xfrm>
                <a:off x="1824990" y="3821667"/>
                <a:ext cx="1957834" cy="569019"/>
                <a:chOff x="670958" y="4445186"/>
                <a:chExt cx="1957834" cy="569019"/>
              </a:xfrm>
            </p:grpSpPr>
            <p:sp>
              <p:nvSpPr>
                <p:cNvPr id="84" name="Google Shape;84;p2"/>
                <p:cNvSpPr/>
                <p:nvPr/>
              </p:nvSpPr>
              <p:spPr>
                <a:xfrm>
                  <a:off x="670958" y="4445186"/>
                  <a:ext cx="1957834" cy="4349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zh-CN" sz="1900" u="none" cap="none" strike="noStrike">
                      <a:solidFill>
                        <a:schemeClr val="lt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创业期</a:t>
                  </a: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 flipH="1" rot="10800000">
                  <a:off x="1546140" y="4835352"/>
                  <a:ext cx="207470" cy="178853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900" u="none" cap="none" strike="noStrike">
                    <a:solidFill>
                      <a:schemeClr val="lt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</p:grpSp>
        <p:sp>
          <p:nvSpPr>
            <p:cNvPr id="86" name="Google Shape;86;p2"/>
            <p:cNvSpPr/>
            <p:nvPr/>
          </p:nvSpPr>
          <p:spPr>
            <a:xfrm>
              <a:off x="843393" y="4210213"/>
              <a:ext cx="2561840" cy="645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205105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1800" u="none" cap="none" strike="noStrike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三分天下</a:t>
              </a:r>
              <a:r>
                <a:rPr b="0" i="0" lang="zh-CN" sz="18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；产业报国（追求份额，扩张）</a:t>
              </a:r>
              <a:endParaRPr b="0" i="0" sz="18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87" name="Google Shape;87;p2"/>
          <p:cNvGrpSpPr/>
          <p:nvPr/>
        </p:nvGrpSpPr>
        <p:grpSpPr>
          <a:xfrm>
            <a:off x="4472173" y="2894206"/>
            <a:ext cx="2850275" cy="2386028"/>
            <a:chOff x="4276566" y="3212976"/>
            <a:chExt cx="2850275" cy="2386028"/>
          </a:xfrm>
        </p:grpSpPr>
        <p:grpSp>
          <p:nvGrpSpPr>
            <p:cNvPr id="88" name="Google Shape;88;p2"/>
            <p:cNvGrpSpPr/>
            <p:nvPr/>
          </p:nvGrpSpPr>
          <p:grpSpPr>
            <a:xfrm>
              <a:off x="4276566" y="3212976"/>
              <a:ext cx="2850275" cy="2386028"/>
              <a:chOff x="1316106" y="3821667"/>
              <a:chExt cx="2850275" cy="2386028"/>
            </a:xfrm>
          </p:grpSpPr>
          <p:sp>
            <p:nvSpPr>
              <p:cNvPr id="89" name="Google Shape;89;p2"/>
              <p:cNvSpPr/>
              <p:nvPr/>
            </p:nvSpPr>
            <p:spPr>
              <a:xfrm>
                <a:off x="1316106" y="4005392"/>
                <a:ext cx="2850275" cy="2202303"/>
              </a:xfrm>
              <a:prstGeom prst="roundRect">
                <a:avLst>
                  <a:gd fmla="val 4669" name="adj"/>
                </a:avLst>
              </a:prstGeom>
              <a:noFill/>
              <a:ln cap="flat" cmpd="sng" w="25400">
                <a:solidFill>
                  <a:srgbClr val="88A3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grpSp>
            <p:nvGrpSpPr>
              <p:cNvPr id="90" name="Google Shape;90;p2"/>
              <p:cNvGrpSpPr/>
              <p:nvPr/>
            </p:nvGrpSpPr>
            <p:grpSpPr>
              <a:xfrm>
                <a:off x="1824990" y="3821667"/>
                <a:ext cx="1957834" cy="569019"/>
                <a:chOff x="670958" y="4445186"/>
                <a:chExt cx="1957834" cy="569019"/>
              </a:xfrm>
            </p:grpSpPr>
            <p:sp>
              <p:nvSpPr>
                <p:cNvPr id="91" name="Google Shape;91;p2"/>
                <p:cNvSpPr/>
                <p:nvPr/>
              </p:nvSpPr>
              <p:spPr>
                <a:xfrm>
                  <a:off x="670958" y="4445186"/>
                  <a:ext cx="1957834" cy="4349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zh-CN" sz="1900" u="none" cap="none" strike="noStrike">
                      <a:solidFill>
                        <a:schemeClr val="lt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发展期</a:t>
                  </a: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flipH="1" rot="10800000">
                  <a:off x="1546140" y="4835352"/>
                  <a:ext cx="207470" cy="178853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900" u="none" cap="none" strike="noStrike">
                    <a:solidFill>
                      <a:schemeClr val="lt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</p:grpSp>
        <p:sp>
          <p:nvSpPr>
            <p:cNvPr id="93" name="Google Shape;93;p2"/>
            <p:cNvSpPr/>
            <p:nvPr/>
          </p:nvSpPr>
          <p:spPr>
            <a:xfrm>
              <a:off x="4420783" y="4210213"/>
              <a:ext cx="2561840" cy="922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205105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1800" u="none" cap="none" strike="noStrike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丰富人们的沟通和生活</a:t>
              </a:r>
              <a:r>
                <a:rPr b="0" i="0" lang="zh-CN" sz="18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（全领域通信解决方案，全球化）</a:t>
              </a:r>
              <a:endParaRPr/>
            </a:p>
          </p:txBody>
        </p:sp>
      </p:grpSp>
      <p:grpSp>
        <p:nvGrpSpPr>
          <p:cNvPr id="94" name="Google Shape;94;p2"/>
          <p:cNvGrpSpPr/>
          <p:nvPr/>
        </p:nvGrpSpPr>
        <p:grpSpPr>
          <a:xfrm>
            <a:off x="8069213" y="2894206"/>
            <a:ext cx="3035564" cy="2386028"/>
            <a:chOff x="7893256" y="3212976"/>
            <a:chExt cx="3035564" cy="2386028"/>
          </a:xfrm>
        </p:grpSpPr>
        <p:grpSp>
          <p:nvGrpSpPr>
            <p:cNvPr id="95" name="Google Shape;95;p2"/>
            <p:cNvGrpSpPr/>
            <p:nvPr/>
          </p:nvGrpSpPr>
          <p:grpSpPr>
            <a:xfrm>
              <a:off x="7985901" y="3212976"/>
              <a:ext cx="2850275" cy="2386028"/>
              <a:chOff x="1316106" y="3821667"/>
              <a:chExt cx="2850275" cy="2386028"/>
            </a:xfrm>
          </p:grpSpPr>
          <p:sp>
            <p:nvSpPr>
              <p:cNvPr id="96" name="Google Shape;96;p2"/>
              <p:cNvSpPr/>
              <p:nvPr/>
            </p:nvSpPr>
            <p:spPr>
              <a:xfrm>
                <a:off x="1316106" y="4005392"/>
                <a:ext cx="2850275" cy="2202303"/>
              </a:xfrm>
              <a:prstGeom prst="roundRect">
                <a:avLst>
                  <a:gd fmla="val 4669" name="adj"/>
                </a:avLst>
              </a:prstGeom>
              <a:noFill/>
              <a:ln cap="flat" cmpd="sng" w="25400">
                <a:solidFill>
                  <a:srgbClr val="88A3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grpSp>
            <p:nvGrpSpPr>
              <p:cNvPr id="97" name="Google Shape;97;p2"/>
              <p:cNvGrpSpPr/>
              <p:nvPr/>
            </p:nvGrpSpPr>
            <p:grpSpPr>
              <a:xfrm>
                <a:off x="1824990" y="3821667"/>
                <a:ext cx="1957834" cy="569019"/>
                <a:chOff x="670958" y="4445186"/>
                <a:chExt cx="1957834" cy="569019"/>
              </a:xfrm>
            </p:grpSpPr>
            <p:sp>
              <p:nvSpPr>
                <p:cNvPr id="98" name="Google Shape;98;p2"/>
                <p:cNvSpPr/>
                <p:nvPr/>
              </p:nvSpPr>
              <p:spPr>
                <a:xfrm>
                  <a:off x="670958" y="4445186"/>
                  <a:ext cx="1957834" cy="434927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zh-CN" sz="1900" u="none" cap="none" strike="noStrike">
                      <a:solidFill>
                        <a:schemeClr val="lt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成熟期</a:t>
                  </a: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 flipH="1" rot="10800000">
                  <a:off x="1546140" y="4835352"/>
                  <a:ext cx="207470" cy="178853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900" u="none" cap="none" strike="noStrike">
                    <a:solidFill>
                      <a:schemeClr val="lt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</p:grpSp>
        <p:sp>
          <p:nvSpPr>
            <p:cNvPr id="100" name="Google Shape;100;p2"/>
            <p:cNvSpPr/>
            <p:nvPr/>
          </p:nvSpPr>
          <p:spPr>
            <a:xfrm>
              <a:off x="7893256" y="3822478"/>
              <a:ext cx="3035564" cy="1578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20510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8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将数字世界带入每个人、每个家庭、每个组织，构建</a:t>
              </a:r>
              <a:r>
                <a:rPr b="1" i="0" lang="zh-CN" sz="1800" u="none" cap="none" strike="noStrike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万物互联的智能世界</a:t>
              </a:r>
              <a:endParaRPr b="1" i="0" sz="180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1" marL="205105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i="0" lang="zh-CN" sz="18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（端管云协同，全联接，海量）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038083" y="1106111"/>
            <a:ext cx="1187625" cy="10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52132" y="485212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价值观：组织的粘合剂，共同的信仰是战斗力的保障！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489664" y="3394486"/>
            <a:ext cx="6784616" cy="370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297807" y="1663424"/>
            <a:ext cx="3669976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713124" y="4243356"/>
            <a:ext cx="1831021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1561856" y="1115102"/>
            <a:ext cx="1869102" cy="536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zh-CN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</a:br>
            <a:br>
              <a:rPr b="1" i="0" lang="zh-CN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</a:br>
            <a:endParaRPr b="1" i="0" sz="2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229677" y="2359636"/>
            <a:ext cx="3392490" cy="3200252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027302" y="2359636"/>
            <a:ext cx="3391988" cy="3200252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64588" y="3960473"/>
            <a:ext cx="1229891" cy="1002654"/>
          </a:xfrm>
          <a:prstGeom prst="hexagon">
            <a:avLst>
              <a:gd fmla="val 28932" name="adj"/>
              <a:gd fmla="val 115470" name="vf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至诚守信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464588" y="2957345"/>
            <a:ext cx="1229891" cy="1003128"/>
          </a:xfrm>
          <a:prstGeom prst="hexagon">
            <a:avLst>
              <a:gd fmla="val 28919" name="adj"/>
              <a:gd fmla="val 115470" name="vf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团队合作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374707" y="2455307"/>
            <a:ext cx="1228385" cy="1003128"/>
          </a:xfrm>
          <a:prstGeom prst="hexagon">
            <a:avLst>
              <a:gd fmla="val 28883" name="adj"/>
              <a:gd fmla="val 115470" name="vf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成就客户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374707" y="4461089"/>
            <a:ext cx="1228385" cy="1003128"/>
          </a:xfrm>
          <a:prstGeom prst="hexagon">
            <a:avLst>
              <a:gd fmla="val 28883" name="adj"/>
              <a:gd fmla="val 115470" name="vf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开放进取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283320" y="3960473"/>
            <a:ext cx="1229891" cy="1002654"/>
          </a:xfrm>
          <a:prstGeom prst="hexagon">
            <a:avLst>
              <a:gd fmla="val 28932" name="adj"/>
              <a:gd fmla="val 115470" name="vf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自我批判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283320" y="2957345"/>
            <a:ext cx="1229891" cy="1003128"/>
          </a:xfrm>
          <a:prstGeom prst="hexagon">
            <a:avLst>
              <a:gd fmla="val 28919" name="adj"/>
              <a:gd fmla="val 115470" name="vf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6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艰苦奋斗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923074" y="3778602"/>
            <a:ext cx="89408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狼性文化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002273" y="3634148"/>
            <a:ext cx="89789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均衡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908596" y="4674158"/>
            <a:ext cx="107823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信息服务业</a:t>
            </a:r>
            <a:endParaRPr b="1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882765" y="1349614"/>
            <a:ext cx="3439160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华为的追求是在电子信息领域实现顾客的梦想，并依靠点点滴滴、锲而不舍的艰苦奋斗，使我们成为世界级领先企业                                          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866505" y="2766299"/>
            <a:ext cx="168910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4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思想上全力奋斗+生活要搞好！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3426715" y="2585226"/>
            <a:ext cx="179716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胜则举杯相庆，</a:t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败则拼死相救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9265807" y="4570198"/>
            <a:ext cx="624402" cy="577343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609" y="16054"/>
                </a:moveTo>
                <a:cubicBezTo>
                  <a:pt x="18770" y="14549"/>
                  <a:pt x="19401" y="12701"/>
                  <a:pt x="19401" y="10800"/>
                </a:cubicBezTo>
                <a:cubicBezTo>
                  <a:pt x="19401" y="6049"/>
                  <a:pt x="15550" y="2199"/>
                  <a:pt x="10800" y="2199"/>
                </a:cubicBezTo>
                <a:cubicBezTo>
                  <a:pt x="8898" y="2198"/>
                  <a:pt x="7050" y="2829"/>
                  <a:pt x="5545" y="3990"/>
                </a:cubicBezTo>
                <a:close/>
                <a:moveTo>
                  <a:pt x="3990" y="5545"/>
                </a:moveTo>
                <a:cubicBezTo>
                  <a:pt x="2829" y="7050"/>
                  <a:pt x="2199" y="8898"/>
                  <a:pt x="2199" y="10799"/>
                </a:cubicBezTo>
                <a:cubicBezTo>
                  <a:pt x="2199" y="15550"/>
                  <a:pt x="6049" y="19401"/>
                  <a:pt x="10800" y="19401"/>
                </a:cubicBezTo>
                <a:cubicBezTo>
                  <a:pt x="12701" y="19401"/>
                  <a:pt x="14549" y="18770"/>
                  <a:pt x="16054" y="17609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>
            <a:outerShdw rotWithShape="0" algn="ctr" dir="3806097" dist="28398">
              <a:srgbClr val="243F6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3426715" y="4709848"/>
            <a:ext cx="1736314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1400" u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战略，人，辩证分析；战术，随机调整</a:t>
            </a:r>
            <a:endParaRPr/>
          </a:p>
        </p:txBody>
      </p:sp>
      <p:grpSp>
        <p:nvGrpSpPr>
          <p:cNvPr id="128" name="Google Shape;128;p3"/>
          <p:cNvGrpSpPr/>
          <p:nvPr/>
        </p:nvGrpSpPr>
        <p:grpSpPr>
          <a:xfrm>
            <a:off x="1591744" y="1650188"/>
            <a:ext cx="4980894" cy="518742"/>
            <a:chOff x="1368238" y="2151176"/>
            <a:chExt cx="4980894" cy="518742"/>
          </a:xfrm>
        </p:grpSpPr>
        <p:sp>
          <p:nvSpPr>
            <p:cNvPr id="129" name="Google Shape;129;p3"/>
            <p:cNvSpPr/>
            <p:nvPr/>
          </p:nvSpPr>
          <p:spPr>
            <a:xfrm>
              <a:off x="3161694" y="2151176"/>
              <a:ext cx="2023110" cy="33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例：华为核心价值观</a:t>
              </a:r>
              <a:endParaRPr/>
            </a:p>
          </p:txBody>
        </p:sp>
        <p:cxnSp>
          <p:nvCxnSpPr>
            <p:cNvPr id="130" name="Google Shape;130;p3"/>
            <p:cNvCxnSpPr/>
            <p:nvPr/>
          </p:nvCxnSpPr>
          <p:spPr>
            <a:xfrm>
              <a:off x="1368238" y="2669918"/>
              <a:ext cx="4980894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1" name="Google Shape;131;p3"/>
          <p:cNvSpPr/>
          <p:nvPr/>
        </p:nvSpPr>
        <p:spPr>
          <a:xfrm rot="-8712216">
            <a:off x="4916417" y="2508310"/>
            <a:ext cx="3722302" cy="3044431"/>
          </a:xfrm>
          <a:custGeom>
            <a:rect b="b" l="l" r="r" t="t"/>
            <a:pathLst>
              <a:path extrusionOk="0" fill="none" h="37429" w="43200">
                <a:moveTo>
                  <a:pt x="1575" y="29696"/>
                </a:moveTo>
                <a:cubicBezTo>
                  <a:pt x="534" y="27124"/>
                  <a:pt x="0" y="2437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7606"/>
                  <a:pt x="40698" y="33341"/>
                  <a:pt x="36297" y="37429"/>
                </a:cubicBezTo>
              </a:path>
              <a:path extrusionOk="0" h="37429" w="43200">
                <a:moveTo>
                  <a:pt x="1575" y="29696"/>
                </a:moveTo>
                <a:cubicBezTo>
                  <a:pt x="534" y="27124"/>
                  <a:pt x="0" y="2437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7606"/>
                  <a:pt x="40698" y="33341"/>
                  <a:pt x="36297" y="37429"/>
                </a:cubicBezTo>
                <a:lnTo>
                  <a:pt x="21600" y="21600"/>
                </a:lnTo>
                <a:close/>
              </a:path>
            </a:pathLst>
          </a:custGeom>
          <a:noFill/>
          <a:ln cap="flat" cmpd="sng" w="28575">
            <a:solidFill>
              <a:srgbClr val="FF6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2152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zh-CN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u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5974715"/>
            <a:ext cx="12197080" cy="82931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1524000" y="6016088"/>
            <a:ext cx="8991600" cy="792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 u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能贯彻落地的价值观和文化，价值连城！老大带头！</a:t>
            </a:r>
            <a:endParaRPr b="1" sz="2000" u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 u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案例：不赚快钱，不搞小灵通和TDS；老板只见客户，不见官员和基金老板</a:t>
            </a:r>
            <a:endParaRPr b="1" sz="2000" u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0465"/>
            <a:ext cx="12206605" cy="5226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4"/>
          <p:cNvCxnSpPr/>
          <p:nvPr/>
        </p:nvCxnSpPr>
        <p:spPr>
          <a:xfrm>
            <a:off x="2138023" y="2814418"/>
            <a:ext cx="7928057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4298264" y="1453774"/>
            <a:ext cx="5767817" cy="1101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1" marL="287020" marR="0" rtl="0" algn="just"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产品：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单一程控交换机—&gt;通信全领域解决方案 —&gt; ICT领域“端管云”所有产品—&gt; 5G标准制定者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区域：</a:t>
            </a:r>
            <a:r>
              <a:rPr b="1" i="0" lang="zh-CN" sz="1275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农村—&gt;城市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，中国—&gt;全球，城郊—&gt; 核心区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客户群：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运营商—&gt;三大BG（运营商，企业，消费者） —&gt; 合作伙伴生态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能力：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生存边缘—&gt;世界级100强</a:t>
            </a:r>
            <a:endParaRPr/>
          </a:p>
        </p:txBody>
      </p:sp>
      <p:grpSp>
        <p:nvGrpSpPr>
          <p:cNvPr id="142" name="Google Shape;142;p4"/>
          <p:cNvGrpSpPr/>
          <p:nvPr/>
        </p:nvGrpSpPr>
        <p:grpSpPr>
          <a:xfrm>
            <a:off x="1972619" y="1581117"/>
            <a:ext cx="2078170" cy="598805"/>
            <a:chOff x="288016" y="2132856"/>
            <a:chExt cx="2770893" cy="798407"/>
          </a:xfrm>
        </p:grpSpPr>
        <p:sp>
          <p:nvSpPr>
            <p:cNvPr id="143" name="Google Shape;143;p4"/>
            <p:cNvSpPr txBox="1"/>
            <p:nvPr/>
          </p:nvSpPr>
          <p:spPr>
            <a:xfrm>
              <a:off x="288016" y="2132856"/>
              <a:ext cx="527473" cy="798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767829" y="2386509"/>
              <a:ext cx="2291080" cy="429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华为30年发展跨度</a:t>
              </a:r>
              <a:endParaRPr/>
            </a:p>
          </p:txBody>
        </p:sp>
      </p:grpSp>
      <p:cxnSp>
        <p:nvCxnSpPr>
          <p:cNvPr id="145" name="Google Shape;145;p4"/>
          <p:cNvCxnSpPr/>
          <p:nvPr/>
        </p:nvCxnSpPr>
        <p:spPr>
          <a:xfrm>
            <a:off x="2138024" y="3894951"/>
            <a:ext cx="7928057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4298264" y="3020863"/>
            <a:ext cx="5767817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1" marL="287020" marR="0" rtl="0" algn="just"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400"/>
              <a:buFont typeface="Arial"/>
              <a:buChar char="•"/>
            </a:pPr>
            <a:r>
              <a:rPr b="0" i="0" lang="zh-CN" sz="14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战略聚焦：聚焦主航道，力出一孔，不在非战略上消耗资源</a:t>
            </a:r>
            <a:endParaRPr/>
          </a:p>
          <a:p>
            <a:pPr indent="-285750" lvl="1" marL="287020" marR="0" rtl="0" algn="just">
              <a:spcBef>
                <a:spcPts val="280"/>
              </a:spcBef>
              <a:spcAft>
                <a:spcPts val="0"/>
              </a:spcAft>
              <a:buClr>
                <a:srgbClr val="267FC3"/>
              </a:buClr>
              <a:buSzPts val="1400"/>
              <a:buFont typeface="Arial"/>
              <a:buChar char="•"/>
            </a:pPr>
            <a:r>
              <a:rPr b="0" i="0" lang="zh-CN" sz="14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战略耐性：战略定力与执行力，乌龟精神追赶龙飞船</a:t>
            </a:r>
            <a:endParaRPr/>
          </a:p>
          <a:p>
            <a:pPr indent="-285750" lvl="1" marL="287020" marR="0" rtl="0" algn="just">
              <a:spcBef>
                <a:spcPts val="280"/>
              </a:spcBef>
              <a:spcAft>
                <a:spcPts val="0"/>
              </a:spcAft>
              <a:buClr>
                <a:srgbClr val="267FC3"/>
              </a:buClr>
              <a:buSzPts val="1400"/>
              <a:buFont typeface="Arial"/>
              <a:buChar char="•"/>
            </a:pPr>
            <a:r>
              <a:rPr b="0" i="0" lang="zh-CN" sz="14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战略执行：战略解码到个人，平衡计分考核，结果导向的考核机制</a:t>
            </a:r>
            <a:endParaRPr/>
          </a:p>
        </p:txBody>
      </p:sp>
      <p:grpSp>
        <p:nvGrpSpPr>
          <p:cNvPr id="147" name="Google Shape;147;p4"/>
          <p:cNvGrpSpPr/>
          <p:nvPr/>
        </p:nvGrpSpPr>
        <p:grpSpPr>
          <a:xfrm>
            <a:off x="1972619" y="3138553"/>
            <a:ext cx="2121468" cy="598805"/>
            <a:chOff x="288016" y="2132856"/>
            <a:chExt cx="2828623" cy="798407"/>
          </a:xfrm>
        </p:grpSpPr>
        <p:sp>
          <p:nvSpPr>
            <p:cNvPr id="148" name="Google Shape;148;p4"/>
            <p:cNvSpPr txBox="1"/>
            <p:nvPr/>
          </p:nvSpPr>
          <p:spPr>
            <a:xfrm>
              <a:off x="288016" y="2132856"/>
              <a:ext cx="527473" cy="798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849332" y="2160412"/>
              <a:ext cx="2267307" cy="7374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通过战略规划与</a:t>
              </a:r>
              <a:endParaRPr b="1" sz="15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管理取得成果</a:t>
              </a:r>
              <a:endParaRPr/>
            </a:p>
          </p:txBody>
        </p:sp>
      </p:grpSp>
      <p:sp>
        <p:nvSpPr>
          <p:cNvPr id="150" name="Google Shape;150;p4"/>
          <p:cNvSpPr/>
          <p:nvPr/>
        </p:nvSpPr>
        <p:spPr>
          <a:xfrm>
            <a:off x="4298264" y="4000150"/>
            <a:ext cx="5767817" cy="18091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1" marL="287020" marR="0" rtl="0" algn="just"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组织：</a:t>
            </a:r>
            <a:endParaRPr/>
          </a:p>
          <a:p>
            <a:pPr indent="-285750" lvl="2" marL="7442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发展早期：老板及高管定战略</a:t>
            </a:r>
            <a:endParaRPr/>
          </a:p>
          <a:p>
            <a:pPr indent="-285750" lvl="2" marL="7442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2005年：战略与MKT主导规划，聚焦产品规划</a:t>
            </a:r>
            <a:endParaRPr/>
          </a:p>
          <a:p>
            <a:pPr indent="-285750" lvl="2" marL="7442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2011年：成立战略与发展委员会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，区域销售，产品线，职能线全域的日历机制的SP —》BP规划并解码到个人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流程：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DSTE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方法论：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BLM+BEM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1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交付件</a:t>
            </a: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：SP+BP</a:t>
            </a:r>
            <a:endParaRPr b="0" i="0" sz="1275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51" name="Google Shape;151;p4"/>
          <p:cNvGrpSpPr/>
          <p:nvPr/>
        </p:nvGrpSpPr>
        <p:grpSpPr>
          <a:xfrm>
            <a:off x="1972619" y="4327627"/>
            <a:ext cx="2121468" cy="1035397"/>
            <a:chOff x="288016" y="2132856"/>
            <a:chExt cx="2828623" cy="1380529"/>
          </a:xfrm>
        </p:grpSpPr>
        <p:sp>
          <p:nvSpPr>
            <p:cNvPr id="152" name="Google Shape;152;p4"/>
            <p:cNvSpPr txBox="1"/>
            <p:nvPr/>
          </p:nvSpPr>
          <p:spPr>
            <a:xfrm>
              <a:off x="288016" y="2132856"/>
              <a:ext cx="527473" cy="79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849332" y="2160412"/>
              <a:ext cx="2267307" cy="1352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华为战略体系（组织、流程、方法）的构建里程</a:t>
              </a:r>
              <a:endParaRPr/>
            </a:p>
          </p:txBody>
        </p:sp>
      </p:grpSp>
      <p:sp>
        <p:nvSpPr>
          <p:cNvPr id="154" name="Google Shape;154;p4"/>
          <p:cNvSpPr txBox="1"/>
          <p:nvPr/>
        </p:nvSpPr>
        <p:spPr>
          <a:xfrm>
            <a:off x="561115" y="418302"/>
            <a:ext cx="8769350" cy="343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战规演进：老板→战规→SDC，靠老板→组织+流程+全体员工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1524000" y="6293751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战略组织、流程、方法+管理者战略领导力</a:t>
            </a: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，有持续打好</a:t>
            </a:r>
            <a:r>
              <a:rPr b="1" lang="zh-CN" sz="18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移动靶</a:t>
            </a: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的能力，企业才能做大</a:t>
            </a:r>
            <a:endParaRPr b="1"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0465"/>
            <a:ext cx="12206605" cy="522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5"/>
          <p:cNvGrpSpPr/>
          <p:nvPr/>
        </p:nvGrpSpPr>
        <p:grpSpPr>
          <a:xfrm>
            <a:off x="1495425" y="1429385"/>
            <a:ext cx="8841818" cy="3431254"/>
            <a:chOff x="2637" y="2385"/>
            <a:chExt cx="12399" cy="4812"/>
          </a:xfrm>
        </p:grpSpPr>
        <p:sp>
          <p:nvSpPr>
            <p:cNvPr id="162" name="Google Shape;162;p5"/>
            <p:cNvSpPr txBox="1"/>
            <p:nvPr/>
          </p:nvSpPr>
          <p:spPr>
            <a:xfrm>
              <a:off x="6640" y="2617"/>
              <a:ext cx="3558" cy="45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董事会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2637" y="4755"/>
              <a:ext cx="2890" cy="43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人力资源委员会</a:t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5749" y="4755"/>
              <a:ext cx="2557" cy="43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财务委员会</a:t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8530" y="4755"/>
              <a:ext cx="3224" cy="43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战略与规划委员会</a:t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11975" y="4755"/>
              <a:ext cx="2779" cy="43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审计委员会</a:t>
              </a:r>
              <a:endParaRPr/>
            </a:p>
          </p:txBody>
        </p:sp>
        <p:sp>
          <p:nvSpPr>
            <p:cNvPr id="167" name="Google Shape;167;p5"/>
            <p:cNvSpPr txBox="1"/>
            <p:nvPr/>
          </p:nvSpPr>
          <p:spPr>
            <a:xfrm>
              <a:off x="10336" y="2385"/>
              <a:ext cx="2335" cy="1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5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任总参加</a:t>
              </a:r>
              <a:endParaRPr sz="10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5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重大事项讨论</a:t>
              </a:r>
              <a:endParaRPr sz="10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05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高级干部任命</a:t>
              </a:r>
              <a:endParaRPr sz="10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2737" y="5325"/>
              <a:ext cx="2668" cy="1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中高级干部任命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重要组织架构变化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员工招聘策略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员工薪酬与激励策略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重大人事处分</a:t>
              </a:r>
              <a:endParaRPr/>
            </a:p>
          </p:txBody>
        </p:sp>
        <p:sp>
          <p:nvSpPr>
            <p:cNvPr id="169" name="Google Shape;169;p5"/>
            <p:cNvSpPr txBox="1"/>
            <p:nvPr/>
          </p:nvSpPr>
          <p:spPr>
            <a:xfrm>
              <a:off x="4162" y="4212"/>
              <a:ext cx="166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管人</a:t>
              </a: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7029" y="4217"/>
              <a:ext cx="166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管财</a:t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5714" y="5325"/>
              <a:ext cx="2557" cy="1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管理年度经营绩效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管理预算、滚动预测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重大财务政策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重大会计政策</a:t>
              </a:r>
              <a:endParaRPr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8521" y="5325"/>
              <a:ext cx="2942" cy="1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1" i="0" lang="zh-CN" sz="1050" u="none" cap="none" strike="noStrike">
                  <a:solidFill>
                    <a:srgbClr val="0000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管理公司战略,创新体系</a:t>
              </a:r>
              <a:endParaRPr b="1" i="0" sz="1050" u="none" cap="none" strike="noStrike">
                <a:solidFill>
                  <a:srgbClr val="0000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管理市场和产品的重大决策（IRB）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跨BG产品线协调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跨部门重大业务协调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战略结算机制</a:t>
              </a:r>
              <a:endParaRPr b="0" i="0" sz="105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1" i="0" lang="zh-CN" sz="1050" u="none" cap="none" strike="noStrike">
                  <a:solidFill>
                    <a:srgbClr val="0000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蓝军机制，风险防范</a:t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11923" y="5325"/>
              <a:ext cx="3113" cy="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协调审计、内控和流程IT</a:t>
              </a:r>
              <a:endParaRPr/>
            </a:p>
            <a:p>
              <a:pPr indent="-285750" lvl="1" marL="287020" marR="0" rtl="0"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050"/>
                <a:buFont typeface="Arial"/>
                <a:buChar char="•"/>
              </a:pPr>
              <a:r>
                <a:rPr b="0" i="0" lang="zh-CN" sz="105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督促业务部门改善内控水平</a:t>
              </a:r>
              <a:endParaRPr/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10418" y="4212"/>
              <a:ext cx="166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管事</a:t>
              </a:r>
              <a:endParaRPr/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13529" y="4213"/>
              <a:ext cx="100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监控</a:t>
              </a:r>
              <a:endParaRPr/>
            </a:p>
          </p:txBody>
        </p:sp>
        <p:cxnSp>
          <p:nvCxnSpPr>
            <p:cNvPr id="176" name="Google Shape;176;p5"/>
            <p:cNvCxnSpPr/>
            <p:nvPr/>
          </p:nvCxnSpPr>
          <p:spPr>
            <a:xfrm>
              <a:off x="8418" y="3101"/>
              <a:ext cx="0" cy="887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5"/>
            <p:cNvCxnSpPr/>
            <p:nvPr/>
          </p:nvCxnSpPr>
          <p:spPr>
            <a:xfrm>
              <a:off x="4082" y="3981"/>
              <a:ext cx="0" cy="77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5"/>
            <p:cNvCxnSpPr/>
            <p:nvPr/>
          </p:nvCxnSpPr>
          <p:spPr>
            <a:xfrm>
              <a:off x="4051" y="3989"/>
              <a:ext cx="9329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5"/>
            <p:cNvCxnSpPr/>
            <p:nvPr/>
          </p:nvCxnSpPr>
          <p:spPr>
            <a:xfrm>
              <a:off x="13364" y="3981"/>
              <a:ext cx="0" cy="77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5"/>
            <p:cNvCxnSpPr/>
            <p:nvPr/>
          </p:nvCxnSpPr>
          <p:spPr>
            <a:xfrm>
              <a:off x="10196" y="3981"/>
              <a:ext cx="0" cy="77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5"/>
            <p:cNvCxnSpPr/>
            <p:nvPr/>
          </p:nvCxnSpPr>
          <p:spPr>
            <a:xfrm>
              <a:off x="7028" y="3981"/>
              <a:ext cx="0" cy="77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2" name="Google Shape;182;p5"/>
          <p:cNvSpPr txBox="1"/>
          <p:nvPr/>
        </p:nvSpPr>
        <p:spPr>
          <a:xfrm>
            <a:off x="678532" y="378070"/>
            <a:ext cx="8466396" cy="624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【总参】战略部+蓝军部+研究院+商业模式部+智库+…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董事长-CEO-COO/CTO/CDO/CFO/CHO/CIO/CKO +…</a:t>
            </a:r>
            <a:endParaRPr b="1" sz="200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495425" y="6310261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中小公司不一定有那么多组织和角色，但这些事情都是存在的，都应该有人做</a:t>
            </a:r>
            <a:endParaRPr b="1"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0465"/>
            <a:ext cx="12206605" cy="522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6"/>
          <p:cNvGrpSpPr/>
          <p:nvPr/>
        </p:nvGrpSpPr>
        <p:grpSpPr>
          <a:xfrm>
            <a:off x="1636547" y="1071245"/>
            <a:ext cx="8597748" cy="4776541"/>
            <a:chOff x="2122" y="2647"/>
            <a:chExt cx="10925" cy="6155"/>
          </a:xfrm>
        </p:grpSpPr>
        <p:sp>
          <p:nvSpPr>
            <p:cNvPr id="191" name="Google Shape;191;p6"/>
            <p:cNvSpPr/>
            <p:nvPr/>
          </p:nvSpPr>
          <p:spPr>
            <a:xfrm>
              <a:off x="3820" y="3287"/>
              <a:ext cx="7607" cy="42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3300" lIns="66625" spcFirstLastPara="1" rIns="66625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4527" y="5300"/>
              <a:ext cx="2227" cy="2206"/>
            </a:xfrm>
            <a:prstGeom prst="ellipse">
              <a:avLst/>
            </a:prstGeom>
            <a:solidFill>
              <a:srgbClr val="0092D6">
                <a:alpha val="50196"/>
              </a:srgbClr>
            </a:solidFill>
            <a:ln cap="flat" cmpd="sng" w="19050">
              <a:solidFill>
                <a:schemeClr val="lt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93" name="Google Shape;193;p6"/>
            <p:cNvSpPr txBox="1"/>
            <p:nvPr/>
          </p:nvSpPr>
          <p:spPr>
            <a:xfrm>
              <a:off x="2121" y="3580"/>
              <a:ext cx="465" cy="2526"/>
            </a:xfrm>
            <a:prstGeom prst="rect">
              <a:avLst/>
            </a:prstGeom>
            <a:solidFill>
              <a:srgbClr val="0092D6"/>
            </a:solidFill>
            <a:ln>
              <a:noFill/>
            </a:ln>
          </p:spPr>
          <p:txBody>
            <a:bodyPr anchorCtr="0" anchor="t" bIns="33300" lIns="0" spcFirstLastPara="1" rIns="0" wrap="square" tIns="333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endParaRPr b="1"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知识领导的程度  </a:t>
              </a:r>
              <a:endParaRPr b="1"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t/>
              </a:r>
              <a:endParaRPr b="1" sz="14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5738" y="8440"/>
              <a:ext cx="3905" cy="362"/>
            </a:xfrm>
            <a:prstGeom prst="rect">
              <a:avLst/>
            </a:prstGeom>
            <a:solidFill>
              <a:srgbClr val="0092D6"/>
            </a:solidFill>
            <a:ln>
              <a:noFill/>
            </a:ln>
          </p:spPr>
          <p:txBody>
            <a:bodyPr anchorCtr="0" anchor="t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Noto Sans Symbols"/>
                <a:buNone/>
              </a:pPr>
              <a:r>
                <a:rPr b="1" lang="zh-CN" sz="14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在驱动变革过程中的角色作用</a:t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5185" y="2647"/>
              <a:ext cx="7861" cy="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ts val="960"/>
                <a:buFont typeface="Noto Sans Symbols"/>
                <a:buNone/>
              </a:pPr>
              <a:r>
                <a:rPr b="1" lang="zh-CN" sz="16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成为公司的知识领导者和变革倡引者</a:t>
              </a:r>
              <a:endParaRPr/>
            </a:p>
          </p:txBody>
        </p:sp>
        <p:cxnSp>
          <p:nvCxnSpPr>
            <p:cNvPr id="196" name="Google Shape;196;p6"/>
            <p:cNvCxnSpPr/>
            <p:nvPr/>
          </p:nvCxnSpPr>
          <p:spPr>
            <a:xfrm>
              <a:off x="3828" y="7507"/>
              <a:ext cx="7822" cy="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7" name="Google Shape;197;p6"/>
            <p:cNvSpPr txBox="1"/>
            <p:nvPr/>
          </p:nvSpPr>
          <p:spPr>
            <a:xfrm>
              <a:off x="6668" y="6332"/>
              <a:ext cx="628" cy="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ABB</a:t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8632" y="3917"/>
              <a:ext cx="457" cy="442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66"/>
            </a:solidFill>
            <a:ln cap="flat" cmpd="sng" w="9525">
              <a:solidFill>
                <a:srgbClr val="FF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8761" y="6326"/>
              <a:ext cx="219" cy="221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962" y="5604"/>
              <a:ext cx="223" cy="219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8583" y="4400"/>
              <a:ext cx="223" cy="219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10282" y="3518"/>
              <a:ext cx="223" cy="219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9020" y="4254"/>
              <a:ext cx="221" cy="223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204" name="Google Shape;204;p6"/>
            <p:cNvCxnSpPr/>
            <p:nvPr/>
          </p:nvCxnSpPr>
          <p:spPr>
            <a:xfrm flipH="1" rot="10800000">
              <a:off x="6544" y="4220"/>
              <a:ext cx="2129" cy="1558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lgDash"/>
              <a:round/>
              <a:headEnd len="sm" w="sm" type="none"/>
              <a:tailEnd len="med" w="med" type="triangle"/>
            </a:ln>
          </p:spPr>
        </p:cxnSp>
        <p:sp>
          <p:nvSpPr>
            <p:cNvPr id="205" name="Google Shape;205;p6"/>
            <p:cNvSpPr txBox="1"/>
            <p:nvPr/>
          </p:nvSpPr>
          <p:spPr>
            <a:xfrm>
              <a:off x="8821" y="4502"/>
              <a:ext cx="581" cy="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IBM</a:t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375" y="7088"/>
              <a:ext cx="223" cy="219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207" name="Google Shape;207;p6"/>
            <p:cNvCxnSpPr/>
            <p:nvPr/>
          </p:nvCxnSpPr>
          <p:spPr>
            <a:xfrm rot="10800000">
              <a:off x="3828" y="3064"/>
              <a:ext cx="0" cy="44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8" name="Google Shape;208;p6"/>
            <p:cNvSpPr txBox="1"/>
            <p:nvPr/>
          </p:nvSpPr>
          <p:spPr>
            <a:xfrm>
              <a:off x="4624" y="6846"/>
              <a:ext cx="1295" cy="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Honeywell ;</a:t>
              </a:r>
              <a:b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Emerson</a:t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6268" y="6322"/>
              <a:ext cx="221" cy="219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0" name="Google Shape;210;p6"/>
            <p:cNvSpPr txBox="1"/>
            <p:nvPr/>
          </p:nvSpPr>
          <p:spPr>
            <a:xfrm>
              <a:off x="2791" y="4271"/>
              <a:ext cx="973" cy="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0" spcFirstLastPara="1" rIns="0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业务设计            工程师</a:t>
              </a:r>
              <a:endParaRPr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2786" y="3396"/>
              <a:ext cx="924" cy="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0" spcFirstLastPara="1" rIns="0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价值增长                        驱动者</a:t>
              </a:r>
              <a:endParaRPr/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9041" y="7617"/>
              <a:ext cx="1160" cy="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66625" spcFirstLastPara="1" rIns="66625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举措支持/试行</a:t>
              </a:r>
              <a:endParaRPr/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0726" y="7617"/>
              <a:ext cx="889" cy="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66625" spcFirstLastPara="1" rIns="66625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变革               倡导者</a:t>
              </a:r>
              <a:endParaRPr/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2681" y="6965"/>
              <a:ext cx="930" cy="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0" spcFirstLastPara="1" rIns="0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规划流程护卫者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2707" y="6043"/>
              <a:ext cx="993" cy="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0" spcFirstLastPara="1" rIns="0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“救火队员”型顾问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5459" y="7647"/>
              <a:ext cx="1288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66625" spcFirstLastPara="1" rIns="66625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设计工具/监控</a:t>
              </a:r>
              <a:endParaRPr/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2791" y="5120"/>
              <a:ext cx="814" cy="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0" spcFirstLastPara="1" rIns="0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积极的                  审核者</a:t>
              </a:r>
              <a:endParaRPr/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3674" y="7617"/>
              <a:ext cx="1631" cy="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66625" spcFirstLastPara="1" rIns="66625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沟通目标、规划和时间安排</a:t>
              </a:r>
              <a:endParaRPr/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7146" y="7683"/>
              <a:ext cx="1147" cy="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00" lIns="66625" spcFirstLastPara="1" rIns="66625" wrap="square" tIns="33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流程设计/培训</a:t>
              </a:r>
              <a:endParaRPr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10387" y="3432"/>
              <a:ext cx="1048" cy="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通用电器</a:t>
              </a:r>
              <a:endParaRPr/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7153" y="5531"/>
              <a:ext cx="838" cy="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西门子</a:t>
              </a:r>
              <a:endParaRPr/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9198" y="4186"/>
              <a:ext cx="838" cy="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迪士尼</a:t>
              </a:r>
              <a:endParaRPr/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8934" y="6302"/>
              <a:ext cx="628" cy="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00" lIns="66625" spcFirstLastPara="1" rIns="66625" wrap="square" tIns="333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壳牌</a:t>
              </a:r>
              <a:endParaRPr/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7553" y="3422"/>
              <a:ext cx="2598" cy="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未来的华为：</a:t>
              </a:r>
              <a:endParaRPr b="1"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行业领导者，生态守护者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4787" y="5755"/>
              <a:ext cx="1596" cy="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2005的华为：</a:t>
              </a:r>
              <a:endParaRPr b="1"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大而不强</a:t>
              </a:r>
              <a:endParaRPr/>
            </a:p>
          </p:txBody>
        </p:sp>
      </p:grpSp>
      <p:sp>
        <p:nvSpPr>
          <p:cNvPr id="226" name="Google Shape;226;p6"/>
          <p:cNvSpPr txBox="1"/>
          <p:nvPr/>
        </p:nvSpPr>
        <p:spPr>
          <a:xfrm>
            <a:off x="444793" y="482491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战略部：发现价值转移，通过规划牵引促成抓住机会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1524000" y="6293116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人0.2%即可，但必须是行业高手：____镜+ ____镜，接地气+高瞻远瞩</a:t>
            </a:r>
            <a:endParaRPr b="1"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046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/>
          <p:nvPr/>
        </p:nvSpPr>
        <p:spPr>
          <a:xfrm>
            <a:off x="3547775" y="3234378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服务战略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542334" y="3613338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企业安全战略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542334" y="2847936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营销战略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542334" y="2452644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研发战略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542334" y="3986858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供应链战略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542334" y="4744785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财务战略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542334" y="4371264"/>
            <a:ext cx="2714644" cy="357190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5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人力资源战略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4756779" y="2173016"/>
            <a:ext cx="285752" cy="3000396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328283" y="2173016"/>
            <a:ext cx="285752" cy="3000396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899787" y="2173016"/>
            <a:ext cx="285752" cy="3000396"/>
          </a:xfrm>
          <a:prstGeom prst="rect">
            <a:avLst/>
          </a:prstGeom>
          <a:solidFill>
            <a:srgbClr val="F0F8F9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525463" y="1711354"/>
            <a:ext cx="725259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09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运营商</a:t>
            </a:r>
            <a:endParaRPr sz="1200">
              <a:solidFill>
                <a:srgbClr val="0092D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09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92D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92D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207179" y="1711354"/>
            <a:ext cx="500067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09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企业BG</a:t>
            </a:r>
            <a:endParaRPr sz="1200">
              <a:solidFill>
                <a:srgbClr val="0092D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669824" y="1711354"/>
            <a:ext cx="708255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09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消费者</a:t>
            </a:r>
            <a:endParaRPr sz="1200">
              <a:solidFill>
                <a:srgbClr val="0092D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092D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BG</a:t>
            </a:r>
            <a:endParaRPr sz="1200">
              <a:solidFill>
                <a:srgbClr val="0092D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46" name="Google Shape;246;p7"/>
          <p:cNvGrpSpPr/>
          <p:nvPr/>
        </p:nvGrpSpPr>
        <p:grpSpPr>
          <a:xfrm>
            <a:off x="1036565" y="1344636"/>
            <a:ext cx="2505769" cy="576887"/>
            <a:chOff x="-7293" y="1493340"/>
            <a:chExt cx="3341025" cy="769183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-7293" y="1743781"/>
              <a:ext cx="3341025" cy="518742"/>
              <a:chOff x="1368238" y="2151176"/>
              <a:chExt cx="3341025" cy="518742"/>
            </a:xfrm>
          </p:grpSpPr>
          <p:sp>
            <p:nvSpPr>
              <p:cNvPr id="248" name="Google Shape;248;p7"/>
              <p:cNvSpPr/>
              <p:nvPr/>
            </p:nvSpPr>
            <p:spPr>
              <a:xfrm>
                <a:off x="2800771" y="2151176"/>
                <a:ext cx="1266613" cy="429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500">
                    <a:solidFill>
                      <a:srgbClr val="C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华为案例</a:t>
                </a:r>
                <a:endParaRPr/>
              </a:p>
            </p:txBody>
          </p:sp>
          <p:cxnSp>
            <p:nvCxnSpPr>
              <p:cNvPr id="249" name="Google Shape;249;p7"/>
              <p:cNvCxnSpPr/>
              <p:nvPr/>
            </p:nvCxnSpPr>
            <p:spPr>
              <a:xfrm>
                <a:off x="1368238" y="2669918"/>
                <a:ext cx="334102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id="250" name="Google Shape;25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3142" y="1493340"/>
              <a:ext cx="677198" cy="662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" name="Google Shape;251;p7"/>
          <p:cNvSpPr txBox="1"/>
          <p:nvPr/>
        </p:nvSpPr>
        <p:spPr>
          <a:xfrm>
            <a:off x="597456" y="445414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战略规划组织：</a:t>
            </a:r>
            <a:r>
              <a:rPr b="1" lang="zh-CN" sz="2400" u="sng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业务战略</a:t>
            </a: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+战略规划部+各BU/区域/职能主管</a:t>
            </a:r>
            <a:endParaRPr/>
          </a:p>
        </p:txBody>
      </p:sp>
      <p:grpSp>
        <p:nvGrpSpPr>
          <p:cNvPr id="252" name="Google Shape;252;p7"/>
          <p:cNvGrpSpPr/>
          <p:nvPr/>
        </p:nvGrpSpPr>
        <p:grpSpPr>
          <a:xfrm>
            <a:off x="1409700" y="2046605"/>
            <a:ext cx="1907540" cy="3011170"/>
            <a:chOff x="1050" y="3454"/>
            <a:chExt cx="3900" cy="6300"/>
          </a:xfrm>
        </p:grpSpPr>
        <p:sp>
          <p:nvSpPr>
            <p:cNvPr id="253" name="Google Shape;253;p7"/>
            <p:cNvSpPr/>
            <p:nvPr/>
          </p:nvSpPr>
          <p:spPr>
            <a:xfrm>
              <a:off x="1050" y="3454"/>
              <a:ext cx="3900" cy="6300"/>
            </a:xfrm>
            <a:prstGeom prst="triangle">
              <a:avLst>
                <a:gd fmla="val 50000" name="adj"/>
              </a:avLst>
            </a:prstGeom>
            <a:solidFill>
              <a:srgbClr val="F0F8F9"/>
            </a:solidFill>
            <a:ln cap="flat" cmpd="sng" w="25400">
              <a:solidFill>
                <a:srgbClr val="88A3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121900" spcFirstLastPara="1" rIns="121900" wrap="square" tIns="6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2423" y="4580"/>
              <a:ext cx="1500" cy="1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121900" spcFirstLastPara="1" rIns="121900" wrap="square" tIns="609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公司</a:t>
              </a:r>
              <a:endParaRPr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</a:t>
              </a:r>
              <a:endParaRPr/>
            </a:p>
          </p:txBody>
        </p:sp>
        <p:sp>
          <p:nvSpPr>
            <p:cNvPr id="255" name="Google Shape;255;p7"/>
            <p:cNvSpPr txBox="1"/>
            <p:nvPr/>
          </p:nvSpPr>
          <p:spPr>
            <a:xfrm>
              <a:off x="2029" y="6754"/>
              <a:ext cx="1842" cy="638"/>
            </a:xfrm>
            <a:prstGeom prst="rect">
              <a:avLst/>
            </a:prstGeom>
            <a:solidFill>
              <a:srgbClr val="F0F8F9"/>
            </a:solidFill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0950" lIns="121900" spcFirstLastPara="1" rIns="121900" wrap="square" tIns="609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业务战略</a:t>
              </a:r>
              <a:endParaRPr/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1800" y="9004"/>
              <a:ext cx="1842" cy="638"/>
            </a:xfrm>
            <a:prstGeom prst="rect">
              <a:avLst/>
            </a:prstGeom>
            <a:solidFill>
              <a:srgbClr val="F0F8F9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2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职能战略</a:t>
              </a:r>
              <a:endParaRPr/>
            </a:p>
          </p:txBody>
        </p:sp>
      </p:grpSp>
      <p:sp>
        <p:nvSpPr>
          <p:cNvPr id="257" name="Google Shape;257;p7"/>
          <p:cNvSpPr/>
          <p:nvPr/>
        </p:nvSpPr>
        <p:spPr>
          <a:xfrm>
            <a:off x="6352540" y="1724025"/>
            <a:ext cx="5121910" cy="4792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公司战略</a:t>
            </a:r>
            <a:endParaRPr b="1" sz="20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机会选择，顶层商业模式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各BG长中短期目标，有效增长，实现最佳资源配置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变革管理，风险控制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业务战略</a:t>
            </a:r>
            <a:endParaRPr b="1" sz="20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zh-CN" sz="16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分产线（各BU）和销线（区域/大客户）</a:t>
            </a:r>
            <a:endParaRPr sz="16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客户选择，E2E解决方案，核心竞争力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关注价值转移，商业模式、财务安全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战略预备队，生态协同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职能战略</a:t>
            </a:r>
            <a:endParaRPr b="1" sz="20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预算管理，战略聚焦的资源保障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矩阵管理，结算策略拉通各业务模块的协同性</a:t>
            </a:r>
            <a:endParaRPr b="0" i="0" sz="10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67FC3"/>
              </a:buClr>
              <a:buSzPts val="1000"/>
              <a:buFont typeface="Arial"/>
              <a:buChar char="•"/>
            </a:pPr>
            <a:r>
              <a:rPr b="0" i="0" lang="zh-CN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变革指标管控，平衡计分绩效管控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1725990" y="6292727"/>
            <a:ext cx="87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战略规划、组织人才、质量运营、流程IT…全是</a:t>
            </a:r>
            <a:r>
              <a:rPr b="1" lang="zh-CN" sz="20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一把手</a:t>
            </a: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工程！业务主管负责！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0465"/>
            <a:ext cx="12206605" cy="522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8"/>
          <p:cNvGrpSpPr/>
          <p:nvPr/>
        </p:nvGrpSpPr>
        <p:grpSpPr>
          <a:xfrm>
            <a:off x="2874687" y="3567412"/>
            <a:ext cx="5349440" cy="598805"/>
            <a:chOff x="266002" y="2132856"/>
            <a:chExt cx="7132587" cy="798407"/>
          </a:xfrm>
        </p:grpSpPr>
        <p:sp>
          <p:nvSpPr>
            <p:cNvPr id="265" name="Google Shape;265;p8"/>
            <p:cNvSpPr txBox="1"/>
            <p:nvPr/>
          </p:nvSpPr>
          <p:spPr>
            <a:xfrm>
              <a:off x="266002" y="2132856"/>
              <a:ext cx="571500" cy="798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</a:t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848776" y="2401145"/>
              <a:ext cx="6549813" cy="429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远景目标牵引，队伍持续激励的首席教育官（CEO）角色</a:t>
              </a:r>
              <a:endParaRPr/>
            </a:p>
          </p:txBody>
        </p:sp>
      </p:grpSp>
      <p:sp>
        <p:nvSpPr>
          <p:cNvPr id="267" name="Google Shape;267;p8"/>
          <p:cNvSpPr/>
          <p:nvPr/>
        </p:nvSpPr>
        <p:spPr>
          <a:xfrm>
            <a:off x="1931194" y="1421765"/>
            <a:ext cx="5444966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5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方向大致正确、队伍充满活力，掌握拧麻花的艺术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387983" y="2758889"/>
            <a:ext cx="5767817" cy="904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85750" lvl="1" marL="287020" marR="0" rtl="0" algn="just"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洞察力与生存危机意识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业务决断力与风险意识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持续变革的领导力与均衡发展意识</a:t>
            </a:r>
            <a:endParaRPr/>
          </a:p>
          <a:p>
            <a:pPr indent="-285750" lvl="1" marL="287020" marR="0" rtl="0" algn="just">
              <a:spcBef>
                <a:spcPts val="255"/>
              </a:spcBef>
              <a:spcAft>
                <a:spcPts val="0"/>
              </a:spcAft>
              <a:buClr>
                <a:srgbClr val="267FC3"/>
              </a:buClr>
              <a:buSzPts val="1275"/>
              <a:buFont typeface="Arial"/>
              <a:buChar char="•"/>
            </a:pPr>
            <a:r>
              <a:rPr b="0" i="0" lang="zh-CN" sz="1275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敢于舍的战略定力与不言弃的自我激励意识</a:t>
            </a:r>
            <a:endParaRPr/>
          </a:p>
        </p:txBody>
      </p:sp>
      <p:grpSp>
        <p:nvGrpSpPr>
          <p:cNvPr id="269" name="Google Shape;269;p8"/>
          <p:cNvGrpSpPr/>
          <p:nvPr/>
        </p:nvGrpSpPr>
        <p:grpSpPr>
          <a:xfrm>
            <a:off x="2891197" y="1799160"/>
            <a:ext cx="5923387" cy="598805"/>
            <a:chOff x="288016" y="2132856"/>
            <a:chExt cx="7897850" cy="798407"/>
          </a:xfrm>
        </p:grpSpPr>
        <p:sp>
          <p:nvSpPr>
            <p:cNvPr id="270" name="Google Shape;270;p8"/>
            <p:cNvSpPr txBox="1"/>
            <p:nvPr/>
          </p:nvSpPr>
          <p:spPr>
            <a:xfrm>
              <a:off x="288016" y="2132856"/>
              <a:ext cx="527473" cy="798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</a:t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782612" y="2386509"/>
              <a:ext cx="7403254" cy="429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愿景、使命、价值观、业务思想、变革管理的总设计师及践行者</a:t>
              </a:r>
              <a:endParaRPr/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2891197" y="2269246"/>
            <a:ext cx="2658803" cy="598805"/>
            <a:chOff x="288016" y="2132856"/>
            <a:chExt cx="3545071" cy="798407"/>
          </a:xfrm>
        </p:grpSpPr>
        <p:sp>
          <p:nvSpPr>
            <p:cNvPr id="273" name="Google Shape;273;p8"/>
            <p:cNvSpPr txBox="1"/>
            <p:nvPr/>
          </p:nvSpPr>
          <p:spPr>
            <a:xfrm>
              <a:off x="288016" y="2132856"/>
              <a:ext cx="527473" cy="798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</a:t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76621" y="2386509"/>
              <a:ext cx="3056466" cy="429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500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战略素养中的拧麻花艺术</a:t>
              </a:r>
              <a:endParaRPr/>
            </a:p>
          </p:txBody>
        </p:sp>
      </p:grpSp>
      <p:grpSp>
        <p:nvGrpSpPr>
          <p:cNvPr id="275" name="Google Shape;275;p8"/>
          <p:cNvGrpSpPr/>
          <p:nvPr/>
        </p:nvGrpSpPr>
        <p:grpSpPr>
          <a:xfrm>
            <a:off x="2754998" y="2322824"/>
            <a:ext cx="6303615" cy="1393041"/>
            <a:chOff x="1795636" y="2986181"/>
            <a:chExt cx="10972880" cy="1857388"/>
          </a:xfrm>
        </p:grpSpPr>
        <p:cxnSp>
          <p:nvCxnSpPr>
            <p:cNvPr id="276" name="Google Shape;276;p8"/>
            <p:cNvCxnSpPr/>
            <p:nvPr/>
          </p:nvCxnSpPr>
          <p:spPr>
            <a:xfrm>
              <a:off x="1795636" y="2986181"/>
              <a:ext cx="10972880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1795636" y="4843569"/>
              <a:ext cx="10972880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8" name="Google Shape;278;p8"/>
          <p:cNvSpPr txBox="1"/>
          <p:nvPr/>
        </p:nvSpPr>
        <p:spPr>
          <a:xfrm>
            <a:off x="574528" y="504955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各一把手战略素养：战略____力+战略____力+战略____力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1981228" y="4465964"/>
            <a:ext cx="8026003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7505" lvl="0" marL="357505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Char char="•"/>
            </a:pPr>
            <a:r>
              <a:rPr b="1"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能力提升方式：</a:t>
            </a:r>
            <a:endParaRPr b="1" sz="1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71780" lvl="1" marL="62865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Noto Sans Symbols"/>
              <a:buChar char="✔"/>
            </a:pPr>
            <a:r>
              <a:rPr b="1" i="0" lang="zh-CN" sz="120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角色认知：</a:t>
            </a:r>
            <a:r>
              <a:rPr b="0" i="0" lang="zh-CN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理解并认同自身在战略规划中的角色和职责，转身</a:t>
            </a:r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71780" lvl="1" marL="62865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Noto Sans Symbols"/>
              <a:buChar char="✔"/>
            </a:pPr>
            <a:r>
              <a:rPr b="1" i="0" lang="zh-CN" sz="120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掌握方法论：</a:t>
            </a:r>
            <a:r>
              <a:rPr b="0" i="0" lang="zh-CN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熟悉战略规划的思维方式、流程、方法论</a:t>
            </a:r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71780" lvl="1" marL="628650" marR="0" rtl="0" algn="l"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Noto Sans Symbols"/>
              <a:buChar char="✔"/>
            </a:pPr>
            <a:r>
              <a:rPr b="1" i="0" lang="zh-CN" sz="120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干中学：</a:t>
            </a:r>
            <a:r>
              <a:rPr b="0" i="0" lang="zh-CN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参与DSTE流程相关活动，岗位轮换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1524000" y="6310507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战略不能都等老板指令，授权范围内：先见+先决+先行。 案例：美军决策机制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640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/>
        </p:nvSpPr>
        <p:spPr>
          <a:xfrm>
            <a:off x="502193" y="517795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看30年做10年：战略规划SP+业务计划BP，长短结合</a:t>
            </a:r>
            <a:endParaRPr/>
          </a:p>
        </p:txBody>
      </p:sp>
      <p:grpSp>
        <p:nvGrpSpPr>
          <p:cNvPr id="287" name="Google Shape;287;p9"/>
          <p:cNvGrpSpPr/>
          <p:nvPr/>
        </p:nvGrpSpPr>
        <p:grpSpPr>
          <a:xfrm>
            <a:off x="1898650" y="1180465"/>
            <a:ext cx="8373165" cy="4896519"/>
            <a:chOff x="-84" y="1929"/>
            <a:chExt cx="13722" cy="8024"/>
          </a:xfrm>
        </p:grpSpPr>
        <p:cxnSp>
          <p:nvCxnSpPr>
            <p:cNvPr id="288" name="Google Shape;288;p9"/>
            <p:cNvCxnSpPr/>
            <p:nvPr/>
          </p:nvCxnSpPr>
          <p:spPr>
            <a:xfrm>
              <a:off x="2072" y="8617"/>
              <a:ext cx="10772" cy="0"/>
            </a:xfrm>
            <a:prstGeom prst="straightConnector1">
              <a:avLst/>
            </a:prstGeom>
            <a:noFill/>
            <a:ln cap="flat" cmpd="sng" w="34925">
              <a:solidFill>
                <a:srgbClr val="0C0C0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9" name="Google Shape;289;p9"/>
            <p:cNvCxnSpPr/>
            <p:nvPr/>
          </p:nvCxnSpPr>
          <p:spPr>
            <a:xfrm rot="10800000">
              <a:off x="2072" y="2040"/>
              <a:ext cx="0" cy="6577"/>
            </a:xfrm>
            <a:prstGeom prst="straightConnector1">
              <a:avLst/>
            </a:prstGeom>
            <a:noFill/>
            <a:ln cap="flat" cmpd="sng" w="34925">
              <a:solidFill>
                <a:srgbClr val="0C0C0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0" name="Google Shape;290;p9"/>
            <p:cNvCxnSpPr/>
            <p:nvPr/>
          </p:nvCxnSpPr>
          <p:spPr>
            <a:xfrm>
              <a:off x="2072" y="9285"/>
              <a:ext cx="10772" cy="0"/>
            </a:xfrm>
            <a:prstGeom prst="straightConnector1">
              <a:avLst/>
            </a:prstGeom>
            <a:noFill/>
            <a:ln cap="flat" cmpd="sng" w="12700">
              <a:solidFill>
                <a:srgbClr val="0C0C0C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91" name="Google Shape;291;p9"/>
            <p:cNvSpPr txBox="1"/>
            <p:nvPr/>
          </p:nvSpPr>
          <p:spPr>
            <a:xfrm>
              <a:off x="1930" y="9400"/>
              <a:ext cx="1368" cy="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A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战略性</a:t>
              </a:r>
              <a:endParaRPr/>
            </a:p>
          </p:txBody>
        </p:sp>
        <p:sp>
          <p:nvSpPr>
            <p:cNvPr id="292" name="Google Shape;292;p9"/>
            <p:cNvSpPr txBox="1"/>
            <p:nvPr/>
          </p:nvSpPr>
          <p:spPr>
            <a:xfrm>
              <a:off x="11570" y="9400"/>
              <a:ext cx="1388" cy="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A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运营性</a:t>
              </a:r>
              <a:endParaRPr/>
            </a:p>
          </p:txBody>
        </p:sp>
        <p:sp>
          <p:nvSpPr>
            <p:cNvPr id="293" name="Google Shape;293;p9"/>
            <p:cNvSpPr txBox="1"/>
            <p:nvPr/>
          </p:nvSpPr>
          <p:spPr>
            <a:xfrm>
              <a:off x="1957" y="8617"/>
              <a:ext cx="942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</a:t>
              </a:r>
              <a:endParaRPr/>
            </a:p>
          </p:txBody>
        </p:sp>
        <p:sp>
          <p:nvSpPr>
            <p:cNvPr id="294" name="Google Shape;294;p9"/>
            <p:cNvSpPr txBox="1"/>
            <p:nvPr/>
          </p:nvSpPr>
          <p:spPr>
            <a:xfrm>
              <a:off x="6267" y="8617"/>
              <a:ext cx="1920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战略里程碑</a:t>
              </a:r>
              <a:endParaRPr/>
            </a:p>
          </p:txBody>
        </p:sp>
        <p:sp>
          <p:nvSpPr>
            <p:cNvPr id="295" name="Google Shape;295;p9"/>
            <p:cNvSpPr txBox="1"/>
            <p:nvPr/>
          </p:nvSpPr>
          <p:spPr>
            <a:xfrm>
              <a:off x="8875" y="8617"/>
              <a:ext cx="1755" cy="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运营计划</a:t>
              </a:r>
              <a:endParaRPr/>
            </a:p>
          </p:txBody>
        </p:sp>
        <p:sp>
          <p:nvSpPr>
            <p:cNvPr id="296" name="Google Shape;296;p9"/>
            <p:cNvSpPr txBox="1"/>
            <p:nvPr/>
          </p:nvSpPr>
          <p:spPr>
            <a:xfrm>
              <a:off x="11142" y="8617"/>
              <a:ext cx="1745" cy="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全面预算</a:t>
              </a:r>
              <a:endParaRPr/>
            </a:p>
          </p:txBody>
        </p:sp>
        <p:sp>
          <p:nvSpPr>
            <p:cNvPr id="297" name="Google Shape;297;p9"/>
            <p:cNvSpPr txBox="1"/>
            <p:nvPr/>
          </p:nvSpPr>
          <p:spPr>
            <a:xfrm>
              <a:off x="-84" y="2040"/>
              <a:ext cx="795" cy="1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A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时间跨度</a:t>
              </a:r>
              <a:endParaRPr/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937" y="2040"/>
              <a:ext cx="1136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6个月</a:t>
              </a:r>
              <a:endParaRPr/>
            </a:p>
          </p:txBody>
        </p:sp>
        <p:sp>
          <p:nvSpPr>
            <p:cNvPr id="299" name="Google Shape;299;p9"/>
            <p:cNvSpPr txBox="1"/>
            <p:nvPr/>
          </p:nvSpPr>
          <p:spPr>
            <a:xfrm>
              <a:off x="825" y="2982"/>
              <a:ext cx="1336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12个月</a:t>
              </a:r>
              <a:endParaRPr/>
            </a:p>
          </p:txBody>
        </p:sp>
        <p:sp>
          <p:nvSpPr>
            <p:cNvPr id="300" name="Google Shape;300;p9"/>
            <p:cNvSpPr txBox="1"/>
            <p:nvPr/>
          </p:nvSpPr>
          <p:spPr>
            <a:xfrm>
              <a:off x="825" y="4230"/>
              <a:ext cx="1336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18个月</a:t>
              </a:r>
              <a:endParaRPr/>
            </a:p>
          </p:txBody>
        </p:sp>
        <p:sp>
          <p:nvSpPr>
            <p:cNvPr id="301" name="Google Shape;301;p9"/>
            <p:cNvSpPr txBox="1"/>
            <p:nvPr/>
          </p:nvSpPr>
          <p:spPr>
            <a:xfrm>
              <a:off x="1277" y="5250"/>
              <a:ext cx="813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C0C0C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2年</a:t>
              </a:r>
              <a:endParaRPr/>
            </a:p>
          </p:txBody>
        </p:sp>
        <p:sp>
          <p:nvSpPr>
            <p:cNvPr id="302" name="Google Shape;302;p9"/>
            <p:cNvSpPr txBox="1"/>
            <p:nvPr/>
          </p:nvSpPr>
          <p:spPr>
            <a:xfrm>
              <a:off x="1277" y="7745"/>
              <a:ext cx="813" cy="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5年</a:t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278" y="4649"/>
              <a:ext cx="7257" cy="2268"/>
            </a:xfrm>
            <a:prstGeom prst="ellipse">
              <a:avLst/>
            </a:prstGeom>
            <a:solidFill>
              <a:srgbClr val="3C8C92"/>
            </a:solidFill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中长期发展规划SP</a:t>
              </a:r>
              <a:endParaRPr/>
            </a:p>
            <a:p>
              <a:pPr indent="0" lvl="0" marL="0" marR="0" rtl="0" algn="ctr">
                <a:lnSpc>
                  <a:spcPct val="87000"/>
                </a:lnSpc>
                <a:spcBef>
                  <a:spcPts val="624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(春季规划)</a:t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6380" y="2380"/>
              <a:ext cx="7258" cy="2042"/>
            </a:xfrm>
            <a:prstGeom prst="ellipse">
              <a:avLst/>
            </a:prstGeom>
            <a:solidFill>
              <a:srgbClr val="262672">
                <a:alpha val="70196"/>
              </a:srgbClr>
            </a:solidFill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年度业务计划和经营预算BP</a:t>
              </a:r>
              <a:endParaRPr/>
            </a:p>
            <a:p>
              <a:pPr indent="0" lvl="0" marL="0" marR="0" rtl="0" algn="ctr">
                <a:lnSpc>
                  <a:spcPct val="87000"/>
                </a:lnSpc>
                <a:spcBef>
                  <a:spcPts val="624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(秋季规划)</a:t>
              </a:r>
              <a:endParaRPr/>
            </a:p>
          </p:txBody>
        </p:sp>
        <p:cxnSp>
          <p:nvCxnSpPr>
            <p:cNvPr id="305" name="Google Shape;305;p9"/>
            <p:cNvCxnSpPr/>
            <p:nvPr/>
          </p:nvCxnSpPr>
          <p:spPr>
            <a:xfrm flipH="1" rot="10800000">
              <a:off x="6722" y="4535"/>
              <a:ext cx="2380" cy="1247"/>
            </a:xfrm>
            <a:prstGeom prst="straightConnector1">
              <a:avLst/>
            </a:prstGeom>
            <a:noFill/>
            <a:ln cap="flat" cmpd="sng" w="38100">
              <a:solidFill>
                <a:srgbClr val="0C0C0C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06" name="Google Shape;306;p9"/>
            <p:cNvSpPr txBox="1"/>
            <p:nvPr/>
          </p:nvSpPr>
          <p:spPr>
            <a:xfrm rot="-1800000">
              <a:off x="6629" y="5255"/>
              <a:ext cx="3124" cy="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zh-CN" sz="1400">
                  <a:solidFill>
                    <a:srgbClr val="A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中长期发展规划牵引年度计划</a:t>
              </a:r>
              <a:endParaRPr/>
            </a:p>
          </p:txBody>
        </p:sp>
        <p:sp>
          <p:nvSpPr>
            <p:cNvPr id="307" name="Google Shape;307;p9"/>
            <p:cNvSpPr txBox="1"/>
            <p:nvPr/>
          </p:nvSpPr>
          <p:spPr>
            <a:xfrm>
              <a:off x="4659" y="1929"/>
              <a:ext cx="1916" cy="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zh-CN" sz="1200">
                  <a:solidFill>
                    <a:srgbClr val="A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战略里程碑和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zh-CN" sz="1200">
                  <a:solidFill>
                    <a:srgbClr val="A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METRICS 指标</a:t>
              </a:r>
              <a:endParaRPr/>
            </a:p>
          </p:txBody>
        </p:sp>
        <p:cxnSp>
          <p:nvCxnSpPr>
            <p:cNvPr id="308" name="Google Shape;308;p9"/>
            <p:cNvCxnSpPr/>
            <p:nvPr/>
          </p:nvCxnSpPr>
          <p:spPr>
            <a:xfrm>
              <a:off x="6154" y="2721"/>
              <a:ext cx="907" cy="795"/>
            </a:xfrm>
            <a:prstGeom prst="straightConnector1">
              <a:avLst/>
            </a:prstGeom>
            <a:solidFill>
              <a:schemeClr val="accent1"/>
            </a:solidFill>
            <a:ln cap="flat" cmpd="sng" w="19050">
              <a:solidFill>
                <a:srgbClr val="0C0C0C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309" name="Google Shape;309;p9"/>
            <p:cNvSpPr/>
            <p:nvPr/>
          </p:nvSpPr>
          <p:spPr>
            <a:xfrm>
              <a:off x="3518" y="7314"/>
              <a:ext cx="3543" cy="1260"/>
            </a:xfrm>
            <a:prstGeom prst="ellipse">
              <a:avLst/>
            </a:prstGeom>
            <a:solidFill>
              <a:srgbClr val="594531">
                <a:alpha val="69803"/>
              </a:srgbClr>
            </a:solidFill>
            <a:ln>
              <a:noFill/>
            </a:ln>
          </p:spPr>
          <p:txBody>
            <a:bodyPr anchorCtr="0" anchor="ctr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未来产业研究</a:t>
              </a:r>
              <a:endParaRPr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87000"/>
                </a:lnSpc>
                <a:spcBef>
                  <a:spcPts val="624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(5-10年)</a:t>
              </a:r>
              <a:endParaRPr/>
            </a:p>
          </p:txBody>
        </p:sp>
      </p:grpSp>
      <p:sp>
        <p:nvSpPr>
          <p:cNvPr id="310" name="Google Shape;310;p9"/>
          <p:cNvSpPr txBox="1"/>
          <p:nvPr/>
        </p:nvSpPr>
        <p:spPr>
          <a:xfrm>
            <a:off x="1409700" y="6296537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想不清楚</a:t>
            </a:r>
            <a:r>
              <a:rPr b="1" lang="zh-CN" sz="20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10-30年</a:t>
            </a: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后的产业和目标，就无法判断自己是否走在正确的道路上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/>
          <p:nvPr/>
        </p:nvSpPr>
        <p:spPr>
          <a:xfrm>
            <a:off x="607604" y="488666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战略：包括市场洞察、战略意图、创新焦点、业务设计</a:t>
            </a:r>
            <a:endParaRPr/>
          </a:p>
        </p:txBody>
      </p:sp>
      <p:grpSp>
        <p:nvGrpSpPr>
          <p:cNvPr id="316" name="Google Shape;316;p15"/>
          <p:cNvGrpSpPr/>
          <p:nvPr/>
        </p:nvGrpSpPr>
        <p:grpSpPr>
          <a:xfrm>
            <a:off x="2686685" y="1242695"/>
            <a:ext cx="6834505" cy="2248535"/>
            <a:chOff x="2678752" y="1711672"/>
            <a:chExt cx="6834495" cy="2248517"/>
          </a:xfrm>
        </p:grpSpPr>
        <p:pic>
          <p:nvPicPr>
            <p:cNvPr id="317" name="Google Shape;31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78752" y="1711672"/>
              <a:ext cx="6834495" cy="22485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15"/>
            <p:cNvSpPr/>
            <p:nvPr/>
          </p:nvSpPr>
          <p:spPr>
            <a:xfrm>
              <a:off x="3575720" y="1900354"/>
              <a:ext cx="1944216" cy="1944216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319" name="Google Shape;319;p15"/>
          <p:cNvGrpSpPr/>
          <p:nvPr/>
        </p:nvGrpSpPr>
        <p:grpSpPr>
          <a:xfrm>
            <a:off x="1034415" y="3699400"/>
            <a:ext cx="9879965" cy="2753358"/>
            <a:chOff x="-2032" y="5614"/>
            <a:chExt cx="17895" cy="4660"/>
          </a:xfrm>
        </p:grpSpPr>
        <p:grpSp>
          <p:nvGrpSpPr>
            <p:cNvPr id="320" name="Google Shape;320;p15"/>
            <p:cNvGrpSpPr/>
            <p:nvPr/>
          </p:nvGrpSpPr>
          <p:grpSpPr>
            <a:xfrm>
              <a:off x="-1623" y="5614"/>
              <a:ext cx="17486" cy="1136"/>
              <a:chOff x="508230" y="2246050"/>
              <a:chExt cx="11103702" cy="721536"/>
            </a:xfrm>
          </p:grpSpPr>
          <p:grpSp>
            <p:nvGrpSpPr>
              <p:cNvPr id="321" name="Google Shape;321;p15"/>
              <p:cNvGrpSpPr/>
              <p:nvPr/>
            </p:nvGrpSpPr>
            <p:grpSpPr>
              <a:xfrm>
                <a:off x="508230" y="2246050"/>
                <a:ext cx="11103702" cy="721536"/>
                <a:chOff x="508230" y="2246050"/>
                <a:chExt cx="11103702" cy="721536"/>
              </a:xfrm>
            </p:grpSpPr>
            <p:grpSp>
              <p:nvGrpSpPr>
                <p:cNvPr id="322" name="Google Shape;322;p15"/>
                <p:cNvGrpSpPr/>
                <p:nvPr/>
              </p:nvGrpSpPr>
              <p:grpSpPr>
                <a:xfrm>
                  <a:off x="508230" y="2246050"/>
                  <a:ext cx="2082408" cy="664175"/>
                  <a:chOff x="331179" y="2287092"/>
                  <a:chExt cx="2082408" cy="664175"/>
                </a:xfrm>
              </p:grpSpPr>
              <p:sp>
                <p:nvSpPr>
                  <p:cNvPr id="323" name="Google Shape;323;p15"/>
                  <p:cNvSpPr txBox="1"/>
                  <p:nvPr/>
                </p:nvSpPr>
                <p:spPr>
                  <a:xfrm>
                    <a:off x="331179" y="2287092"/>
                    <a:ext cx="441146" cy="5611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just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zh-CN" sz="2800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324" name="Google Shape;324;p15"/>
                  <p:cNvSpPr/>
                  <p:nvPr/>
                </p:nvSpPr>
                <p:spPr>
                  <a:xfrm>
                    <a:off x="878205" y="2343736"/>
                    <a:ext cx="1535382" cy="6075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CN" sz="1400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市场洞察</a:t>
                    </a:r>
                    <a:endParaRPr b="1" sz="1400">
                      <a:solidFill>
                        <a:srgbClr val="C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  <a:p>
                    <a:pPr indent="0" lvl="0" marL="0" marR="0" rtl="0" algn="l">
                      <a:spcBef>
                        <a:spcPts val="28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CN" sz="1400">
                        <a:solidFill>
                          <a:srgbClr val="0000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500页</a:t>
                    </a:r>
                    <a:endParaRPr/>
                  </a:p>
                </p:txBody>
              </p:sp>
            </p:grpSp>
            <p:cxnSp>
              <p:nvCxnSpPr>
                <p:cNvPr id="325" name="Google Shape;325;p15"/>
                <p:cNvCxnSpPr/>
                <p:nvPr/>
              </p:nvCxnSpPr>
              <p:spPr>
                <a:xfrm>
                  <a:off x="546579" y="2967586"/>
                  <a:ext cx="11065353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26" name="Google Shape;326;p15"/>
              <p:cNvSpPr/>
              <p:nvPr/>
            </p:nvSpPr>
            <p:spPr>
              <a:xfrm>
                <a:off x="2697300" y="2304518"/>
                <a:ext cx="8914632" cy="4628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1" marL="127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1400" u="none" cap="none" strike="noStrike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了解客户需求、竞争者的动向、技术的发展和市场经济状况以找到机遇和风险。目标是解释市场上正在发生什么，重点关注价值转移趋势，以及这些改变对公司来说意味着什么</a:t>
                </a:r>
                <a:endParaRPr/>
              </a:p>
            </p:txBody>
          </p:sp>
        </p:grpSp>
        <p:grpSp>
          <p:nvGrpSpPr>
            <p:cNvPr id="327" name="Google Shape;327;p15"/>
            <p:cNvGrpSpPr/>
            <p:nvPr/>
          </p:nvGrpSpPr>
          <p:grpSpPr>
            <a:xfrm>
              <a:off x="-2032" y="6779"/>
              <a:ext cx="17895" cy="1167"/>
              <a:chOff x="248617" y="2246050"/>
              <a:chExt cx="11363315" cy="741323"/>
            </a:xfrm>
          </p:grpSpPr>
          <p:grpSp>
            <p:nvGrpSpPr>
              <p:cNvPr id="328" name="Google Shape;328;p15"/>
              <p:cNvGrpSpPr/>
              <p:nvPr/>
            </p:nvGrpSpPr>
            <p:grpSpPr>
              <a:xfrm>
                <a:off x="248617" y="2246050"/>
                <a:ext cx="11065353" cy="741323"/>
                <a:chOff x="248617" y="2246050"/>
                <a:chExt cx="11065353" cy="741323"/>
              </a:xfrm>
            </p:grpSpPr>
            <p:grpSp>
              <p:nvGrpSpPr>
                <p:cNvPr id="329" name="Google Shape;329;p15"/>
                <p:cNvGrpSpPr/>
                <p:nvPr/>
              </p:nvGrpSpPr>
              <p:grpSpPr>
                <a:xfrm>
                  <a:off x="508230" y="2246050"/>
                  <a:ext cx="1896048" cy="741323"/>
                  <a:chOff x="331179" y="2287092"/>
                  <a:chExt cx="1896048" cy="741323"/>
                </a:xfrm>
              </p:grpSpPr>
              <p:sp>
                <p:nvSpPr>
                  <p:cNvPr id="330" name="Google Shape;330;p15"/>
                  <p:cNvSpPr txBox="1"/>
                  <p:nvPr/>
                </p:nvSpPr>
                <p:spPr>
                  <a:xfrm>
                    <a:off x="331179" y="2287092"/>
                    <a:ext cx="441146" cy="5611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just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zh-CN" sz="2800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2</a:t>
                    </a:r>
                    <a:endParaRPr/>
                  </a:p>
                </p:txBody>
              </p:sp>
              <p:sp>
                <p:nvSpPr>
                  <p:cNvPr id="331" name="Google Shape;331;p15"/>
                  <p:cNvSpPr/>
                  <p:nvPr/>
                </p:nvSpPr>
                <p:spPr>
                  <a:xfrm>
                    <a:off x="878205" y="2420854"/>
                    <a:ext cx="1349022" cy="60756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CN" sz="1400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战略意图</a:t>
                    </a:r>
                    <a:endParaRPr b="1" sz="1400">
                      <a:solidFill>
                        <a:srgbClr val="C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  <a:p>
                    <a:pPr indent="0" lvl="0" marL="0" marR="0" rtl="0" algn="l">
                      <a:spcBef>
                        <a:spcPts val="28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CN" sz="1400">
                        <a:solidFill>
                          <a:srgbClr val="0000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5条</a:t>
                    </a:r>
                    <a:endParaRPr/>
                  </a:p>
                </p:txBody>
              </p:sp>
            </p:grpSp>
            <p:cxnSp>
              <p:nvCxnSpPr>
                <p:cNvPr id="332" name="Google Shape;332;p15"/>
                <p:cNvCxnSpPr/>
                <p:nvPr/>
              </p:nvCxnSpPr>
              <p:spPr>
                <a:xfrm>
                  <a:off x="248617" y="2986032"/>
                  <a:ext cx="11065353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33" name="Google Shape;333;p15"/>
              <p:cNvSpPr/>
              <p:nvPr/>
            </p:nvSpPr>
            <p:spPr>
              <a:xfrm>
                <a:off x="2697300" y="2420223"/>
                <a:ext cx="8914632" cy="231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1" marL="127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1400" u="none" cap="none" strike="noStrike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组织机构的方向和最终目标，与公司的战略重点相一致</a:t>
                </a:r>
                <a:endParaRPr/>
              </a:p>
            </p:txBody>
          </p:sp>
        </p:grpSp>
        <p:grpSp>
          <p:nvGrpSpPr>
            <p:cNvPr id="334" name="Google Shape;334;p15"/>
            <p:cNvGrpSpPr/>
            <p:nvPr/>
          </p:nvGrpSpPr>
          <p:grpSpPr>
            <a:xfrm>
              <a:off x="-1623" y="7943"/>
              <a:ext cx="17486" cy="1288"/>
              <a:chOff x="508230" y="2246050"/>
              <a:chExt cx="11103702" cy="818644"/>
            </a:xfrm>
          </p:grpSpPr>
          <p:grpSp>
            <p:nvGrpSpPr>
              <p:cNvPr id="335" name="Google Shape;335;p15"/>
              <p:cNvGrpSpPr/>
              <p:nvPr/>
            </p:nvGrpSpPr>
            <p:grpSpPr>
              <a:xfrm>
                <a:off x="508230" y="2246050"/>
                <a:ext cx="11103702" cy="818644"/>
                <a:chOff x="508230" y="2246050"/>
                <a:chExt cx="11103702" cy="818644"/>
              </a:xfrm>
            </p:grpSpPr>
            <p:grpSp>
              <p:nvGrpSpPr>
                <p:cNvPr id="336" name="Google Shape;336;p15"/>
                <p:cNvGrpSpPr/>
                <p:nvPr/>
              </p:nvGrpSpPr>
              <p:grpSpPr>
                <a:xfrm>
                  <a:off x="508230" y="2246050"/>
                  <a:ext cx="2082408" cy="818644"/>
                  <a:chOff x="331179" y="2287092"/>
                  <a:chExt cx="2082408" cy="818644"/>
                </a:xfrm>
              </p:grpSpPr>
              <p:sp>
                <p:nvSpPr>
                  <p:cNvPr id="337" name="Google Shape;337;p15"/>
                  <p:cNvSpPr txBox="1"/>
                  <p:nvPr/>
                </p:nvSpPr>
                <p:spPr>
                  <a:xfrm>
                    <a:off x="331179" y="2287092"/>
                    <a:ext cx="441146" cy="5613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just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zh-CN" sz="2800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3</a:t>
                    </a:r>
                    <a:endParaRPr/>
                  </a:p>
                </p:txBody>
              </p:sp>
              <p:sp>
                <p:nvSpPr>
                  <p:cNvPr id="338" name="Google Shape;338;p15"/>
                  <p:cNvSpPr/>
                  <p:nvPr/>
                </p:nvSpPr>
                <p:spPr>
                  <a:xfrm>
                    <a:off x="878205" y="2497972"/>
                    <a:ext cx="1535382" cy="6077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CN" sz="1400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创新焦点</a:t>
                    </a:r>
                    <a:endParaRPr b="1" sz="1400">
                      <a:solidFill>
                        <a:srgbClr val="C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endParaRPr>
                  </a:p>
                  <a:p>
                    <a:pPr indent="0" lvl="0" marL="0" marR="0" rtl="0" algn="l">
                      <a:spcBef>
                        <a:spcPts val="28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CN" sz="1400">
                        <a:solidFill>
                          <a:srgbClr val="0000FF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rPr>
                      <a:t>5条</a:t>
                    </a:r>
                    <a:endParaRPr/>
                  </a:p>
                </p:txBody>
              </p:sp>
            </p:grpSp>
            <p:cxnSp>
              <p:nvCxnSpPr>
                <p:cNvPr id="339" name="Google Shape;339;p15"/>
                <p:cNvCxnSpPr/>
                <p:nvPr/>
              </p:nvCxnSpPr>
              <p:spPr>
                <a:xfrm>
                  <a:off x="546579" y="2967586"/>
                  <a:ext cx="11065353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40" name="Google Shape;340;p15"/>
              <p:cNvSpPr/>
              <p:nvPr/>
            </p:nvSpPr>
            <p:spPr>
              <a:xfrm>
                <a:off x="2697300" y="2304431"/>
                <a:ext cx="8914632" cy="463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1" marL="127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1400" u="none" cap="none" strike="noStrike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进行与市场同步的探索与试验。从广泛的资源中过滤想法，通过试点和深入市场的实验探索新想法，谨慎地进行投资和处理资源，以应对行业的变化</a:t>
                </a:r>
                <a:endParaRPr/>
              </a:p>
            </p:txBody>
          </p:sp>
        </p:grpSp>
        <p:grpSp>
          <p:nvGrpSpPr>
            <p:cNvPr id="341" name="Google Shape;341;p15"/>
            <p:cNvGrpSpPr/>
            <p:nvPr/>
          </p:nvGrpSpPr>
          <p:grpSpPr>
            <a:xfrm>
              <a:off x="-1623" y="9109"/>
              <a:ext cx="17486" cy="1165"/>
              <a:chOff x="508230" y="2246082"/>
              <a:chExt cx="11103702" cy="739813"/>
            </a:xfrm>
          </p:grpSpPr>
          <p:grpSp>
            <p:nvGrpSpPr>
              <p:cNvPr id="342" name="Google Shape;342;p15"/>
              <p:cNvGrpSpPr/>
              <p:nvPr/>
            </p:nvGrpSpPr>
            <p:grpSpPr>
              <a:xfrm>
                <a:off x="508230" y="2246082"/>
                <a:ext cx="1896048" cy="739813"/>
                <a:chOff x="331179" y="2287124"/>
                <a:chExt cx="1896048" cy="739813"/>
              </a:xfrm>
            </p:grpSpPr>
            <p:sp>
              <p:nvSpPr>
                <p:cNvPr id="343" name="Google Shape;343;p15"/>
                <p:cNvSpPr txBox="1"/>
                <p:nvPr/>
              </p:nvSpPr>
              <p:spPr>
                <a:xfrm>
                  <a:off x="331179" y="2287124"/>
                  <a:ext cx="441146" cy="5609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just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28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4</a:t>
                  </a:r>
                  <a:endParaRPr/>
                </a:p>
              </p:txBody>
            </p:sp>
            <p:sp>
              <p:nvSpPr>
                <p:cNvPr id="344" name="Google Shape;344;p15"/>
                <p:cNvSpPr/>
                <p:nvPr/>
              </p:nvSpPr>
              <p:spPr>
                <a:xfrm>
                  <a:off x="878205" y="2419549"/>
                  <a:ext cx="1349022" cy="607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CN" sz="1400">
                      <a:solidFill>
                        <a:srgbClr val="C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业务设计</a:t>
                  </a:r>
                  <a:endParaRPr b="1" sz="1400">
                    <a:solidFill>
                      <a:srgbClr val="C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  <a:p>
                  <a:pPr indent="0" lvl="0" marL="0" marR="0" rtl="0" algn="l">
                    <a:spcBef>
                      <a:spcPts val="280"/>
                    </a:spcBef>
                    <a:spcAft>
                      <a:spcPts val="0"/>
                    </a:spcAft>
                    <a:buNone/>
                  </a:pPr>
                  <a:r>
                    <a:rPr b="1" lang="zh-CN" sz="1400">
                      <a:solidFill>
                        <a:srgbClr val="0000FF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1-10级</a:t>
                  </a:r>
                  <a:endParaRPr/>
                </a:p>
              </p:txBody>
            </p:sp>
          </p:grpSp>
          <p:sp>
            <p:nvSpPr>
              <p:cNvPr id="345" name="Google Shape;345;p15"/>
              <p:cNvSpPr/>
              <p:nvPr/>
            </p:nvSpPr>
            <p:spPr>
              <a:xfrm>
                <a:off x="2697300" y="2458830"/>
                <a:ext cx="8914632" cy="462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1" marL="127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1400" u="none" cap="none" strike="noStrike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对外部的深入理解，为利用内部能力和持续增加价值探索的业务设计提供了基础。业务设计涉及六要素：</a:t>
                </a:r>
                <a:r>
                  <a:rPr b="1" i="0" lang="zh-CN" sz="1400" u="none" cap="none" strike="noStrike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客户选择、价值主张、价值获取、活动范围，战略控制点和风险管理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6"/>
          <p:cNvSpPr txBox="1"/>
          <p:nvPr/>
        </p:nvSpPr>
        <p:spPr>
          <a:xfrm>
            <a:off x="639097" y="485090"/>
            <a:ext cx="8633942" cy="26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战略五看：多年积累+随时刷新，一年一版的500页厚书</a:t>
            </a:r>
            <a:endParaRPr/>
          </a:p>
        </p:txBody>
      </p:sp>
      <p:grpSp>
        <p:nvGrpSpPr>
          <p:cNvPr id="352" name="Google Shape;352;p16"/>
          <p:cNvGrpSpPr/>
          <p:nvPr/>
        </p:nvGrpSpPr>
        <p:grpSpPr>
          <a:xfrm>
            <a:off x="2193444" y="1249198"/>
            <a:ext cx="7993226" cy="4332222"/>
            <a:chOff x="840" y="2642"/>
            <a:chExt cx="15028" cy="6623"/>
          </a:xfrm>
        </p:grpSpPr>
        <p:sp>
          <p:nvSpPr>
            <p:cNvPr id="353" name="Google Shape;353;p16"/>
            <p:cNvSpPr/>
            <p:nvPr/>
          </p:nvSpPr>
          <p:spPr>
            <a:xfrm>
              <a:off x="2382" y="2642"/>
              <a:ext cx="1785" cy="1307"/>
            </a:xfrm>
            <a:prstGeom prst="roundRect">
              <a:avLst>
                <a:gd fmla="val 16667" name="adj"/>
              </a:avLst>
            </a:prstGeom>
            <a:solidFill>
              <a:srgbClr val="D4E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2339" y="4532"/>
              <a:ext cx="1785" cy="1307"/>
            </a:xfrm>
            <a:prstGeom prst="roundRect">
              <a:avLst>
                <a:gd fmla="val 16667" name="adj"/>
              </a:avLst>
            </a:prstGeom>
            <a:solidFill>
              <a:srgbClr val="D4E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2339" y="6500"/>
              <a:ext cx="1785" cy="1307"/>
            </a:xfrm>
            <a:prstGeom prst="roundRect">
              <a:avLst>
                <a:gd fmla="val 16667" name="adj"/>
              </a:avLst>
            </a:prstGeom>
            <a:solidFill>
              <a:srgbClr val="D4E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2339" y="8334"/>
              <a:ext cx="1785" cy="919"/>
            </a:xfrm>
            <a:prstGeom prst="roundRect">
              <a:avLst>
                <a:gd fmla="val 16667" name="adj"/>
              </a:avLst>
            </a:prstGeom>
            <a:solidFill>
              <a:srgbClr val="D4E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7" name="Google Shape;357;p16"/>
            <p:cNvSpPr txBox="1"/>
            <p:nvPr/>
          </p:nvSpPr>
          <p:spPr>
            <a:xfrm>
              <a:off x="10140" y="3944"/>
              <a:ext cx="1595" cy="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635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5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外部机会和威胁</a:t>
              </a:r>
              <a:endParaRPr sz="15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8" name="Google Shape;358;p16"/>
            <p:cNvSpPr txBox="1"/>
            <p:nvPr/>
          </p:nvSpPr>
          <p:spPr>
            <a:xfrm>
              <a:off x="9964" y="7624"/>
              <a:ext cx="1668" cy="7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635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5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内部优势和劣势</a:t>
              </a:r>
              <a:endParaRPr/>
            </a:p>
          </p:txBody>
        </p:sp>
        <p:sp>
          <p:nvSpPr>
            <p:cNvPr id="359" name="Google Shape;359;p16"/>
            <p:cNvSpPr txBox="1"/>
            <p:nvPr/>
          </p:nvSpPr>
          <p:spPr>
            <a:xfrm>
              <a:off x="12836" y="6646"/>
              <a:ext cx="3032" cy="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1270" marR="635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1400" u="none" cap="none" strike="noStrike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通过SPAN图明确战略机会点</a:t>
              </a:r>
              <a:endParaRPr b="1" i="0" sz="1400" u="none" cap="none" strike="noStrike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60" name="Google Shape;360;p16"/>
            <p:cNvSpPr txBox="1"/>
            <p:nvPr/>
          </p:nvSpPr>
          <p:spPr>
            <a:xfrm>
              <a:off x="2733" y="2924"/>
              <a:ext cx="998" cy="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</a:t>
              </a:r>
              <a:r>
                <a:rPr b="1" lang="zh-CN" sz="14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行业/趋势</a:t>
              </a:r>
              <a:endParaRPr/>
            </a:p>
          </p:txBody>
        </p:sp>
        <p:sp>
          <p:nvSpPr>
            <p:cNvPr id="361" name="Google Shape;361;p16"/>
            <p:cNvSpPr txBox="1"/>
            <p:nvPr/>
          </p:nvSpPr>
          <p:spPr>
            <a:xfrm>
              <a:off x="4305" y="2705"/>
              <a:ext cx="5160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1" i="0" lang="zh-CN" sz="1400" u="none" cap="none" strike="noStrike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价值转移趋势分析</a:t>
              </a:r>
              <a:endParaRPr/>
            </a:p>
          </p:txBody>
        </p:sp>
        <p:sp>
          <p:nvSpPr>
            <p:cNvPr id="362" name="Google Shape;362;p16"/>
            <p:cNvSpPr txBox="1"/>
            <p:nvPr/>
          </p:nvSpPr>
          <p:spPr>
            <a:xfrm>
              <a:off x="2733" y="6894"/>
              <a:ext cx="998" cy="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</a:t>
              </a:r>
              <a:r>
                <a:rPr b="1" lang="zh-CN" sz="14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竞争</a:t>
              </a:r>
              <a:endParaRPr/>
            </a:p>
          </p:txBody>
        </p:sp>
        <p:sp>
          <p:nvSpPr>
            <p:cNvPr id="363" name="Google Shape;363;p16"/>
            <p:cNvSpPr txBox="1"/>
            <p:nvPr/>
          </p:nvSpPr>
          <p:spPr>
            <a:xfrm>
              <a:off x="4305" y="6769"/>
              <a:ext cx="4516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1" i="0" lang="zh-CN" sz="1400" u="none" cap="none" strike="noStrike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主要竞争对手SP分析</a:t>
              </a:r>
              <a:endParaRPr/>
            </a:p>
          </p:txBody>
        </p:sp>
        <p:sp>
          <p:nvSpPr>
            <p:cNvPr id="364" name="Google Shape;364;p16"/>
            <p:cNvSpPr txBox="1"/>
            <p:nvPr/>
          </p:nvSpPr>
          <p:spPr>
            <a:xfrm>
              <a:off x="4305" y="4570"/>
              <a:ext cx="4516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1" i="0" lang="zh-CN" sz="1400" u="none" cap="none" strike="noStrike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市场细分及需求；客户SP</a:t>
              </a:r>
              <a:endParaRPr b="1" i="0" sz="1400" u="none" cap="none" strike="noStrike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65" name="Google Shape;365;p16"/>
            <p:cNvSpPr txBox="1"/>
            <p:nvPr/>
          </p:nvSpPr>
          <p:spPr>
            <a:xfrm>
              <a:off x="2733" y="8607"/>
              <a:ext cx="998" cy="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</a:t>
              </a:r>
              <a:r>
                <a:rPr b="1" lang="zh-CN" sz="14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自己</a:t>
              </a:r>
              <a:endParaRPr/>
            </a:p>
          </p:txBody>
        </p:sp>
        <p:sp>
          <p:nvSpPr>
            <p:cNvPr id="366" name="Google Shape;366;p16"/>
            <p:cNvSpPr txBox="1"/>
            <p:nvPr/>
          </p:nvSpPr>
          <p:spPr>
            <a:xfrm>
              <a:off x="4305" y="8226"/>
              <a:ext cx="4301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企业商业模式分析</a:t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67" name="Google Shape;367;p16"/>
            <p:cNvSpPr txBox="1"/>
            <p:nvPr/>
          </p:nvSpPr>
          <p:spPr>
            <a:xfrm>
              <a:off x="4305" y="8599"/>
              <a:ext cx="3557" cy="6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635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企业经营状况分析 </a:t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635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1" i="0" lang="zh-CN" sz="1400" u="none" cap="none" strike="noStrike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内部核心能力分析</a:t>
              </a:r>
              <a:endParaRPr b="1" i="0" sz="1400" u="none" cap="none" strike="noStrike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68" name="Google Shape;368;p16"/>
            <p:cNvSpPr txBox="1"/>
            <p:nvPr/>
          </p:nvSpPr>
          <p:spPr>
            <a:xfrm>
              <a:off x="2733" y="4846"/>
              <a:ext cx="998" cy="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</a:t>
              </a:r>
              <a:r>
                <a:rPr b="1" lang="zh-CN" sz="14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市场/客户</a:t>
              </a:r>
              <a:endParaRPr/>
            </a:p>
          </p:txBody>
        </p:sp>
        <p:sp>
          <p:nvSpPr>
            <p:cNvPr id="369" name="Google Shape;369;p16"/>
            <p:cNvSpPr txBox="1"/>
            <p:nvPr/>
          </p:nvSpPr>
          <p:spPr>
            <a:xfrm>
              <a:off x="4305" y="3178"/>
              <a:ext cx="5160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识别利润区和发现利润区</a:t>
              </a:r>
              <a:endParaRPr/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4305" y="3640"/>
              <a:ext cx="5160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行业技术趋势分析</a:t>
              </a:r>
              <a:endParaRPr/>
            </a:p>
          </p:txBody>
        </p:sp>
        <p:sp>
          <p:nvSpPr>
            <p:cNvPr id="371" name="Google Shape;371;p16"/>
            <p:cNvSpPr txBox="1"/>
            <p:nvPr/>
          </p:nvSpPr>
          <p:spPr>
            <a:xfrm>
              <a:off x="4305" y="5016"/>
              <a:ext cx="5375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客户购买行为分析（全价值链）</a:t>
              </a:r>
              <a:endParaRPr/>
            </a:p>
          </p:txBody>
        </p:sp>
        <p:sp>
          <p:nvSpPr>
            <p:cNvPr id="372" name="Google Shape;372;p16"/>
            <p:cNvSpPr txBox="1"/>
            <p:nvPr/>
          </p:nvSpPr>
          <p:spPr>
            <a:xfrm>
              <a:off x="4305" y="7243"/>
              <a:ext cx="5161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竞争对手主流产品竞争力分析</a:t>
              </a:r>
              <a:endParaRPr/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4305" y="5537"/>
              <a:ext cx="4516" cy="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5750" lvl="1" marL="287020" marR="0" rtl="0" algn="just"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客户系统经济学</a:t>
              </a: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840" y="2642"/>
              <a:ext cx="842" cy="6611"/>
            </a:xfrm>
            <a:prstGeom prst="roundRect">
              <a:avLst>
                <a:gd fmla="val 16667" name="adj"/>
              </a:avLst>
            </a:prstGeom>
            <a:solidFill>
              <a:srgbClr val="0092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75" name="Google Shape;375;p16"/>
            <p:cNvSpPr txBox="1"/>
            <p:nvPr/>
          </p:nvSpPr>
          <p:spPr>
            <a:xfrm>
              <a:off x="1036" y="4965"/>
              <a:ext cx="360" cy="15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635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市 场 洞 察</a:t>
              </a:r>
              <a:endParaRPr/>
            </a:p>
          </p:txBody>
        </p:sp>
        <p:cxnSp>
          <p:nvCxnSpPr>
            <p:cNvPr id="376" name="Google Shape;376;p16"/>
            <p:cNvCxnSpPr/>
            <p:nvPr/>
          </p:nvCxnSpPr>
          <p:spPr>
            <a:xfrm>
              <a:off x="1729" y="3258"/>
              <a:ext cx="534" cy="0"/>
            </a:xfrm>
            <a:prstGeom prst="straightConnector1">
              <a:avLst/>
            </a:prstGeom>
            <a:noFill/>
            <a:ln cap="flat" cmpd="sng" w="12700">
              <a:solidFill>
                <a:srgbClr val="00B0F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7" name="Google Shape;377;p16"/>
            <p:cNvCxnSpPr/>
            <p:nvPr/>
          </p:nvCxnSpPr>
          <p:spPr>
            <a:xfrm>
              <a:off x="1682" y="5186"/>
              <a:ext cx="534" cy="0"/>
            </a:xfrm>
            <a:prstGeom prst="straightConnector1">
              <a:avLst/>
            </a:prstGeom>
            <a:noFill/>
            <a:ln cap="flat" cmpd="sng" w="12700">
              <a:solidFill>
                <a:srgbClr val="00B0F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8" name="Google Shape;378;p16"/>
            <p:cNvCxnSpPr/>
            <p:nvPr/>
          </p:nvCxnSpPr>
          <p:spPr>
            <a:xfrm>
              <a:off x="1682" y="7153"/>
              <a:ext cx="534" cy="0"/>
            </a:xfrm>
            <a:prstGeom prst="straightConnector1">
              <a:avLst/>
            </a:prstGeom>
            <a:noFill/>
            <a:ln cap="flat" cmpd="sng" w="12700">
              <a:solidFill>
                <a:srgbClr val="00B0F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9" name="Google Shape;379;p16"/>
            <p:cNvCxnSpPr/>
            <p:nvPr/>
          </p:nvCxnSpPr>
          <p:spPr>
            <a:xfrm>
              <a:off x="1682" y="8800"/>
              <a:ext cx="534" cy="0"/>
            </a:xfrm>
            <a:prstGeom prst="straightConnector1">
              <a:avLst/>
            </a:prstGeom>
            <a:noFill/>
            <a:ln cap="flat" cmpd="sng" w="12700">
              <a:solidFill>
                <a:srgbClr val="00B0F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80" name="Google Shape;380;p16"/>
            <p:cNvSpPr/>
            <p:nvPr/>
          </p:nvSpPr>
          <p:spPr>
            <a:xfrm>
              <a:off x="9315" y="2924"/>
              <a:ext cx="656" cy="261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9180" y="6641"/>
              <a:ext cx="656" cy="261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11768" y="4281"/>
              <a:ext cx="656" cy="3635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12623" y="5223"/>
              <a:ext cx="3175" cy="1307"/>
            </a:xfrm>
            <a:prstGeom prst="roundRect">
              <a:avLst>
                <a:gd fmla="val 16667" name="adj"/>
              </a:avLst>
            </a:prstGeom>
            <a:solidFill>
              <a:srgbClr val="D4EAF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看</a:t>
              </a:r>
              <a:r>
                <a:rPr lang="zh-CN" sz="18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机会</a:t>
              </a:r>
              <a:endParaRPr/>
            </a:p>
          </p:txBody>
        </p:sp>
      </p:grpSp>
      <p:sp>
        <p:nvSpPr>
          <p:cNvPr id="384" name="Google Shape;384;p16"/>
          <p:cNvSpPr txBox="1"/>
          <p:nvPr/>
        </p:nvSpPr>
        <p:spPr>
          <a:xfrm>
            <a:off x="1567815" y="6294169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doc→ppt：汇报关键点和变化点，其中</a:t>
            </a:r>
            <a:r>
              <a:rPr b="1" lang="zh-CN" sz="20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一定留有较多空白区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 txBox="1"/>
          <p:nvPr/>
        </p:nvSpPr>
        <p:spPr>
          <a:xfrm>
            <a:off x="805239" y="459912"/>
            <a:ext cx="85812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市场洞察：大数据+专家，AI推荐，专家校正，主管决策</a:t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2437765" y="1518920"/>
            <a:ext cx="3810000" cy="4174500"/>
          </a:xfrm>
          <a:prstGeom prst="rect">
            <a:avLst/>
          </a:prstGeom>
          <a:solidFill>
            <a:srgbClr val="D4EAF5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2437765" y="2762250"/>
            <a:ext cx="2658000" cy="293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3166745" y="3916680"/>
            <a:ext cx="229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2615565" y="3028315"/>
            <a:ext cx="8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信息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2615565" y="1784985"/>
            <a:ext cx="8700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洞察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 rot="5400000">
            <a:off x="1363365" y="1789960"/>
            <a:ext cx="14064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决策的灵活性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3858895" y="5692775"/>
            <a:ext cx="1088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商业价值</a:t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 rot="-2968121">
            <a:off x="3557366" y="3200371"/>
            <a:ext cx="1865007" cy="53153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9" name="Google Shape;399;p17"/>
          <p:cNvSpPr/>
          <p:nvPr/>
        </p:nvSpPr>
        <p:spPr>
          <a:xfrm rot="-2968404">
            <a:off x="4855878" y="1899827"/>
            <a:ext cx="1547551" cy="53153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2437765" y="4183380"/>
            <a:ext cx="1418100" cy="1509900"/>
          </a:xfrm>
          <a:prstGeom prst="rect">
            <a:avLst/>
          </a:prstGeom>
          <a:solidFill>
            <a:srgbClr val="D4EAF5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2687955" y="4168140"/>
            <a:ext cx="661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</a:t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 rot="-2968217">
            <a:off x="2343868" y="4622771"/>
            <a:ext cx="1692872" cy="53153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 rot="-2847563">
            <a:off x="2804162" y="4642442"/>
            <a:ext cx="875002" cy="366476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被动的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 rot="-2847563">
            <a:off x="4048127" y="3310212"/>
            <a:ext cx="875002" cy="366476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主动的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 rot="-2847108">
            <a:off x="5094645" y="1994521"/>
            <a:ext cx="1090933" cy="366476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预见性的</a:t>
            </a:r>
            <a:endParaRPr/>
          </a:p>
        </p:txBody>
      </p:sp>
      <p:grpSp>
        <p:nvGrpSpPr>
          <p:cNvPr id="406" name="Google Shape;406;p17"/>
          <p:cNvGrpSpPr/>
          <p:nvPr/>
        </p:nvGrpSpPr>
        <p:grpSpPr>
          <a:xfrm>
            <a:off x="2436445" y="1164528"/>
            <a:ext cx="4519803" cy="4530963"/>
            <a:chOff x="1046657" y="1574457"/>
            <a:chExt cx="4858959" cy="4858942"/>
          </a:xfrm>
        </p:grpSpPr>
        <p:cxnSp>
          <p:nvCxnSpPr>
            <p:cNvPr id="407" name="Google Shape;407;p17"/>
            <p:cNvCxnSpPr/>
            <p:nvPr/>
          </p:nvCxnSpPr>
          <p:spPr>
            <a:xfrm rot="-5400000">
              <a:off x="-1381243" y="4002357"/>
              <a:ext cx="4857900" cy="21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408" name="Google Shape;408;p17"/>
            <p:cNvCxnSpPr/>
            <p:nvPr/>
          </p:nvCxnSpPr>
          <p:spPr>
            <a:xfrm>
              <a:off x="1047715" y="6431298"/>
              <a:ext cx="4857900" cy="210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09" name="Google Shape;409;p17"/>
          <p:cNvGrpSpPr/>
          <p:nvPr/>
        </p:nvGrpSpPr>
        <p:grpSpPr>
          <a:xfrm>
            <a:off x="6834988" y="1383758"/>
            <a:ext cx="2826850" cy="1412821"/>
            <a:chOff x="7887408" y="1871617"/>
            <a:chExt cx="3038970" cy="1514765"/>
          </a:xfrm>
        </p:grpSpPr>
        <p:grpSp>
          <p:nvGrpSpPr>
            <p:cNvPr id="410" name="Google Shape;410;p17"/>
            <p:cNvGrpSpPr/>
            <p:nvPr/>
          </p:nvGrpSpPr>
          <p:grpSpPr>
            <a:xfrm>
              <a:off x="7887408" y="1871617"/>
              <a:ext cx="665740" cy="789480"/>
              <a:chOff x="7680176" y="1774557"/>
              <a:chExt cx="665740" cy="789480"/>
            </a:xfrm>
          </p:grpSpPr>
          <p:sp>
            <p:nvSpPr>
              <p:cNvPr id="411" name="Google Shape;411;p17"/>
              <p:cNvSpPr txBox="1"/>
              <p:nvPr/>
            </p:nvSpPr>
            <p:spPr>
              <a:xfrm>
                <a:off x="7680176" y="1774557"/>
                <a:ext cx="441000" cy="6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20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1</a:t>
                </a:r>
                <a:endParaRPr/>
              </a:p>
            </p:txBody>
          </p:sp>
          <p:cxnSp>
            <p:nvCxnSpPr>
              <p:cNvPr id="412" name="Google Shape;412;p17"/>
              <p:cNvCxnSpPr/>
              <p:nvPr/>
            </p:nvCxnSpPr>
            <p:spPr>
              <a:xfrm flipH="1">
                <a:off x="7937316" y="2050137"/>
                <a:ext cx="408600" cy="513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13" name="Google Shape;413;p17"/>
            <p:cNvSpPr/>
            <p:nvPr/>
          </p:nvSpPr>
          <p:spPr>
            <a:xfrm>
              <a:off x="8585778" y="2194782"/>
              <a:ext cx="2340600" cy="11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洞察：</a:t>
              </a:r>
              <a:endParaRPr/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关键发现</a:t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推荐建议</a:t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下一步措施</a:t>
              </a:r>
              <a:endParaRPr/>
            </a:p>
          </p:txBody>
        </p:sp>
      </p:grpSp>
      <p:grpSp>
        <p:nvGrpSpPr>
          <p:cNvPr id="414" name="Google Shape;414;p17"/>
          <p:cNvGrpSpPr/>
          <p:nvPr/>
        </p:nvGrpSpPr>
        <p:grpSpPr>
          <a:xfrm>
            <a:off x="6758542" y="2944579"/>
            <a:ext cx="4642692" cy="1412623"/>
            <a:chOff x="7887408" y="1871617"/>
            <a:chExt cx="4991069" cy="1515365"/>
          </a:xfrm>
        </p:grpSpPr>
        <p:grpSp>
          <p:nvGrpSpPr>
            <p:cNvPr id="415" name="Google Shape;415;p17"/>
            <p:cNvGrpSpPr/>
            <p:nvPr/>
          </p:nvGrpSpPr>
          <p:grpSpPr>
            <a:xfrm>
              <a:off x="7887408" y="1871617"/>
              <a:ext cx="665740" cy="789480"/>
              <a:chOff x="7680176" y="1774557"/>
              <a:chExt cx="665740" cy="789480"/>
            </a:xfrm>
          </p:grpSpPr>
          <p:sp>
            <p:nvSpPr>
              <p:cNvPr id="416" name="Google Shape;416;p17"/>
              <p:cNvSpPr txBox="1"/>
              <p:nvPr/>
            </p:nvSpPr>
            <p:spPr>
              <a:xfrm>
                <a:off x="7680176" y="1774557"/>
                <a:ext cx="441000" cy="62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20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2</a:t>
                </a:r>
                <a:endParaRPr/>
              </a:p>
            </p:txBody>
          </p:sp>
          <p:cxnSp>
            <p:nvCxnSpPr>
              <p:cNvPr id="417" name="Google Shape;417;p17"/>
              <p:cNvCxnSpPr/>
              <p:nvPr/>
            </p:nvCxnSpPr>
            <p:spPr>
              <a:xfrm flipH="1">
                <a:off x="7937316" y="2050137"/>
                <a:ext cx="408600" cy="513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18" name="Google Shape;418;p17"/>
            <p:cNvSpPr/>
            <p:nvPr/>
          </p:nvSpPr>
          <p:spPr>
            <a:xfrm>
              <a:off x="8585777" y="2194782"/>
              <a:ext cx="4292700" cy="11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信息：</a:t>
              </a:r>
              <a:endParaRPr/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整合数据，进行 推理</a:t>
              </a:r>
              <a:endParaRPr/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定性分析，描述数据背后的故事</a:t>
              </a:r>
              <a:endParaRPr/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知识的传播与接受</a:t>
              </a:r>
              <a:endParaRPr/>
            </a:p>
          </p:txBody>
        </p:sp>
      </p:grpSp>
      <p:grpSp>
        <p:nvGrpSpPr>
          <p:cNvPr id="419" name="Google Shape;419;p17"/>
          <p:cNvGrpSpPr/>
          <p:nvPr/>
        </p:nvGrpSpPr>
        <p:grpSpPr>
          <a:xfrm>
            <a:off x="6691476" y="4538901"/>
            <a:ext cx="3143802" cy="1138206"/>
            <a:chOff x="7887408" y="1871617"/>
            <a:chExt cx="3371369" cy="1220465"/>
          </a:xfrm>
        </p:grpSpPr>
        <p:grpSp>
          <p:nvGrpSpPr>
            <p:cNvPr id="420" name="Google Shape;420;p17"/>
            <p:cNvGrpSpPr/>
            <p:nvPr/>
          </p:nvGrpSpPr>
          <p:grpSpPr>
            <a:xfrm>
              <a:off x="7887408" y="1871617"/>
              <a:ext cx="665740" cy="789480"/>
              <a:chOff x="7680176" y="1774557"/>
              <a:chExt cx="665740" cy="789480"/>
            </a:xfrm>
          </p:grpSpPr>
          <p:sp>
            <p:nvSpPr>
              <p:cNvPr id="421" name="Google Shape;421;p17"/>
              <p:cNvSpPr txBox="1"/>
              <p:nvPr/>
            </p:nvSpPr>
            <p:spPr>
              <a:xfrm>
                <a:off x="7680176" y="1774557"/>
                <a:ext cx="441000" cy="6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320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3</a:t>
                </a:r>
                <a:endParaRPr/>
              </a:p>
            </p:txBody>
          </p:sp>
          <p:cxnSp>
            <p:nvCxnSpPr>
              <p:cNvPr id="422" name="Google Shape;422;p17"/>
              <p:cNvCxnSpPr/>
              <p:nvPr/>
            </p:nvCxnSpPr>
            <p:spPr>
              <a:xfrm flipH="1">
                <a:off x="7937316" y="2050137"/>
                <a:ext cx="408600" cy="513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23" name="Google Shape;423;p17"/>
            <p:cNvSpPr/>
            <p:nvPr/>
          </p:nvSpPr>
          <p:spPr>
            <a:xfrm>
              <a:off x="8585777" y="2194782"/>
              <a:ext cx="26730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数据：</a:t>
              </a:r>
              <a:endParaRPr/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基础事实</a:t>
              </a:r>
              <a:endParaRPr/>
            </a:p>
            <a:p>
              <a:pPr indent="-285750" lvl="1" marL="287020" marR="0" rtl="0" algn="just">
                <a:lnSpc>
                  <a:spcPct val="8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267FC3"/>
                </a:buClr>
                <a:buSzPts val="1400"/>
                <a:buFont typeface="Arial"/>
                <a:buChar char="•"/>
              </a:pPr>
              <a:r>
                <a:rPr b="0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统计数据或资料</a:t>
              </a:r>
              <a:endParaRPr/>
            </a:p>
          </p:txBody>
        </p:sp>
      </p:grpSp>
      <p:sp>
        <p:nvSpPr>
          <p:cNvPr id="424" name="Google Shape;424;p17"/>
          <p:cNvSpPr txBox="1"/>
          <p:nvPr/>
        </p:nvSpPr>
        <p:spPr>
          <a:xfrm>
            <a:off x="1464945" y="6308774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案例：盒马鲜生的选址，商业≈数据智能+网络协同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/>
        </p:nvSpPr>
        <p:spPr>
          <a:xfrm>
            <a:off x="540237" y="459972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看行业：6个方面，核心是价值转移的风险和机会，看10年！</a:t>
            </a:r>
            <a:endParaRPr/>
          </a:p>
        </p:txBody>
      </p:sp>
      <p:grpSp>
        <p:nvGrpSpPr>
          <p:cNvPr id="431" name="Google Shape;431;p18"/>
          <p:cNvGrpSpPr/>
          <p:nvPr/>
        </p:nvGrpSpPr>
        <p:grpSpPr>
          <a:xfrm>
            <a:off x="1489710" y="952500"/>
            <a:ext cx="8359140" cy="5237480"/>
            <a:chOff x="892" y="1483"/>
            <a:chExt cx="16564" cy="8229"/>
          </a:xfrm>
        </p:grpSpPr>
        <p:sp>
          <p:nvSpPr>
            <p:cNvPr id="432" name="Google Shape;432;p18"/>
            <p:cNvSpPr/>
            <p:nvPr/>
          </p:nvSpPr>
          <p:spPr>
            <a:xfrm>
              <a:off x="12297" y="6000"/>
              <a:ext cx="4165" cy="2320"/>
            </a:xfrm>
            <a:prstGeom prst="ellipse">
              <a:avLst/>
            </a:prstGeom>
            <a:solidFill>
              <a:srgbClr val="A1CBED"/>
            </a:solidFill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6、新的或变化中的利润模式</a:t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1440" y="3493"/>
              <a:ext cx="4165" cy="2320"/>
            </a:xfrm>
            <a:prstGeom prst="ellipse">
              <a:avLst/>
            </a:prstGeom>
            <a:solidFill>
              <a:srgbClr val="267F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1、变化中的客户偏好</a:t>
              </a:r>
              <a:endParaRPr b="1" i="0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icrosoft Yahei"/>
                <a:buNone/>
              </a:pPr>
              <a:r>
                <a:rPr b="1" lang="zh-CN" sz="14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（以客户为中心）</a:t>
              </a:r>
              <a:endParaRPr b="1" i="0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1542" y="6000"/>
              <a:ext cx="4165" cy="2320"/>
            </a:xfrm>
            <a:prstGeom prst="ellipse">
              <a:avLst/>
            </a:prstGeom>
            <a:solidFill>
              <a:srgbClr val="A1CB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4、突破性的新技术</a:t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12297" y="3493"/>
              <a:ext cx="4165" cy="2320"/>
            </a:xfrm>
            <a:prstGeom prst="ellipse">
              <a:avLst/>
            </a:prstGeom>
            <a:solidFill>
              <a:srgbClr val="267F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3、全球化/新进入</a:t>
              </a:r>
              <a:endParaRPr/>
            </a:p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市场的全球性竞争者</a:t>
              </a:r>
              <a:endParaRPr b="1" i="0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（已没有本土科技公司）</a:t>
              </a:r>
              <a:endParaRPr/>
            </a:p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1" i="0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6869" y="3493"/>
              <a:ext cx="4165" cy="2320"/>
            </a:xfrm>
            <a:prstGeom prst="ellipse">
              <a:avLst/>
            </a:prstGeom>
            <a:solidFill>
              <a:srgbClr val="A1CB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2、行业间的界限模糊</a:t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6869" y="6000"/>
              <a:ext cx="4165" cy="2320"/>
            </a:xfrm>
            <a:prstGeom prst="ellipse">
              <a:avLst/>
            </a:prstGeom>
            <a:solidFill>
              <a:srgbClr val="267F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7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FCC78C"/>
                </a:buClr>
                <a:buSzPts val="1400"/>
                <a:buFont typeface="Microsoft Yahei"/>
                <a:buNone/>
              </a:pPr>
              <a:r>
                <a:rPr b="1" i="0" lang="zh-CN" sz="1400" u="none" cap="none" strike="noStrike">
                  <a:solidFill>
                    <a:srgbClr val="FCC78C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5、政策、法规变化</a:t>
              </a:r>
              <a:endParaRPr/>
            </a:p>
          </p:txBody>
        </p:sp>
        <p:sp>
          <p:nvSpPr>
            <p:cNvPr id="438" name="Google Shape;438;p18"/>
            <p:cNvSpPr txBox="1"/>
            <p:nvPr/>
          </p:nvSpPr>
          <p:spPr>
            <a:xfrm>
              <a:off x="892" y="1483"/>
              <a:ext cx="16564" cy="7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研究价值转移趋势是战略洞察的关键输入</a:t>
              </a:r>
              <a:endParaRPr/>
            </a:p>
          </p:txBody>
        </p:sp>
        <p:sp>
          <p:nvSpPr>
            <p:cNvPr id="439" name="Google Shape;439;p18"/>
            <p:cNvSpPr txBox="1"/>
            <p:nvPr/>
          </p:nvSpPr>
          <p:spPr>
            <a:xfrm>
              <a:off x="1684" y="2465"/>
              <a:ext cx="4025" cy="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客户侧的颠覆性</a:t>
              </a: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风险</a:t>
              </a:r>
              <a:endParaRPr b="1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自身的/解决方案的</a:t>
              </a:r>
              <a:endParaRPr/>
            </a:p>
          </p:txBody>
        </p:sp>
        <p:sp>
          <p:nvSpPr>
            <p:cNvPr id="440" name="Google Shape;440;p18"/>
            <p:cNvSpPr txBox="1"/>
            <p:nvPr/>
          </p:nvSpPr>
          <p:spPr>
            <a:xfrm>
              <a:off x="7660" y="2465"/>
              <a:ext cx="3374" cy="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混沌中的跨界</a:t>
              </a: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机会</a:t>
              </a:r>
              <a:endParaRPr/>
            </a:p>
          </p:txBody>
        </p:sp>
        <p:sp>
          <p:nvSpPr>
            <p:cNvPr id="441" name="Google Shape;441;p18"/>
            <p:cNvSpPr txBox="1"/>
            <p:nvPr/>
          </p:nvSpPr>
          <p:spPr>
            <a:xfrm>
              <a:off x="12160" y="2465"/>
              <a:ext cx="4659" cy="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潜在的竞争，</a:t>
              </a: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对手</a:t>
              </a: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的势能</a:t>
              </a:r>
              <a:endParaRPr/>
            </a:p>
          </p:txBody>
        </p:sp>
        <p:sp>
          <p:nvSpPr>
            <p:cNvPr id="442" name="Google Shape;442;p18"/>
            <p:cNvSpPr txBox="1"/>
            <p:nvPr/>
          </p:nvSpPr>
          <p:spPr>
            <a:xfrm>
              <a:off x="991" y="8554"/>
              <a:ext cx="4165" cy="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技术</a:t>
              </a: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成熟曲线中的</a:t>
              </a: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成熟度迁移，如区块链</a:t>
              </a:r>
              <a:endParaRPr/>
            </a:p>
          </p:txBody>
        </p:sp>
        <p:sp>
          <p:nvSpPr>
            <p:cNvPr id="443" name="Google Shape;443;p18"/>
            <p:cNvSpPr txBox="1"/>
            <p:nvPr/>
          </p:nvSpPr>
          <p:spPr>
            <a:xfrm>
              <a:off x="7213" y="8554"/>
              <a:ext cx="3375" cy="1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贸易争端</a:t>
              </a: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绿色、社会责任</a:t>
              </a:r>
              <a:endParaRPr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国家</a:t>
              </a:r>
              <a:r>
                <a:rPr lang="zh-CN" sz="14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战略变化</a:t>
              </a:r>
              <a:endParaRPr/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12733" y="8554"/>
              <a:ext cx="3601" cy="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商业模式</a:t>
              </a:r>
              <a:endParaRPr/>
            </a:p>
          </p:txBody>
        </p:sp>
      </p:grpSp>
      <p:sp>
        <p:nvSpPr>
          <p:cNvPr id="445" name="Google Shape;445;p18"/>
          <p:cNvSpPr txBox="1"/>
          <p:nvPr/>
        </p:nvSpPr>
        <p:spPr>
          <a:xfrm>
            <a:off x="1656715" y="6328694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看得见的都不怕，看不见的跨界对手越来越多，案例：美团vs康师傅；手机vs相机+…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9"/>
          <p:cNvSpPr/>
          <p:nvPr/>
        </p:nvSpPr>
        <p:spPr>
          <a:xfrm>
            <a:off x="2202304" y="4461925"/>
            <a:ext cx="7932575" cy="1765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78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Font typeface="Noto Sans Symbols"/>
              <a:buNone/>
            </a:pPr>
            <a:r>
              <a:t/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576796" y="461615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看行业： 外部环境的PEST工具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909955" y="1111885"/>
            <a:ext cx="10251440" cy="4194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ts val="1280"/>
              <a:buFont typeface="Noto Sans Symbols"/>
              <a:buChar char="◆"/>
            </a:pPr>
            <a:r>
              <a:rPr b="1" lang="zh-CN" sz="16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政治和法律因素（political factors）：</a:t>
            </a:r>
            <a:r>
              <a:rPr b="1" lang="zh-CN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例如知识产权</a:t>
            </a:r>
            <a:endParaRPr b="1" sz="1600">
              <a:solidFill>
                <a:srgbClr val="0070C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97年开始中国政府转变职能，一切工作以经济建设为中心。搞经济外交，促进经济贸易发展和国际合作。华为很早就意识到，一个企业拥有</a:t>
            </a:r>
            <a:r>
              <a:rPr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专利</a:t>
            </a: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的多少是市场竞争的准入门槛和游戏筹码</a:t>
            </a:r>
            <a:endParaRPr/>
          </a:p>
          <a:p>
            <a:pPr indent="-285750" lvl="0" marL="28575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ts val="1280"/>
              <a:buFont typeface="Noto Sans Symbols"/>
              <a:buChar char="◆"/>
            </a:pPr>
            <a:r>
              <a:rPr b="1" lang="zh-CN" sz="16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经济因素（economic factors）：</a:t>
            </a:r>
            <a:r>
              <a:rPr b="1" lang="zh-CN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例如移动互联网的普及</a:t>
            </a:r>
            <a:endParaRPr b="1" sz="1600">
              <a:solidFill>
                <a:srgbClr val="0070C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欧洲、美洲和非洲有广阔的电信市场可以拓展，尤其是非洲和拉美市场，电信领域正处于高速发展期。华为成熟的产品和解决方案，恰恰是这些地区运营商所需要的，华为正是看准这个时机来开拓市场。给与我们以整网解决方案去</a:t>
            </a:r>
            <a:r>
              <a:rPr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封闭市场</a:t>
            </a: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的可能</a:t>
            </a:r>
            <a:endParaRPr/>
          </a:p>
          <a:p>
            <a:pPr indent="-285750" lvl="0" marL="28575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ts val="1280"/>
              <a:buFont typeface="Noto Sans Symbols"/>
              <a:buChar char="◆"/>
            </a:pPr>
            <a:r>
              <a:rPr b="1" lang="zh-CN" sz="16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社会和文化因素（social factors）：</a:t>
            </a:r>
            <a:r>
              <a:rPr b="1" lang="zh-CN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国家战略协同</a:t>
            </a:r>
            <a:endParaRPr b="1" sz="1600">
              <a:solidFill>
                <a:srgbClr val="0070C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随着中国经济飞速发展，国际市场对中国高科技公司所知甚少，中国需要在世界树立有影响力的品牌。华为的战略与</a:t>
            </a:r>
            <a:r>
              <a:rPr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国家战略协同</a:t>
            </a: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起来</a:t>
            </a:r>
            <a:endParaRPr/>
          </a:p>
          <a:p>
            <a:pPr indent="-285750" lvl="0" marL="28575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ts val="1280"/>
              <a:buFont typeface="Noto Sans Symbols"/>
              <a:buChar char="◆"/>
            </a:pPr>
            <a:r>
              <a:rPr b="1" lang="zh-CN" sz="16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技术因素（technological factors）：</a:t>
            </a:r>
            <a:r>
              <a:rPr b="1" lang="zh-CN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要特别关注新技术带来的风险和机会</a:t>
            </a:r>
            <a:endParaRPr b="1" sz="1600">
              <a:solidFill>
                <a:srgbClr val="0000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华为在全球建设了12个研发中心，在通讯领域占有30%的核心专利，产品研发、生产和售后</a:t>
            </a:r>
            <a:r>
              <a:rPr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不会受制于人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1788795" y="6300119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贸易战、退群、一带一路等所有关键事件要有风险、机会和应对措施分析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2202304" y="4461925"/>
            <a:ext cx="7932575" cy="1765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78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Font typeface="Noto Sans Symbols"/>
              <a:buNone/>
            </a:pPr>
            <a:r>
              <a:t/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 txBox="1"/>
          <p:nvPr/>
        </p:nvSpPr>
        <p:spPr>
          <a:xfrm>
            <a:off x="668942" y="303530"/>
            <a:ext cx="9378315" cy="83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看技术的工具： 甘特炒作曲线，洞察走向，适时切入</a:t>
            </a:r>
            <a:endParaRPr b="1" sz="20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问题：如果跨界电商当前是3.0，4.0是什么？智能商业？</a:t>
            </a:r>
            <a:endParaRPr/>
          </a:p>
        </p:txBody>
      </p:sp>
      <p:pic>
        <p:nvPicPr>
          <p:cNvPr id="462" name="Google Shape;462;p20"/>
          <p:cNvPicPr preferRelativeResize="0"/>
          <p:nvPr/>
        </p:nvPicPr>
        <p:blipFill rotWithShape="1">
          <a:blip r:embed="rId4">
            <a:alphaModFix/>
          </a:blip>
          <a:srcRect b="33759" l="0" r="0" t="0"/>
          <a:stretch/>
        </p:blipFill>
        <p:spPr>
          <a:xfrm>
            <a:off x="1611392" y="1576253"/>
            <a:ext cx="8345981" cy="424587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0"/>
          <p:cNvSpPr txBox="1"/>
          <p:nvPr/>
        </p:nvSpPr>
        <p:spPr>
          <a:xfrm>
            <a:off x="3302635" y="5356225"/>
            <a:ext cx="1088390" cy="36639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商业价值</a:t>
            </a:r>
            <a:endParaRPr/>
          </a:p>
        </p:txBody>
      </p:sp>
      <p:sp>
        <p:nvSpPr>
          <p:cNvPr id="464" name="Google Shape;464;p20"/>
          <p:cNvSpPr txBox="1"/>
          <p:nvPr/>
        </p:nvSpPr>
        <p:spPr>
          <a:xfrm>
            <a:off x="1611392" y="6310679"/>
            <a:ext cx="91143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与时俱进，积极试错：先______→再______ → 最后______；阿里：拆分组织试错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 txBox="1"/>
          <p:nvPr/>
        </p:nvSpPr>
        <p:spPr>
          <a:xfrm>
            <a:off x="742178" y="439285"/>
            <a:ext cx="8581272" cy="720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看客户：对标客户SP（2B）；客户行为变化、爆款研究（2C）</a:t>
            </a:r>
            <a:endParaRPr b="1" sz="20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案例：华为手机，1摄像头→2摄像头→3摄像头→保时捷→AI…</a:t>
            </a:r>
            <a:endParaRPr b="1" sz="2000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470" name="Google Shape;470;p21"/>
          <p:cNvGrpSpPr/>
          <p:nvPr/>
        </p:nvGrpSpPr>
        <p:grpSpPr>
          <a:xfrm>
            <a:off x="1583690" y="1590040"/>
            <a:ext cx="8655050" cy="4305193"/>
            <a:chOff x="1367" y="1845"/>
            <a:chExt cx="16174" cy="8045"/>
          </a:xfrm>
        </p:grpSpPr>
        <p:sp>
          <p:nvSpPr>
            <p:cNvPr id="471" name="Google Shape;471;p21"/>
            <p:cNvSpPr/>
            <p:nvPr/>
          </p:nvSpPr>
          <p:spPr>
            <a:xfrm>
              <a:off x="3704" y="8360"/>
              <a:ext cx="2305" cy="1093"/>
            </a:xfrm>
            <a:prstGeom prst="rect">
              <a:avLst/>
            </a:prstGeom>
            <a:solidFill>
              <a:srgbClr val="D4EAF5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2" name="Google Shape;472;p21"/>
            <p:cNvSpPr txBox="1"/>
            <p:nvPr/>
          </p:nvSpPr>
          <p:spPr>
            <a:xfrm>
              <a:off x="3704" y="9432"/>
              <a:ext cx="2305" cy="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0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产品“购买者”</a:t>
              </a:r>
              <a:endParaRPr/>
            </a:p>
          </p:txBody>
        </p:sp>
        <p:sp>
          <p:nvSpPr>
            <p:cNvPr id="473" name="Google Shape;473;p21"/>
            <p:cNvSpPr txBox="1"/>
            <p:nvPr/>
          </p:nvSpPr>
          <p:spPr>
            <a:xfrm>
              <a:off x="1367" y="8641"/>
              <a:ext cx="2337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产品功能性</a:t>
              </a: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3704" y="7290"/>
              <a:ext cx="2305" cy="1093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3704" y="6202"/>
              <a:ext cx="2305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3704" y="5112"/>
              <a:ext cx="2305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3704" y="4025"/>
              <a:ext cx="2305" cy="1088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3704" y="2940"/>
              <a:ext cx="2305" cy="1095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3704" y="1845"/>
              <a:ext cx="2305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80" name="Google Shape;480;p21"/>
            <p:cNvSpPr txBox="1"/>
            <p:nvPr/>
          </p:nvSpPr>
          <p:spPr>
            <a:xfrm>
              <a:off x="1391" y="7576"/>
              <a:ext cx="2313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减少成本</a:t>
              </a:r>
              <a:endParaRPr/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1411" y="6486"/>
              <a:ext cx="2293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减少资金</a:t>
              </a:r>
              <a:endParaRPr/>
            </a:p>
          </p:txBody>
        </p:sp>
        <p:sp>
          <p:nvSpPr>
            <p:cNvPr id="482" name="Google Shape;482;p21"/>
            <p:cNvSpPr txBox="1"/>
            <p:nvPr/>
          </p:nvSpPr>
          <p:spPr>
            <a:xfrm>
              <a:off x="1443" y="4311"/>
              <a:ext cx="2261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减少错误</a:t>
              </a:r>
              <a:endParaRPr/>
            </a:p>
          </p:txBody>
        </p:sp>
        <p:sp>
          <p:nvSpPr>
            <p:cNvPr id="483" name="Google Shape;483;p21"/>
            <p:cNvSpPr txBox="1"/>
            <p:nvPr/>
          </p:nvSpPr>
          <p:spPr>
            <a:xfrm>
              <a:off x="1463" y="5396"/>
              <a:ext cx="2241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减少周折</a:t>
              </a:r>
              <a:endParaRPr/>
            </a:p>
          </p:txBody>
        </p:sp>
        <p:sp>
          <p:nvSpPr>
            <p:cNvPr id="484" name="Google Shape;484;p21"/>
            <p:cNvSpPr txBox="1"/>
            <p:nvPr/>
          </p:nvSpPr>
          <p:spPr>
            <a:xfrm>
              <a:off x="1415" y="3226"/>
              <a:ext cx="2289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更大的区别</a:t>
              </a:r>
              <a:endParaRPr/>
            </a:p>
          </p:txBody>
        </p:sp>
        <p:sp>
          <p:nvSpPr>
            <p:cNvPr id="485" name="Google Shape;485;p21"/>
            <p:cNvSpPr txBox="1"/>
            <p:nvPr/>
          </p:nvSpPr>
          <p:spPr>
            <a:xfrm>
              <a:off x="1463" y="2129"/>
              <a:ext cx="2241" cy="5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更多的销售</a:t>
              </a: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6009" y="7290"/>
              <a:ext cx="2311" cy="1093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8320" y="7290"/>
              <a:ext cx="2311" cy="1093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10622" y="729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12930" y="7290"/>
              <a:ext cx="2311" cy="1093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6009" y="6202"/>
              <a:ext cx="2311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8320" y="6202"/>
              <a:ext cx="2311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10622" y="6202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15229" y="6202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12930" y="6202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6009" y="5112"/>
              <a:ext cx="2311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8320" y="5112"/>
              <a:ext cx="2311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10622" y="5112"/>
              <a:ext cx="2311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15229" y="5112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12930" y="5112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6009" y="4025"/>
              <a:ext cx="2311" cy="1088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320" y="4025"/>
              <a:ext cx="2311" cy="1088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10622" y="4025"/>
              <a:ext cx="2311" cy="1088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15229" y="4025"/>
              <a:ext cx="2311" cy="1088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2930" y="4025"/>
              <a:ext cx="2311" cy="1088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009" y="2940"/>
              <a:ext cx="2311" cy="1095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8320" y="2940"/>
              <a:ext cx="2311" cy="1095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10622" y="2940"/>
              <a:ext cx="2311" cy="1095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15229" y="2940"/>
              <a:ext cx="2311" cy="1095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12930" y="2940"/>
              <a:ext cx="2311" cy="1095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09" y="1845"/>
              <a:ext cx="2311" cy="1090"/>
            </a:xfrm>
            <a:prstGeom prst="rect">
              <a:avLst/>
            </a:prstGeom>
            <a:solidFill>
              <a:srgbClr val="D4EAF5">
                <a:alpha val="50196"/>
              </a:srgbClr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8320" y="1845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10622" y="1845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15229" y="1845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12930" y="1845"/>
              <a:ext cx="2311" cy="1090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grpSp>
          <p:nvGrpSpPr>
            <p:cNvPr id="515" name="Google Shape;515;p21"/>
            <p:cNvGrpSpPr/>
            <p:nvPr/>
          </p:nvGrpSpPr>
          <p:grpSpPr>
            <a:xfrm>
              <a:off x="6885" y="2624"/>
              <a:ext cx="8249" cy="6328"/>
              <a:chOff x="-16" y="-10"/>
              <a:chExt cx="3105" cy="2531"/>
            </a:xfrm>
          </p:grpSpPr>
          <p:sp>
            <p:nvSpPr>
              <p:cNvPr id="516" name="Google Shape;516;p21"/>
              <p:cNvSpPr/>
              <p:nvPr/>
            </p:nvSpPr>
            <p:spPr>
              <a:xfrm rot="-5367612">
                <a:off x="-5" y="-1"/>
                <a:ext cx="2174" cy="2176"/>
              </a:xfrm>
              <a:prstGeom prst="ellipse">
                <a:avLst/>
              </a:prstGeom>
              <a:solidFill>
                <a:schemeClr val="lt1">
                  <a:alpha val="43921"/>
                </a:schemeClr>
              </a:solidFill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91425" lIns="91425" spcFirstLastPara="1" rIns="10057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grpSp>
            <p:nvGrpSpPr>
              <p:cNvPr id="517" name="Google Shape;517;p21"/>
              <p:cNvGrpSpPr/>
              <p:nvPr/>
            </p:nvGrpSpPr>
            <p:grpSpPr>
              <a:xfrm>
                <a:off x="1962" y="1670"/>
                <a:ext cx="1127" cy="851"/>
                <a:chOff x="-25" y="-3"/>
                <a:chExt cx="2250" cy="1651"/>
              </a:xfrm>
            </p:grpSpPr>
            <p:sp>
              <p:nvSpPr>
                <p:cNvPr id="518" name="Google Shape;518;p21"/>
                <p:cNvSpPr/>
                <p:nvPr/>
              </p:nvSpPr>
              <p:spPr>
                <a:xfrm rot="-3368419">
                  <a:off x="-43" y="77"/>
                  <a:ext cx="235" cy="81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1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sp>
              <p:nvSpPr>
                <p:cNvPr id="519" name="Google Shape;519;p21"/>
                <p:cNvSpPr/>
                <p:nvPr/>
              </p:nvSpPr>
              <p:spPr>
                <a:xfrm rot="-3368419">
                  <a:off x="-3" y="127"/>
                  <a:ext cx="381" cy="132"/>
                </a:xfrm>
                <a:custGeom>
                  <a:rect b="b" l="l" r="r" t="t"/>
                  <a:pathLst>
                    <a:path extrusionOk="0" h="100" w="288">
                      <a:moveTo>
                        <a:pt x="0" y="100"/>
                      </a:moveTo>
                      <a:lnTo>
                        <a:pt x="288" y="100"/>
                      </a:lnTo>
                      <a:lnTo>
                        <a:pt x="284" y="48"/>
                      </a:lnTo>
                      <a:lnTo>
                        <a:pt x="236" y="0"/>
                      </a:lnTo>
                      <a:lnTo>
                        <a:pt x="60" y="0"/>
                      </a:lnTo>
                      <a:lnTo>
                        <a:pt x="12" y="48"/>
                      </a:lnTo>
                      <a:lnTo>
                        <a:pt x="0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1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520" name="Google Shape;520;p21"/>
                <p:cNvCxnSpPr/>
                <p:nvPr/>
              </p:nvCxnSpPr>
              <p:spPr>
                <a:xfrm>
                  <a:off x="1158" y="-213"/>
                  <a:ext cx="0" cy="2108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" name="Google Shape;521;p21"/>
                <p:cNvCxnSpPr/>
                <p:nvPr/>
              </p:nvCxnSpPr>
              <p:spPr>
                <a:xfrm>
                  <a:off x="1216" y="-300"/>
                  <a:ext cx="0" cy="2108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2" name="Google Shape;522;p21"/>
                <p:cNvCxnSpPr/>
                <p:nvPr/>
              </p:nvCxnSpPr>
              <p:spPr>
                <a:xfrm>
                  <a:off x="1101" y="-128"/>
                  <a:ext cx="0" cy="2108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3" name="Google Shape;523;p21"/>
                <p:cNvCxnSpPr/>
                <p:nvPr/>
              </p:nvCxnSpPr>
              <p:spPr>
                <a:xfrm>
                  <a:off x="1252" y="-353"/>
                  <a:ext cx="0" cy="210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4" name="Google Shape;524;p21"/>
                <p:cNvCxnSpPr/>
                <p:nvPr/>
              </p:nvCxnSpPr>
              <p:spPr>
                <a:xfrm rot="-3368419">
                  <a:off x="1049" y="-72"/>
                  <a:ext cx="1" cy="210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25" name="Google Shape;525;p21"/>
                <p:cNvSpPr/>
                <p:nvPr/>
              </p:nvSpPr>
              <p:spPr>
                <a:xfrm rot="-3368419">
                  <a:off x="1896" y="1438"/>
                  <a:ext cx="389" cy="63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1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</p:grpSp>
        </p:grpSp>
        <p:sp>
          <p:nvSpPr>
            <p:cNvPr id="526" name="Google Shape;526;p21"/>
            <p:cNvSpPr/>
            <p:nvPr/>
          </p:nvSpPr>
          <p:spPr>
            <a:xfrm>
              <a:off x="15229" y="729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7" name="Google Shape;527;p21"/>
            <p:cNvSpPr txBox="1"/>
            <p:nvPr/>
          </p:nvSpPr>
          <p:spPr>
            <a:xfrm>
              <a:off x="8284" y="9432"/>
              <a:ext cx="2338" cy="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icrosoft Yahei"/>
                <a:buNone/>
              </a:pPr>
              <a:r>
                <a:rPr b="1" i="0" lang="zh-CN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CMO</a:t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6009" y="836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8320" y="836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0" name="Google Shape;530;p21"/>
            <p:cNvSpPr/>
            <p:nvPr/>
          </p:nvSpPr>
          <p:spPr>
            <a:xfrm>
              <a:off x="10622" y="836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15229" y="836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12930" y="8360"/>
              <a:ext cx="2311" cy="1093"/>
            </a:xfrm>
            <a:prstGeom prst="rect">
              <a:avLst/>
            </a:prstGeom>
            <a:solidFill>
              <a:srgbClr val="E9F4FA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3" name="Google Shape;533;p21"/>
            <p:cNvSpPr txBox="1"/>
            <p:nvPr/>
          </p:nvSpPr>
          <p:spPr>
            <a:xfrm>
              <a:off x="10622" y="9432"/>
              <a:ext cx="2421" cy="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icrosoft Yahei"/>
                <a:buNone/>
              </a:pPr>
              <a:r>
                <a:rPr b="1" i="0" lang="zh-CN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CFO</a:t>
              </a:r>
              <a:endParaRPr/>
            </a:p>
          </p:txBody>
        </p:sp>
        <p:sp>
          <p:nvSpPr>
            <p:cNvPr id="534" name="Google Shape;534;p21"/>
            <p:cNvSpPr txBox="1"/>
            <p:nvPr/>
          </p:nvSpPr>
          <p:spPr>
            <a:xfrm>
              <a:off x="12719" y="9432"/>
              <a:ext cx="2794" cy="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icrosoft Yahei"/>
                <a:buNone/>
              </a:pPr>
              <a:r>
                <a:rPr b="1" i="0" lang="zh-CN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CEO</a:t>
              </a:r>
              <a:endParaRPr/>
            </a:p>
          </p:txBody>
        </p:sp>
        <p:sp>
          <p:nvSpPr>
            <p:cNvPr id="535" name="Google Shape;535;p21"/>
            <p:cNvSpPr txBox="1"/>
            <p:nvPr/>
          </p:nvSpPr>
          <p:spPr>
            <a:xfrm>
              <a:off x="15167" y="9432"/>
              <a:ext cx="2374" cy="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icrosoft Yahei"/>
                <a:buNone/>
              </a:pPr>
              <a:r>
                <a:rPr b="1" i="0" lang="zh-CN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客户的客户</a:t>
              </a:r>
              <a:endParaRPr/>
            </a:p>
          </p:txBody>
        </p:sp>
        <p:sp>
          <p:nvSpPr>
            <p:cNvPr id="536" name="Google Shape;536;p21"/>
            <p:cNvSpPr txBox="1"/>
            <p:nvPr/>
          </p:nvSpPr>
          <p:spPr>
            <a:xfrm>
              <a:off x="5845" y="9432"/>
              <a:ext cx="2639" cy="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icrosoft Yahei"/>
                <a:buNone/>
              </a:pPr>
              <a:r>
                <a:rPr b="1" i="0" lang="zh-CN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产品维护部门VP</a:t>
              </a:r>
              <a:endParaRPr/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7431" y="3644"/>
              <a:ext cx="5050" cy="3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用效益的视角看客户，客户各角色分别关注什么？</a:t>
              </a:r>
              <a:endParaRPr b="1" sz="1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用效用的视角看用户，不同用户群分别关注什么？</a:t>
              </a:r>
              <a:endParaRPr b="1" sz="1400">
                <a:solidFill>
                  <a:srgbClr val="0000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0000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2C：数据决策机制：AI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3"/>
          <p:cNvSpPr txBox="1"/>
          <p:nvPr/>
        </p:nvSpPr>
        <p:spPr>
          <a:xfrm>
            <a:off x="490973" y="355154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看竞争：全方位分析对手现状和SP，工具：18要素+雷达图</a:t>
            </a:r>
            <a:endParaRPr/>
          </a:p>
        </p:txBody>
      </p:sp>
      <p:grpSp>
        <p:nvGrpSpPr>
          <p:cNvPr id="544" name="Google Shape;544;p23"/>
          <p:cNvGrpSpPr/>
          <p:nvPr/>
        </p:nvGrpSpPr>
        <p:grpSpPr>
          <a:xfrm>
            <a:off x="1176655" y="949325"/>
            <a:ext cx="9406255" cy="4939060"/>
            <a:chOff x="540" y="2092"/>
            <a:chExt cx="18021" cy="7664"/>
          </a:xfrm>
        </p:grpSpPr>
        <p:grpSp>
          <p:nvGrpSpPr>
            <p:cNvPr id="545" name="Google Shape;545;p23"/>
            <p:cNvGrpSpPr/>
            <p:nvPr/>
          </p:nvGrpSpPr>
          <p:grpSpPr>
            <a:xfrm>
              <a:off x="572" y="2988"/>
              <a:ext cx="17986" cy="1635"/>
              <a:chOff x="230348" y="1914708"/>
              <a:chExt cx="11421157" cy="1038507"/>
            </a:xfrm>
          </p:grpSpPr>
          <p:sp>
            <p:nvSpPr>
              <p:cNvPr id="546" name="Google Shape;546;p23"/>
              <p:cNvSpPr/>
              <p:nvPr/>
            </p:nvSpPr>
            <p:spPr>
              <a:xfrm>
                <a:off x="3168615" y="1914708"/>
                <a:ext cx="2646255" cy="232683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当前的OFFER</a:t>
                </a:r>
                <a:endParaRPr/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3155919" y="2122897"/>
                <a:ext cx="2646256" cy="830318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</p:txBody>
          </p:sp>
          <p:sp>
            <p:nvSpPr>
              <p:cNvPr id="548" name="Google Shape;548;p23"/>
              <p:cNvSpPr/>
              <p:nvPr/>
            </p:nvSpPr>
            <p:spPr>
              <a:xfrm>
                <a:off x="6083305" y="1914708"/>
                <a:ext cx="2644441" cy="232683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战略意图与目的</a:t>
                </a:r>
                <a:endParaRPr/>
              </a:p>
            </p:txBody>
          </p:sp>
          <p:sp>
            <p:nvSpPr>
              <p:cNvPr id="549" name="Google Shape;549;p23"/>
              <p:cNvSpPr/>
              <p:nvPr/>
            </p:nvSpPr>
            <p:spPr>
              <a:xfrm>
                <a:off x="6083305" y="2122897"/>
                <a:ext cx="2644441" cy="830318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市场战略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产品包战略…</a:t>
                </a:r>
                <a:endParaRPr/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230348" y="1914708"/>
                <a:ext cx="2644441" cy="232683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总体评估</a:t>
                </a:r>
                <a:endParaRPr/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230348" y="2122897"/>
                <a:ext cx="2644441" cy="830318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包括国家及区域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现有和潜在的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  <a:p>
                <a:pPr indent="-774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00"/>
                  <a:buFont typeface="Noto Sans Symbols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9008877" y="1914708"/>
                <a:ext cx="2642628" cy="232683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优势</a:t>
                </a:r>
                <a:endParaRPr/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9008877" y="2122897"/>
                <a:ext cx="2642627" cy="830318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Strategic control points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</p:txBody>
          </p:sp>
        </p:grpSp>
        <p:grpSp>
          <p:nvGrpSpPr>
            <p:cNvPr id="554" name="Google Shape;554;p23"/>
            <p:cNvGrpSpPr/>
            <p:nvPr/>
          </p:nvGrpSpPr>
          <p:grpSpPr>
            <a:xfrm>
              <a:off x="572" y="4954"/>
              <a:ext cx="17989" cy="1978"/>
              <a:chOff x="168681" y="3759837"/>
              <a:chExt cx="11422970" cy="1255877"/>
            </a:xfrm>
          </p:grpSpPr>
          <p:sp>
            <p:nvSpPr>
              <p:cNvPr id="555" name="Google Shape;555;p23"/>
              <p:cNvSpPr/>
              <p:nvPr/>
            </p:nvSpPr>
            <p:spPr>
              <a:xfrm>
                <a:off x="168681" y="3759837"/>
                <a:ext cx="2644441" cy="231321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财务及KPI</a:t>
                </a:r>
                <a:endParaRPr/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168681" y="3996601"/>
                <a:ext cx="2644441" cy="1018112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8947210" y="3759837"/>
                <a:ext cx="2644441" cy="231321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弱点</a:t>
                </a:r>
                <a:endParaRPr/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8947210" y="3996601"/>
                <a:ext cx="2644441" cy="1018112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021638" y="3759837"/>
                <a:ext cx="2644441" cy="231321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近期进展</a:t>
                </a:r>
                <a:endParaRPr/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021638" y="3996601"/>
                <a:ext cx="2644441" cy="1018112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 …</a:t>
                </a:r>
                <a:endParaRPr/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3096066" y="3759837"/>
                <a:ext cx="2644441" cy="231321"/>
              </a:xfrm>
              <a:prstGeom prst="rect">
                <a:avLst/>
              </a:prstGeom>
              <a:solidFill>
                <a:srgbClr val="267FC3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现有市场覆盖</a:t>
                </a:r>
                <a:endParaRPr/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3096066" y="3996601"/>
                <a:ext cx="2644441" cy="1019113"/>
              </a:xfrm>
              <a:prstGeom prst="rect">
                <a:avLst/>
              </a:prstGeom>
              <a:solidFill>
                <a:srgbClr val="CFE5F6"/>
              </a:solidFill>
              <a:ln cap="flat" cmpd="sng" w="1270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区域及份额 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主要客户群</a:t>
                </a:r>
                <a:endParaRPr/>
              </a:p>
              <a:p>
                <a:pPr indent="-115570" lvl="0" marL="11557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Noto Sans Symbols"/>
                  <a:buChar char="■"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…</a:t>
                </a:r>
                <a:endParaRPr/>
              </a:p>
            </p:txBody>
          </p:sp>
        </p:grpSp>
        <p:sp>
          <p:nvSpPr>
            <p:cNvPr id="563" name="Google Shape;563;p23"/>
            <p:cNvSpPr/>
            <p:nvPr/>
          </p:nvSpPr>
          <p:spPr>
            <a:xfrm>
              <a:off x="540" y="2092"/>
              <a:ext cx="17767" cy="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分析主要竞争对手的情况，（可从18个竞争情报要素选择重点3-5个进行）</a:t>
              </a: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3880" y="7229"/>
              <a:ext cx="5461" cy="2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Profits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Market Share &amp; Trend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Range of Products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Product Quality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New Products in Pipeline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Customers &amp; Relationships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Prices &amp; Costs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Growth Strategy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Financial Security</a:t>
              </a:r>
              <a:endParaRPr/>
            </a:p>
            <a:p>
              <a:pPr indent="-2794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t/>
              </a:r>
              <a:endParaRPr sz="10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8143" y="7299"/>
              <a:ext cx="6050" cy="2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Raw Material Suppliers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Capacities（产能）</a:t>
              </a:r>
              <a:endParaRPr sz="1000">
                <a:solidFill>
                  <a:srgbClr val="CC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Partner &amp; Allies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Strategic Control point &amp;Business model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Organization Structure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Bonus Structure/Measurement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People Characteristics &amp; Culture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Acquisitions/Investments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000"/>
                <a:buFont typeface="Microsoft Yahei"/>
                <a:buAutoNum type="arabicPeriod" startAt="10"/>
              </a:pPr>
              <a:r>
                <a:rPr lang="zh-CN" sz="1000">
                  <a:solidFill>
                    <a:srgbClr val="CC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Problems</a:t>
              </a:r>
              <a:endParaRPr/>
            </a:p>
          </p:txBody>
        </p:sp>
        <p:sp>
          <p:nvSpPr>
            <p:cNvPr id="566" name="Google Shape;566;p23"/>
            <p:cNvSpPr txBox="1"/>
            <p:nvPr/>
          </p:nvSpPr>
          <p:spPr>
            <a:xfrm>
              <a:off x="599" y="7217"/>
              <a:ext cx="3537" cy="5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0000F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竞争情报要素：</a:t>
              </a:r>
              <a:endParaRPr/>
            </a:p>
          </p:txBody>
        </p:sp>
      </p:grpSp>
      <p:sp>
        <p:nvSpPr>
          <p:cNvPr id="567" name="Google Shape;567;p23"/>
          <p:cNvSpPr txBox="1"/>
          <p:nvPr/>
        </p:nvSpPr>
        <p:spPr>
          <a:xfrm>
            <a:off x="1524000" y="6296074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雷达图，关键领域对比一目了然，依据对手现状和SP确定竞争策略（保密）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568" name="Google Shape;5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280" y="4252595"/>
            <a:ext cx="1979930" cy="1642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6"/>
          <p:cNvSpPr txBox="1"/>
          <p:nvPr/>
        </p:nvSpPr>
        <p:spPr>
          <a:xfrm>
            <a:off x="462756" y="423900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SPAN图看机会：吃着碗里的+看着锅里的+望着田里的</a:t>
            </a:r>
            <a:endParaRPr/>
          </a:p>
        </p:txBody>
      </p:sp>
      <p:grpSp>
        <p:nvGrpSpPr>
          <p:cNvPr id="575" name="Google Shape;575;p26"/>
          <p:cNvGrpSpPr/>
          <p:nvPr/>
        </p:nvGrpSpPr>
        <p:grpSpPr>
          <a:xfrm>
            <a:off x="1480658" y="982959"/>
            <a:ext cx="8703968" cy="4979055"/>
            <a:chOff x="553" y="1782"/>
            <a:chExt cx="14999" cy="8580"/>
          </a:xfrm>
        </p:grpSpPr>
        <p:grpSp>
          <p:nvGrpSpPr>
            <p:cNvPr id="576" name="Google Shape;576;p26"/>
            <p:cNvGrpSpPr/>
            <p:nvPr/>
          </p:nvGrpSpPr>
          <p:grpSpPr>
            <a:xfrm>
              <a:off x="553" y="2596"/>
              <a:ext cx="14549" cy="7766"/>
              <a:chOff x="1835777" y="1217662"/>
              <a:chExt cx="8423036" cy="4704605"/>
            </a:xfrm>
          </p:grpSpPr>
          <p:sp>
            <p:nvSpPr>
              <p:cNvPr id="577" name="Google Shape;577;p26"/>
              <p:cNvSpPr txBox="1"/>
              <p:nvPr/>
            </p:nvSpPr>
            <p:spPr>
              <a:xfrm rot="5400000">
                <a:off x="1039461" y="2932045"/>
                <a:ext cx="2465614" cy="3649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市场吸引力 （利润, </a:t>
                </a:r>
                <a:r>
                  <a:rPr b="1" i="0" lang="zh-CN" sz="1200" u="none" cap="none" strike="noStrike">
                    <a:solidFill>
                      <a:srgbClr val="FF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增长等</a:t>
                </a: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）</a:t>
                </a:r>
                <a:endParaRPr/>
              </a:p>
            </p:txBody>
          </p:sp>
          <p:sp>
            <p:nvSpPr>
              <p:cNvPr id="578" name="Google Shape;578;p26"/>
              <p:cNvSpPr/>
              <p:nvPr/>
            </p:nvSpPr>
            <p:spPr>
              <a:xfrm>
                <a:off x="2960753" y="1219021"/>
                <a:ext cx="3098785" cy="2042433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8D898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培育：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锅里的+田里的</a:t>
                </a:r>
                <a:endParaRPr/>
              </a:p>
            </p:txBody>
          </p:sp>
          <p:sp>
            <p:nvSpPr>
              <p:cNvPr id="579" name="Google Shape;579;p26"/>
              <p:cNvSpPr/>
              <p:nvPr/>
            </p:nvSpPr>
            <p:spPr>
              <a:xfrm>
                <a:off x="2956673" y="3261454"/>
                <a:ext cx="3098785" cy="2042432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8D898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FF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瘦狗：</a:t>
                </a:r>
                <a:endParaRPr b="1" i="0" sz="1200" u="none" cap="none" strike="noStrike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FF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退出/重新细分</a:t>
                </a:r>
                <a:endParaRPr/>
              </a:p>
            </p:txBody>
          </p:sp>
          <p:sp>
            <p:nvSpPr>
              <p:cNvPr id="580" name="Google Shape;580;p26"/>
              <p:cNvSpPr/>
              <p:nvPr/>
            </p:nvSpPr>
            <p:spPr>
              <a:xfrm>
                <a:off x="6055458" y="1217662"/>
                <a:ext cx="3098785" cy="2043793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8D898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明星</a:t>
                </a:r>
                <a:endParaRPr b="1" i="0" sz="1200" u="none" cap="none" strike="noStrike">
                  <a:solidFill>
                    <a:srgbClr val="0000FF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碗里的+锅里的</a:t>
                </a:r>
                <a:endParaRPr/>
              </a:p>
            </p:txBody>
          </p:sp>
          <p:sp>
            <p:nvSpPr>
              <p:cNvPr id="581" name="Google Shape;581;p26"/>
              <p:cNvSpPr/>
              <p:nvPr/>
            </p:nvSpPr>
            <p:spPr>
              <a:xfrm>
                <a:off x="6059538" y="3264176"/>
                <a:ext cx="3098785" cy="2041071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8D898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金牛</a:t>
                </a:r>
                <a:b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</a:br>
                <a:r>
                  <a:rPr b="1" i="0" lang="zh-CN" sz="1200" u="none" cap="none" strike="noStrike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碗里的</a:t>
                </a:r>
                <a:endParaRPr/>
              </a:p>
            </p:txBody>
          </p:sp>
          <p:sp>
            <p:nvSpPr>
              <p:cNvPr id="582" name="Google Shape;582;p26"/>
              <p:cNvSpPr txBox="1"/>
              <p:nvPr/>
            </p:nvSpPr>
            <p:spPr>
              <a:xfrm>
                <a:off x="1835777" y="1219022"/>
                <a:ext cx="1033835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高</a:t>
                </a:r>
                <a:endParaRPr/>
              </a:p>
            </p:txBody>
          </p:sp>
          <p:sp>
            <p:nvSpPr>
              <p:cNvPr id="583" name="Google Shape;583;p26"/>
              <p:cNvSpPr txBox="1"/>
              <p:nvPr/>
            </p:nvSpPr>
            <p:spPr>
              <a:xfrm>
                <a:off x="1835777" y="5043990"/>
                <a:ext cx="1033835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低</a:t>
                </a:r>
                <a:endParaRPr/>
              </a:p>
            </p:txBody>
          </p:sp>
          <p:sp>
            <p:nvSpPr>
              <p:cNvPr id="584" name="Google Shape;584;p26"/>
              <p:cNvSpPr txBox="1"/>
              <p:nvPr/>
            </p:nvSpPr>
            <p:spPr>
              <a:xfrm>
                <a:off x="8079598" y="5359675"/>
                <a:ext cx="1033835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高</a:t>
                </a:r>
                <a:endParaRPr/>
              </a:p>
            </p:txBody>
          </p:sp>
          <p:sp>
            <p:nvSpPr>
              <p:cNvPr id="585" name="Google Shape;585;p26"/>
              <p:cNvSpPr txBox="1"/>
              <p:nvPr/>
            </p:nvSpPr>
            <p:spPr>
              <a:xfrm>
                <a:off x="2994761" y="5359675"/>
                <a:ext cx="1033835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低</a:t>
                </a:r>
                <a:endParaRPr/>
              </a:p>
            </p:txBody>
          </p:sp>
          <p:cxnSp>
            <p:nvCxnSpPr>
              <p:cNvPr id="586" name="Google Shape;586;p26"/>
              <p:cNvCxnSpPr/>
              <p:nvPr/>
            </p:nvCxnSpPr>
            <p:spPr>
              <a:xfrm rot="10800000">
                <a:off x="2634279" y="1578250"/>
                <a:ext cx="0" cy="3420836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87" name="Google Shape;587;p26"/>
              <p:cNvCxnSpPr/>
              <p:nvPr/>
            </p:nvCxnSpPr>
            <p:spPr>
              <a:xfrm>
                <a:off x="3489914" y="5450843"/>
                <a:ext cx="5041307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88" name="Google Shape;588;p26"/>
              <p:cNvSpPr/>
              <p:nvPr/>
            </p:nvSpPr>
            <p:spPr>
              <a:xfrm>
                <a:off x="6953261" y="2664101"/>
                <a:ext cx="580852" cy="581025"/>
              </a:xfrm>
              <a:prstGeom prst="ellipse">
                <a:avLst/>
              </a:prstGeom>
              <a:solidFill>
                <a:srgbClr val="FFCC00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55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无线– 3G</a:t>
                </a:r>
                <a:endParaRPr/>
              </a:p>
            </p:txBody>
          </p:sp>
          <p:sp>
            <p:nvSpPr>
              <p:cNvPr id="589" name="Google Shape;589;p26"/>
              <p:cNvSpPr/>
              <p:nvPr/>
            </p:nvSpPr>
            <p:spPr>
              <a:xfrm>
                <a:off x="3389251" y="1975579"/>
                <a:ext cx="371364" cy="371475"/>
              </a:xfrm>
              <a:prstGeom prst="ellipse">
                <a:avLst/>
              </a:prstGeom>
              <a:solidFill>
                <a:srgbClr val="E74A2E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xTV</a:t>
                </a:r>
                <a:endParaRPr/>
              </a:p>
            </p:txBody>
          </p:sp>
          <p:sp>
            <p:nvSpPr>
              <p:cNvPr id="590" name="Google Shape;590;p26"/>
              <p:cNvSpPr/>
              <p:nvPr/>
            </p:nvSpPr>
            <p:spPr>
              <a:xfrm>
                <a:off x="9238582" y="3857447"/>
                <a:ext cx="584933" cy="585107"/>
              </a:xfrm>
              <a:prstGeom prst="ellipse">
                <a:avLst/>
              </a:prstGeom>
              <a:solidFill>
                <a:srgbClr val="E74A2E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 </a:t>
                </a:r>
                <a:endParaRPr/>
              </a:p>
            </p:txBody>
          </p:sp>
          <p:sp>
            <p:nvSpPr>
              <p:cNvPr id="591" name="Google Shape;591;p26"/>
              <p:cNvSpPr txBox="1"/>
              <p:nvPr/>
            </p:nvSpPr>
            <p:spPr>
              <a:xfrm>
                <a:off x="9088947" y="2664101"/>
                <a:ext cx="972621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市场空间：</a:t>
                </a:r>
                <a:endParaRPr/>
              </a:p>
            </p:txBody>
          </p:sp>
          <p:sp>
            <p:nvSpPr>
              <p:cNvPr id="592" name="Google Shape;592;p26"/>
              <p:cNvSpPr/>
              <p:nvPr/>
            </p:nvSpPr>
            <p:spPr>
              <a:xfrm>
                <a:off x="9381413" y="2994754"/>
                <a:ext cx="299268" cy="297996"/>
              </a:xfrm>
              <a:prstGeom prst="ellipse">
                <a:avLst/>
              </a:prstGeom>
              <a:solidFill>
                <a:srgbClr val="E74A2E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 </a:t>
                </a:r>
                <a:endParaRPr/>
              </a:p>
            </p:txBody>
          </p:sp>
          <p:cxnSp>
            <p:nvCxnSpPr>
              <p:cNvPr id="593" name="Google Shape;593;p26"/>
              <p:cNvCxnSpPr/>
              <p:nvPr/>
            </p:nvCxnSpPr>
            <p:spPr>
              <a:xfrm>
                <a:off x="9531047" y="3292750"/>
                <a:ext cx="0" cy="56469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94" name="Google Shape;594;p26"/>
              <p:cNvSpPr txBox="1"/>
              <p:nvPr/>
            </p:nvSpPr>
            <p:spPr>
              <a:xfrm>
                <a:off x="9828955" y="3016525"/>
                <a:ext cx="429858" cy="254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icrosoft Yahei"/>
                  <a:buNone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$1亿</a:t>
                </a:r>
                <a:endParaRPr/>
              </a:p>
            </p:txBody>
          </p:sp>
          <p:sp>
            <p:nvSpPr>
              <p:cNvPr id="595" name="Google Shape;595;p26"/>
              <p:cNvSpPr txBox="1"/>
              <p:nvPr/>
            </p:nvSpPr>
            <p:spPr>
              <a:xfrm>
                <a:off x="9828955" y="4027536"/>
                <a:ext cx="429858" cy="254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icrosoft Yahei"/>
                  <a:buNone/>
                </a:pPr>
                <a:r>
                  <a:rPr b="0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$5亿</a:t>
                </a:r>
                <a:endParaRPr/>
              </a:p>
            </p:txBody>
          </p:sp>
          <p:sp>
            <p:nvSpPr>
              <p:cNvPr id="596" name="Google Shape;596;p26"/>
              <p:cNvSpPr/>
              <p:nvPr/>
            </p:nvSpPr>
            <p:spPr>
              <a:xfrm>
                <a:off x="6347923" y="4027536"/>
                <a:ext cx="745450" cy="634093"/>
              </a:xfrm>
              <a:prstGeom prst="ellipse">
                <a:avLst/>
              </a:prstGeom>
              <a:solidFill>
                <a:srgbClr val="8D898D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0" spcFirstLastPara="1" rIns="19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icrosoft Yahei"/>
                  <a:buNone/>
                </a:pPr>
                <a:r>
                  <a:rPr b="1" i="0" lang="zh-C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网络-IMS</a:t>
                </a:r>
                <a:endParaRPr/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4644816" y="3016526"/>
                <a:ext cx="387689" cy="387803"/>
              </a:xfrm>
              <a:prstGeom prst="ellipse">
                <a:avLst/>
              </a:prstGeom>
              <a:solidFill>
                <a:srgbClr val="66FF99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软件</a:t>
                </a:r>
                <a:endParaRPr/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3096784" y="2875012"/>
                <a:ext cx="197245" cy="197303"/>
              </a:xfrm>
              <a:prstGeom prst="ellipse">
                <a:avLst/>
              </a:prstGeom>
              <a:solidFill>
                <a:srgbClr val="2183D9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b="1" i="0" sz="12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</p:txBody>
          </p:sp>
          <p:sp>
            <p:nvSpPr>
              <p:cNvPr id="599" name="Google Shape;599;p26"/>
              <p:cNvSpPr/>
              <p:nvPr/>
            </p:nvSpPr>
            <p:spPr>
              <a:xfrm>
                <a:off x="3208083" y="2845140"/>
                <a:ext cx="666180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终端</a:t>
                </a:r>
                <a:endParaRPr/>
              </a:p>
            </p:txBody>
          </p:sp>
          <p:sp>
            <p:nvSpPr>
              <p:cNvPr id="600" name="Google Shape;600;p26"/>
              <p:cNvSpPr/>
              <p:nvPr/>
            </p:nvSpPr>
            <p:spPr>
              <a:xfrm>
                <a:off x="7870110" y="1685747"/>
                <a:ext cx="918208" cy="978353"/>
              </a:xfrm>
              <a:prstGeom prst="ellipse">
                <a:avLst/>
              </a:prstGeom>
              <a:solidFill>
                <a:srgbClr val="FFCC00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00" spcFirstLastPara="1" rIns="55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无线</a:t>
                </a:r>
                <a:endParaRPr b="1" i="0" sz="1000" u="none" cap="none" strike="noStrike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  <a:sym typeface="Microsoft Yahei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icrosoft Yahei"/>
                  <a:buNone/>
                </a:pPr>
                <a:r>
                  <a:rPr b="1" i="0" lang="zh-CN" sz="10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- 4G</a:t>
                </a:r>
                <a:endParaRPr/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7334148" y="4586790"/>
                <a:ext cx="745450" cy="632732"/>
              </a:xfrm>
              <a:prstGeom prst="ellipse">
                <a:avLst/>
              </a:prstGeom>
              <a:solidFill>
                <a:srgbClr val="8D898D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0" spcFirstLastPara="1" rIns="19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icrosoft Yahei"/>
                  <a:buNone/>
                </a:pPr>
                <a:r>
                  <a:rPr b="1" i="0" lang="zh-CN" sz="9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网络-接入</a:t>
                </a:r>
                <a:endParaRPr/>
              </a:p>
            </p:txBody>
          </p:sp>
          <p:sp>
            <p:nvSpPr>
              <p:cNvPr id="602" name="Google Shape;602;p26"/>
              <p:cNvSpPr txBox="1"/>
              <p:nvPr/>
            </p:nvSpPr>
            <p:spPr>
              <a:xfrm>
                <a:off x="3811039" y="5635900"/>
                <a:ext cx="4143404" cy="2863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Microsoft Yahei"/>
                  <a:buNone/>
                </a:pP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公司的竞争地位（</a:t>
                </a:r>
                <a:r>
                  <a:rPr b="1" i="0" lang="zh-CN" sz="1200" u="none" cap="none" strike="noStrike">
                    <a:solidFill>
                      <a:srgbClr val="FF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市场份额, </a:t>
                </a:r>
                <a:r>
                  <a:rPr b="1" i="0" lang="zh-CN" sz="1200" u="none" cap="none" strike="noStrike">
                    <a:solidFill>
                      <a:srgbClr val="0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控制点, 竞争优势等）</a:t>
                </a:r>
                <a:endParaRPr/>
              </a:p>
            </p:txBody>
          </p:sp>
        </p:grpSp>
        <p:sp>
          <p:nvSpPr>
            <p:cNvPr id="603" name="Google Shape;603;p26"/>
            <p:cNvSpPr/>
            <p:nvPr/>
          </p:nvSpPr>
          <p:spPr>
            <a:xfrm>
              <a:off x="2461" y="1782"/>
              <a:ext cx="13091" cy="1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SPAN:Strategy Positioning Analysis战略定位分析，</a:t>
              </a:r>
              <a:r>
                <a:rPr b="1" lang="zh-CN" sz="16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市场地位+增长率+市场空间</a:t>
              </a:r>
              <a:br>
                <a:rPr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</a:br>
              <a:endParaRPr sz="16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604" name="Google Shape;604;p26"/>
          <p:cNvSpPr txBox="1"/>
          <p:nvPr/>
        </p:nvSpPr>
        <p:spPr>
          <a:xfrm>
            <a:off x="1991360" y="6295544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可以按产品、区域等多种维度画SPAN图；差异大的进一步细分到可管理</a:t>
            </a:r>
            <a:endParaRPr b="1" sz="20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0741" y="1587189"/>
            <a:ext cx="5670630" cy="19288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1" name="Google Shape;611;p33"/>
          <p:cNvGraphicFramePr/>
          <p:nvPr/>
        </p:nvGraphicFramePr>
        <p:xfrm>
          <a:off x="1655101" y="3592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{079EC5A4-D3B5-423A-9084-938E6637AEE3}</a:tableStyleId>
              </a:tblPr>
              <a:tblGrid>
                <a:gridCol w="1143000"/>
                <a:gridCol w="2428875"/>
                <a:gridCol w="2286000"/>
                <a:gridCol w="2428875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lang="zh-CN" sz="135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定义与特征</a:t>
                      </a:r>
                      <a:endParaRPr/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成熟业务，收入与利润的主要来源</a:t>
                      </a:r>
                      <a:endParaRPr/>
                    </a:p>
                  </a:txBody>
                  <a:tcPr marT="45725" marB="45725" marR="121925" marL="12192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增长业务，市场增长和扩张机会的来源</a:t>
                      </a:r>
                      <a:endParaRPr/>
                    </a:p>
                  </a:txBody>
                  <a:tcPr marT="45725" marB="45725" marR="121925" marL="12192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产品/业务创新的组合，未来长期增长的机会点</a:t>
                      </a:r>
                      <a:endParaRPr/>
                    </a:p>
                  </a:txBody>
                  <a:tcPr marT="45725" marB="45725" marR="121925" marL="12192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lang="zh-CN" sz="1350" u="none" cap="none" strike="noStrike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管理重点与指标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1" sz="1350" u="none" cap="none" strike="noStrike">
                        <a:solidFill>
                          <a:schemeClr val="dk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近期的利润表现与现金流</a:t>
                      </a:r>
                      <a:endParaRPr sz="135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-利润（收入/支出）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-ROI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-生产效率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收入的増长和投资回报</a:t>
                      </a:r>
                      <a:endParaRPr sz="135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-收入增长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-新客户/关键客户获取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-市场份额增长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-预期收益，净现值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回报的多少和成功的可能性</a:t>
                      </a:r>
                      <a:endParaRPr sz="135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-顶目进展关键里程碑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-机会点的数量和回报评估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Microsoft Yahei"/>
                        <a:buNone/>
                      </a:pPr>
                      <a:r>
                        <a:rPr lang="zh-CN" sz="135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-从创意到商用的成功概率</a:t>
                      </a:r>
                      <a:endParaRPr/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2" name="Google Shape;612;p33"/>
          <p:cNvSpPr txBox="1"/>
          <p:nvPr/>
        </p:nvSpPr>
        <p:spPr>
          <a:xfrm>
            <a:off x="2951308" y="5363223"/>
            <a:ext cx="5325110" cy="297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None/>
            </a:pPr>
            <a:r>
              <a:rPr b="1" i="0" lang="zh-CN" sz="135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一定要建立起差异化的管理模式（研发、市场）：投入、考核、激励</a:t>
            </a:r>
            <a:endParaRPr/>
          </a:p>
        </p:txBody>
      </p:sp>
      <p:sp>
        <p:nvSpPr>
          <p:cNvPr id="613" name="Google Shape;613;p33"/>
          <p:cNvSpPr txBox="1"/>
          <p:nvPr/>
        </p:nvSpPr>
        <p:spPr>
          <a:xfrm>
            <a:off x="3651777" y="2029988"/>
            <a:ext cx="695960" cy="297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None/>
            </a:pPr>
            <a:r>
              <a:rPr b="1" i="0" lang="zh-CN" sz="135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碗里的</a:t>
            </a:r>
            <a:endParaRPr/>
          </a:p>
        </p:txBody>
      </p:sp>
      <p:sp>
        <p:nvSpPr>
          <p:cNvPr id="614" name="Google Shape;614;p33"/>
          <p:cNvSpPr txBox="1"/>
          <p:nvPr/>
        </p:nvSpPr>
        <p:spPr>
          <a:xfrm>
            <a:off x="5090863" y="1719769"/>
            <a:ext cx="695960" cy="297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None/>
            </a:pPr>
            <a:r>
              <a:rPr b="1" i="0" lang="zh-CN" sz="135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锅里的</a:t>
            </a:r>
            <a:endParaRPr/>
          </a:p>
        </p:txBody>
      </p:sp>
      <p:sp>
        <p:nvSpPr>
          <p:cNvPr id="615" name="Google Shape;615;p33"/>
          <p:cNvSpPr txBox="1"/>
          <p:nvPr/>
        </p:nvSpPr>
        <p:spPr>
          <a:xfrm>
            <a:off x="6591161" y="1342605"/>
            <a:ext cx="695960" cy="297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None/>
            </a:pPr>
            <a:r>
              <a:rPr b="1" i="0" lang="zh-CN" sz="1350" u="none" cap="none" strike="noStrike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田里的</a:t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587719" y="428816"/>
            <a:ext cx="8581272" cy="624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zh-CN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业务组合策略：碗里的，锅里的，田里的都要创新，重点不同</a:t>
            </a:r>
            <a:endParaRPr b="1" i="0" sz="2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zh-CN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分别是商业模式、产品竞争力、标准专利。案例：UMTS</a:t>
            </a:r>
            <a:endParaRPr b="1" i="0" sz="2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1671320" y="6296074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1、量大、高增长的锅里业务饱和攻击；2、碗里：饥饿性配置；3、田里：枪+炮</a:t>
            </a:r>
            <a:endParaRPr b="1" sz="18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4"/>
          <p:cNvSpPr/>
          <p:nvPr/>
        </p:nvSpPr>
        <p:spPr>
          <a:xfrm>
            <a:off x="-17780" y="5241290"/>
            <a:ext cx="12200255" cy="162623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23" name="Google Shape;623;p34"/>
          <p:cNvSpPr txBox="1"/>
          <p:nvPr/>
        </p:nvSpPr>
        <p:spPr>
          <a:xfrm>
            <a:off x="541778" y="469582"/>
            <a:ext cx="9195435" cy="343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创新方向：1、对准客户需求；2、依托现有优势：鲜花长在牛粪上</a:t>
            </a:r>
            <a:endParaRPr/>
          </a:p>
        </p:txBody>
      </p:sp>
      <p:sp>
        <p:nvSpPr>
          <p:cNvPr id="624" name="Google Shape;624;p34"/>
          <p:cNvSpPr txBox="1"/>
          <p:nvPr/>
        </p:nvSpPr>
        <p:spPr>
          <a:xfrm rot="5400000">
            <a:off x="583248" y="2925763"/>
            <a:ext cx="3481070" cy="457835"/>
          </a:xfrm>
          <a:prstGeom prst="rect">
            <a:avLst/>
          </a:prstGeom>
          <a:solidFill>
            <a:srgbClr val="D4EAF5"/>
          </a:solidFill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关注成长               关注成本</a:t>
            </a:r>
            <a:endParaRPr/>
          </a:p>
        </p:txBody>
      </p:sp>
      <p:sp>
        <p:nvSpPr>
          <p:cNvPr id="625" name="Google Shape;625;p34"/>
          <p:cNvSpPr txBox="1"/>
          <p:nvPr/>
        </p:nvSpPr>
        <p:spPr>
          <a:xfrm>
            <a:off x="2723515" y="1452245"/>
            <a:ext cx="3291840" cy="183832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产品、服务和市场创新	</a:t>
            </a:r>
            <a:endParaRPr/>
          </a:p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应用于聚焦客户和进入	</a:t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市场领域</a:t>
            </a:r>
            <a:r>
              <a:rPr b="0" i="0" lang="zh-CN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	</a:t>
            </a:r>
            <a:endParaRPr/>
          </a:p>
        </p:txBody>
      </p:sp>
      <p:sp>
        <p:nvSpPr>
          <p:cNvPr id="626" name="Google Shape;626;p34"/>
          <p:cNvSpPr txBox="1"/>
          <p:nvPr/>
        </p:nvSpPr>
        <p:spPr>
          <a:xfrm>
            <a:off x="6424930" y="1454150"/>
            <a:ext cx="3789680" cy="9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发展和发行创新产品和服务</a:t>
            </a:r>
            <a:endParaRPr/>
          </a:p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进入新市场，寻找新客户</a:t>
            </a:r>
            <a:endParaRPr/>
          </a:p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推行新的渠道和交付路径</a:t>
            </a:r>
            <a:endParaRPr/>
          </a:p>
        </p:txBody>
      </p:sp>
      <p:cxnSp>
        <p:nvCxnSpPr>
          <p:cNvPr id="627" name="Google Shape;627;p34"/>
          <p:cNvCxnSpPr/>
          <p:nvPr/>
        </p:nvCxnSpPr>
        <p:spPr>
          <a:xfrm>
            <a:off x="2799080" y="2512060"/>
            <a:ext cx="6497320" cy="5715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4"/>
          <p:cNvCxnSpPr/>
          <p:nvPr/>
        </p:nvCxnSpPr>
        <p:spPr>
          <a:xfrm flipH="1" rot="10800000">
            <a:off x="2799080" y="3648710"/>
            <a:ext cx="6497320" cy="4826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34"/>
          <p:cNvSpPr txBox="1"/>
          <p:nvPr/>
        </p:nvSpPr>
        <p:spPr>
          <a:xfrm>
            <a:off x="2723515" y="2948940"/>
            <a:ext cx="3291840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业务模式创新</a:t>
            </a:r>
            <a:endParaRPr/>
          </a:p>
          <a:p>
            <a:pPr indent="-21463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1" marL="127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	</a:t>
            </a:r>
            <a:endParaRPr/>
          </a:p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创新用于重建和企业扩张</a:t>
            </a:r>
            <a:r>
              <a:rPr b="0" i="0" lang="zh-CN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	</a:t>
            </a:r>
            <a:endParaRPr/>
          </a:p>
        </p:txBody>
      </p:sp>
      <p:sp>
        <p:nvSpPr>
          <p:cNvPr id="630" name="Google Shape;630;p34"/>
          <p:cNvSpPr txBox="1"/>
          <p:nvPr/>
        </p:nvSpPr>
        <p:spPr>
          <a:xfrm>
            <a:off x="6424930" y="2639060"/>
            <a:ext cx="3789680" cy="9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发展业务运营的新方式</a:t>
            </a:r>
            <a:endParaRPr/>
          </a:p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建立伙伴系快速响应市场</a:t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提升业务灵活性</a:t>
            </a:r>
            <a:endParaRPr/>
          </a:p>
        </p:txBody>
      </p:sp>
      <p:sp>
        <p:nvSpPr>
          <p:cNvPr id="631" name="Google Shape;631;p34"/>
          <p:cNvSpPr txBox="1"/>
          <p:nvPr/>
        </p:nvSpPr>
        <p:spPr>
          <a:xfrm>
            <a:off x="2723515" y="4080510"/>
            <a:ext cx="3702050" cy="9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运营创新</a:t>
            </a:r>
            <a:endParaRPr/>
          </a:p>
          <a:p>
            <a:pPr indent="-285750" lvl="1" marL="28702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创新以改善核心职能领域的效能和效率	</a:t>
            </a:r>
            <a:endParaRPr/>
          </a:p>
        </p:txBody>
      </p:sp>
      <p:sp>
        <p:nvSpPr>
          <p:cNvPr id="632" name="Google Shape;632;p34"/>
          <p:cNvSpPr txBox="1"/>
          <p:nvPr/>
        </p:nvSpPr>
        <p:spPr>
          <a:xfrm>
            <a:off x="6424930" y="3864610"/>
            <a:ext cx="3941445" cy="95885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发展的最佳成本结构 </a:t>
            </a:r>
            <a:endParaRPr/>
          </a:p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优化流程以改进生产力</a:t>
            </a:r>
            <a:endParaRPr/>
          </a:p>
          <a:p>
            <a:pPr indent="-285750" lvl="1" marL="28702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核心职能再造（改组）以提高效率</a:t>
            </a: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1745615" y="5380990"/>
            <a:ext cx="8978900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-243205" lvl="0" marL="243205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Char char="•"/>
            </a:pPr>
            <a:r>
              <a:rPr b="1"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创新是常态：</a:t>
            </a:r>
            <a:r>
              <a:rPr lang="zh-CN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不创新反而是最大的风险，me too没有出路（人无我有/</a:t>
            </a:r>
            <a:r>
              <a:rPr b="1"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快</a:t>
            </a:r>
            <a:r>
              <a:rPr lang="zh-CN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，人有我优/不断学习、</a:t>
            </a:r>
            <a:r>
              <a:rPr b="1"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自我批判</a:t>
            </a:r>
            <a:r>
              <a:rPr lang="zh-CN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）</a:t>
            </a:r>
            <a:endParaRPr sz="14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43205" lvl="0" marL="243205" marR="0" rtl="0" algn="l"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Char char="•"/>
            </a:pPr>
            <a:r>
              <a:rPr b="1"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反对盲目创新，创新要对准客户需求：</a:t>
            </a:r>
            <a:r>
              <a:rPr lang="zh-CN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到客户现场、应用场景、工程创新、TCO降低</a:t>
            </a:r>
            <a:endParaRPr/>
          </a:p>
          <a:p>
            <a:pPr indent="-243205" lvl="0" marL="243205" marR="0" rtl="0" algn="l"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Char char="•"/>
            </a:pPr>
            <a:r>
              <a:rPr b="1" lang="zh-CN" sz="1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鲜花长在牛粪上：</a:t>
            </a:r>
            <a:r>
              <a:rPr lang="zh-CN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利用现有的资源和切入点（客户关系、客户需求理解、销售存量等）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Google Shape;640;p35"/>
          <p:cNvGraphicFramePr/>
          <p:nvPr/>
        </p:nvGraphicFramePr>
        <p:xfrm>
          <a:off x="1865737" y="15189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{079EC5A4-D3B5-423A-9084-938E6637AEE3}</a:tableStyleId>
              </a:tblPr>
              <a:tblGrid>
                <a:gridCol w="1896100"/>
                <a:gridCol w="6666225"/>
              </a:tblGrid>
              <a:tr h="636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C78C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i="0" lang="zh-CN" sz="1350" u="none" cap="none" strike="noStrike">
                          <a:solidFill>
                            <a:srgbClr val="FCC7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产品/技术创新</a:t>
                      </a:r>
                      <a:endParaRPr/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服务创新</a:t>
                      </a:r>
                      <a:endParaRPr/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业务流程创新</a:t>
                      </a:r>
                      <a:endParaRPr/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C78C"/>
                        </a:buClr>
                        <a:buSzPts val="1350"/>
                        <a:buFont typeface="Microsoft Yahei"/>
                        <a:buNone/>
                      </a:pPr>
                      <a:r>
                        <a:rPr b="1" lang="zh-CN" sz="1350" u="none" cap="none" strike="noStrike">
                          <a:solidFill>
                            <a:srgbClr val="FCC7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业务模式创新</a:t>
                      </a:r>
                      <a:endParaRPr/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文化和管理创新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>
                        <a:solidFill>
                          <a:schemeClr val="lt1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6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50"/>
                        <a:buFont typeface="Microsoft Yahei"/>
                        <a:buNone/>
                      </a:pPr>
                      <a:r>
                        <a:rPr b="0" lang="zh-CN" sz="1350" u="none" cap="none" strike="noStrike">
                          <a:solidFill>
                            <a:schemeClr val="lt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政策和社区创新</a:t>
                      </a:r>
                      <a:endParaRPr/>
                    </a:p>
                  </a:txBody>
                  <a:tcPr marT="45725" marB="45725" marR="121925" marL="121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9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41" name="Google Shape;64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7688" y="1557086"/>
            <a:ext cx="999909" cy="55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1834" y="1528464"/>
            <a:ext cx="740228" cy="617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43977" y="3544899"/>
            <a:ext cx="1289491" cy="44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71834" y="3488009"/>
            <a:ext cx="541218" cy="483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6668" y="3455188"/>
            <a:ext cx="930719" cy="58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32135" y="2846717"/>
            <a:ext cx="885095" cy="45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71834" y="2867500"/>
            <a:ext cx="541218" cy="496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32134" y="2214528"/>
            <a:ext cx="886337" cy="517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98352" y="1557087"/>
            <a:ext cx="464639" cy="55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32134" y="3457101"/>
            <a:ext cx="844040" cy="568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32134" y="4100536"/>
            <a:ext cx="11620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3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032134" y="4724642"/>
            <a:ext cx="723659" cy="57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3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371834" y="4796499"/>
            <a:ext cx="578828" cy="644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371834" y="2181910"/>
            <a:ext cx="953702" cy="576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96668" y="2798277"/>
            <a:ext cx="603110" cy="60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371603" y="1610145"/>
            <a:ext cx="986338" cy="493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496668" y="2212892"/>
            <a:ext cx="811513" cy="563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371834" y="4212715"/>
            <a:ext cx="557470" cy="475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496668" y="4717663"/>
            <a:ext cx="796429" cy="59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698352" y="4750720"/>
            <a:ext cx="755149" cy="56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496668" y="4158709"/>
            <a:ext cx="908195" cy="39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3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032134" y="1588643"/>
            <a:ext cx="885096" cy="496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698352" y="2293885"/>
            <a:ext cx="480946" cy="432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317688" y="4796499"/>
            <a:ext cx="661146" cy="44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213179" y="4841789"/>
            <a:ext cx="487160" cy="44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3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698352" y="2842296"/>
            <a:ext cx="560519" cy="515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3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8504293" y="2441503"/>
            <a:ext cx="693410" cy="25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3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649458" y="1572016"/>
            <a:ext cx="507899" cy="49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5"/>
          <p:cNvSpPr txBox="1"/>
          <p:nvPr/>
        </p:nvSpPr>
        <p:spPr>
          <a:xfrm>
            <a:off x="631907" y="572660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创新领域：技术+产品+服务+商业模式+管理变革+生态</a:t>
            </a:r>
            <a:endParaRPr/>
          </a:p>
        </p:txBody>
      </p:sp>
      <p:sp>
        <p:nvSpPr>
          <p:cNvPr id="670" name="Google Shape;670;p35"/>
          <p:cNvSpPr txBox="1"/>
          <p:nvPr/>
        </p:nvSpPr>
        <p:spPr>
          <a:xfrm>
            <a:off x="1651000" y="6328459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最能构筑长期竞争力和门槛的是核心技术创新，其它都容易被模仿</a:t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3865002" y="1521913"/>
            <a:ext cx="6469552" cy="6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66275" spcFirstLastPara="1" rIns="0" wrap="square" tIns="0">
            <a:noAutofit/>
          </a:bodyPr>
          <a:lstStyle/>
          <a:p>
            <a:pPr indent="0" lvl="0" marL="16065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35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特斯拉            苹果        华为          凯迪拉克       大疆    </a:t>
            </a:r>
            <a:endParaRPr b="1" sz="1635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3804271" y="3439026"/>
            <a:ext cx="6469552" cy="6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66275" spcFirstLastPara="1" rIns="0" wrap="square" tIns="0">
            <a:noAutofit/>
          </a:bodyPr>
          <a:lstStyle/>
          <a:p>
            <a:pPr indent="0" lvl="0" marL="16065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35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摩拜单车            百度             阿里巴巴             谷歌</a:t>
            </a:r>
            <a:endParaRPr b="1" sz="1635">
              <a:solidFill>
                <a:srgbClr val="C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3804271" y="2156179"/>
            <a:ext cx="6469552" cy="6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66275" spcFirstLastPara="1" rIns="0" wrap="square" tIns="0">
            <a:noAutofit/>
          </a:bodyPr>
          <a:lstStyle/>
          <a:p>
            <a:pPr indent="0" lvl="0" marL="16065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35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星巴克            淘宝          最多跑1次         携程      亚马逊    </a:t>
            </a:r>
            <a:endParaRPr b="1" sz="1635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3804271" y="2796191"/>
            <a:ext cx="6469552" cy="6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66275" spcFirstLastPara="1" rIns="0" wrap="square" tIns="0">
            <a:noAutofit/>
          </a:bodyPr>
          <a:lstStyle/>
          <a:p>
            <a:pPr indent="0" lvl="0" marL="16065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35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IBM            通用电气          华为           支付宝    </a:t>
            </a:r>
            <a:endParaRPr b="1" sz="1635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3804271" y="4074056"/>
            <a:ext cx="6469552" cy="6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66275" spcFirstLastPara="1" rIns="0" wrap="square" tIns="0">
            <a:noAutofit/>
          </a:bodyPr>
          <a:lstStyle/>
          <a:p>
            <a:pPr indent="0" lvl="0" marL="16065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35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迪斯尼            麦当劳         宜家    </a:t>
            </a:r>
            <a:endParaRPr b="1" sz="1635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3819492" y="4701397"/>
            <a:ext cx="6469552" cy="6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66275" spcFirstLastPara="1" rIns="0" wrap="square" tIns="0">
            <a:noAutofit/>
          </a:bodyPr>
          <a:lstStyle/>
          <a:p>
            <a:pPr indent="0" lvl="0" marL="16065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35">
                <a:solidFill>
                  <a:srgbClr val="3F3F3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腾讯社区         微信         领英          今日头条          脸书    </a:t>
            </a:r>
            <a:endParaRPr b="1" sz="1635">
              <a:solidFill>
                <a:srgbClr val="3F3F3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9"/>
          <p:cNvSpPr/>
          <p:nvPr/>
        </p:nvSpPr>
        <p:spPr>
          <a:xfrm>
            <a:off x="2202656" y="1337991"/>
            <a:ext cx="3577114" cy="4439633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2365375" y="2105660"/>
            <a:ext cx="369570" cy="22479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zh-CN" sz="9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</a:t>
            </a:r>
            <a:endParaRPr/>
          </a:p>
        </p:txBody>
      </p:sp>
      <p:sp>
        <p:nvSpPr>
          <p:cNvPr id="684" name="Google Shape;684;p39"/>
          <p:cNvSpPr/>
          <p:nvPr/>
        </p:nvSpPr>
        <p:spPr>
          <a:xfrm>
            <a:off x="2365375" y="2482215"/>
            <a:ext cx="368935" cy="23368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9</a:t>
            </a:r>
            <a:endParaRPr/>
          </a:p>
        </p:txBody>
      </p:sp>
      <p:sp>
        <p:nvSpPr>
          <p:cNvPr id="685" name="Google Shape;685;p39"/>
          <p:cNvSpPr/>
          <p:nvPr/>
        </p:nvSpPr>
        <p:spPr>
          <a:xfrm>
            <a:off x="2365375" y="2858135"/>
            <a:ext cx="344170" cy="21463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8</a:t>
            </a:r>
            <a:endParaRPr/>
          </a:p>
        </p:txBody>
      </p:sp>
      <p:sp>
        <p:nvSpPr>
          <p:cNvPr id="686" name="Google Shape;686;p39"/>
          <p:cNvSpPr/>
          <p:nvPr/>
        </p:nvSpPr>
        <p:spPr>
          <a:xfrm>
            <a:off x="2365375" y="3234690"/>
            <a:ext cx="344170" cy="21463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7</a:t>
            </a: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2365375" y="3610610"/>
            <a:ext cx="344170" cy="21463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6</a:t>
            </a:r>
            <a:endParaRPr/>
          </a:p>
        </p:txBody>
      </p:sp>
      <p:sp>
        <p:nvSpPr>
          <p:cNvPr id="688" name="Google Shape;688;p39"/>
          <p:cNvSpPr/>
          <p:nvPr/>
        </p:nvSpPr>
        <p:spPr>
          <a:xfrm>
            <a:off x="2365375" y="3987165"/>
            <a:ext cx="344170" cy="21463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</a:t>
            </a:r>
            <a:endParaRPr/>
          </a:p>
        </p:txBody>
      </p:sp>
      <p:sp>
        <p:nvSpPr>
          <p:cNvPr id="689" name="Google Shape;689;p39"/>
          <p:cNvSpPr/>
          <p:nvPr/>
        </p:nvSpPr>
        <p:spPr>
          <a:xfrm>
            <a:off x="2365375" y="4363085"/>
            <a:ext cx="344170" cy="21463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endParaRPr/>
          </a:p>
        </p:txBody>
      </p:sp>
      <p:sp>
        <p:nvSpPr>
          <p:cNvPr id="690" name="Google Shape;690;p39"/>
          <p:cNvSpPr/>
          <p:nvPr/>
        </p:nvSpPr>
        <p:spPr>
          <a:xfrm>
            <a:off x="2365375" y="4739640"/>
            <a:ext cx="344170" cy="21463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endParaRPr/>
          </a:p>
        </p:txBody>
      </p:sp>
      <p:sp>
        <p:nvSpPr>
          <p:cNvPr id="691" name="Google Shape;691;p39"/>
          <p:cNvSpPr/>
          <p:nvPr/>
        </p:nvSpPr>
        <p:spPr>
          <a:xfrm>
            <a:off x="2365375" y="5114290"/>
            <a:ext cx="344170" cy="216535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endParaRPr/>
          </a:p>
        </p:txBody>
      </p:sp>
      <p:sp>
        <p:nvSpPr>
          <p:cNvPr id="692" name="Google Shape;692;p39"/>
          <p:cNvSpPr/>
          <p:nvPr/>
        </p:nvSpPr>
        <p:spPr>
          <a:xfrm>
            <a:off x="2365375" y="5490845"/>
            <a:ext cx="344170" cy="216535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endParaRPr/>
          </a:p>
        </p:txBody>
      </p:sp>
      <p:cxnSp>
        <p:nvCxnSpPr>
          <p:cNvPr id="693" name="Google Shape;693;p39"/>
          <p:cNvCxnSpPr/>
          <p:nvPr/>
        </p:nvCxnSpPr>
        <p:spPr>
          <a:xfrm>
            <a:off x="2365382" y="2392678"/>
            <a:ext cx="3298825" cy="0"/>
          </a:xfrm>
          <a:prstGeom prst="straightConnector1">
            <a:avLst/>
          </a:prstGeom>
          <a:solidFill>
            <a:srgbClr val="529DD7"/>
          </a:solidFill>
          <a:ln>
            <a:noFill/>
          </a:ln>
        </p:spPr>
      </p:cxnSp>
      <p:cxnSp>
        <p:nvCxnSpPr>
          <p:cNvPr id="694" name="Google Shape;694;p39"/>
          <p:cNvCxnSpPr/>
          <p:nvPr/>
        </p:nvCxnSpPr>
        <p:spPr>
          <a:xfrm>
            <a:off x="2365382" y="5401387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695" name="Google Shape;695;p39"/>
          <p:cNvCxnSpPr/>
          <p:nvPr/>
        </p:nvCxnSpPr>
        <p:spPr>
          <a:xfrm>
            <a:off x="2365382" y="5025149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696" name="Google Shape;696;p39"/>
          <p:cNvCxnSpPr/>
          <p:nvPr/>
        </p:nvCxnSpPr>
        <p:spPr>
          <a:xfrm>
            <a:off x="2365382" y="4272674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697" name="Google Shape;697;p39"/>
          <p:cNvCxnSpPr/>
          <p:nvPr/>
        </p:nvCxnSpPr>
        <p:spPr>
          <a:xfrm>
            <a:off x="2365382" y="3896437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698" name="Google Shape;698;p39"/>
          <p:cNvCxnSpPr/>
          <p:nvPr/>
        </p:nvCxnSpPr>
        <p:spPr>
          <a:xfrm>
            <a:off x="2365382" y="3520199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699" name="Google Shape;699;p39"/>
          <p:cNvCxnSpPr/>
          <p:nvPr/>
        </p:nvCxnSpPr>
        <p:spPr>
          <a:xfrm>
            <a:off x="2365382" y="3143962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00" name="Google Shape;700;p39"/>
          <p:cNvCxnSpPr/>
          <p:nvPr/>
        </p:nvCxnSpPr>
        <p:spPr>
          <a:xfrm>
            <a:off x="2365382" y="2768915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01" name="Google Shape;701;p39"/>
          <p:cNvSpPr/>
          <p:nvPr/>
        </p:nvSpPr>
        <p:spPr>
          <a:xfrm>
            <a:off x="3275020" y="2329576"/>
            <a:ext cx="3070225" cy="241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t/>
            </a:r>
            <a:endParaRPr b="1" sz="1275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02" name="Google Shape;702;p39"/>
          <p:cNvSpPr txBox="1"/>
          <p:nvPr/>
        </p:nvSpPr>
        <p:spPr>
          <a:xfrm>
            <a:off x="2805920" y="5451393"/>
            <a:ext cx="2289956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商品</a:t>
            </a:r>
            <a:endParaRPr/>
          </a:p>
        </p:txBody>
      </p:sp>
      <p:sp>
        <p:nvSpPr>
          <p:cNvPr id="703" name="Google Shape;703;p39"/>
          <p:cNvSpPr/>
          <p:nvPr/>
        </p:nvSpPr>
        <p:spPr>
          <a:xfrm>
            <a:off x="2805920" y="2016133"/>
            <a:ext cx="117729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拥有标准+专利</a:t>
            </a:r>
            <a:endParaRPr/>
          </a:p>
        </p:txBody>
      </p:sp>
      <p:sp>
        <p:nvSpPr>
          <p:cNvPr id="704" name="Google Shape;704;p39"/>
          <p:cNvSpPr/>
          <p:nvPr/>
        </p:nvSpPr>
        <p:spPr>
          <a:xfrm>
            <a:off x="2805920" y="2372121"/>
            <a:ext cx="140716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价值链粘性和控制</a:t>
            </a:r>
            <a:endParaRPr/>
          </a:p>
        </p:txBody>
      </p:sp>
      <p:sp>
        <p:nvSpPr>
          <p:cNvPr id="705" name="Google Shape;705;p39"/>
          <p:cNvSpPr/>
          <p:nvPr/>
        </p:nvSpPr>
        <p:spPr>
          <a:xfrm>
            <a:off x="2805920" y="2738843"/>
            <a:ext cx="110109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客户协同粘性</a:t>
            </a:r>
            <a:endParaRPr/>
          </a:p>
        </p:txBody>
      </p:sp>
      <p:sp>
        <p:nvSpPr>
          <p:cNvPr id="706" name="Google Shape;706;p39"/>
          <p:cNvSpPr/>
          <p:nvPr/>
        </p:nvSpPr>
        <p:spPr>
          <a:xfrm>
            <a:off x="2805920" y="3081761"/>
            <a:ext cx="1109662" cy="4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客户粘性</a:t>
            </a:r>
            <a:endParaRPr/>
          </a:p>
        </p:txBody>
      </p:sp>
      <p:sp>
        <p:nvSpPr>
          <p:cNvPr id="707" name="Google Shape;707;p39"/>
          <p:cNvSpPr txBox="1"/>
          <p:nvPr/>
        </p:nvSpPr>
        <p:spPr>
          <a:xfrm>
            <a:off x="2805920" y="3598780"/>
            <a:ext cx="1008062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品牌粘性</a:t>
            </a:r>
            <a:endParaRPr/>
          </a:p>
        </p:txBody>
      </p:sp>
      <p:sp>
        <p:nvSpPr>
          <p:cNvPr id="708" name="Google Shape;708;p39"/>
          <p:cNvSpPr txBox="1"/>
          <p:nvPr/>
        </p:nvSpPr>
        <p:spPr>
          <a:xfrm>
            <a:off x="2805920" y="3976208"/>
            <a:ext cx="2940513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技术领先（ICT，芯片+操作系统）</a:t>
            </a:r>
            <a:endParaRPr/>
          </a:p>
        </p:txBody>
      </p:sp>
      <p:sp>
        <p:nvSpPr>
          <p:cNvPr id="709" name="Google Shape;709;p39"/>
          <p:cNvSpPr/>
          <p:nvPr/>
        </p:nvSpPr>
        <p:spPr>
          <a:xfrm>
            <a:off x="2805920" y="4348874"/>
            <a:ext cx="2493466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品质领先</a:t>
            </a:r>
            <a:endParaRPr/>
          </a:p>
        </p:txBody>
      </p:sp>
      <p:sp>
        <p:nvSpPr>
          <p:cNvPr id="710" name="Google Shape;710;p39"/>
          <p:cNvSpPr txBox="1"/>
          <p:nvPr/>
        </p:nvSpPr>
        <p:spPr>
          <a:xfrm>
            <a:off x="6002180" y="999680"/>
            <a:ext cx="3987165" cy="248841"/>
          </a:xfrm>
          <a:prstGeom prst="rect">
            <a:avLst/>
          </a:prstGeom>
          <a:solidFill>
            <a:srgbClr val="D4EA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zh-CN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例子</a:t>
            </a:r>
            <a:endParaRPr/>
          </a:p>
        </p:txBody>
      </p:sp>
      <p:sp>
        <p:nvSpPr>
          <p:cNvPr id="711" name="Google Shape;711;p39"/>
          <p:cNvSpPr txBox="1"/>
          <p:nvPr/>
        </p:nvSpPr>
        <p:spPr>
          <a:xfrm>
            <a:off x="2805920" y="5077537"/>
            <a:ext cx="2098674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具有平均成本</a:t>
            </a:r>
            <a:endParaRPr/>
          </a:p>
        </p:txBody>
      </p:sp>
      <p:sp>
        <p:nvSpPr>
          <p:cNvPr id="712" name="Google Shape;712;p39"/>
          <p:cNvSpPr/>
          <p:nvPr/>
        </p:nvSpPr>
        <p:spPr>
          <a:xfrm>
            <a:off x="2805920" y="4720349"/>
            <a:ext cx="2198687" cy="275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规模和20% 成本优势</a:t>
            </a:r>
            <a:endParaRPr/>
          </a:p>
        </p:txBody>
      </p:sp>
      <p:sp>
        <p:nvSpPr>
          <p:cNvPr id="713" name="Google Shape;713;p39"/>
          <p:cNvSpPr txBox="1"/>
          <p:nvPr/>
        </p:nvSpPr>
        <p:spPr>
          <a:xfrm>
            <a:off x="2191667" y="1001442"/>
            <a:ext cx="3588104" cy="248841"/>
          </a:xfrm>
          <a:prstGeom prst="rect">
            <a:avLst/>
          </a:prstGeom>
          <a:solidFill>
            <a:srgbClr val="D4EA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zh-CN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战略控制 – 战略控制系数</a:t>
            </a:r>
            <a:endParaRPr/>
          </a:p>
        </p:txBody>
      </p:sp>
      <p:cxnSp>
        <p:nvCxnSpPr>
          <p:cNvPr id="714" name="Google Shape;714;p39"/>
          <p:cNvCxnSpPr/>
          <p:nvPr/>
        </p:nvCxnSpPr>
        <p:spPr>
          <a:xfrm>
            <a:off x="2403482" y="2392678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15" name="Google Shape;715;p39"/>
          <p:cNvSpPr/>
          <p:nvPr/>
        </p:nvSpPr>
        <p:spPr>
          <a:xfrm>
            <a:off x="6002179" y="1337991"/>
            <a:ext cx="3977640" cy="4439633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716" name="Google Shape;716;p39"/>
          <p:cNvCxnSpPr/>
          <p:nvPr/>
        </p:nvCxnSpPr>
        <p:spPr>
          <a:xfrm>
            <a:off x="6125528" y="5384718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17" name="Google Shape;717;p39"/>
          <p:cNvCxnSpPr/>
          <p:nvPr/>
        </p:nvCxnSpPr>
        <p:spPr>
          <a:xfrm>
            <a:off x="6125528" y="5008480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18" name="Google Shape;718;p39"/>
          <p:cNvCxnSpPr/>
          <p:nvPr/>
        </p:nvCxnSpPr>
        <p:spPr>
          <a:xfrm>
            <a:off x="6125528" y="4632243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19" name="Google Shape;719;p39"/>
          <p:cNvCxnSpPr/>
          <p:nvPr/>
        </p:nvCxnSpPr>
        <p:spPr>
          <a:xfrm>
            <a:off x="6125528" y="4256005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20" name="Google Shape;720;p39"/>
          <p:cNvCxnSpPr/>
          <p:nvPr/>
        </p:nvCxnSpPr>
        <p:spPr>
          <a:xfrm>
            <a:off x="6125528" y="3881197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21" name="Google Shape;721;p39"/>
          <p:cNvCxnSpPr/>
          <p:nvPr/>
        </p:nvCxnSpPr>
        <p:spPr>
          <a:xfrm>
            <a:off x="6125528" y="3504959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22" name="Google Shape;722;p39"/>
          <p:cNvCxnSpPr/>
          <p:nvPr/>
        </p:nvCxnSpPr>
        <p:spPr>
          <a:xfrm>
            <a:off x="6125528" y="3128722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23" name="Google Shape;723;p39"/>
          <p:cNvCxnSpPr/>
          <p:nvPr/>
        </p:nvCxnSpPr>
        <p:spPr>
          <a:xfrm>
            <a:off x="6125528" y="2376247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24" name="Google Shape;724;p39"/>
          <p:cNvCxnSpPr/>
          <p:nvPr/>
        </p:nvCxnSpPr>
        <p:spPr>
          <a:xfrm>
            <a:off x="6125528" y="2752484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25" name="Google Shape;725;p39"/>
          <p:cNvSpPr txBox="1"/>
          <p:nvPr/>
        </p:nvSpPr>
        <p:spPr>
          <a:xfrm>
            <a:off x="6138077" y="2096223"/>
            <a:ext cx="137541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高通，ARM，华为</a:t>
            </a:r>
            <a:endParaRPr sz="105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6147594" y="2452210"/>
            <a:ext cx="13792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苹果，微软、谷歌</a:t>
            </a:r>
            <a:endParaRPr/>
          </a:p>
        </p:txBody>
      </p:sp>
      <p:sp>
        <p:nvSpPr>
          <p:cNvPr id="727" name="Google Shape;727;p39"/>
          <p:cNvSpPr txBox="1"/>
          <p:nvPr/>
        </p:nvSpPr>
        <p:spPr>
          <a:xfrm>
            <a:off x="6147601" y="2818932"/>
            <a:ext cx="249809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腾讯（QQ、微信）、亚马逊、华为</a:t>
            </a:r>
            <a:endParaRPr sz="120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28" name="Google Shape;728;p39"/>
          <p:cNvSpPr txBox="1"/>
          <p:nvPr/>
        </p:nvSpPr>
        <p:spPr>
          <a:xfrm>
            <a:off x="6153952" y="3953591"/>
            <a:ext cx="18872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谷歌、Intel（FAB）、华为</a:t>
            </a:r>
            <a:endParaRPr sz="120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29" name="Google Shape;729;p39"/>
          <p:cNvSpPr txBox="1"/>
          <p:nvPr/>
        </p:nvSpPr>
        <p:spPr>
          <a:xfrm>
            <a:off x="6147594" y="4322692"/>
            <a:ext cx="13792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大金、格力、华为</a:t>
            </a:r>
            <a:endParaRPr/>
          </a:p>
        </p:txBody>
      </p:sp>
      <p:sp>
        <p:nvSpPr>
          <p:cNvPr id="730" name="Google Shape;730;p39"/>
          <p:cNvSpPr txBox="1"/>
          <p:nvPr/>
        </p:nvSpPr>
        <p:spPr>
          <a:xfrm>
            <a:off x="6179351" y="5064451"/>
            <a:ext cx="9220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无数、华为</a:t>
            </a:r>
            <a:endParaRPr sz="120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31" name="Google Shape;731;p39"/>
          <p:cNvSpPr txBox="1"/>
          <p:nvPr/>
        </p:nvSpPr>
        <p:spPr>
          <a:xfrm>
            <a:off x="6153944" y="3586879"/>
            <a:ext cx="9220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苹果、华为</a:t>
            </a:r>
            <a:endParaRPr/>
          </a:p>
        </p:txBody>
      </p:sp>
      <p:sp>
        <p:nvSpPr>
          <p:cNvPr id="732" name="Google Shape;732;p39"/>
          <p:cNvSpPr txBox="1"/>
          <p:nvPr/>
        </p:nvSpPr>
        <p:spPr>
          <a:xfrm>
            <a:off x="6147594" y="3236842"/>
            <a:ext cx="101600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Oracle、华为</a:t>
            </a:r>
            <a:endParaRPr/>
          </a:p>
        </p:txBody>
      </p:sp>
      <p:sp>
        <p:nvSpPr>
          <p:cNvPr id="733" name="Google Shape;733;p39"/>
          <p:cNvSpPr txBox="1"/>
          <p:nvPr/>
        </p:nvSpPr>
        <p:spPr>
          <a:xfrm>
            <a:off x="6166652" y="4716789"/>
            <a:ext cx="10744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富士康、华为</a:t>
            </a:r>
            <a:endParaRPr/>
          </a:p>
        </p:txBody>
      </p:sp>
      <p:sp>
        <p:nvSpPr>
          <p:cNvPr id="734" name="Google Shape;734;p39"/>
          <p:cNvSpPr txBox="1"/>
          <p:nvPr/>
        </p:nvSpPr>
        <p:spPr>
          <a:xfrm>
            <a:off x="6174589" y="5481169"/>
            <a:ext cx="9220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无数、华为</a:t>
            </a:r>
            <a:endParaRPr sz="120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735" name="Google Shape;735;p39"/>
          <p:cNvCxnSpPr/>
          <p:nvPr/>
        </p:nvCxnSpPr>
        <p:spPr>
          <a:xfrm>
            <a:off x="2365382" y="4632243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36" name="Google Shape;736;p39"/>
          <p:cNvSpPr txBox="1"/>
          <p:nvPr/>
        </p:nvSpPr>
        <p:spPr>
          <a:xfrm>
            <a:off x="434194" y="350183"/>
            <a:ext cx="8940800" cy="343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【战略中最关键的一页】业务设计—性价比是最低的战略控制点</a:t>
            </a:r>
            <a:endParaRPr/>
          </a:p>
        </p:txBody>
      </p:sp>
      <p:sp>
        <p:nvSpPr>
          <p:cNvPr id="737" name="Google Shape;737;p39"/>
          <p:cNvSpPr txBox="1"/>
          <p:nvPr/>
        </p:nvSpPr>
        <p:spPr>
          <a:xfrm>
            <a:off x="1524000" y="6296074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lang="zh-CN" sz="18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创业必然从老少边穷缝隙市场起步，但</a:t>
            </a:r>
            <a:r>
              <a:rPr b="1" lang="zh-CN" sz="18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心中要有阳春白雪：战略制高点+战略控制点！</a:t>
            </a:r>
            <a:endParaRPr/>
          </a:p>
        </p:txBody>
      </p:sp>
      <p:sp>
        <p:nvSpPr>
          <p:cNvPr id="738" name="Google Shape;738;p39"/>
          <p:cNvSpPr/>
          <p:nvPr/>
        </p:nvSpPr>
        <p:spPr>
          <a:xfrm>
            <a:off x="2372995" y="1722755"/>
            <a:ext cx="362585" cy="194945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zh-CN" sz="9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11</a:t>
            </a:r>
            <a:endParaRPr/>
          </a:p>
        </p:txBody>
      </p:sp>
      <p:cxnSp>
        <p:nvCxnSpPr>
          <p:cNvPr id="739" name="Google Shape;739;p39"/>
          <p:cNvCxnSpPr/>
          <p:nvPr/>
        </p:nvCxnSpPr>
        <p:spPr>
          <a:xfrm>
            <a:off x="2372819" y="2009820"/>
            <a:ext cx="3298825" cy="0"/>
          </a:xfrm>
          <a:prstGeom prst="straightConnector1">
            <a:avLst/>
          </a:prstGeom>
          <a:solidFill>
            <a:srgbClr val="529DD7"/>
          </a:solidFill>
          <a:ln>
            <a:noFill/>
          </a:ln>
        </p:spPr>
      </p:cxnSp>
      <p:sp>
        <p:nvSpPr>
          <p:cNvPr id="740" name="Google Shape;740;p39"/>
          <p:cNvSpPr/>
          <p:nvPr/>
        </p:nvSpPr>
        <p:spPr>
          <a:xfrm>
            <a:off x="2813357" y="1633275"/>
            <a:ext cx="186817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拥有先进管理：领先10年</a:t>
            </a:r>
            <a:endParaRPr/>
          </a:p>
        </p:txBody>
      </p:sp>
      <p:cxnSp>
        <p:nvCxnSpPr>
          <p:cNvPr id="741" name="Google Shape;741;p39"/>
          <p:cNvCxnSpPr/>
          <p:nvPr/>
        </p:nvCxnSpPr>
        <p:spPr>
          <a:xfrm>
            <a:off x="2372819" y="2009820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42" name="Google Shape;742;p39"/>
          <p:cNvCxnSpPr/>
          <p:nvPr/>
        </p:nvCxnSpPr>
        <p:spPr>
          <a:xfrm>
            <a:off x="6132965" y="1993389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43" name="Google Shape;743;p39"/>
          <p:cNvSpPr txBox="1"/>
          <p:nvPr/>
        </p:nvSpPr>
        <p:spPr>
          <a:xfrm>
            <a:off x="6145514" y="1713365"/>
            <a:ext cx="183642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难度比技术领先大很多！</a:t>
            </a:r>
            <a:endParaRPr/>
          </a:p>
        </p:txBody>
      </p:sp>
      <p:sp>
        <p:nvSpPr>
          <p:cNvPr id="744" name="Google Shape;744;p39"/>
          <p:cNvSpPr/>
          <p:nvPr/>
        </p:nvSpPr>
        <p:spPr>
          <a:xfrm>
            <a:off x="2379980" y="1373505"/>
            <a:ext cx="355600" cy="260350"/>
          </a:xfrm>
          <a:prstGeom prst="roundRect">
            <a:avLst>
              <a:gd fmla="val 972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0" i="0" lang="zh-CN" sz="9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</a:t>
            </a:r>
            <a:endParaRPr/>
          </a:p>
        </p:txBody>
      </p:sp>
      <p:cxnSp>
        <p:nvCxnSpPr>
          <p:cNvPr id="745" name="Google Shape;745;p39"/>
          <p:cNvCxnSpPr/>
          <p:nvPr/>
        </p:nvCxnSpPr>
        <p:spPr>
          <a:xfrm>
            <a:off x="2380256" y="1660414"/>
            <a:ext cx="3298825" cy="0"/>
          </a:xfrm>
          <a:prstGeom prst="straightConnector1">
            <a:avLst/>
          </a:prstGeom>
          <a:solidFill>
            <a:srgbClr val="529DD7"/>
          </a:solidFill>
          <a:ln>
            <a:noFill/>
          </a:ln>
        </p:spPr>
      </p:cxnSp>
      <p:sp>
        <p:nvSpPr>
          <p:cNvPr id="746" name="Google Shape;746;p39"/>
          <p:cNvSpPr/>
          <p:nvPr/>
        </p:nvSpPr>
        <p:spPr>
          <a:xfrm>
            <a:off x="2820794" y="1283869"/>
            <a:ext cx="2631440" cy="4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拥有强大组织活力：下一代激励机制</a:t>
            </a:r>
            <a:endParaRPr/>
          </a:p>
        </p:txBody>
      </p:sp>
      <p:cxnSp>
        <p:nvCxnSpPr>
          <p:cNvPr id="747" name="Google Shape;747;p39"/>
          <p:cNvCxnSpPr/>
          <p:nvPr/>
        </p:nvCxnSpPr>
        <p:spPr>
          <a:xfrm>
            <a:off x="2380256" y="1660414"/>
            <a:ext cx="3298825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48" name="Google Shape;748;p39"/>
          <p:cNvCxnSpPr/>
          <p:nvPr/>
        </p:nvCxnSpPr>
        <p:spPr>
          <a:xfrm>
            <a:off x="6140402" y="1643983"/>
            <a:ext cx="3475196" cy="0"/>
          </a:xfrm>
          <a:prstGeom prst="straightConnector1">
            <a:avLst/>
          </a:prstGeom>
          <a:noFill/>
          <a:ln cap="flat" cmpd="sng" w="9525">
            <a:solidFill>
              <a:srgbClr val="267FC3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49" name="Google Shape;749;p39"/>
          <p:cNvSpPr txBox="1"/>
          <p:nvPr/>
        </p:nvSpPr>
        <p:spPr>
          <a:xfrm>
            <a:off x="6152951" y="1363959"/>
            <a:ext cx="162687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40000" lIns="80000" spcFirstLastPara="1" rIns="80000" wrap="square" tIns="4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>
                <a:solidFill>
                  <a:srgbClr val="0A0B0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难度比技术领先大很多！</a:t>
            </a:r>
            <a:endParaRPr sz="90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B0B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41"/>
          <p:cNvGrpSpPr/>
          <p:nvPr/>
        </p:nvGrpSpPr>
        <p:grpSpPr>
          <a:xfrm>
            <a:off x="998220" y="1351280"/>
            <a:ext cx="10243185" cy="4931446"/>
            <a:chOff x="1572" y="2128"/>
            <a:chExt cx="13661" cy="6577"/>
          </a:xfrm>
        </p:grpSpPr>
        <p:sp>
          <p:nvSpPr>
            <p:cNvPr id="755" name="Google Shape;755;p41"/>
            <p:cNvSpPr txBox="1"/>
            <p:nvPr/>
          </p:nvSpPr>
          <p:spPr>
            <a:xfrm>
              <a:off x="4209" y="2128"/>
              <a:ext cx="10155" cy="2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对市场的洞察力</a:t>
              </a:r>
              <a:endParaRPr b="1" sz="14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这个业务设计所依赖的客户角度和经济上的假设是什么？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这些假设还成立吗？什么可能使他们改变？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客户最优先考虑的是什么？它们又是怎样在改变？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正在发生的技术转变是什么？它们对公司业务的影响是什么？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是什么将你和你竞争对手的业务设计区分开来？</a:t>
              </a:r>
              <a:endParaRPr/>
            </a:p>
          </p:txBody>
        </p:sp>
        <p:sp>
          <p:nvSpPr>
            <p:cNvPr id="756" name="Google Shape;756;p41"/>
            <p:cNvSpPr txBox="1"/>
            <p:nvPr/>
          </p:nvSpPr>
          <p:spPr>
            <a:xfrm>
              <a:off x="1572" y="5105"/>
              <a:ext cx="2813" cy="1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战略意图</a:t>
              </a:r>
              <a:endParaRPr/>
            </a:p>
            <a:p>
              <a:pPr indent="0" lvl="1" marL="127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这个业务设计是否提升了公司的战略重点？</a:t>
              </a:r>
              <a:endParaRPr/>
            </a:p>
          </p:txBody>
        </p:sp>
        <p:sp>
          <p:nvSpPr>
            <p:cNvPr id="757" name="Google Shape;757;p41"/>
            <p:cNvSpPr txBox="1"/>
            <p:nvPr/>
          </p:nvSpPr>
          <p:spPr>
            <a:xfrm>
              <a:off x="11603" y="4896"/>
              <a:ext cx="3038" cy="2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对能力的要求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我们是否建立在现有能力上？ 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能否获得所要的新能力？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我们有能力管理潜在的风险吗？</a:t>
              </a:r>
              <a:endParaRPr/>
            </a:p>
          </p:txBody>
        </p:sp>
        <p:sp>
          <p:nvSpPr>
            <p:cNvPr id="758" name="Google Shape;758;p41"/>
            <p:cNvSpPr txBox="1"/>
            <p:nvPr/>
          </p:nvSpPr>
          <p:spPr>
            <a:xfrm>
              <a:off x="4437" y="7338"/>
              <a:ext cx="10796" cy="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创新焦点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新的业务设计能否抓住新的价值来源？这种价值来源是可持续的吗？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客户战略重点的变化对你的业务设计会有怎么的影响？有什么可替代的设计可以满足下一轮的客户重点？</a:t>
              </a:r>
              <a:endParaRPr/>
            </a:p>
            <a:p>
              <a:pPr indent="-285750" lvl="1" marL="287020" marR="0" rtl="0" algn="just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7FC3"/>
                </a:buClr>
                <a:buSzPts val="960"/>
                <a:buFont typeface="Arial"/>
                <a:buChar char="•"/>
              </a:pPr>
              <a:r>
                <a:rPr b="0" i="0" lang="zh-CN" sz="1200" u="none" cap="none" strike="noStrike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创新对于客户以及公司的成功是否至关重要？</a:t>
              </a:r>
              <a:endParaRPr/>
            </a:p>
          </p:txBody>
        </p:sp>
        <p:grpSp>
          <p:nvGrpSpPr>
            <p:cNvPr id="759" name="Google Shape;759;p41"/>
            <p:cNvGrpSpPr/>
            <p:nvPr/>
          </p:nvGrpSpPr>
          <p:grpSpPr>
            <a:xfrm>
              <a:off x="4802" y="4531"/>
              <a:ext cx="6608" cy="2608"/>
              <a:chOff x="3524232" y="3248025"/>
              <a:chExt cx="5594574" cy="2208107"/>
            </a:xfrm>
          </p:grpSpPr>
          <p:grpSp>
            <p:nvGrpSpPr>
              <p:cNvPr id="760" name="Google Shape;760;p41"/>
              <p:cNvGrpSpPr/>
              <p:nvPr/>
            </p:nvGrpSpPr>
            <p:grpSpPr>
              <a:xfrm>
                <a:off x="3524232" y="3248025"/>
                <a:ext cx="5334037" cy="2208107"/>
                <a:chOff x="3524232" y="3248025"/>
                <a:chExt cx="5334037" cy="2208107"/>
              </a:xfrm>
            </p:grpSpPr>
            <p:sp>
              <p:nvSpPr>
                <p:cNvPr id="761" name="Google Shape;761;p41"/>
                <p:cNvSpPr/>
                <p:nvPr/>
              </p:nvSpPr>
              <p:spPr>
                <a:xfrm>
                  <a:off x="3524232" y="3248025"/>
                  <a:ext cx="5334037" cy="2208107"/>
                </a:xfrm>
                <a:prstGeom prst="rect">
                  <a:avLst/>
                </a:prstGeom>
                <a:solidFill>
                  <a:srgbClr val="E9F4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>
                    <a:solidFill>
                      <a:schemeClr val="lt1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</p:txBody>
            </p:sp>
            <p:cxnSp>
              <p:nvCxnSpPr>
                <p:cNvPr id="762" name="Google Shape;762;p41"/>
                <p:cNvCxnSpPr/>
                <p:nvPr/>
              </p:nvCxnSpPr>
              <p:spPr>
                <a:xfrm>
                  <a:off x="6089650" y="3248237"/>
                  <a:ext cx="0" cy="2207895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63" name="Google Shape;763;p41"/>
                <p:cNvSpPr txBox="1"/>
                <p:nvPr/>
              </p:nvSpPr>
              <p:spPr>
                <a:xfrm>
                  <a:off x="3872909" y="3306495"/>
                  <a:ext cx="2106689" cy="20944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CN" sz="1600">
                      <a:solidFill>
                        <a:srgbClr val="C00000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现有业务设计</a:t>
                  </a:r>
                  <a:endParaRPr sz="1600">
                    <a:solidFill>
                      <a:srgbClr val="C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endParaRPr>
                </a:p>
                <a:p>
                  <a:pPr indent="0" lvl="0" marL="0" marR="0" rtl="0" algn="l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16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-</a:t>
                  </a:r>
                  <a:r>
                    <a:rPr lang="zh-CN" sz="12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客户选择</a:t>
                  </a:r>
                  <a:endParaRPr/>
                </a:p>
                <a:p>
                  <a:pPr indent="0" lvl="0" marL="0" marR="0" rtl="0" algn="l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12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-价值主张</a:t>
                  </a:r>
                  <a:endParaRPr/>
                </a:p>
                <a:p>
                  <a:pPr indent="0" lvl="0" marL="0" marR="0" rtl="0" algn="l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12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-价值获取</a:t>
                  </a:r>
                  <a:endParaRPr/>
                </a:p>
                <a:p>
                  <a:pPr indent="0" lvl="0" marL="0" marR="0" rtl="0" algn="l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12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-活动范围</a:t>
                  </a:r>
                  <a:endParaRPr/>
                </a:p>
                <a:p>
                  <a:pPr indent="0" lvl="0" marL="0" marR="0" rtl="0" algn="l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12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-战略控制</a:t>
                  </a:r>
                  <a:endParaRPr/>
                </a:p>
                <a:p>
                  <a:pPr indent="0" lvl="0" marL="0" marR="0" rtl="0" algn="l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CN" sz="1200">
                      <a:solidFill>
                        <a:schemeClr val="dk1"/>
                      </a:solidFill>
                      <a:latin typeface="Microsoft Yahei"/>
                      <a:ea typeface="Microsoft Yahei"/>
                      <a:cs typeface="Microsoft Yahei"/>
                      <a:sym typeface="Microsoft Yahei"/>
                    </a:rPr>
                    <a:t>-风险管理</a:t>
                  </a:r>
                  <a:endParaRPr/>
                </a:p>
              </p:txBody>
            </p:sp>
          </p:grpSp>
          <p:sp>
            <p:nvSpPr>
              <p:cNvPr id="764" name="Google Shape;764;p41"/>
              <p:cNvSpPr txBox="1"/>
              <p:nvPr/>
            </p:nvSpPr>
            <p:spPr>
              <a:xfrm>
                <a:off x="6514459" y="3360149"/>
                <a:ext cx="2604347" cy="2004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600">
                    <a:solidFill>
                      <a:srgbClr val="C00000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期望的业务设计</a:t>
                </a:r>
                <a:endParaRPr/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200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-客户选择</a:t>
                </a:r>
                <a:endParaRPr/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200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-价值主张 </a:t>
                </a:r>
                <a:endParaRPr/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200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-价值获取 </a:t>
                </a:r>
                <a:endParaRPr/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200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-活动范围 </a:t>
                </a:r>
                <a:endParaRPr/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200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-战略控制 </a:t>
                </a:r>
                <a:endParaRPr/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CN" sz="1200">
                    <a:solidFill>
                      <a:srgbClr val="0000FF"/>
                    </a:solidFill>
                    <a:latin typeface="Microsoft Yahei"/>
                    <a:ea typeface="Microsoft Yahei"/>
                    <a:cs typeface="Microsoft Yahei"/>
                    <a:sym typeface="Microsoft Yahei"/>
                  </a:rPr>
                  <a:t>-风险管理</a:t>
                </a:r>
                <a:endParaRPr/>
              </a:p>
            </p:txBody>
          </p:sp>
        </p:grpSp>
        <p:sp>
          <p:nvSpPr>
            <p:cNvPr id="765" name="Google Shape;765;p41"/>
            <p:cNvSpPr/>
            <p:nvPr/>
          </p:nvSpPr>
          <p:spPr>
            <a:xfrm>
              <a:off x="7585" y="7291"/>
              <a:ext cx="464" cy="277"/>
            </a:xfrm>
            <a:prstGeom prst="triangle">
              <a:avLst>
                <a:gd fmla="val 50000" name="adj"/>
              </a:avLst>
            </a:prstGeom>
            <a:solidFill>
              <a:srgbClr val="C00000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766" name="Google Shape;766;p41"/>
            <p:cNvSpPr/>
            <p:nvPr/>
          </p:nvSpPr>
          <p:spPr>
            <a:xfrm rot="10800000">
              <a:off x="7600" y="4172"/>
              <a:ext cx="464" cy="277"/>
            </a:xfrm>
            <a:prstGeom prst="triangle">
              <a:avLst>
                <a:gd fmla="val 50000" name="adj"/>
              </a:avLst>
            </a:prstGeom>
            <a:solidFill>
              <a:srgbClr val="C00000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767" name="Google Shape;767;p41"/>
            <p:cNvSpPr/>
            <p:nvPr/>
          </p:nvSpPr>
          <p:spPr>
            <a:xfrm rot="-5400000">
              <a:off x="11015" y="5651"/>
              <a:ext cx="348" cy="369"/>
            </a:xfrm>
            <a:prstGeom prst="triangle">
              <a:avLst>
                <a:gd fmla="val 50000" name="adj"/>
              </a:avLst>
            </a:prstGeom>
            <a:solidFill>
              <a:srgbClr val="C00000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768" name="Google Shape;768;p41"/>
            <p:cNvSpPr/>
            <p:nvPr/>
          </p:nvSpPr>
          <p:spPr>
            <a:xfrm rot="5400000">
              <a:off x="4555" y="5566"/>
              <a:ext cx="348" cy="369"/>
            </a:xfrm>
            <a:prstGeom prst="triangle">
              <a:avLst>
                <a:gd fmla="val 50000" name="adj"/>
              </a:avLst>
            </a:prstGeom>
            <a:solidFill>
              <a:srgbClr val="C00000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769" name="Google Shape;769;p41"/>
          <p:cNvSpPr txBox="1"/>
          <p:nvPr/>
        </p:nvSpPr>
        <p:spPr>
          <a:xfrm>
            <a:off x="793784" y="585742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业务设计是SP落脚点：战略意图+展开控制点+重点工作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" y="6263005"/>
            <a:ext cx="12206605" cy="52260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6"/>
          <p:cNvSpPr txBox="1"/>
          <p:nvPr/>
        </p:nvSpPr>
        <p:spPr>
          <a:xfrm>
            <a:off x="556954" y="560679"/>
            <a:ext cx="8451861" cy="376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业务设计to关键任务（KSF，主要矛盾、需要大力投资的）</a:t>
            </a:r>
            <a:endParaRPr/>
          </a:p>
        </p:txBody>
      </p:sp>
      <p:sp>
        <p:nvSpPr>
          <p:cNvPr id="776" name="Google Shape;776;p46"/>
          <p:cNvSpPr/>
          <p:nvPr/>
        </p:nvSpPr>
        <p:spPr>
          <a:xfrm>
            <a:off x="1720850" y="3373120"/>
            <a:ext cx="8631555" cy="247269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-285750" lvl="1" marL="28702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支持业务设计、尤其是价值主张的实现，是执行的其它部分的基础</a:t>
            </a:r>
            <a:endParaRPr/>
          </a:p>
          <a:p>
            <a:pPr indent="-285750" lvl="1" marL="28702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主要是指持续性的战略举措(ongoing activity)，包括业务增长举措和能力建设举措</a:t>
            </a:r>
            <a:endParaRPr/>
          </a:p>
          <a:p>
            <a:pPr indent="-285750" lvl="1" marL="28702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1" i="0" lang="zh-CN" sz="1400" u="none" cap="none" strike="noStrike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可以从以下几个方而思考：客户管理；产品营销；产品开发；交付；服务；风险管理和能力建设（含重要运营流程的变革与优化）</a:t>
            </a:r>
            <a:endParaRPr b="1" i="0" sz="1400" u="none" cap="none" strike="noStrike">
              <a:solidFill>
                <a:srgbClr val="0000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-285750" lvl="1" marL="28702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67FC3"/>
              </a:buClr>
              <a:buSzPts val="1120"/>
              <a:buFont typeface="Arial"/>
              <a:buChar char="•"/>
            </a:pPr>
            <a:r>
              <a:rPr b="0" i="0" lang="zh-CN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年度性的、可按季度跟踪衡量并识别出这些关键任务之间的相互依赖关系，譬如资源、设施等</a:t>
            </a:r>
            <a:endParaRPr/>
          </a:p>
        </p:txBody>
      </p:sp>
      <p:cxnSp>
        <p:nvCxnSpPr>
          <p:cNvPr id="777" name="Google Shape;777;p46"/>
          <p:cNvCxnSpPr/>
          <p:nvPr/>
        </p:nvCxnSpPr>
        <p:spPr>
          <a:xfrm flipH="1" rot="10800000">
            <a:off x="1505585" y="3738245"/>
            <a:ext cx="9156700" cy="9525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8" name="Google Shape;778;p46"/>
          <p:cNvGrpSpPr/>
          <p:nvPr/>
        </p:nvGrpSpPr>
        <p:grpSpPr>
          <a:xfrm>
            <a:off x="1826895" y="1228725"/>
            <a:ext cx="8331200" cy="2232096"/>
            <a:chOff x="561038" y="1415605"/>
            <a:chExt cx="9284082" cy="2487529"/>
          </a:xfrm>
        </p:grpSpPr>
        <p:sp>
          <p:nvSpPr>
            <p:cNvPr id="779" name="Google Shape;779;p46"/>
            <p:cNvSpPr txBox="1"/>
            <p:nvPr/>
          </p:nvSpPr>
          <p:spPr>
            <a:xfrm>
              <a:off x="561038" y="1702118"/>
              <a:ext cx="1914525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战略意图</a:t>
              </a:r>
              <a:endParaRPr/>
            </a:p>
          </p:txBody>
        </p:sp>
        <p:sp>
          <p:nvSpPr>
            <p:cNvPr id="780" name="Google Shape;780;p46"/>
            <p:cNvSpPr txBox="1"/>
            <p:nvPr/>
          </p:nvSpPr>
          <p:spPr>
            <a:xfrm>
              <a:off x="561038" y="2323624"/>
              <a:ext cx="1914525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业务设计</a:t>
              </a:r>
              <a:endParaRPr/>
            </a:p>
          </p:txBody>
        </p:sp>
        <p:sp>
          <p:nvSpPr>
            <p:cNvPr id="781" name="Google Shape;781;p46"/>
            <p:cNvSpPr txBox="1"/>
            <p:nvPr/>
          </p:nvSpPr>
          <p:spPr>
            <a:xfrm>
              <a:off x="561038" y="2945130"/>
              <a:ext cx="1914525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差距（根因）</a:t>
              </a:r>
              <a:endParaRPr/>
            </a:p>
          </p:txBody>
        </p:sp>
        <p:sp>
          <p:nvSpPr>
            <p:cNvPr id="782" name="Google Shape;782;p46"/>
            <p:cNvSpPr txBox="1"/>
            <p:nvPr/>
          </p:nvSpPr>
          <p:spPr>
            <a:xfrm>
              <a:off x="3787723" y="2351362"/>
              <a:ext cx="2312987" cy="375771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关键任务与依赖关系</a:t>
              </a:r>
              <a:endParaRPr/>
            </a:p>
          </p:txBody>
        </p:sp>
        <p:sp>
          <p:nvSpPr>
            <p:cNvPr id="783" name="Google Shape;783;p46"/>
            <p:cNvSpPr txBox="1"/>
            <p:nvPr/>
          </p:nvSpPr>
          <p:spPr>
            <a:xfrm>
              <a:off x="3750797" y="3252788"/>
              <a:ext cx="2501154" cy="650346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60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所需要的组织、人才、文化氛围</a:t>
              </a:r>
              <a:endParaRPr/>
            </a:p>
          </p:txBody>
        </p:sp>
        <p:sp>
          <p:nvSpPr>
            <p:cNvPr id="784" name="Google Shape;784;p46"/>
            <p:cNvSpPr txBox="1"/>
            <p:nvPr/>
          </p:nvSpPr>
          <p:spPr>
            <a:xfrm>
              <a:off x="7757120" y="1754675"/>
              <a:ext cx="2088000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FF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新战略机会：XX</a:t>
              </a:r>
              <a:endParaRPr b="1" sz="16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785" name="Google Shape;785;p46"/>
            <p:cNvSpPr txBox="1"/>
            <p:nvPr/>
          </p:nvSpPr>
          <p:spPr>
            <a:xfrm>
              <a:off x="7757120" y="2162520"/>
              <a:ext cx="2088000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规模增长</a:t>
              </a:r>
              <a:endParaRPr/>
            </a:p>
          </p:txBody>
        </p:sp>
        <p:sp>
          <p:nvSpPr>
            <p:cNvPr id="786" name="Google Shape;786;p46"/>
            <p:cNvSpPr txBox="1"/>
            <p:nvPr/>
          </p:nvSpPr>
          <p:spPr>
            <a:xfrm>
              <a:off x="7757119" y="2570367"/>
              <a:ext cx="2087999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客满改善</a:t>
              </a:r>
              <a:endParaRPr/>
            </a:p>
          </p:txBody>
        </p:sp>
        <p:sp>
          <p:nvSpPr>
            <p:cNvPr id="787" name="Google Shape;787;p46"/>
            <p:cNvSpPr txBox="1"/>
            <p:nvPr/>
          </p:nvSpPr>
          <p:spPr>
            <a:xfrm>
              <a:off x="7757119" y="2978212"/>
              <a:ext cx="2087989" cy="375771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600">
                  <a:solidFill>
                    <a:srgbClr val="0070C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管理改进</a:t>
              </a:r>
              <a:endParaRPr/>
            </a:p>
          </p:txBody>
        </p:sp>
        <p:cxnSp>
          <p:nvCxnSpPr>
            <p:cNvPr id="788" name="Google Shape;788;p46"/>
            <p:cNvCxnSpPr>
              <a:stCxn id="779" idx="3"/>
              <a:endCxn id="781" idx="3"/>
            </p:cNvCxnSpPr>
            <p:nvPr/>
          </p:nvCxnSpPr>
          <p:spPr>
            <a:xfrm>
              <a:off x="2475563" y="1890004"/>
              <a:ext cx="600" cy="1242900"/>
            </a:xfrm>
            <a:prstGeom prst="bentConnector3">
              <a:avLst>
                <a:gd fmla="val -25323059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9" name="Google Shape;789;p46"/>
            <p:cNvCxnSpPr/>
            <p:nvPr/>
          </p:nvCxnSpPr>
          <p:spPr>
            <a:xfrm rot="10800000">
              <a:off x="2475565" y="2508292"/>
              <a:ext cx="13074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90" name="Google Shape;790;p46"/>
            <p:cNvCxnSpPr>
              <a:stCxn id="784" idx="1"/>
              <a:endCxn id="787" idx="1"/>
            </p:cNvCxnSpPr>
            <p:nvPr/>
          </p:nvCxnSpPr>
          <p:spPr>
            <a:xfrm>
              <a:off x="7757120" y="1942561"/>
              <a:ext cx="600" cy="1223400"/>
            </a:xfrm>
            <a:prstGeom prst="curvedConnector3">
              <a:avLst>
                <a:gd fmla="val 25066376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1" name="Google Shape;791;p46"/>
            <p:cNvSpPr txBox="1"/>
            <p:nvPr/>
          </p:nvSpPr>
          <p:spPr>
            <a:xfrm>
              <a:off x="7680176" y="1415605"/>
              <a:ext cx="1261884" cy="307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200">
                  <a:solidFill>
                    <a:srgbClr val="C00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关键任务列表</a:t>
              </a:r>
              <a:endParaRPr/>
            </a:p>
          </p:txBody>
        </p:sp>
        <p:cxnSp>
          <p:nvCxnSpPr>
            <p:cNvPr id="792" name="Google Shape;792;p46"/>
            <p:cNvCxnSpPr/>
            <p:nvPr/>
          </p:nvCxnSpPr>
          <p:spPr>
            <a:xfrm rot="10800000">
              <a:off x="4944216" y="2720694"/>
              <a:ext cx="0" cy="4819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93" name="Google Shape;793;p46"/>
            <p:cNvCxnSpPr/>
            <p:nvPr/>
          </p:nvCxnSpPr>
          <p:spPr>
            <a:xfrm rot="10800000">
              <a:off x="6118175" y="2508292"/>
              <a:ext cx="130744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</p:grpSp>
      <p:sp>
        <p:nvSpPr>
          <p:cNvPr id="794" name="Google Shape;794;p46"/>
          <p:cNvSpPr txBox="1"/>
          <p:nvPr/>
        </p:nvSpPr>
        <p:spPr>
          <a:xfrm>
            <a:off x="1588135" y="6298614"/>
            <a:ext cx="899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进攻是最好的防御，</a:t>
            </a:r>
            <a:r>
              <a:rPr b="1" lang="zh-CN" sz="20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战略要优先考虑的新业务</a:t>
            </a:r>
            <a:r>
              <a:rPr b="1" lang="zh-CN" sz="20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；也包括</a:t>
            </a:r>
            <a:r>
              <a:rPr b="1" lang="zh-CN" sz="2000">
                <a:solidFill>
                  <a:srgbClr val="FCC78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金融危机时反向操作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3"/>
          <p:cNvSpPr txBox="1"/>
          <p:nvPr/>
        </p:nvSpPr>
        <p:spPr>
          <a:xfrm>
            <a:off x="586858" y="641925"/>
            <a:ext cx="8581272" cy="34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讨论4：战略执行，组织、人才、激励匹配到位</a:t>
            </a:r>
            <a:endParaRPr/>
          </a:p>
        </p:txBody>
      </p:sp>
      <p:grpSp>
        <p:nvGrpSpPr>
          <p:cNvPr id="800" name="Google Shape;800;p53"/>
          <p:cNvGrpSpPr/>
          <p:nvPr/>
        </p:nvGrpSpPr>
        <p:grpSpPr>
          <a:xfrm>
            <a:off x="2600392" y="2357430"/>
            <a:ext cx="1766848" cy="592093"/>
            <a:chOff x="1182116" y="1703247"/>
            <a:chExt cx="2355797" cy="789458"/>
          </a:xfrm>
        </p:grpSpPr>
        <p:grpSp>
          <p:nvGrpSpPr>
            <p:cNvPr id="801" name="Google Shape;801;p53"/>
            <p:cNvGrpSpPr/>
            <p:nvPr/>
          </p:nvGrpSpPr>
          <p:grpSpPr>
            <a:xfrm>
              <a:off x="1182116" y="1703247"/>
              <a:ext cx="683080" cy="789458"/>
              <a:chOff x="325596" y="1703247"/>
              <a:chExt cx="683080" cy="789458"/>
            </a:xfrm>
          </p:grpSpPr>
          <p:sp>
            <p:nvSpPr>
              <p:cNvPr id="802" name="Google Shape;802;p53"/>
              <p:cNvSpPr txBox="1"/>
              <p:nvPr/>
            </p:nvSpPr>
            <p:spPr>
              <a:xfrm>
                <a:off x="325596" y="1703247"/>
                <a:ext cx="475827" cy="675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7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3" name="Google Shape;803;p53"/>
              <p:cNvCxnSpPr/>
              <p:nvPr/>
            </p:nvCxnSpPr>
            <p:spPr>
              <a:xfrm flipH="1">
                <a:off x="600160" y="1978827"/>
                <a:ext cx="408516" cy="51387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04" name="Google Shape;804;p53"/>
            <p:cNvSpPr/>
            <p:nvPr/>
          </p:nvSpPr>
          <p:spPr>
            <a:xfrm>
              <a:off x="1890299" y="1890421"/>
              <a:ext cx="1647614" cy="55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关键任务</a:t>
              </a:r>
              <a:endParaRPr/>
            </a:p>
          </p:txBody>
        </p:sp>
      </p:grpSp>
      <p:grpSp>
        <p:nvGrpSpPr>
          <p:cNvPr id="805" name="Google Shape;805;p53"/>
          <p:cNvGrpSpPr/>
          <p:nvPr/>
        </p:nvGrpSpPr>
        <p:grpSpPr>
          <a:xfrm>
            <a:off x="2600392" y="3020959"/>
            <a:ext cx="2128212" cy="592093"/>
            <a:chOff x="1182116" y="1703247"/>
            <a:chExt cx="2837615" cy="789458"/>
          </a:xfrm>
        </p:grpSpPr>
        <p:grpSp>
          <p:nvGrpSpPr>
            <p:cNvPr id="806" name="Google Shape;806;p53"/>
            <p:cNvGrpSpPr/>
            <p:nvPr/>
          </p:nvGrpSpPr>
          <p:grpSpPr>
            <a:xfrm>
              <a:off x="1182116" y="1703247"/>
              <a:ext cx="683080" cy="789458"/>
              <a:chOff x="325596" y="1703247"/>
              <a:chExt cx="683080" cy="789458"/>
            </a:xfrm>
          </p:grpSpPr>
          <p:sp>
            <p:nvSpPr>
              <p:cNvPr id="807" name="Google Shape;807;p53"/>
              <p:cNvSpPr txBox="1"/>
              <p:nvPr/>
            </p:nvSpPr>
            <p:spPr>
              <a:xfrm>
                <a:off x="325596" y="1703247"/>
                <a:ext cx="475827" cy="675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7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8" name="Google Shape;808;p53"/>
              <p:cNvCxnSpPr/>
              <p:nvPr/>
            </p:nvCxnSpPr>
            <p:spPr>
              <a:xfrm flipH="1">
                <a:off x="600160" y="1978827"/>
                <a:ext cx="408516" cy="51387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09" name="Google Shape;809;p53"/>
            <p:cNvSpPr/>
            <p:nvPr/>
          </p:nvSpPr>
          <p:spPr>
            <a:xfrm>
              <a:off x="1919536" y="1890421"/>
              <a:ext cx="2100195" cy="55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正式组织</a:t>
              </a:r>
              <a:endParaRPr/>
            </a:p>
          </p:txBody>
        </p:sp>
      </p:grpSp>
      <p:grpSp>
        <p:nvGrpSpPr>
          <p:cNvPr id="810" name="Google Shape;810;p53"/>
          <p:cNvGrpSpPr/>
          <p:nvPr/>
        </p:nvGrpSpPr>
        <p:grpSpPr>
          <a:xfrm>
            <a:off x="2600392" y="3703538"/>
            <a:ext cx="1766848" cy="592093"/>
            <a:chOff x="1182116" y="1703247"/>
            <a:chExt cx="2355797" cy="789458"/>
          </a:xfrm>
        </p:grpSpPr>
        <p:grpSp>
          <p:nvGrpSpPr>
            <p:cNvPr id="811" name="Google Shape;811;p53"/>
            <p:cNvGrpSpPr/>
            <p:nvPr/>
          </p:nvGrpSpPr>
          <p:grpSpPr>
            <a:xfrm>
              <a:off x="1182116" y="1703247"/>
              <a:ext cx="683080" cy="789458"/>
              <a:chOff x="325596" y="1703247"/>
              <a:chExt cx="683080" cy="789458"/>
            </a:xfrm>
          </p:grpSpPr>
          <p:sp>
            <p:nvSpPr>
              <p:cNvPr id="812" name="Google Shape;812;p53"/>
              <p:cNvSpPr txBox="1"/>
              <p:nvPr/>
            </p:nvSpPr>
            <p:spPr>
              <a:xfrm>
                <a:off x="325596" y="1703247"/>
                <a:ext cx="475827" cy="675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7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3" name="Google Shape;813;p53"/>
              <p:cNvCxnSpPr/>
              <p:nvPr/>
            </p:nvCxnSpPr>
            <p:spPr>
              <a:xfrm flipH="1">
                <a:off x="600160" y="1978827"/>
                <a:ext cx="408516" cy="51387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14" name="Google Shape;814;p53"/>
            <p:cNvSpPr/>
            <p:nvPr/>
          </p:nvSpPr>
          <p:spPr>
            <a:xfrm>
              <a:off x="1890299" y="1890421"/>
              <a:ext cx="1647614" cy="55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人才</a:t>
              </a:r>
              <a:endParaRPr/>
            </a:p>
          </p:txBody>
        </p:sp>
      </p:grpSp>
      <p:grpSp>
        <p:nvGrpSpPr>
          <p:cNvPr id="815" name="Google Shape;815;p53"/>
          <p:cNvGrpSpPr/>
          <p:nvPr/>
        </p:nvGrpSpPr>
        <p:grpSpPr>
          <a:xfrm>
            <a:off x="2600392" y="4376591"/>
            <a:ext cx="2128212" cy="592093"/>
            <a:chOff x="1182116" y="1703247"/>
            <a:chExt cx="2837615" cy="789458"/>
          </a:xfrm>
        </p:grpSpPr>
        <p:grpSp>
          <p:nvGrpSpPr>
            <p:cNvPr id="816" name="Google Shape;816;p53"/>
            <p:cNvGrpSpPr/>
            <p:nvPr/>
          </p:nvGrpSpPr>
          <p:grpSpPr>
            <a:xfrm>
              <a:off x="1182116" y="1703247"/>
              <a:ext cx="683080" cy="789458"/>
              <a:chOff x="325596" y="1703247"/>
              <a:chExt cx="683080" cy="789458"/>
            </a:xfrm>
          </p:grpSpPr>
          <p:sp>
            <p:nvSpPr>
              <p:cNvPr id="817" name="Google Shape;817;p53"/>
              <p:cNvSpPr txBox="1"/>
              <p:nvPr/>
            </p:nvSpPr>
            <p:spPr>
              <a:xfrm>
                <a:off x="325596" y="1703247"/>
                <a:ext cx="475827" cy="675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27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2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18" name="Google Shape;818;p53"/>
              <p:cNvCxnSpPr/>
              <p:nvPr/>
            </p:nvCxnSpPr>
            <p:spPr>
              <a:xfrm flipH="1">
                <a:off x="600160" y="1978827"/>
                <a:ext cx="408516" cy="51387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5A5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19" name="Google Shape;819;p53"/>
            <p:cNvSpPr/>
            <p:nvPr/>
          </p:nvSpPr>
          <p:spPr>
            <a:xfrm>
              <a:off x="1919536" y="1890421"/>
              <a:ext cx="2100195" cy="55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文化与氛围</a:t>
              </a:r>
              <a:endParaRPr/>
            </a:p>
          </p:txBody>
        </p:sp>
      </p:grpSp>
      <p:pic>
        <p:nvPicPr>
          <p:cNvPr id="820" name="Google Shape;82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8845" y="2285365"/>
            <a:ext cx="4439285" cy="290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defaul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1900-01-01T00:00:00Z</dcterms:created>
  <dc:creator>Administrator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2052-11.1.0.8205</vt:lpwstr>
  </property>
</Properties>
</file>