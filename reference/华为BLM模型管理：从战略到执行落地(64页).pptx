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3.xml" ContentType="application/vnd.openxmlformats-officedocument.presentationml.tags+xml"/>
  <Override PartName="/ppt/notesSlides/notesSlide9.xml" ContentType="application/vnd.openxmlformats-officedocument.presentationml.notesSlide+xml"/>
  <Override PartName="/ppt/tags/tag4.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5.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9" r:id="rId1"/>
  </p:sldMasterIdLst>
  <p:notesMasterIdLst>
    <p:notesMasterId r:id="rId66"/>
  </p:notesMasterIdLst>
  <p:handoutMasterIdLst>
    <p:handoutMasterId r:id="rId67"/>
  </p:handoutMasterIdLst>
  <p:sldIdLst>
    <p:sldId id="2017" r:id="rId2"/>
    <p:sldId id="456" r:id="rId3"/>
    <p:sldId id="427" r:id="rId4"/>
    <p:sldId id="399" r:id="rId5"/>
    <p:sldId id="410" r:id="rId6"/>
    <p:sldId id="411" r:id="rId7"/>
    <p:sldId id="408" r:id="rId8"/>
    <p:sldId id="291" r:id="rId9"/>
    <p:sldId id="413" r:id="rId10"/>
    <p:sldId id="295" r:id="rId11"/>
    <p:sldId id="296" r:id="rId12"/>
    <p:sldId id="304" r:id="rId13"/>
    <p:sldId id="305" r:id="rId14"/>
    <p:sldId id="306" r:id="rId15"/>
    <p:sldId id="308" r:id="rId16"/>
    <p:sldId id="414" r:id="rId17"/>
    <p:sldId id="310" r:id="rId18"/>
    <p:sldId id="415" r:id="rId19"/>
    <p:sldId id="701" r:id="rId20"/>
    <p:sldId id="431" r:id="rId21"/>
    <p:sldId id="314" r:id="rId22"/>
    <p:sldId id="1882" r:id="rId23"/>
    <p:sldId id="315" r:id="rId24"/>
    <p:sldId id="316" r:id="rId25"/>
    <p:sldId id="442" r:id="rId26"/>
    <p:sldId id="317" r:id="rId27"/>
    <p:sldId id="319" r:id="rId28"/>
    <p:sldId id="321" r:id="rId29"/>
    <p:sldId id="322" r:id="rId30"/>
    <p:sldId id="323" r:id="rId31"/>
    <p:sldId id="1848" r:id="rId32"/>
    <p:sldId id="324" r:id="rId33"/>
    <p:sldId id="325" r:id="rId34"/>
    <p:sldId id="326" r:id="rId35"/>
    <p:sldId id="421" r:id="rId36"/>
    <p:sldId id="447" r:id="rId37"/>
    <p:sldId id="446" r:id="rId38"/>
    <p:sldId id="329" r:id="rId39"/>
    <p:sldId id="333" r:id="rId40"/>
    <p:sldId id="448" r:id="rId41"/>
    <p:sldId id="334" r:id="rId42"/>
    <p:sldId id="343" r:id="rId43"/>
    <p:sldId id="344" r:id="rId44"/>
    <p:sldId id="345" r:id="rId45"/>
    <p:sldId id="449" r:id="rId46"/>
    <p:sldId id="337" r:id="rId47"/>
    <p:sldId id="439" r:id="rId48"/>
    <p:sldId id="1891" r:id="rId49"/>
    <p:sldId id="450" r:id="rId50"/>
    <p:sldId id="451" r:id="rId51"/>
    <p:sldId id="452" r:id="rId52"/>
    <p:sldId id="453" r:id="rId53"/>
    <p:sldId id="714" r:id="rId54"/>
    <p:sldId id="1877" r:id="rId55"/>
    <p:sldId id="722" r:id="rId56"/>
    <p:sldId id="737" r:id="rId57"/>
    <p:sldId id="754" r:id="rId58"/>
    <p:sldId id="734" r:id="rId59"/>
    <p:sldId id="1863" r:id="rId60"/>
    <p:sldId id="1864" r:id="rId61"/>
    <p:sldId id="1867" r:id="rId62"/>
    <p:sldId id="1865" r:id="rId63"/>
    <p:sldId id="1871" r:id="rId64"/>
    <p:sldId id="1868" r:id="rId65"/>
  </p:sldIdLst>
  <p:sldSz cx="12192000" cy="6858000"/>
  <p:notesSz cx="7104063" cy="10234613"/>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76">
          <p15:clr>
            <a:srgbClr val="A4A3A4"/>
          </p15:clr>
        </p15:guide>
        <p15:guide id="2" pos="395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FFFFFF"/>
    <a:srgbClr val="FCC78C"/>
    <a:srgbClr val="D57F66"/>
    <a:srgbClr val="0000FF"/>
    <a:srgbClr val="2D2A3B"/>
    <a:srgbClr val="868AF7"/>
    <a:srgbClr val="0B0B0B"/>
    <a:srgbClr val="5B9BD5"/>
    <a:srgbClr val="2481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09" autoAdjust="0"/>
    <p:restoredTop sz="93620" autoAdjust="0"/>
  </p:normalViewPr>
  <p:slideViewPr>
    <p:cSldViewPr snapToGrid="0">
      <p:cViewPr varScale="1">
        <p:scale>
          <a:sx n="111" d="100"/>
          <a:sy n="111" d="100"/>
        </p:scale>
        <p:origin x="82" y="346"/>
      </p:cViewPr>
      <p:guideLst>
        <p:guide orient="horz" pos="2076"/>
        <p:guide pos="395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页眉占位符 5"/>
          <p:cNvSpPr>
            <a:spLocks noGrp="1"/>
          </p:cNvSpPr>
          <p:nvPr>
            <p:ph type="hdr" sz="quarter"/>
          </p:nvPr>
        </p:nvSpPr>
        <p:spPr>
          <a:xfrm>
            <a:off x="1" y="0"/>
            <a:ext cx="3078427" cy="514100"/>
          </a:xfrm>
          <a:prstGeom prst="rect">
            <a:avLst/>
          </a:prstGeom>
        </p:spPr>
        <p:txBody>
          <a:bodyPr vert="horz" lIns="99066" tIns="49533" rIns="99066" bIns="49533" rtlCol="0"/>
          <a:lstStyle>
            <a:lvl1pPr algn="l" eaLnBrk="1" fontAlgn="auto" hangingPunct="1">
              <a:spcBef>
                <a:spcPts val="0"/>
              </a:spcBef>
              <a:spcAft>
                <a:spcPts val="0"/>
              </a:spcAft>
              <a:defRPr sz="1700">
                <a:latin typeface="+mn-lt"/>
                <a:ea typeface="+mn-ea"/>
              </a:defRPr>
            </a:lvl1pPr>
          </a:lstStyle>
          <a:p>
            <a:pPr>
              <a:defRPr/>
            </a:pPr>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8427" cy="514100"/>
          </a:xfrm>
          <a:prstGeom prst="rect">
            <a:avLst/>
          </a:prstGeom>
        </p:spPr>
        <p:txBody>
          <a:bodyPr vert="horz" lIns="99066" tIns="49533" rIns="99066" bIns="49533" rtlCol="0"/>
          <a:lstStyle>
            <a:lvl1pPr algn="l" eaLnBrk="1" fontAlgn="auto" hangingPunct="1">
              <a:spcBef>
                <a:spcPts val="0"/>
              </a:spcBef>
              <a:spcAft>
                <a:spcPts val="0"/>
              </a:spcAft>
              <a:defRPr sz="1300">
                <a:latin typeface="+mn-lt"/>
                <a:ea typeface="+mn-ea"/>
              </a:defRPr>
            </a:lvl1pPr>
          </a:lstStyle>
          <a:p>
            <a:pPr>
              <a:defRPr/>
            </a:pPr>
            <a:endParaRPr lang="zh-CN" altLang="en-US"/>
          </a:p>
        </p:txBody>
      </p:sp>
      <p:sp>
        <p:nvSpPr>
          <p:cNvPr id="3" name="日期占位符 2"/>
          <p:cNvSpPr>
            <a:spLocks noGrp="1"/>
          </p:cNvSpPr>
          <p:nvPr>
            <p:ph type="dt" idx="1"/>
          </p:nvPr>
        </p:nvSpPr>
        <p:spPr>
          <a:xfrm>
            <a:off x="4024404" y="0"/>
            <a:ext cx="3078427" cy="514100"/>
          </a:xfrm>
          <a:prstGeom prst="rect">
            <a:avLst/>
          </a:prstGeom>
        </p:spPr>
        <p:txBody>
          <a:bodyPr vert="horz" lIns="99066" tIns="49533" rIns="99066" bIns="49533" rtlCol="0"/>
          <a:lstStyle>
            <a:lvl1pPr algn="r" eaLnBrk="1" fontAlgn="auto" hangingPunct="1">
              <a:spcBef>
                <a:spcPts val="0"/>
              </a:spcBef>
              <a:spcAft>
                <a:spcPts val="0"/>
              </a:spcAft>
              <a:defRPr sz="1300">
                <a:latin typeface="+mn-lt"/>
                <a:ea typeface="+mn-ea"/>
              </a:defRPr>
            </a:lvl1pPr>
          </a:lstStyle>
          <a:p>
            <a:pPr>
              <a:defRPr/>
            </a:pPr>
            <a:fld id="{E4D81896-FC81-4EE1-AF01-F505F1A99919}" type="datetimeFigureOut">
              <a:rPr lang="zh-CN" altLang="en-US"/>
              <a:pPr>
                <a:defRPr/>
              </a:pPr>
              <a:t>2025/9/30/Tue</a:t>
            </a:fld>
            <a:endParaRPr lang="zh-CN" altLang="en-US"/>
          </a:p>
        </p:txBody>
      </p:sp>
      <p:sp>
        <p:nvSpPr>
          <p:cNvPr id="4" name="幻灯片图像占位符 3"/>
          <p:cNvSpPr>
            <a:spLocks noGrp="1" noRot="1" noChangeAspect="1"/>
          </p:cNvSpPr>
          <p:nvPr>
            <p:ph type="sldImg" idx="2"/>
          </p:nvPr>
        </p:nvSpPr>
        <p:spPr>
          <a:xfrm>
            <a:off x="480043" y="1277938"/>
            <a:ext cx="6143977" cy="3455987"/>
          </a:xfrm>
          <a:prstGeom prst="rect">
            <a:avLst/>
          </a:prstGeom>
          <a:noFill/>
          <a:ln w="12700">
            <a:solidFill>
              <a:prstClr val="black"/>
            </a:solidFill>
          </a:ln>
        </p:spPr>
        <p:txBody>
          <a:bodyPr vert="horz" lIns="99066" tIns="49533" rIns="99066" bIns="49533" rtlCol="0" anchor="ctr"/>
          <a:lstStyle/>
          <a:p>
            <a:pPr lvl="0"/>
            <a:endParaRPr lang="zh-CN" altLang="en-US" noProof="0"/>
          </a:p>
        </p:txBody>
      </p:sp>
      <p:sp>
        <p:nvSpPr>
          <p:cNvPr id="5" name="备注占位符 4"/>
          <p:cNvSpPr>
            <a:spLocks noGrp="1"/>
          </p:cNvSpPr>
          <p:nvPr>
            <p:ph type="body" sz="quarter" idx="3"/>
          </p:nvPr>
        </p:nvSpPr>
        <p:spPr>
          <a:xfrm>
            <a:off x="710407" y="4925409"/>
            <a:ext cx="5683250" cy="4029878"/>
          </a:xfrm>
          <a:prstGeom prst="rect">
            <a:avLst/>
          </a:prstGeom>
        </p:spPr>
        <p:txBody>
          <a:bodyPr vert="horz" lIns="99066" tIns="49533" rIns="99066" bIns="49533"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1" y="9720516"/>
            <a:ext cx="3078427" cy="514099"/>
          </a:xfrm>
          <a:prstGeom prst="rect">
            <a:avLst/>
          </a:prstGeom>
        </p:spPr>
        <p:txBody>
          <a:bodyPr vert="horz" lIns="99066" tIns="49533" rIns="99066" bIns="49533" rtlCol="0" anchor="b"/>
          <a:lstStyle>
            <a:lvl1pPr algn="l" eaLnBrk="1" fontAlgn="auto" hangingPunct="1">
              <a:spcBef>
                <a:spcPts val="0"/>
              </a:spcBef>
              <a:spcAft>
                <a:spcPts val="0"/>
              </a:spcAft>
              <a:defRPr sz="13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4024404" y="9720516"/>
            <a:ext cx="3078427" cy="514099"/>
          </a:xfrm>
          <a:prstGeom prst="rect">
            <a:avLst/>
          </a:prstGeom>
        </p:spPr>
        <p:txBody>
          <a:bodyPr vert="horz" lIns="99066" tIns="49533" rIns="99066" bIns="49533" rtlCol="0" anchor="b"/>
          <a:lstStyle>
            <a:lvl1pPr algn="r" eaLnBrk="1" fontAlgn="auto" hangingPunct="1">
              <a:spcBef>
                <a:spcPts val="0"/>
              </a:spcBef>
              <a:spcAft>
                <a:spcPts val="0"/>
              </a:spcAft>
              <a:defRPr sz="1300">
                <a:latin typeface="+mn-lt"/>
                <a:ea typeface="+mn-ea"/>
              </a:defRPr>
            </a:lvl1pPr>
          </a:lstStyle>
          <a:p>
            <a:pPr>
              <a:defRPr/>
            </a:pPr>
            <a:fld id="{FADBEF8C-5A46-4B0D-B76E-467F7F681F1A}"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1822450" y="1909763"/>
            <a:ext cx="9164638" cy="5154612"/>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5000"/>
              </a:lnSpc>
              <a:spcAft>
                <a:spcPts val="650"/>
              </a:spcAft>
              <a:buSzPct val="60000"/>
              <a:buFont typeface="Wingdings" panose="05000000000000000000" pitchFamily="2" charset="2"/>
              <a:buChar char="l"/>
              <a:defRPr sz="1200">
                <a:solidFill>
                  <a:schemeClr val="tx1"/>
                </a:solidFill>
                <a:latin typeface="FrutigerNext LT Medium" pitchFamily="34" charset="0"/>
                <a:ea typeface="华文细黑" panose="02010600040101010101" pitchFamily="2" charset="-122"/>
              </a:defRPr>
            </a:lvl1pPr>
            <a:lvl2pPr marL="805180" indent="-309880" algn="just">
              <a:lnSpc>
                <a:spcPct val="125000"/>
              </a:lnSpc>
              <a:spcAft>
                <a:spcPts val="650"/>
              </a:spcAft>
              <a:buSzPct val="50000"/>
              <a:buFont typeface="Wingdings" panose="05000000000000000000" pitchFamily="2" charset="2"/>
              <a:buChar char="p"/>
              <a:defRPr sz="1200">
                <a:solidFill>
                  <a:schemeClr val="tx1"/>
                </a:solidFill>
                <a:latin typeface="FrutigerNext LT Medium" pitchFamily="34" charset="0"/>
                <a:ea typeface="华文细黑" panose="02010600040101010101" pitchFamily="2" charset="-122"/>
              </a:defRPr>
            </a:lvl2pPr>
            <a:lvl3pPr marL="1238250" indent="-247650" algn="just">
              <a:lnSpc>
                <a:spcPct val="125000"/>
              </a:lnSpc>
              <a:spcAft>
                <a:spcPts val="650"/>
              </a:spcAft>
              <a:buSzPct val="50000"/>
              <a:buFont typeface="Wingdings" panose="05000000000000000000" pitchFamily="2" charset="2"/>
              <a:buChar char="n"/>
              <a:defRPr sz="1200">
                <a:solidFill>
                  <a:schemeClr val="tx1"/>
                </a:solidFill>
                <a:latin typeface="FrutigerNext LT Medium" pitchFamily="34" charset="0"/>
                <a:ea typeface="华文细黑" panose="02010600040101010101" pitchFamily="2" charset="-122"/>
              </a:defRPr>
            </a:lvl3pPr>
            <a:lvl4pPr marL="1733550" indent="-247650">
              <a:spcBef>
                <a:spcPct val="30000"/>
              </a:spcBef>
              <a:defRPr sz="1200">
                <a:solidFill>
                  <a:schemeClr val="tx1"/>
                </a:solidFill>
                <a:latin typeface="Calibri" panose="020F0502020204030204" pitchFamily="34" charset="0"/>
                <a:ea typeface="宋体" panose="02010600030101010101" pitchFamily="2" charset="-122"/>
              </a:defRPr>
            </a:lvl4pPr>
            <a:lvl5pPr marL="2228850" indent="-247650">
              <a:spcBef>
                <a:spcPct val="30000"/>
              </a:spcBef>
              <a:defRPr sz="1200">
                <a:solidFill>
                  <a:schemeClr val="tx1"/>
                </a:solidFill>
                <a:latin typeface="Calibri" panose="020F0502020204030204" pitchFamily="34" charset="0"/>
                <a:ea typeface="宋体" panose="02010600030101010101" pitchFamily="2" charset="-122"/>
              </a:defRPr>
            </a:lvl5pPr>
            <a:lvl6pPr marL="2724150" indent="-24765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3219450" indent="-24765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714750" indent="-24765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4210050" indent="-24765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lgn="r">
              <a:lnSpc>
                <a:spcPct val="100000"/>
              </a:lnSpc>
              <a:spcAft>
                <a:spcPct val="0"/>
              </a:spcAft>
              <a:buSzTx/>
              <a:buFontTx/>
              <a:buNone/>
            </a:pPr>
            <a:fld id="{BF4833B8-6A8D-4592-A81A-E0E05CE26714}" type="slidenum">
              <a:rPr lang="en-US" altLang="zh-CN" sz="1300">
                <a:latin typeface="Calibri" panose="020F0502020204030204" pitchFamily="34" charset="0"/>
                <a:ea typeface="宋体" panose="02010600030101010101" pitchFamily="2" charset="-122"/>
              </a:rPr>
              <a:pPr algn="r">
                <a:lnSpc>
                  <a:spcPct val="100000"/>
                </a:lnSpc>
                <a:spcAft>
                  <a:spcPct val="0"/>
                </a:spcAft>
                <a:buSzTx/>
                <a:buFontTx/>
                <a:buNone/>
              </a:pPr>
              <a:t>6</a:t>
            </a:fld>
            <a:endParaRPr lang="en-US" altLang="zh-CN" sz="1300">
              <a:latin typeface="Calibri" panose="020F0502020204030204" pitchFamily="34" charset="0"/>
              <a:ea typeface="宋体" panose="02010600030101010101" pitchFamily="2" charset="-122"/>
            </a:endParaRPr>
          </a:p>
        </p:txBody>
      </p:sp>
      <p:sp>
        <p:nvSpPr>
          <p:cNvPr id="11267" name="Rectangle 2"/>
          <p:cNvSpPr>
            <a:spLocks noGrp="1" noRot="1" noChangeAspect="1" noChangeArrowheads="1" noTextEdit="1"/>
          </p:cNvSpPr>
          <p:nvPr>
            <p:ph type="sldImg"/>
          </p:nvPr>
        </p:nvSpPr>
        <p:spPr bwMode="auto">
          <a:xfrm>
            <a:off x="-1885950" y="1022350"/>
            <a:ext cx="9099550" cy="5118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268" name="Rectangle 3"/>
          <p:cNvSpPr>
            <a:spLocks noGrp="1" noChangeArrowheads="1"/>
          </p:cNvSpPr>
          <p:nvPr>
            <p:ph type="body" idx="1"/>
          </p:nvPr>
        </p:nvSpPr>
        <p:spPr bwMode="auto">
          <a:xfrm>
            <a:off x="712874" y="6481922"/>
            <a:ext cx="3902302" cy="614076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79425" y="1277938"/>
            <a:ext cx="6145213" cy="3455987"/>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7938"/>
            <a:ext cx="6145213" cy="34559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pPr/>
              <a:t>12</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7938"/>
            <a:ext cx="6145213" cy="34559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pPr/>
              <a:t>35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79425" y="1277938"/>
            <a:ext cx="6145213" cy="3455987"/>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79425" y="1277938"/>
            <a:ext cx="6145213" cy="3455987"/>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79425" y="1277938"/>
            <a:ext cx="6145213" cy="3455987"/>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79425" y="1277938"/>
            <a:ext cx="6145213" cy="3455987"/>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79425" y="1277938"/>
            <a:ext cx="6145213" cy="3455987"/>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1822450" y="1909763"/>
            <a:ext cx="9164638" cy="5154612"/>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7938"/>
            <a:ext cx="6145213" cy="34559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pPr/>
              <a:t>56</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7938"/>
            <a:ext cx="6145213" cy="34559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pPr/>
              <a:t>57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5604" name="Rectangle 4"/>
          <p:cNvSpPr>
            <a:spLocks noGrp="1" noChangeArrowheads="1"/>
          </p:cNvSpPr>
          <p:nvPr>
            <p:ph type="ctrTitle" sz="quarter"/>
          </p:nvPr>
        </p:nvSpPr>
        <p:spPr>
          <a:xfrm>
            <a:off x="914128" y="1392011"/>
            <a:ext cx="7073609" cy="1666875"/>
          </a:xfrm>
        </p:spPr>
        <p:txBody>
          <a:bodyPr/>
          <a:lstStyle>
            <a:lvl1pPr algn="ctr">
              <a:defRPr sz="4028">
                <a:solidFill>
                  <a:schemeClr val="bg1"/>
                </a:solidFill>
              </a:defRPr>
            </a:lvl1pPr>
          </a:lstStyle>
          <a:p>
            <a:r>
              <a:rPr lang="zh-CN" altLang="en-US"/>
              <a:t>单击此处编辑母版标题样式</a:t>
            </a:r>
          </a:p>
        </p:txBody>
      </p:sp>
      <p:sp>
        <p:nvSpPr>
          <p:cNvPr id="25605" name="Rectangle 5"/>
          <p:cNvSpPr>
            <a:spLocks noGrp="1" noChangeArrowheads="1"/>
          </p:cNvSpPr>
          <p:nvPr>
            <p:ph type="subTitle" sz="quarter" idx="1"/>
          </p:nvPr>
        </p:nvSpPr>
        <p:spPr>
          <a:xfrm>
            <a:off x="912315" y="3182711"/>
            <a:ext cx="7075422" cy="864053"/>
          </a:xfrm>
        </p:spPr>
        <p:txBody>
          <a:bodyPr/>
          <a:lstStyle>
            <a:lvl1pPr marL="0" indent="0" algn="ctr">
              <a:buFontTx/>
              <a:buNone/>
              <a:defRPr sz="2400">
                <a:solidFill>
                  <a:schemeClr val="bg1"/>
                </a:solidFill>
              </a:defRPr>
            </a:lvl1pPr>
          </a:lstStyle>
          <a:p>
            <a:r>
              <a:rPr lang="zh-CN" altLang="en-US"/>
              <a:t>单击此处编辑母版副标题样式</a:t>
            </a:r>
          </a:p>
        </p:txBody>
      </p:sp>
      <p:sp>
        <p:nvSpPr>
          <p:cNvPr id="15" name="Rectangle 10"/>
          <p:cNvSpPr>
            <a:spLocks noGrp="1" noChangeArrowheads="1"/>
          </p:cNvSpPr>
          <p:nvPr>
            <p:ph type="dt" sz="quarter" idx="2"/>
          </p:nvPr>
        </p:nvSpPr>
        <p:spPr bwMode="auto">
          <a:xfrm>
            <a:off x="912315" y="281669"/>
            <a:ext cx="1728500" cy="303930"/>
          </a:xfrm>
          <a:prstGeom prst="rect">
            <a:avLst/>
          </a:prstGeom>
          <a:ln algn="ctr">
            <a:miter lim="800000"/>
          </a:ln>
        </p:spPr>
        <p:txBody>
          <a:bodyPr vert="horz" wrap="square" lIns="92075" tIns="46038" rIns="92075" bIns="46038" numCol="1" anchor="t" anchorCtr="0" compatLnSpc="1">
            <a:spAutoFit/>
          </a:bodyPr>
          <a:lstStyle>
            <a:lvl1pPr>
              <a:lnSpc>
                <a:spcPct val="100000"/>
              </a:lnSpc>
              <a:defRPr sz="1371" b="1">
                <a:solidFill>
                  <a:srgbClr val="666666"/>
                </a:solidFill>
                <a:latin typeface="FrutigerNext LT Regular" pitchFamily="34" charset="0"/>
              </a:defRPr>
            </a:lvl1pPr>
          </a:lstStyle>
          <a:p>
            <a:pPr defTabSz="783732">
              <a:defRPr/>
            </a:pPr>
            <a:fld id="{4E6D29B4-7D17-4E21-941C-91C9DCBCCAE8}" type="datetime6">
              <a:rPr lang="en-US" smtClean="0"/>
              <a:pPr defTabSz="783732">
                <a:defRPr/>
              </a:pPr>
              <a:t>September 25</a:t>
            </a:fld>
            <a:endParaRPr lang="en-US" altLang="zh-CN"/>
          </a:p>
        </p:txBody>
      </p:sp>
    </p:spTree>
    <p:extLst>
      <p:ext uri="{BB962C8B-B14F-4D97-AF65-F5344CB8AC3E}">
        <p14:creationId xmlns:p14="http://schemas.microsoft.com/office/powerpoint/2010/main" val="446173613"/>
      </p:ext>
    </p:extLst>
  </p:cSld>
  <p:clrMapOvr>
    <a:masterClrMapping/>
  </p:clrMapOvr>
  <p:transition spd="slow">
    <p:pull dir="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日期占位符 3"/>
          <p:cNvSpPr>
            <a:spLocks noGrp="1"/>
          </p:cNvSpPr>
          <p:nvPr>
            <p:ph type="dt" sz="half" idx="10"/>
          </p:nvPr>
        </p:nvSpPr>
        <p:spPr/>
        <p:txBody>
          <a:bodyPr/>
          <a:lstStyle/>
          <a:p>
            <a:pPr lvl="0">
              <a:lnSpc>
                <a:spcPct val="85000"/>
              </a:lnSpc>
            </a:pPr>
            <a:r>
              <a:rPr lang="en-US" altLang="zh-CN" dirty="0"/>
              <a:t>Page </a:t>
            </a:r>
            <a:fld id="{9A0DB2DC-4C9A-4742-B13C-FB6460FD3503}" type="slidenum">
              <a:rPr lang="en-US" altLang="zh-CN" sz="1200" b="0" dirty="0">
                <a:latin typeface="FrutigerNext LT Bold" charset="0"/>
                <a:ea typeface="MS PGothic" panose="020B0600070205080204" pitchFamily="34" charset="-128"/>
              </a:rPr>
              <a:t>‹#›</a:t>
            </a:fld>
            <a:endParaRPr lang="en-US" altLang="zh-CN" sz="1200" b="0" dirty="0">
              <a:latin typeface="FrutigerNext LT Bold" charset="0"/>
              <a:ea typeface="MS PGothic" panose="020B0600070205080204" pitchFamily="34" charset="-128"/>
            </a:endParaRPr>
          </a:p>
        </p:txBody>
      </p:sp>
    </p:spTree>
    <p:extLst>
      <p:ext uri="{BB962C8B-B14F-4D97-AF65-F5344CB8AC3E}">
        <p14:creationId xmlns:p14="http://schemas.microsoft.com/office/powerpoint/2010/main" val="3390775117"/>
      </p:ext>
    </p:extLst>
  </p:cSld>
  <p:clrMapOvr>
    <a:masterClrMapping/>
  </p:clrMapOvr>
  <p:transition spd="slow">
    <p:pull dir="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100" y="4407354"/>
            <a:ext cx="10363744" cy="1362075"/>
          </a:xfrm>
        </p:spPr>
        <p:txBody>
          <a:bodyPr anchor="t"/>
          <a:lstStyle>
            <a:lvl1pPr algn="l">
              <a:defRPr sz="3428" b="1" cap="all"/>
            </a:lvl1pPr>
          </a:lstStyle>
          <a:p>
            <a:r>
              <a:rPr lang="en-US" altLang="zh-CN"/>
              <a:t>Click to edit Master title style</a:t>
            </a:r>
            <a:endParaRPr lang="zh-CN" altLang="en-US"/>
          </a:p>
        </p:txBody>
      </p:sp>
      <p:sp>
        <p:nvSpPr>
          <p:cNvPr id="3" name="Text Placeholder 2"/>
          <p:cNvSpPr>
            <a:spLocks noGrp="1"/>
          </p:cNvSpPr>
          <p:nvPr>
            <p:ph type="body" idx="1"/>
          </p:nvPr>
        </p:nvSpPr>
        <p:spPr>
          <a:xfrm>
            <a:off x="963100" y="2906486"/>
            <a:ext cx="10363744" cy="1500868"/>
          </a:xfrm>
        </p:spPr>
        <p:txBody>
          <a:bodyPr anchor="b"/>
          <a:lstStyle>
            <a:lvl1pPr marL="0" indent="0">
              <a:buNone/>
              <a:defRPr sz="1714"/>
            </a:lvl1pPr>
            <a:lvl2pPr marL="391866" indent="0">
              <a:buNone/>
              <a:defRPr sz="1543"/>
            </a:lvl2pPr>
            <a:lvl3pPr marL="783732" indent="0">
              <a:buNone/>
              <a:defRPr sz="1371"/>
            </a:lvl3pPr>
            <a:lvl4pPr marL="1175598" indent="0">
              <a:buNone/>
              <a:defRPr sz="1200"/>
            </a:lvl4pPr>
            <a:lvl5pPr marL="1567464" indent="0">
              <a:buNone/>
              <a:defRPr sz="1200"/>
            </a:lvl5pPr>
            <a:lvl6pPr marL="1959331" indent="0">
              <a:buNone/>
              <a:defRPr sz="1200"/>
            </a:lvl6pPr>
            <a:lvl7pPr marL="2351197" indent="0">
              <a:buNone/>
              <a:defRPr sz="1200"/>
            </a:lvl7pPr>
            <a:lvl8pPr marL="2743063" indent="0">
              <a:buNone/>
              <a:defRPr sz="1200"/>
            </a:lvl8pPr>
            <a:lvl9pPr marL="3134929" indent="0">
              <a:buNone/>
              <a:defRPr sz="1200"/>
            </a:lvl9pPr>
          </a:lstStyle>
          <a:p>
            <a:pPr lvl="0"/>
            <a:r>
              <a:rPr lang="en-US" altLang="zh-CN"/>
              <a:t>Click to edit Master text styles</a:t>
            </a:r>
          </a:p>
        </p:txBody>
      </p:sp>
      <p:sp>
        <p:nvSpPr>
          <p:cNvPr id="4" name="日期占位符 3"/>
          <p:cNvSpPr>
            <a:spLocks noGrp="1"/>
          </p:cNvSpPr>
          <p:nvPr>
            <p:ph type="dt" sz="half" idx="10"/>
          </p:nvPr>
        </p:nvSpPr>
        <p:spPr/>
        <p:txBody>
          <a:bodyPr/>
          <a:lstStyle/>
          <a:p>
            <a:pPr lvl="0">
              <a:lnSpc>
                <a:spcPct val="85000"/>
              </a:lnSpc>
            </a:pPr>
            <a:r>
              <a:rPr lang="en-US" altLang="zh-CN" dirty="0"/>
              <a:t>Page </a:t>
            </a:r>
            <a:fld id="{9A0DB2DC-4C9A-4742-B13C-FB6460FD3503}" type="slidenum">
              <a:rPr lang="en-US" altLang="zh-CN" sz="1200" b="0" dirty="0">
                <a:latin typeface="FrutigerNext LT Bold" charset="0"/>
                <a:ea typeface="MS PGothic" panose="020B0600070205080204" pitchFamily="34" charset="-128"/>
              </a:rPr>
              <a:t>‹#›</a:t>
            </a:fld>
            <a:endParaRPr lang="en-US" altLang="zh-CN" sz="1200" b="0" dirty="0">
              <a:latin typeface="FrutigerNext LT Bold" charset="0"/>
              <a:ea typeface="MS PGothic" panose="020B0600070205080204" pitchFamily="34" charset="-128"/>
            </a:endParaRPr>
          </a:p>
        </p:txBody>
      </p:sp>
    </p:spTree>
    <p:extLst>
      <p:ext uri="{BB962C8B-B14F-4D97-AF65-F5344CB8AC3E}">
        <p14:creationId xmlns:p14="http://schemas.microsoft.com/office/powerpoint/2010/main" val="3055317640"/>
      </p:ext>
    </p:extLst>
  </p:cSld>
  <p:clrMapOvr>
    <a:masterClrMapping/>
  </p:clrMapOvr>
  <p:transition spd="slow">
    <p:pull dir="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870599" y="1641022"/>
            <a:ext cx="5074861" cy="4071257"/>
          </a:xfrm>
        </p:spPr>
        <p:txBody>
          <a:bodyPr/>
          <a:lstStyle>
            <a:lvl1pPr>
              <a:defRPr sz="2400"/>
            </a:lvl1pPr>
            <a:lvl2pPr>
              <a:defRPr sz="2057"/>
            </a:lvl2pPr>
            <a:lvl3pPr>
              <a:defRPr sz="1714"/>
            </a:lvl3pPr>
            <a:lvl4pPr>
              <a:defRPr sz="1543"/>
            </a:lvl4pPr>
            <a:lvl5pPr>
              <a:defRPr sz="1543"/>
            </a:lvl5pPr>
            <a:lvl6pPr>
              <a:defRPr sz="1543"/>
            </a:lvl6pPr>
            <a:lvl7pPr>
              <a:defRPr sz="1543"/>
            </a:lvl7pPr>
            <a:lvl8pPr>
              <a:defRPr sz="1543"/>
            </a:lvl8pPr>
            <a:lvl9pPr>
              <a:defRPr sz="1543"/>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6119579" y="1641022"/>
            <a:ext cx="5076675" cy="4071257"/>
          </a:xfrm>
        </p:spPr>
        <p:txBody>
          <a:bodyPr/>
          <a:lstStyle>
            <a:lvl1pPr>
              <a:defRPr sz="2400"/>
            </a:lvl1pPr>
            <a:lvl2pPr>
              <a:defRPr sz="2057"/>
            </a:lvl2pPr>
            <a:lvl3pPr>
              <a:defRPr sz="1714"/>
            </a:lvl3pPr>
            <a:lvl4pPr>
              <a:defRPr sz="1543"/>
            </a:lvl4pPr>
            <a:lvl5pPr>
              <a:defRPr sz="1543"/>
            </a:lvl5pPr>
            <a:lvl6pPr>
              <a:defRPr sz="1543"/>
            </a:lvl6pPr>
            <a:lvl7pPr>
              <a:defRPr sz="1543"/>
            </a:lvl7pPr>
            <a:lvl8pPr>
              <a:defRPr sz="1543"/>
            </a:lvl8pPr>
            <a:lvl9pPr>
              <a:defRPr sz="1543"/>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日期占位符 4"/>
          <p:cNvSpPr>
            <a:spLocks noGrp="1"/>
          </p:cNvSpPr>
          <p:nvPr>
            <p:ph type="dt" sz="half" idx="10"/>
          </p:nvPr>
        </p:nvSpPr>
        <p:spPr/>
        <p:txBody>
          <a:bodyPr/>
          <a:lstStyle/>
          <a:p>
            <a:pPr lvl="0">
              <a:lnSpc>
                <a:spcPct val="85000"/>
              </a:lnSpc>
            </a:pPr>
            <a:r>
              <a:rPr lang="en-US" altLang="zh-CN" dirty="0"/>
              <a:t>Page </a:t>
            </a:r>
            <a:fld id="{9A0DB2DC-4C9A-4742-B13C-FB6460FD3503}" type="slidenum">
              <a:rPr lang="en-US" altLang="zh-CN" sz="1200" b="0" dirty="0">
                <a:latin typeface="FrutigerNext LT Bold" charset="0"/>
                <a:ea typeface="MS PGothic" panose="020B0600070205080204" pitchFamily="34" charset="-128"/>
              </a:rPr>
              <a:t>‹#›</a:t>
            </a:fld>
            <a:endParaRPr lang="en-US" altLang="zh-CN" sz="1200" b="0" dirty="0">
              <a:latin typeface="FrutigerNext LT Bold" charset="0"/>
              <a:ea typeface="MS PGothic" panose="020B0600070205080204" pitchFamily="34" charset="-128"/>
            </a:endParaRPr>
          </a:p>
        </p:txBody>
      </p:sp>
    </p:spTree>
    <p:extLst>
      <p:ext uri="{BB962C8B-B14F-4D97-AF65-F5344CB8AC3E}">
        <p14:creationId xmlns:p14="http://schemas.microsoft.com/office/powerpoint/2010/main" val="2468626872"/>
      </p:ext>
    </p:extLst>
  </p:cSld>
  <p:clrMapOvr>
    <a:masterClrMapping/>
  </p:clrMapOvr>
  <p:transition spd="slow">
    <p:pull dir="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419" y="274864"/>
            <a:ext cx="10973163" cy="1143000"/>
          </a:xfrm>
        </p:spPr>
        <p:txBody>
          <a:bodyPr/>
          <a:lstStyle>
            <a:lvl1pPr>
              <a:defRPr/>
            </a:lvl1pPr>
          </a:lstStyle>
          <a:p>
            <a:r>
              <a:rPr lang="en-US" altLang="zh-CN"/>
              <a:t>Click to edit Master title style</a:t>
            </a:r>
            <a:endParaRPr lang="zh-CN" altLang="en-US"/>
          </a:p>
        </p:txBody>
      </p:sp>
      <p:sp>
        <p:nvSpPr>
          <p:cNvPr id="3" name="Text Placeholder 2"/>
          <p:cNvSpPr>
            <a:spLocks noGrp="1"/>
          </p:cNvSpPr>
          <p:nvPr>
            <p:ph type="body" idx="1"/>
          </p:nvPr>
        </p:nvSpPr>
        <p:spPr>
          <a:xfrm>
            <a:off x="609419" y="1534886"/>
            <a:ext cx="5386825" cy="639536"/>
          </a:xfrm>
        </p:spPr>
        <p:txBody>
          <a:bodyPr anchor="b"/>
          <a:lstStyle>
            <a:lvl1pPr marL="0" indent="0">
              <a:buNone/>
              <a:defRPr sz="2057" b="1"/>
            </a:lvl1pPr>
            <a:lvl2pPr marL="391866" indent="0">
              <a:buNone/>
              <a:defRPr sz="1714" b="1"/>
            </a:lvl2pPr>
            <a:lvl3pPr marL="783732" indent="0">
              <a:buNone/>
              <a:defRPr sz="1543" b="1"/>
            </a:lvl3pPr>
            <a:lvl4pPr marL="1175598" indent="0">
              <a:buNone/>
              <a:defRPr sz="1371" b="1"/>
            </a:lvl4pPr>
            <a:lvl5pPr marL="1567464" indent="0">
              <a:buNone/>
              <a:defRPr sz="1371" b="1"/>
            </a:lvl5pPr>
            <a:lvl6pPr marL="1959331" indent="0">
              <a:buNone/>
              <a:defRPr sz="1371" b="1"/>
            </a:lvl6pPr>
            <a:lvl7pPr marL="2351197" indent="0">
              <a:buNone/>
              <a:defRPr sz="1371" b="1"/>
            </a:lvl7pPr>
            <a:lvl8pPr marL="2743063" indent="0">
              <a:buNone/>
              <a:defRPr sz="1371" b="1"/>
            </a:lvl8pPr>
            <a:lvl9pPr marL="3134929" indent="0">
              <a:buNone/>
              <a:defRPr sz="1371" b="1"/>
            </a:lvl9pPr>
          </a:lstStyle>
          <a:p>
            <a:pPr lvl="0"/>
            <a:r>
              <a:rPr lang="en-US" altLang="zh-CN"/>
              <a:t>Click to edit Master text styles</a:t>
            </a:r>
          </a:p>
        </p:txBody>
      </p:sp>
      <p:sp>
        <p:nvSpPr>
          <p:cNvPr id="4" name="Content Placeholder 3"/>
          <p:cNvSpPr>
            <a:spLocks noGrp="1"/>
          </p:cNvSpPr>
          <p:nvPr>
            <p:ph sz="half" idx="2"/>
          </p:nvPr>
        </p:nvSpPr>
        <p:spPr>
          <a:xfrm>
            <a:off x="609419" y="2174422"/>
            <a:ext cx="5386825" cy="3951514"/>
          </a:xfrm>
        </p:spPr>
        <p:txBody>
          <a:bodyPr/>
          <a:lstStyle>
            <a:lvl1pPr>
              <a:defRPr sz="2057"/>
            </a:lvl1pPr>
            <a:lvl2pPr>
              <a:defRPr sz="1714"/>
            </a:lvl2pPr>
            <a:lvl3pPr>
              <a:defRPr sz="1543"/>
            </a:lvl3pPr>
            <a:lvl4pPr>
              <a:defRPr sz="1371"/>
            </a:lvl4pPr>
            <a:lvl5pPr>
              <a:defRPr sz="1371"/>
            </a:lvl5pPr>
            <a:lvl6pPr>
              <a:defRPr sz="1371"/>
            </a:lvl6pPr>
            <a:lvl7pPr>
              <a:defRPr sz="1371"/>
            </a:lvl7pPr>
            <a:lvl8pPr>
              <a:defRPr sz="1371"/>
            </a:lvl8pPr>
            <a:lvl9pPr>
              <a:defRPr sz="1371"/>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p:cNvSpPr>
            <a:spLocks noGrp="1"/>
          </p:cNvSpPr>
          <p:nvPr>
            <p:ph type="body" sz="quarter" idx="3"/>
          </p:nvPr>
        </p:nvSpPr>
        <p:spPr>
          <a:xfrm>
            <a:off x="6193943" y="1534886"/>
            <a:ext cx="5388639" cy="639536"/>
          </a:xfrm>
        </p:spPr>
        <p:txBody>
          <a:bodyPr anchor="b"/>
          <a:lstStyle>
            <a:lvl1pPr marL="0" indent="0">
              <a:buNone/>
              <a:defRPr sz="2057" b="1"/>
            </a:lvl1pPr>
            <a:lvl2pPr marL="391866" indent="0">
              <a:buNone/>
              <a:defRPr sz="1714" b="1"/>
            </a:lvl2pPr>
            <a:lvl3pPr marL="783732" indent="0">
              <a:buNone/>
              <a:defRPr sz="1543" b="1"/>
            </a:lvl3pPr>
            <a:lvl4pPr marL="1175598" indent="0">
              <a:buNone/>
              <a:defRPr sz="1371" b="1"/>
            </a:lvl4pPr>
            <a:lvl5pPr marL="1567464" indent="0">
              <a:buNone/>
              <a:defRPr sz="1371" b="1"/>
            </a:lvl5pPr>
            <a:lvl6pPr marL="1959331" indent="0">
              <a:buNone/>
              <a:defRPr sz="1371" b="1"/>
            </a:lvl6pPr>
            <a:lvl7pPr marL="2351197" indent="0">
              <a:buNone/>
              <a:defRPr sz="1371" b="1"/>
            </a:lvl7pPr>
            <a:lvl8pPr marL="2743063" indent="0">
              <a:buNone/>
              <a:defRPr sz="1371" b="1"/>
            </a:lvl8pPr>
            <a:lvl9pPr marL="3134929" indent="0">
              <a:buNone/>
              <a:defRPr sz="1371" b="1"/>
            </a:lvl9pPr>
          </a:lstStyle>
          <a:p>
            <a:pPr lvl="0"/>
            <a:r>
              <a:rPr lang="en-US" altLang="zh-CN"/>
              <a:t>Click to edit Master text styles</a:t>
            </a:r>
          </a:p>
        </p:txBody>
      </p:sp>
      <p:sp>
        <p:nvSpPr>
          <p:cNvPr id="6" name="Content Placeholder 5"/>
          <p:cNvSpPr>
            <a:spLocks noGrp="1"/>
          </p:cNvSpPr>
          <p:nvPr>
            <p:ph sz="quarter" idx="4"/>
          </p:nvPr>
        </p:nvSpPr>
        <p:spPr>
          <a:xfrm>
            <a:off x="6193943" y="2174422"/>
            <a:ext cx="5388639" cy="3951514"/>
          </a:xfrm>
        </p:spPr>
        <p:txBody>
          <a:bodyPr/>
          <a:lstStyle>
            <a:lvl1pPr>
              <a:defRPr sz="2057"/>
            </a:lvl1pPr>
            <a:lvl2pPr>
              <a:defRPr sz="1714"/>
            </a:lvl2pPr>
            <a:lvl3pPr>
              <a:defRPr sz="1543"/>
            </a:lvl3pPr>
            <a:lvl4pPr>
              <a:defRPr sz="1371"/>
            </a:lvl4pPr>
            <a:lvl5pPr>
              <a:defRPr sz="1371"/>
            </a:lvl5pPr>
            <a:lvl6pPr>
              <a:defRPr sz="1371"/>
            </a:lvl6pPr>
            <a:lvl7pPr>
              <a:defRPr sz="1371"/>
            </a:lvl7pPr>
            <a:lvl8pPr>
              <a:defRPr sz="1371"/>
            </a:lvl8pPr>
            <a:lvl9pPr>
              <a:defRPr sz="1371"/>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日期占位符 6"/>
          <p:cNvSpPr>
            <a:spLocks noGrp="1"/>
          </p:cNvSpPr>
          <p:nvPr>
            <p:ph type="dt" sz="half" idx="10"/>
          </p:nvPr>
        </p:nvSpPr>
        <p:spPr/>
        <p:txBody>
          <a:bodyPr/>
          <a:lstStyle/>
          <a:p>
            <a:pPr lvl="0">
              <a:lnSpc>
                <a:spcPct val="85000"/>
              </a:lnSpc>
            </a:pPr>
            <a:r>
              <a:rPr lang="en-US" altLang="zh-CN" dirty="0"/>
              <a:t>Page </a:t>
            </a:r>
            <a:fld id="{9A0DB2DC-4C9A-4742-B13C-FB6460FD3503}" type="slidenum">
              <a:rPr lang="en-US" altLang="zh-CN" sz="1200" b="0" dirty="0">
                <a:latin typeface="FrutigerNext LT Bold" charset="0"/>
                <a:ea typeface="MS PGothic" panose="020B0600070205080204" pitchFamily="34" charset="-128"/>
              </a:rPr>
              <a:t>‹#›</a:t>
            </a:fld>
            <a:endParaRPr lang="en-US" altLang="zh-CN" sz="1200" b="0" dirty="0">
              <a:latin typeface="FrutigerNext LT Bold" charset="0"/>
              <a:ea typeface="MS PGothic" panose="020B0600070205080204" pitchFamily="34" charset="-128"/>
            </a:endParaRPr>
          </a:p>
        </p:txBody>
      </p:sp>
    </p:spTree>
    <p:extLst>
      <p:ext uri="{BB962C8B-B14F-4D97-AF65-F5344CB8AC3E}">
        <p14:creationId xmlns:p14="http://schemas.microsoft.com/office/powerpoint/2010/main" val="965816132"/>
      </p:ext>
    </p:extLst>
  </p:cSld>
  <p:clrMapOvr>
    <a:masterClrMapping/>
  </p:clrMapOvr>
  <p:transition spd="slow">
    <p:pull dir="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日期占位符 2"/>
          <p:cNvSpPr>
            <a:spLocks noGrp="1"/>
          </p:cNvSpPr>
          <p:nvPr>
            <p:ph type="dt" sz="half" idx="10"/>
          </p:nvPr>
        </p:nvSpPr>
        <p:spPr/>
        <p:txBody>
          <a:bodyPr/>
          <a:lstStyle/>
          <a:p>
            <a:pPr lvl="0">
              <a:lnSpc>
                <a:spcPct val="85000"/>
              </a:lnSpc>
            </a:pPr>
            <a:r>
              <a:rPr lang="en-US" altLang="zh-CN" dirty="0"/>
              <a:t>Page </a:t>
            </a:r>
            <a:fld id="{9A0DB2DC-4C9A-4742-B13C-FB6460FD3503}" type="slidenum">
              <a:rPr lang="en-US" altLang="zh-CN" sz="1200" b="0" dirty="0">
                <a:latin typeface="FrutigerNext LT Bold" charset="0"/>
                <a:ea typeface="MS PGothic" panose="020B0600070205080204" pitchFamily="34" charset="-128"/>
              </a:rPr>
              <a:t>‹#›</a:t>
            </a:fld>
            <a:endParaRPr lang="en-US" altLang="zh-CN" sz="1200" b="0" dirty="0">
              <a:latin typeface="FrutigerNext LT Bold" charset="0"/>
              <a:ea typeface="MS PGothic" panose="020B0600070205080204" pitchFamily="34" charset="-128"/>
            </a:endParaRPr>
          </a:p>
        </p:txBody>
      </p:sp>
    </p:spTree>
    <p:extLst>
      <p:ext uri="{BB962C8B-B14F-4D97-AF65-F5344CB8AC3E}">
        <p14:creationId xmlns:p14="http://schemas.microsoft.com/office/powerpoint/2010/main" val="2582607930"/>
      </p:ext>
    </p:extLst>
  </p:cSld>
  <p:clrMapOvr>
    <a:masterClrMapping/>
  </p:clrMapOvr>
  <p:transition spd="slow">
    <p:pull dir="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lnSpc>
                <a:spcPct val="85000"/>
              </a:lnSpc>
            </a:pPr>
            <a:r>
              <a:rPr lang="en-US" altLang="zh-CN" dirty="0"/>
              <a:t>Page </a:t>
            </a:r>
            <a:fld id="{9A0DB2DC-4C9A-4742-B13C-FB6460FD3503}" type="slidenum">
              <a:rPr lang="en-US" altLang="zh-CN" sz="1200" b="0" dirty="0">
                <a:latin typeface="FrutigerNext LT Bold" charset="0"/>
                <a:ea typeface="MS PGothic" panose="020B0600070205080204" pitchFamily="34" charset="-128"/>
              </a:rPr>
              <a:t>‹#›</a:t>
            </a:fld>
            <a:endParaRPr lang="en-US" altLang="zh-CN" sz="1200" b="0" dirty="0">
              <a:latin typeface="FrutigerNext LT Bold" charset="0"/>
              <a:ea typeface="MS PGothic" panose="020B0600070205080204" pitchFamily="34" charset="-128"/>
            </a:endParaRPr>
          </a:p>
        </p:txBody>
      </p:sp>
    </p:spTree>
    <p:extLst>
      <p:ext uri="{BB962C8B-B14F-4D97-AF65-F5344CB8AC3E}">
        <p14:creationId xmlns:p14="http://schemas.microsoft.com/office/powerpoint/2010/main" val="4285350925"/>
      </p:ext>
    </p:extLst>
  </p:cSld>
  <p:clrMapOvr>
    <a:masterClrMapping/>
  </p:clrMapOvr>
  <p:transition spd="slow">
    <p:pull dir="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19" y="273504"/>
            <a:ext cx="4012006" cy="1162050"/>
          </a:xfrm>
        </p:spPr>
        <p:txBody>
          <a:bodyPr anchor="b"/>
          <a:lstStyle>
            <a:lvl1pPr algn="l">
              <a:defRPr sz="1714" b="1"/>
            </a:lvl1pPr>
          </a:lstStyle>
          <a:p>
            <a:r>
              <a:rPr lang="en-US" altLang="zh-CN"/>
              <a:t>Click to edit Master title style</a:t>
            </a:r>
            <a:endParaRPr lang="zh-CN" altLang="en-US"/>
          </a:p>
        </p:txBody>
      </p:sp>
      <p:sp>
        <p:nvSpPr>
          <p:cNvPr id="3" name="Content Placeholder 2"/>
          <p:cNvSpPr>
            <a:spLocks noGrp="1"/>
          </p:cNvSpPr>
          <p:nvPr>
            <p:ph idx="1"/>
          </p:nvPr>
        </p:nvSpPr>
        <p:spPr>
          <a:xfrm>
            <a:off x="4766525" y="273504"/>
            <a:ext cx="6816057" cy="5852432"/>
          </a:xfrm>
        </p:spPr>
        <p:txBody>
          <a:bodyPr/>
          <a:lstStyle>
            <a:lvl1pPr>
              <a:defRPr sz="2743"/>
            </a:lvl1pPr>
            <a:lvl2pPr>
              <a:defRPr sz="2400"/>
            </a:lvl2pPr>
            <a:lvl3pPr>
              <a:defRPr sz="2057"/>
            </a:lvl3pPr>
            <a:lvl4pPr>
              <a:defRPr sz="1714"/>
            </a:lvl4pPr>
            <a:lvl5pPr>
              <a:defRPr sz="1714"/>
            </a:lvl5pPr>
            <a:lvl6pPr>
              <a:defRPr sz="1714"/>
            </a:lvl6pPr>
            <a:lvl7pPr>
              <a:defRPr sz="1714"/>
            </a:lvl7pPr>
            <a:lvl8pPr>
              <a:defRPr sz="1714"/>
            </a:lvl8pPr>
            <a:lvl9pPr>
              <a:defRPr sz="1714"/>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p:cNvSpPr>
            <a:spLocks noGrp="1"/>
          </p:cNvSpPr>
          <p:nvPr>
            <p:ph type="body" sz="half" idx="2"/>
          </p:nvPr>
        </p:nvSpPr>
        <p:spPr>
          <a:xfrm>
            <a:off x="609419" y="1435554"/>
            <a:ext cx="4012006" cy="4690382"/>
          </a:xfrm>
        </p:spPr>
        <p:txBody>
          <a:bodyPr/>
          <a:lstStyle>
            <a:lvl1pPr marL="0" indent="0">
              <a:buNone/>
              <a:defRPr sz="1200"/>
            </a:lvl1pPr>
            <a:lvl2pPr marL="391866" indent="0">
              <a:buNone/>
              <a:defRPr sz="1029"/>
            </a:lvl2pPr>
            <a:lvl3pPr marL="783732" indent="0">
              <a:buNone/>
              <a:defRPr sz="857"/>
            </a:lvl3pPr>
            <a:lvl4pPr marL="1175598" indent="0">
              <a:buNone/>
              <a:defRPr sz="771"/>
            </a:lvl4pPr>
            <a:lvl5pPr marL="1567464" indent="0">
              <a:buNone/>
              <a:defRPr sz="771"/>
            </a:lvl5pPr>
            <a:lvl6pPr marL="1959331" indent="0">
              <a:buNone/>
              <a:defRPr sz="771"/>
            </a:lvl6pPr>
            <a:lvl7pPr marL="2351197" indent="0">
              <a:buNone/>
              <a:defRPr sz="771"/>
            </a:lvl7pPr>
            <a:lvl8pPr marL="2743063" indent="0">
              <a:buNone/>
              <a:defRPr sz="771"/>
            </a:lvl8pPr>
            <a:lvl9pPr marL="3134929" indent="0">
              <a:buNone/>
              <a:defRPr sz="771"/>
            </a:lvl9pPr>
          </a:lstStyle>
          <a:p>
            <a:pPr lvl="0"/>
            <a:r>
              <a:rPr lang="en-US" altLang="zh-CN"/>
              <a:t>Click to edit Master text styles</a:t>
            </a:r>
          </a:p>
        </p:txBody>
      </p:sp>
      <p:sp>
        <p:nvSpPr>
          <p:cNvPr id="5" name="日期占位符 4"/>
          <p:cNvSpPr>
            <a:spLocks noGrp="1"/>
          </p:cNvSpPr>
          <p:nvPr>
            <p:ph type="dt" sz="half" idx="10"/>
          </p:nvPr>
        </p:nvSpPr>
        <p:spPr/>
        <p:txBody>
          <a:bodyPr/>
          <a:lstStyle/>
          <a:p>
            <a:pPr lvl="0">
              <a:lnSpc>
                <a:spcPct val="85000"/>
              </a:lnSpc>
            </a:pPr>
            <a:r>
              <a:rPr lang="en-US" altLang="zh-CN" dirty="0"/>
              <a:t>Page </a:t>
            </a:r>
            <a:fld id="{9A0DB2DC-4C9A-4742-B13C-FB6460FD3503}" type="slidenum">
              <a:rPr lang="en-US" altLang="zh-CN" sz="1200" b="0" dirty="0">
                <a:latin typeface="FrutigerNext LT Bold" charset="0"/>
                <a:ea typeface="MS PGothic" panose="020B0600070205080204" pitchFamily="34" charset="-128"/>
              </a:rPr>
              <a:t>‹#›</a:t>
            </a:fld>
            <a:endParaRPr lang="en-US" altLang="zh-CN" sz="1200" b="0" dirty="0">
              <a:latin typeface="FrutigerNext LT Bold" charset="0"/>
              <a:ea typeface="MS PGothic" panose="020B0600070205080204" pitchFamily="34" charset="-128"/>
            </a:endParaRPr>
          </a:p>
        </p:txBody>
      </p:sp>
    </p:spTree>
    <p:extLst>
      <p:ext uri="{BB962C8B-B14F-4D97-AF65-F5344CB8AC3E}">
        <p14:creationId xmlns:p14="http://schemas.microsoft.com/office/powerpoint/2010/main" val="2761210141"/>
      </p:ext>
    </p:extLst>
  </p:cSld>
  <p:clrMapOvr>
    <a:masterClrMapping/>
  </p:clrMapOvr>
  <p:transition spd="slow">
    <p:pull dir="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517" y="4800600"/>
            <a:ext cx="7314838" cy="567418"/>
          </a:xfrm>
        </p:spPr>
        <p:txBody>
          <a:bodyPr anchor="b"/>
          <a:lstStyle>
            <a:lvl1pPr algn="l">
              <a:defRPr sz="1714" b="1"/>
            </a:lvl1pPr>
          </a:lstStyle>
          <a:p>
            <a:r>
              <a:rPr lang="en-US" altLang="zh-CN"/>
              <a:t>Click to edit Master title style</a:t>
            </a:r>
            <a:endParaRPr lang="zh-CN" altLang="en-US"/>
          </a:p>
        </p:txBody>
      </p:sp>
      <p:sp>
        <p:nvSpPr>
          <p:cNvPr id="3" name="Picture Placeholder 2"/>
          <p:cNvSpPr>
            <a:spLocks noGrp="1"/>
          </p:cNvSpPr>
          <p:nvPr>
            <p:ph type="pic" idx="1"/>
          </p:nvPr>
        </p:nvSpPr>
        <p:spPr>
          <a:xfrm>
            <a:off x="2390517" y="612321"/>
            <a:ext cx="7314838" cy="4114800"/>
          </a:xfrm>
        </p:spPr>
        <p:txBody>
          <a:bodyPr vert="horz" wrap="square" lIns="92075" tIns="46038" rIns="92075" bIns="46038" numCol="1" anchor="t" anchorCtr="0" compatLnSpc="1"/>
          <a:lstStyle>
            <a:lvl1pPr marL="0" indent="0">
              <a:buNone/>
              <a:defRPr sz="2743"/>
            </a:lvl1pPr>
            <a:lvl2pPr marL="391866" indent="0">
              <a:buNone/>
              <a:defRPr sz="2400"/>
            </a:lvl2pPr>
            <a:lvl3pPr marL="783732" indent="0">
              <a:buNone/>
              <a:defRPr sz="2057"/>
            </a:lvl3pPr>
            <a:lvl4pPr marL="1175598" indent="0">
              <a:buNone/>
              <a:defRPr sz="1714"/>
            </a:lvl4pPr>
            <a:lvl5pPr marL="1567464" indent="0">
              <a:buNone/>
              <a:defRPr sz="1714"/>
            </a:lvl5pPr>
            <a:lvl6pPr marL="1959331" indent="0">
              <a:buNone/>
              <a:defRPr sz="1714"/>
            </a:lvl6pPr>
            <a:lvl7pPr marL="2351197" indent="0">
              <a:buNone/>
              <a:defRPr sz="1714"/>
            </a:lvl7pPr>
            <a:lvl8pPr marL="2743063" indent="0">
              <a:buNone/>
              <a:defRPr sz="1714"/>
            </a:lvl8pPr>
            <a:lvl9pPr marL="3134929" indent="0">
              <a:buNone/>
              <a:defRPr sz="1714"/>
            </a:lvl9pPr>
          </a:lstStyle>
          <a:p>
            <a:pPr marL="0" marR="0" lvl="0" indent="0" algn="l" defTabSz="914354" rtl="0" eaLnBrk="0" fontAlgn="base" latinLnBrk="0" hangingPunct="0">
              <a:lnSpc>
                <a:spcPct val="125000"/>
              </a:lnSpc>
              <a:spcBef>
                <a:spcPct val="20000"/>
              </a:spcBef>
              <a:spcAft>
                <a:spcPct val="0"/>
              </a:spcAft>
              <a:buClr>
                <a:srgbClr val="990000"/>
              </a:buClr>
              <a:buSzTx/>
              <a:buFontTx/>
              <a:buNone/>
              <a:defRPr/>
            </a:pPr>
            <a:endParaRPr kumimoji="0" lang="zh-CN" altLang="en-US" sz="2743" b="1" i="0" u="none" strike="noStrike" kern="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2390517" y="5368018"/>
            <a:ext cx="7314838" cy="804182"/>
          </a:xfrm>
        </p:spPr>
        <p:txBody>
          <a:bodyPr/>
          <a:lstStyle>
            <a:lvl1pPr marL="0" indent="0">
              <a:buNone/>
              <a:defRPr sz="1200"/>
            </a:lvl1pPr>
            <a:lvl2pPr marL="391866" indent="0">
              <a:buNone/>
              <a:defRPr sz="1029"/>
            </a:lvl2pPr>
            <a:lvl3pPr marL="783732" indent="0">
              <a:buNone/>
              <a:defRPr sz="857"/>
            </a:lvl3pPr>
            <a:lvl4pPr marL="1175598" indent="0">
              <a:buNone/>
              <a:defRPr sz="771"/>
            </a:lvl4pPr>
            <a:lvl5pPr marL="1567464" indent="0">
              <a:buNone/>
              <a:defRPr sz="771"/>
            </a:lvl5pPr>
            <a:lvl6pPr marL="1959331" indent="0">
              <a:buNone/>
              <a:defRPr sz="771"/>
            </a:lvl6pPr>
            <a:lvl7pPr marL="2351197" indent="0">
              <a:buNone/>
              <a:defRPr sz="771"/>
            </a:lvl7pPr>
            <a:lvl8pPr marL="2743063" indent="0">
              <a:buNone/>
              <a:defRPr sz="771"/>
            </a:lvl8pPr>
            <a:lvl9pPr marL="3134929" indent="0">
              <a:buNone/>
              <a:defRPr sz="771"/>
            </a:lvl9pPr>
          </a:lstStyle>
          <a:p>
            <a:pPr lvl="0"/>
            <a:r>
              <a:rPr lang="en-US" altLang="zh-CN"/>
              <a:t>Click to edit Master text styles</a:t>
            </a:r>
          </a:p>
        </p:txBody>
      </p:sp>
      <p:sp>
        <p:nvSpPr>
          <p:cNvPr id="5" name="日期占位符 4"/>
          <p:cNvSpPr>
            <a:spLocks noGrp="1"/>
          </p:cNvSpPr>
          <p:nvPr>
            <p:ph type="dt" sz="half" idx="10"/>
          </p:nvPr>
        </p:nvSpPr>
        <p:spPr/>
        <p:txBody>
          <a:bodyPr/>
          <a:lstStyle/>
          <a:p>
            <a:pPr lvl="0">
              <a:lnSpc>
                <a:spcPct val="85000"/>
              </a:lnSpc>
            </a:pPr>
            <a:r>
              <a:rPr lang="en-US" altLang="zh-CN" dirty="0"/>
              <a:t>Page </a:t>
            </a:r>
            <a:fld id="{9A0DB2DC-4C9A-4742-B13C-FB6460FD3503}" type="slidenum">
              <a:rPr lang="en-US" altLang="zh-CN" sz="1200" b="0" dirty="0">
                <a:latin typeface="FrutigerNext LT Bold" charset="0"/>
                <a:ea typeface="MS PGothic" panose="020B0600070205080204" pitchFamily="34" charset="-128"/>
              </a:rPr>
              <a:t>‹#›</a:t>
            </a:fld>
            <a:endParaRPr lang="en-US" altLang="zh-CN" sz="1200" b="0" dirty="0">
              <a:latin typeface="FrutigerNext LT Bold" charset="0"/>
              <a:ea typeface="MS PGothic" panose="020B0600070205080204" pitchFamily="34" charset="-128"/>
            </a:endParaRPr>
          </a:p>
        </p:txBody>
      </p:sp>
    </p:spTree>
    <p:extLst>
      <p:ext uri="{BB962C8B-B14F-4D97-AF65-F5344CB8AC3E}">
        <p14:creationId xmlns:p14="http://schemas.microsoft.com/office/powerpoint/2010/main" val="3695865576"/>
      </p:ext>
    </p:extLst>
  </p:cSld>
  <p:clrMapOvr>
    <a:masterClrMapping/>
  </p:clrMapOvr>
  <p:transition spd="slow">
    <p:pull dir="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日期占位符 3"/>
          <p:cNvSpPr>
            <a:spLocks noGrp="1"/>
          </p:cNvSpPr>
          <p:nvPr>
            <p:ph type="dt" sz="half" idx="10"/>
          </p:nvPr>
        </p:nvSpPr>
        <p:spPr/>
        <p:txBody>
          <a:bodyPr/>
          <a:lstStyle/>
          <a:p>
            <a:pPr lvl="0">
              <a:lnSpc>
                <a:spcPct val="85000"/>
              </a:lnSpc>
            </a:pPr>
            <a:r>
              <a:rPr lang="en-US" altLang="zh-CN" dirty="0"/>
              <a:t>Page </a:t>
            </a:r>
            <a:fld id="{9A0DB2DC-4C9A-4742-B13C-FB6460FD3503}" type="slidenum">
              <a:rPr lang="en-US" altLang="zh-CN" sz="1200" b="0" dirty="0">
                <a:latin typeface="FrutigerNext LT Bold" charset="0"/>
                <a:ea typeface="MS PGothic" panose="020B0600070205080204" pitchFamily="34" charset="-128"/>
              </a:rPr>
              <a:t>‹#›</a:t>
            </a:fld>
            <a:endParaRPr lang="en-US" altLang="zh-CN" sz="1200" b="0" dirty="0">
              <a:latin typeface="FrutigerNext LT Bold" charset="0"/>
              <a:ea typeface="MS PGothic" panose="020B0600070205080204" pitchFamily="34" charset="-128"/>
            </a:endParaRPr>
          </a:p>
        </p:txBody>
      </p:sp>
    </p:spTree>
    <p:extLst>
      <p:ext uri="{BB962C8B-B14F-4D97-AF65-F5344CB8AC3E}">
        <p14:creationId xmlns:p14="http://schemas.microsoft.com/office/powerpoint/2010/main" val="1732683757"/>
      </p:ext>
    </p:extLst>
  </p:cSld>
  <p:clrMapOvr>
    <a:masterClrMapping/>
  </p:clrMapOvr>
  <p:transition spd="slow">
    <p:pull dir="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15294" y="638176"/>
            <a:ext cx="2580961" cy="5074103"/>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870599" y="638176"/>
            <a:ext cx="7570575" cy="5074103"/>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日期占位符 3"/>
          <p:cNvSpPr>
            <a:spLocks noGrp="1"/>
          </p:cNvSpPr>
          <p:nvPr>
            <p:ph type="dt" sz="half" idx="10"/>
          </p:nvPr>
        </p:nvSpPr>
        <p:spPr/>
        <p:txBody>
          <a:bodyPr/>
          <a:lstStyle/>
          <a:p>
            <a:pPr lvl="0">
              <a:lnSpc>
                <a:spcPct val="85000"/>
              </a:lnSpc>
            </a:pPr>
            <a:r>
              <a:rPr lang="en-US" altLang="zh-CN" dirty="0"/>
              <a:t>Page </a:t>
            </a:r>
            <a:fld id="{9A0DB2DC-4C9A-4742-B13C-FB6460FD3503}" type="slidenum">
              <a:rPr lang="en-US" altLang="zh-CN" sz="1200" b="0" dirty="0">
                <a:latin typeface="FrutigerNext LT Bold" charset="0"/>
                <a:ea typeface="MS PGothic" panose="020B0600070205080204" pitchFamily="34" charset="-128"/>
              </a:rPr>
              <a:t>‹#›</a:t>
            </a:fld>
            <a:endParaRPr lang="en-US" altLang="zh-CN" sz="1200" b="0" dirty="0">
              <a:latin typeface="FrutigerNext LT Bold" charset="0"/>
              <a:ea typeface="MS PGothic" panose="020B0600070205080204" pitchFamily="34" charset="-128"/>
            </a:endParaRPr>
          </a:p>
        </p:txBody>
      </p:sp>
    </p:spTree>
    <p:extLst>
      <p:ext uri="{BB962C8B-B14F-4D97-AF65-F5344CB8AC3E}">
        <p14:creationId xmlns:p14="http://schemas.microsoft.com/office/powerpoint/2010/main" val="3994966971"/>
      </p:ext>
    </p:extLst>
  </p:cSld>
  <p:clrMapOvr>
    <a:masterClrMapping/>
  </p:clrMapOvr>
  <p:transition spd="slow">
    <p:pull dir="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870598" y="638176"/>
            <a:ext cx="10325656" cy="870857"/>
          </a:xfrm>
        </p:spPr>
        <p:txBody>
          <a:bodyPr/>
          <a:lstStyle/>
          <a:p>
            <a:r>
              <a:rPr lang="en-US" altLang="zh-CN"/>
              <a:t>Click to edit Master title style</a:t>
            </a:r>
            <a:endParaRPr lang="zh-CN" altLang="en-US"/>
          </a:p>
        </p:txBody>
      </p:sp>
      <p:sp>
        <p:nvSpPr>
          <p:cNvPr id="3" name="Table Placeholder 2"/>
          <p:cNvSpPr>
            <a:spLocks noGrp="1"/>
          </p:cNvSpPr>
          <p:nvPr>
            <p:ph type="tbl" idx="1"/>
          </p:nvPr>
        </p:nvSpPr>
        <p:spPr>
          <a:xfrm>
            <a:off x="870598" y="1641022"/>
            <a:ext cx="10325656" cy="4071257"/>
          </a:xfrm>
        </p:spPr>
        <p:txBody>
          <a:bodyPr vert="horz" wrap="square" lIns="92075" tIns="46038" rIns="92075" bIns="46038" numCol="1" anchor="t" anchorCtr="0" compatLnSpc="1"/>
          <a:lstStyle/>
          <a:p>
            <a:pPr marL="342883" marR="0" lvl="0" indent="-342883" algn="l" defTabSz="914354" rtl="0" eaLnBrk="0" fontAlgn="base" latinLnBrk="0" hangingPunct="0">
              <a:lnSpc>
                <a:spcPct val="125000"/>
              </a:lnSpc>
              <a:spcBef>
                <a:spcPct val="20000"/>
              </a:spcBef>
              <a:spcAft>
                <a:spcPct val="0"/>
              </a:spcAft>
              <a:buClr>
                <a:srgbClr val="990000"/>
              </a:buClr>
              <a:buSzTx/>
              <a:buFontTx/>
              <a:buChar char="•"/>
              <a:defRPr/>
            </a:pPr>
            <a:endParaRPr kumimoji="0" lang="zh-CN" altLang="en-US" sz="1886" b="1" i="0" u="none" strike="noStrike" kern="0" cap="none" spc="0" normalizeH="0" baseline="0" noProof="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lstStyle/>
          <a:p>
            <a:pPr lvl="0">
              <a:lnSpc>
                <a:spcPct val="85000"/>
              </a:lnSpc>
            </a:pPr>
            <a:r>
              <a:rPr lang="en-US" altLang="zh-CN" dirty="0"/>
              <a:t>Page </a:t>
            </a:r>
            <a:fld id="{9A0DB2DC-4C9A-4742-B13C-FB6460FD3503}" type="slidenum">
              <a:rPr lang="en-US" altLang="zh-CN" sz="1200" b="0" dirty="0">
                <a:latin typeface="FrutigerNext LT Bold" charset="0"/>
                <a:ea typeface="MS PGothic" panose="020B0600070205080204" pitchFamily="34" charset="-128"/>
              </a:rPr>
              <a:t>‹#›</a:t>
            </a:fld>
            <a:endParaRPr lang="en-US" altLang="zh-CN" sz="1200" b="0" dirty="0">
              <a:latin typeface="FrutigerNext LT Bold" charset="0"/>
              <a:ea typeface="MS PGothic" panose="020B0600070205080204" pitchFamily="34" charset="-128"/>
            </a:endParaRPr>
          </a:p>
        </p:txBody>
      </p:sp>
    </p:spTree>
    <p:extLst>
      <p:ext uri="{BB962C8B-B14F-4D97-AF65-F5344CB8AC3E}">
        <p14:creationId xmlns:p14="http://schemas.microsoft.com/office/powerpoint/2010/main" val="3087131285"/>
      </p:ext>
    </p:extLst>
  </p:cSld>
  <p:clrMapOvr>
    <a:masterClrMapping/>
  </p:clrMapOvr>
  <p:transition spd="slow">
    <p:pull dir="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sz="half" idx="1"/>
          </p:nvPr>
        </p:nvSpPr>
        <p:spPr>
          <a:xfrm>
            <a:off x="838200" y="1825626"/>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6"/>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lnSpc>
                <a:spcPct val="85000"/>
              </a:lnSpc>
            </a:pPr>
            <a:r>
              <a:rPr lang="en-US" altLang="zh-CN" dirty="0"/>
              <a:t>Page </a:t>
            </a:r>
            <a:fld id="{9A0DB2DC-4C9A-4742-B13C-FB6460FD3503}" type="slidenum">
              <a:rPr lang="en-US" altLang="zh-CN" sz="1200" b="0" dirty="0">
                <a:latin typeface="FrutigerNext LT Bold" charset="0"/>
                <a:ea typeface="MS PGothic" panose="020B0600070205080204" pitchFamily="34" charset="-128"/>
              </a:rPr>
              <a:t>‹#›</a:t>
            </a:fld>
            <a:endParaRPr lang="en-US" altLang="zh-CN" sz="1200" b="0" dirty="0">
              <a:latin typeface="FrutigerNext LT Bold" charset="0"/>
              <a:ea typeface="MS PGothic" panose="020B0600070205080204" pitchFamily="34" charset="-128"/>
            </a:endParaRPr>
          </a:p>
        </p:txBody>
      </p:sp>
    </p:spTree>
    <p:extLst>
      <p:ext uri="{BB962C8B-B14F-4D97-AF65-F5344CB8AC3E}">
        <p14:creationId xmlns:p14="http://schemas.microsoft.com/office/powerpoint/2010/main" val="1950799441"/>
      </p:ext>
    </p:extLst>
  </p:cSld>
  <p:clrMapOvr>
    <a:masterClrMapping/>
  </p:clrMapOvr>
  <p:transition spd="slow">
    <p:pull dir="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9630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w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2"/>
          <p:cNvPicPr/>
          <p:nvPr/>
        </p:nvPicPr>
        <p:blipFill>
          <a:blip r:embed="rId16"/>
          <a:stretch>
            <a:fillRect/>
          </a:stretch>
        </p:blipFill>
        <p:spPr>
          <a:xfrm>
            <a:off x="0" y="6221186"/>
            <a:ext cx="12204697" cy="647700"/>
          </a:xfrm>
          <a:prstGeom prst="rect">
            <a:avLst/>
          </a:prstGeom>
          <a:noFill/>
          <a:ln w="9525">
            <a:noFill/>
          </a:ln>
        </p:spPr>
      </p:pic>
      <p:sp>
        <p:nvSpPr>
          <p:cNvPr id="24581" name="Rectangle 5"/>
          <p:cNvSpPr>
            <a:spLocks noGrp="1" noChangeArrowheads="1"/>
          </p:cNvSpPr>
          <p:nvPr>
            <p:ph type="dt" sz="half" idx="2"/>
          </p:nvPr>
        </p:nvSpPr>
        <p:spPr bwMode="auto">
          <a:xfrm>
            <a:off x="8481077" y="6489247"/>
            <a:ext cx="2796796" cy="457200"/>
          </a:xfrm>
          <a:prstGeom prst="rect">
            <a:avLst/>
          </a:prstGeom>
          <a:noFill/>
          <a:ln w="9525">
            <a:noFill/>
            <a:miter lim="800000"/>
          </a:ln>
          <a:effectLst/>
        </p:spPr>
        <p:txBody>
          <a:bodyPr vert="horz" wrap="square" lIns="0" tIns="0" rIns="0" bIns="0" numCol="1" anchor="t" anchorCtr="0" compatLnSpc="1"/>
          <a:lstStyle>
            <a:lvl1pPr>
              <a:defRPr sz="1200" b="0">
                <a:latin typeface="FrutigerNext LT Bold" charset="0"/>
                <a:ea typeface="MS PGothic" panose="020B0600070205080204" pitchFamily="34" charset="-128"/>
              </a:defRPr>
            </a:lvl1pPr>
          </a:lstStyle>
          <a:p>
            <a:pPr lvl="0">
              <a:lnSpc>
                <a:spcPct val="85000"/>
              </a:lnSpc>
            </a:pPr>
            <a:r>
              <a:rPr lang="en-US" altLang="zh-CN" dirty="0"/>
              <a:t>Page </a:t>
            </a:r>
            <a:fld id="{9A0DB2DC-4C9A-4742-B13C-FB6460FD3503}" type="slidenum">
              <a:rPr lang="en-US" altLang="zh-CN" sz="1200" b="0" dirty="0">
                <a:latin typeface="FrutigerNext LT Bold" charset="0"/>
                <a:ea typeface="MS PGothic" panose="020B0600070205080204" pitchFamily="34" charset="-128"/>
              </a:rPr>
              <a:t>‹#›</a:t>
            </a:fld>
            <a:endParaRPr lang="en-US" altLang="zh-CN" sz="1200" b="0" dirty="0">
              <a:latin typeface="FrutigerNext LT Bold" charset="0"/>
              <a:ea typeface="MS PGothic" panose="020B0600070205080204" pitchFamily="34" charset="-128"/>
            </a:endParaRPr>
          </a:p>
        </p:txBody>
      </p:sp>
      <p:sp>
        <p:nvSpPr>
          <p:cNvPr id="2054" name="Rectangle 6"/>
          <p:cNvSpPr>
            <a:spLocks noGrp="1"/>
          </p:cNvSpPr>
          <p:nvPr>
            <p:ph type="title"/>
          </p:nvPr>
        </p:nvSpPr>
        <p:spPr>
          <a:xfrm>
            <a:off x="870598" y="638176"/>
            <a:ext cx="10325656" cy="870857"/>
          </a:xfrm>
          <a:prstGeom prst="rect">
            <a:avLst/>
          </a:prstGeom>
          <a:noFill/>
          <a:ln w="9525">
            <a:noFill/>
          </a:ln>
        </p:spPr>
        <p:txBody>
          <a:bodyPr lIns="92075" tIns="46038" rIns="92075" bIns="46038" anchor="ctr"/>
          <a:lstStyle/>
          <a:p>
            <a:pPr lvl="0"/>
            <a:r>
              <a:rPr lang="zh-CN" altLang="en-US" dirty="0"/>
              <a:t>单击此处编辑母版标题样式</a:t>
            </a:r>
          </a:p>
        </p:txBody>
      </p:sp>
      <p:sp>
        <p:nvSpPr>
          <p:cNvPr id="2055" name="Rectangle 7"/>
          <p:cNvSpPr>
            <a:spLocks noGrp="1"/>
          </p:cNvSpPr>
          <p:nvPr>
            <p:ph type="body" idx="1"/>
          </p:nvPr>
        </p:nvSpPr>
        <p:spPr>
          <a:xfrm>
            <a:off x="870598" y="1641022"/>
            <a:ext cx="10325656" cy="4071257"/>
          </a:xfrm>
          <a:prstGeom prst="rect">
            <a:avLst/>
          </a:prstGeom>
          <a:noFill/>
          <a:ln w="9525">
            <a:noFill/>
          </a:ln>
        </p:spPr>
        <p:txBody>
          <a:bodyPr lIns="92075" tIns="46038" rIns="92075" bIns="46038"/>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492211768"/>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4" r:id="rId14"/>
  </p:sldLayoutIdLst>
  <p:transition spd="slow">
    <p:pull dir="ru"/>
  </p:transition>
  <p:hf sldNum="0" hdr="0" ftr="0"/>
  <p:txStyles>
    <p:titleStyle>
      <a:lvl1pPr algn="l" defTabSz="914354" rtl="0" eaLnBrk="0" fontAlgn="base" hangingPunct="0">
        <a:spcBef>
          <a:spcPct val="0"/>
        </a:spcBef>
        <a:spcAft>
          <a:spcPct val="0"/>
        </a:spcAft>
        <a:defRPr sz="2743">
          <a:solidFill>
            <a:srgbClr val="990000"/>
          </a:solidFill>
          <a:latin typeface="+mj-lt"/>
          <a:ea typeface="+mj-ea"/>
          <a:cs typeface="+mj-cs"/>
        </a:defRPr>
      </a:lvl1pPr>
      <a:lvl2pPr algn="l" defTabSz="914354" rtl="0" eaLnBrk="0" fontAlgn="base" hangingPunct="0">
        <a:spcBef>
          <a:spcPct val="0"/>
        </a:spcBef>
        <a:spcAft>
          <a:spcPct val="0"/>
        </a:spcAft>
        <a:defRPr sz="2743">
          <a:solidFill>
            <a:srgbClr val="990000"/>
          </a:solidFill>
          <a:latin typeface="FrutigerNext LT Medium" pitchFamily="34" charset="0"/>
          <a:ea typeface="黑体" panose="02010609060101010101" pitchFamily="2" charset="-122"/>
        </a:defRPr>
      </a:lvl2pPr>
      <a:lvl3pPr algn="l" defTabSz="914354" rtl="0" eaLnBrk="0" fontAlgn="base" hangingPunct="0">
        <a:spcBef>
          <a:spcPct val="0"/>
        </a:spcBef>
        <a:spcAft>
          <a:spcPct val="0"/>
        </a:spcAft>
        <a:defRPr sz="2743">
          <a:solidFill>
            <a:srgbClr val="990000"/>
          </a:solidFill>
          <a:latin typeface="FrutigerNext LT Medium" pitchFamily="34" charset="0"/>
          <a:ea typeface="黑体" panose="02010609060101010101" pitchFamily="2" charset="-122"/>
        </a:defRPr>
      </a:lvl3pPr>
      <a:lvl4pPr algn="l" defTabSz="914354" rtl="0" eaLnBrk="0" fontAlgn="base" hangingPunct="0">
        <a:spcBef>
          <a:spcPct val="0"/>
        </a:spcBef>
        <a:spcAft>
          <a:spcPct val="0"/>
        </a:spcAft>
        <a:defRPr sz="2743">
          <a:solidFill>
            <a:srgbClr val="990000"/>
          </a:solidFill>
          <a:latin typeface="FrutigerNext LT Medium" pitchFamily="34" charset="0"/>
          <a:ea typeface="黑体" panose="02010609060101010101" pitchFamily="2" charset="-122"/>
        </a:defRPr>
      </a:lvl4pPr>
      <a:lvl5pPr algn="l" defTabSz="914354" rtl="0" eaLnBrk="0" fontAlgn="base" hangingPunct="0">
        <a:spcBef>
          <a:spcPct val="0"/>
        </a:spcBef>
        <a:spcAft>
          <a:spcPct val="0"/>
        </a:spcAft>
        <a:defRPr sz="2743">
          <a:solidFill>
            <a:srgbClr val="990000"/>
          </a:solidFill>
          <a:latin typeface="FrutigerNext LT Medium" pitchFamily="34" charset="0"/>
          <a:ea typeface="黑体" panose="02010609060101010101" pitchFamily="2" charset="-122"/>
        </a:defRPr>
      </a:lvl5pPr>
      <a:lvl6pPr marL="391866" algn="l" defTabSz="914354" rtl="0" fontAlgn="base">
        <a:spcBef>
          <a:spcPct val="0"/>
        </a:spcBef>
        <a:spcAft>
          <a:spcPct val="0"/>
        </a:spcAft>
        <a:defRPr sz="2743">
          <a:solidFill>
            <a:srgbClr val="990000"/>
          </a:solidFill>
          <a:latin typeface="FrutigerNext LT Medium" pitchFamily="34" charset="0"/>
          <a:ea typeface="黑体" panose="02010609060101010101" pitchFamily="2" charset="-122"/>
        </a:defRPr>
      </a:lvl6pPr>
      <a:lvl7pPr marL="783732" algn="l" defTabSz="914354" rtl="0" fontAlgn="base">
        <a:spcBef>
          <a:spcPct val="0"/>
        </a:spcBef>
        <a:spcAft>
          <a:spcPct val="0"/>
        </a:spcAft>
        <a:defRPr sz="2743">
          <a:solidFill>
            <a:srgbClr val="990000"/>
          </a:solidFill>
          <a:latin typeface="FrutigerNext LT Medium" pitchFamily="34" charset="0"/>
          <a:ea typeface="黑体" panose="02010609060101010101" pitchFamily="2" charset="-122"/>
        </a:defRPr>
      </a:lvl7pPr>
      <a:lvl8pPr marL="1175598" algn="l" defTabSz="914354" rtl="0" fontAlgn="base">
        <a:spcBef>
          <a:spcPct val="0"/>
        </a:spcBef>
        <a:spcAft>
          <a:spcPct val="0"/>
        </a:spcAft>
        <a:defRPr sz="2743">
          <a:solidFill>
            <a:srgbClr val="990000"/>
          </a:solidFill>
          <a:latin typeface="FrutigerNext LT Medium" pitchFamily="34" charset="0"/>
          <a:ea typeface="黑体" panose="02010609060101010101" pitchFamily="2" charset="-122"/>
        </a:defRPr>
      </a:lvl8pPr>
      <a:lvl9pPr marL="1567464" algn="l" defTabSz="914354" rtl="0" fontAlgn="base">
        <a:spcBef>
          <a:spcPct val="0"/>
        </a:spcBef>
        <a:spcAft>
          <a:spcPct val="0"/>
        </a:spcAft>
        <a:defRPr sz="2743">
          <a:solidFill>
            <a:srgbClr val="990000"/>
          </a:solidFill>
          <a:latin typeface="FrutigerNext LT Medium" pitchFamily="34" charset="0"/>
          <a:ea typeface="黑体" panose="02010609060101010101" pitchFamily="2" charset="-122"/>
        </a:defRPr>
      </a:lvl9pPr>
    </p:titleStyle>
    <p:bodyStyle>
      <a:lvl1pPr marL="342883" indent="-342883" algn="l" defTabSz="914354" rtl="0" eaLnBrk="0" fontAlgn="base" hangingPunct="0">
        <a:lnSpc>
          <a:spcPct val="125000"/>
        </a:lnSpc>
        <a:spcBef>
          <a:spcPct val="20000"/>
        </a:spcBef>
        <a:spcAft>
          <a:spcPct val="0"/>
        </a:spcAft>
        <a:buClr>
          <a:srgbClr val="990000"/>
        </a:buClr>
        <a:buChar char="•"/>
        <a:defRPr sz="1886" b="1">
          <a:solidFill>
            <a:schemeClr val="tx1"/>
          </a:solidFill>
          <a:latin typeface="+mn-lt"/>
          <a:ea typeface="+mn-ea"/>
          <a:cs typeface="+mn-cs"/>
        </a:defRPr>
      </a:lvl1pPr>
      <a:lvl2pPr marL="742913" indent="-285736" algn="l" defTabSz="914354" rtl="0" eaLnBrk="0" fontAlgn="base" hangingPunct="0">
        <a:lnSpc>
          <a:spcPct val="125000"/>
        </a:lnSpc>
        <a:spcBef>
          <a:spcPct val="20000"/>
        </a:spcBef>
        <a:spcAft>
          <a:spcPct val="0"/>
        </a:spcAft>
        <a:buFont typeface="Arial" panose="020B0604020202020204" pitchFamily="34" charset="0"/>
        <a:buChar char="›"/>
        <a:defRPr sz="1714">
          <a:solidFill>
            <a:schemeClr val="tx1"/>
          </a:solidFill>
          <a:latin typeface="+mn-lt"/>
          <a:ea typeface="+mn-ea"/>
        </a:defRPr>
      </a:lvl2pPr>
      <a:lvl3pPr marL="1141854" indent="-227500" algn="l" defTabSz="914354" rtl="0" eaLnBrk="0" fontAlgn="base" hangingPunct="0">
        <a:lnSpc>
          <a:spcPct val="125000"/>
        </a:lnSpc>
        <a:spcBef>
          <a:spcPct val="20000"/>
        </a:spcBef>
        <a:spcAft>
          <a:spcPct val="0"/>
        </a:spcAft>
        <a:buFont typeface="Arial" panose="020B0604020202020204" pitchFamily="34" charset="0"/>
        <a:buChar char="»"/>
        <a:defRPr sz="1714">
          <a:solidFill>
            <a:schemeClr val="tx1"/>
          </a:solidFill>
          <a:latin typeface="+mn-lt"/>
          <a:ea typeface="+mn-ea"/>
        </a:defRPr>
      </a:lvl3pPr>
      <a:lvl4pPr marL="1599031" indent="-228589" algn="l" defTabSz="914354" rtl="0" eaLnBrk="0" fontAlgn="base" hangingPunct="0">
        <a:lnSpc>
          <a:spcPct val="125000"/>
        </a:lnSpc>
        <a:spcBef>
          <a:spcPct val="20000"/>
        </a:spcBef>
        <a:spcAft>
          <a:spcPct val="0"/>
        </a:spcAft>
        <a:buChar char="–"/>
        <a:defRPr sz="1714">
          <a:solidFill>
            <a:schemeClr val="tx1"/>
          </a:solidFill>
          <a:latin typeface="+mn-lt"/>
          <a:ea typeface="+mn-ea"/>
        </a:defRPr>
      </a:lvl4pPr>
      <a:lvl5pPr marL="2056209" indent="-228589" algn="l" defTabSz="914354" rtl="0" eaLnBrk="0" fontAlgn="base" hangingPunct="0">
        <a:lnSpc>
          <a:spcPct val="125000"/>
        </a:lnSpc>
        <a:spcBef>
          <a:spcPct val="20000"/>
        </a:spcBef>
        <a:spcAft>
          <a:spcPct val="0"/>
        </a:spcAft>
        <a:buClr>
          <a:schemeClr val="bg2"/>
        </a:buClr>
        <a:buSzPct val="40000"/>
        <a:buFont typeface="Wingdings" panose="05000000000000000000" pitchFamily="2" charset="2"/>
        <a:buChar char="l"/>
        <a:defRPr sz="1714">
          <a:solidFill>
            <a:schemeClr val="tx1"/>
          </a:solidFill>
          <a:latin typeface="+mn-lt"/>
          <a:ea typeface="+mn-ea"/>
        </a:defRPr>
      </a:lvl5pPr>
      <a:lvl6pPr marL="2448075" indent="-228589" algn="l" defTabSz="914354" rtl="0" fontAlgn="base">
        <a:lnSpc>
          <a:spcPct val="125000"/>
        </a:lnSpc>
        <a:spcBef>
          <a:spcPct val="20000"/>
        </a:spcBef>
        <a:spcAft>
          <a:spcPct val="0"/>
        </a:spcAft>
        <a:buClr>
          <a:schemeClr val="bg2"/>
        </a:buClr>
        <a:buSzPct val="40000"/>
        <a:buFont typeface="Wingdings" panose="05000000000000000000" pitchFamily="2" charset="2"/>
        <a:buChar char="l"/>
        <a:defRPr sz="1714">
          <a:solidFill>
            <a:schemeClr val="tx1"/>
          </a:solidFill>
          <a:latin typeface="+mn-lt"/>
          <a:ea typeface="+mn-ea"/>
        </a:defRPr>
      </a:lvl6pPr>
      <a:lvl7pPr marL="2839941" indent="-228589" algn="l" defTabSz="914354" rtl="0" fontAlgn="base">
        <a:lnSpc>
          <a:spcPct val="125000"/>
        </a:lnSpc>
        <a:spcBef>
          <a:spcPct val="20000"/>
        </a:spcBef>
        <a:spcAft>
          <a:spcPct val="0"/>
        </a:spcAft>
        <a:buClr>
          <a:schemeClr val="bg2"/>
        </a:buClr>
        <a:buSzPct val="40000"/>
        <a:buFont typeface="Wingdings" panose="05000000000000000000" pitchFamily="2" charset="2"/>
        <a:buChar char="l"/>
        <a:defRPr sz="1714">
          <a:solidFill>
            <a:schemeClr val="tx1"/>
          </a:solidFill>
          <a:latin typeface="+mn-lt"/>
          <a:ea typeface="+mn-ea"/>
        </a:defRPr>
      </a:lvl7pPr>
      <a:lvl8pPr marL="3231807" indent="-228589" algn="l" defTabSz="914354" rtl="0" fontAlgn="base">
        <a:lnSpc>
          <a:spcPct val="125000"/>
        </a:lnSpc>
        <a:spcBef>
          <a:spcPct val="20000"/>
        </a:spcBef>
        <a:spcAft>
          <a:spcPct val="0"/>
        </a:spcAft>
        <a:buClr>
          <a:schemeClr val="bg2"/>
        </a:buClr>
        <a:buSzPct val="40000"/>
        <a:buFont typeface="Wingdings" panose="05000000000000000000" pitchFamily="2" charset="2"/>
        <a:buChar char="l"/>
        <a:defRPr sz="1714">
          <a:solidFill>
            <a:schemeClr val="tx1"/>
          </a:solidFill>
          <a:latin typeface="+mn-lt"/>
          <a:ea typeface="+mn-ea"/>
        </a:defRPr>
      </a:lvl8pPr>
      <a:lvl9pPr marL="3623673" indent="-228589" algn="l" defTabSz="914354" rtl="0" fontAlgn="base">
        <a:lnSpc>
          <a:spcPct val="125000"/>
        </a:lnSpc>
        <a:spcBef>
          <a:spcPct val="20000"/>
        </a:spcBef>
        <a:spcAft>
          <a:spcPct val="0"/>
        </a:spcAft>
        <a:buClr>
          <a:schemeClr val="bg2"/>
        </a:buClr>
        <a:buSzPct val="40000"/>
        <a:buFont typeface="Wingdings" panose="05000000000000000000" pitchFamily="2" charset="2"/>
        <a:buChar char="l"/>
        <a:defRPr sz="1714">
          <a:solidFill>
            <a:schemeClr val="tx1"/>
          </a:solidFill>
          <a:latin typeface="+mn-lt"/>
          <a:ea typeface="+mn-ea"/>
        </a:defRPr>
      </a:lvl9pPr>
    </p:bodyStyle>
    <p:otherStyle>
      <a:defPPr>
        <a:defRPr lang="zh-CN"/>
      </a:defPPr>
      <a:lvl1pPr marL="0" algn="l" defTabSz="783732" rtl="0" eaLnBrk="1" latinLnBrk="0" hangingPunct="1">
        <a:defRPr sz="1543" kern="1200">
          <a:solidFill>
            <a:schemeClr val="tx1"/>
          </a:solidFill>
          <a:latin typeface="+mn-lt"/>
          <a:ea typeface="+mn-ea"/>
          <a:cs typeface="+mn-cs"/>
        </a:defRPr>
      </a:lvl1pPr>
      <a:lvl2pPr marL="391866" algn="l" defTabSz="783732" rtl="0" eaLnBrk="1" latinLnBrk="0" hangingPunct="1">
        <a:defRPr sz="1543" kern="1200">
          <a:solidFill>
            <a:schemeClr val="tx1"/>
          </a:solidFill>
          <a:latin typeface="+mn-lt"/>
          <a:ea typeface="+mn-ea"/>
          <a:cs typeface="+mn-cs"/>
        </a:defRPr>
      </a:lvl2pPr>
      <a:lvl3pPr marL="783732" algn="l" defTabSz="783732" rtl="0" eaLnBrk="1" latinLnBrk="0" hangingPunct="1">
        <a:defRPr sz="1543" kern="1200">
          <a:solidFill>
            <a:schemeClr val="tx1"/>
          </a:solidFill>
          <a:latin typeface="+mn-lt"/>
          <a:ea typeface="+mn-ea"/>
          <a:cs typeface="+mn-cs"/>
        </a:defRPr>
      </a:lvl3pPr>
      <a:lvl4pPr marL="1175598" algn="l" defTabSz="783732" rtl="0" eaLnBrk="1" latinLnBrk="0" hangingPunct="1">
        <a:defRPr sz="1543" kern="1200">
          <a:solidFill>
            <a:schemeClr val="tx1"/>
          </a:solidFill>
          <a:latin typeface="+mn-lt"/>
          <a:ea typeface="+mn-ea"/>
          <a:cs typeface="+mn-cs"/>
        </a:defRPr>
      </a:lvl4pPr>
      <a:lvl5pPr marL="1567464" algn="l" defTabSz="783732" rtl="0" eaLnBrk="1" latinLnBrk="0" hangingPunct="1">
        <a:defRPr sz="1543" kern="1200">
          <a:solidFill>
            <a:schemeClr val="tx1"/>
          </a:solidFill>
          <a:latin typeface="+mn-lt"/>
          <a:ea typeface="+mn-ea"/>
          <a:cs typeface="+mn-cs"/>
        </a:defRPr>
      </a:lvl5pPr>
      <a:lvl6pPr marL="1959331" algn="l" defTabSz="783732" rtl="0" eaLnBrk="1" latinLnBrk="0" hangingPunct="1">
        <a:defRPr sz="1543" kern="1200">
          <a:solidFill>
            <a:schemeClr val="tx1"/>
          </a:solidFill>
          <a:latin typeface="+mn-lt"/>
          <a:ea typeface="+mn-ea"/>
          <a:cs typeface="+mn-cs"/>
        </a:defRPr>
      </a:lvl6pPr>
      <a:lvl7pPr marL="2351197" algn="l" defTabSz="783732" rtl="0" eaLnBrk="1" latinLnBrk="0" hangingPunct="1">
        <a:defRPr sz="1543" kern="1200">
          <a:solidFill>
            <a:schemeClr val="tx1"/>
          </a:solidFill>
          <a:latin typeface="+mn-lt"/>
          <a:ea typeface="+mn-ea"/>
          <a:cs typeface="+mn-cs"/>
        </a:defRPr>
      </a:lvl7pPr>
      <a:lvl8pPr marL="2743063" algn="l" defTabSz="783732" rtl="0" eaLnBrk="1" latinLnBrk="0" hangingPunct="1">
        <a:defRPr sz="1543" kern="1200">
          <a:solidFill>
            <a:schemeClr val="tx1"/>
          </a:solidFill>
          <a:latin typeface="+mn-lt"/>
          <a:ea typeface="+mn-ea"/>
          <a:cs typeface="+mn-cs"/>
        </a:defRPr>
      </a:lvl8pPr>
      <a:lvl9pPr marL="3134929" algn="l" defTabSz="783732" rtl="0" eaLnBrk="1" latinLnBrk="0" hangingPunct="1">
        <a:defRPr sz="154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ppt/slides/ppt/slides/ppt/slides/ppt/slides/ppt/slides/ppt/slides/ppt/slides/ppt/slides/ppt/slides/ppt/slides/ppt/slides/ppt/slides/ppt/slides/ppt/slides/ppt/slides/ppt/slides/ppt/slides/ppt/slides/ppt/slides/ppt/slides/ppt/slides/ppt/slides/ppt/slides/ppt/slides/ppt/slides/ppt/slides/ppt/slides/ppt/slides/ppt/slides/clipboard/slides/ppt/slides/ppt/slides/ppt/slides/ppt/slides/clipboard/drawings/media/image30.jpeg"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image" Target="../media/image15.jpeg"/><Relationship Id="rId13" Type="http://schemas.openxmlformats.org/officeDocument/2006/relationships/image" Target="../media/image20.jpeg"/><Relationship Id="rId18" Type="http://schemas.openxmlformats.org/officeDocument/2006/relationships/image" Target="../media/image25.jpeg"/><Relationship Id="rId26" Type="http://schemas.openxmlformats.org/officeDocument/2006/relationships/image" Target="../media/image33.jpeg"/><Relationship Id="rId3" Type="http://schemas.openxmlformats.org/officeDocument/2006/relationships/image" Target="../media/image3.png"/><Relationship Id="rId21" Type="http://schemas.openxmlformats.org/officeDocument/2006/relationships/image" Target="../media/image28.jpeg"/><Relationship Id="rId7" Type="http://schemas.openxmlformats.org/officeDocument/2006/relationships/image" Target="../media/image14.jpeg"/><Relationship Id="rId12" Type="http://schemas.openxmlformats.org/officeDocument/2006/relationships/image" Target="../media/image19.jpeg"/><Relationship Id="rId17" Type="http://schemas.openxmlformats.org/officeDocument/2006/relationships/image" Target="../media/image24.jpeg"/><Relationship Id="rId25" Type="http://schemas.openxmlformats.org/officeDocument/2006/relationships/image" Target="../media/image32.jpeg"/><Relationship Id="rId2" Type="http://schemas.openxmlformats.org/officeDocument/2006/relationships/notesSlide" Target="../notesSlides/notesSlide5.xml"/><Relationship Id="rId16" Type="http://schemas.openxmlformats.org/officeDocument/2006/relationships/image" Target="../media/image23.jpeg"/><Relationship Id="rId20" Type="http://schemas.openxmlformats.org/officeDocument/2006/relationships/image" Target="../media/image27.jpeg"/><Relationship Id="rId29" Type="http://schemas.openxmlformats.org/officeDocument/2006/relationships/image" Target="../media/image36.jpeg"/><Relationship Id="rId1" Type="http://schemas.openxmlformats.org/officeDocument/2006/relationships/slideLayout" Target="../slideLayouts/slideLayout7.xml"/><Relationship Id="rId6" Type="http://schemas.openxmlformats.org/officeDocument/2006/relationships/image" Target="../media/image13.jpeg"/><Relationship Id="rId11" Type="http://schemas.openxmlformats.org/officeDocument/2006/relationships/image" Target="../media/image18.jpeg"/><Relationship Id="rId24" Type="http://schemas.openxmlformats.org/officeDocument/2006/relationships/image" Target="../media/image31.jpeg"/><Relationship Id="rId5" Type="http://schemas.openxmlformats.org/officeDocument/2006/relationships/image" Target="../media/image12.jpeg"/><Relationship Id="rId15" Type="http://schemas.openxmlformats.org/officeDocument/2006/relationships/image" Target="../media/image22.jpeg"/><Relationship Id="rId23" Type="http://schemas.openxmlformats.org/officeDocument/2006/relationships/image" Target="../media/image30.jpeg"/><Relationship Id="rId28" Type="http://schemas.openxmlformats.org/officeDocument/2006/relationships/image" Target="../media/image35.jpeg"/><Relationship Id="rId10" Type="http://schemas.openxmlformats.org/officeDocument/2006/relationships/image" Target="../media/image17.jpeg"/><Relationship Id="rId19" Type="http://schemas.openxmlformats.org/officeDocument/2006/relationships/image" Target="../media/image26.jpeg"/><Relationship Id="rId31" Type="http://schemas.openxmlformats.org/officeDocument/2006/relationships/image" Target="../media/image4.png"/><Relationship Id="rId4" Type="http://schemas.openxmlformats.org/officeDocument/2006/relationships/image" Target="../media/image11.jpeg"/><Relationship Id="rId9" Type="http://schemas.openxmlformats.org/officeDocument/2006/relationships/image" Target="../media/image16.jpeg"/><Relationship Id="rId14" Type="http://schemas.openxmlformats.org/officeDocument/2006/relationships/image" Target="../media/image21.jpeg"/><Relationship Id="rId22" Type="http://schemas.openxmlformats.org/officeDocument/2006/relationships/image" Target="../media/image29.jpeg"/><Relationship Id="rId27" Type="http://schemas.openxmlformats.org/officeDocument/2006/relationships/image" Target="../media/image34.jpeg"/><Relationship Id="rId30" Type="http://schemas.openxmlformats.org/officeDocument/2006/relationships/image" Target="../media/image37.jpeg"/></Relationships>
</file>

<file path=ppt/slides/_rels/slide36.xml.rels><?xml version="1.0" encoding="UTF-8" standalone="yes"?>
<Relationships xmlns="http://schemas.openxmlformats.org/package/2006/relationships"><Relationship Id="rId8" Type="http://schemas.openxmlformats.org/officeDocument/2006/relationships/image" Target="../media/image42.jpeg"/><Relationship Id="rId13" Type="http://schemas.openxmlformats.org/officeDocument/2006/relationships/image" Target="../media/image39.wmf"/><Relationship Id="rId3" Type="http://schemas.openxmlformats.org/officeDocument/2006/relationships/notesSlide" Target="../notesSlides/notesSlide6.xml"/><Relationship Id="rId7" Type="http://schemas.openxmlformats.org/officeDocument/2006/relationships/image" Target="../media/image41.jpeg"/><Relationship Id="rId12"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8.wmf"/><Relationship Id="rId11" Type="http://schemas.openxmlformats.org/officeDocument/2006/relationships/image" Target="../media/image45.jpeg"/><Relationship Id="rId5" Type="http://schemas.openxmlformats.org/officeDocument/2006/relationships/oleObject" Target="../embeddings/oleObject1.bin"/><Relationship Id="rId10" Type="http://schemas.openxmlformats.org/officeDocument/2006/relationships/image" Target="../media/image44.png"/><Relationship Id="rId4" Type="http://schemas.openxmlformats.org/officeDocument/2006/relationships/image" Target="../media/image40.jpeg"/><Relationship Id="rId9" Type="http://schemas.openxmlformats.org/officeDocument/2006/relationships/image" Target="../media/image43.png"/><Relationship Id="rId14" Type="http://schemas.openxmlformats.org/officeDocument/2006/relationships/image" Target="../media/image46.jpeg"/></Relationships>
</file>

<file path=ppt/slides/_rels/slide3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3.xml"/><Relationship Id="rId5" Type="http://schemas.openxmlformats.org/officeDocument/2006/relationships/image" Target="../media/image49.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5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C2C6E9C-DBFA-DAF3-E827-36E68890E807}"/>
              </a:ext>
            </a:extLst>
          </p:cNvPr>
          <p:cNvPicPr>
            <a:picLocks noChangeAspect="1"/>
          </p:cNvPicPr>
          <p:nvPr/>
        </p:nvPicPr>
        <p:blipFill rotWithShape="1">
          <a:blip r:embed="rId2"/>
          <a:srcRect t="20000"/>
          <a:stretch/>
        </p:blipFill>
        <p:spPr>
          <a:xfrm>
            <a:off x="1" y="762000"/>
            <a:ext cx="12192000" cy="6096000"/>
          </a:xfrm>
          <a:prstGeom prst="rect">
            <a:avLst/>
          </a:prstGeom>
        </p:spPr>
      </p:pic>
      <p:sp>
        <p:nvSpPr>
          <p:cNvPr id="6" name="矩形 5">
            <a:extLst>
              <a:ext uri="{FF2B5EF4-FFF2-40B4-BE49-F238E27FC236}">
                <a16:creationId xmlns:a16="http://schemas.microsoft.com/office/drawing/2014/main" id="{E4728CFD-C7EA-B591-6A78-598E345D70A2}"/>
              </a:ext>
            </a:extLst>
          </p:cNvPr>
          <p:cNvSpPr/>
          <p:nvPr/>
        </p:nvSpPr>
        <p:spPr>
          <a:xfrm>
            <a:off x="-1" y="0"/>
            <a:ext cx="12191999" cy="6858000"/>
          </a:xfrm>
          <a:prstGeom prst="rect">
            <a:avLst/>
          </a:prstGeom>
          <a:gradFill>
            <a:gsLst>
              <a:gs pos="56000">
                <a:schemeClr val="tx1">
                  <a:lumMod val="85000"/>
                  <a:lumOff val="15000"/>
                  <a:alpha val="66000"/>
                </a:schemeClr>
              </a:gs>
              <a:gs pos="100000">
                <a:srgbClr val="0070C0">
                  <a:alpha val="69000"/>
                </a:srgbClr>
              </a:gs>
            </a:gsLst>
          </a:gra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p>
        </p:txBody>
      </p:sp>
      <p:sp>
        <p:nvSpPr>
          <p:cNvPr id="7" name="object 3">
            <a:extLst>
              <a:ext uri="{FF2B5EF4-FFF2-40B4-BE49-F238E27FC236}">
                <a16:creationId xmlns:a16="http://schemas.microsoft.com/office/drawing/2014/main" id="{EC4F1750-3D5C-838E-BD8F-2B94735D717C}"/>
              </a:ext>
            </a:extLst>
          </p:cNvPr>
          <p:cNvSpPr txBox="1">
            <a:spLocks/>
          </p:cNvSpPr>
          <p:nvPr/>
        </p:nvSpPr>
        <p:spPr>
          <a:xfrm>
            <a:off x="2095498" y="1383695"/>
            <a:ext cx="8001000" cy="2241639"/>
          </a:xfrm>
          <a:prstGeom prst="rect">
            <a:avLst/>
          </a:prstGeom>
          <a:noFill/>
          <a:ln w="9525">
            <a:noFill/>
          </a:ln>
        </p:spPr>
        <p:txBody>
          <a:bodyPr vert="horz" wrap="square" lIns="0" tIns="12700" rIns="0" bIns="0" rtlCol="0" anchor="ctr">
            <a:spAutoFit/>
          </a:bodyPr>
          <a:lstStyle>
            <a:lvl1pPr algn="l" defTabSz="914354" rtl="0" eaLnBrk="0" fontAlgn="base" hangingPunct="0">
              <a:spcBef>
                <a:spcPct val="0"/>
              </a:spcBef>
              <a:spcAft>
                <a:spcPct val="0"/>
              </a:spcAft>
              <a:defRPr sz="2743">
                <a:solidFill>
                  <a:srgbClr val="990000"/>
                </a:solidFill>
                <a:latin typeface="+mj-lt"/>
                <a:ea typeface="+mj-ea"/>
                <a:cs typeface="+mj-cs"/>
              </a:defRPr>
            </a:lvl1pPr>
            <a:lvl2pPr algn="l" defTabSz="914354" rtl="0" eaLnBrk="0" fontAlgn="base" hangingPunct="0">
              <a:spcBef>
                <a:spcPct val="0"/>
              </a:spcBef>
              <a:spcAft>
                <a:spcPct val="0"/>
              </a:spcAft>
              <a:defRPr sz="2743">
                <a:solidFill>
                  <a:srgbClr val="990000"/>
                </a:solidFill>
                <a:latin typeface="FrutigerNext LT Medium" pitchFamily="34" charset="0"/>
                <a:ea typeface="黑体" panose="02010609060101010101" pitchFamily="2" charset="-122"/>
              </a:defRPr>
            </a:lvl2pPr>
            <a:lvl3pPr algn="l" defTabSz="914354" rtl="0" eaLnBrk="0" fontAlgn="base" hangingPunct="0">
              <a:spcBef>
                <a:spcPct val="0"/>
              </a:spcBef>
              <a:spcAft>
                <a:spcPct val="0"/>
              </a:spcAft>
              <a:defRPr sz="2743">
                <a:solidFill>
                  <a:srgbClr val="990000"/>
                </a:solidFill>
                <a:latin typeface="FrutigerNext LT Medium" pitchFamily="34" charset="0"/>
                <a:ea typeface="黑体" panose="02010609060101010101" pitchFamily="2" charset="-122"/>
              </a:defRPr>
            </a:lvl3pPr>
            <a:lvl4pPr algn="l" defTabSz="914354" rtl="0" eaLnBrk="0" fontAlgn="base" hangingPunct="0">
              <a:spcBef>
                <a:spcPct val="0"/>
              </a:spcBef>
              <a:spcAft>
                <a:spcPct val="0"/>
              </a:spcAft>
              <a:defRPr sz="2743">
                <a:solidFill>
                  <a:srgbClr val="990000"/>
                </a:solidFill>
                <a:latin typeface="FrutigerNext LT Medium" pitchFamily="34" charset="0"/>
                <a:ea typeface="黑体" panose="02010609060101010101" pitchFamily="2" charset="-122"/>
              </a:defRPr>
            </a:lvl4pPr>
            <a:lvl5pPr algn="l" defTabSz="914354" rtl="0" eaLnBrk="0" fontAlgn="base" hangingPunct="0">
              <a:spcBef>
                <a:spcPct val="0"/>
              </a:spcBef>
              <a:spcAft>
                <a:spcPct val="0"/>
              </a:spcAft>
              <a:defRPr sz="2743">
                <a:solidFill>
                  <a:srgbClr val="990000"/>
                </a:solidFill>
                <a:latin typeface="FrutigerNext LT Medium" pitchFamily="34" charset="0"/>
                <a:ea typeface="黑体" panose="02010609060101010101" pitchFamily="2" charset="-122"/>
              </a:defRPr>
            </a:lvl5pPr>
            <a:lvl6pPr marL="391866" algn="l" defTabSz="914354" rtl="0" fontAlgn="base">
              <a:spcBef>
                <a:spcPct val="0"/>
              </a:spcBef>
              <a:spcAft>
                <a:spcPct val="0"/>
              </a:spcAft>
              <a:defRPr sz="2743">
                <a:solidFill>
                  <a:srgbClr val="990000"/>
                </a:solidFill>
                <a:latin typeface="FrutigerNext LT Medium" pitchFamily="34" charset="0"/>
                <a:ea typeface="黑体" panose="02010609060101010101" pitchFamily="2" charset="-122"/>
              </a:defRPr>
            </a:lvl6pPr>
            <a:lvl7pPr marL="783732" algn="l" defTabSz="914354" rtl="0" fontAlgn="base">
              <a:spcBef>
                <a:spcPct val="0"/>
              </a:spcBef>
              <a:spcAft>
                <a:spcPct val="0"/>
              </a:spcAft>
              <a:defRPr sz="2743">
                <a:solidFill>
                  <a:srgbClr val="990000"/>
                </a:solidFill>
                <a:latin typeface="FrutigerNext LT Medium" pitchFamily="34" charset="0"/>
                <a:ea typeface="黑体" panose="02010609060101010101" pitchFamily="2" charset="-122"/>
              </a:defRPr>
            </a:lvl7pPr>
            <a:lvl8pPr marL="1175598" algn="l" defTabSz="914354" rtl="0" fontAlgn="base">
              <a:spcBef>
                <a:spcPct val="0"/>
              </a:spcBef>
              <a:spcAft>
                <a:spcPct val="0"/>
              </a:spcAft>
              <a:defRPr sz="2743">
                <a:solidFill>
                  <a:srgbClr val="990000"/>
                </a:solidFill>
                <a:latin typeface="FrutigerNext LT Medium" pitchFamily="34" charset="0"/>
                <a:ea typeface="黑体" panose="02010609060101010101" pitchFamily="2" charset="-122"/>
              </a:defRPr>
            </a:lvl8pPr>
            <a:lvl9pPr marL="1567464" algn="l" defTabSz="914354" rtl="0" fontAlgn="base">
              <a:spcBef>
                <a:spcPct val="0"/>
              </a:spcBef>
              <a:spcAft>
                <a:spcPct val="0"/>
              </a:spcAft>
              <a:defRPr sz="2743">
                <a:solidFill>
                  <a:srgbClr val="990000"/>
                </a:solidFill>
                <a:latin typeface="FrutigerNext LT Medium" pitchFamily="34" charset="0"/>
                <a:ea typeface="黑体" panose="02010609060101010101" pitchFamily="2" charset="-122"/>
              </a:defRPr>
            </a:lvl9pPr>
          </a:lstStyle>
          <a:p>
            <a:pPr marL="46990" algn="ctr">
              <a:spcBef>
                <a:spcPts val="100"/>
              </a:spcBef>
            </a:pPr>
            <a:r>
              <a:rPr lang="zh-CN" altLang="en-US" sz="7200" b="1" kern="0" dirty="0">
                <a:solidFill>
                  <a:schemeClr val="bg1"/>
                </a:solidFill>
                <a:latin typeface="微软雅黑" panose="020B0503020204020204" pitchFamily="34" charset="-122"/>
                <a:ea typeface="微软雅黑" panose="020B0503020204020204" pitchFamily="34" charset="-122"/>
              </a:rPr>
              <a:t>华</a:t>
            </a:r>
            <a:r>
              <a:rPr lang="zh-CN" altLang="en-US" sz="7200" b="1" kern="0" spc="-5" dirty="0">
                <a:solidFill>
                  <a:schemeClr val="bg1"/>
                </a:solidFill>
                <a:latin typeface="微软雅黑" panose="020B0503020204020204" pitchFamily="34" charset="-122"/>
                <a:ea typeface="微软雅黑" panose="020B0503020204020204" pitchFamily="34" charset="-122"/>
              </a:rPr>
              <a:t>为</a:t>
            </a:r>
            <a:r>
              <a:rPr lang="en-US" altLang="zh-CN" sz="7200" b="1" kern="0" spc="-5" dirty="0">
                <a:solidFill>
                  <a:schemeClr val="bg1"/>
                </a:solidFill>
                <a:latin typeface="微软雅黑" panose="020B0503020204020204" pitchFamily="34" charset="-122"/>
                <a:ea typeface="微软雅黑" panose="020B0503020204020204" pitchFamily="34" charset="-122"/>
              </a:rPr>
              <a:t>BLM</a:t>
            </a:r>
            <a:r>
              <a:rPr lang="zh-CN" altLang="en-US" sz="7200" b="1" kern="0" spc="-5" dirty="0">
                <a:solidFill>
                  <a:schemeClr val="bg1"/>
                </a:solidFill>
                <a:latin typeface="微软雅黑" panose="020B0503020204020204" pitchFamily="34" charset="-122"/>
                <a:ea typeface="微软雅黑" panose="020B0503020204020204" pitchFamily="34" charset="-122"/>
              </a:rPr>
              <a:t>模型管理</a:t>
            </a:r>
            <a:endParaRPr lang="en-US" altLang="zh-CN" sz="7200" b="1" kern="0" spc="-5" dirty="0">
              <a:solidFill>
                <a:schemeClr val="bg1"/>
              </a:solidFill>
              <a:latin typeface="微软雅黑" panose="020B0503020204020204" pitchFamily="34" charset="-122"/>
              <a:ea typeface="微软雅黑" panose="020B0503020204020204" pitchFamily="34" charset="-122"/>
            </a:endParaRPr>
          </a:p>
          <a:p>
            <a:pPr marL="46990" algn="ctr">
              <a:spcBef>
                <a:spcPts val="100"/>
              </a:spcBef>
            </a:pPr>
            <a:r>
              <a:rPr lang="zh-CN" altLang="en-US" sz="7200" b="1" kern="0" spc="-5" dirty="0">
                <a:solidFill>
                  <a:srgbClr val="FF0000"/>
                </a:solidFill>
                <a:latin typeface="微软雅黑" panose="020B0503020204020204" pitchFamily="34" charset="-122"/>
                <a:ea typeface="微软雅黑" panose="020B0503020204020204" pitchFamily="34" charset="-122"/>
              </a:rPr>
              <a:t>从战略到执行落地</a:t>
            </a:r>
            <a:endParaRPr lang="zh-CN" altLang="en-US" sz="7200" b="1" kern="0" dirty="0">
              <a:solidFill>
                <a:srgbClr val="FF0000"/>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B6BEC0BC-57F0-844B-E509-20A987C7B359}"/>
              </a:ext>
            </a:extLst>
          </p:cNvPr>
          <p:cNvSpPr txBox="1"/>
          <p:nvPr/>
        </p:nvSpPr>
        <p:spPr>
          <a:xfrm>
            <a:off x="5171768" y="3846919"/>
            <a:ext cx="1986116" cy="400110"/>
          </a:xfrm>
          <a:prstGeom prst="rect">
            <a:avLst/>
          </a:prstGeom>
          <a:solidFill>
            <a:schemeClr val="tx1"/>
          </a:solidFill>
        </p:spPr>
        <p:txBody>
          <a:bodyPr wrap="square" rtlCol="0">
            <a:spAutoFit/>
          </a:bodyPr>
          <a:lstStyle/>
          <a:p>
            <a:pPr algn="ctr"/>
            <a:r>
              <a:rPr lang="en-US" altLang="zh-CN" sz="2000" dirty="0">
                <a:solidFill>
                  <a:schemeClr val="bg1"/>
                </a:solidFill>
              </a:rPr>
              <a:t>6</a:t>
            </a:r>
            <a:r>
              <a:rPr lang="en-US" altLang="zh-CN" sz="2000">
                <a:solidFill>
                  <a:schemeClr val="bg1"/>
                </a:solidFill>
              </a:rPr>
              <a:t>4</a:t>
            </a:r>
            <a:r>
              <a:rPr lang="zh-CN" altLang="en-US" sz="2000" dirty="0">
                <a:solidFill>
                  <a:schemeClr val="bg1"/>
                </a:solidFill>
              </a:rPr>
              <a:t>页可编辑</a:t>
            </a:r>
            <a:r>
              <a:rPr lang="en-US" altLang="zh-CN" sz="2000" dirty="0">
                <a:solidFill>
                  <a:schemeClr val="bg1"/>
                </a:solidFill>
              </a:rPr>
              <a:t>PPT</a:t>
            </a:r>
            <a:endParaRPr lang="zh-CN" altLang="en-US" sz="2000" dirty="0">
              <a:solidFill>
                <a:schemeClr val="bg1"/>
              </a:solidFill>
            </a:endParaRPr>
          </a:p>
        </p:txBody>
      </p:sp>
    </p:spTree>
    <p:extLst>
      <p:ext uri="{BB962C8B-B14F-4D97-AF65-F5344CB8AC3E}">
        <p14:creationId xmlns:p14="http://schemas.microsoft.com/office/powerpoint/2010/main" val="2644918680"/>
      </p:ext>
    </p:extLst>
  </p:cSld>
  <p:clrMapOvr>
    <a:masterClrMapping/>
  </p:clrMapOvr>
  <p:transition spd="slow">
    <p:pull dir="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0465"/>
            <a:ext cx="12206605" cy="522605"/>
          </a:xfrm>
          <a:prstGeom prst="rect">
            <a:avLst/>
          </a:prstGeom>
        </p:spPr>
      </p:pic>
      <p:sp>
        <p:nvSpPr>
          <p:cNvPr id="2" name="标题 1"/>
          <p:cNvSpPr txBox="1"/>
          <p:nvPr/>
        </p:nvSpPr>
        <p:spPr>
          <a:xfrm>
            <a:off x="551083" y="307410"/>
            <a:ext cx="8581272" cy="662300"/>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lnSpc>
                <a:spcPct val="150000"/>
              </a:lnSpc>
            </a:pPr>
            <a:r>
              <a:rPr lang="zh-CN" altLang="en-US" sz="2000" dirty="0">
                <a:solidFill>
                  <a:srgbClr val="002060"/>
                </a:solidFill>
                <a:latin typeface="微软雅黑" panose="020B0503020204020204" pitchFamily="34" charset="-122"/>
                <a:ea typeface="微软雅黑" panose="020B0503020204020204" pitchFamily="34" charset="-122"/>
                <a:cs typeface="+mn-ea"/>
                <a:sym typeface="+mn-lt"/>
              </a:rPr>
              <a:t>华为愿景变迁：最内核的战略控制点变化不大</a:t>
            </a:r>
            <a:endParaRPr lang="en-US" altLang="zh-CN" sz="2000" dirty="0">
              <a:solidFill>
                <a:srgbClr val="002060"/>
              </a:solidFill>
              <a:latin typeface="微软雅黑" panose="020B0503020204020204" pitchFamily="34" charset="-122"/>
              <a:ea typeface="微软雅黑" panose="020B0503020204020204" pitchFamily="34" charset="-122"/>
              <a:cs typeface="+mn-ea"/>
              <a:sym typeface="+mn-lt"/>
            </a:endParaRPr>
          </a:p>
          <a:p>
            <a:pPr algn="l" eaLnBrk="1" hangingPunct="1">
              <a:lnSpc>
                <a:spcPct val="150000"/>
              </a:lnSpc>
            </a:pPr>
            <a:r>
              <a:rPr lang="en-US" altLang="zh-CN" sz="2000" dirty="0">
                <a:solidFill>
                  <a:srgbClr val="002060"/>
                </a:solidFill>
                <a:latin typeface="微软雅黑" panose="020B0503020204020204" pitchFamily="34" charset="-122"/>
                <a:ea typeface="微软雅黑" panose="020B0503020204020204" pitchFamily="34" charset="-122"/>
                <a:cs typeface="+mn-ea"/>
                <a:sym typeface="+mn-lt"/>
              </a:rPr>
              <a:t>——</a:t>
            </a:r>
            <a:r>
              <a:rPr lang="zh-CN" altLang="en-US" sz="2000" dirty="0">
                <a:solidFill>
                  <a:srgbClr val="002060"/>
                </a:solidFill>
                <a:latin typeface="微软雅黑" panose="020B0503020204020204" pitchFamily="34" charset="-122"/>
                <a:ea typeface="微软雅黑" panose="020B0503020204020204" pitchFamily="34" charset="-122"/>
                <a:cs typeface="+mn-ea"/>
                <a:sym typeface="+mn-lt"/>
              </a:rPr>
              <a:t>站在</a:t>
            </a:r>
            <a:r>
              <a:rPr lang="en-US" altLang="zh-CN" sz="2000" dirty="0">
                <a:solidFill>
                  <a:srgbClr val="002060"/>
                </a:solidFill>
                <a:latin typeface="微软雅黑" panose="020B0503020204020204" pitchFamily="34" charset="-122"/>
                <a:ea typeface="微软雅黑" panose="020B0503020204020204" pitchFamily="34" charset="-122"/>
                <a:cs typeface="+mn-ea"/>
                <a:sym typeface="+mn-lt"/>
              </a:rPr>
              <a:t>10-30</a:t>
            </a:r>
            <a:r>
              <a:rPr lang="zh-CN" altLang="en-US" sz="2000" dirty="0">
                <a:solidFill>
                  <a:srgbClr val="002060"/>
                </a:solidFill>
                <a:latin typeface="微软雅黑" panose="020B0503020204020204" pitchFamily="34" charset="-122"/>
                <a:ea typeface="微软雅黑" panose="020B0503020204020204" pitchFamily="34" charset="-122"/>
                <a:cs typeface="+mn-ea"/>
                <a:sym typeface="+mn-lt"/>
              </a:rPr>
              <a:t>年后看今天的战略！</a:t>
            </a:r>
          </a:p>
        </p:txBody>
      </p:sp>
      <p:sp>
        <p:nvSpPr>
          <p:cNvPr id="39" name="Rectangle 3"/>
          <p:cNvSpPr txBox="1">
            <a:spLocks noChangeArrowheads="1"/>
          </p:cNvSpPr>
          <p:nvPr/>
        </p:nvSpPr>
        <p:spPr bwMode="auto">
          <a:xfrm>
            <a:off x="1725990" y="6292565"/>
            <a:ext cx="874008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2000" b="1" dirty="0">
                <a:solidFill>
                  <a:schemeClr val="bg1"/>
                </a:solidFill>
                <a:effectLst/>
                <a:latin typeface="微软雅黑" panose="020B0503020204020204" pitchFamily="34" charset="-122"/>
                <a:ea typeface="微软雅黑" panose="020B0503020204020204" pitchFamily="34" charset="-122"/>
              </a:rPr>
              <a:t>不管产业如何变化，只在核心能力圈内做事；能力圈可以扩展，但不会太快</a:t>
            </a:r>
            <a:endParaRPr lang="en-US" altLang="zh-CN" sz="2000" b="1" dirty="0">
              <a:solidFill>
                <a:srgbClr val="FFFF00"/>
              </a:solidFill>
              <a:effectLst/>
              <a:latin typeface="微软雅黑" panose="020B0503020204020204" pitchFamily="34" charset="-122"/>
              <a:ea typeface="微软雅黑" panose="020B0503020204020204" pitchFamily="34" charset="-122"/>
            </a:endParaRPr>
          </a:p>
        </p:txBody>
      </p:sp>
      <p:grpSp>
        <p:nvGrpSpPr>
          <p:cNvPr id="14" name="组合 13"/>
          <p:cNvGrpSpPr/>
          <p:nvPr/>
        </p:nvGrpSpPr>
        <p:grpSpPr>
          <a:xfrm>
            <a:off x="2365631" y="1781449"/>
            <a:ext cx="7248649" cy="518742"/>
            <a:chOff x="685606" y="2151176"/>
            <a:chExt cx="7248649" cy="518742"/>
          </a:xfrm>
        </p:grpSpPr>
        <p:sp>
          <p:nvSpPr>
            <p:cNvPr id="19" name="矩形 18"/>
            <p:cNvSpPr/>
            <p:nvPr/>
          </p:nvSpPr>
          <p:spPr>
            <a:xfrm>
              <a:off x="3161694" y="2151176"/>
              <a:ext cx="2214880" cy="398780"/>
            </a:xfrm>
            <a:prstGeom prst="rect">
              <a:avLst/>
            </a:prstGeom>
          </p:spPr>
          <p:txBody>
            <a:bodyPr wrap="none">
              <a:spAutoFit/>
            </a:bodyPr>
            <a:lstStyle/>
            <a:p>
              <a:pPr lvl="0" defTabSz="330200" eaLnBrk="1" fontAlgn="auto" hangingPunct="1">
                <a:spcBef>
                  <a:spcPct val="20000"/>
                </a:spcBef>
                <a:spcAft>
                  <a:spcPts val="0"/>
                </a:spcAft>
                <a:buClr>
                  <a:srgbClr val="2183D9"/>
                </a:buClr>
                <a:tabLst>
                  <a:tab pos="8521700" algn="r"/>
                </a:tabLst>
                <a:defRPr/>
              </a:pPr>
              <a:r>
                <a:rPr lang="zh-CN" altLang="en-US" sz="2000" b="1" dirty="0">
                  <a:solidFill>
                    <a:srgbClr val="C00000"/>
                  </a:solidFill>
                  <a:latin typeface="微软雅黑" panose="020B0503020204020204" pitchFamily="34" charset="-122"/>
                  <a:ea typeface="微软雅黑" panose="020B0503020204020204" pitchFamily="34" charset="-122"/>
                  <a:cs typeface="+mn-ea"/>
                  <a:sym typeface="+mn-lt"/>
                </a:rPr>
                <a:t>例：华为愿景演变</a:t>
              </a:r>
            </a:p>
          </p:txBody>
        </p:sp>
        <p:cxnSp>
          <p:nvCxnSpPr>
            <p:cNvPr id="17" name="直接连接符 16"/>
            <p:cNvCxnSpPr/>
            <p:nvPr/>
          </p:nvCxnSpPr>
          <p:spPr>
            <a:xfrm>
              <a:off x="685606" y="2669918"/>
              <a:ext cx="724864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875133" y="2894206"/>
            <a:ext cx="2850275" cy="2386028"/>
            <a:chOff x="699176" y="3212976"/>
            <a:chExt cx="2850275" cy="2386028"/>
          </a:xfrm>
        </p:grpSpPr>
        <p:grpSp>
          <p:nvGrpSpPr>
            <p:cNvPr id="6" name="组合 5"/>
            <p:cNvGrpSpPr/>
            <p:nvPr/>
          </p:nvGrpSpPr>
          <p:grpSpPr>
            <a:xfrm>
              <a:off x="699176" y="3212976"/>
              <a:ext cx="2850275" cy="2386028"/>
              <a:chOff x="1316106" y="3821667"/>
              <a:chExt cx="2850275" cy="2386028"/>
            </a:xfrm>
          </p:grpSpPr>
          <p:sp>
            <p:nvSpPr>
              <p:cNvPr id="7" name="矩形: 圆角 37"/>
              <p:cNvSpPr/>
              <p:nvPr/>
            </p:nvSpPr>
            <p:spPr>
              <a:xfrm>
                <a:off x="1316106" y="4005392"/>
                <a:ext cx="2850275" cy="2202303"/>
              </a:xfrm>
              <a:prstGeom prst="roundRect">
                <a:avLst>
                  <a:gd name="adj" fmla="val 466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nvGrpSpPr>
              <p:cNvPr id="40" name="组合 39"/>
              <p:cNvGrpSpPr/>
              <p:nvPr/>
            </p:nvGrpSpPr>
            <p:grpSpPr>
              <a:xfrm>
                <a:off x="1824990" y="3821667"/>
                <a:ext cx="1957834" cy="569019"/>
                <a:chOff x="670958" y="4445186"/>
                <a:chExt cx="1957834" cy="569019"/>
              </a:xfrm>
            </p:grpSpPr>
            <p:sp>
              <p:nvSpPr>
                <p:cNvPr id="44" name="矩形 43"/>
                <p:cNvSpPr/>
                <p:nvPr/>
              </p:nvSpPr>
              <p:spPr>
                <a:xfrm>
                  <a:off x="670958" y="4445186"/>
                  <a:ext cx="1957834" cy="434927"/>
                </a:xfrm>
                <a:prstGeom prst="rect">
                  <a:avLst/>
                </a:prstGeom>
                <a:solidFill>
                  <a:srgbClr val="C00000"/>
                </a:solidFill>
              </p:spPr>
              <p:txBody>
                <a:bodyPr wrap="square">
                  <a:spAutoFit/>
                </a:bodyPr>
                <a:lstStyle/>
                <a:p>
                  <a:pPr algn="ctr">
                    <a:lnSpc>
                      <a:spcPct val="130000"/>
                    </a:lnSpc>
                    <a:spcBef>
                      <a:spcPts val="1200"/>
                    </a:spcBef>
                  </a:pPr>
                  <a:r>
                    <a:rPr lang="zh-CN" altLang="en-US" sz="1900" b="1" dirty="0">
                      <a:solidFill>
                        <a:schemeClr val="bg1"/>
                      </a:solidFill>
                      <a:latin typeface="微软雅黑" panose="020B0503020204020204" pitchFamily="34" charset="-122"/>
                      <a:ea typeface="微软雅黑" panose="020B0503020204020204" pitchFamily="34" charset="-122"/>
                      <a:cs typeface="+mn-ea"/>
                      <a:sym typeface="+mn-lt"/>
                    </a:rPr>
                    <a:t>创业期</a:t>
                  </a:r>
                </a:p>
              </p:txBody>
            </p:sp>
            <p:sp>
              <p:nvSpPr>
                <p:cNvPr id="45" name="等腰三角形 44"/>
                <p:cNvSpPr/>
                <p:nvPr/>
              </p:nvSpPr>
              <p:spPr>
                <a:xfrm flipV="1">
                  <a:off x="1546140" y="4835352"/>
                  <a:ext cx="207470" cy="178853"/>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0">
                    <a:latin typeface="微软雅黑" panose="020B0503020204020204" pitchFamily="34" charset="-122"/>
                    <a:ea typeface="微软雅黑" panose="020B0503020204020204" pitchFamily="34" charset="-122"/>
                    <a:cs typeface="+mn-ea"/>
                    <a:sym typeface="+mn-lt"/>
                  </a:endParaRPr>
                </a:p>
              </p:txBody>
            </p:sp>
          </p:grpSp>
        </p:grpSp>
        <p:sp>
          <p:nvSpPr>
            <p:cNvPr id="41" name="矩形 40"/>
            <p:cNvSpPr/>
            <p:nvPr/>
          </p:nvSpPr>
          <p:spPr>
            <a:xfrm>
              <a:off x="843393" y="4210213"/>
              <a:ext cx="2561840" cy="645160"/>
            </a:xfrm>
            <a:prstGeom prst="rect">
              <a:avLst/>
            </a:prstGeom>
          </p:spPr>
          <p:txBody>
            <a:bodyPr wrap="square">
              <a:spAutoFit/>
            </a:bodyPr>
            <a:lstStyle/>
            <a:p>
              <a:pPr marL="205105" lvl="1" algn="just">
                <a:spcBef>
                  <a:spcPts val="800"/>
                </a:spcBef>
                <a:tabLst>
                  <a:tab pos="473710" algn="l"/>
                </a:tabLst>
              </a:pPr>
              <a:r>
                <a:rPr lang="zh-CN" altLang="en-US" b="1" dirty="0">
                  <a:solidFill>
                    <a:srgbClr val="C00000"/>
                  </a:solidFill>
                  <a:latin typeface="微软雅黑" panose="020B0503020204020204" pitchFamily="34" charset="-122"/>
                  <a:ea typeface="微软雅黑" panose="020B0503020204020204" pitchFamily="34" charset="-122"/>
                  <a:cs typeface="+mn-ea"/>
                  <a:sym typeface="+mn-lt"/>
                </a:rPr>
                <a:t>三分天下</a:t>
              </a:r>
              <a:r>
                <a:rPr lang="zh-CN" altLang="en-US" dirty="0">
                  <a:solidFill>
                    <a:srgbClr val="000000"/>
                  </a:solidFill>
                  <a:latin typeface="微软雅黑" panose="020B0503020204020204" pitchFamily="34" charset="-122"/>
                  <a:ea typeface="微软雅黑" panose="020B0503020204020204" pitchFamily="34" charset="-122"/>
                  <a:cs typeface="+mn-ea"/>
                  <a:sym typeface="+mn-lt"/>
                </a:rPr>
                <a:t>；产业报国（追求份额，扩张）</a:t>
              </a:r>
              <a:endParaRPr lang="en-US" altLang="zh-CN" dirty="0">
                <a:solidFill>
                  <a:srgbClr val="000000"/>
                </a:solidFill>
                <a:latin typeface="微软雅黑" panose="020B0503020204020204" pitchFamily="34" charset="-122"/>
                <a:ea typeface="微软雅黑" panose="020B0503020204020204" pitchFamily="34" charset="-122"/>
                <a:cs typeface="+mn-ea"/>
                <a:sym typeface="+mn-lt"/>
              </a:endParaRPr>
            </a:p>
          </p:txBody>
        </p:sp>
      </p:grpSp>
      <p:grpSp>
        <p:nvGrpSpPr>
          <p:cNvPr id="42" name="组合 41"/>
          <p:cNvGrpSpPr/>
          <p:nvPr/>
        </p:nvGrpSpPr>
        <p:grpSpPr>
          <a:xfrm>
            <a:off x="4472173" y="2894206"/>
            <a:ext cx="2850275" cy="2386028"/>
            <a:chOff x="4276566" y="3212976"/>
            <a:chExt cx="2850275" cy="2386028"/>
          </a:xfrm>
        </p:grpSpPr>
        <p:grpSp>
          <p:nvGrpSpPr>
            <p:cNvPr id="46" name="组合 45"/>
            <p:cNvGrpSpPr/>
            <p:nvPr/>
          </p:nvGrpSpPr>
          <p:grpSpPr>
            <a:xfrm>
              <a:off x="4276566" y="3212976"/>
              <a:ext cx="2850275" cy="2386028"/>
              <a:chOff x="1316106" y="3821667"/>
              <a:chExt cx="2850275" cy="2386028"/>
            </a:xfrm>
          </p:grpSpPr>
          <p:sp>
            <p:nvSpPr>
              <p:cNvPr id="47" name="矩形: 圆角 46"/>
              <p:cNvSpPr/>
              <p:nvPr/>
            </p:nvSpPr>
            <p:spPr>
              <a:xfrm>
                <a:off x="1316106" y="4005392"/>
                <a:ext cx="2850275" cy="2202303"/>
              </a:xfrm>
              <a:prstGeom prst="roundRect">
                <a:avLst>
                  <a:gd name="adj" fmla="val 466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nvGrpSpPr>
              <p:cNvPr id="48" name="组合 47"/>
              <p:cNvGrpSpPr/>
              <p:nvPr/>
            </p:nvGrpSpPr>
            <p:grpSpPr>
              <a:xfrm>
                <a:off x="1824990" y="3821667"/>
                <a:ext cx="1957834" cy="569019"/>
                <a:chOff x="670958" y="4445186"/>
                <a:chExt cx="1957834" cy="569019"/>
              </a:xfrm>
            </p:grpSpPr>
            <p:sp>
              <p:nvSpPr>
                <p:cNvPr id="49" name="矩形 48"/>
                <p:cNvSpPr/>
                <p:nvPr/>
              </p:nvSpPr>
              <p:spPr>
                <a:xfrm>
                  <a:off x="670958" y="4445186"/>
                  <a:ext cx="1957834" cy="434927"/>
                </a:xfrm>
                <a:prstGeom prst="rect">
                  <a:avLst/>
                </a:prstGeom>
                <a:solidFill>
                  <a:srgbClr val="C00000"/>
                </a:solidFill>
              </p:spPr>
              <p:txBody>
                <a:bodyPr wrap="square">
                  <a:spAutoFit/>
                </a:bodyPr>
                <a:lstStyle/>
                <a:p>
                  <a:pPr algn="ctr">
                    <a:lnSpc>
                      <a:spcPct val="130000"/>
                    </a:lnSpc>
                    <a:spcBef>
                      <a:spcPts val="1200"/>
                    </a:spcBef>
                  </a:pPr>
                  <a:r>
                    <a:rPr lang="zh-CN" altLang="en-US" sz="1900" b="1" dirty="0">
                      <a:solidFill>
                        <a:schemeClr val="bg1"/>
                      </a:solidFill>
                      <a:latin typeface="微软雅黑" panose="020B0503020204020204" pitchFamily="34" charset="-122"/>
                      <a:ea typeface="微软雅黑" panose="020B0503020204020204" pitchFamily="34" charset="-122"/>
                      <a:cs typeface="+mn-ea"/>
                      <a:sym typeface="+mn-lt"/>
                    </a:rPr>
                    <a:t>发展期</a:t>
                  </a:r>
                </a:p>
              </p:txBody>
            </p:sp>
            <p:sp>
              <p:nvSpPr>
                <p:cNvPr id="50" name="等腰三角形 49"/>
                <p:cNvSpPr/>
                <p:nvPr/>
              </p:nvSpPr>
              <p:spPr>
                <a:xfrm flipV="1">
                  <a:off x="1546140" y="4835352"/>
                  <a:ext cx="207470" cy="178853"/>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0">
                    <a:latin typeface="微软雅黑" panose="020B0503020204020204" pitchFamily="34" charset="-122"/>
                    <a:ea typeface="微软雅黑" panose="020B0503020204020204" pitchFamily="34" charset="-122"/>
                    <a:cs typeface="+mn-ea"/>
                    <a:sym typeface="+mn-lt"/>
                  </a:endParaRPr>
                </a:p>
              </p:txBody>
            </p:sp>
          </p:grpSp>
        </p:grpSp>
        <p:sp>
          <p:nvSpPr>
            <p:cNvPr id="51" name="矩形 50"/>
            <p:cNvSpPr/>
            <p:nvPr/>
          </p:nvSpPr>
          <p:spPr>
            <a:xfrm>
              <a:off x="4420783" y="4210213"/>
              <a:ext cx="2561840" cy="922020"/>
            </a:xfrm>
            <a:prstGeom prst="rect">
              <a:avLst/>
            </a:prstGeom>
          </p:spPr>
          <p:txBody>
            <a:bodyPr wrap="square">
              <a:spAutoFit/>
            </a:bodyPr>
            <a:lstStyle/>
            <a:p>
              <a:pPr marL="205105" lvl="1" algn="just">
                <a:spcBef>
                  <a:spcPts val="800"/>
                </a:spcBef>
                <a:tabLst>
                  <a:tab pos="473710" algn="l"/>
                </a:tabLst>
              </a:pPr>
              <a:r>
                <a:rPr lang="zh-CN" altLang="en-US" b="1" dirty="0">
                  <a:solidFill>
                    <a:srgbClr val="C00000"/>
                  </a:solidFill>
                  <a:latin typeface="微软雅黑" panose="020B0503020204020204" pitchFamily="34" charset="-122"/>
                  <a:ea typeface="微软雅黑" panose="020B0503020204020204" pitchFamily="34" charset="-122"/>
                  <a:cs typeface="+mn-ea"/>
                  <a:sym typeface="+mn-lt"/>
                </a:rPr>
                <a:t>丰富人们的沟通和生活</a:t>
              </a:r>
              <a:r>
                <a:rPr lang="zh-CN" altLang="en-US" dirty="0">
                  <a:solidFill>
                    <a:srgbClr val="000000"/>
                  </a:solidFill>
                  <a:latin typeface="微软雅黑" panose="020B0503020204020204" pitchFamily="34" charset="-122"/>
                  <a:ea typeface="微软雅黑" panose="020B0503020204020204" pitchFamily="34" charset="-122"/>
                  <a:cs typeface="+mn-ea"/>
                  <a:sym typeface="+mn-lt"/>
                </a:rPr>
                <a:t>（全领域通信解决方案，全球化）</a:t>
              </a:r>
            </a:p>
          </p:txBody>
        </p:sp>
      </p:grpSp>
      <p:grpSp>
        <p:nvGrpSpPr>
          <p:cNvPr id="43" name="组合 42"/>
          <p:cNvGrpSpPr/>
          <p:nvPr/>
        </p:nvGrpSpPr>
        <p:grpSpPr>
          <a:xfrm>
            <a:off x="8069213" y="2894206"/>
            <a:ext cx="3035564" cy="2386028"/>
            <a:chOff x="7893256" y="3212976"/>
            <a:chExt cx="3035564" cy="2386028"/>
          </a:xfrm>
        </p:grpSpPr>
        <p:grpSp>
          <p:nvGrpSpPr>
            <p:cNvPr id="52" name="组合 51"/>
            <p:cNvGrpSpPr/>
            <p:nvPr/>
          </p:nvGrpSpPr>
          <p:grpSpPr>
            <a:xfrm>
              <a:off x="7985901" y="3212976"/>
              <a:ext cx="2850275" cy="2386028"/>
              <a:chOff x="1316106" y="3821667"/>
              <a:chExt cx="2850275" cy="2386028"/>
            </a:xfrm>
          </p:grpSpPr>
          <p:sp>
            <p:nvSpPr>
              <p:cNvPr id="53" name="矩形: 圆角 52"/>
              <p:cNvSpPr/>
              <p:nvPr/>
            </p:nvSpPr>
            <p:spPr>
              <a:xfrm>
                <a:off x="1316106" y="4005392"/>
                <a:ext cx="2850275" cy="2202303"/>
              </a:xfrm>
              <a:prstGeom prst="roundRect">
                <a:avLst>
                  <a:gd name="adj" fmla="val 466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nvGrpSpPr>
              <p:cNvPr id="54" name="组合 53"/>
              <p:cNvGrpSpPr/>
              <p:nvPr/>
            </p:nvGrpSpPr>
            <p:grpSpPr>
              <a:xfrm>
                <a:off x="1824990" y="3821667"/>
                <a:ext cx="1957834" cy="569019"/>
                <a:chOff x="670958" y="4445186"/>
                <a:chExt cx="1957834" cy="569019"/>
              </a:xfrm>
            </p:grpSpPr>
            <p:sp>
              <p:nvSpPr>
                <p:cNvPr id="55" name="矩形 54"/>
                <p:cNvSpPr/>
                <p:nvPr/>
              </p:nvSpPr>
              <p:spPr>
                <a:xfrm>
                  <a:off x="670958" y="4445186"/>
                  <a:ext cx="1957834" cy="434927"/>
                </a:xfrm>
                <a:prstGeom prst="rect">
                  <a:avLst/>
                </a:prstGeom>
                <a:solidFill>
                  <a:srgbClr val="C00000"/>
                </a:solidFill>
              </p:spPr>
              <p:txBody>
                <a:bodyPr wrap="square">
                  <a:spAutoFit/>
                </a:bodyPr>
                <a:lstStyle/>
                <a:p>
                  <a:pPr algn="ctr">
                    <a:lnSpc>
                      <a:spcPct val="130000"/>
                    </a:lnSpc>
                    <a:spcBef>
                      <a:spcPts val="1200"/>
                    </a:spcBef>
                  </a:pPr>
                  <a:r>
                    <a:rPr lang="zh-CN" altLang="en-US" sz="1900" b="1" dirty="0">
                      <a:solidFill>
                        <a:schemeClr val="bg1"/>
                      </a:solidFill>
                      <a:latin typeface="微软雅黑" panose="020B0503020204020204" pitchFamily="34" charset="-122"/>
                      <a:ea typeface="微软雅黑" panose="020B0503020204020204" pitchFamily="34" charset="-122"/>
                      <a:cs typeface="+mn-ea"/>
                      <a:sym typeface="+mn-lt"/>
                    </a:rPr>
                    <a:t>成熟期</a:t>
                  </a:r>
                </a:p>
              </p:txBody>
            </p:sp>
            <p:sp>
              <p:nvSpPr>
                <p:cNvPr id="56" name="等腰三角形 55"/>
                <p:cNvSpPr/>
                <p:nvPr/>
              </p:nvSpPr>
              <p:spPr>
                <a:xfrm flipV="1">
                  <a:off x="1546140" y="4835352"/>
                  <a:ext cx="207470" cy="178853"/>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0">
                    <a:latin typeface="微软雅黑" panose="020B0503020204020204" pitchFamily="34" charset="-122"/>
                    <a:ea typeface="微软雅黑" panose="020B0503020204020204" pitchFamily="34" charset="-122"/>
                    <a:cs typeface="+mn-ea"/>
                    <a:sym typeface="+mn-lt"/>
                  </a:endParaRPr>
                </a:p>
              </p:txBody>
            </p:sp>
          </p:grpSp>
        </p:grpSp>
        <p:sp>
          <p:nvSpPr>
            <p:cNvPr id="57" name="矩形 56"/>
            <p:cNvSpPr/>
            <p:nvPr/>
          </p:nvSpPr>
          <p:spPr>
            <a:xfrm>
              <a:off x="7893256" y="3822478"/>
              <a:ext cx="3035564" cy="1578610"/>
            </a:xfrm>
            <a:prstGeom prst="rect">
              <a:avLst/>
            </a:prstGeom>
          </p:spPr>
          <p:txBody>
            <a:bodyPr wrap="square">
              <a:spAutoFit/>
            </a:bodyPr>
            <a:lstStyle/>
            <a:p>
              <a:pPr marL="205105" lvl="1">
                <a:spcBef>
                  <a:spcPts val="800"/>
                </a:spcBef>
                <a:tabLst>
                  <a:tab pos="473710" algn="l"/>
                </a:tabLst>
              </a:pPr>
              <a:r>
                <a:rPr lang="zh-CN" altLang="en-US" dirty="0">
                  <a:solidFill>
                    <a:srgbClr val="000000"/>
                  </a:solidFill>
                  <a:latin typeface="微软雅黑" panose="020B0503020204020204" pitchFamily="34" charset="-122"/>
                  <a:ea typeface="微软雅黑" panose="020B0503020204020204" pitchFamily="34" charset="-122"/>
                  <a:cs typeface="+mn-ea"/>
                  <a:sym typeface="+mn-lt"/>
                </a:rPr>
                <a:t>将数字世界带入每个人、每个家庭、每个组织，构建</a:t>
              </a:r>
              <a:r>
                <a:rPr lang="zh-CN" altLang="en-US" b="1" dirty="0">
                  <a:solidFill>
                    <a:srgbClr val="C00000"/>
                  </a:solidFill>
                  <a:latin typeface="微软雅黑" panose="020B0503020204020204" pitchFamily="34" charset="-122"/>
                  <a:ea typeface="微软雅黑" panose="020B0503020204020204" pitchFamily="34" charset="-122"/>
                  <a:cs typeface="+mn-ea"/>
                  <a:sym typeface="+mn-lt"/>
                </a:rPr>
                <a:t>万物互联的智能世界</a:t>
              </a:r>
              <a:endParaRPr lang="en-US" altLang="zh-CN" b="1" dirty="0">
                <a:solidFill>
                  <a:srgbClr val="C00000"/>
                </a:solidFill>
                <a:latin typeface="微软雅黑" panose="020B0503020204020204" pitchFamily="34" charset="-122"/>
                <a:ea typeface="微软雅黑" panose="020B0503020204020204" pitchFamily="34" charset="-122"/>
                <a:cs typeface="+mn-ea"/>
                <a:sym typeface="+mn-lt"/>
              </a:endParaRPr>
            </a:p>
            <a:p>
              <a:pPr marL="205105" lvl="1">
                <a:spcBef>
                  <a:spcPts val="800"/>
                </a:spcBef>
                <a:tabLst>
                  <a:tab pos="473710" algn="l"/>
                </a:tabLst>
              </a:pPr>
              <a:r>
                <a:rPr lang="zh-CN" altLang="en-US" dirty="0">
                  <a:solidFill>
                    <a:srgbClr val="000000"/>
                  </a:solidFill>
                  <a:latin typeface="微软雅黑" panose="020B0503020204020204" pitchFamily="34" charset="-122"/>
                  <a:ea typeface="微软雅黑" panose="020B0503020204020204" pitchFamily="34" charset="-122"/>
                  <a:cs typeface="+mn-ea"/>
                  <a:sym typeface="+mn-lt"/>
                </a:rPr>
                <a:t>（端管云协同，全联接，海量）</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 name="灯片编号占位符 27"/>
          <p:cNvSpPr>
            <a:spLocks noGrp="1"/>
          </p:cNvSpPr>
          <p:nvPr>
            <p:ph type="sldNum" sz="quarter" idx="4294967295"/>
          </p:nvPr>
        </p:nvSpPr>
        <p:spPr>
          <a:xfrm>
            <a:off x="9448800" y="6356350"/>
            <a:ext cx="2743200" cy="365125"/>
          </a:xfrm>
          <a:prstGeom prst="rect">
            <a:avLst/>
          </a:prstGeom>
        </p:spPr>
        <p:txBody>
          <a:bodyPr/>
          <a:lstStyle/>
          <a:p>
            <a:pPr>
              <a:defRPr/>
            </a:pPr>
            <a:fld id="{7ABD88FF-6F2D-424A-85D9-707BDFAC1AF6}" type="slidenum">
              <a:rPr lang="zh-CN" altLang="en-US" smtClean="0"/>
              <a:pPr>
                <a:defRPr/>
              </a:pPr>
              <a:t>3</a:t>
            </a:fld>
            <a:endParaRPr lang="zh-CN" altLang="en-US"/>
          </a:p>
        </p:txBody>
      </p:sp>
      <p:sp>
        <p:nvSpPr>
          <p:cNvPr id="12290" name="TextBox 4"/>
          <p:cNvSpPr>
            <a:spLocks noChangeArrowheads="1"/>
          </p:cNvSpPr>
          <p:nvPr/>
        </p:nvSpPr>
        <p:spPr bwMode="auto">
          <a:xfrm>
            <a:off x="2038083" y="1106111"/>
            <a:ext cx="1187625" cy="106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00">
              <a:latin typeface="微软雅黑" panose="020B0503020204020204" pitchFamily="34" charset="-122"/>
              <a:ea typeface="微软雅黑" panose="020B0503020204020204" pitchFamily="34" charset="-122"/>
              <a:cs typeface="+mn-ea"/>
              <a:sym typeface="+mn-lt"/>
            </a:endParaRPr>
          </a:p>
        </p:txBody>
      </p:sp>
      <p:sp>
        <p:nvSpPr>
          <p:cNvPr id="6" name="标题 1"/>
          <p:cNvSpPr txBox="1"/>
          <p:nvPr/>
        </p:nvSpPr>
        <p:spPr>
          <a:xfrm>
            <a:off x="452132" y="485212"/>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2060"/>
                </a:solidFill>
                <a:latin typeface="微软雅黑" panose="020B0503020204020204" pitchFamily="34" charset="-122"/>
                <a:ea typeface="微软雅黑" panose="020B0503020204020204" pitchFamily="34" charset="-122"/>
                <a:cs typeface="+mn-ea"/>
                <a:sym typeface="+mn-lt"/>
              </a:rPr>
              <a:t>价值观：组织的粘合剂，共同的信仰是战斗力的保障！</a:t>
            </a:r>
          </a:p>
        </p:txBody>
      </p:sp>
      <p:sp>
        <p:nvSpPr>
          <p:cNvPr id="2" name="TextBox 6"/>
          <p:cNvSpPr>
            <a:spLocks noChangeArrowheads="1"/>
          </p:cNvSpPr>
          <p:nvPr/>
        </p:nvSpPr>
        <p:spPr bwMode="auto">
          <a:xfrm>
            <a:off x="3489664" y="3394486"/>
            <a:ext cx="6784616" cy="37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endParaRPr lang="zh-CN" altLang="en-US" sz="1400">
              <a:latin typeface="微软雅黑" panose="020B0503020204020204" pitchFamily="34" charset="-122"/>
              <a:ea typeface="微软雅黑" panose="020B0503020204020204" pitchFamily="34" charset="-122"/>
              <a:cs typeface="+mn-ea"/>
              <a:sym typeface="+mn-lt"/>
            </a:endParaRPr>
          </a:p>
        </p:txBody>
      </p:sp>
      <p:sp>
        <p:nvSpPr>
          <p:cNvPr id="3" name="TextBox 6"/>
          <p:cNvSpPr>
            <a:spLocks noChangeArrowheads="1"/>
          </p:cNvSpPr>
          <p:nvPr/>
        </p:nvSpPr>
        <p:spPr bwMode="auto">
          <a:xfrm>
            <a:off x="3297807" y="1663424"/>
            <a:ext cx="3669976"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latin typeface="微软雅黑" panose="020B0503020204020204" pitchFamily="34" charset="-122"/>
              <a:ea typeface="微软雅黑" panose="020B0503020204020204" pitchFamily="34" charset="-122"/>
              <a:cs typeface="+mn-ea"/>
              <a:sym typeface="+mn-lt"/>
            </a:endParaRPr>
          </a:p>
        </p:txBody>
      </p:sp>
      <p:sp>
        <p:nvSpPr>
          <p:cNvPr id="4" name="Text Box 7"/>
          <p:cNvSpPr txBox="1">
            <a:spLocks noChangeArrowheads="1"/>
          </p:cNvSpPr>
          <p:nvPr/>
        </p:nvSpPr>
        <p:spPr bwMode="auto">
          <a:xfrm>
            <a:off x="8713124" y="4243356"/>
            <a:ext cx="1831021"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latin typeface="微软雅黑" panose="020B0503020204020204" pitchFamily="34" charset="-122"/>
                <a:ea typeface="微软雅黑" panose="020B0503020204020204" pitchFamily="34" charset="-122"/>
                <a:cs typeface="+mn-ea"/>
                <a:sym typeface="+mn-lt"/>
              </a:rPr>
              <a:t> </a:t>
            </a:r>
          </a:p>
        </p:txBody>
      </p:sp>
      <p:sp>
        <p:nvSpPr>
          <p:cNvPr id="5" name="标题 1"/>
          <p:cNvSpPr>
            <a:spLocks noGrp="1" noChangeArrowheads="1"/>
          </p:cNvSpPr>
          <p:nvPr/>
        </p:nvSpPr>
        <p:spPr bwMode="auto">
          <a:xfrm>
            <a:off x="1561856" y="1115102"/>
            <a:ext cx="1869102" cy="53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latin typeface="微软雅黑" panose="020B0503020204020204" pitchFamily="34" charset="-122"/>
                <a:ea typeface="微软雅黑" panose="020B0503020204020204" pitchFamily="34" charset="-122"/>
                <a:cs typeface="+mn-ea"/>
                <a:sym typeface="+mn-lt"/>
              </a:rPr>
              <a:t/>
            </a:r>
            <a:br>
              <a:rPr lang="zh-CN" altLang="en-US" sz="2400" b="1">
                <a:latin typeface="微软雅黑" panose="020B0503020204020204" pitchFamily="34" charset="-122"/>
                <a:ea typeface="微软雅黑" panose="020B0503020204020204" pitchFamily="34" charset="-122"/>
                <a:cs typeface="+mn-ea"/>
                <a:sym typeface="+mn-lt"/>
              </a:rPr>
            </a:br>
            <a:r>
              <a:rPr lang="zh-CN" altLang="en-US" sz="2400" b="1">
                <a:latin typeface="微软雅黑" panose="020B0503020204020204" pitchFamily="34" charset="-122"/>
                <a:ea typeface="微软雅黑" panose="020B0503020204020204" pitchFamily="34" charset="-122"/>
                <a:cs typeface="+mn-ea"/>
                <a:sym typeface="+mn-lt"/>
              </a:rPr>
              <a:t/>
            </a:r>
            <a:br>
              <a:rPr lang="zh-CN" altLang="en-US" sz="2400" b="1">
                <a:latin typeface="微软雅黑" panose="020B0503020204020204" pitchFamily="34" charset="-122"/>
                <a:ea typeface="微软雅黑" panose="020B0503020204020204" pitchFamily="34" charset="-122"/>
                <a:cs typeface="+mn-ea"/>
                <a:sym typeface="+mn-lt"/>
              </a:rPr>
            </a:br>
            <a:endParaRPr lang="zh-CN" altLang="en-US" sz="2400" b="1">
              <a:latin typeface="微软雅黑" panose="020B0503020204020204" pitchFamily="34" charset="-122"/>
              <a:ea typeface="微软雅黑" panose="020B0503020204020204" pitchFamily="34" charset="-122"/>
              <a:cs typeface="+mn-ea"/>
              <a:sym typeface="+mn-lt"/>
            </a:endParaRPr>
          </a:p>
        </p:txBody>
      </p:sp>
      <p:sp>
        <p:nvSpPr>
          <p:cNvPr id="7" name="Oval 3"/>
          <p:cNvSpPr>
            <a:spLocks noChangeArrowheads="1"/>
          </p:cNvSpPr>
          <p:nvPr/>
        </p:nvSpPr>
        <p:spPr bwMode="auto">
          <a:xfrm>
            <a:off x="4229677" y="2359636"/>
            <a:ext cx="3392490" cy="320025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latin typeface="微软雅黑" panose="020B0503020204020204" pitchFamily="34" charset="-122"/>
              <a:ea typeface="微软雅黑" panose="020B0503020204020204" pitchFamily="34" charset="-122"/>
              <a:cs typeface="+mn-ea"/>
              <a:sym typeface="+mn-lt"/>
            </a:endParaRPr>
          </a:p>
        </p:txBody>
      </p:sp>
      <p:sp>
        <p:nvSpPr>
          <p:cNvPr id="8" name="Oval 4"/>
          <p:cNvSpPr>
            <a:spLocks noChangeArrowheads="1"/>
          </p:cNvSpPr>
          <p:nvPr/>
        </p:nvSpPr>
        <p:spPr bwMode="auto">
          <a:xfrm>
            <a:off x="7027302" y="2359636"/>
            <a:ext cx="3391988" cy="320025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latin typeface="微软雅黑" panose="020B0503020204020204" pitchFamily="34" charset="-122"/>
              <a:ea typeface="微软雅黑" panose="020B0503020204020204" pitchFamily="34" charset="-122"/>
              <a:cs typeface="+mn-ea"/>
              <a:sym typeface="+mn-lt"/>
            </a:endParaRPr>
          </a:p>
        </p:txBody>
      </p:sp>
      <p:sp>
        <p:nvSpPr>
          <p:cNvPr id="9" name="AutoShape 5"/>
          <p:cNvSpPr>
            <a:spLocks noChangeArrowheads="1"/>
          </p:cNvSpPr>
          <p:nvPr/>
        </p:nvSpPr>
        <p:spPr bwMode="auto">
          <a:xfrm>
            <a:off x="5464588" y="3960473"/>
            <a:ext cx="1229891" cy="1002654"/>
          </a:xfrm>
          <a:prstGeom prst="hexagon">
            <a:avLst>
              <a:gd name="adj" fmla="val 28932"/>
              <a:gd name="vf" fmla="val 115470"/>
            </a:avLst>
          </a:prstGeom>
          <a:noFill/>
          <a:ln w="9525" cmpd="sng">
            <a:solidFill>
              <a:srgbClr val="000000"/>
            </a:solidFill>
            <a:miter lim="800000"/>
          </a:ln>
          <a:scene3d>
            <a:camera prst="legacyObliqueTopRight"/>
            <a:lightRig rig="legacyFlat3" dir="b"/>
          </a:scene3d>
          <a:sp3d extrusionH="227000" prstMaterial="legacyMatte">
            <a:bevelT w="13500" h="13500" prst="angle"/>
            <a:bevelB w="13500" h="13500" prst="angle"/>
            <a:extrusionClr>
              <a:srgbClr val="FFFFCC"/>
            </a:extrusionClr>
            <a:contourClr>
              <a:srgbClr val="000000"/>
            </a:contourClr>
          </a:sp3d>
          <a:extLst>
            <a:ext uri="{909E8E84-426E-40DD-AFC4-6F175D3DCCD1}">
              <a14:hiddenFill xmlns:a14="http://schemas.microsoft.com/office/drawing/2010/main">
                <a:solidFill>
                  <a:srgbClr val="FFFFFF"/>
                </a:solidFill>
              </a14:hiddenFill>
            </a:ext>
          </a:extLst>
        </p:spPr>
        <p:txBody>
          <a:bodyPr wrap="none"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000000"/>
                </a:solidFill>
                <a:latin typeface="微软雅黑" panose="020B0503020204020204" pitchFamily="34" charset="-122"/>
                <a:ea typeface="微软雅黑" panose="020B0503020204020204" pitchFamily="34" charset="-122"/>
                <a:cs typeface="+mn-ea"/>
                <a:sym typeface="+mn-lt"/>
              </a:rPr>
              <a:t>至诚守信</a:t>
            </a:r>
          </a:p>
        </p:txBody>
      </p:sp>
      <p:sp>
        <p:nvSpPr>
          <p:cNvPr id="10" name="AutoShape 6"/>
          <p:cNvSpPr>
            <a:spLocks noChangeArrowheads="1"/>
          </p:cNvSpPr>
          <p:nvPr/>
        </p:nvSpPr>
        <p:spPr bwMode="auto">
          <a:xfrm>
            <a:off x="5464588" y="2957345"/>
            <a:ext cx="1229891" cy="1003128"/>
          </a:xfrm>
          <a:prstGeom prst="hexagon">
            <a:avLst>
              <a:gd name="adj" fmla="val 28919"/>
              <a:gd name="vf" fmla="val 115470"/>
            </a:avLst>
          </a:prstGeom>
          <a:noFill/>
          <a:ln w="9525" cmpd="sng">
            <a:solidFill>
              <a:srgbClr val="000000"/>
            </a:solidFill>
            <a:miter lim="800000"/>
          </a:ln>
          <a:scene3d>
            <a:camera prst="legacyObliqueTopRight"/>
            <a:lightRig rig="legacyFlat3" dir="b"/>
          </a:scene3d>
          <a:sp3d extrusionH="227000" prstMaterial="legacyMatte">
            <a:bevelT w="13500" h="13500" prst="angle"/>
            <a:bevelB w="13500" h="13500" prst="angle"/>
            <a:extrusionClr>
              <a:srgbClr val="00FFCC"/>
            </a:extrusionClr>
            <a:contourClr>
              <a:srgbClr val="000000"/>
            </a:contourClr>
          </a:sp3d>
          <a:extLst>
            <a:ext uri="{909E8E84-426E-40DD-AFC4-6F175D3DCCD1}">
              <a14:hiddenFill xmlns:a14="http://schemas.microsoft.com/office/drawing/2010/main">
                <a:solidFill>
                  <a:srgbClr val="FFFFFF"/>
                </a:solidFill>
              </a14:hiddenFill>
            </a:ext>
          </a:extLst>
        </p:spPr>
        <p:txBody>
          <a:bodyPr wrap="none"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solidFill>
                  <a:srgbClr val="000000"/>
                </a:solidFill>
                <a:latin typeface="微软雅黑" panose="020B0503020204020204" pitchFamily="34" charset="-122"/>
                <a:ea typeface="微软雅黑" panose="020B0503020204020204" pitchFamily="34" charset="-122"/>
                <a:cs typeface="+mn-ea"/>
                <a:sym typeface="+mn-lt"/>
              </a:rPr>
              <a:t>团队合作</a:t>
            </a:r>
          </a:p>
        </p:txBody>
      </p:sp>
      <p:sp>
        <p:nvSpPr>
          <p:cNvPr id="11" name="AutoShape 7"/>
          <p:cNvSpPr>
            <a:spLocks noChangeArrowheads="1"/>
          </p:cNvSpPr>
          <p:nvPr/>
        </p:nvSpPr>
        <p:spPr bwMode="auto">
          <a:xfrm>
            <a:off x="6374707" y="2455307"/>
            <a:ext cx="1228385" cy="1003128"/>
          </a:xfrm>
          <a:prstGeom prst="hexagon">
            <a:avLst>
              <a:gd name="adj" fmla="val 28883"/>
              <a:gd name="vf" fmla="val 115470"/>
            </a:avLst>
          </a:prstGeom>
          <a:noFill/>
          <a:ln w="9525" cmpd="sng">
            <a:solidFill>
              <a:srgbClr val="000000"/>
            </a:solidFill>
            <a:miter lim="800000"/>
          </a:ln>
          <a:scene3d>
            <a:camera prst="legacyObliqueTopRight"/>
            <a:lightRig rig="legacyFlat3" dir="b"/>
          </a:scene3d>
          <a:sp3d extrusionH="227000" prstMaterial="legacyMatte">
            <a:bevelT w="13500" h="13500" prst="angle"/>
            <a:bevelB w="13500" h="13500" prst="angle"/>
            <a:extrusionClr>
              <a:srgbClr val="33CCFF"/>
            </a:extrusionClr>
            <a:contourClr>
              <a:srgbClr val="000000"/>
            </a:contourClr>
          </a:sp3d>
          <a:extLst>
            <a:ext uri="{909E8E84-426E-40DD-AFC4-6F175D3DCCD1}">
              <a14:hiddenFill xmlns:a14="http://schemas.microsoft.com/office/drawing/2010/main">
                <a:solidFill>
                  <a:srgbClr val="FFFFFF"/>
                </a:solidFill>
              </a14:hiddenFill>
            </a:ext>
          </a:extLst>
        </p:spPr>
        <p:txBody>
          <a:bodyPr wrap="none"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dirty="0">
                <a:solidFill>
                  <a:srgbClr val="0070C0"/>
                </a:solidFill>
                <a:latin typeface="微软雅黑" panose="020B0503020204020204" pitchFamily="34" charset="-122"/>
                <a:ea typeface="微软雅黑" panose="020B0503020204020204" pitchFamily="34" charset="-122"/>
                <a:cs typeface="+mn-ea"/>
                <a:sym typeface="+mn-lt"/>
              </a:rPr>
              <a:t>成就客户</a:t>
            </a:r>
          </a:p>
        </p:txBody>
      </p:sp>
      <p:sp>
        <p:nvSpPr>
          <p:cNvPr id="12" name="AutoShape 8"/>
          <p:cNvSpPr>
            <a:spLocks noChangeArrowheads="1"/>
          </p:cNvSpPr>
          <p:nvPr/>
        </p:nvSpPr>
        <p:spPr bwMode="auto">
          <a:xfrm>
            <a:off x="6374707" y="4461089"/>
            <a:ext cx="1228385" cy="1003128"/>
          </a:xfrm>
          <a:prstGeom prst="hexagon">
            <a:avLst>
              <a:gd name="adj" fmla="val 28883"/>
              <a:gd name="vf" fmla="val 115470"/>
            </a:avLst>
          </a:prstGeom>
          <a:noFill/>
          <a:ln w="9525" cmpd="sng">
            <a:solidFill>
              <a:srgbClr val="000000"/>
            </a:solidFill>
            <a:miter lim="800000"/>
          </a:ln>
          <a:scene3d>
            <a:camera prst="legacyObliqueTopRight"/>
            <a:lightRig rig="legacyFlat3" dir="b"/>
          </a:scene3d>
          <a:sp3d extrusionH="227000" prstMaterial="legacyMatte">
            <a:bevelT w="13500" h="13500" prst="angle"/>
            <a:bevelB w="13500" h="13500" prst="angle"/>
            <a:extrusionClr>
              <a:srgbClr val="CCFF33"/>
            </a:extrusionClr>
            <a:contourClr>
              <a:srgbClr val="000000"/>
            </a:contourClr>
          </a:sp3d>
          <a:extLst>
            <a:ext uri="{909E8E84-426E-40DD-AFC4-6F175D3DCCD1}">
              <a14:hiddenFill xmlns:a14="http://schemas.microsoft.com/office/drawing/2010/main">
                <a:solidFill>
                  <a:srgbClr val="FFFFFF"/>
                </a:solidFill>
              </a14:hiddenFill>
            </a:ext>
          </a:extLst>
        </p:spPr>
        <p:txBody>
          <a:bodyPr wrap="none"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000000"/>
                </a:solidFill>
                <a:latin typeface="微软雅黑" panose="020B0503020204020204" pitchFamily="34" charset="-122"/>
                <a:ea typeface="微软雅黑" panose="020B0503020204020204" pitchFamily="34" charset="-122"/>
                <a:cs typeface="+mn-ea"/>
                <a:sym typeface="+mn-lt"/>
              </a:rPr>
              <a:t>开放进取</a:t>
            </a:r>
          </a:p>
        </p:txBody>
      </p:sp>
      <p:sp>
        <p:nvSpPr>
          <p:cNvPr id="13" name="AutoShape 9"/>
          <p:cNvSpPr>
            <a:spLocks noChangeArrowheads="1"/>
          </p:cNvSpPr>
          <p:nvPr/>
        </p:nvSpPr>
        <p:spPr bwMode="auto">
          <a:xfrm>
            <a:off x="7283320" y="3960473"/>
            <a:ext cx="1229891" cy="1002654"/>
          </a:xfrm>
          <a:prstGeom prst="hexagon">
            <a:avLst>
              <a:gd name="adj" fmla="val 28932"/>
              <a:gd name="vf" fmla="val 115470"/>
            </a:avLst>
          </a:prstGeom>
          <a:noFill/>
          <a:ln w="9525" cmpd="sng">
            <a:solidFill>
              <a:srgbClr val="000000"/>
            </a:solidFill>
            <a:miter lim="800000"/>
          </a:ln>
          <a:scene3d>
            <a:camera prst="legacyObliqueTopRight"/>
            <a:lightRig rig="legacyFlat3" dir="b"/>
          </a:scene3d>
          <a:sp3d extrusionH="227000" prstMaterial="legacyMatte">
            <a:bevelT w="13500" h="13500" prst="angle"/>
            <a:bevelB w="13500" h="13500" prst="angle"/>
            <a:extrusionClr>
              <a:srgbClr val="FF9999"/>
            </a:extrusionClr>
            <a:contourClr>
              <a:srgbClr val="000000"/>
            </a:contourClr>
          </a:sp3d>
          <a:extLst>
            <a:ext uri="{909E8E84-426E-40DD-AFC4-6F175D3DCCD1}">
              <a14:hiddenFill xmlns:a14="http://schemas.microsoft.com/office/drawing/2010/main">
                <a:solidFill>
                  <a:srgbClr val="FFFFFF"/>
                </a:solidFill>
              </a14:hiddenFill>
            </a:ext>
          </a:extLst>
        </p:spPr>
        <p:txBody>
          <a:bodyPr wrap="none"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dirty="0">
                <a:solidFill>
                  <a:srgbClr val="0070C0"/>
                </a:solidFill>
                <a:latin typeface="微软雅黑" panose="020B0503020204020204" pitchFamily="34" charset="-122"/>
                <a:ea typeface="微软雅黑" panose="020B0503020204020204" pitchFamily="34" charset="-122"/>
                <a:cs typeface="+mn-ea"/>
                <a:sym typeface="+mn-lt"/>
              </a:rPr>
              <a:t>自我批判</a:t>
            </a:r>
          </a:p>
        </p:txBody>
      </p:sp>
      <p:sp>
        <p:nvSpPr>
          <p:cNvPr id="14" name="AutoShape 10"/>
          <p:cNvSpPr>
            <a:spLocks noChangeArrowheads="1"/>
          </p:cNvSpPr>
          <p:nvPr/>
        </p:nvSpPr>
        <p:spPr bwMode="auto">
          <a:xfrm>
            <a:off x="7283320" y="2957345"/>
            <a:ext cx="1229891" cy="1003128"/>
          </a:xfrm>
          <a:prstGeom prst="hexagon">
            <a:avLst>
              <a:gd name="adj" fmla="val 28919"/>
              <a:gd name="vf" fmla="val 115470"/>
            </a:avLst>
          </a:prstGeom>
          <a:noFill/>
          <a:ln w="9525" cmpd="sng">
            <a:solidFill>
              <a:srgbClr val="000000"/>
            </a:solidFill>
            <a:miter lim="800000"/>
          </a:ln>
          <a:scene3d>
            <a:camera prst="legacyObliqueTopRight"/>
            <a:lightRig rig="legacyFlat3" dir="b"/>
          </a:scene3d>
          <a:sp3d extrusionH="227000" prstMaterial="legacyMatte">
            <a:bevelT w="13500" h="13500" prst="angle"/>
            <a:bevelB w="13500" h="13500" prst="angle"/>
            <a:extrusionClr>
              <a:srgbClr val="FFFF99"/>
            </a:extrusionClr>
            <a:contourClr>
              <a:srgbClr val="000000"/>
            </a:contourClr>
          </a:sp3d>
          <a:extLst>
            <a:ext uri="{909E8E84-426E-40DD-AFC4-6F175D3DCCD1}">
              <a14:hiddenFill xmlns:a14="http://schemas.microsoft.com/office/drawing/2010/main">
                <a:solidFill>
                  <a:srgbClr val="FFFFFF"/>
                </a:solidFill>
              </a14:hiddenFill>
            </a:ext>
          </a:extLst>
        </p:spPr>
        <p:txBody>
          <a:bodyPr wrap="none"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dirty="0">
                <a:solidFill>
                  <a:srgbClr val="0070C0"/>
                </a:solidFill>
                <a:latin typeface="微软雅黑" panose="020B0503020204020204" pitchFamily="34" charset="-122"/>
                <a:ea typeface="微软雅黑" panose="020B0503020204020204" pitchFamily="34" charset="-122"/>
                <a:cs typeface="+mn-ea"/>
                <a:sym typeface="+mn-lt"/>
              </a:rPr>
              <a:t>艰苦奋斗</a:t>
            </a:r>
          </a:p>
        </p:txBody>
      </p:sp>
      <p:sp>
        <p:nvSpPr>
          <p:cNvPr id="15" name="Text Box 13"/>
          <p:cNvSpPr txBox="1">
            <a:spLocks noChangeArrowheads="1"/>
          </p:cNvSpPr>
          <p:nvPr/>
        </p:nvSpPr>
        <p:spPr bwMode="auto">
          <a:xfrm>
            <a:off x="8923074" y="3778602"/>
            <a:ext cx="89408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dirty="0">
                <a:latin typeface="微软雅黑" panose="020B0503020204020204" pitchFamily="34" charset="-122"/>
                <a:ea typeface="微软雅黑" panose="020B0503020204020204" pitchFamily="34" charset="-122"/>
                <a:cs typeface="+mn-ea"/>
                <a:sym typeface="+mn-lt"/>
              </a:rPr>
              <a:t>狼性文化</a:t>
            </a:r>
          </a:p>
        </p:txBody>
      </p:sp>
      <p:sp>
        <p:nvSpPr>
          <p:cNvPr id="16" name="Text Box 14"/>
          <p:cNvSpPr txBox="1">
            <a:spLocks noChangeArrowheads="1"/>
          </p:cNvSpPr>
          <p:nvPr/>
        </p:nvSpPr>
        <p:spPr bwMode="auto">
          <a:xfrm>
            <a:off x="4002273" y="3634148"/>
            <a:ext cx="89789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latin typeface="微软雅黑" panose="020B0503020204020204" pitchFamily="34" charset="-122"/>
                <a:ea typeface="微软雅黑" panose="020B0503020204020204" pitchFamily="34" charset="-122"/>
                <a:cs typeface="+mn-ea"/>
                <a:sym typeface="+mn-lt"/>
              </a:rPr>
              <a:t>均衡</a:t>
            </a:r>
          </a:p>
        </p:txBody>
      </p:sp>
      <p:sp>
        <p:nvSpPr>
          <p:cNvPr id="17" name="Text Box 13"/>
          <p:cNvSpPr txBox="1">
            <a:spLocks noChangeArrowheads="1"/>
          </p:cNvSpPr>
          <p:nvPr/>
        </p:nvSpPr>
        <p:spPr bwMode="auto">
          <a:xfrm>
            <a:off x="8908596" y="4674158"/>
            <a:ext cx="107823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latin typeface="微软雅黑" panose="020B0503020204020204" pitchFamily="34" charset="-122"/>
                <a:ea typeface="微软雅黑" panose="020B0503020204020204" pitchFamily="34" charset="-122"/>
                <a:cs typeface="+mn-ea"/>
                <a:sym typeface="+mn-lt"/>
              </a:rPr>
              <a:t>信息服务业</a:t>
            </a:r>
            <a:endParaRPr lang="zh-CN" altLang="en-US" sz="1400" b="1" dirty="0">
              <a:latin typeface="微软雅黑" panose="020B0503020204020204" pitchFamily="34" charset="-122"/>
              <a:ea typeface="微软雅黑" panose="020B0503020204020204" pitchFamily="34" charset="-122"/>
              <a:cs typeface="+mn-ea"/>
              <a:sym typeface="+mn-lt"/>
            </a:endParaRPr>
          </a:p>
        </p:txBody>
      </p:sp>
      <p:sp>
        <p:nvSpPr>
          <p:cNvPr id="18" name="Text Box 22"/>
          <p:cNvSpPr txBox="1">
            <a:spLocks noChangeArrowheads="1"/>
          </p:cNvSpPr>
          <p:nvPr/>
        </p:nvSpPr>
        <p:spPr bwMode="auto">
          <a:xfrm>
            <a:off x="6882765" y="1349614"/>
            <a:ext cx="3439160"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just" eaLnBrk="1" hangingPunct="1">
              <a:defRPr>
                <a:latin typeface="+mn-lt"/>
                <a:ea typeface="+mn-ea"/>
                <a:cs typeface="+mn-ea"/>
              </a:defRPr>
            </a:lvl1pPr>
            <a:lvl2pPr marL="742950" indent="-285750"/>
            <a:lvl3pPr marL="1143000" indent="-228600"/>
            <a:lvl4pPr marL="1600200" indent="-228600"/>
            <a:lvl5pPr marL="2057400" indent="-228600"/>
            <a:lvl6pPr marL="2514600" indent="-228600"/>
            <a:lvl7pPr marL="2971800" indent="-228600"/>
            <a:lvl8pPr marL="3429000" indent="-228600"/>
            <a:lvl9pPr marL="3886200" indent="-228600"/>
          </a:lstStyle>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华为的追求是在电子信息领域实现顾客的梦想，并依靠点点滴滴、锲而不舍的艰苦奋斗，使我们成为世界级领先企业                                          </a:t>
            </a:r>
          </a:p>
        </p:txBody>
      </p:sp>
      <p:sp>
        <p:nvSpPr>
          <p:cNvPr id="19" name="Text Box 23"/>
          <p:cNvSpPr txBox="1">
            <a:spLocks noChangeArrowheads="1"/>
          </p:cNvSpPr>
          <p:nvPr/>
        </p:nvSpPr>
        <p:spPr bwMode="auto">
          <a:xfrm>
            <a:off x="8866505" y="2766299"/>
            <a:ext cx="16891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defRPr>
                <a:latin typeface="+mn-lt"/>
                <a:ea typeface="+mn-ea"/>
                <a:cs typeface="+mn-ea"/>
              </a:defRPr>
            </a:lvl1pPr>
            <a:lvl2pPr marL="742950" indent="-285750"/>
            <a:lvl3pPr marL="1143000" indent="-228600"/>
            <a:lvl4pPr marL="1600200" indent="-228600"/>
            <a:lvl5pPr marL="2057400" indent="-228600"/>
            <a:lvl6pPr marL="2514600" indent="-228600"/>
            <a:lvl7pPr marL="2971800" indent="-228600"/>
            <a:lvl8pPr marL="3429000" indent="-228600"/>
            <a:lvl9pPr marL="3886200" indent="-228600"/>
          </a:lstStyle>
          <a:p>
            <a:r>
              <a:rPr lang="zh-CN" altLang="en-US" sz="1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思想上全力奋斗</a:t>
            </a:r>
            <a:r>
              <a:rPr lang="en-US" altLang="zh-CN" sz="1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生活要搞好！</a:t>
            </a:r>
          </a:p>
        </p:txBody>
      </p:sp>
      <p:sp>
        <p:nvSpPr>
          <p:cNvPr id="20" name="Text Box 24"/>
          <p:cNvSpPr txBox="1">
            <a:spLocks noChangeArrowheads="1"/>
          </p:cNvSpPr>
          <p:nvPr/>
        </p:nvSpPr>
        <p:spPr bwMode="auto">
          <a:xfrm>
            <a:off x="3426715" y="2585226"/>
            <a:ext cx="1797162"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just" eaLnBrk="1" hangingPunct="1">
              <a:defRPr>
                <a:latin typeface="+mn-lt"/>
                <a:ea typeface="+mn-ea"/>
                <a:cs typeface="+mn-ea"/>
              </a:defRPr>
            </a:lvl1pPr>
            <a:lvl2pPr marL="742950" indent="-285750"/>
            <a:lvl3pPr marL="1143000" indent="-228600"/>
            <a:lvl4pPr marL="1600200" indent="-228600"/>
            <a:lvl5pPr marL="2057400" indent="-228600"/>
            <a:lvl6pPr marL="2514600" indent="-228600"/>
            <a:lvl7pPr marL="2971800" indent="-228600"/>
            <a:lvl8pPr marL="3429000" indent="-228600"/>
            <a:lvl9pPr marL="3886200" indent="-228600"/>
          </a:lstStyle>
          <a:p>
            <a:r>
              <a:rPr lang="zh-CN" altLang="en-US" sz="1400" dirty="0">
                <a:latin typeface="微软雅黑" panose="020B0503020204020204" pitchFamily="34" charset="-122"/>
                <a:ea typeface="微软雅黑" panose="020B0503020204020204" pitchFamily="34" charset="-122"/>
                <a:sym typeface="+mn-lt"/>
              </a:rPr>
              <a:t>胜则举杯相</a:t>
            </a:r>
            <a:r>
              <a:rPr lang="zh-CN" altLang="en-US" sz="1400">
                <a:latin typeface="微软雅黑" panose="020B0503020204020204" pitchFamily="34" charset="-122"/>
                <a:ea typeface="微软雅黑" panose="020B0503020204020204" pitchFamily="34" charset="-122"/>
                <a:sym typeface="+mn-lt"/>
              </a:rPr>
              <a:t>庆，</a:t>
            </a:r>
            <a:endParaRPr lang="en-US" altLang="zh-CN" sz="1400" dirty="0">
              <a:latin typeface="微软雅黑" panose="020B0503020204020204" pitchFamily="34" charset="-122"/>
              <a:ea typeface="微软雅黑" panose="020B0503020204020204" pitchFamily="34" charset="-122"/>
              <a:sym typeface="+mn-lt"/>
            </a:endParaRPr>
          </a:p>
          <a:p>
            <a:r>
              <a:rPr lang="zh-CN" altLang="en-US" sz="1400" dirty="0">
                <a:latin typeface="微软雅黑" panose="020B0503020204020204" pitchFamily="34" charset="-122"/>
                <a:ea typeface="微软雅黑" panose="020B0503020204020204" pitchFamily="34" charset="-122"/>
                <a:sym typeface="+mn-lt"/>
              </a:rPr>
              <a:t>败则拼死相救</a:t>
            </a:r>
          </a:p>
        </p:txBody>
      </p:sp>
      <p:sp>
        <p:nvSpPr>
          <p:cNvPr id="21" name="AutoShape 4"/>
          <p:cNvSpPr/>
          <p:nvPr/>
        </p:nvSpPr>
        <p:spPr bwMode="auto">
          <a:xfrm>
            <a:off x="9265807" y="4570198"/>
            <a:ext cx="624402" cy="577343"/>
          </a:xfrm>
          <a:custGeom>
            <a:avLst/>
            <a:gdLst>
              <a:gd name="T0" fmla="*/ 0 w 21600"/>
              <a:gd name="T1" fmla="*/ 10800 h 21600"/>
              <a:gd name="T2" fmla="*/ 10800 w 21600"/>
              <a:gd name="T3" fmla="*/ 0 h 21600"/>
              <a:gd name="T4" fmla="*/ 21600 w 21600"/>
              <a:gd name="T5" fmla="*/ 10800 h 21600"/>
              <a:gd name="T6" fmla="*/ 10800 w 21600"/>
              <a:gd name="T7" fmla="*/ 21600 h 21600"/>
              <a:gd name="T8" fmla="*/ 0 w 21600"/>
              <a:gd name="T9" fmla="*/ 10800 h 21600"/>
              <a:gd name="T10" fmla="*/ 17609 w 21600"/>
              <a:gd name="T11" fmla="*/ 16054 h 21600"/>
              <a:gd name="T12" fmla="*/ 19401 w 21600"/>
              <a:gd name="T13" fmla="*/ 10800 h 21600"/>
              <a:gd name="T14" fmla="*/ 10800 w 21600"/>
              <a:gd name="T15" fmla="*/ 2199 h 21600"/>
              <a:gd name="T16" fmla="*/ 5545 w 21600"/>
              <a:gd name="T17" fmla="*/ 3990 h 21600"/>
              <a:gd name="T18" fmla="*/ 3990 w 21600"/>
              <a:gd name="T19" fmla="*/ 5545 h 21600"/>
              <a:gd name="T20" fmla="*/ 2199 w 21600"/>
              <a:gd name="T21" fmla="*/ 10799 h 21600"/>
              <a:gd name="T22" fmla="*/ 10800 w 21600"/>
              <a:gd name="T23" fmla="*/ 19401 h 21600"/>
              <a:gd name="T24" fmla="*/ 16054 w 21600"/>
              <a:gd name="T25" fmla="*/ 17609 h 21600"/>
              <a:gd name="T26" fmla="*/ 3163 w 21600"/>
              <a:gd name="T27" fmla="*/ 3163 h 21600"/>
              <a:gd name="T28" fmla="*/ 18437 w 21600"/>
              <a:gd name="T29" fmla="*/ 18437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T26" t="T27" r="T28" b="T2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609" y="16054"/>
                </a:moveTo>
                <a:cubicBezTo>
                  <a:pt x="18770" y="14549"/>
                  <a:pt x="19401" y="12701"/>
                  <a:pt x="19401" y="10800"/>
                </a:cubicBezTo>
                <a:cubicBezTo>
                  <a:pt x="19401" y="6049"/>
                  <a:pt x="15550" y="2199"/>
                  <a:pt x="10800" y="2199"/>
                </a:cubicBezTo>
                <a:cubicBezTo>
                  <a:pt x="8898" y="2198"/>
                  <a:pt x="7050" y="2829"/>
                  <a:pt x="5545" y="3990"/>
                </a:cubicBezTo>
                <a:close/>
                <a:moveTo>
                  <a:pt x="3990" y="5545"/>
                </a:moveTo>
                <a:cubicBezTo>
                  <a:pt x="2829" y="7050"/>
                  <a:pt x="2199" y="8898"/>
                  <a:pt x="2199" y="10799"/>
                </a:cubicBezTo>
                <a:cubicBezTo>
                  <a:pt x="2199" y="15550"/>
                  <a:pt x="6049" y="19401"/>
                  <a:pt x="10800" y="19401"/>
                </a:cubicBezTo>
                <a:cubicBezTo>
                  <a:pt x="12701" y="19401"/>
                  <a:pt x="14549" y="18770"/>
                  <a:pt x="16054" y="17609"/>
                </a:cubicBezTo>
                <a:close/>
              </a:path>
            </a:pathLst>
          </a:custGeom>
          <a:solidFill>
            <a:srgbClr val="FF0000"/>
          </a:solidFill>
          <a:ln>
            <a:noFill/>
          </a:ln>
          <a:effectLst>
            <a:outerShdw dist="28398" dir="3806097" algn="ctr" rotWithShape="0">
              <a:srgbClr val="243F60">
                <a:alpha val="50000"/>
              </a:srgbClr>
            </a:outerShdw>
          </a:effectLst>
          <a:extLst>
            <a:ext uri="{91240B29-F687-4F45-9708-019B960494DF}">
              <a14:hiddenLine xmlns:a14="http://schemas.microsoft.com/office/drawing/2010/main" w="9525">
                <a:solidFill>
                  <a:srgbClr val="000000"/>
                </a:solidFill>
                <a:round/>
              </a14:hiddenLine>
            </a:ext>
          </a:extLst>
        </p:spPr>
        <p:txBody>
          <a:bodyPr/>
          <a:lstStyle/>
          <a:p>
            <a:endParaRPr lang="zh-CN" altLang="en-US" sz="1400">
              <a:latin typeface="微软雅黑" panose="020B0503020204020204" pitchFamily="34" charset="-122"/>
              <a:ea typeface="微软雅黑" panose="020B0503020204020204" pitchFamily="34" charset="-122"/>
              <a:cs typeface="+mn-ea"/>
              <a:sym typeface="+mn-lt"/>
            </a:endParaRPr>
          </a:p>
        </p:txBody>
      </p:sp>
      <p:sp>
        <p:nvSpPr>
          <p:cNvPr id="22" name="Text Box 6"/>
          <p:cNvSpPr txBox="1">
            <a:spLocks noChangeArrowheads="1"/>
          </p:cNvSpPr>
          <p:nvPr/>
        </p:nvSpPr>
        <p:spPr bwMode="auto">
          <a:xfrm>
            <a:off x="3426715" y="4709848"/>
            <a:ext cx="1736314"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defRPr>
                <a:latin typeface="+mn-lt"/>
                <a:ea typeface="+mn-ea"/>
                <a:cs typeface="+mn-ea"/>
              </a:defRPr>
            </a:lvl1pPr>
            <a:lvl2pPr marL="742950" indent="-285750"/>
            <a:lvl3pPr marL="1143000" indent="-228600"/>
            <a:lvl4pPr marL="1600200" indent="-228600"/>
            <a:lvl5pPr marL="2057400" indent="-228600"/>
            <a:lvl6pPr marL="2514600" indent="-228600"/>
            <a:lvl7pPr marL="2971800" indent="-228600"/>
            <a:lvl8pPr marL="3429000" indent="-228600"/>
            <a:lvl9pPr marL="3886200" indent="-228600"/>
          </a:lstStyle>
          <a:p>
            <a:pPr algn="just"/>
            <a:r>
              <a:rPr lang="zh-CN" altLang="en-US" sz="1400" dirty="0">
                <a:latin typeface="微软雅黑" panose="020B0503020204020204" pitchFamily="34" charset="-122"/>
                <a:ea typeface="微软雅黑" panose="020B0503020204020204" pitchFamily="34" charset="-122"/>
                <a:sym typeface="+mn-lt"/>
              </a:rPr>
              <a:t>战略，人，辩证分析；战术，随机调整</a:t>
            </a:r>
          </a:p>
        </p:txBody>
      </p:sp>
      <p:grpSp>
        <p:nvGrpSpPr>
          <p:cNvPr id="23" name="组合 22"/>
          <p:cNvGrpSpPr/>
          <p:nvPr/>
        </p:nvGrpSpPr>
        <p:grpSpPr>
          <a:xfrm>
            <a:off x="1591744" y="1650188"/>
            <a:ext cx="4980894" cy="518742"/>
            <a:chOff x="1368238" y="2151176"/>
            <a:chExt cx="4980894" cy="518742"/>
          </a:xfrm>
        </p:grpSpPr>
        <p:sp>
          <p:nvSpPr>
            <p:cNvPr id="24" name="矩形 23"/>
            <p:cNvSpPr/>
            <p:nvPr/>
          </p:nvSpPr>
          <p:spPr>
            <a:xfrm>
              <a:off x="3161694" y="2151176"/>
              <a:ext cx="2023110" cy="337185"/>
            </a:xfrm>
            <a:prstGeom prst="rect">
              <a:avLst/>
            </a:prstGeom>
          </p:spPr>
          <p:txBody>
            <a:bodyPr wrap="none">
              <a:spAutoFit/>
            </a:bodyPr>
            <a:lstStyle/>
            <a:p>
              <a:pPr lvl="0" defTabSz="330200" eaLnBrk="1" fontAlgn="auto" hangingPunct="1">
                <a:spcBef>
                  <a:spcPct val="20000"/>
                </a:spcBef>
                <a:spcAft>
                  <a:spcPts val="0"/>
                </a:spcAft>
                <a:buClr>
                  <a:srgbClr val="2183D9"/>
                </a:buClr>
                <a:tabLst>
                  <a:tab pos="8521700" algn="r"/>
                </a:tabLst>
                <a:defRPr/>
              </a:pPr>
              <a:r>
                <a:rPr lang="zh-CN" altLang="en-US" sz="1600" b="1" dirty="0">
                  <a:solidFill>
                    <a:srgbClr val="C00000"/>
                  </a:solidFill>
                  <a:latin typeface="微软雅黑" panose="020B0503020204020204" pitchFamily="34" charset="-122"/>
                  <a:ea typeface="微软雅黑" panose="020B0503020204020204" pitchFamily="34" charset="-122"/>
                  <a:cs typeface="+mn-ea"/>
                  <a:sym typeface="+mn-lt"/>
                </a:rPr>
                <a:t>例：华为核心价值观</a:t>
              </a:r>
            </a:p>
          </p:txBody>
        </p:sp>
        <p:cxnSp>
          <p:nvCxnSpPr>
            <p:cNvPr id="25" name="直接连接符 24"/>
            <p:cNvCxnSpPr/>
            <p:nvPr/>
          </p:nvCxnSpPr>
          <p:spPr>
            <a:xfrm>
              <a:off x="1368238" y="2669918"/>
              <a:ext cx="498089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27" name="Arc 12"/>
          <p:cNvSpPr/>
          <p:nvPr/>
        </p:nvSpPr>
        <p:spPr bwMode="auto">
          <a:xfrm rot="12887784">
            <a:off x="4916417" y="2508310"/>
            <a:ext cx="3722302" cy="3044431"/>
          </a:xfrm>
          <a:custGeom>
            <a:avLst/>
            <a:gdLst>
              <a:gd name="T0" fmla="*/ 1575 w 43200"/>
              <a:gd name="T1" fmla="*/ 29696 h 37429"/>
              <a:gd name="T2" fmla="*/ 0 w 43200"/>
              <a:gd name="T3" fmla="*/ 21600 h 37429"/>
              <a:gd name="T4" fmla="*/ 21600 w 43200"/>
              <a:gd name="T5" fmla="*/ 0 h 37429"/>
              <a:gd name="T6" fmla="*/ 43200 w 43200"/>
              <a:gd name="T7" fmla="*/ 21600 h 37429"/>
              <a:gd name="T8" fmla="*/ 36297 w 43200"/>
              <a:gd name="T9" fmla="*/ 37429 h 37429"/>
              <a:gd name="T10" fmla="*/ 1575 w 43200"/>
              <a:gd name="T11" fmla="*/ 29696 h 37429"/>
              <a:gd name="T12" fmla="*/ 0 w 43200"/>
              <a:gd name="T13" fmla="*/ 21600 h 37429"/>
              <a:gd name="T14" fmla="*/ 21600 w 43200"/>
              <a:gd name="T15" fmla="*/ 0 h 37429"/>
              <a:gd name="T16" fmla="*/ 43200 w 43200"/>
              <a:gd name="T17" fmla="*/ 21600 h 37429"/>
              <a:gd name="T18" fmla="*/ 36297 w 43200"/>
              <a:gd name="T19" fmla="*/ 37429 h 37429"/>
              <a:gd name="T20" fmla="*/ 21600 w 43200"/>
              <a:gd name="T21" fmla="*/ 21600 h 37429"/>
              <a:gd name="T22" fmla="*/ 0 w 43200"/>
              <a:gd name="T23" fmla="*/ 0 h 37429"/>
              <a:gd name="T24" fmla="*/ 43200 w 43200"/>
              <a:gd name="T25" fmla="*/ 37429 h 37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T22" t="T23" r="T24" b="T25"/>
            <a:pathLst>
              <a:path w="43200" h="37429" fill="none" extrusionOk="0">
                <a:moveTo>
                  <a:pt x="1575" y="29696"/>
                </a:moveTo>
                <a:cubicBezTo>
                  <a:pt x="534" y="27124"/>
                  <a:pt x="0" y="24375"/>
                  <a:pt x="0" y="21600"/>
                </a:cubicBezTo>
                <a:cubicBezTo>
                  <a:pt x="0" y="9670"/>
                  <a:pt x="9670" y="0"/>
                  <a:pt x="21600" y="0"/>
                </a:cubicBezTo>
                <a:cubicBezTo>
                  <a:pt x="33529" y="0"/>
                  <a:pt x="43200" y="9670"/>
                  <a:pt x="43200" y="21600"/>
                </a:cubicBezTo>
                <a:cubicBezTo>
                  <a:pt x="43200" y="27606"/>
                  <a:pt x="40698" y="33341"/>
                  <a:pt x="36297" y="37429"/>
                </a:cubicBezTo>
              </a:path>
              <a:path w="43200" h="37429" stroke="0" extrusionOk="0">
                <a:moveTo>
                  <a:pt x="1575" y="29696"/>
                </a:moveTo>
                <a:cubicBezTo>
                  <a:pt x="534" y="27124"/>
                  <a:pt x="0" y="24375"/>
                  <a:pt x="0" y="21600"/>
                </a:cubicBezTo>
                <a:cubicBezTo>
                  <a:pt x="0" y="9670"/>
                  <a:pt x="9670" y="0"/>
                  <a:pt x="21600" y="0"/>
                </a:cubicBezTo>
                <a:cubicBezTo>
                  <a:pt x="33529" y="0"/>
                  <a:pt x="43200" y="9670"/>
                  <a:pt x="43200" y="21600"/>
                </a:cubicBezTo>
                <a:cubicBezTo>
                  <a:pt x="43200" y="27606"/>
                  <a:pt x="40698" y="33341"/>
                  <a:pt x="36297" y="37429"/>
                </a:cubicBezTo>
                <a:lnTo>
                  <a:pt x="21600" y="21600"/>
                </a:lnTo>
                <a:close/>
              </a:path>
            </a:pathLst>
          </a:custGeom>
          <a:noFill/>
          <a:ln w="28575" cap="flat" cmpd="sng">
            <a:solidFill>
              <a:srgbClr val="FF6600"/>
            </a:solidFill>
            <a:prstDash val="sysDot"/>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n-lt"/>
              <a:ea typeface="+mn-ea"/>
              <a:cs typeface="+mn-ea"/>
              <a:sym typeface="+mn-lt"/>
            </a:endParaRPr>
          </a:p>
        </p:txBody>
      </p:sp>
      <p:sp>
        <p:nvSpPr>
          <p:cNvPr id="32" name="灯片编号占位符 3"/>
          <p:cNvSpPr txBox="1"/>
          <p:nvPr/>
        </p:nvSpPr>
        <p:spPr>
          <a:xfrm>
            <a:off x="2152650" y="6356351"/>
            <a:ext cx="2057400" cy="365125"/>
          </a:xfrm>
          <a:prstGeom prst="rect">
            <a:avLst/>
          </a:prstGeom>
        </p:spPr>
        <p:txBody>
          <a:bodyPr vert="horz" lIns="91440" tIns="45720" rIns="91440" bIns="45720" rtlCol="0" anchor="ctr"/>
          <a:lstStyle>
            <a:defPPr>
              <a:defRPr lang="zh-CN"/>
            </a:defPPr>
            <a:lvl1pPr algn="l" rtl="0" eaLnBrk="0" fontAlgn="base" hangingPunct="0">
              <a:spcBef>
                <a:spcPct val="0"/>
              </a:spcBef>
              <a:spcAft>
                <a:spcPct val="0"/>
              </a:spcAft>
              <a:defRPr sz="1200" kern="1200">
                <a:solidFill>
                  <a:schemeClr val="tx1">
                    <a:tint val="75000"/>
                  </a:schemeClr>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fld id="{EEE9273F-1B62-4325-8E48-3EABC4A98709}" type="slidenum">
              <a:rPr lang="zh-CN" altLang="en-US" smtClean="0"/>
              <a:pPr/>
              <a:t>3</a:t>
            </a:fld>
            <a:endParaRPr lang="zh-CN" altLang="en-US"/>
          </a:p>
        </p:txBody>
      </p:sp>
      <p:pic>
        <p:nvPicPr>
          <p:cNvPr id="33" name="图片 32"/>
          <p:cNvPicPr>
            <a:picLocks noChangeAspect="1"/>
          </p:cNvPicPr>
          <p:nvPr/>
        </p:nvPicPr>
        <p:blipFill>
          <a:blip r:embed="rId2" cstate="print"/>
          <a:stretch>
            <a:fillRect/>
          </a:stretch>
        </p:blipFill>
        <p:spPr>
          <a:xfrm>
            <a:off x="-7620" y="5974715"/>
            <a:ext cx="12197080" cy="829310"/>
          </a:xfrm>
          <a:prstGeom prst="rect">
            <a:avLst/>
          </a:prstGeom>
        </p:spPr>
      </p:pic>
      <p:sp>
        <p:nvSpPr>
          <p:cNvPr id="34" name="Rectangle 3"/>
          <p:cNvSpPr txBox="1">
            <a:spLocks noChangeArrowheads="1"/>
          </p:cNvSpPr>
          <p:nvPr/>
        </p:nvSpPr>
        <p:spPr bwMode="auto">
          <a:xfrm>
            <a:off x="1524000" y="6016088"/>
            <a:ext cx="8991600" cy="7920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2000" b="1" dirty="0">
                <a:solidFill>
                  <a:schemeClr val="bg1"/>
                </a:solidFill>
                <a:effectLst/>
                <a:latin typeface="微软雅黑" panose="020B0503020204020204" pitchFamily="34" charset="-122"/>
                <a:ea typeface="微软雅黑" panose="020B0503020204020204" pitchFamily="34" charset="-122"/>
              </a:rPr>
              <a:t>能贯彻落地的价值观和文化，价值连城！老大带头！</a:t>
            </a:r>
            <a:endParaRPr lang="en-US" altLang="zh-CN" sz="2000" b="1" dirty="0">
              <a:solidFill>
                <a:schemeClr val="bg1"/>
              </a:solidFill>
              <a:effectLst/>
              <a:latin typeface="微软雅黑" panose="020B0503020204020204" pitchFamily="34" charset="-122"/>
              <a:ea typeface="微软雅黑" panose="020B0503020204020204" pitchFamily="34" charset="-122"/>
            </a:endParaRPr>
          </a:p>
          <a:p>
            <a:pPr marL="0" indent="0" algn="ctr" eaLnBrk="1" hangingPunct="1">
              <a:buNone/>
            </a:pPr>
            <a:r>
              <a:rPr lang="zh-CN" altLang="en-US" sz="2000" b="1" dirty="0">
                <a:solidFill>
                  <a:schemeClr val="bg1"/>
                </a:solidFill>
                <a:effectLst/>
                <a:latin typeface="微软雅黑" panose="020B0503020204020204" pitchFamily="34" charset="-122"/>
                <a:ea typeface="微软雅黑" panose="020B0503020204020204" pitchFamily="34" charset="-122"/>
              </a:rPr>
              <a:t>案例：不赚快钱，不搞小灵通和</a:t>
            </a:r>
            <a:r>
              <a:rPr lang="en-US" altLang="zh-CN" sz="2000" b="1" dirty="0">
                <a:solidFill>
                  <a:schemeClr val="bg1"/>
                </a:solidFill>
                <a:effectLst/>
                <a:latin typeface="微软雅黑" panose="020B0503020204020204" pitchFamily="34" charset="-122"/>
                <a:ea typeface="微软雅黑" panose="020B0503020204020204" pitchFamily="34" charset="-122"/>
              </a:rPr>
              <a:t>TDS</a:t>
            </a:r>
            <a:r>
              <a:rPr lang="zh-CN" altLang="en-US" sz="2000" b="1" dirty="0">
                <a:solidFill>
                  <a:schemeClr val="bg1"/>
                </a:solidFill>
                <a:effectLst/>
                <a:latin typeface="微软雅黑" panose="020B0503020204020204" pitchFamily="34" charset="-122"/>
                <a:ea typeface="微软雅黑" panose="020B0503020204020204" pitchFamily="34" charset="-122"/>
              </a:rPr>
              <a:t>；老板只见客户，不见官员和基金老板</a:t>
            </a:r>
            <a:endParaRPr lang="en-US" altLang="zh-CN" sz="2000" b="1" dirty="0">
              <a:solidFill>
                <a:schemeClr val="bg1"/>
              </a:solidFill>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0465"/>
            <a:ext cx="12206605" cy="522605"/>
          </a:xfrm>
          <a:prstGeom prst="rect">
            <a:avLst/>
          </a:prstGeom>
        </p:spPr>
      </p:pic>
      <p:cxnSp>
        <p:nvCxnSpPr>
          <p:cNvPr id="17" name="直接连接符 16"/>
          <p:cNvCxnSpPr/>
          <p:nvPr/>
        </p:nvCxnSpPr>
        <p:spPr>
          <a:xfrm>
            <a:off x="2138023" y="2814418"/>
            <a:ext cx="792805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Rectangle 8"/>
          <p:cNvSpPr>
            <a:spLocks noChangeArrowheads="1"/>
          </p:cNvSpPr>
          <p:nvPr/>
        </p:nvSpPr>
        <p:spPr bwMode="auto">
          <a:xfrm>
            <a:off x="4298264" y="1453774"/>
            <a:ext cx="5767817" cy="1101090"/>
          </a:xfrm>
          <a:prstGeom prst="rect">
            <a:avLst/>
          </a:prstGeom>
          <a:noFill/>
          <a:ln w="6350">
            <a:noFill/>
            <a:miter lim="800000"/>
          </a:ln>
        </p:spPr>
        <p:txBody>
          <a:bodyPr wrap="square" lIns="0" tIns="0" rIns="0" bIns="0" anchor="ctr">
            <a:spAutoFit/>
          </a:bodyPr>
          <a:lstStyle/>
          <a:p>
            <a:pPr marL="287020" lvl="1" indent="-285750" algn="just" defTabSz="330200">
              <a:spcBef>
                <a:spcPct val="20000"/>
              </a:spcBef>
              <a:buClr>
                <a:srgbClr val="267FC3"/>
              </a:buClr>
              <a:buFont typeface="Arial" panose="020B0604020202020204" pitchFamily="34" charset="0"/>
              <a:buChar char="•"/>
              <a:tabLst>
                <a:tab pos="8521700" algn="r"/>
              </a:tabLst>
            </a:pPr>
            <a:r>
              <a:rPr lang="zh-CN" altLang="en-US" sz="1275" b="1" dirty="0">
                <a:latin typeface="微软雅黑" panose="020B0503020204020204" pitchFamily="34" charset="-122"/>
                <a:ea typeface="微软雅黑" panose="020B0503020204020204" pitchFamily="34" charset="-122"/>
                <a:cs typeface="微软雅黑" panose="020B0503020204020204" pitchFamily="34" charset="-122"/>
                <a:sym typeface="+mn-lt"/>
              </a:rPr>
              <a:t>产品：</a:t>
            </a:r>
            <a:r>
              <a:rPr lang="zh-CN" altLang="en-US" sz="1275" dirty="0">
                <a:latin typeface="微软雅黑" panose="020B0503020204020204" pitchFamily="34" charset="-122"/>
                <a:ea typeface="微软雅黑" panose="020B0503020204020204" pitchFamily="34" charset="-122"/>
                <a:cs typeface="微软雅黑" panose="020B0503020204020204" pitchFamily="34" charset="-122"/>
                <a:sym typeface="+mn-lt"/>
              </a:rPr>
              <a:t>单一程控交换机</a:t>
            </a:r>
            <a:r>
              <a:rPr lang="en-US" altLang="zh-CN" sz="1275" dirty="0">
                <a:latin typeface="微软雅黑" panose="020B0503020204020204" pitchFamily="34" charset="-122"/>
                <a:ea typeface="微软雅黑" panose="020B0503020204020204" pitchFamily="34" charset="-122"/>
                <a:cs typeface="微软雅黑" panose="020B0503020204020204" pitchFamily="34" charset="-122"/>
                <a:sym typeface="+mn-lt"/>
              </a:rPr>
              <a:t>—&gt;</a:t>
            </a:r>
            <a:r>
              <a:rPr lang="zh-CN" altLang="en-US" sz="1275" dirty="0">
                <a:latin typeface="微软雅黑" panose="020B0503020204020204" pitchFamily="34" charset="-122"/>
                <a:ea typeface="微软雅黑" panose="020B0503020204020204" pitchFamily="34" charset="-122"/>
                <a:cs typeface="微软雅黑" panose="020B0503020204020204" pitchFamily="34" charset="-122"/>
                <a:sym typeface="+mn-lt"/>
              </a:rPr>
              <a:t>通信全领域解决方案 </a:t>
            </a:r>
            <a:r>
              <a:rPr lang="en-US" altLang="zh-CN" sz="1275" dirty="0">
                <a:latin typeface="微软雅黑" panose="020B0503020204020204" pitchFamily="34" charset="-122"/>
                <a:ea typeface="微软雅黑" panose="020B0503020204020204" pitchFamily="34" charset="-122"/>
                <a:cs typeface="微软雅黑" panose="020B0503020204020204" pitchFamily="34" charset="-122"/>
                <a:sym typeface="+mn-lt"/>
              </a:rPr>
              <a:t>—&gt; ICT</a:t>
            </a:r>
            <a:r>
              <a:rPr lang="zh-CN" altLang="en-US" sz="1275" dirty="0">
                <a:latin typeface="微软雅黑" panose="020B0503020204020204" pitchFamily="34" charset="-122"/>
                <a:ea typeface="微软雅黑" panose="020B0503020204020204" pitchFamily="34" charset="-122"/>
                <a:cs typeface="微软雅黑" panose="020B0503020204020204" pitchFamily="34" charset="-122"/>
                <a:sym typeface="+mn-lt"/>
              </a:rPr>
              <a:t>领域“端管云”所有产品</a:t>
            </a:r>
            <a:r>
              <a:rPr lang="en-US" altLang="zh-CN" sz="1275" dirty="0">
                <a:latin typeface="微软雅黑" panose="020B0503020204020204" pitchFamily="34" charset="-122"/>
                <a:ea typeface="微软雅黑" panose="020B0503020204020204" pitchFamily="34" charset="-122"/>
                <a:cs typeface="微软雅黑" panose="020B0503020204020204" pitchFamily="34" charset="-122"/>
                <a:sym typeface="+mn-lt"/>
              </a:rPr>
              <a:t>—&gt; 5G</a:t>
            </a:r>
            <a:r>
              <a:rPr lang="zh-CN" altLang="en-US" sz="1275" dirty="0">
                <a:latin typeface="微软雅黑" panose="020B0503020204020204" pitchFamily="34" charset="-122"/>
                <a:ea typeface="微软雅黑" panose="020B0503020204020204" pitchFamily="34" charset="-122"/>
                <a:cs typeface="微软雅黑" panose="020B0503020204020204" pitchFamily="34" charset="-122"/>
                <a:sym typeface="+mn-lt"/>
              </a:rPr>
              <a:t>标准制定者</a:t>
            </a:r>
          </a:p>
          <a:p>
            <a:pPr marL="287020" lvl="1" indent="-285750" algn="just" defTabSz="330200">
              <a:spcBef>
                <a:spcPct val="20000"/>
              </a:spcBef>
              <a:buClr>
                <a:srgbClr val="267FC3"/>
              </a:buClr>
              <a:buFont typeface="Arial" panose="020B0604020202020204" pitchFamily="34" charset="0"/>
              <a:buChar char="•"/>
              <a:tabLst>
                <a:tab pos="8521700" algn="r"/>
              </a:tabLst>
            </a:pPr>
            <a:r>
              <a:rPr lang="zh-CN" altLang="en-US" sz="1275" b="1" dirty="0">
                <a:latin typeface="微软雅黑" panose="020B0503020204020204" pitchFamily="34" charset="-122"/>
                <a:ea typeface="微软雅黑" panose="020B0503020204020204" pitchFamily="34" charset="-122"/>
                <a:cs typeface="微软雅黑" panose="020B0503020204020204" pitchFamily="34" charset="-122"/>
                <a:sym typeface="+mn-lt"/>
              </a:rPr>
              <a:t>区域：</a:t>
            </a:r>
            <a:r>
              <a:rPr lang="zh-CN" altLang="en-US" sz="127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农村</a:t>
            </a:r>
            <a:r>
              <a:rPr lang="en-US" altLang="zh-CN" sz="127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—&gt;</a:t>
            </a:r>
            <a:r>
              <a:rPr lang="zh-CN" altLang="en-US" sz="127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城市</a:t>
            </a:r>
            <a:r>
              <a:rPr lang="zh-CN" altLang="en-US" sz="1275" dirty="0">
                <a:latin typeface="微软雅黑" panose="020B0503020204020204" pitchFamily="34" charset="-122"/>
                <a:ea typeface="微软雅黑" panose="020B0503020204020204" pitchFamily="34" charset="-122"/>
                <a:cs typeface="微软雅黑" panose="020B0503020204020204" pitchFamily="34" charset="-122"/>
                <a:sym typeface="+mn-lt"/>
              </a:rPr>
              <a:t>，中国</a:t>
            </a:r>
            <a:r>
              <a:rPr lang="en-US" altLang="zh-CN" sz="1275" dirty="0">
                <a:latin typeface="微软雅黑" panose="020B0503020204020204" pitchFamily="34" charset="-122"/>
                <a:ea typeface="微软雅黑" panose="020B0503020204020204" pitchFamily="34" charset="-122"/>
                <a:cs typeface="微软雅黑" panose="020B0503020204020204" pitchFamily="34" charset="-122"/>
                <a:sym typeface="+mn-lt"/>
              </a:rPr>
              <a:t>—&gt;</a:t>
            </a:r>
            <a:r>
              <a:rPr lang="zh-CN" altLang="en-US" sz="1275" dirty="0">
                <a:latin typeface="微软雅黑" panose="020B0503020204020204" pitchFamily="34" charset="-122"/>
                <a:ea typeface="微软雅黑" panose="020B0503020204020204" pitchFamily="34" charset="-122"/>
                <a:cs typeface="微软雅黑" panose="020B0503020204020204" pitchFamily="34" charset="-122"/>
                <a:sym typeface="+mn-lt"/>
              </a:rPr>
              <a:t>全球，城郊</a:t>
            </a:r>
            <a:r>
              <a:rPr lang="en-US" altLang="zh-CN" sz="1275" dirty="0">
                <a:latin typeface="微软雅黑" panose="020B0503020204020204" pitchFamily="34" charset="-122"/>
                <a:ea typeface="微软雅黑" panose="020B0503020204020204" pitchFamily="34" charset="-122"/>
                <a:cs typeface="微软雅黑" panose="020B0503020204020204" pitchFamily="34" charset="-122"/>
                <a:sym typeface="+mn-lt"/>
              </a:rPr>
              <a:t>—&gt; </a:t>
            </a:r>
            <a:r>
              <a:rPr lang="zh-CN" altLang="en-US" sz="1275" dirty="0">
                <a:latin typeface="微软雅黑" panose="020B0503020204020204" pitchFamily="34" charset="-122"/>
                <a:ea typeface="微软雅黑" panose="020B0503020204020204" pitchFamily="34" charset="-122"/>
                <a:cs typeface="微软雅黑" panose="020B0503020204020204" pitchFamily="34" charset="-122"/>
                <a:sym typeface="+mn-lt"/>
              </a:rPr>
              <a:t>核心区</a:t>
            </a:r>
          </a:p>
          <a:p>
            <a:pPr marL="287020" lvl="1" indent="-285750" algn="just" defTabSz="330200">
              <a:spcBef>
                <a:spcPct val="20000"/>
              </a:spcBef>
              <a:buClr>
                <a:srgbClr val="267FC3"/>
              </a:buClr>
              <a:buFont typeface="Arial" panose="020B0604020202020204" pitchFamily="34" charset="0"/>
              <a:buChar char="•"/>
              <a:tabLst>
                <a:tab pos="8521700" algn="r"/>
              </a:tabLst>
            </a:pPr>
            <a:r>
              <a:rPr lang="zh-CN" altLang="en-US" sz="1275" b="1" dirty="0">
                <a:latin typeface="微软雅黑" panose="020B0503020204020204" pitchFamily="34" charset="-122"/>
                <a:ea typeface="微软雅黑" panose="020B0503020204020204" pitchFamily="34" charset="-122"/>
                <a:cs typeface="微软雅黑" panose="020B0503020204020204" pitchFamily="34" charset="-122"/>
                <a:sym typeface="+mn-lt"/>
              </a:rPr>
              <a:t>客户群：</a:t>
            </a:r>
            <a:r>
              <a:rPr lang="zh-CN" altLang="en-US" sz="1275" dirty="0">
                <a:latin typeface="微软雅黑" panose="020B0503020204020204" pitchFamily="34" charset="-122"/>
                <a:ea typeface="微软雅黑" panose="020B0503020204020204" pitchFamily="34" charset="-122"/>
                <a:cs typeface="微软雅黑" panose="020B0503020204020204" pitchFamily="34" charset="-122"/>
                <a:sym typeface="+mn-lt"/>
              </a:rPr>
              <a:t>运营商</a:t>
            </a:r>
            <a:r>
              <a:rPr lang="en-US" altLang="zh-CN" sz="1275" dirty="0">
                <a:latin typeface="微软雅黑" panose="020B0503020204020204" pitchFamily="34" charset="-122"/>
                <a:ea typeface="微软雅黑" panose="020B0503020204020204" pitchFamily="34" charset="-122"/>
                <a:cs typeface="微软雅黑" panose="020B0503020204020204" pitchFamily="34" charset="-122"/>
                <a:sym typeface="+mn-lt"/>
              </a:rPr>
              <a:t>—&gt;</a:t>
            </a:r>
            <a:r>
              <a:rPr lang="zh-CN" altLang="en-US" sz="1275" dirty="0">
                <a:latin typeface="微软雅黑" panose="020B0503020204020204" pitchFamily="34" charset="-122"/>
                <a:ea typeface="微软雅黑" panose="020B0503020204020204" pitchFamily="34" charset="-122"/>
                <a:cs typeface="微软雅黑" panose="020B0503020204020204" pitchFamily="34" charset="-122"/>
                <a:sym typeface="+mn-lt"/>
              </a:rPr>
              <a:t>三大</a:t>
            </a:r>
            <a:r>
              <a:rPr lang="en-US" altLang="zh-CN" sz="1275" dirty="0">
                <a:latin typeface="微软雅黑" panose="020B0503020204020204" pitchFamily="34" charset="-122"/>
                <a:ea typeface="微软雅黑" panose="020B0503020204020204" pitchFamily="34" charset="-122"/>
                <a:cs typeface="微软雅黑" panose="020B0503020204020204" pitchFamily="34" charset="-122"/>
                <a:sym typeface="+mn-lt"/>
              </a:rPr>
              <a:t>BG</a:t>
            </a:r>
            <a:r>
              <a:rPr lang="zh-CN" altLang="en-US" sz="1275" dirty="0">
                <a:latin typeface="微软雅黑" panose="020B0503020204020204" pitchFamily="34" charset="-122"/>
                <a:ea typeface="微软雅黑" panose="020B0503020204020204" pitchFamily="34" charset="-122"/>
                <a:cs typeface="微软雅黑" panose="020B0503020204020204" pitchFamily="34" charset="-122"/>
                <a:sym typeface="+mn-lt"/>
              </a:rPr>
              <a:t>（运营商，企业，消费者） </a:t>
            </a:r>
            <a:r>
              <a:rPr lang="en-US" altLang="zh-CN" sz="1275" dirty="0">
                <a:latin typeface="微软雅黑" panose="020B0503020204020204" pitchFamily="34" charset="-122"/>
                <a:ea typeface="微软雅黑" panose="020B0503020204020204" pitchFamily="34" charset="-122"/>
                <a:cs typeface="微软雅黑" panose="020B0503020204020204" pitchFamily="34" charset="-122"/>
                <a:sym typeface="+mn-lt"/>
              </a:rPr>
              <a:t>—&gt; </a:t>
            </a:r>
            <a:r>
              <a:rPr lang="zh-CN" altLang="en-US" sz="1275" dirty="0">
                <a:latin typeface="微软雅黑" panose="020B0503020204020204" pitchFamily="34" charset="-122"/>
                <a:ea typeface="微软雅黑" panose="020B0503020204020204" pitchFamily="34" charset="-122"/>
                <a:cs typeface="微软雅黑" panose="020B0503020204020204" pitchFamily="34" charset="-122"/>
                <a:sym typeface="+mn-lt"/>
              </a:rPr>
              <a:t>合作伙伴生态</a:t>
            </a:r>
          </a:p>
          <a:p>
            <a:pPr marL="287020" lvl="1" indent="-285750" algn="just" defTabSz="330200">
              <a:spcBef>
                <a:spcPct val="20000"/>
              </a:spcBef>
              <a:buClr>
                <a:srgbClr val="267FC3"/>
              </a:buClr>
              <a:buFont typeface="Arial" panose="020B0604020202020204" pitchFamily="34" charset="0"/>
              <a:buChar char="•"/>
              <a:tabLst>
                <a:tab pos="8521700" algn="r"/>
              </a:tabLst>
            </a:pPr>
            <a:r>
              <a:rPr lang="zh-CN" altLang="en-US" sz="1275" b="1" dirty="0">
                <a:latin typeface="微软雅黑" panose="020B0503020204020204" pitchFamily="34" charset="-122"/>
                <a:ea typeface="微软雅黑" panose="020B0503020204020204" pitchFamily="34" charset="-122"/>
                <a:cs typeface="微软雅黑" panose="020B0503020204020204" pitchFamily="34" charset="-122"/>
                <a:sym typeface="+mn-lt"/>
              </a:rPr>
              <a:t>能力：</a:t>
            </a:r>
            <a:r>
              <a:rPr lang="zh-CN" altLang="en-US" sz="1275" dirty="0">
                <a:latin typeface="微软雅黑" panose="020B0503020204020204" pitchFamily="34" charset="-122"/>
                <a:ea typeface="微软雅黑" panose="020B0503020204020204" pitchFamily="34" charset="-122"/>
                <a:cs typeface="微软雅黑" panose="020B0503020204020204" pitchFamily="34" charset="-122"/>
                <a:sym typeface="+mn-lt"/>
              </a:rPr>
              <a:t>生存边缘</a:t>
            </a:r>
            <a:r>
              <a:rPr lang="en-US" altLang="zh-CN" sz="1275" dirty="0">
                <a:latin typeface="微软雅黑" panose="020B0503020204020204" pitchFamily="34" charset="-122"/>
                <a:ea typeface="微软雅黑" panose="020B0503020204020204" pitchFamily="34" charset="-122"/>
                <a:cs typeface="微软雅黑" panose="020B0503020204020204" pitchFamily="34" charset="-122"/>
                <a:sym typeface="+mn-lt"/>
              </a:rPr>
              <a:t>—&gt;</a:t>
            </a:r>
            <a:r>
              <a:rPr lang="zh-CN" altLang="en-US" sz="1275" dirty="0">
                <a:latin typeface="微软雅黑" panose="020B0503020204020204" pitchFamily="34" charset="-122"/>
                <a:ea typeface="微软雅黑" panose="020B0503020204020204" pitchFamily="34" charset="-122"/>
                <a:cs typeface="微软雅黑" panose="020B0503020204020204" pitchFamily="34" charset="-122"/>
                <a:sym typeface="+mn-lt"/>
              </a:rPr>
              <a:t>世界级</a:t>
            </a:r>
            <a:r>
              <a:rPr lang="en-US" altLang="zh-CN" sz="1275" dirty="0">
                <a:latin typeface="微软雅黑" panose="020B0503020204020204" pitchFamily="34" charset="-122"/>
                <a:ea typeface="微软雅黑" panose="020B0503020204020204" pitchFamily="34" charset="-122"/>
                <a:cs typeface="微软雅黑" panose="020B0503020204020204" pitchFamily="34" charset="-122"/>
                <a:sym typeface="+mn-lt"/>
              </a:rPr>
              <a:t>100</a:t>
            </a:r>
            <a:r>
              <a:rPr lang="zh-CN" altLang="en-US" sz="1275" dirty="0">
                <a:latin typeface="微软雅黑" panose="020B0503020204020204" pitchFamily="34" charset="-122"/>
                <a:ea typeface="微软雅黑" panose="020B0503020204020204" pitchFamily="34" charset="-122"/>
                <a:cs typeface="微软雅黑" panose="020B0503020204020204" pitchFamily="34" charset="-122"/>
                <a:sym typeface="+mn-lt"/>
              </a:rPr>
              <a:t>强</a:t>
            </a:r>
          </a:p>
        </p:txBody>
      </p:sp>
      <p:grpSp>
        <p:nvGrpSpPr>
          <p:cNvPr id="8" name="组合 7"/>
          <p:cNvGrpSpPr/>
          <p:nvPr/>
        </p:nvGrpSpPr>
        <p:grpSpPr>
          <a:xfrm>
            <a:off x="1972619" y="1581117"/>
            <a:ext cx="2078170" cy="598805"/>
            <a:chOff x="288016" y="2132856"/>
            <a:chExt cx="2770893" cy="798407"/>
          </a:xfrm>
        </p:grpSpPr>
        <p:sp>
          <p:nvSpPr>
            <p:cNvPr id="9" name="文本框 8"/>
            <p:cNvSpPr txBox="1"/>
            <p:nvPr/>
          </p:nvSpPr>
          <p:spPr>
            <a:xfrm>
              <a:off x="288016" y="2132856"/>
              <a:ext cx="527473" cy="798407"/>
            </a:xfrm>
            <a:prstGeom prst="rect">
              <a:avLst/>
            </a:prstGeom>
            <a:noFill/>
          </p:spPr>
          <p:txBody>
            <a:bodyPr wrap="none" rtlCol="0">
              <a:spAutoFit/>
            </a:bodyPr>
            <a:lstStyle/>
            <a:p>
              <a:pPr algn="just"/>
              <a:r>
                <a:rPr lang="en-US" altLang="zh-CN" sz="3300" dirty="0">
                  <a:latin typeface="微软雅黑" panose="020B0503020204020204" pitchFamily="34" charset="-122"/>
                  <a:ea typeface="微软雅黑" panose="020B0503020204020204" pitchFamily="34" charset="-122"/>
                  <a:cs typeface="+mn-ea"/>
                  <a:sym typeface="+mn-lt"/>
                </a:rPr>
                <a:t>1</a:t>
              </a:r>
            </a:p>
          </p:txBody>
        </p:sp>
        <p:sp>
          <p:nvSpPr>
            <p:cNvPr id="10" name="矩形 9"/>
            <p:cNvSpPr/>
            <p:nvPr/>
          </p:nvSpPr>
          <p:spPr>
            <a:xfrm>
              <a:off x="767829" y="2386509"/>
              <a:ext cx="2291080" cy="429260"/>
            </a:xfrm>
            <a:prstGeom prst="rect">
              <a:avLst/>
            </a:prstGeom>
          </p:spPr>
          <p:txBody>
            <a:bodyPr wrap="none">
              <a:spAutoFit/>
            </a:bodyPr>
            <a:lstStyle/>
            <a:p>
              <a:pPr lvl="0" algn="ctr" defTabSz="330200" eaLnBrk="1" fontAlgn="auto" hangingPunct="1">
                <a:spcBef>
                  <a:spcPct val="20000"/>
                </a:spcBef>
                <a:spcAft>
                  <a:spcPts val="0"/>
                </a:spcAft>
                <a:buClr>
                  <a:srgbClr val="2183D9"/>
                </a:buClr>
                <a:tabLst>
                  <a:tab pos="8521700" algn="r"/>
                </a:tabLst>
                <a:defRPr/>
              </a:pPr>
              <a:r>
                <a:rPr lang="zh-CN" altLang="en-US" sz="15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华为</a:t>
              </a:r>
              <a:r>
                <a:rPr lang="en-US" altLang="zh-CN" sz="15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30</a:t>
              </a:r>
              <a:r>
                <a:rPr lang="zh-CN" altLang="en-US" sz="15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年发展跨度</a:t>
              </a:r>
            </a:p>
          </p:txBody>
        </p:sp>
      </p:grpSp>
      <p:cxnSp>
        <p:nvCxnSpPr>
          <p:cNvPr id="18" name="直接连接符 17"/>
          <p:cNvCxnSpPr/>
          <p:nvPr/>
        </p:nvCxnSpPr>
        <p:spPr>
          <a:xfrm>
            <a:off x="2138024" y="3894951"/>
            <a:ext cx="792805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9" name="Rectangle 8"/>
          <p:cNvSpPr>
            <a:spLocks noChangeArrowheads="1"/>
          </p:cNvSpPr>
          <p:nvPr/>
        </p:nvSpPr>
        <p:spPr bwMode="auto">
          <a:xfrm>
            <a:off x="4298264" y="3020863"/>
            <a:ext cx="5767817" cy="732155"/>
          </a:xfrm>
          <a:prstGeom prst="rect">
            <a:avLst/>
          </a:prstGeom>
          <a:noFill/>
          <a:ln w="6350">
            <a:noFill/>
            <a:miter lim="800000"/>
          </a:ln>
        </p:spPr>
        <p:txBody>
          <a:bodyPr wrap="square" lIns="0" tIns="0" rIns="0" bIns="0" anchor="ctr">
            <a:spAutoFit/>
          </a:bodyPr>
          <a:lstStyle/>
          <a:p>
            <a:pPr marL="287020" lvl="1" indent="-285750" algn="just" defTabSz="330200">
              <a:spcBef>
                <a:spcPct val="20000"/>
              </a:spcBef>
              <a:buClr>
                <a:srgbClr val="267FC3"/>
              </a:buClr>
              <a:buFont typeface="Arial" panose="020B0604020202020204" pitchFamily="34" charset="0"/>
              <a:buChar char="•"/>
              <a:tabLst>
                <a:tab pos="8521700" algn="r"/>
              </a:tabLst>
            </a:pPr>
            <a:r>
              <a:rPr lang="zh-CN" altLang="en-US" sz="1400" dirty="0">
                <a:solidFill>
                  <a:srgbClr val="0070C0"/>
                </a:solidFill>
                <a:latin typeface="微软雅黑" panose="020B0503020204020204" pitchFamily="34" charset="-122"/>
                <a:ea typeface="微软雅黑" panose="020B0503020204020204" pitchFamily="34" charset="-122"/>
                <a:cs typeface="+mn-ea"/>
                <a:sym typeface="+mn-lt"/>
              </a:rPr>
              <a:t>战略聚焦：聚焦主航道，力出一孔，不在非战略上消耗资源</a:t>
            </a:r>
          </a:p>
          <a:p>
            <a:pPr marL="287020" lvl="1" indent="-285750" algn="just" defTabSz="330200">
              <a:spcBef>
                <a:spcPct val="20000"/>
              </a:spcBef>
              <a:buClr>
                <a:srgbClr val="267FC3"/>
              </a:buClr>
              <a:buFont typeface="Arial" panose="020B0604020202020204" pitchFamily="34" charset="0"/>
              <a:buChar char="•"/>
              <a:tabLst>
                <a:tab pos="8521700" algn="r"/>
              </a:tabLst>
            </a:pPr>
            <a:r>
              <a:rPr lang="zh-CN" altLang="en-US" sz="1400" dirty="0">
                <a:solidFill>
                  <a:srgbClr val="0070C0"/>
                </a:solidFill>
                <a:latin typeface="微软雅黑" panose="020B0503020204020204" pitchFamily="34" charset="-122"/>
                <a:ea typeface="微软雅黑" panose="020B0503020204020204" pitchFamily="34" charset="-122"/>
                <a:cs typeface="+mn-ea"/>
                <a:sym typeface="+mn-lt"/>
              </a:rPr>
              <a:t>战略耐性：战略定力与执行力，乌龟精神追赶龙飞船</a:t>
            </a:r>
          </a:p>
          <a:p>
            <a:pPr marL="287020" lvl="1" indent="-285750" algn="just" defTabSz="330200">
              <a:spcBef>
                <a:spcPct val="20000"/>
              </a:spcBef>
              <a:buClr>
                <a:srgbClr val="267FC3"/>
              </a:buClr>
              <a:buFont typeface="Arial" panose="020B0604020202020204" pitchFamily="34" charset="0"/>
              <a:buChar char="•"/>
              <a:tabLst>
                <a:tab pos="8521700" algn="r"/>
              </a:tabLst>
            </a:pPr>
            <a:r>
              <a:rPr lang="zh-CN" altLang="en-US" sz="1400" dirty="0">
                <a:solidFill>
                  <a:srgbClr val="0070C0"/>
                </a:solidFill>
                <a:latin typeface="微软雅黑" panose="020B0503020204020204" pitchFamily="34" charset="-122"/>
                <a:ea typeface="微软雅黑" panose="020B0503020204020204" pitchFamily="34" charset="-122"/>
                <a:cs typeface="+mn-ea"/>
                <a:sym typeface="+mn-lt"/>
              </a:rPr>
              <a:t>战略执行：战略解码到个人，平衡计分考核，结果导向的考核机制</a:t>
            </a:r>
          </a:p>
        </p:txBody>
      </p:sp>
      <p:grpSp>
        <p:nvGrpSpPr>
          <p:cNvPr id="20" name="组合 19"/>
          <p:cNvGrpSpPr/>
          <p:nvPr/>
        </p:nvGrpSpPr>
        <p:grpSpPr>
          <a:xfrm>
            <a:off x="1972619" y="3138553"/>
            <a:ext cx="2121468" cy="598805"/>
            <a:chOff x="288016" y="2132856"/>
            <a:chExt cx="2828623" cy="798407"/>
          </a:xfrm>
        </p:grpSpPr>
        <p:sp>
          <p:nvSpPr>
            <p:cNvPr id="21" name="文本框 20"/>
            <p:cNvSpPr txBox="1"/>
            <p:nvPr/>
          </p:nvSpPr>
          <p:spPr>
            <a:xfrm>
              <a:off x="288016" y="2132856"/>
              <a:ext cx="527473" cy="798407"/>
            </a:xfrm>
            <a:prstGeom prst="rect">
              <a:avLst/>
            </a:prstGeom>
            <a:noFill/>
          </p:spPr>
          <p:txBody>
            <a:bodyPr wrap="none" rtlCol="0">
              <a:spAutoFit/>
            </a:bodyPr>
            <a:lstStyle/>
            <a:p>
              <a:pPr algn="just"/>
              <a:r>
                <a:rPr lang="en-US" altLang="zh-CN" sz="3300" dirty="0">
                  <a:latin typeface="微软雅黑" panose="020B0503020204020204" pitchFamily="34" charset="-122"/>
                  <a:ea typeface="微软雅黑" panose="020B0503020204020204" pitchFamily="34" charset="-122"/>
                  <a:cs typeface="+mn-ea"/>
                  <a:sym typeface="+mn-lt"/>
                </a:rPr>
                <a:t>2</a:t>
              </a:r>
            </a:p>
          </p:txBody>
        </p:sp>
        <p:sp>
          <p:nvSpPr>
            <p:cNvPr id="22" name="矩形 21"/>
            <p:cNvSpPr/>
            <p:nvPr/>
          </p:nvSpPr>
          <p:spPr>
            <a:xfrm>
              <a:off x="849332" y="2160412"/>
              <a:ext cx="2267307" cy="737447"/>
            </a:xfrm>
            <a:prstGeom prst="rect">
              <a:avLst/>
            </a:prstGeom>
          </p:spPr>
          <p:txBody>
            <a:bodyPr wrap="square">
              <a:spAutoFit/>
            </a:bodyPr>
            <a:lstStyle/>
            <a:p>
              <a:pPr lvl="0" defTabSz="330200" eaLnBrk="1" fontAlgn="auto" hangingPunct="1">
                <a:spcBef>
                  <a:spcPct val="20000"/>
                </a:spcBef>
                <a:spcAft>
                  <a:spcPts val="0"/>
                </a:spcAft>
                <a:buClr>
                  <a:srgbClr val="2183D9"/>
                </a:buClr>
                <a:tabLst>
                  <a:tab pos="8521700" algn="r"/>
                </a:tabLst>
                <a:defRPr/>
              </a:pPr>
              <a:r>
                <a:rPr lang="zh-CN" altLang="en-US" sz="1500" b="1" dirty="0">
                  <a:solidFill>
                    <a:srgbClr val="C00000"/>
                  </a:solidFill>
                  <a:latin typeface="微软雅黑" panose="020B0503020204020204" pitchFamily="34" charset="-122"/>
                  <a:ea typeface="微软雅黑" panose="020B0503020204020204" pitchFamily="34" charset="-122"/>
                  <a:cs typeface="+mn-ea"/>
                  <a:sym typeface="+mn-lt"/>
                </a:rPr>
                <a:t>通过战略规划与</a:t>
              </a:r>
              <a:endParaRPr lang="en-US" altLang="zh-CN" sz="1500" b="1" dirty="0">
                <a:solidFill>
                  <a:srgbClr val="C00000"/>
                </a:solidFill>
                <a:latin typeface="微软雅黑" panose="020B0503020204020204" pitchFamily="34" charset="-122"/>
                <a:ea typeface="微软雅黑" panose="020B0503020204020204" pitchFamily="34" charset="-122"/>
                <a:cs typeface="+mn-ea"/>
                <a:sym typeface="+mn-lt"/>
              </a:endParaRPr>
            </a:p>
            <a:p>
              <a:pPr lvl="0" defTabSz="330200" eaLnBrk="1" fontAlgn="auto" hangingPunct="1">
                <a:spcBef>
                  <a:spcPts val="0"/>
                </a:spcBef>
                <a:spcAft>
                  <a:spcPts val="0"/>
                </a:spcAft>
                <a:buClr>
                  <a:srgbClr val="2183D9"/>
                </a:buClr>
                <a:tabLst>
                  <a:tab pos="8521700" algn="r"/>
                </a:tabLst>
                <a:defRPr/>
              </a:pPr>
              <a:r>
                <a:rPr lang="zh-CN" altLang="en-US" sz="1500" b="1" dirty="0">
                  <a:solidFill>
                    <a:srgbClr val="C00000"/>
                  </a:solidFill>
                  <a:latin typeface="微软雅黑" panose="020B0503020204020204" pitchFamily="34" charset="-122"/>
                  <a:ea typeface="微软雅黑" panose="020B0503020204020204" pitchFamily="34" charset="-122"/>
                  <a:cs typeface="+mn-ea"/>
                  <a:sym typeface="+mn-lt"/>
                </a:rPr>
                <a:t>管理取得成果</a:t>
              </a:r>
            </a:p>
          </p:txBody>
        </p:sp>
      </p:grpSp>
      <p:sp>
        <p:nvSpPr>
          <p:cNvPr id="23" name="Rectangle 8"/>
          <p:cNvSpPr>
            <a:spLocks noChangeArrowheads="1"/>
          </p:cNvSpPr>
          <p:nvPr/>
        </p:nvSpPr>
        <p:spPr bwMode="auto">
          <a:xfrm>
            <a:off x="4298264" y="4000150"/>
            <a:ext cx="5767817" cy="1809115"/>
          </a:xfrm>
          <a:prstGeom prst="rect">
            <a:avLst/>
          </a:prstGeom>
          <a:noFill/>
          <a:ln w="6350">
            <a:noFill/>
            <a:miter lim="800000"/>
          </a:ln>
        </p:spPr>
        <p:txBody>
          <a:bodyPr wrap="square" lIns="0" tIns="0" rIns="0" bIns="0" anchor="ctr">
            <a:spAutoFit/>
          </a:bodyPr>
          <a:lstStyle/>
          <a:p>
            <a:pPr marL="287020" lvl="1" indent="-285750" algn="just" defTabSz="330200">
              <a:spcBef>
                <a:spcPct val="20000"/>
              </a:spcBef>
              <a:buClr>
                <a:srgbClr val="267FC3"/>
              </a:buClr>
              <a:buFont typeface="Arial" panose="020B0604020202020204" pitchFamily="34" charset="0"/>
              <a:buChar char="•"/>
              <a:tabLst>
                <a:tab pos="8521700" algn="r"/>
              </a:tabLst>
            </a:pPr>
            <a:r>
              <a:rPr lang="zh-CN" altLang="en-US" sz="1275" b="1" dirty="0">
                <a:latin typeface="微软雅黑" panose="020B0503020204020204" pitchFamily="34" charset="-122"/>
                <a:ea typeface="微软雅黑" panose="020B0503020204020204" pitchFamily="34" charset="-122"/>
                <a:cs typeface="微软雅黑" panose="020B0503020204020204" pitchFamily="34" charset="-122"/>
                <a:sym typeface="+mn-lt"/>
              </a:rPr>
              <a:t>组织：</a:t>
            </a:r>
          </a:p>
          <a:p>
            <a:pPr marL="744220" lvl="2" indent="-285750" algn="just" defTabSz="330200">
              <a:spcBef>
                <a:spcPct val="20000"/>
              </a:spcBef>
              <a:buClr>
                <a:srgbClr val="267FC3"/>
              </a:buClr>
              <a:buFont typeface="Arial" panose="020B0604020202020204" pitchFamily="34" charset="0"/>
              <a:buChar char="•"/>
              <a:tabLst>
                <a:tab pos="8521700" algn="r"/>
              </a:tabLst>
            </a:pPr>
            <a:r>
              <a:rPr lang="zh-CN" altLang="en-US" sz="127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发展早期：老板及高管定战略</a:t>
            </a:r>
          </a:p>
          <a:p>
            <a:pPr marL="744220" lvl="2" indent="-285750" algn="just" defTabSz="330200">
              <a:spcBef>
                <a:spcPct val="20000"/>
              </a:spcBef>
              <a:buClr>
                <a:srgbClr val="267FC3"/>
              </a:buClr>
              <a:buFont typeface="Arial" panose="020B0604020202020204" pitchFamily="34" charset="0"/>
              <a:buChar char="•"/>
              <a:tabLst>
                <a:tab pos="8521700" algn="r"/>
              </a:tabLst>
            </a:pPr>
            <a:r>
              <a:rPr lang="en-US" altLang="zh-CN" sz="127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2005</a:t>
            </a:r>
            <a:r>
              <a:rPr lang="zh-CN" altLang="en-US" sz="127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年：战略与</a:t>
            </a:r>
            <a:r>
              <a:rPr lang="en-US" altLang="zh-CN" sz="127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MKT</a:t>
            </a:r>
            <a:r>
              <a:rPr lang="zh-CN" altLang="en-US" sz="127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主导规划，聚焦产品规划</a:t>
            </a:r>
          </a:p>
          <a:p>
            <a:pPr marL="744220" lvl="2" indent="-285750" algn="just" defTabSz="330200">
              <a:spcBef>
                <a:spcPct val="20000"/>
              </a:spcBef>
              <a:buClr>
                <a:srgbClr val="267FC3"/>
              </a:buClr>
              <a:buFont typeface="Arial" panose="020B0604020202020204" pitchFamily="34" charset="0"/>
              <a:buChar char="•"/>
              <a:tabLst>
                <a:tab pos="8521700" algn="r"/>
              </a:tabLst>
            </a:pPr>
            <a:r>
              <a:rPr lang="en-US" altLang="zh-CN" sz="127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2011</a:t>
            </a:r>
            <a:r>
              <a:rPr lang="zh-CN" altLang="en-US" sz="127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年：成立战略与发展委员会</a:t>
            </a:r>
            <a:r>
              <a:rPr lang="zh-CN" altLang="en-US" sz="1275" dirty="0">
                <a:latin typeface="微软雅黑" panose="020B0503020204020204" pitchFamily="34" charset="-122"/>
                <a:ea typeface="微软雅黑" panose="020B0503020204020204" pitchFamily="34" charset="-122"/>
                <a:cs typeface="微软雅黑" panose="020B0503020204020204" pitchFamily="34" charset="-122"/>
                <a:sym typeface="+mn-lt"/>
              </a:rPr>
              <a:t>，区域销售，产品线，职能线全域的日历机制的</a:t>
            </a:r>
            <a:r>
              <a:rPr lang="en-US" altLang="zh-CN" sz="1275" dirty="0">
                <a:latin typeface="微软雅黑" panose="020B0503020204020204" pitchFamily="34" charset="-122"/>
                <a:ea typeface="微软雅黑" panose="020B0503020204020204" pitchFamily="34" charset="-122"/>
                <a:cs typeface="微软雅黑" panose="020B0503020204020204" pitchFamily="34" charset="-122"/>
                <a:sym typeface="+mn-lt"/>
              </a:rPr>
              <a:t>SP —》BP</a:t>
            </a:r>
            <a:r>
              <a:rPr lang="zh-CN" altLang="en-US" sz="1275" dirty="0">
                <a:latin typeface="微软雅黑" panose="020B0503020204020204" pitchFamily="34" charset="-122"/>
                <a:ea typeface="微软雅黑" panose="020B0503020204020204" pitchFamily="34" charset="-122"/>
                <a:cs typeface="微软雅黑" panose="020B0503020204020204" pitchFamily="34" charset="-122"/>
                <a:sym typeface="+mn-lt"/>
              </a:rPr>
              <a:t>规划并解码到个人</a:t>
            </a:r>
          </a:p>
          <a:p>
            <a:pPr marL="287020" lvl="1" indent="-285750" algn="just" defTabSz="330200">
              <a:spcBef>
                <a:spcPct val="20000"/>
              </a:spcBef>
              <a:buClr>
                <a:srgbClr val="267FC3"/>
              </a:buClr>
              <a:buFont typeface="Arial" panose="020B0604020202020204" pitchFamily="34" charset="0"/>
              <a:buChar char="•"/>
              <a:tabLst>
                <a:tab pos="8521700" algn="r"/>
              </a:tabLst>
            </a:pPr>
            <a:r>
              <a:rPr lang="zh-CN" altLang="en-US" sz="1275" b="1" dirty="0">
                <a:latin typeface="微软雅黑" panose="020B0503020204020204" pitchFamily="34" charset="-122"/>
                <a:ea typeface="微软雅黑" panose="020B0503020204020204" pitchFamily="34" charset="-122"/>
                <a:cs typeface="微软雅黑" panose="020B0503020204020204" pitchFamily="34" charset="-122"/>
                <a:sym typeface="+mn-lt"/>
              </a:rPr>
              <a:t>流程：</a:t>
            </a:r>
            <a:r>
              <a:rPr lang="en-US" altLang="zh-CN" sz="1275" dirty="0">
                <a:latin typeface="微软雅黑" panose="020B0503020204020204" pitchFamily="34" charset="-122"/>
                <a:ea typeface="微软雅黑" panose="020B0503020204020204" pitchFamily="34" charset="-122"/>
                <a:cs typeface="微软雅黑" panose="020B0503020204020204" pitchFamily="34" charset="-122"/>
                <a:sym typeface="+mn-lt"/>
              </a:rPr>
              <a:t>DSTE</a:t>
            </a:r>
          </a:p>
          <a:p>
            <a:pPr marL="287020" lvl="1" indent="-285750" algn="just" defTabSz="330200">
              <a:spcBef>
                <a:spcPct val="20000"/>
              </a:spcBef>
              <a:buClr>
                <a:srgbClr val="267FC3"/>
              </a:buClr>
              <a:buFont typeface="Arial" panose="020B0604020202020204" pitchFamily="34" charset="0"/>
              <a:buChar char="•"/>
              <a:tabLst>
                <a:tab pos="8521700" algn="r"/>
              </a:tabLst>
            </a:pPr>
            <a:r>
              <a:rPr lang="zh-CN" altLang="en-US" sz="1275" b="1" dirty="0">
                <a:latin typeface="微软雅黑" panose="020B0503020204020204" pitchFamily="34" charset="-122"/>
                <a:ea typeface="微软雅黑" panose="020B0503020204020204" pitchFamily="34" charset="-122"/>
                <a:cs typeface="微软雅黑" panose="020B0503020204020204" pitchFamily="34" charset="-122"/>
                <a:sym typeface="+mn-lt"/>
              </a:rPr>
              <a:t>方法论：</a:t>
            </a:r>
            <a:r>
              <a:rPr lang="en-US" altLang="zh-CN" sz="1275" dirty="0">
                <a:latin typeface="微软雅黑" panose="020B0503020204020204" pitchFamily="34" charset="-122"/>
                <a:ea typeface="微软雅黑" panose="020B0503020204020204" pitchFamily="34" charset="-122"/>
                <a:cs typeface="微软雅黑" panose="020B0503020204020204" pitchFamily="34" charset="-122"/>
                <a:sym typeface="+mn-lt"/>
              </a:rPr>
              <a:t>BLM+BEM</a:t>
            </a:r>
          </a:p>
          <a:p>
            <a:pPr marL="287020" lvl="1" indent="-285750" algn="just" defTabSz="330200">
              <a:spcBef>
                <a:spcPct val="20000"/>
              </a:spcBef>
              <a:buClr>
                <a:srgbClr val="267FC3"/>
              </a:buClr>
              <a:buFont typeface="Arial" panose="020B0604020202020204" pitchFamily="34" charset="0"/>
              <a:buChar char="•"/>
              <a:tabLst>
                <a:tab pos="8521700" algn="r"/>
              </a:tabLst>
            </a:pPr>
            <a:r>
              <a:rPr lang="zh-CN" altLang="en-US" sz="1275" b="1" dirty="0">
                <a:latin typeface="微软雅黑" panose="020B0503020204020204" pitchFamily="34" charset="-122"/>
                <a:ea typeface="微软雅黑" panose="020B0503020204020204" pitchFamily="34" charset="-122"/>
                <a:cs typeface="微软雅黑" panose="020B0503020204020204" pitchFamily="34" charset="-122"/>
                <a:sym typeface="+mn-lt"/>
              </a:rPr>
              <a:t>交付件</a:t>
            </a:r>
            <a:r>
              <a:rPr lang="zh-CN" altLang="en-US" sz="1275" dirty="0">
                <a:latin typeface="微软雅黑" panose="020B0503020204020204" pitchFamily="34" charset="-122"/>
                <a:ea typeface="微软雅黑" panose="020B0503020204020204" pitchFamily="34" charset="-122"/>
                <a:cs typeface="微软雅黑" panose="020B0503020204020204" pitchFamily="34" charset="-122"/>
                <a:sym typeface="+mn-lt"/>
              </a:rPr>
              <a:t>：</a:t>
            </a:r>
            <a:r>
              <a:rPr lang="en-US" altLang="zh-CN" sz="1275" dirty="0">
                <a:latin typeface="微软雅黑" panose="020B0503020204020204" pitchFamily="34" charset="-122"/>
                <a:ea typeface="微软雅黑" panose="020B0503020204020204" pitchFamily="34" charset="-122"/>
                <a:cs typeface="微软雅黑" panose="020B0503020204020204" pitchFamily="34" charset="-122"/>
                <a:sym typeface="+mn-lt"/>
              </a:rPr>
              <a:t>SP+BP</a:t>
            </a:r>
            <a:endParaRPr lang="zh-CN" altLang="en-US" sz="1275"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24" name="组合 23"/>
          <p:cNvGrpSpPr/>
          <p:nvPr/>
        </p:nvGrpSpPr>
        <p:grpSpPr>
          <a:xfrm>
            <a:off x="1972619" y="4327627"/>
            <a:ext cx="2121468" cy="1035397"/>
            <a:chOff x="288016" y="2132856"/>
            <a:chExt cx="2828623" cy="1380529"/>
          </a:xfrm>
        </p:grpSpPr>
        <p:sp>
          <p:nvSpPr>
            <p:cNvPr id="25" name="文本框 24"/>
            <p:cNvSpPr txBox="1"/>
            <p:nvPr/>
          </p:nvSpPr>
          <p:spPr>
            <a:xfrm>
              <a:off x="288016" y="2132856"/>
              <a:ext cx="527473" cy="798406"/>
            </a:xfrm>
            <a:prstGeom prst="rect">
              <a:avLst/>
            </a:prstGeom>
            <a:noFill/>
          </p:spPr>
          <p:txBody>
            <a:bodyPr wrap="none" rtlCol="0">
              <a:spAutoFit/>
            </a:bodyPr>
            <a:lstStyle/>
            <a:p>
              <a:pPr algn="just"/>
              <a:r>
                <a:rPr lang="en-US" altLang="zh-CN" sz="3300" dirty="0">
                  <a:latin typeface="微软雅黑" panose="020B0503020204020204" pitchFamily="34" charset="-122"/>
                  <a:ea typeface="微软雅黑" panose="020B0503020204020204" pitchFamily="34" charset="-122"/>
                  <a:cs typeface="+mn-ea"/>
                  <a:sym typeface="+mn-lt"/>
                </a:rPr>
                <a:t>3</a:t>
              </a:r>
            </a:p>
          </p:txBody>
        </p:sp>
        <p:sp>
          <p:nvSpPr>
            <p:cNvPr id="26" name="矩形 25"/>
            <p:cNvSpPr/>
            <p:nvPr/>
          </p:nvSpPr>
          <p:spPr>
            <a:xfrm>
              <a:off x="849332" y="2160412"/>
              <a:ext cx="2267307" cy="1352973"/>
            </a:xfrm>
            <a:prstGeom prst="rect">
              <a:avLst/>
            </a:prstGeom>
          </p:spPr>
          <p:txBody>
            <a:bodyPr wrap="square">
              <a:spAutoFit/>
            </a:bodyPr>
            <a:lstStyle/>
            <a:p>
              <a:pPr lvl="0" defTabSz="330200" eaLnBrk="1" fontAlgn="auto" hangingPunct="1">
                <a:spcBef>
                  <a:spcPct val="20000"/>
                </a:spcBef>
                <a:spcAft>
                  <a:spcPts val="0"/>
                </a:spcAft>
                <a:buClr>
                  <a:srgbClr val="2183D9"/>
                </a:buClr>
                <a:tabLst>
                  <a:tab pos="8521700" algn="r"/>
                </a:tabLst>
                <a:defRPr/>
              </a:pPr>
              <a:r>
                <a:rPr lang="zh-CN" altLang="en-US" sz="1500" b="1" dirty="0">
                  <a:solidFill>
                    <a:srgbClr val="C00000"/>
                  </a:solidFill>
                  <a:latin typeface="微软雅黑" panose="020B0503020204020204" pitchFamily="34" charset="-122"/>
                  <a:ea typeface="微软雅黑" panose="020B0503020204020204" pitchFamily="34" charset="-122"/>
                  <a:cs typeface="+mn-ea"/>
                  <a:sym typeface="+mn-lt"/>
                </a:rPr>
                <a:t>华为战略体系（组织、流程、方法）的构建里程</a:t>
              </a:r>
            </a:p>
          </p:txBody>
        </p:sp>
      </p:grpSp>
      <p:sp>
        <p:nvSpPr>
          <p:cNvPr id="6" name="标题 1"/>
          <p:cNvSpPr txBox="1"/>
          <p:nvPr/>
        </p:nvSpPr>
        <p:spPr>
          <a:xfrm>
            <a:off x="561115" y="418302"/>
            <a:ext cx="8769350" cy="34353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2060"/>
                </a:solidFill>
                <a:latin typeface="微软雅黑" panose="020B0503020204020204" pitchFamily="34" charset="-122"/>
                <a:ea typeface="微软雅黑" panose="020B0503020204020204" pitchFamily="34" charset="-122"/>
                <a:cs typeface="+mn-ea"/>
                <a:sym typeface="+mn-lt"/>
              </a:rPr>
              <a:t>战规演进：老板→战规→</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SDC</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，靠老板→组织</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流程</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全体员工</a:t>
            </a:r>
          </a:p>
        </p:txBody>
      </p:sp>
      <p:sp>
        <p:nvSpPr>
          <p:cNvPr id="28" name="Rectangle 3"/>
          <p:cNvSpPr txBox="1">
            <a:spLocks noChangeArrowheads="1"/>
          </p:cNvSpPr>
          <p:nvPr/>
        </p:nvSpPr>
        <p:spPr bwMode="auto">
          <a:xfrm>
            <a:off x="1524000" y="6293751"/>
            <a:ext cx="9144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1800" b="1" dirty="0">
                <a:solidFill>
                  <a:srgbClr val="FCC78C"/>
                </a:solidFill>
                <a:effectLst/>
                <a:latin typeface="微软雅黑" panose="020B0503020204020204" pitchFamily="34" charset="-122"/>
                <a:ea typeface="微软雅黑" panose="020B0503020204020204" pitchFamily="34" charset="-122"/>
              </a:rPr>
              <a:t>战略组织、流程、方法</a:t>
            </a:r>
            <a:r>
              <a:rPr lang="en-US" altLang="zh-CN" sz="1800" b="1" dirty="0">
                <a:solidFill>
                  <a:srgbClr val="FCC78C"/>
                </a:solidFill>
                <a:effectLst/>
                <a:latin typeface="微软雅黑" panose="020B0503020204020204" pitchFamily="34" charset="-122"/>
                <a:ea typeface="微软雅黑" panose="020B0503020204020204" pitchFamily="34" charset="-122"/>
              </a:rPr>
              <a:t>+</a:t>
            </a:r>
            <a:r>
              <a:rPr lang="zh-CN" altLang="en-US" sz="1800" b="1" dirty="0">
                <a:solidFill>
                  <a:srgbClr val="FCC78C"/>
                </a:solidFill>
                <a:effectLst/>
                <a:latin typeface="微软雅黑" panose="020B0503020204020204" pitchFamily="34" charset="-122"/>
                <a:ea typeface="微软雅黑" panose="020B0503020204020204" pitchFamily="34" charset="-122"/>
              </a:rPr>
              <a:t>管理者战略领导力</a:t>
            </a:r>
            <a:r>
              <a:rPr lang="zh-CN" altLang="en-US" sz="1800" b="1" dirty="0">
                <a:solidFill>
                  <a:schemeClr val="bg1"/>
                </a:solidFill>
                <a:effectLst/>
                <a:latin typeface="微软雅黑" panose="020B0503020204020204" pitchFamily="34" charset="-122"/>
                <a:ea typeface="微软雅黑" panose="020B0503020204020204" pitchFamily="34" charset="-122"/>
              </a:rPr>
              <a:t>，有持续打好</a:t>
            </a:r>
            <a:r>
              <a:rPr lang="zh-CN" altLang="en-US" sz="1800" b="1" dirty="0">
                <a:solidFill>
                  <a:srgbClr val="FCC78C"/>
                </a:solidFill>
                <a:effectLst/>
                <a:latin typeface="微软雅黑" panose="020B0503020204020204" pitchFamily="34" charset="-122"/>
                <a:ea typeface="微软雅黑" panose="020B0503020204020204" pitchFamily="34" charset="-122"/>
              </a:rPr>
              <a:t>移动靶</a:t>
            </a:r>
            <a:r>
              <a:rPr lang="zh-CN" altLang="en-US" sz="1800" b="1" dirty="0">
                <a:solidFill>
                  <a:schemeClr val="bg1"/>
                </a:solidFill>
                <a:effectLst/>
                <a:latin typeface="微软雅黑" panose="020B0503020204020204" pitchFamily="34" charset="-122"/>
                <a:ea typeface="微软雅黑" panose="020B0503020204020204" pitchFamily="34" charset="-122"/>
              </a:rPr>
              <a:t>的能力，企业才能做大</a:t>
            </a:r>
            <a:endParaRPr lang="en-US" altLang="zh-CN" sz="1800" b="1" dirty="0">
              <a:solidFill>
                <a:schemeClr val="bg1"/>
              </a:solidFill>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3" cstate="print"/>
          <a:stretch>
            <a:fillRect/>
          </a:stretch>
        </p:blipFill>
        <p:spPr>
          <a:xfrm>
            <a:off x="-7620" y="6260465"/>
            <a:ext cx="12206605" cy="522605"/>
          </a:xfrm>
          <a:prstGeom prst="rect">
            <a:avLst/>
          </a:prstGeom>
        </p:spPr>
      </p:pic>
      <p:grpSp>
        <p:nvGrpSpPr>
          <p:cNvPr id="26" name="组合 25"/>
          <p:cNvGrpSpPr/>
          <p:nvPr/>
        </p:nvGrpSpPr>
        <p:grpSpPr>
          <a:xfrm>
            <a:off x="1495425" y="1429385"/>
            <a:ext cx="8841818" cy="3431254"/>
            <a:chOff x="2637" y="2385"/>
            <a:chExt cx="12399" cy="4812"/>
          </a:xfrm>
        </p:grpSpPr>
        <p:sp>
          <p:nvSpPr>
            <p:cNvPr id="4" name="TextBox 3"/>
            <p:cNvSpPr txBox="1"/>
            <p:nvPr/>
          </p:nvSpPr>
          <p:spPr>
            <a:xfrm>
              <a:off x="6640" y="2617"/>
              <a:ext cx="3558" cy="451"/>
            </a:xfrm>
            <a:prstGeom prst="rect">
              <a:avLst/>
            </a:prstGeom>
            <a:solidFill>
              <a:srgbClr val="0070C0"/>
            </a:solidFill>
            <a:ln>
              <a:noFill/>
            </a:ln>
          </p:spPr>
          <p:txBody>
            <a:bodyPr wrap="square" rtlCol="0">
              <a:spAutoFit/>
            </a:bodyPr>
            <a:lstStyle/>
            <a:p>
              <a:pPr algn="ctr"/>
              <a:r>
                <a:rPr lang="zh-CN" altLang="en-US" sz="1500" b="1" spc="100" dirty="0">
                  <a:solidFill>
                    <a:schemeClr val="bg1"/>
                  </a:solidFill>
                  <a:latin typeface="微软雅黑" panose="020B0503020204020204" pitchFamily="34" charset="-122"/>
                  <a:ea typeface="微软雅黑" panose="020B0503020204020204" pitchFamily="34" charset="-122"/>
                  <a:cs typeface="+mn-ea"/>
                  <a:sym typeface="+mn-lt"/>
                </a:rPr>
                <a:t>董事会</a:t>
              </a:r>
            </a:p>
          </p:txBody>
        </p:sp>
        <p:sp>
          <p:nvSpPr>
            <p:cNvPr id="5" name="TextBox 4"/>
            <p:cNvSpPr txBox="1"/>
            <p:nvPr/>
          </p:nvSpPr>
          <p:spPr>
            <a:xfrm>
              <a:off x="2637" y="4755"/>
              <a:ext cx="2890" cy="430"/>
            </a:xfrm>
            <a:prstGeom prst="rect">
              <a:avLst/>
            </a:prstGeom>
            <a:solidFill>
              <a:srgbClr val="00B0F0"/>
            </a:solidFill>
            <a:ln>
              <a:noFill/>
            </a:ln>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cs typeface="+mn-ea"/>
                  <a:sym typeface="+mn-lt"/>
                </a:rPr>
                <a:t>人力资源委员会</a:t>
              </a:r>
            </a:p>
          </p:txBody>
        </p:sp>
        <p:sp>
          <p:nvSpPr>
            <p:cNvPr id="6" name="TextBox 5"/>
            <p:cNvSpPr txBox="1"/>
            <p:nvPr/>
          </p:nvSpPr>
          <p:spPr>
            <a:xfrm>
              <a:off x="5749" y="4755"/>
              <a:ext cx="2557" cy="430"/>
            </a:xfrm>
            <a:prstGeom prst="rect">
              <a:avLst/>
            </a:prstGeom>
            <a:solidFill>
              <a:srgbClr val="00B0F0"/>
            </a:solidFill>
            <a:ln>
              <a:noFill/>
            </a:ln>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cs typeface="+mn-ea"/>
                  <a:sym typeface="+mn-lt"/>
                </a:rPr>
                <a:t>财务委员会</a:t>
              </a:r>
            </a:p>
          </p:txBody>
        </p:sp>
        <p:sp>
          <p:nvSpPr>
            <p:cNvPr id="7" name="TextBox 6"/>
            <p:cNvSpPr txBox="1"/>
            <p:nvPr/>
          </p:nvSpPr>
          <p:spPr>
            <a:xfrm>
              <a:off x="8530" y="4755"/>
              <a:ext cx="3224" cy="430"/>
            </a:xfrm>
            <a:prstGeom prst="rect">
              <a:avLst/>
            </a:prstGeom>
            <a:solidFill>
              <a:srgbClr val="C00000"/>
            </a:solidFill>
            <a:ln>
              <a:noFill/>
            </a:ln>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cs typeface="+mn-ea"/>
                  <a:sym typeface="+mn-lt"/>
                </a:rPr>
                <a:t>战略与规划委员会</a:t>
              </a:r>
            </a:p>
          </p:txBody>
        </p:sp>
        <p:sp>
          <p:nvSpPr>
            <p:cNvPr id="8" name="TextBox 7"/>
            <p:cNvSpPr txBox="1"/>
            <p:nvPr/>
          </p:nvSpPr>
          <p:spPr>
            <a:xfrm>
              <a:off x="11975" y="4755"/>
              <a:ext cx="2779" cy="430"/>
            </a:xfrm>
            <a:prstGeom prst="rect">
              <a:avLst/>
            </a:prstGeom>
            <a:solidFill>
              <a:srgbClr val="00B0F0"/>
            </a:solidFill>
            <a:ln>
              <a:noFill/>
            </a:ln>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cs typeface="+mn-ea"/>
                  <a:sym typeface="+mn-lt"/>
                </a:rPr>
                <a:t>审计委员会</a:t>
              </a:r>
            </a:p>
          </p:txBody>
        </p:sp>
        <p:sp>
          <p:nvSpPr>
            <p:cNvPr id="9" name="TextBox 8"/>
            <p:cNvSpPr txBox="1"/>
            <p:nvPr/>
          </p:nvSpPr>
          <p:spPr>
            <a:xfrm>
              <a:off x="10336" y="2385"/>
              <a:ext cx="2335" cy="1304"/>
            </a:xfrm>
            <a:prstGeom prst="rect">
              <a:avLst/>
            </a:prstGeom>
            <a:noFill/>
          </p:spPr>
          <p:txBody>
            <a:bodyPr wrap="square" rtlCol="0">
              <a:spAutoFit/>
            </a:bodyPr>
            <a:lstStyle/>
            <a:p>
              <a:pPr>
                <a:lnSpc>
                  <a:spcPct val="130000"/>
                </a:lnSpc>
              </a:pPr>
              <a:r>
                <a:rPr lang="zh-CN" altLang="en-US" sz="1050" dirty="0">
                  <a:latin typeface="微软雅黑" panose="020B0503020204020204" pitchFamily="34" charset="-122"/>
                  <a:ea typeface="微软雅黑" panose="020B0503020204020204" pitchFamily="34" charset="-122"/>
                  <a:cs typeface="+mn-ea"/>
                  <a:sym typeface="+mn-lt"/>
                </a:rPr>
                <a:t>任总参加</a:t>
              </a:r>
              <a:endParaRPr lang="en-US" altLang="zh-CN" sz="1050" dirty="0">
                <a:latin typeface="微软雅黑" panose="020B0503020204020204" pitchFamily="34" charset="-122"/>
                <a:ea typeface="微软雅黑" panose="020B0503020204020204" pitchFamily="34" charset="-122"/>
                <a:cs typeface="+mn-ea"/>
                <a:sym typeface="+mn-lt"/>
              </a:endParaRPr>
            </a:p>
            <a:p>
              <a:pPr>
                <a:lnSpc>
                  <a:spcPct val="130000"/>
                </a:lnSpc>
              </a:pPr>
              <a:r>
                <a:rPr lang="zh-CN" altLang="en-US" sz="1050" dirty="0">
                  <a:latin typeface="微软雅黑" panose="020B0503020204020204" pitchFamily="34" charset="-122"/>
                  <a:ea typeface="微软雅黑" panose="020B0503020204020204" pitchFamily="34" charset="-122"/>
                  <a:cs typeface="+mn-ea"/>
                  <a:sym typeface="+mn-lt"/>
                </a:rPr>
                <a:t>重大事项讨论</a:t>
              </a:r>
              <a:endParaRPr lang="en-US" altLang="zh-CN" sz="1050" dirty="0">
                <a:latin typeface="微软雅黑" panose="020B0503020204020204" pitchFamily="34" charset="-122"/>
                <a:ea typeface="微软雅黑" panose="020B0503020204020204" pitchFamily="34" charset="-122"/>
                <a:cs typeface="+mn-ea"/>
                <a:sym typeface="+mn-lt"/>
              </a:endParaRPr>
            </a:p>
            <a:p>
              <a:pPr>
                <a:lnSpc>
                  <a:spcPct val="130000"/>
                </a:lnSpc>
              </a:pPr>
              <a:r>
                <a:rPr lang="zh-CN" altLang="en-US" sz="1050" dirty="0">
                  <a:latin typeface="微软雅黑" panose="020B0503020204020204" pitchFamily="34" charset="-122"/>
                  <a:ea typeface="微软雅黑" panose="020B0503020204020204" pitchFamily="34" charset="-122"/>
                  <a:cs typeface="+mn-ea"/>
                  <a:sym typeface="+mn-lt"/>
                </a:rPr>
                <a:t>高级干部任命</a:t>
              </a:r>
              <a:endParaRPr lang="en-US" altLang="zh-CN" sz="1050" dirty="0">
                <a:latin typeface="微软雅黑" panose="020B0503020204020204" pitchFamily="34" charset="-122"/>
                <a:ea typeface="微软雅黑" panose="020B0503020204020204" pitchFamily="34" charset="-122"/>
                <a:cs typeface="+mn-ea"/>
                <a:sym typeface="+mn-lt"/>
              </a:endParaRPr>
            </a:p>
            <a:p>
              <a:pPr>
                <a:lnSpc>
                  <a:spcPct val="130000"/>
                </a:lnSpc>
              </a:pPr>
              <a:endParaRPr lang="en-US" altLang="zh-CN" sz="1050" dirty="0">
                <a:latin typeface="微软雅黑" panose="020B0503020204020204" pitchFamily="34" charset="-122"/>
                <a:ea typeface="微软雅黑" panose="020B0503020204020204" pitchFamily="34" charset="-122"/>
                <a:cs typeface="+mn-ea"/>
                <a:sym typeface="+mn-lt"/>
              </a:endParaRPr>
            </a:p>
          </p:txBody>
        </p:sp>
        <p:sp>
          <p:nvSpPr>
            <p:cNvPr id="10" name="TextBox 9"/>
            <p:cNvSpPr txBox="1"/>
            <p:nvPr/>
          </p:nvSpPr>
          <p:spPr>
            <a:xfrm>
              <a:off x="2737" y="5325"/>
              <a:ext cx="2668" cy="1373"/>
            </a:xfrm>
            <a:prstGeom prst="rect">
              <a:avLst/>
            </a:prstGeom>
            <a:noFill/>
          </p:spPr>
          <p:txBody>
            <a:bodyPr wrap="square" rtlCol="0">
              <a:spAutoFit/>
            </a:bodyPr>
            <a:lstStyle/>
            <a:p>
              <a:pPr marL="287020" lvl="1" indent="-285750" algn="just" defTabSz="330200">
                <a:lnSpc>
                  <a:spcPct val="110000"/>
                </a:lnSpc>
                <a:spcBef>
                  <a:spcPts val="0"/>
                </a:spcBef>
                <a:buClr>
                  <a:srgbClr val="267FC3"/>
                </a:buClr>
                <a:buSzPct val="100000"/>
                <a:buFont typeface="Arial" panose="020B0604020202020204" pitchFamily="34" charset="0"/>
                <a:buChar char="•"/>
                <a:tabLst>
                  <a:tab pos="8521700" algn="r"/>
                </a:tabLst>
              </a:pPr>
              <a:r>
                <a:rPr lang="zh-CN" altLang="en-US" sz="1050" dirty="0">
                  <a:latin typeface="微软雅黑" panose="020B0503020204020204" pitchFamily="34" charset="-122"/>
                  <a:ea typeface="微软雅黑" panose="020B0503020204020204" pitchFamily="34" charset="-122"/>
                  <a:cs typeface="+mn-ea"/>
                  <a:sym typeface="+mn-lt"/>
                </a:rPr>
                <a:t>中高级干部任命</a:t>
              </a:r>
              <a:endParaRPr lang="en-US" altLang="zh-CN" sz="1050" dirty="0">
                <a:latin typeface="微软雅黑" panose="020B0503020204020204" pitchFamily="34" charset="-122"/>
                <a:ea typeface="微软雅黑" panose="020B0503020204020204" pitchFamily="34" charset="-122"/>
                <a:cs typeface="+mn-ea"/>
                <a:sym typeface="+mn-lt"/>
              </a:endParaRPr>
            </a:p>
            <a:p>
              <a:pPr marL="287020" lvl="1" indent="-285750" algn="just" defTabSz="330200">
                <a:lnSpc>
                  <a:spcPct val="110000"/>
                </a:lnSpc>
                <a:spcBef>
                  <a:spcPts val="0"/>
                </a:spcBef>
                <a:buClr>
                  <a:srgbClr val="267FC3"/>
                </a:buClr>
                <a:buSzPct val="100000"/>
                <a:buFont typeface="Arial" panose="020B0604020202020204" pitchFamily="34" charset="0"/>
                <a:buChar char="•"/>
                <a:tabLst>
                  <a:tab pos="8521700" algn="r"/>
                </a:tabLst>
              </a:pPr>
              <a:r>
                <a:rPr lang="zh-CN" altLang="en-US" sz="1050" dirty="0">
                  <a:latin typeface="微软雅黑" panose="020B0503020204020204" pitchFamily="34" charset="-122"/>
                  <a:ea typeface="微软雅黑" panose="020B0503020204020204" pitchFamily="34" charset="-122"/>
                  <a:cs typeface="+mn-ea"/>
                  <a:sym typeface="+mn-lt"/>
                </a:rPr>
                <a:t>重要组织架构变化</a:t>
              </a:r>
              <a:endParaRPr lang="en-US" altLang="zh-CN" sz="1050" dirty="0">
                <a:latin typeface="微软雅黑" panose="020B0503020204020204" pitchFamily="34" charset="-122"/>
                <a:ea typeface="微软雅黑" panose="020B0503020204020204" pitchFamily="34" charset="-122"/>
                <a:cs typeface="+mn-ea"/>
                <a:sym typeface="+mn-lt"/>
              </a:endParaRPr>
            </a:p>
            <a:p>
              <a:pPr marL="287020" lvl="1" indent="-285750" algn="just" defTabSz="330200">
                <a:lnSpc>
                  <a:spcPct val="110000"/>
                </a:lnSpc>
                <a:spcBef>
                  <a:spcPts val="0"/>
                </a:spcBef>
                <a:buClr>
                  <a:srgbClr val="267FC3"/>
                </a:buClr>
                <a:buSzPct val="100000"/>
                <a:buFont typeface="Arial" panose="020B0604020202020204" pitchFamily="34" charset="0"/>
                <a:buChar char="•"/>
                <a:tabLst>
                  <a:tab pos="8521700" algn="r"/>
                </a:tabLst>
              </a:pPr>
              <a:r>
                <a:rPr lang="zh-CN" altLang="en-US" sz="1050" dirty="0">
                  <a:latin typeface="微软雅黑" panose="020B0503020204020204" pitchFamily="34" charset="-122"/>
                  <a:ea typeface="微软雅黑" panose="020B0503020204020204" pitchFamily="34" charset="-122"/>
                  <a:cs typeface="+mn-ea"/>
                  <a:sym typeface="+mn-lt"/>
                </a:rPr>
                <a:t>员工招聘策略</a:t>
              </a:r>
              <a:endParaRPr lang="en-US" altLang="zh-CN" sz="1050" dirty="0">
                <a:latin typeface="微软雅黑" panose="020B0503020204020204" pitchFamily="34" charset="-122"/>
                <a:ea typeface="微软雅黑" panose="020B0503020204020204" pitchFamily="34" charset="-122"/>
                <a:cs typeface="+mn-ea"/>
                <a:sym typeface="+mn-lt"/>
              </a:endParaRPr>
            </a:p>
            <a:p>
              <a:pPr marL="287020" lvl="1" indent="-285750" algn="just" defTabSz="330200">
                <a:lnSpc>
                  <a:spcPct val="110000"/>
                </a:lnSpc>
                <a:spcBef>
                  <a:spcPts val="0"/>
                </a:spcBef>
                <a:buClr>
                  <a:srgbClr val="267FC3"/>
                </a:buClr>
                <a:buSzPct val="100000"/>
                <a:buFont typeface="Arial" panose="020B0604020202020204" pitchFamily="34" charset="0"/>
                <a:buChar char="•"/>
                <a:tabLst>
                  <a:tab pos="8521700" algn="r"/>
                </a:tabLst>
              </a:pPr>
              <a:r>
                <a:rPr lang="zh-CN" altLang="en-US" sz="1050" dirty="0">
                  <a:latin typeface="微软雅黑" panose="020B0503020204020204" pitchFamily="34" charset="-122"/>
                  <a:ea typeface="微软雅黑" panose="020B0503020204020204" pitchFamily="34" charset="-122"/>
                  <a:cs typeface="+mn-ea"/>
                  <a:sym typeface="+mn-lt"/>
                </a:rPr>
                <a:t>员工薪酬与激励策略</a:t>
              </a:r>
              <a:endParaRPr lang="en-US" altLang="zh-CN" sz="1050" dirty="0">
                <a:latin typeface="微软雅黑" panose="020B0503020204020204" pitchFamily="34" charset="-122"/>
                <a:ea typeface="微软雅黑" panose="020B0503020204020204" pitchFamily="34" charset="-122"/>
                <a:cs typeface="+mn-ea"/>
                <a:sym typeface="+mn-lt"/>
              </a:endParaRPr>
            </a:p>
            <a:p>
              <a:pPr marL="287020" lvl="1" indent="-285750" algn="just" defTabSz="330200">
                <a:lnSpc>
                  <a:spcPct val="110000"/>
                </a:lnSpc>
                <a:spcBef>
                  <a:spcPts val="0"/>
                </a:spcBef>
                <a:buClr>
                  <a:srgbClr val="267FC3"/>
                </a:buClr>
                <a:buSzPct val="100000"/>
                <a:buFont typeface="Arial" panose="020B0604020202020204" pitchFamily="34" charset="0"/>
                <a:buChar char="•"/>
                <a:tabLst>
                  <a:tab pos="8521700" algn="r"/>
                </a:tabLst>
              </a:pPr>
              <a:r>
                <a:rPr lang="zh-CN" altLang="en-US" sz="1050" dirty="0">
                  <a:latin typeface="微软雅黑" panose="020B0503020204020204" pitchFamily="34" charset="-122"/>
                  <a:ea typeface="微软雅黑" panose="020B0503020204020204" pitchFamily="34" charset="-122"/>
                  <a:cs typeface="+mn-ea"/>
                  <a:sym typeface="+mn-lt"/>
                </a:rPr>
                <a:t>重大人事处分</a:t>
              </a:r>
            </a:p>
          </p:txBody>
        </p:sp>
        <p:sp>
          <p:nvSpPr>
            <p:cNvPr id="11" name="TextBox 10"/>
            <p:cNvSpPr txBox="1"/>
            <p:nvPr/>
          </p:nvSpPr>
          <p:spPr>
            <a:xfrm>
              <a:off x="4162" y="4212"/>
              <a:ext cx="1668" cy="451"/>
            </a:xfrm>
            <a:prstGeom prst="rect">
              <a:avLst/>
            </a:prstGeom>
            <a:noFill/>
          </p:spPr>
          <p:txBody>
            <a:bodyPr wrap="square" rtlCol="0">
              <a:spAutoFit/>
            </a:bodyPr>
            <a:lstStyle/>
            <a:p>
              <a:r>
                <a:rPr lang="zh-CN" altLang="en-US" sz="1500" b="1" dirty="0">
                  <a:solidFill>
                    <a:srgbClr val="0070C0"/>
                  </a:solidFill>
                  <a:latin typeface="微软雅黑" panose="020B0503020204020204" pitchFamily="34" charset="-122"/>
                  <a:ea typeface="微软雅黑" panose="020B0503020204020204" pitchFamily="34" charset="-122"/>
                  <a:cs typeface="+mn-ea"/>
                  <a:sym typeface="+mn-lt"/>
                </a:rPr>
                <a:t>管人</a:t>
              </a:r>
            </a:p>
          </p:txBody>
        </p:sp>
        <p:sp>
          <p:nvSpPr>
            <p:cNvPr id="12" name="TextBox 11"/>
            <p:cNvSpPr txBox="1"/>
            <p:nvPr/>
          </p:nvSpPr>
          <p:spPr>
            <a:xfrm>
              <a:off x="7029" y="4217"/>
              <a:ext cx="1668" cy="451"/>
            </a:xfrm>
            <a:prstGeom prst="rect">
              <a:avLst/>
            </a:prstGeom>
            <a:noFill/>
          </p:spPr>
          <p:txBody>
            <a:bodyPr wrap="square" rtlCol="0">
              <a:spAutoFit/>
            </a:bodyPr>
            <a:lstStyle/>
            <a:p>
              <a:r>
                <a:rPr lang="zh-CN" altLang="en-US" sz="1500" b="1" dirty="0">
                  <a:solidFill>
                    <a:srgbClr val="0070C0"/>
                  </a:solidFill>
                  <a:latin typeface="微软雅黑" panose="020B0503020204020204" pitchFamily="34" charset="-122"/>
                  <a:ea typeface="微软雅黑" panose="020B0503020204020204" pitchFamily="34" charset="-122"/>
                  <a:cs typeface="+mn-ea"/>
                  <a:sym typeface="+mn-lt"/>
                </a:rPr>
                <a:t>管财</a:t>
              </a:r>
            </a:p>
          </p:txBody>
        </p:sp>
        <p:sp>
          <p:nvSpPr>
            <p:cNvPr id="13" name="TextBox 12"/>
            <p:cNvSpPr txBox="1"/>
            <p:nvPr/>
          </p:nvSpPr>
          <p:spPr>
            <a:xfrm>
              <a:off x="5714" y="5325"/>
              <a:ext cx="2557" cy="1124"/>
            </a:xfrm>
            <a:prstGeom prst="rect">
              <a:avLst/>
            </a:prstGeom>
            <a:noFill/>
          </p:spPr>
          <p:txBody>
            <a:bodyPr wrap="square" rtlCol="0">
              <a:spAutoFit/>
            </a:bodyPr>
            <a:lstStyle/>
            <a:p>
              <a:pPr marL="287020" lvl="1" indent="-285750" algn="just" defTabSz="330200">
                <a:lnSpc>
                  <a:spcPct val="110000"/>
                </a:lnSpc>
                <a:spcBef>
                  <a:spcPts val="0"/>
                </a:spcBef>
                <a:buClr>
                  <a:srgbClr val="267FC3"/>
                </a:buClr>
                <a:buSzPct val="100000"/>
                <a:buFont typeface="Arial" panose="020B0604020202020204" pitchFamily="34" charset="0"/>
                <a:buChar char="•"/>
                <a:tabLst>
                  <a:tab pos="8521700" algn="r"/>
                </a:tabLst>
              </a:pPr>
              <a:r>
                <a:rPr lang="zh-CN" altLang="en-US" sz="1050" dirty="0">
                  <a:latin typeface="微软雅黑" panose="020B0503020204020204" pitchFamily="34" charset="-122"/>
                  <a:ea typeface="微软雅黑" panose="020B0503020204020204" pitchFamily="34" charset="-122"/>
                  <a:cs typeface="+mn-ea"/>
                  <a:sym typeface="+mn-lt"/>
                </a:rPr>
                <a:t>管理年度经营绩效</a:t>
              </a:r>
              <a:endParaRPr lang="en-US" altLang="zh-CN" sz="1050" dirty="0">
                <a:latin typeface="微软雅黑" panose="020B0503020204020204" pitchFamily="34" charset="-122"/>
                <a:ea typeface="微软雅黑" panose="020B0503020204020204" pitchFamily="34" charset="-122"/>
                <a:cs typeface="+mn-ea"/>
                <a:sym typeface="+mn-lt"/>
              </a:endParaRPr>
            </a:p>
            <a:p>
              <a:pPr marL="287020" lvl="1" indent="-285750" algn="just" defTabSz="330200">
                <a:lnSpc>
                  <a:spcPct val="110000"/>
                </a:lnSpc>
                <a:spcBef>
                  <a:spcPts val="0"/>
                </a:spcBef>
                <a:buClr>
                  <a:srgbClr val="267FC3"/>
                </a:buClr>
                <a:buSzPct val="100000"/>
                <a:buFont typeface="Arial" panose="020B0604020202020204" pitchFamily="34" charset="0"/>
                <a:buChar char="•"/>
                <a:tabLst>
                  <a:tab pos="8521700" algn="r"/>
                </a:tabLst>
              </a:pPr>
              <a:r>
                <a:rPr lang="zh-CN" altLang="en-US" sz="1050" dirty="0">
                  <a:latin typeface="微软雅黑" panose="020B0503020204020204" pitchFamily="34" charset="-122"/>
                  <a:ea typeface="微软雅黑" panose="020B0503020204020204" pitchFamily="34" charset="-122"/>
                  <a:cs typeface="+mn-ea"/>
                  <a:sym typeface="+mn-lt"/>
                </a:rPr>
                <a:t>管理预算、滚动预测</a:t>
              </a:r>
              <a:endParaRPr lang="en-US" altLang="zh-CN" sz="1050" dirty="0">
                <a:latin typeface="微软雅黑" panose="020B0503020204020204" pitchFamily="34" charset="-122"/>
                <a:ea typeface="微软雅黑" panose="020B0503020204020204" pitchFamily="34" charset="-122"/>
                <a:cs typeface="+mn-ea"/>
                <a:sym typeface="+mn-lt"/>
              </a:endParaRPr>
            </a:p>
            <a:p>
              <a:pPr marL="287020" lvl="1" indent="-285750" algn="just" defTabSz="330200">
                <a:lnSpc>
                  <a:spcPct val="110000"/>
                </a:lnSpc>
                <a:spcBef>
                  <a:spcPts val="0"/>
                </a:spcBef>
                <a:buClr>
                  <a:srgbClr val="267FC3"/>
                </a:buClr>
                <a:buSzPct val="100000"/>
                <a:buFont typeface="Arial" panose="020B0604020202020204" pitchFamily="34" charset="0"/>
                <a:buChar char="•"/>
                <a:tabLst>
                  <a:tab pos="8521700" algn="r"/>
                </a:tabLst>
              </a:pPr>
              <a:r>
                <a:rPr lang="zh-CN" altLang="en-US" sz="1050" dirty="0">
                  <a:latin typeface="微软雅黑" panose="020B0503020204020204" pitchFamily="34" charset="-122"/>
                  <a:ea typeface="微软雅黑" panose="020B0503020204020204" pitchFamily="34" charset="-122"/>
                  <a:cs typeface="+mn-ea"/>
                  <a:sym typeface="+mn-lt"/>
                </a:rPr>
                <a:t>重大财务政策</a:t>
              </a:r>
              <a:endParaRPr lang="en-US" altLang="zh-CN" sz="1050" dirty="0">
                <a:latin typeface="微软雅黑" panose="020B0503020204020204" pitchFamily="34" charset="-122"/>
                <a:ea typeface="微软雅黑" panose="020B0503020204020204" pitchFamily="34" charset="-122"/>
                <a:cs typeface="+mn-ea"/>
                <a:sym typeface="+mn-lt"/>
              </a:endParaRPr>
            </a:p>
            <a:p>
              <a:pPr marL="287020" lvl="1" indent="-285750" algn="just" defTabSz="330200">
                <a:lnSpc>
                  <a:spcPct val="110000"/>
                </a:lnSpc>
                <a:spcBef>
                  <a:spcPts val="0"/>
                </a:spcBef>
                <a:buClr>
                  <a:srgbClr val="267FC3"/>
                </a:buClr>
                <a:buSzPct val="100000"/>
                <a:buFont typeface="Arial" panose="020B0604020202020204" pitchFamily="34" charset="0"/>
                <a:buChar char="•"/>
                <a:tabLst>
                  <a:tab pos="8521700" algn="r"/>
                </a:tabLst>
              </a:pPr>
              <a:r>
                <a:rPr lang="zh-CN" altLang="en-US" sz="1050" dirty="0">
                  <a:latin typeface="微软雅黑" panose="020B0503020204020204" pitchFamily="34" charset="-122"/>
                  <a:ea typeface="微软雅黑" panose="020B0503020204020204" pitchFamily="34" charset="-122"/>
                  <a:cs typeface="+mn-ea"/>
                  <a:sym typeface="+mn-lt"/>
                </a:rPr>
                <a:t>重大会计政策</a:t>
              </a:r>
            </a:p>
          </p:txBody>
        </p:sp>
        <p:sp>
          <p:nvSpPr>
            <p:cNvPr id="14" name="TextBox 13"/>
            <p:cNvSpPr txBox="1"/>
            <p:nvPr/>
          </p:nvSpPr>
          <p:spPr>
            <a:xfrm>
              <a:off x="8521" y="5325"/>
              <a:ext cx="2942" cy="1872"/>
            </a:xfrm>
            <a:prstGeom prst="rect">
              <a:avLst/>
            </a:prstGeom>
            <a:noFill/>
          </p:spPr>
          <p:txBody>
            <a:bodyPr wrap="square" rtlCol="0">
              <a:spAutoFit/>
            </a:bodyPr>
            <a:lstStyle/>
            <a:p>
              <a:pPr marL="287020" lvl="1" indent="-285750" algn="just" defTabSz="330200">
                <a:lnSpc>
                  <a:spcPct val="110000"/>
                </a:lnSpc>
                <a:spcBef>
                  <a:spcPts val="0"/>
                </a:spcBef>
                <a:buClr>
                  <a:srgbClr val="267FC3"/>
                </a:buClr>
                <a:buSzPct val="100000"/>
                <a:buFont typeface="Arial" panose="020B0604020202020204" pitchFamily="34" charset="0"/>
                <a:buChar char="•"/>
                <a:tabLst>
                  <a:tab pos="8521700" algn="r"/>
                </a:tabLst>
              </a:pPr>
              <a:r>
                <a:rPr lang="zh-CN" altLang="en-US" sz="105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rPr>
                <a:t>管理公司战略</a:t>
              </a:r>
              <a:r>
                <a:rPr lang="en-US" altLang="zh-CN" sz="105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05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rPr>
                <a:t>创新体系</a:t>
              </a:r>
              <a:endParaRPr lang="en-US" altLang="zh-CN" sz="105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indent="-285750" algn="just" defTabSz="330200">
                <a:lnSpc>
                  <a:spcPct val="110000"/>
                </a:lnSpc>
                <a:spcBef>
                  <a:spcPts val="0"/>
                </a:spcBef>
                <a:buClr>
                  <a:srgbClr val="267FC3"/>
                </a:buClr>
                <a:buSzPct val="100000"/>
                <a:buFont typeface="Arial" panose="020B0604020202020204" pitchFamily="34" charset="0"/>
                <a:buChar char="•"/>
                <a:tabLst>
                  <a:tab pos="8521700" algn="r"/>
                </a:tabLst>
              </a:pPr>
              <a:r>
                <a:rPr lang="zh-CN" altLang="en-US" sz="1050" dirty="0">
                  <a:latin typeface="微软雅黑" panose="020B0503020204020204" pitchFamily="34" charset="-122"/>
                  <a:ea typeface="微软雅黑" panose="020B0503020204020204" pitchFamily="34" charset="-122"/>
                  <a:cs typeface="微软雅黑" panose="020B0503020204020204" pitchFamily="34" charset="-122"/>
                  <a:sym typeface="+mn-lt"/>
                </a:rPr>
                <a:t>管理市场和产品的重大决策（</a:t>
              </a:r>
              <a:r>
                <a:rPr lang="en-US" altLang="zh-CN" sz="1050" dirty="0">
                  <a:latin typeface="微软雅黑" panose="020B0503020204020204" pitchFamily="34" charset="-122"/>
                  <a:ea typeface="微软雅黑" panose="020B0503020204020204" pitchFamily="34" charset="-122"/>
                  <a:cs typeface="微软雅黑" panose="020B0503020204020204" pitchFamily="34" charset="-122"/>
                  <a:sym typeface="+mn-lt"/>
                </a:rPr>
                <a:t>IRB</a:t>
              </a:r>
              <a:r>
                <a:rPr lang="zh-CN" altLang="en-US" sz="1050" dirty="0">
                  <a:latin typeface="微软雅黑" panose="020B0503020204020204" pitchFamily="34" charset="-122"/>
                  <a:ea typeface="微软雅黑" panose="020B0503020204020204" pitchFamily="34" charset="-122"/>
                  <a:cs typeface="微软雅黑" panose="020B0503020204020204" pitchFamily="34" charset="-122"/>
                  <a:sym typeface="+mn-lt"/>
                </a:rPr>
                <a:t>）</a:t>
              </a:r>
              <a:endParaRPr lang="en-US" altLang="zh-CN" sz="105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indent="-285750" algn="just" defTabSz="330200">
                <a:lnSpc>
                  <a:spcPct val="110000"/>
                </a:lnSpc>
                <a:spcBef>
                  <a:spcPts val="0"/>
                </a:spcBef>
                <a:buClr>
                  <a:srgbClr val="267FC3"/>
                </a:buClr>
                <a:buSzPct val="100000"/>
                <a:buFont typeface="Arial" panose="020B0604020202020204" pitchFamily="34" charset="0"/>
                <a:buChar char="•"/>
                <a:tabLst>
                  <a:tab pos="8521700" algn="r"/>
                </a:tabLst>
              </a:pPr>
              <a:r>
                <a:rPr lang="zh-CN" altLang="en-US" sz="1050" dirty="0">
                  <a:latin typeface="微软雅黑" panose="020B0503020204020204" pitchFamily="34" charset="-122"/>
                  <a:ea typeface="微软雅黑" panose="020B0503020204020204" pitchFamily="34" charset="-122"/>
                  <a:cs typeface="微软雅黑" panose="020B0503020204020204" pitchFamily="34" charset="-122"/>
                  <a:sym typeface="+mn-lt"/>
                </a:rPr>
                <a:t>跨</a:t>
              </a:r>
              <a:r>
                <a:rPr lang="en-US" altLang="zh-CN" sz="1050" dirty="0">
                  <a:latin typeface="微软雅黑" panose="020B0503020204020204" pitchFamily="34" charset="-122"/>
                  <a:ea typeface="微软雅黑" panose="020B0503020204020204" pitchFamily="34" charset="-122"/>
                  <a:cs typeface="微软雅黑" panose="020B0503020204020204" pitchFamily="34" charset="-122"/>
                  <a:sym typeface="+mn-lt"/>
                </a:rPr>
                <a:t>BG</a:t>
              </a:r>
              <a:r>
                <a:rPr lang="zh-CN" altLang="en-US" sz="1050" dirty="0">
                  <a:latin typeface="微软雅黑" panose="020B0503020204020204" pitchFamily="34" charset="-122"/>
                  <a:ea typeface="微软雅黑" panose="020B0503020204020204" pitchFamily="34" charset="-122"/>
                  <a:cs typeface="微软雅黑" panose="020B0503020204020204" pitchFamily="34" charset="-122"/>
                  <a:sym typeface="+mn-lt"/>
                </a:rPr>
                <a:t>产品线协调</a:t>
              </a:r>
              <a:endParaRPr lang="en-US" altLang="zh-CN" sz="105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indent="-285750" algn="just" defTabSz="330200">
                <a:lnSpc>
                  <a:spcPct val="110000"/>
                </a:lnSpc>
                <a:spcBef>
                  <a:spcPts val="0"/>
                </a:spcBef>
                <a:buClr>
                  <a:srgbClr val="267FC3"/>
                </a:buClr>
                <a:buSzPct val="100000"/>
                <a:buFont typeface="Arial" panose="020B0604020202020204" pitchFamily="34" charset="0"/>
                <a:buChar char="•"/>
                <a:tabLst>
                  <a:tab pos="8521700" algn="r"/>
                </a:tabLst>
              </a:pPr>
              <a:r>
                <a:rPr lang="zh-CN" altLang="en-US" sz="1050" dirty="0">
                  <a:latin typeface="微软雅黑" panose="020B0503020204020204" pitchFamily="34" charset="-122"/>
                  <a:ea typeface="微软雅黑" panose="020B0503020204020204" pitchFamily="34" charset="-122"/>
                  <a:cs typeface="微软雅黑" panose="020B0503020204020204" pitchFamily="34" charset="-122"/>
                  <a:sym typeface="+mn-lt"/>
                </a:rPr>
                <a:t>跨部门重大业务协调</a:t>
              </a:r>
              <a:endParaRPr lang="en-US" altLang="zh-CN" sz="105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indent="-285750" algn="just" defTabSz="330200">
                <a:lnSpc>
                  <a:spcPct val="110000"/>
                </a:lnSpc>
                <a:spcBef>
                  <a:spcPts val="0"/>
                </a:spcBef>
                <a:buClr>
                  <a:srgbClr val="267FC3"/>
                </a:buClr>
                <a:buSzPct val="100000"/>
                <a:buFont typeface="Arial" panose="020B0604020202020204" pitchFamily="34" charset="0"/>
                <a:buChar char="•"/>
                <a:tabLst>
                  <a:tab pos="8521700" algn="r"/>
                </a:tabLst>
              </a:pPr>
              <a:r>
                <a:rPr lang="zh-CN" altLang="en-US" sz="1050" dirty="0">
                  <a:latin typeface="微软雅黑" panose="020B0503020204020204" pitchFamily="34" charset="-122"/>
                  <a:ea typeface="微软雅黑" panose="020B0503020204020204" pitchFamily="34" charset="-122"/>
                  <a:cs typeface="微软雅黑" panose="020B0503020204020204" pitchFamily="34" charset="-122"/>
                  <a:sym typeface="+mn-lt"/>
                </a:rPr>
                <a:t>战略结算机制</a:t>
              </a:r>
              <a:endParaRPr lang="en-US" altLang="zh-CN" sz="105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indent="-285750" algn="just" defTabSz="330200">
                <a:lnSpc>
                  <a:spcPct val="110000"/>
                </a:lnSpc>
                <a:spcBef>
                  <a:spcPts val="0"/>
                </a:spcBef>
                <a:buClr>
                  <a:srgbClr val="267FC3"/>
                </a:buClr>
                <a:buSzPct val="100000"/>
                <a:buFont typeface="Arial" panose="020B0604020202020204" pitchFamily="34" charset="0"/>
                <a:buChar char="•"/>
                <a:tabLst>
                  <a:tab pos="8521700" algn="r"/>
                </a:tabLst>
              </a:pPr>
              <a:r>
                <a:rPr lang="zh-CN" altLang="en-US" sz="105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rPr>
                <a:t>蓝军机制，风险防范</a:t>
              </a:r>
            </a:p>
          </p:txBody>
        </p:sp>
        <p:sp>
          <p:nvSpPr>
            <p:cNvPr id="15" name="TextBox 14"/>
            <p:cNvSpPr txBox="1"/>
            <p:nvPr/>
          </p:nvSpPr>
          <p:spPr>
            <a:xfrm>
              <a:off x="11923" y="5325"/>
              <a:ext cx="3113" cy="626"/>
            </a:xfrm>
            <a:prstGeom prst="rect">
              <a:avLst/>
            </a:prstGeom>
            <a:noFill/>
          </p:spPr>
          <p:txBody>
            <a:bodyPr wrap="square" rtlCol="0">
              <a:spAutoFit/>
            </a:bodyPr>
            <a:lstStyle/>
            <a:p>
              <a:pPr marL="287020" lvl="1" indent="-285750" algn="just" defTabSz="330200">
                <a:lnSpc>
                  <a:spcPct val="110000"/>
                </a:lnSpc>
                <a:spcBef>
                  <a:spcPts val="0"/>
                </a:spcBef>
                <a:buClr>
                  <a:srgbClr val="267FC3"/>
                </a:buClr>
                <a:buSzPct val="100000"/>
                <a:buFont typeface="Arial" panose="020B0604020202020204" pitchFamily="34" charset="0"/>
                <a:buChar char="•"/>
                <a:tabLst>
                  <a:tab pos="8521700" algn="r"/>
                </a:tabLst>
              </a:pPr>
              <a:r>
                <a:rPr lang="zh-CN" altLang="en-US" sz="1050" dirty="0">
                  <a:latin typeface="微软雅黑" panose="020B0503020204020204" pitchFamily="34" charset="-122"/>
                  <a:ea typeface="微软雅黑" panose="020B0503020204020204" pitchFamily="34" charset="-122"/>
                  <a:cs typeface="微软雅黑" panose="020B0503020204020204" pitchFamily="34" charset="-122"/>
                  <a:sym typeface="+mn-lt"/>
                </a:rPr>
                <a:t>协调审计、内控和流程</a:t>
              </a:r>
              <a:r>
                <a:rPr lang="en-US" altLang="zh-CN" sz="1050" dirty="0">
                  <a:latin typeface="微软雅黑" panose="020B0503020204020204" pitchFamily="34" charset="-122"/>
                  <a:ea typeface="微软雅黑" panose="020B0503020204020204" pitchFamily="34" charset="-122"/>
                  <a:cs typeface="微软雅黑" panose="020B0503020204020204" pitchFamily="34" charset="-122"/>
                  <a:sym typeface="+mn-lt"/>
                </a:rPr>
                <a:t>IT</a:t>
              </a:r>
            </a:p>
            <a:p>
              <a:pPr marL="287020" lvl="1" indent="-285750" algn="just" defTabSz="330200">
                <a:lnSpc>
                  <a:spcPct val="110000"/>
                </a:lnSpc>
                <a:spcBef>
                  <a:spcPts val="0"/>
                </a:spcBef>
                <a:buClr>
                  <a:srgbClr val="267FC3"/>
                </a:buClr>
                <a:buSzPct val="100000"/>
                <a:buFont typeface="Arial" panose="020B0604020202020204" pitchFamily="34" charset="0"/>
                <a:buChar char="•"/>
                <a:tabLst>
                  <a:tab pos="8521700" algn="r"/>
                </a:tabLst>
              </a:pPr>
              <a:r>
                <a:rPr lang="zh-CN" altLang="en-US" sz="1050" dirty="0">
                  <a:latin typeface="微软雅黑" panose="020B0503020204020204" pitchFamily="34" charset="-122"/>
                  <a:ea typeface="微软雅黑" panose="020B0503020204020204" pitchFamily="34" charset="-122"/>
                  <a:cs typeface="微软雅黑" panose="020B0503020204020204" pitchFamily="34" charset="-122"/>
                  <a:sym typeface="+mn-lt"/>
                </a:rPr>
                <a:t>督促业务部门改善内控水平</a:t>
              </a:r>
            </a:p>
          </p:txBody>
        </p:sp>
        <p:sp>
          <p:nvSpPr>
            <p:cNvPr id="16" name="TextBox 15"/>
            <p:cNvSpPr txBox="1"/>
            <p:nvPr/>
          </p:nvSpPr>
          <p:spPr>
            <a:xfrm>
              <a:off x="10418" y="4212"/>
              <a:ext cx="1668" cy="451"/>
            </a:xfrm>
            <a:prstGeom prst="rect">
              <a:avLst/>
            </a:prstGeom>
            <a:noFill/>
          </p:spPr>
          <p:txBody>
            <a:bodyPr wrap="square" rtlCol="0">
              <a:spAutoFit/>
            </a:bodyPr>
            <a:lstStyle/>
            <a:p>
              <a:r>
                <a:rPr lang="zh-CN" altLang="en-US" sz="1500" b="1" dirty="0">
                  <a:solidFill>
                    <a:srgbClr val="0070C0"/>
                  </a:solidFill>
                  <a:latin typeface="微软雅黑" panose="020B0503020204020204" pitchFamily="34" charset="-122"/>
                  <a:ea typeface="微软雅黑" panose="020B0503020204020204" pitchFamily="34" charset="-122"/>
                  <a:cs typeface="+mn-ea"/>
                  <a:sym typeface="+mn-lt"/>
                </a:rPr>
                <a:t>管事</a:t>
              </a:r>
            </a:p>
          </p:txBody>
        </p:sp>
        <p:sp>
          <p:nvSpPr>
            <p:cNvPr id="17" name="TextBox 16"/>
            <p:cNvSpPr txBox="1"/>
            <p:nvPr/>
          </p:nvSpPr>
          <p:spPr>
            <a:xfrm>
              <a:off x="13529" y="4213"/>
              <a:ext cx="1008" cy="451"/>
            </a:xfrm>
            <a:prstGeom prst="rect">
              <a:avLst/>
            </a:prstGeom>
            <a:noFill/>
          </p:spPr>
          <p:txBody>
            <a:bodyPr wrap="square" rtlCol="0">
              <a:spAutoFit/>
            </a:bodyPr>
            <a:lstStyle/>
            <a:p>
              <a:r>
                <a:rPr lang="zh-CN" altLang="en-US" sz="1500" b="1" dirty="0">
                  <a:solidFill>
                    <a:srgbClr val="0070C0"/>
                  </a:solidFill>
                  <a:latin typeface="微软雅黑" panose="020B0503020204020204" pitchFamily="34" charset="-122"/>
                  <a:ea typeface="微软雅黑" panose="020B0503020204020204" pitchFamily="34" charset="-122"/>
                  <a:cs typeface="+mn-ea"/>
                  <a:sym typeface="+mn-lt"/>
                </a:rPr>
                <a:t>监控</a:t>
              </a:r>
            </a:p>
          </p:txBody>
        </p:sp>
        <p:cxnSp>
          <p:nvCxnSpPr>
            <p:cNvPr id="3" name="直接连接符 2"/>
            <p:cNvCxnSpPr/>
            <p:nvPr/>
          </p:nvCxnSpPr>
          <p:spPr>
            <a:xfrm>
              <a:off x="8418" y="3101"/>
              <a:ext cx="0" cy="88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4082" y="3981"/>
              <a:ext cx="0" cy="77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4051" y="3989"/>
              <a:ext cx="9329"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13364" y="3981"/>
              <a:ext cx="0" cy="77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0196" y="3981"/>
              <a:ext cx="0" cy="77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7028" y="3981"/>
              <a:ext cx="0" cy="77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 name="标题 1"/>
          <p:cNvSpPr txBox="1"/>
          <p:nvPr/>
        </p:nvSpPr>
        <p:spPr>
          <a:xfrm>
            <a:off x="678532" y="378070"/>
            <a:ext cx="8466396" cy="624204"/>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en-US" altLang="zh-CN" sz="2000" dirty="0">
                <a:solidFill>
                  <a:srgbClr val="002060"/>
                </a:solidFill>
                <a:latin typeface="微软雅黑" panose="020B0503020204020204" pitchFamily="34" charset="-122"/>
                <a:ea typeface="微软雅黑" panose="020B0503020204020204" pitchFamily="34" charset="-122"/>
                <a:cs typeface="+mn-ea"/>
                <a:sym typeface="+mn-lt"/>
              </a:rPr>
              <a:t>【</a:t>
            </a:r>
            <a:r>
              <a:rPr lang="zh-CN" altLang="en-US" sz="2000" dirty="0">
                <a:solidFill>
                  <a:srgbClr val="002060"/>
                </a:solidFill>
                <a:latin typeface="微软雅黑" panose="020B0503020204020204" pitchFamily="34" charset="-122"/>
                <a:ea typeface="微软雅黑" panose="020B0503020204020204" pitchFamily="34" charset="-122"/>
                <a:cs typeface="+mn-ea"/>
                <a:sym typeface="+mn-lt"/>
              </a:rPr>
              <a:t>总参</a:t>
            </a:r>
            <a:r>
              <a:rPr lang="en-US" altLang="zh-CN" sz="2000" dirty="0">
                <a:solidFill>
                  <a:srgbClr val="002060"/>
                </a:solidFill>
                <a:latin typeface="微软雅黑" panose="020B0503020204020204" pitchFamily="34" charset="-122"/>
                <a:ea typeface="微软雅黑" panose="020B0503020204020204" pitchFamily="34" charset="-122"/>
                <a:cs typeface="+mn-ea"/>
                <a:sym typeface="+mn-lt"/>
              </a:rPr>
              <a:t>】</a:t>
            </a:r>
            <a:r>
              <a:rPr lang="zh-CN" altLang="en-US" sz="2000" dirty="0">
                <a:solidFill>
                  <a:srgbClr val="002060"/>
                </a:solidFill>
                <a:latin typeface="微软雅黑" panose="020B0503020204020204" pitchFamily="34" charset="-122"/>
                <a:ea typeface="微软雅黑" panose="020B0503020204020204" pitchFamily="34" charset="-122"/>
                <a:cs typeface="+mn-ea"/>
                <a:sym typeface="+mn-lt"/>
              </a:rPr>
              <a:t>战略部</a:t>
            </a:r>
            <a:r>
              <a:rPr lang="en-US" altLang="zh-CN" sz="2000" dirty="0">
                <a:solidFill>
                  <a:srgbClr val="002060"/>
                </a:solidFill>
                <a:latin typeface="微软雅黑" panose="020B0503020204020204" pitchFamily="34" charset="-122"/>
                <a:ea typeface="微软雅黑" panose="020B0503020204020204" pitchFamily="34" charset="-122"/>
                <a:cs typeface="+mn-ea"/>
                <a:sym typeface="+mn-lt"/>
              </a:rPr>
              <a:t>+</a:t>
            </a:r>
            <a:r>
              <a:rPr lang="zh-CN" altLang="en-US" sz="2000" dirty="0">
                <a:solidFill>
                  <a:srgbClr val="002060"/>
                </a:solidFill>
                <a:latin typeface="微软雅黑" panose="020B0503020204020204" pitchFamily="34" charset="-122"/>
                <a:ea typeface="微软雅黑" panose="020B0503020204020204" pitchFamily="34" charset="-122"/>
                <a:cs typeface="+mn-ea"/>
                <a:sym typeface="+mn-lt"/>
              </a:rPr>
              <a:t>蓝军部</a:t>
            </a:r>
            <a:r>
              <a:rPr lang="en-US" altLang="zh-CN" sz="2000" dirty="0">
                <a:solidFill>
                  <a:srgbClr val="002060"/>
                </a:solidFill>
                <a:latin typeface="微软雅黑" panose="020B0503020204020204" pitchFamily="34" charset="-122"/>
                <a:ea typeface="微软雅黑" panose="020B0503020204020204" pitchFamily="34" charset="-122"/>
                <a:cs typeface="+mn-ea"/>
                <a:sym typeface="+mn-lt"/>
              </a:rPr>
              <a:t>+</a:t>
            </a:r>
            <a:r>
              <a:rPr lang="zh-CN" altLang="en-US" sz="2000" dirty="0">
                <a:solidFill>
                  <a:srgbClr val="002060"/>
                </a:solidFill>
                <a:latin typeface="微软雅黑" panose="020B0503020204020204" pitchFamily="34" charset="-122"/>
                <a:ea typeface="微软雅黑" panose="020B0503020204020204" pitchFamily="34" charset="-122"/>
                <a:cs typeface="+mn-ea"/>
                <a:sym typeface="+mn-lt"/>
              </a:rPr>
              <a:t>研究院</a:t>
            </a:r>
            <a:r>
              <a:rPr lang="en-US" altLang="zh-CN" sz="2000" dirty="0">
                <a:solidFill>
                  <a:srgbClr val="002060"/>
                </a:solidFill>
                <a:latin typeface="微软雅黑" panose="020B0503020204020204" pitchFamily="34" charset="-122"/>
                <a:ea typeface="微软雅黑" panose="020B0503020204020204" pitchFamily="34" charset="-122"/>
                <a:cs typeface="+mn-ea"/>
                <a:sym typeface="+mn-lt"/>
              </a:rPr>
              <a:t>+</a:t>
            </a:r>
            <a:r>
              <a:rPr lang="zh-CN" altLang="en-US" sz="2000" dirty="0">
                <a:solidFill>
                  <a:srgbClr val="002060"/>
                </a:solidFill>
                <a:latin typeface="微软雅黑" panose="020B0503020204020204" pitchFamily="34" charset="-122"/>
                <a:ea typeface="微软雅黑" panose="020B0503020204020204" pitchFamily="34" charset="-122"/>
                <a:cs typeface="+mn-ea"/>
                <a:sym typeface="+mn-lt"/>
              </a:rPr>
              <a:t>商业模式部</a:t>
            </a:r>
            <a:r>
              <a:rPr lang="en-US" altLang="zh-CN" sz="2000" dirty="0">
                <a:solidFill>
                  <a:srgbClr val="002060"/>
                </a:solidFill>
                <a:latin typeface="微软雅黑" panose="020B0503020204020204" pitchFamily="34" charset="-122"/>
                <a:ea typeface="微软雅黑" panose="020B0503020204020204" pitchFamily="34" charset="-122"/>
                <a:cs typeface="+mn-ea"/>
                <a:sym typeface="+mn-lt"/>
              </a:rPr>
              <a:t>+</a:t>
            </a:r>
            <a:r>
              <a:rPr lang="zh-CN" altLang="en-US" sz="2000" dirty="0">
                <a:solidFill>
                  <a:srgbClr val="002060"/>
                </a:solidFill>
                <a:latin typeface="微软雅黑" panose="020B0503020204020204" pitchFamily="34" charset="-122"/>
                <a:ea typeface="微软雅黑" panose="020B0503020204020204" pitchFamily="34" charset="-122"/>
                <a:cs typeface="+mn-ea"/>
                <a:sym typeface="+mn-lt"/>
              </a:rPr>
              <a:t>智库</a:t>
            </a:r>
            <a:r>
              <a:rPr lang="en-US" altLang="zh-CN" sz="2000" dirty="0">
                <a:solidFill>
                  <a:srgbClr val="002060"/>
                </a:solidFill>
                <a:latin typeface="微软雅黑" panose="020B0503020204020204" pitchFamily="34" charset="-122"/>
                <a:ea typeface="微软雅黑" panose="020B0503020204020204" pitchFamily="34" charset="-122"/>
                <a:cs typeface="+mn-ea"/>
                <a:sym typeface="+mn-lt"/>
              </a:rPr>
              <a:t>+…</a:t>
            </a:r>
          </a:p>
          <a:p>
            <a:pPr algn="l" eaLnBrk="1" hangingPunct="1"/>
            <a:r>
              <a:rPr lang="zh-CN" altLang="en-US" sz="2000" dirty="0">
                <a:solidFill>
                  <a:srgbClr val="002060"/>
                </a:solidFill>
                <a:latin typeface="微软雅黑" panose="020B0503020204020204" pitchFamily="34" charset="-122"/>
                <a:ea typeface="微软雅黑" panose="020B0503020204020204" pitchFamily="34" charset="-122"/>
                <a:cs typeface="+mn-ea"/>
                <a:sym typeface="+mn-lt"/>
              </a:rPr>
              <a:t>董事长</a:t>
            </a:r>
            <a:r>
              <a:rPr lang="en-US" altLang="zh-CN" sz="2000" dirty="0">
                <a:solidFill>
                  <a:srgbClr val="002060"/>
                </a:solidFill>
                <a:latin typeface="微软雅黑" panose="020B0503020204020204" pitchFamily="34" charset="-122"/>
                <a:ea typeface="微软雅黑" panose="020B0503020204020204" pitchFamily="34" charset="-122"/>
                <a:cs typeface="+mn-ea"/>
                <a:sym typeface="+mn-lt"/>
              </a:rPr>
              <a:t>-CEO-COO/CTO/CDO/CFO/CHO/CIO/CKO +…</a:t>
            </a:r>
            <a:endParaRPr lang="zh-CN" altLang="en-US" sz="2000" dirty="0">
              <a:solidFill>
                <a:srgbClr val="002060"/>
              </a:solidFill>
              <a:latin typeface="微软雅黑" panose="020B0503020204020204" pitchFamily="34" charset="-122"/>
              <a:ea typeface="微软雅黑" panose="020B0503020204020204" pitchFamily="34" charset="-122"/>
              <a:cs typeface="+mn-ea"/>
              <a:sym typeface="+mn-lt"/>
            </a:endParaRPr>
          </a:p>
        </p:txBody>
      </p:sp>
      <p:sp>
        <p:nvSpPr>
          <p:cNvPr id="24" name="Rectangle 3"/>
          <p:cNvSpPr txBox="1">
            <a:spLocks noChangeArrowheads="1"/>
          </p:cNvSpPr>
          <p:nvPr/>
        </p:nvSpPr>
        <p:spPr bwMode="auto">
          <a:xfrm>
            <a:off x="1495425" y="6310261"/>
            <a:ext cx="8991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1800" b="1" dirty="0">
                <a:solidFill>
                  <a:schemeClr val="bg1"/>
                </a:solidFill>
                <a:effectLst/>
                <a:latin typeface="微软雅黑" panose="020B0503020204020204" pitchFamily="34" charset="-122"/>
                <a:ea typeface="微软雅黑" panose="020B0503020204020204" pitchFamily="34" charset="-122"/>
              </a:rPr>
              <a:t>中小公司不一定有那么多组织和角色，但这些事情都是存在的，都应该有人做</a:t>
            </a:r>
            <a:endParaRPr lang="en-US" altLang="zh-CN" sz="1800" b="1" dirty="0">
              <a:solidFill>
                <a:schemeClr val="bg1"/>
              </a:solidFill>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3" cstate="print"/>
          <a:stretch>
            <a:fillRect/>
          </a:stretch>
        </p:blipFill>
        <p:spPr>
          <a:xfrm>
            <a:off x="-7620" y="6260465"/>
            <a:ext cx="12206605" cy="522605"/>
          </a:xfrm>
          <a:prstGeom prst="rect">
            <a:avLst/>
          </a:prstGeom>
        </p:spPr>
      </p:pic>
      <p:grpSp>
        <p:nvGrpSpPr>
          <p:cNvPr id="3" name="组合 2"/>
          <p:cNvGrpSpPr/>
          <p:nvPr/>
        </p:nvGrpSpPr>
        <p:grpSpPr>
          <a:xfrm>
            <a:off x="1636153" y="1071245"/>
            <a:ext cx="8598142" cy="4776541"/>
            <a:chOff x="2121" y="2647"/>
            <a:chExt cx="10925" cy="6155"/>
          </a:xfrm>
        </p:grpSpPr>
        <p:sp>
          <p:nvSpPr>
            <p:cNvPr id="10243" name="Rectangle 2"/>
            <p:cNvSpPr>
              <a:spLocks noChangeAspect="1" noChangeArrowheads="1"/>
            </p:cNvSpPr>
            <p:nvPr/>
          </p:nvSpPr>
          <p:spPr bwMode="auto">
            <a:xfrm>
              <a:off x="3820" y="3287"/>
              <a:ext cx="7607" cy="4225"/>
            </a:xfrm>
            <a:prstGeom prst="rect">
              <a:avLst/>
            </a:prstGeom>
            <a:solidFill>
              <a:schemeClr val="bg1">
                <a:lumMod val="95000"/>
              </a:schemeClr>
            </a:solidFill>
            <a:ln w="12700">
              <a:noFill/>
              <a:miter lim="800000"/>
            </a:ln>
          </p:spPr>
          <p:txBody>
            <a:bodyPr wrap="none" lIns="66636" tIns="33317" rIns="66636" bIns="33317" anchor="ctr"/>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buClrTx/>
                <a:buSzTx/>
                <a:buFontTx/>
                <a:buNone/>
              </a:pPr>
              <a:endParaRPr lang="en-GB" altLang="zh-CN" sz="1200">
                <a:latin typeface="微软雅黑" panose="020B0503020204020204" pitchFamily="34" charset="-122"/>
                <a:ea typeface="微软雅黑" panose="020B0503020204020204" pitchFamily="34" charset="-122"/>
                <a:cs typeface="+mn-ea"/>
                <a:sym typeface="+mn-lt"/>
              </a:endParaRPr>
            </a:p>
          </p:txBody>
        </p:sp>
        <p:sp>
          <p:nvSpPr>
            <p:cNvPr id="10244" name="Oval 3"/>
            <p:cNvSpPr>
              <a:spLocks noChangeArrowheads="1"/>
            </p:cNvSpPr>
            <p:nvPr/>
          </p:nvSpPr>
          <p:spPr bwMode="auto">
            <a:xfrm>
              <a:off x="4527" y="5300"/>
              <a:ext cx="2227" cy="2206"/>
            </a:xfrm>
            <a:prstGeom prst="ellipse">
              <a:avLst/>
            </a:prstGeom>
            <a:solidFill>
              <a:srgbClr val="0092D6">
                <a:alpha val="50195"/>
              </a:srgbClr>
            </a:solidFill>
            <a:ln w="19050">
              <a:solidFill>
                <a:schemeClr val="bg2"/>
              </a:solidFill>
              <a:prstDash val="dash"/>
              <a:round/>
            </a:ln>
          </p:spPr>
          <p:txBody>
            <a:bodyPr wrap="none" lIns="0" tIns="0" rIns="0" bIns="0" anchor="ctr"/>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buClrTx/>
                <a:buSzTx/>
                <a:buFontTx/>
                <a:buNone/>
              </a:pPr>
              <a:endParaRPr lang="en-GB" altLang="zh-CN" sz="1200">
                <a:latin typeface="微软雅黑" panose="020B0503020204020204" pitchFamily="34" charset="-122"/>
                <a:ea typeface="微软雅黑" panose="020B0503020204020204" pitchFamily="34" charset="-122"/>
                <a:cs typeface="+mn-ea"/>
                <a:sym typeface="+mn-lt"/>
              </a:endParaRPr>
            </a:p>
          </p:txBody>
        </p:sp>
        <p:sp>
          <p:nvSpPr>
            <p:cNvPr id="10245" name="Text Box 5"/>
            <p:cNvSpPr txBox="1">
              <a:spLocks noChangeAspect="1" noChangeArrowheads="1"/>
            </p:cNvSpPr>
            <p:nvPr/>
          </p:nvSpPr>
          <p:spPr bwMode="auto">
            <a:xfrm rot="16200000">
              <a:off x="1091" y="4611"/>
              <a:ext cx="2526" cy="465"/>
            </a:xfrm>
            <a:prstGeom prst="rect">
              <a:avLst/>
            </a:prstGeom>
            <a:solidFill>
              <a:srgbClr val="0092D6"/>
            </a:solidFill>
            <a:ln>
              <a:noFill/>
            </a:ln>
          </p:spPr>
          <p:txBody>
            <a:bodyPr vert="eaVert" wrap="square" lIns="0" tIns="33317" rIns="0" bIns="33317">
              <a:spAutoFit/>
            </a:bodyPr>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gn="ctr">
                <a:lnSpc>
                  <a:spcPct val="90000"/>
                </a:lnSpc>
                <a:spcBef>
                  <a:spcPct val="50000"/>
                </a:spcBef>
                <a:buClrTx/>
                <a:buSzTx/>
                <a:buFontTx/>
                <a:buNone/>
              </a:pPr>
              <a:r>
                <a:rPr lang="zh-CN" altLang="en-US" sz="1400" b="1" spc="1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lt"/>
                </a:rPr>
                <a:t> </a:t>
              </a:r>
              <a:endParaRPr lang="en-US" altLang="zh-CN" sz="1400" b="1" spc="1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gn="ctr">
                <a:lnSpc>
                  <a:spcPct val="90000"/>
                </a:lnSpc>
                <a:spcBef>
                  <a:spcPct val="50000"/>
                </a:spcBef>
                <a:buClrTx/>
                <a:buSzTx/>
                <a:buFontTx/>
                <a:buNone/>
              </a:pPr>
              <a:r>
                <a:rPr lang="zh-CN" altLang="en-US" sz="1400" b="1" spc="1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lt"/>
                </a:rPr>
                <a:t>知识领导的程度  </a:t>
              </a:r>
              <a:endParaRPr lang="en-US" altLang="zh-CN" sz="1400" b="1" spc="1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gn="ctr">
                <a:lnSpc>
                  <a:spcPct val="90000"/>
                </a:lnSpc>
                <a:spcBef>
                  <a:spcPct val="50000"/>
                </a:spcBef>
                <a:buClrTx/>
                <a:buSzTx/>
                <a:buFontTx/>
                <a:buNone/>
              </a:pPr>
              <a:endParaRPr lang="en-US" altLang="zh-CN" sz="1400" b="1" spc="1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10246" name="Text Box 6"/>
            <p:cNvSpPr txBox="1">
              <a:spLocks noChangeAspect="1" noChangeArrowheads="1"/>
            </p:cNvSpPr>
            <p:nvPr/>
          </p:nvSpPr>
          <p:spPr bwMode="auto">
            <a:xfrm>
              <a:off x="5738" y="8440"/>
              <a:ext cx="3905" cy="362"/>
            </a:xfrm>
            <a:prstGeom prst="rect">
              <a:avLst/>
            </a:prstGeom>
            <a:solidFill>
              <a:srgbClr val="0092D6"/>
            </a:solidFill>
          </p:spPr>
          <p:txBody>
            <a:bodyPr lIns="66636" tIns="33317" rIns="66636" bIns="33317">
              <a:spAutoFit/>
            </a:bodyPr>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spcBef>
                  <a:spcPct val="50000"/>
                </a:spcBef>
                <a:buClrTx/>
                <a:buSzTx/>
                <a:buFontTx/>
                <a:buNone/>
              </a:pPr>
              <a:r>
                <a:rPr lang="zh-CN" altLang="en-US" sz="1400" b="1" dirty="0">
                  <a:solidFill>
                    <a:schemeClr val="bg1"/>
                  </a:solidFill>
                  <a:latin typeface="微软雅黑" panose="020B0503020204020204" pitchFamily="34" charset="-122"/>
                  <a:ea typeface="微软雅黑" panose="020B0503020204020204" pitchFamily="34" charset="-122"/>
                  <a:cs typeface="+mn-ea"/>
                  <a:sym typeface="+mn-lt"/>
                </a:rPr>
                <a:t>在驱动变革过程中的角色作用</a:t>
              </a:r>
            </a:p>
          </p:txBody>
        </p:sp>
        <p:sp>
          <p:nvSpPr>
            <p:cNvPr id="10247" name="Rectangle 7"/>
            <p:cNvSpPr>
              <a:spLocks noChangeArrowheads="1"/>
            </p:cNvSpPr>
            <p:nvPr/>
          </p:nvSpPr>
          <p:spPr bwMode="auto">
            <a:xfrm>
              <a:off x="5185" y="2647"/>
              <a:ext cx="7861" cy="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spAutoFit/>
            </a:bodyPr>
            <a:lstStyle>
              <a:lvl1pPr defTabSz="97917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97917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97917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97917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97917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97917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97917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97917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97917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spcBef>
                  <a:spcPct val="30000"/>
                </a:spcBef>
                <a:buClr>
                  <a:srgbClr val="808080"/>
                </a:buClr>
                <a:buNone/>
              </a:pPr>
              <a:r>
                <a:rPr lang="zh-CN" altLang="en-US" sz="1600" b="1" dirty="0">
                  <a:solidFill>
                    <a:srgbClr val="C00000"/>
                  </a:solidFill>
                  <a:latin typeface="微软雅黑" panose="020B0503020204020204" pitchFamily="34" charset="-122"/>
                  <a:ea typeface="微软雅黑" panose="020B0503020204020204" pitchFamily="34" charset="-122"/>
                  <a:cs typeface="+mn-ea"/>
                  <a:sym typeface="+mn-lt"/>
                </a:rPr>
                <a:t>成为公司的知识领导者和变革倡引者</a:t>
              </a:r>
            </a:p>
          </p:txBody>
        </p:sp>
        <p:sp>
          <p:nvSpPr>
            <p:cNvPr id="10248" name="Line 8"/>
            <p:cNvSpPr>
              <a:spLocks noChangeAspect="1" noChangeShapeType="1"/>
            </p:cNvSpPr>
            <p:nvPr/>
          </p:nvSpPr>
          <p:spPr bwMode="auto">
            <a:xfrm>
              <a:off x="3828" y="7507"/>
              <a:ext cx="7822" cy="6"/>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latin typeface="+mn-lt"/>
                <a:ea typeface="+mn-ea"/>
                <a:cs typeface="+mn-ea"/>
                <a:sym typeface="+mn-lt"/>
              </a:endParaRPr>
            </a:p>
          </p:txBody>
        </p:sp>
        <p:sp>
          <p:nvSpPr>
            <p:cNvPr id="10249" name="Text Box 9"/>
            <p:cNvSpPr txBox="1">
              <a:spLocks noChangeAspect="1" noChangeArrowheads="1"/>
            </p:cNvSpPr>
            <p:nvPr/>
          </p:nvSpPr>
          <p:spPr bwMode="auto">
            <a:xfrm>
              <a:off x="6668" y="6332"/>
              <a:ext cx="628"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66636" tIns="33317" rIns="66636" bIns="33317" anchor="ctr">
              <a:spAutoFit/>
            </a:bodyPr>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buClrTx/>
                <a:buSzTx/>
                <a:buFontTx/>
                <a:buNone/>
              </a:pPr>
              <a:r>
                <a:rPr lang="en-US" altLang="zh-CN" sz="1200">
                  <a:latin typeface="微软雅黑" panose="020B0503020204020204" pitchFamily="34" charset="-122"/>
                  <a:ea typeface="微软雅黑" panose="020B0503020204020204" pitchFamily="34" charset="-122"/>
                  <a:cs typeface="+mn-ea"/>
                  <a:sym typeface="+mn-lt"/>
                </a:rPr>
                <a:t>ABB</a:t>
              </a:r>
            </a:p>
          </p:txBody>
        </p:sp>
        <p:sp>
          <p:nvSpPr>
            <p:cNvPr id="1539082" name="AutoShape 10"/>
            <p:cNvSpPr>
              <a:spLocks noChangeArrowheads="1"/>
            </p:cNvSpPr>
            <p:nvPr/>
          </p:nvSpPr>
          <p:spPr bwMode="auto">
            <a:xfrm>
              <a:off x="8632" y="3917"/>
              <a:ext cx="457" cy="442"/>
            </a:xfrm>
            <a:prstGeom prst="star5">
              <a:avLst/>
            </a:prstGeom>
            <a:solidFill>
              <a:srgbClr val="FF0066"/>
            </a:solidFill>
            <a:ln w="9525" algn="ctr">
              <a:solidFill>
                <a:srgbClr val="FF0066"/>
              </a:solidFill>
              <a:miter lim="800000"/>
            </a:ln>
            <a:effectLst/>
          </p:spPr>
          <p:txBody>
            <a:bodyPr wrap="none" lIns="0" tIns="0" rIns="0" bIns="0" anchor="ctr"/>
            <a:lstStyle/>
            <a:p>
              <a:pPr defTabSz="888365">
                <a:defRPr/>
              </a:pPr>
              <a:endParaRPr lang="en-GB" sz="1200">
                <a:latin typeface="微软雅黑" panose="020B0503020204020204" pitchFamily="34" charset="-122"/>
                <a:ea typeface="微软雅黑" panose="020B0503020204020204" pitchFamily="34" charset="-122"/>
                <a:cs typeface="+mn-ea"/>
                <a:sym typeface="+mn-lt"/>
              </a:endParaRPr>
            </a:p>
          </p:txBody>
        </p:sp>
        <p:sp>
          <p:nvSpPr>
            <p:cNvPr id="10251" name="Oval 11"/>
            <p:cNvSpPr>
              <a:spLocks noChangeArrowheads="1"/>
            </p:cNvSpPr>
            <p:nvPr/>
          </p:nvSpPr>
          <p:spPr bwMode="auto">
            <a:xfrm>
              <a:off x="8761" y="6326"/>
              <a:ext cx="219" cy="221"/>
            </a:xfrm>
            <a:prstGeom prst="ellipse">
              <a:avLst/>
            </a:prstGeom>
            <a:solidFill>
              <a:schemeClr val="bg2"/>
            </a:solidFill>
            <a:ln w="9525" algn="ctr">
              <a:solidFill>
                <a:schemeClr val="bg2"/>
              </a:solidFill>
              <a:round/>
            </a:ln>
          </p:spPr>
          <p:txBody>
            <a:bodyPr wrap="none" lIns="0" tIns="0" rIns="0" bIns="0" anchor="ctr"/>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buClrTx/>
                <a:buSzTx/>
                <a:buFontTx/>
                <a:buNone/>
              </a:pPr>
              <a:endParaRPr lang="en-GB" altLang="zh-CN" sz="1200">
                <a:latin typeface="微软雅黑" panose="020B0503020204020204" pitchFamily="34" charset="-122"/>
                <a:ea typeface="微软雅黑" panose="020B0503020204020204" pitchFamily="34" charset="-122"/>
                <a:cs typeface="+mn-ea"/>
                <a:sym typeface="+mn-lt"/>
              </a:endParaRPr>
            </a:p>
          </p:txBody>
        </p:sp>
        <p:sp>
          <p:nvSpPr>
            <p:cNvPr id="10252" name="Oval 12"/>
            <p:cNvSpPr>
              <a:spLocks noChangeArrowheads="1"/>
            </p:cNvSpPr>
            <p:nvPr/>
          </p:nvSpPr>
          <p:spPr bwMode="auto">
            <a:xfrm>
              <a:off x="6962" y="5604"/>
              <a:ext cx="223" cy="219"/>
            </a:xfrm>
            <a:prstGeom prst="ellipse">
              <a:avLst/>
            </a:prstGeom>
            <a:solidFill>
              <a:schemeClr val="bg2"/>
            </a:solidFill>
            <a:ln w="9525" algn="ctr">
              <a:solidFill>
                <a:schemeClr val="bg2"/>
              </a:solidFill>
              <a:round/>
            </a:ln>
          </p:spPr>
          <p:txBody>
            <a:bodyPr wrap="none" lIns="0" tIns="0" rIns="0" bIns="0" anchor="ctr"/>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buClrTx/>
                <a:buSzTx/>
                <a:buFontTx/>
                <a:buNone/>
              </a:pPr>
              <a:endParaRPr lang="en-GB" altLang="zh-CN" sz="1200">
                <a:latin typeface="微软雅黑" panose="020B0503020204020204" pitchFamily="34" charset="-122"/>
                <a:ea typeface="微软雅黑" panose="020B0503020204020204" pitchFamily="34" charset="-122"/>
                <a:cs typeface="+mn-ea"/>
                <a:sym typeface="+mn-lt"/>
              </a:endParaRPr>
            </a:p>
          </p:txBody>
        </p:sp>
        <p:sp>
          <p:nvSpPr>
            <p:cNvPr id="10253" name="Oval 13"/>
            <p:cNvSpPr>
              <a:spLocks noChangeArrowheads="1"/>
            </p:cNvSpPr>
            <p:nvPr/>
          </p:nvSpPr>
          <p:spPr bwMode="auto">
            <a:xfrm>
              <a:off x="8583" y="4400"/>
              <a:ext cx="223" cy="219"/>
            </a:xfrm>
            <a:prstGeom prst="ellipse">
              <a:avLst/>
            </a:prstGeom>
            <a:solidFill>
              <a:schemeClr val="bg2"/>
            </a:solidFill>
            <a:ln w="9525" algn="ctr">
              <a:solidFill>
                <a:schemeClr val="bg2"/>
              </a:solidFill>
              <a:round/>
            </a:ln>
          </p:spPr>
          <p:txBody>
            <a:bodyPr wrap="none" lIns="0" tIns="0" rIns="0" bIns="0" anchor="ctr"/>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buClrTx/>
                <a:buSzTx/>
                <a:buFontTx/>
                <a:buNone/>
              </a:pPr>
              <a:endParaRPr lang="en-GB" altLang="zh-CN" sz="1200">
                <a:latin typeface="微软雅黑" panose="020B0503020204020204" pitchFamily="34" charset="-122"/>
                <a:ea typeface="微软雅黑" panose="020B0503020204020204" pitchFamily="34" charset="-122"/>
                <a:cs typeface="+mn-ea"/>
                <a:sym typeface="+mn-lt"/>
              </a:endParaRPr>
            </a:p>
          </p:txBody>
        </p:sp>
        <p:sp>
          <p:nvSpPr>
            <p:cNvPr id="10254" name="Oval 14"/>
            <p:cNvSpPr>
              <a:spLocks noChangeArrowheads="1"/>
            </p:cNvSpPr>
            <p:nvPr/>
          </p:nvSpPr>
          <p:spPr bwMode="auto">
            <a:xfrm>
              <a:off x="10282" y="3518"/>
              <a:ext cx="223" cy="219"/>
            </a:xfrm>
            <a:prstGeom prst="ellipse">
              <a:avLst/>
            </a:prstGeom>
            <a:solidFill>
              <a:schemeClr val="bg2"/>
            </a:solidFill>
            <a:ln w="9525" algn="ctr">
              <a:solidFill>
                <a:schemeClr val="bg2"/>
              </a:solidFill>
              <a:round/>
            </a:ln>
          </p:spPr>
          <p:txBody>
            <a:bodyPr wrap="none" lIns="0" tIns="0" rIns="0" bIns="0" anchor="ctr"/>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buClrTx/>
                <a:buSzTx/>
                <a:buFontTx/>
                <a:buNone/>
              </a:pPr>
              <a:endParaRPr lang="en-GB" altLang="zh-CN" sz="1200">
                <a:latin typeface="微软雅黑" panose="020B0503020204020204" pitchFamily="34" charset="-122"/>
                <a:ea typeface="微软雅黑" panose="020B0503020204020204" pitchFamily="34" charset="-122"/>
                <a:cs typeface="+mn-ea"/>
                <a:sym typeface="+mn-lt"/>
              </a:endParaRPr>
            </a:p>
          </p:txBody>
        </p:sp>
        <p:sp>
          <p:nvSpPr>
            <p:cNvPr id="10255" name="Oval 15"/>
            <p:cNvSpPr>
              <a:spLocks noChangeArrowheads="1"/>
            </p:cNvSpPr>
            <p:nvPr/>
          </p:nvSpPr>
          <p:spPr bwMode="auto">
            <a:xfrm>
              <a:off x="9020" y="4254"/>
              <a:ext cx="221" cy="223"/>
            </a:xfrm>
            <a:prstGeom prst="ellipse">
              <a:avLst/>
            </a:prstGeom>
            <a:solidFill>
              <a:schemeClr val="bg2"/>
            </a:solidFill>
            <a:ln w="9525" algn="ctr">
              <a:solidFill>
                <a:schemeClr val="bg2"/>
              </a:solidFill>
              <a:round/>
            </a:ln>
          </p:spPr>
          <p:txBody>
            <a:bodyPr wrap="none" lIns="0" tIns="0" rIns="0" bIns="0" anchor="ctr"/>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buClrTx/>
                <a:buSzTx/>
                <a:buFontTx/>
                <a:buNone/>
              </a:pPr>
              <a:endParaRPr lang="en-GB" altLang="zh-CN" sz="1200">
                <a:latin typeface="微软雅黑" panose="020B0503020204020204" pitchFamily="34" charset="-122"/>
                <a:ea typeface="微软雅黑" panose="020B0503020204020204" pitchFamily="34" charset="-122"/>
                <a:cs typeface="+mn-ea"/>
                <a:sym typeface="+mn-lt"/>
              </a:endParaRPr>
            </a:p>
          </p:txBody>
        </p:sp>
        <p:sp>
          <p:nvSpPr>
            <p:cNvPr id="10256" name="Line 16"/>
            <p:cNvSpPr>
              <a:spLocks noChangeAspect="1" noChangeShapeType="1"/>
            </p:cNvSpPr>
            <p:nvPr/>
          </p:nvSpPr>
          <p:spPr bwMode="auto">
            <a:xfrm flipV="1">
              <a:off x="6544" y="4220"/>
              <a:ext cx="2129" cy="1558"/>
            </a:xfrm>
            <a:prstGeom prst="line">
              <a:avLst/>
            </a:prstGeom>
            <a:noFill/>
            <a:ln w="9525">
              <a:solidFill>
                <a:srgbClr val="808080"/>
              </a:solidFill>
              <a:prstDash val="lgDash"/>
              <a:round/>
              <a:tailEnd type="triangle" w="med" len="med"/>
            </a:ln>
            <a:extLst>
              <a:ext uri="{909E8E84-426E-40DD-AFC4-6F175D3DCCD1}">
                <a14:hiddenFill xmlns:a14="http://schemas.microsoft.com/office/drawing/2010/main">
                  <a:noFill/>
                </a14:hiddenFill>
              </a:ext>
            </a:extLst>
          </p:spPr>
          <p:txBody>
            <a:bodyPr wrap="none" lIns="0" tIns="0" rIns="0" bIns="0" anchor="ctr"/>
            <a:lstStyle/>
            <a:p>
              <a:endParaRPr lang="zh-CN" altLang="en-US" sz="1350">
                <a:latin typeface="+mn-lt"/>
                <a:ea typeface="+mn-ea"/>
                <a:cs typeface="+mn-ea"/>
                <a:sym typeface="+mn-lt"/>
              </a:endParaRPr>
            </a:p>
          </p:txBody>
        </p:sp>
        <p:sp>
          <p:nvSpPr>
            <p:cNvPr id="10257" name="Text Box 17"/>
            <p:cNvSpPr txBox="1">
              <a:spLocks noChangeAspect="1" noChangeArrowheads="1"/>
            </p:cNvSpPr>
            <p:nvPr/>
          </p:nvSpPr>
          <p:spPr bwMode="auto">
            <a:xfrm>
              <a:off x="8821" y="4502"/>
              <a:ext cx="581"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66636" tIns="33317" rIns="66636" bIns="33317" anchor="ctr">
              <a:spAutoFit/>
            </a:bodyPr>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buClrTx/>
                <a:buSzTx/>
                <a:buFontTx/>
                <a:buNone/>
              </a:pPr>
              <a:r>
                <a:rPr lang="en-US" altLang="zh-CN" sz="1200">
                  <a:latin typeface="微软雅黑" panose="020B0503020204020204" pitchFamily="34" charset="-122"/>
                  <a:ea typeface="微软雅黑" panose="020B0503020204020204" pitchFamily="34" charset="-122"/>
                  <a:cs typeface="+mn-ea"/>
                  <a:sym typeface="+mn-lt"/>
                </a:rPr>
                <a:t>IBM</a:t>
              </a:r>
            </a:p>
          </p:txBody>
        </p:sp>
        <p:sp>
          <p:nvSpPr>
            <p:cNvPr id="10258" name="Oval 18"/>
            <p:cNvSpPr>
              <a:spLocks noChangeArrowheads="1"/>
            </p:cNvSpPr>
            <p:nvPr/>
          </p:nvSpPr>
          <p:spPr bwMode="auto">
            <a:xfrm>
              <a:off x="4375" y="7088"/>
              <a:ext cx="223" cy="219"/>
            </a:xfrm>
            <a:prstGeom prst="ellipse">
              <a:avLst/>
            </a:prstGeom>
            <a:solidFill>
              <a:schemeClr val="bg2"/>
            </a:solidFill>
            <a:ln w="9525" algn="ctr">
              <a:solidFill>
                <a:schemeClr val="bg2"/>
              </a:solidFill>
              <a:round/>
            </a:ln>
          </p:spPr>
          <p:txBody>
            <a:bodyPr wrap="none" lIns="0" tIns="0" rIns="0" bIns="0" anchor="ctr"/>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buClrTx/>
                <a:buSzTx/>
                <a:buFontTx/>
                <a:buNone/>
              </a:pPr>
              <a:endParaRPr lang="en-GB" altLang="zh-CN" sz="1200">
                <a:latin typeface="微软雅黑" panose="020B0503020204020204" pitchFamily="34" charset="-122"/>
                <a:ea typeface="微软雅黑" panose="020B0503020204020204" pitchFamily="34" charset="-122"/>
                <a:cs typeface="+mn-ea"/>
                <a:sym typeface="+mn-lt"/>
              </a:endParaRPr>
            </a:p>
          </p:txBody>
        </p:sp>
        <p:sp>
          <p:nvSpPr>
            <p:cNvPr id="10259" name="Line 19"/>
            <p:cNvSpPr>
              <a:spLocks noChangeAspect="1" noChangeShapeType="1"/>
            </p:cNvSpPr>
            <p:nvPr/>
          </p:nvSpPr>
          <p:spPr bwMode="auto">
            <a:xfrm flipH="1" flipV="1">
              <a:off x="3828" y="3064"/>
              <a:ext cx="0" cy="445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latin typeface="+mn-lt"/>
                <a:ea typeface="+mn-ea"/>
                <a:cs typeface="+mn-ea"/>
                <a:sym typeface="+mn-lt"/>
              </a:endParaRPr>
            </a:p>
          </p:txBody>
        </p:sp>
        <p:sp>
          <p:nvSpPr>
            <p:cNvPr id="10260" name="Text Box 20"/>
            <p:cNvSpPr txBox="1">
              <a:spLocks noChangeAspect="1" noChangeArrowheads="1"/>
            </p:cNvSpPr>
            <p:nvPr/>
          </p:nvSpPr>
          <p:spPr bwMode="auto">
            <a:xfrm>
              <a:off x="4624" y="6846"/>
              <a:ext cx="1295" cy="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66636" tIns="33317" rIns="66636" bIns="33317" anchor="ctr">
              <a:spAutoFit/>
            </a:bodyPr>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buClrTx/>
                <a:buSzTx/>
                <a:buFontTx/>
                <a:buNone/>
              </a:pPr>
              <a:r>
                <a:rPr lang="en-US" altLang="zh-CN" sz="1200">
                  <a:latin typeface="微软雅黑" panose="020B0503020204020204" pitchFamily="34" charset="-122"/>
                  <a:ea typeface="微软雅黑" panose="020B0503020204020204" pitchFamily="34" charset="-122"/>
                  <a:cs typeface="+mn-ea"/>
                  <a:sym typeface="+mn-lt"/>
                </a:rPr>
                <a:t>Honeywell ;</a:t>
              </a:r>
              <a:br>
                <a:rPr lang="en-US" altLang="zh-CN" sz="1200">
                  <a:latin typeface="微软雅黑" panose="020B0503020204020204" pitchFamily="34" charset="-122"/>
                  <a:ea typeface="微软雅黑" panose="020B0503020204020204" pitchFamily="34" charset="-122"/>
                  <a:cs typeface="+mn-ea"/>
                  <a:sym typeface="+mn-lt"/>
                </a:rPr>
              </a:br>
              <a:r>
                <a:rPr lang="en-US" altLang="zh-CN" sz="1200">
                  <a:latin typeface="微软雅黑" panose="020B0503020204020204" pitchFamily="34" charset="-122"/>
                  <a:ea typeface="微软雅黑" panose="020B0503020204020204" pitchFamily="34" charset="-122"/>
                  <a:cs typeface="+mn-ea"/>
                  <a:sym typeface="+mn-lt"/>
                </a:rPr>
                <a:t>Emerson</a:t>
              </a:r>
            </a:p>
          </p:txBody>
        </p:sp>
        <p:sp>
          <p:nvSpPr>
            <p:cNvPr id="10261" name="Oval 21"/>
            <p:cNvSpPr>
              <a:spLocks noChangeArrowheads="1"/>
            </p:cNvSpPr>
            <p:nvPr/>
          </p:nvSpPr>
          <p:spPr bwMode="auto">
            <a:xfrm>
              <a:off x="6268" y="6322"/>
              <a:ext cx="221" cy="219"/>
            </a:xfrm>
            <a:prstGeom prst="ellipse">
              <a:avLst/>
            </a:prstGeom>
            <a:solidFill>
              <a:schemeClr val="bg2"/>
            </a:solidFill>
            <a:ln w="9525" algn="ctr">
              <a:solidFill>
                <a:schemeClr val="bg2"/>
              </a:solidFill>
              <a:round/>
            </a:ln>
          </p:spPr>
          <p:txBody>
            <a:bodyPr wrap="none" lIns="0" tIns="0" rIns="0" bIns="0" anchor="ctr"/>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buClrTx/>
                <a:buSzTx/>
                <a:buFontTx/>
                <a:buNone/>
              </a:pPr>
              <a:endParaRPr lang="en-GB" altLang="zh-CN" sz="1200">
                <a:latin typeface="微软雅黑" panose="020B0503020204020204" pitchFamily="34" charset="-122"/>
                <a:ea typeface="微软雅黑" panose="020B0503020204020204" pitchFamily="34" charset="-122"/>
                <a:cs typeface="+mn-ea"/>
                <a:sym typeface="+mn-lt"/>
              </a:endParaRPr>
            </a:p>
          </p:txBody>
        </p:sp>
        <p:sp>
          <p:nvSpPr>
            <p:cNvPr id="10262" name="Text Box 22"/>
            <p:cNvSpPr txBox="1">
              <a:spLocks noChangeAspect="1" noChangeArrowheads="1"/>
            </p:cNvSpPr>
            <p:nvPr/>
          </p:nvSpPr>
          <p:spPr bwMode="auto">
            <a:xfrm>
              <a:off x="2791" y="4271"/>
              <a:ext cx="973" cy="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33317" rIns="0" bIns="33317"/>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spcBef>
                  <a:spcPct val="50000"/>
                </a:spcBef>
                <a:buClrTx/>
                <a:buSzTx/>
                <a:buFontTx/>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lt"/>
                </a:rPr>
                <a:t>业务设计            工程师</a:t>
              </a:r>
            </a:p>
          </p:txBody>
        </p:sp>
        <p:sp>
          <p:nvSpPr>
            <p:cNvPr id="10263" name="Text Box 23"/>
            <p:cNvSpPr txBox="1">
              <a:spLocks noChangeAspect="1" noChangeArrowheads="1"/>
            </p:cNvSpPr>
            <p:nvPr/>
          </p:nvSpPr>
          <p:spPr bwMode="auto">
            <a:xfrm>
              <a:off x="2786" y="3396"/>
              <a:ext cx="924"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33317" rIns="0" bIns="33317"/>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spcBef>
                  <a:spcPct val="50000"/>
                </a:spcBef>
                <a:buClrTx/>
                <a:buSzTx/>
                <a:buFontTx/>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lt"/>
                </a:rPr>
                <a:t>价值增长                        驱动者</a:t>
              </a:r>
            </a:p>
          </p:txBody>
        </p:sp>
        <p:sp>
          <p:nvSpPr>
            <p:cNvPr id="10264" name="Text Box 24"/>
            <p:cNvSpPr txBox="1">
              <a:spLocks noChangeAspect="1" noChangeArrowheads="1"/>
            </p:cNvSpPr>
            <p:nvPr/>
          </p:nvSpPr>
          <p:spPr bwMode="auto">
            <a:xfrm>
              <a:off x="9041" y="7617"/>
              <a:ext cx="1160"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6636" tIns="33317" rIns="66636" bIns="33317"/>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spcBef>
                  <a:spcPct val="50000"/>
                </a:spcBef>
                <a:buClrTx/>
                <a:buSzTx/>
                <a:buFontTx/>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lt"/>
                </a:rPr>
                <a:t>举措支持</a:t>
              </a: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lt"/>
                </a:rPr>
                <a:t>试行</a:t>
              </a:r>
            </a:p>
          </p:txBody>
        </p:sp>
        <p:sp>
          <p:nvSpPr>
            <p:cNvPr id="10265" name="Text Box 25"/>
            <p:cNvSpPr txBox="1">
              <a:spLocks noChangeAspect="1" noChangeArrowheads="1"/>
            </p:cNvSpPr>
            <p:nvPr/>
          </p:nvSpPr>
          <p:spPr bwMode="auto">
            <a:xfrm>
              <a:off x="10726" y="7617"/>
              <a:ext cx="889"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6636" tIns="33317" rIns="66636" bIns="33317"/>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spcBef>
                  <a:spcPct val="50000"/>
                </a:spcBef>
                <a:buClrTx/>
                <a:buSzTx/>
                <a:buFontTx/>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lt"/>
                </a:rPr>
                <a:t>变革               倡导者</a:t>
              </a:r>
            </a:p>
          </p:txBody>
        </p:sp>
        <p:sp>
          <p:nvSpPr>
            <p:cNvPr id="10266" name="Text Box 26"/>
            <p:cNvSpPr txBox="1">
              <a:spLocks noChangeAspect="1" noChangeArrowheads="1"/>
            </p:cNvSpPr>
            <p:nvPr/>
          </p:nvSpPr>
          <p:spPr bwMode="auto">
            <a:xfrm>
              <a:off x="2681" y="6965"/>
              <a:ext cx="930"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33317" rIns="0" bIns="33317"/>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spcBef>
                  <a:spcPct val="50000"/>
                </a:spcBef>
                <a:buClrTx/>
                <a:buSzTx/>
                <a:buFontTx/>
                <a:buNone/>
              </a:pPr>
              <a:r>
                <a:rPr lang="zh-CN" altLang="en-US" sz="1200">
                  <a:latin typeface="微软雅黑" panose="020B0503020204020204" pitchFamily="34" charset="-122"/>
                  <a:ea typeface="微软雅黑" panose="020B0503020204020204" pitchFamily="34" charset="-122"/>
                  <a:cs typeface="+mn-ea"/>
                  <a:sym typeface="+mn-lt"/>
                </a:rPr>
                <a:t>规划流程护卫者</a:t>
              </a:r>
            </a:p>
          </p:txBody>
        </p:sp>
        <p:sp>
          <p:nvSpPr>
            <p:cNvPr id="10267" name="Text Box 27"/>
            <p:cNvSpPr txBox="1">
              <a:spLocks noChangeAspect="1" noChangeArrowheads="1"/>
            </p:cNvSpPr>
            <p:nvPr/>
          </p:nvSpPr>
          <p:spPr bwMode="auto">
            <a:xfrm>
              <a:off x="2707" y="6043"/>
              <a:ext cx="993" cy="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33317" rIns="0" bIns="33317"/>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spcBef>
                  <a:spcPct val="50000"/>
                </a:spcBef>
                <a:buClrTx/>
                <a:buSzTx/>
                <a:buFontTx/>
                <a:buNone/>
              </a:pP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lt"/>
                </a:rPr>
                <a:t>救火队员”型顾问</a:t>
              </a:r>
            </a:p>
          </p:txBody>
        </p:sp>
        <p:sp>
          <p:nvSpPr>
            <p:cNvPr id="10268" name="Text Box 28"/>
            <p:cNvSpPr txBox="1">
              <a:spLocks noChangeAspect="1" noChangeArrowheads="1"/>
            </p:cNvSpPr>
            <p:nvPr/>
          </p:nvSpPr>
          <p:spPr bwMode="auto">
            <a:xfrm>
              <a:off x="5459" y="7647"/>
              <a:ext cx="1288" cy="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6636" tIns="33317" rIns="66636" bIns="33317"/>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spcBef>
                  <a:spcPct val="50000"/>
                </a:spcBef>
                <a:buClrTx/>
                <a:buSzTx/>
                <a:buFontTx/>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lt"/>
                </a:rPr>
                <a:t>设计工具</a:t>
              </a: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lt"/>
                </a:rPr>
                <a:t>监控</a:t>
              </a:r>
            </a:p>
          </p:txBody>
        </p:sp>
        <p:sp>
          <p:nvSpPr>
            <p:cNvPr id="10269" name="Text Box 29"/>
            <p:cNvSpPr txBox="1">
              <a:spLocks noChangeAspect="1" noChangeArrowheads="1"/>
            </p:cNvSpPr>
            <p:nvPr/>
          </p:nvSpPr>
          <p:spPr bwMode="auto">
            <a:xfrm>
              <a:off x="2791" y="5120"/>
              <a:ext cx="814" cy="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33317" rIns="0" bIns="33317"/>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spcBef>
                  <a:spcPct val="50000"/>
                </a:spcBef>
                <a:buClrTx/>
                <a:buSzTx/>
                <a:buFontTx/>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lt"/>
                </a:rPr>
                <a:t>积极的                  审核者</a:t>
              </a:r>
            </a:p>
          </p:txBody>
        </p:sp>
        <p:sp>
          <p:nvSpPr>
            <p:cNvPr id="10270" name="Text Box 30"/>
            <p:cNvSpPr txBox="1">
              <a:spLocks noChangeAspect="1" noChangeArrowheads="1"/>
            </p:cNvSpPr>
            <p:nvPr/>
          </p:nvSpPr>
          <p:spPr bwMode="auto">
            <a:xfrm>
              <a:off x="3674" y="7617"/>
              <a:ext cx="1631" cy="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6636" tIns="33317" rIns="66636" bIns="33317"/>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spcBef>
                  <a:spcPct val="50000"/>
                </a:spcBef>
                <a:buClrTx/>
                <a:buSzTx/>
                <a:buFontTx/>
                <a:buNone/>
              </a:pPr>
              <a:r>
                <a:rPr lang="zh-CN" altLang="en-US" sz="1200">
                  <a:latin typeface="微软雅黑" panose="020B0503020204020204" pitchFamily="34" charset="-122"/>
                  <a:ea typeface="微软雅黑" panose="020B0503020204020204" pitchFamily="34" charset="-122"/>
                  <a:cs typeface="+mn-ea"/>
                  <a:sym typeface="+mn-lt"/>
                </a:rPr>
                <a:t>沟通目标、规划和时间安排</a:t>
              </a:r>
            </a:p>
          </p:txBody>
        </p:sp>
        <p:sp>
          <p:nvSpPr>
            <p:cNvPr id="10271" name="Text Box 31"/>
            <p:cNvSpPr txBox="1">
              <a:spLocks noChangeAspect="1" noChangeArrowheads="1"/>
            </p:cNvSpPr>
            <p:nvPr/>
          </p:nvSpPr>
          <p:spPr bwMode="auto">
            <a:xfrm>
              <a:off x="7146" y="7683"/>
              <a:ext cx="1147"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6636" tIns="33317" rIns="66636" bIns="33317"/>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spcBef>
                  <a:spcPct val="50000"/>
                </a:spcBef>
                <a:buClrTx/>
                <a:buSzTx/>
                <a:buFontTx/>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lt"/>
                </a:rPr>
                <a:t>流程设计</a:t>
              </a: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lt"/>
                </a:rPr>
                <a:t>培训</a:t>
              </a:r>
            </a:p>
          </p:txBody>
        </p:sp>
        <p:sp>
          <p:nvSpPr>
            <p:cNvPr id="10273" name="Text Box 33"/>
            <p:cNvSpPr txBox="1">
              <a:spLocks noChangeAspect="1" noChangeArrowheads="1"/>
            </p:cNvSpPr>
            <p:nvPr/>
          </p:nvSpPr>
          <p:spPr bwMode="auto">
            <a:xfrm>
              <a:off x="10387" y="3432"/>
              <a:ext cx="1048"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66636" tIns="33317" rIns="66636" bIns="33317" anchor="ctr">
              <a:spAutoFit/>
            </a:bodyPr>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spcBef>
                  <a:spcPct val="50000"/>
                </a:spcBef>
                <a:buClrTx/>
                <a:buSzTx/>
                <a:buFontTx/>
                <a:buNone/>
              </a:pPr>
              <a:r>
                <a:rPr lang="zh-CN" altLang="en-US" sz="1200" dirty="0">
                  <a:latin typeface="微软雅黑" panose="020B0503020204020204" pitchFamily="34" charset="-122"/>
                  <a:ea typeface="微软雅黑" panose="020B0503020204020204" pitchFamily="34" charset="-122"/>
                  <a:cs typeface="+mn-ea"/>
                  <a:sym typeface="+mn-lt"/>
                </a:rPr>
                <a:t>通用电器</a:t>
              </a:r>
            </a:p>
          </p:txBody>
        </p:sp>
        <p:sp>
          <p:nvSpPr>
            <p:cNvPr id="10274" name="Text Box 34"/>
            <p:cNvSpPr txBox="1">
              <a:spLocks noChangeAspect="1" noChangeArrowheads="1"/>
            </p:cNvSpPr>
            <p:nvPr/>
          </p:nvSpPr>
          <p:spPr bwMode="auto">
            <a:xfrm>
              <a:off x="7153" y="5531"/>
              <a:ext cx="838"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66636" tIns="33317" rIns="66636" bIns="33317" anchor="ctr">
              <a:spAutoFit/>
            </a:bodyPr>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spcBef>
                  <a:spcPct val="50000"/>
                </a:spcBef>
                <a:buClrTx/>
                <a:buSzTx/>
                <a:buFontTx/>
                <a:buNone/>
              </a:pPr>
              <a:r>
                <a:rPr lang="zh-CN" altLang="en-US" sz="1200" dirty="0">
                  <a:latin typeface="微软雅黑" panose="020B0503020204020204" pitchFamily="34" charset="-122"/>
                  <a:ea typeface="微软雅黑" panose="020B0503020204020204" pitchFamily="34" charset="-122"/>
                  <a:cs typeface="+mn-ea"/>
                  <a:sym typeface="+mn-lt"/>
                </a:rPr>
                <a:t>西门子</a:t>
              </a:r>
            </a:p>
          </p:txBody>
        </p:sp>
        <p:sp>
          <p:nvSpPr>
            <p:cNvPr id="10275" name="Text Box 35"/>
            <p:cNvSpPr txBox="1">
              <a:spLocks noChangeAspect="1" noChangeArrowheads="1"/>
            </p:cNvSpPr>
            <p:nvPr/>
          </p:nvSpPr>
          <p:spPr bwMode="auto">
            <a:xfrm>
              <a:off x="9198" y="4186"/>
              <a:ext cx="838"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66636" tIns="33317" rIns="66636" bIns="33317" anchor="ctr">
              <a:spAutoFit/>
            </a:bodyPr>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spcBef>
                  <a:spcPct val="50000"/>
                </a:spcBef>
                <a:buClrTx/>
                <a:buSzTx/>
                <a:buFontTx/>
                <a:buNone/>
              </a:pPr>
              <a:r>
                <a:rPr lang="zh-CN" altLang="en-US" sz="1200">
                  <a:latin typeface="微软雅黑" panose="020B0503020204020204" pitchFamily="34" charset="-122"/>
                  <a:ea typeface="微软雅黑" panose="020B0503020204020204" pitchFamily="34" charset="-122"/>
                  <a:cs typeface="+mn-ea"/>
                  <a:sym typeface="+mn-lt"/>
                </a:rPr>
                <a:t>迪士尼</a:t>
              </a:r>
            </a:p>
          </p:txBody>
        </p:sp>
        <p:sp>
          <p:nvSpPr>
            <p:cNvPr id="10276" name="Text Box 36"/>
            <p:cNvSpPr txBox="1">
              <a:spLocks noChangeAspect="1" noChangeArrowheads="1"/>
            </p:cNvSpPr>
            <p:nvPr/>
          </p:nvSpPr>
          <p:spPr bwMode="auto">
            <a:xfrm>
              <a:off x="8934" y="6302"/>
              <a:ext cx="628"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66636" tIns="33317" rIns="66636" bIns="33317" anchor="ctr">
              <a:spAutoFit/>
            </a:bodyPr>
            <a:lstStyle>
              <a:lvl1pPr defTabSz="889000">
                <a:lnSpc>
                  <a:spcPct val="140000"/>
                </a:lnSpc>
                <a:buClr>
                  <a:srgbClr val="777777"/>
                </a:buClr>
                <a:buSzPct val="60000"/>
                <a:buFont typeface="Wingdings" panose="05000000000000000000" pitchFamily="2" charset="2"/>
                <a:buChar char="l"/>
                <a:defRPr sz="2000">
                  <a:solidFill>
                    <a:schemeClr val="tx1"/>
                  </a:solidFill>
                  <a:latin typeface="FrutigerNext LT Medium" pitchFamily="34" charset="0"/>
                  <a:ea typeface="华文细黑" panose="02010600040101010101" pitchFamily="2" charset="-122"/>
                  <a:cs typeface="宋体" panose="02010600030101010101" pitchFamily="2" charset="-122"/>
                </a:defRPr>
              </a:lvl1pPr>
              <a:lvl2pPr marL="742950" indent="-285750" defTabSz="889000">
                <a:lnSpc>
                  <a:spcPct val="140000"/>
                </a:lnSpc>
                <a:buSzPct val="50000"/>
                <a:buFont typeface="Wingdings" panose="05000000000000000000" pitchFamily="2" charset="2"/>
                <a:buChar char="p"/>
                <a:defRPr>
                  <a:solidFill>
                    <a:schemeClr val="tx1"/>
                  </a:solidFill>
                  <a:latin typeface="FrutigerNext LT Medium" pitchFamily="34" charset="0"/>
                  <a:ea typeface="华文细黑" panose="02010600040101010101" pitchFamily="2" charset="-122"/>
                  <a:cs typeface="宋体" panose="02010600030101010101" pitchFamily="2" charset="-122"/>
                </a:defRPr>
              </a:lvl2pPr>
              <a:lvl3pPr marL="1143000" indent="-228600" defTabSz="889000">
                <a:lnSpc>
                  <a:spcPct val="140000"/>
                </a:lnSpc>
                <a:buSzPct val="50000"/>
                <a:buFont typeface="Wingdings" panose="05000000000000000000" pitchFamily="2" charset="2"/>
                <a:buChar char="n"/>
                <a:defRPr sz="1600">
                  <a:solidFill>
                    <a:schemeClr val="tx1"/>
                  </a:solidFill>
                  <a:latin typeface="FrutigerNext LT Medium" pitchFamily="34" charset="0"/>
                  <a:ea typeface="华文细黑" panose="02010600040101010101" pitchFamily="2" charset="-122"/>
                  <a:cs typeface="宋体" panose="02010600030101010101" pitchFamily="2" charset="-122"/>
                </a:defRPr>
              </a:lvl3pPr>
              <a:lvl4pPr marL="1600200" indent="-228600" defTabSz="889000">
                <a:lnSpc>
                  <a:spcPct val="140000"/>
                </a:lnSpc>
                <a:buChar char="–"/>
                <a:defRPr sz="1400">
                  <a:solidFill>
                    <a:schemeClr val="tx1"/>
                  </a:solidFill>
                  <a:latin typeface="FrutigerNext LT Medium" pitchFamily="34" charset="0"/>
                  <a:ea typeface="华文细黑" panose="02010600040101010101" pitchFamily="2" charset="-122"/>
                  <a:cs typeface="宋体" panose="02010600030101010101" pitchFamily="2" charset="-122"/>
                </a:defRPr>
              </a:lvl4pPr>
              <a:lvl5pPr marL="2057400" indent="-228600" defTabSz="889000">
                <a:lnSpc>
                  <a:spcPct val="140000"/>
                </a:lnSpc>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5pPr>
              <a:lvl6pPr marL="25146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6pPr>
              <a:lvl7pPr marL="29718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7pPr>
              <a:lvl8pPr marL="34290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8pPr>
              <a:lvl9pPr marL="3886200" indent="-228600" defTabSz="889000" eaLnBrk="0" fontAlgn="base" hangingPunct="0">
                <a:lnSpc>
                  <a:spcPct val="140000"/>
                </a:lnSpc>
                <a:spcBef>
                  <a:spcPct val="0"/>
                </a:spcBef>
                <a:spcAft>
                  <a:spcPct val="0"/>
                </a:spcAft>
                <a:buFont typeface="Arial" panose="020B0604020202020204" pitchFamily="34" charset="0"/>
                <a:buChar char="~"/>
                <a:defRPr sz="1200">
                  <a:solidFill>
                    <a:schemeClr val="tx1"/>
                  </a:solidFill>
                  <a:latin typeface="FrutigerNext LT Medium" pitchFamily="34" charset="0"/>
                  <a:ea typeface="华文细黑" panose="02010600040101010101" pitchFamily="2" charset="-122"/>
                  <a:cs typeface="宋体" panose="02010600030101010101" pitchFamily="2" charset="-122"/>
                </a:defRPr>
              </a:lvl9pPr>
            </a:lstStyle>
            <a:p>
              <a:pPr>
                <a:lnSpc>
                  <a:spcPct val="100000"/>
                </a:lnSpc>
                <a:spcBef>
                  <a:spcPct val="50000"/>
                </a:spcBef>
                <a:buClrTx/>
                <a:buSzTx/>
                <a:buFontTx/>
                <a:buNone/>
              </a:pPr>
              <a:r>
                <a:rPr lang="zh-CN" altLang="en-US" sz="1200">
                  <a:latin typeface="微软雅黑" panose="020B0503020204020204" pitchFamily="34" charset="-122"/>
                  <a:ea typeface="微软雅黑" panose="020B0503020204020204" pitchFamily="34" charset="-122"/>
                  <a:cs typeface="+mn-ea"/>
                  <a:sym typeface="+mn-lt"/>
                </a:rPr>
                <a:t>壳牌</a:t>
              </a:r>
            </a:p>
          </p:txBody>
        </p:sp>
        <p:sp>
          <p:nvSpPr>
            <p:cNvPr id="38" name="Text Box 37"/>
            <p:cNvSpPr txBox="1">
              <a:spLocks noChangeAspect="1" noChangeArrowheads="1"/>
            </p:cNvSpPr>
            <p:nvPr/>
          </p:nvSpPr>
          <p:spPr bwMode="auto">
            <a:xfrm>
              <a:off x="7553" y="3422"/>
              <a:ext cx="2598" cy="593"/>
            </a:xfrm>
            <a:prstGeom prst="rect">
              <a:avLst/>
            </a:prstGeom>
            <a:noFill/>
            <a:ln>
              <a:noFill/>
            </a:ln>
            <a:effectLst/>
            <a:extLst>
              <a:ext uri="{909E8E84-426E-40DD-AFC4-6F175D3DCCD1}">
                <a14:hiddenFill xmlns:a14="http://schemas.microsoft.com/office/drawing/2010/main">
                  <a:gradFill rotWithShape="0">
                    <a:gsLst>
                      <a:gs pos="0">
                        <a:schemeClr val="tx1"/>
                      </a:gs>
                      <a:gs pos="100000">
                        <a:schemeClr val="tx1">
                          <a:gamma/>
                          <a:tint val="0"/>
                          <a:invGamma/>
                        </a:schemeClr>
                      </a:gs>
                    </a:gsLst>
                    <a:lin ang="5400000" scaled="1"/>
                  </a:gra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eaLnBrk="0" fontAlgn="base" hangingPunct="0">
                <a:spcBef>
                  <a:spcPct val="0"/>
                </a:spcBef>
                <a:spcAft>
                  <a:spcPct val="0"/>
                </a:spcAft>
              </a:pPr>
              <a:r>
                <a:rPr lang="zh-CN" altLang="en-US" sz="1200" b="1" dirty="0">
                  <a:solidFill>
                    <a:srgbClr val="000000"/>
                  </a:solidFill>
                  <a:latin typeface="微软雅黑" panose="020B0503020204020204" pitchFamily="34" charset="-122"/>
                  <a:ea typeface="微软雅黑" panose="020B0503020204020204" pitchFamily="34" charset="-122"/>
                  <a:cs typeface="+mn-ea"/>
                  <a:sym typeface="+mn-lt"/>
                </a:rPr>
                <a:t>未来的华为：</a:t>
              </a:r>
              <a:endParaRPr lang="en-US" altLang="zh-CN" sz="1200" b="1" dirty="0">
                <a:solidFill>
                  <a:srgbClr val="000000"/>
                </a:solidFill>
                <a:latin typeface="微软雅黑" panose="020B0503020204020204" pitchFamily="34" charset="-122"/>
                <a:ea typeface="微软雅黑" panose="020B0503020204020204" pitchFamily="34" charset="-122"/>
                <a:cs typeface="+mn-ea"/>
                <a:sym typeface="+mn-lt"/>
              </a:endParaRPr>
            </a:p>
            <a:p>
              <a:pPr algn="ctr" eaLnBrk="0" fontAlgn="base" hangingPunct="0">
                <a:spcBef>
                  <a:spcPct val="0"/>
                </a:spcBef>
                <a:spcAft>
                  <a:spcPct val="0"/>
                </a:spcAft>
              </a:pP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行业领导者，生态守护者</a:t>
              </a:r>
            </a:p>
          </p:txBody>
        </p:sp>
        <p:sp>
          <p:nvSpPr>
            <p:cNvPr id="39" name="Text Box 32"/>
            <p:cNvSpPr txBox="1">
              <a:spLocks noChangeAspect="1" noChangeArrowheads="1"/>
            </p:cNvSpPr>
            <p:nvPr/>
          </p:nvSpPr>
          <p:spPr bwMode="auto">
            <a:xfrm>
              <a:off x="4787" y="5755"/>
              <a:ext cx="1596" cy="593"/>
            </a:xfrm>
            <a:prstGeom prst="rect">
              <a:avLst/>
            </a:prstGeom>
            <a:noFill/>
            <a:ln>
              <a:noFill/>
            </a:ln>
            <a:effectLst/>
            <a:extLst>
              <a:ext uri="{909E8E84-426E-40DD-AFC4-6F175D3DCCD1}">
                <a14:hiddenFill xmlns:a14="http://schemas.microsoft.com/office/drawing/2010/main">
                  <a:gradFill rotWithShape="0">
                    <a:gsLst>
                      <a:gs pos="0">
                        <a:schemeClr val="tx1"/>
                      </a:gs>
                      <a:gs pos="100000">
                        <a:schemeClr val="tx1">
                          <a:gamma/>
                          <a:tint val="0"/>
                          <a:invGamma/>
                        </a:schemeClr>
                      </a:gs>
                    </a:gsLst>
                    <a:lin ang="5400000" scaled="1"/>
                  </a:gra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eaLnBrk="0" fontAlgn="base" hangingPunct="0">
                <a:spcBef>
                  <a:spcPct val="0"/>
                </a:spcBef>
                <a:spcAft>
                  <a:spcPct val="0"/>
                </a:spcAft>
              </a:pPr>
              <a:r>
                <a:rPr lang="en-US" altLang="zh-CN" sz="1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2005</a:t>
              </a:r>
              <a:r>
                <a:rPr lang="zh-CN" altLang="en-US" sz="1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的华为：</a:t>
              </a:r>
              <a:endParaRPr lang="en-US" altLang="zh-CN" sz="1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gn="ctr" eaLnBrk="0" fontAlgn="base" hangingPunct="0">
                <a:spcBef>
                  <a:spcPct val="0"/>
                </a:spcBef>
                <a:spcAft>
                  <a:spcPct val="0"/>
                </a:spcAft>
              </a:pPr>
              <a:r>
                <a:rPr lang="zh-CN" altLang="en-US" sz="1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大而不强</a:t>
              </a:r>
            </a:p>
          </p:txBody>
        </p:sp>
      </p:grpSp>
      <p:sp>
        <p:nvSpPr>
          <p:cNvPr id="2" name="标题 1"/>
          <p:cNvSpPr txBox="1"/>
          <p:nvPr/>
        </p:nvSpPr>
        <p:spPr>
          <a:xfrm>
            <a:off x="444793" y="482491"/>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2060"/>
                </a:solidFill>
                <a:latin typeface="微软雅黑" panose="020B0503020204020204" pitchFamily="34" charset="-122"/>
                <a:ea typeface="微软雅黑" panose="020B0503020204020204" pitchFamily="34" charset="-122"/>
                <a:cs typeface="+mn-ea"/>
                <a:sym typeface="+mn-lt"/>
              </a:rPr>
              <a:t>战略部：发现价值转移，通过规划牵引促成抓住机会</a:t>
            </a:r>
          </a:p>
        </p:txBody>
      </p:sp>
      <p:sp>
        <p:nvSpPr>
          <p:cNvPr id="41" name="Rectangle 3"/>
          <p:cNvSpPr txBox="1">
            <a:spLocks noChangeArrowheads="1"/>
          </p:cNvSpPr>
          <p:nvPr/>
        </p:nvSpPr>
        <p:spPr bwMode="auto">
          <a:xfrm>
            <a:off x="1524000" y="6293116"/>
            <a:ext cx="8991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1800" b="1" dirty="0">
                <a:solidFill>
                  <a:schemeClr val="bg1"/>
                </a:solidFill>
                <a:effectLst/>
                <a:latin typeface="微软雅黑" panose="020B0503020204020204" pitchFamily="34" charset="-122"/>
                <a:ea typeface="微软雅黑" panose="020B0503020204020204" pitchFamily="34" charset="-122"/>
              </a:rPr>
              <a:t>人</a:t>
            </a:r>
            <a:r>
              <a:rPr lang="en-US" altLang="zh-CN" sz="1800" b="1" dirty="0">
                <a:solidFill>
                  <a:schemeClr val="bg1"/>
                </a:solidFill>
                <a:effectLst/>
                <a:latin typeface="微软雅黑" panose="020B0503020204020204" pitchFamily="34" charset="-122"/>
                <a:ea typeface="微软雅黑" panose="020B0503020204020204" pitchFamily="34" charset="-122"/>
              </a:rPr>
              <a:t>0.2%</a:t>
            </a:r>
            <a:r>
              <a:rPr lang="zh-CN" altLang="en-US" sz="1800" b="1" dirty="0">
                <a:solidFill>
                  <a:schemeClr val="bg1"/>
                </a:solidFill>
                <a:effectLst/>
                <a:latin typeface="微软雅黑" panose="020B0503020204020204" pitchFamily="34" charset="-122"/>
                <a:ea typeface="微软雅黑" panose="020B0503020204020204" pitchFamily="34" charset="-122"/>
              </a:rPr>
              <a:t>即可，但必须是行业高手：</a:t>
            </a:r>
            <a:r>
              <a:rPr lang="en-US" altLang="zh-CN" sz="1800" b="1" dirty="0">
                <a:solidFill>
                  <a:schemeClr val="bg1"/>
                </a:solidFill>
                <a:effectLst/>
                <a:latin typeface="微软雅黑" panose="020B0503020204020204" pitchFamily="34" charset="-122"/>
                <a:ea typeface="微软雅黑" panose="020B0503020204020204" pitchFamily="34" charset="-122"/>
              </a:rPr>
              <a:t>____</a:t>
            </a:r>
            <a:r>
              <a:rPr lang="zh-CN" altLang="en-US" sz="1800" b="1" dirty="0">
                <a:solidFill>
                  <a:schemeClr val="bg1"/>
                </a:solidFill>
                <a:effectLst/>
                <a:latin typeface="微软雅黑" panose="020B0503020204020204" pitchFamily="34" charset="-122"/>
                <a:ea typeface="微软雅黑" panose="020B0503020204020204" pitchFamily="34" charset="-122"/>
              </a:rPr>
              <a:t>镜</a:t>
            </a:r>
            <a:r>
              <a:rPr lang="en-US" altLang="zh-CN" sz="1800" b="1" dirty="0">
                <a:solidFill>
                  <a:schemeClr val="bg1"/>
                </a:solidFill>
                <a:effectLst/>
                <a:latin typeface="微软雅黑" panose="020B0503020204020204" pitchFamily="34" charset="-122"/>
                <a:ea typeface="微软雅黑" panose="020B0503020204020204" pitchFamily="34" charset="-122"/>
              </a:rPr>
              <a:t>+ ____</a:t>
            </a:r>
            <a:r>
              <a:rPr lang="zh-CN" altLang="en-US" sz="1800" b="1" dirty="0">
                <a:solidFill>
                  <a:schemeClr val="bg1"/>
                </a:solidFill>
                <a:effectLst/>
                <a:latin typeface="微软雅黑" panose="020B0503020204020204" pitchFamily="34" charset="-122"/>
                <a:ea typeface="微软雅黑" panose="020B0503020204020204" pitchFamily="34" charset="-122"/>
              </a:rPr>
              <a:t>镜，接地气</a:t>
            </a:r>
            <a:r>
              <a:rPr lang="en-US" altLang="zh-CN" sz="1800" b="1" dirty="0">
                <a:solidFill>
                  <a:schemeClr val="bg1"/>
                </a:solidFill>
                <a:effectLst/>
                <a:latin typeface="微软雅黑" panose="020B0503020204020204" pitchFamily="34" charset="-122"/>
                <a:ea typeface="微软雅黑" panose="020B0503020204020204" pitchFamily="34" charset="-122"/>
              </a:rPr>
              <a:t>+</a:t>
            </a:r>
            <a:r>
              <a:rPr lang="zh-CN" altLang="en-US" sz="1800" b="1" dirty="0">
                <a:solidFill>
                  <a:schemeClr val="bg1"/>
                </a:solidFill>
                <a:effectLst/>
                <a:latin typeface="微软雅黑" panose="020B0503020204020204" pitchFamily="34" charset="-122"/>
                <a:ea typeface="微软雅黑" panose="020B0503020204020204" pitchFamily="34" charset="-122"/>
              </a:rPr>
              <a:t>高瞻远瞩</a:t>
            </a:r>
            <a:endParaRPr lang="en-US" altLang="zh-CN" sz="1800" b="1" dirty="0">
              <a:solidFill>
                <a:schemeClr val="bg1"/>
              </a:solidFill>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3" cstate="print"/>
          <a:stretch>
            <a:fillRect/>
          </a:stretch>
        </p:blipFill>
        <p:spPr>
          <a:xfrm>
            <a:off x="-7620" y="6260465"/>
            <a:ext cx="12206605" cy="522605"/>
          </a:xfrm>
          <a:prstGeom prst="rect">
            <a:avLst/>
          </a:prstGeom>
        </p:spPr>
      </p:pic>
      <p:sp>
        <p:nvSpPr>
          <p:cNvPr id="20" name="矩形 19"/>
          <p:cNvSpPr/>
          <p:nvPr/>
        </p:nvSpPr>
        <p:spPr>
          <a:xfrm>
            <a:off x="3547775" y="3234378"/>
            <a:ext cx="2714644" cy="35719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rtlCol="0" anchor="ctr"/>
          <a:lstStyle/>
          <a:p>
            <a:r>
              <a:rPr lang="zh-CN" altLang="en-US" sz="1425" dirty="0">
                <a:solidFill>
                  <a:srgbClr val="C00000"/>
                </a:solidFill>
                <a:latin typeface="微软雅黑" panose="020B0503020204020204" pitchFamily="34" charset="-122"/>
                <a:ea typeface="微软雅黑" panose="020B0503020204020204" pitchFamily="34" charset="-122"/>
                <a:cs typeface="+mn-ea"/>
                <a:sym typeface="+mn-lt"/>
              </a:rPr>
              <a:t>服务战略</a:t>
            </a:r>
          </a:p>
        </p:txBody>
      </p:sp>
      <p:sp>
        <p:nvSpPr>
          <p:cNvPr id="11" name="矩形 10"/>
          <p:cNvSpPr/>
          <p:nvPr/>
        </p:nvSpPr>
        <p:spPr>
          <a:xfrm>
            <a:off x="3542334" y="3613338"/>
            <a:ext cx="2714644" cy="35719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rtlCol="0" anchor="ctr"/>
          <a:lstStyle/>
          <a:p>
            <a:r>
              <a:rPr lang="zh-CN" altLang="en-US" sz="1425" dirty="0">
                <a:solidFill>
                  <a:srgbClr val="C00000"/>
                </a:solidFill>
                <a:latin typeface="微软雅黑" panose="020B0503020204020204" pitchFamily="34" charset="-122"/>
                <a:ea typeface="微软雅黑" panose="020B0503020204020204" pitchFamily="34" charset="-122"/>
                <a:cs typeface="+mn-ea"/>
                <a:sym typeface="+mn-lt"/>
              </a:rPr>
              <a:t>企业安全战略</a:t>
            </a:r>
          </a:p>
        </p:txBody>
      </p:sp>
      <p:sp>
        <p:nvSpPr>
          <p:cNvPr id="12" name="矩形 11"/>
          <p:cNvSpPr/>
          <p:nvPr/>
        </p:nvSpPr>
        <p:spPr>
          <a:xfrm>
            <a:off x="3542334" y="2847936"/>
            <a:ext cx="2714644" cy="35719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rtlCol="0" anchor="ctr"/>
          <a:lstStyle/>
          <a:p>
            <a:r>
              <a:rPr lang="zh-CN" altLang="en-US" sz="1425" dirty="0">
                <a:solidFill>
                  <a:srgbClr val="C00000"/>
                </a:solidFill>
                <a:latin typeface="微软雅黑" panose="020B0503020204020204" pitchFamily="34" charset="-122"/>
                <a:ea typeface="微软雅黑" panose="020B0503020204020204" pitchFamily="34" charset="-122"/>
                <a:cs typeface="+mn-ea"/>
                <a:sym typeface="+mn-lt"/>
              </a:rPr>
              <a:t>营销战略</a:t>
            </a:r>
          </a:p>
        </p:txBody>
      </p:sp>
      <p:sp>
        <p:nvSpPr>
          <p:cNvPr id="13" name="矩形 12"/>
          <p:cNvSpPr/>
          <p:nvPr/>
        </p:nvSpPr>
        <p:spPr>
          <a:xfrm>
            <a:off x="3542334" y="2452644"/>
            <a:ext cx="2714644" cy="35719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rtlCol="0" anchor="ctr"/>
          <a:lstStyle/>
          <a:p>
            <a:r>
              <a:rPr lang="zh-CN" altLang="en-US" sz="1425" dirty="0">
                <a:solidFill>
                  <a:srgbClr val="C00000"/>
                </a:solidFill>
                <a:latin typeface="微软雅黑" panose="020B0503020204020204" pitchFamily="34" charset="-122"/>
                <a:ea typeface="微软雅黑" panose="020B0503020204020204" pitchFamily="34" charset="-122"/>
                <a:cs typeface="+mn-ea"/>
                <a:sym typeface="+mn-lt"/>
              </a:rPr>
              <a:t>研发战略</a:t>
            </a:r>
          </a:p>
        </p:txBody>
      </p:sp>
      <p:sp>
        <p:nvSpPr>
          <p:cNvPr id="14" name="矩形 13"/>
          <p:cNvSpPr/>
          <p:nvPr/>
        </p:nvSpPr>
        <p:spPr>
          <a:xfrm>
            <a:off x="3542334" y="3986858"/>
            <a:ext cx="2714644" cy="35719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rtlCol="0" anchor="ctr"/>
          <a:lstStyle/>
          <a:p>
            <a:r>
              <a:rPr lang="zh-CN" altLang="en-US" sz="1425" dirty="0">
                <a:solidFill>
                  <a:schemeClr val="tx1"/>
                </a:solidFill>
                <a:latin typeface="微软雅黑" panose="020B0503020204020204" pitchFamily="34" charset="-122"/>
                <a:ea typeface="微软雅黑" panose="020B0503020204020204" pitchFamily="34" charset="-122"/>
                <a:cs typeface="+mn-ea"/>
                <a:sym typeface="+mn-lt"/>
              </a:rPr>
              <a:t>供应链战略</a:t>
            </a:r>
          </a:p>
        </p:txBody>
      </p:sp>
      <p:sp>
        <p:nvSpPr>
          <p:cNvPr id="15" name="矩形 14"/>
          <p:cNvSpPr/>
          <p:nvPr/>
        </p:nvSpPr>
        <p:spPr>
          <a:xfrm>
            <a:off x="3542334" y="4744785"/>
            <a:ext cx="2714644" cy="35719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rtlCol="0" anchor="ctr"/>
          <a:lstStyle/>
          <a:p>
            <a:r>
              <a:rPr lang="zh-CN" altLang="en-US" sz="1425" dirty="0">
                <a:solidFill>
                  <a:schemeClr val="tx1"/>
                </a:solidFill>
                <a:latin typeface="微软雅黑" panose="020B0503020204020204" pitchFamily="34" charset="-122"/>
                <a:ea typeface="微软雅黑" panose="020B0503020204020204" pitchFamily="34" charset="-122"/>
                <a:cs typeface="+mn-ea"/>
                <a:sym typeface="+mn-lt"/>
              </a:rPr>
              <a:t>财务战略</a:t>
            </a:r>
          </a:p>
        </p:txBody>
      </p:sp>
      <p:sp>
        <p:nvSpPr>
          <p:cNvPr id="16" name="矩形 15"/>
          <p:cNvSpPr/>
          <p:nvPr/>
        </p:nvSpPr>
        <p:spPr>
          <a:xfrm>
            <a:off x="3542334" y="4371264"/>
            <a:ext cx="2714644" cy="35719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rtlCol="0" anchor="ctr"/>
          <a:lstStyle/>
          <a:p>
            <a:r>
              <a:rPr lang="zh-CN" altLang="en-US" sz="1425" dirty="0">
                <a:solidFill>
                  <a:schemeClr val="tx1"/>
                </a:solidFill>
                <a:latin typeface="微软雅黑" panose="020B0503020204020204" pitchFamily="34" charset="-122"/>
                <a:ea typeface="微软雅黑" panose="020B0503020204020204" pitchFamily="34" charset="-122"/>
                <a:cs typeface="+mn-ea"/>
                <a:sym typeface="+mn-lt"/>
              </a:rPr>
              <a:t>人力资源战略</a:t>
            </a:r>
          </a:p>
        </p:txBody>
      </p:sp>
      <p:sp>
        <p:nvSpPr>
          <p:cNvPr id="17" name="矩形 16"/>
          <p:cNvSpPr/>
          <p:nvPr/>
        </p:nvSpPr>
        <p:spPr>
          <a:xfrm>
            <a:off x="4756779" y="2173016"/>
            <a:ext cx="285752" cy="300039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rtlCol="0" anchor="ctr"/>
          <a:lstStyle/>
          <a:p>
            <a:pPr algn="ctr"/>
            <a:endParaRPr lang="zh-CN" altLang="en-US" sz="100">
              <a:latin typeface="微软雅黑" panose="020B0503020204020204" pitchFamily="34" charset="-122"/>
              <a:ea typeface="微软雅黑" panose="020B0503020204020204" pitchFamily="34" charset="-122"/>
              <a:cs typeface="+mn-ea"/>
              <a:sym typeface="+mn-lt"/>
            </a:endParaRPr>
          </a:p>
        </p:txBody>
      </p:sp>
      <p:sp>
        <p:nvSpPr>
          <p:cNvPr id="18" name="矩形 17"/>
          <p:cNvSpPr/>
          <p:nvPr/>
        </p:nvSpPr>
        <p:spPr>
          <a:xfrm>
            <a:off x="5328283" y="2173016"/>
            <a:ext cx="285752" cy="300039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rtlCol="0" anchor="ctr"/>
          <a:lstStyle/>
          <a:p>
            <a:pPr algn="ctr"/>
            <a:endParaRPr lang="zh-CN" altLang="en-US" sz="100">
              <a:latin typeface="微软雅黑" panose="020B0503020204020204" pitchFamily="34" charset="-122"/>
              <a:ea typeface="微软雅黑" panose="020B0503020204020204" pitchFamily="34" charset="-122"/>
              <a:cs typeface="+mn-ea"/>
              <a:sym typeface="+mn-lt"/>
            </a:endParaRPr>
          </a:p>
        </p:txBody>
      </p:sp>
      <p:sp>
        <p:nvSpPr>
          <p:cNvPr id="19" name="矩形 18"/>
          <p:cNvSpPr/>
          <p:nvPr/>
        </p:nvSpPr>
        <p:spPr>
          <a:xfrm>
            <a:off x="5899787" y="2173016"/>
            <a:ext cx="285752" cy="300039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rtlCol="0" anchor="ctr"/>
          <a:lstStyle/>
          <a:p>
            <a:pPr algn="ctr"/>
            <a:endParaRPr lang="zh-CN" altLang="en-US" sz="100">
              <a:latin typeface="微软雅黑" panose="020B0503020204020204" pitchFamily="34" charset="-122"/>
              <a:ea typeface="微软雅黑" panose="020B0503020204020204" pitchFamily="34" charset="-122"/>
              <a:cs typeface="+mn-ea"/>
              <a:sym typeface="+mn-lt"/>
            </a:endParaRPr>
          </a:p>
        </p:txBody>
      </p:sp>
      <p:sp>
        <p:nvSpPr>
          <p:cNvPr id="21" name="矩形 20"/>
          <p:cNvSpPr/>
          <p:nvPr/>
        </p:nvSpPr>
        <p:spPr>
          <a:xfrm>
            <a:off x="4525463" y="1711354"/>
            <a:ext cx="725259" cy="828675"/>
          </a:xfrm>
          <a:prstGeom prst="rect">
            <a:avLst/>
          </a:prstGeom>
        </p:spPr>
        <p:txBody>
          <a:bodyPr wrap="square" lIns="91437" tIns="45718" rIns="91437" bIns="45718">
            <a:spAutoFit/>
          </a:bodyPr>
          <a:lstStyle/>
          <a:p>
            <a:pPr algn="ctr"/>
            <a:r>
              <a:rPr lang="zh-CN" altLang="en-US" sz="1200" dirty="0">
                <a:solidFill>
                  <a:srgbClr val="0092D6"/>
                </a:solidFill>
                <a:latin typeface="微软雅黑" panose="020B0503020204020204" pitchFamily="34" charset="-122"/>
                <a:ea typeface="微软雅黑" panose="020B0503020204020204" pitchFamily="34" charset="-122"/>
                <a:cs typeface="微软雅黑" panose="020B0503020204020204" pitchFamily="34" charset="-122"/>
                <a:sym typeface="+mn-lt"/>
              </a:rPr>
              <a:t>运营商</a:t>
            </a:r>
            <a:endParaRPr lang="en-US" altLang="zh-CN" sz="1200" dirty="0">
              <a:solidFill>
                <a:srgbClr val="0092D6"/>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gn="ctr"/>
            <a:r>
              <a:rPr lang="en-US" altLang="zh-CN" sz="1200" dirty="0">
                <a:solidFill>
                  <a:srgbClr val="0092D6"/>
                </a:solidFill>
                <a:latin typeface="微软雅黑" panose="020B0503020204020204" pitchFamily="34" charset="-122"/>
                <a:ea typeface="微软雅黑" panose="020B0503020204020204" pitchFamily="34" charset="-122"/>
                <a:cs typeface="微软雅黑" panose="020B0503020204020204" pitchFamily="34" charset="-122"/>
                <a:sym typeface="+mn-lt"/>
              </a:rPr>
              <a:t>BG</a:t>
            </a:r>
          </a:p>
          <a:p>
            <a:pPr algn="ctr"/>
            <a:endParaRPr lang="en-US" altLang="zh-CN" sz="1200" dirty="0">
              <a:solidFill>
                <a:srgbClr val="0092D6"/>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gn="ctr"/>
            <a:endParaRPr lang="zh-CN" altLang="en-US" sz="1200" dirty="0">
              <a:solidFill>
                <a:srgbClr val="0092D6"/>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2" name="矩形 21"/>
          <p:cNvSpPr/>
          <p:nvPr/>
        </p:nvSpPr>
        <p:spPr>
          <a:xfrm>
            <a:off x="5207179" y="1711354"/>
            <a:ext cx="500067" cy="459105"/>
          </a:xfrm>
          <a:prstGeom prst="rect">
            <a:avLst/>
          </a:prstGeom>
        </p:spPr>
        <p:txBody>
          <a:bodyPr wrap="square" lIns="91437" tIns="45718" rIns="91437" bIns="45718">
            <a:spAutoFit/>
          </a:bodyPr>
          <a:lstStyle/>
          <a:p>
            <a:pPr algn="ctr"/>
            <a:r>
              <a:rPr lang="zh-CN" altLang="en-US" sz="1200" dirty="0">
                <a:solidFill>
                  <a:srgbClr val="0092D6"/>
                </a:solidFill>
                <a:latin typeface="微软雅黑" panose="020B0503020204020204" pitchFamily="34" charset="-122"/>
                <a:ea typeface="微软雅黑" panose="020B0503020204020204" pitchFamily="34" charset="-122"/>
                <a:cs typeface="微软雅黑" panose="020B0503020204020204" pitchFamily="34" charset="-122"/>
                <a:sym typeface="+mn-lt"/>
              </a:rPr>
              <a:t>企业</a:t>
            </a:r>
            <a:r>
              <a:rPr lang="en-US" altLang="zh-CN" sz="1200" dirty="0">
                <a:solidFill>
                  <a:srgbClr val="0092D6"/>
                </a:solidFill>
                <a:latin typeface="微软雅黑" panose="020B0503020204020204" pitchFamily="34" charset="-122"/>
                <a:ea typeface="微软雅黑" panose="020B0503020204020204" pitchFamily="34" charset="-122"/>
                <a:cs typeface="微软雅黑" panose="020B0503020204020204" pitchFamily="34" charset="-122"/>
                <a:sym typeface="+mn-lt"/>
              </a:rPr>
              <a:t>BG</a:t>
            </a:r>
            <a:endParaRPr lang="zh-CN" altLang="en-US" sz="1200" dirty="0">
              <a:solidFill>
                <a:srgbClr val="0092D6"/>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3" name="矩形 22"/>
          <p:cNvSpPr/>
          <p:nvPr/>
        </p:nvSpPr>
        <p:spPr>
          <a:xfrm>
            <a:off x="5669824" y="1711354"/>
            <a:ext cx="708255" cy="459105"/>
          </a:xfrm>
          <a:prstGeom prst="rect">
            <a:avLst/>
          </a:prstGeom>
        </p:spPr>
        <p:txBody>
          <a:bodyPr wrap="square" lIns="91437" tIns="45718" rIns="91437" bIns="45718">
            <a:spAutoFit/>
          </a:bodyPr>
          <a:lstStyle/>
          <a:p>
            <a:pPr algn="ctr"/>
            <a:r>
              <a:rPr lang="zh-CN" altLang="en-US" sz="1200" dirty="0">
                <a:solidFill>
                  <a:srgbClr val="0092D6"/>
                </a:solidFill>
                <a:latin typeface="微软雅黑" panose="020B0503020204020204" pitchFamily="34" charset="-122"/>
                <a:ea typeface="微软雅黑" panose="020B0503020204020204" pitchFamily="34" charset="-122"/>
                <a:cs typeface="微软雅黑" panose="020B0503020204020204" pitchFamily="34" charset="-122"/>
                <a:sym typeface="+mn-lt"/>
              </a:rPr>
              <a:t>消费者</a:t>
            </a:r>
            <a:endParaRPr lang="en-US" altLang="zh-CN" sz="1200" dirty="0">
              <a:solidFill>
                <a:srgbClr val="0092D6"/>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gn="ctr"/>
            <a:r>
              <a:rPr lang="en-US" altLang="zh-CN" sz="1200" dirty="0">
                <a:solidFill>
                  <a:srgbClr val="0092D6"/>
                </a:solidFill>
                <a:latin typeface="微软雅黑" panose="020B0503020204020204" pitchFamily="34" charset="-122"/>
                <a:ea typeface="微软雅黑" panose="020B0503020204020204" pitchFamily="34" charset="-122"/>
                <a:cs typeface="微软雅黑" panose="020B0503020204020204" pitchFamily="34" charset="-122"/>
                <a:sym typeface="+mn-lt"/>
              </a:rPr>
              <a:t>BG</a:t>
            </a:r>
            <a:endParaRPr lang="zh-CN" altLang="en-US" sz="1200" dirty="0">
              <a:solidFill>
                <a:srgbClr val="0092D6"/>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2" name="组合 1"/>
          <p:cNvGrpSpPr/>
          <p:nvPr/>
        </p:nvGrpSpPr>
        <p:grpSpPr>
          <a:xfrm>
            <a:off x="1036565" y="1344636"/>
            <a:ext cx="2505769" cy="576887"/>
            <a:chOff x="-7293" y="1493340"/>
            <a:chExt cx="3341025" cy="769183"/>
          </a:xfrm>
        </p:grpSpPr>
        <p:grpSp>
          <p:nvGrpSpPr>
            <p:cNvPr id="26" name="组合 25"/>
            <p:cNvGrpSpPr/>
            <p:nvPr/>
          </p:nvGrpSpPr>
          <p:grpSpPr>
            <a:xfrm>
              <a:off x="-7293" y="1743781"/>
              <a:ext cx="3341025" cy="518742"/>
              <a:chOff x="1368238" y="2151176"/>
              <a:chExt cx="3341025" cy="518742"/>
            </a:xfrm>
          </p:grpSpPr>
          <p:sp>
            <p:nvSpPr>
              <p:cNvPr id="28" name="矩形 27"/>
              <p:cNvSpPr/>
              <p:nvPr/>
            </p:nvSpPr>
            <p:spPr>
              <a:xfrm>
                <a:off x="2800771" y="2151176"/>
                <a:ext cx="1266613" cy="429260"/>
              </a:xfrm>
              <a:prstGeom prst="rect">
                <a:avLst/>
              </a:prstGeom>
            </p:spPr>
            <p:txBody>
              <a:bodyPr wrap="none">
                <a:spAutoFit/>
              </a:bodyPr>
              <a:lstStyle/>
              <a:p>
                <a:pPr lvl="0" defTabSz="330200" eaLnBrk="1" fontAlgn="auto" hangingPunct="1">
                  <a:spcBef>
                    <a:spcPct val="20000"/>
                  </a:spcBef>
                  <a:spcAft>
                    <a:spcPts val="0"/>
                  </a:spcAft>
                  <a:buClr>
                    <a:srgbClr val="2183D9"/>
                  </a:buClr>
                  <a:tabLst>
                    <a:tab pos="8521700" algn="r"/>
                  </a:tabLst>
                  <a:defRPr/>
                </a:pPr>
                <a:r>
                  <a:rPr lang="zh-CN" altLang="en-US" sz="1500" b="1" dirty="0">
                    <a:solidFill>
                      <a:srgbClr val="C00000"/>
                    </a:solidFill>
                    <a:latin typeface="微软雅黑" panose="020B0503020204020204" pitchFamily="34" charset="-122"/>
                    <a:ea typeface="微软雅黑" panose="020B0503020204020204" pitchFamily="34" charset="-122"/>
                    <a:cs typeface="+mn-ea"/>
                    <a:sym typeface="+mn-lt"/>
                  </a:rPr>
                  <a:t>华为案例</a:t>
                </a:r>
              </a:p>
            </p:txBody>
          </p:sp>
          <p:cxnSp>
            <p:nvCxnSpPr>
              <p:cNvPr id="29" name="直接连接符 28"/>
              <p:cNvCxnSpPr/>
              <p:nvPr/>
            </p:nvCxnSpPr>
            <p:spPr>
              <a:xfrm>
                <a:off x="1368238" y="2669918"/>
                <a:ext cx="3341025"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30" name="图片 2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3142" y="1493340"/>
              <a:ext cx="677198" cy="662300"/>
            </a:xfrm>
            <a:prstGeom prst="rect">
              <a:avLst/>
            </a:prstGeom>
          </p:spPr>
        </p:pic>
      </p:grpSp>
      <p:sp>
        <p:nvSpPr>
          <p:cNvPr id="4" name="标题 1"/>
          <p:cNvSpPr txBox="1"/>
          <p:nvPr/>
        </p:nvSpPr>
        <p:spPr>
          <a:xfrm>
            <a:off x="597456" y="445414"/>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2060"/>
                </a:solidFill>
                <a:latin typeface="微软雅黑" panose="020B0503020204020204" pitchFamily="34" charset="-122"/>
                <a:ea typeface="微软雅黑" panose="020B0503020204020204" pitchFamily="34" charset="-122"/>
                <a:cs typeface="+mn-ea"/>
                <a:sym typeface="+mn-lt"/>
              </a:rPr>
              <a:t>战略规划组织：</a:t>
            </a:r>
            <a:r>
              <a:rPr lang="zh-CN" altLang="en-US" u="sng" dirty="0">
                <a:solidFill>
                  <a:srgbClr val="002060"/>
                </a:solidFill>
                <a:latin typeface="微软雅黑" panose="020B0503020204020204" pitchFamily="34" charset="-122"/>
                <a:ea typeface="微软雅黑" panose="020B0503020204020204" pitchFamily="34" charset="-122"/>
                <a:cs typeface="+mn-ea"/>
                <a:sym typeface="+mn-lt"/>
              </a:rPr>
              <a:t>业务战略</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+战略规划部+各BU/区域/职能主管</a:t>
            </a:r>
          </a:p>
        </p:txBody>
      </p:sp>
      <p:grpSp>
        <p:nvGrpSpPr>
          <p:cNvPr id="27" name="组合 26"/>
          <p:cNvGrpSpPr/>
          <p:nvPr/>
        </p:nvGrpSpPr>
        <p:grpSpPr>
          <a:xfrm>
            <a:off x="1409700" y="2046605"/>
            <a:ext cx="1907540" cy="3011170"/>
            <a:chOff x="1050" y="3454"/>
            <a:chExt cx="3900" cy="6300"/>
          </a:xfrm>
          <a:solidFill>
            <a:schemeClr val="accent1">
              <a:lumMod val="20000"/>
              <a:lumOff val="80000"/>
            </a:schemeClr>
          </a:solidFill>
        </p:grpSpPr>
        <p:sp>
          <p:nvSpPr>
            <p:cNvPr id="5" name="等腰三角形 4"/>
            <p:cNvSpPr/>
            <p:nvPr/>
          </p:nvSpPr>
          <p:spPr>
            <a:xfrm>
              <a:off x="1050" y="3454"/>
              <a:ext cx="3900" cy="6300"/>
            </a:xfrm>
            <a:prstGeom prst="triangle">
              <a:avLst/>
            </a:prstGeom>
            <a:grpFill/>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sz="1200">
                <a:latin typeface="微软雅黑" panose="020B0503020204020204" pitchFamily="34" charset="-122"/>
                <a:ea typeface="微软雅黑" panose="020B0503020204020204" pitchFamily="34" charset="-122"/>
                <a:cs typeface="+mn-ea"/>
                <a:sym typeface="+mn-lt"/>
              </a:endParaRPr>
            </a:p>
          </p:txBody>
        </p:sp>
        <p:sp>
          <p:nvSpPr>
            <p:cNvPr id="6" name="TextBox 7"/>
            <p:cNvSpPr txBox="1"/>
            <p:nvPr/>
          </p:nvSpPr>
          <p:spPr>
            <a:xfrm>
              <a:off x="2423" y="4580"/>
              <a:ext cx="1500" cy="1024"/>
            </a:xfrm>
            <a:prstGeom prst="rect">
              <a:avLst/>
            </a:prstGeom>
            <a:noFill/>
            <a:extLst>
              <a:ext uri="{909E8E84-426E-40DD-AFC4-6F175D3DCCD1}">
                <a14:hiddenFill xmlns:a14="http://schemas.microsoft.com/office/drawing/2010/main">
                  <a:grpFill/>
                </a14:hiddenFill>
              </a:ext>
            </a:extLst>
          </p:spPr>
          <p:txBody>
            <a:bodyPr wrap="square" lIns="121917" tIns="60958" rIns="121917" bIns="60958" rtlCol="0">
              <a:spAutoFit/>
            </a:bodyPr>
            <a:lstStyle/>
            <a:p>
              <a:r>
                <a:rPr lang="zh-CN" altLang="en-US" sz="1200" dirty="0">
                  <a:latin typeface="微软雅黑" panose="020B0503020204020204" pitchFamily="34" charset="-122"/>
                  <a:ea typeface="微软雅黑" panose="020B0503020204020204" pitchFamily="34" charset="-122"/>
                  <a:cs typeface="+mn-ea"/>
                  <a:sym typeface="+mn-lt"/>
                </a:rPr>
                <a:t>公司</a:t>
              </a:r>
              <a:endParaRPr lang="en-US" altLang="zh-CN" sz="1200" dirty="0">
                <a:latin typeface="微软雅黑" panose="020B0503020204020204" pitchFamily="34" charset="-122"/>
                <a:ea typeface="微软雅黑" panose="020B0503020204020204" pitchFamily="34" charset="-122"/>
                <a:cs typeface="+mn-ea"/>
                <a:sym typeface="+mn-lt"/>
              </a:endParaRPr>
            </a:p>
            <a:p>
              <a:r>
                <a:rPr lang="zh-CN" altLang="en-US" sz="1200" dirty="0">
                  <a:latin typeface="微软雅黑" panose="020B0503020204020204" pitchFamily="34" charset="-122"/>
                  <a:ea typeface="微软雅黑" panose="020B0503020204020204" pitchFamily="34" charset="-122"/>
                  <a:cs typeface="+mn-ea"/>
                  <a:sym typeface="+mn-lt"/>
                </a:rPr>
                <a:t>战略</a:t>
              </a:r>
            </a:p>
          </p:txBody>
        </p:sp>
        <p:sp>
          <p:nvSpPr>
            <p:cNvPr id="24" name="TextBox 8"/>
            <p:cNvSpPr txBox="1"/>
            <p:nvPr/>
          </p:nvSpPr>
          <p:spPr>
            <a:xfrm>
              <a:off x="2029" y="6754"/>
              <a:ext cx="1842" cy="638"/>
            </a:xfrm>
            <a:prstGeom prst="rect">
              <a:avLst/>
            </a:prstGeom>
            <a:grpFill/>
            <a:ln>
              <a:solidFill>
                <a:srgbClr val="C00000"/>
              </a:solidFill>
            </a:ln>
          </p:spPr>
          <p:txBody>
            <a:bodyPr wrap="square" lIns="121917" tIns="60958" rIns="121917" bIns="60958" rtlCol="0">
              <a:spAutoFit/>
            </a:bodyPr>
            <a:lstStyle/>
            <a:p>
              <a:r>
                <a:rPr lang="zh-CN" altLang="en-US" sz="1200" dirty="0">
                  <a:latin typeface="微软雅黑" panose="020B0503020204020204" pitchFamily="34" charset="-122"/>
                  <a:ea typeface="微软雅黑" panose="020B0503020204020204" pitchFamily="34" charset="-122"/>
                  <a:cs typeface="+mn-ea"/>
                  <a:sym typeface="+mn-lt"/>
                </a:rPr>
                <a:t>业务战略</a:t>
              </a:r>
            </a:p>
          </p:txBody>
        </p:sp>
        <p:sp>
          <p:nvSpPr>
            <p:cNvPr id="25" name="TextBox 9"/>
            <p:cNvSpPr txBox="1"/>
            <p:nvPr/>
          </p:nvSpPr>
          <p:spPr>
            <a:xfrm>
              <a:off x="1800" y="9004"/>
              <a:ext cx="1842" cy="638"/>
            </a:xfrm>
            <a:prstGeom prst="rect">
              <a:avLst/>
            </a:prstGeom>
            <a:grpFill/>
          </p:spPr>
          <p:txBody>
            <a:bodyPr wrap="square" lIns="121917" tIns="60958" rIns="121917" bIns="60958" rtlCol="0">
              <a:spAutoFit/>
            </a:bodyPr>
            <a:lstStyle/>
            <a:p>
              <a:r>
                <a:rPr lang="zh-CN" altLang="en-US" sz="1200" dirty="0">
                  <a:latin typeface="微软雅黑" panose="020B0503020204020204" pitchFamily="34" charset="-122"/>
                  <a:ea typeface="微软雅黑" panose="020B0503020204020204" pitchFamily="34" charset="-122"/>
                  <a:cs typeface="+mn-ea"/>
                  <a:sym typeface="+mn-lt"/>
                </a:rPr>
                <a:t>职能战略</a:t>
              </a:r>
            </a:p>
          </p:txBody>
        </p:sp>
      </p:grpSp>
      <p:sp>
        <p:nvSpPr>
          <p:cNvPr id="31" name="内容占位符 2"/>
          <p:cNvSpPr>
            <a:spLocks noGrp="1"/>
          </p:cNvSpPr>
          <p:nvPr/>
        </p:nvSpPr>
        <p:spPr>
          <a:xfrm>
            <a:off x="6352540" y="1724025"/>
            <a:ext cx="5121910" cy="4792345"/>
          </a:xfrm>
          <a:prstGeom prst="rect">
            <a:avLst/>
          </a:prstGeom>
        </p:spPr>
        <p:txBody>
          <a:bodyPr/>
          <a:lst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lvl="1"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lvl="2"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lvl="3"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lvl="4"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marL="0" indent="0">
              <a:lnSpc>
                <a:spcPct val="120000"/>
              </a:lnSpc>
              <a:buNone/>
            </a:pP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公司战略</a:t>
            </a:r>
            <a:endParaRPr lang="en-US" altLang="zh-CN"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algn="just" defTabSz="330200" eaLnBrk="0" hangingPunct="0">
              <a:lnSpc>
                <a:spcPct val="120000"/>
              </a:lnSpc>
              <a:spcBef>
                <a:spcPts val="800"/>
              </a:spcBef>
              <a:buClr>
                <a:srgbClr val="267FC3"/>
              </a:buClr>
              <a:buSzPct val="100000"/>
              <a:buFont typeface="Arial" panose="020B0604020202020204" pitchFamily="34" charset="0"/>
              <a:buChar char="•"/>
              <a:tabLst>
                <a:tab pos="8521700" algn="r"/>
              </a:tabLst>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lt"/>
              </a:rPr>
              <a:t>机会选择，顶层商业模式</a:t>
            </a:r>
            <a:endPar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algn="just" defTabSz="330200" eaLnBrk="0" hangingPunct="0">
              <a:lnSpc>
                <a:spcPct val="120000"/>
              </a:lnSpc>
              <a:spcBef>
                <a:spcPts val="800"/>
              </a:spcBef>
              <a:buClr>
                <a:srgbClr val="267FC3"/>
              </a:buClr>
              <a:buSzPct val="100000"/>
              <a:buFont typeface="Arial" panose="020B0604020202020204" pitchFamily="34" charset="0"/>
              <a:buChar char="•"/>
              <a:tabLst>
                <a:tab pos="8521700" algn="r"/>
              </a:tabLst>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lt"/>
              </a:rPr>
              <a:t>各</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lt"/>
              </a:rPr>
              <a:t>BG</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lt"/>
              </a:rPr>
              <a:t>长中短期目标，有效增长，实现最佳资源配置</a:t>
            </a:r>
            <a:endPar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algn="just" defTabSz="330200" eaLnBrk="0" hangingPunct="0">
              <a:lnSpc>
                <a:spcPct val="120000"/>
              </a:lnSpc>
              <a:spcBef>
                <a:spcPts val="800"/>
              </a:spcBef>
              <a:buClr>
                <a:srgbClr val="267FC3"/>
              </a:buClr>
              <a:buSzPct val="100000"/>
              <a:buFont typeface="Arial" panose="020B0604020202020204" pitchFamily="34" charset="0"/>
              <a:buChar char="•"/>
              <a:tabLst>
                <a:tab pos="8521700" algn="r"/>
              </a:tabLst>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lt"/>
              </a:rPr>
              <a:t>变革管理，风险控制</a:t>
            </a:r>
            <a:endPar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0" indent="0">
              <a:lnSpc>
                <a:spcPct val="120000"/>
              </a:lnSpc>
              <a:buNone/>
            </a:pP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业务战略</a:t>
            </a:r>
            <a:endParaRPr lang="en-US" altLang="zh-CN"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0" indent="0">
              <a:lnSpc>
                <a:spcPct val="120000"/>
              </a:lnSpc>
              <a:buNone/>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lt"/>
              </a:rPr>
              <a:t>分产线（各</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lt"/>
              </a:rPr>
              <a:t>BU</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lt"/>
              </a:rPr>
              <a:t>）和销线（区域</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lt"/>
              </a:rPr>
              <a:t>大客户）</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algn="just" defTabSz="330200" eaLnBrk="0" hangingPunct="0">
              <a:lnSpc>
                <a:spcPct val="120000"/>
              </a:lnSpc>
              <a:spcBef>
                <a:spcPts val="800"/>
              </a:spcBef>
              <a:buClr>
                <a:srgbClr val="267FC3"/>
              </a:buClr>
              <a:buSzPct val="100000"/>
              <a:buFont typeface="Arial" panose="020B0604020202020204" pitchFamily="34" charset="0"/>
              <a:buChar char="•"/>
              <a:tabLst>
                <a:tab pos="8521700" algn="r"/>
              </a:tabLst>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lt"/>
              </a:rPr>
              <a:t>客户选择，</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lt"/>
              </a:rPr>
              <a:t>E2E</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lt"/>
              </a:rPr>
              <a:t>解决方案，核心竞争力</a:t>
            </a:r>
            <a:endPar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algn="just" defTabSz="330200" eaLnBrk="0" hangingPunct="0">
              <a:lnSpc>
                <a:spcPct val="120000"/>
              </a:lnSpc>
              <a:spcBef>
                <a:spcPts val="800"/>
              </a:spcBef>
              <a:buClr>
                <a:srgbClr val="267FC3"/>
              </a:buClr>
              <a:buSzPct val="100000"/>
              <a:buFont typeface="Arial" panose="020B0604020202020204" pitchFamily="34" charset="0"/>
              <a:buChar char="•"/>
              <a:tabLst>
                <a:tab pos="8521700" algn="r"/>
              </a:tabLst>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lt"/>
              </a:rPr>
              <a:t>关注价值转移，商业模式、财务安全</a:t>
            </a:r>
            <a:endPar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algn="just" defTabSz="330200" eaLnBrk="0" hangingPunct="0">
              <a:lnSpc>
                <a:spcPct val="120000"/>
              </a:lnSpc>
              <a:spcBef>
                <a:spcPts val="800"/>
              </a:spcBef>
              <a:buClr>
                <a:srgbClr val="267FC3"/>
              </a:buClr>
              <a:buSzPct val="100000"/>
              <a:buFont typeface="Arial" panose="020B0604020202020204" pitchFamily="34" charset="0"/>
              <a:buChar char="•"/>
              <a:tabLst>
                <a:tab pos="8521700" algn="r"/>
              </a:tabLst>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lt"/>
              </a:rPr>
              <a:t>战略预备队，生态协同</a:t>
            </a:r>
            <a:endPar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0" indent="0">
              <a:lnSpc>
                <a:spcPct val="120000"/>
              </a:lnSpc>
              <a:buNone/>
            </a:pP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职能战略</a:t>
            </a:r>
            <a:endParaRPr lang="en-US" altLang="zh-CN"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algn="just" defTabSz="330200" eaLnBrk="0" hangingPunct="0">
              <a:lnSpc>
                <a:spcPct val="120000"/>
              </a:lnSpc>
              <a:spcBef>
                <a:spcPts val="800"/>
              </a:spcBef>
              <a:buClr>
                <a:srgbClr val="267FC3"/>
              </a:buClr>
              <a:buSzPct val="100000"/>
              <a:buFont typeface="Arial" panose="020B0604020202020204" pitchFamily="34" charset="0"/>
              <a:buChar char="•"/>
              <a:tabLst>
                <a:tab pos="8521700" algn="r"/>
              </a:tabLst>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lt"/>
              </a:rPr>
              <a:t>预算管理，战略聚焦的资源保障</a:t>
            </a:r>
            <a:endPar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algn="just" defTabSz="330200" eaLnBrk="0" hangingPunct="0">
              <a:lnSpc>
                <a:spcPct val="120000"/>
              </a:lnSpc>
              <a:spcBef>
                <a:spcPts val="800"/>
              </a:spcBef>
              <a:buClr>
                <a:srgbClr val="267FC3"/>
              </a:buClr>
              <a:buSzPct val="100000"/>
              <a:buFont typeface="Arial" panose="020B0604020202020204" pitchFamily="34" charset="0"/>
              <a:buChar char="•"/>
              <a:tabLst>
                <a:tab pos="8521700" algn="r"/>
              </a:tabLst>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lt"/>
              </a:rPr>
              <a:t>矩阵管理，结算策略拉通各业务模块的协同性</a:t>
            </a:r>
            <a:endPar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algn="just" defTabSz="330200" eaLnBrk="0" hangingPunct="0">
              <a:lnSpc>
                <a:spcPct val="120000"/>
              </a:lnSpc>
              <a:spcBef>
                <a:spcPts val="800"/>
              </a:spcBef>
              <a:buClr>
                <a:srgbClr val="267FC3"/>
              </a:buClr>
              <a:buSzPct val="100000"/>
              <a:buFont typeface="Arial" panose="020B0604020202020204" pitchFamily="34" charset="0"/>
              <a:buChar char="•"/>
              <a:tabLst>
                <a:tab pos="8521700" algn="r"/>
              </a:tabLst>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lt"/>
              </a:rPr>
              <a:t>变革指标管控，平衡计分绩效管控</a:t>
            </a:r>
          </a:p>
        </p:txBody>
      </p:sp>
      <p:sp>
        <p:nvSpPr>
          <p:cNvPr id="33" name="Rectangle 3"/>
          <p:cNvSpPr txBox="1">
            <a:spLocks noChangeArrowheads="1"/>
          </p:cNvSpPr>
          <p:nvPr/>
        </p:nvSpPr>
        <p:spPr bwMode="auto">
          <a:xfrm>
            <a:off x="1725990" y="6292727"/>
            <a:ext cx="874008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2000" b="1" dirty="0">
                <a:solidFill>
                  <a:schemeClr val="bg1"/>
                </a:solidFill>
                <a:effectLst/>
                <a:latin typeface="微软雅黑" panose="020B0503020204020204" pitchFamily="34" charset="-122"/>
                <a:ea typeface="微软雅黑" panose="020B0503020204020204" pitchFamily="34" charset="-122"/>
              </a:rPr>
              <a:t>战略规划、组织人才、质量运营、流程</a:t>
            </a:r>
            <a:r>
              <a:rPr lang="en-US" altLang="zh-CN" sz="2000" b="1" dirty="0">
                <a:solidFill>
                  <a:schemeClr val="bg1"/>
                </a:solidFill>
                <a:effectLst/>
                <a:latin typeface="微软雅黑" panose="020B0503020204020204" pitchFamily="34" charset="-122"/>
                <a:ea typeface="微软雅黑" panose="020B0503020204020204" pitchFamily="34" charset="-122"/>
              </a:rPr>
              <a:t>IT…</a:t>
            </a:r>
            <a:r>
              <a:rPr lang="zh-CN" altLang="en-US" sz="2000" b="1" dirty="0">
                <a:solidFill>
                  <a:schemeClr val="bg1"/>
                </a:solidFill>
                <a:effectLst/>
                <a:latin typeface="微软雅黑" panose="020B0503020204020204" pitchFamily="34" charset="-122"/>
                <a:ea typeface="微软雅黑" panose="020B0503020204020204" pitchFamily="34" charset="-122"/>
              </a:rPr>
              <a:t>全是</a:t>
            </a:r>
            <a:r>
              <a:rPr lang="zh-CN" altLang="en-US" sz="2000" b="1" dirty="0">
                <a:solidFill>
                  <a:srgbClr val="FCC78C"/>
                </a:solidFill>
                <a:effectLst/>
                <a:latin typeface="微软雅黑" panose="020B0503020204020204" pitchFamily="34" charset="-122"/>
                <a:ea typeface="微软雅黑" panose="020B0503020204020204" pitchFamily="34" charset="-122"/>
              </a:rPr>
              <a:t>一把手</a:t>
            </a:r>
            <a:r>
              <a:rPr lang="zh-CN" altLang="en-US" sz="2000" b="1" dirty="0">
                <a:solidFill>
                  <a:schemeClr val="bg1"/>
                </a:solidFill>
                <a:effectLst/>
                <a:latin typeface="微软雅黑" panose="020B0503020204020204" pitchFamily="34" charset="-122"/>
                <a:ea typeface="微软雅黑" panose="020B0503020204020204" pitchFamily="34" charset="-122"/>
              </a:rPr>
              <a:t>工程！业务主管负责！</a:t>
            </a:r>
            <a:endParaRPr lang="en-US" altLang="zh-CN" sz="2000" b="1" dirty="0">
              <a:solidFill>
                <a:schemeClr val="bg1"/>
              </a:solidFill>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0465"/>
            <a:ext cx="12206605" cy="522605"/>
          </a:xfrm>
          <a:prstGeom prst="rect">
            <a:avLst/>
          </a:prstGeom>
        </p:spPr>
      </p:pic>
      <p:grpSp>
        <p:nvGrpSpPr>
          <p:cNvPr id="24" name="组合 23"/>
          <p:cNvGrpSpPr/>
          <p:nvPr/>
        </p:nvGrpSpPr>
        <p:grpSpPr>
          <a:xfrm>
            <a:off x="2874687" y="3567412"/>
            <a:ext cx="5349440" cy="598805"/>
            <a:chOff x="266002" y="2132856"/>
            <a:chExt cx="7132587" cy="798407"/>
          </a:xfrm>
        </p:grpSpPr>
        <p:sp>
          <p:nvSpPr>
            <p:cNvPr id="25" name="文本框 24"/>
            <p:cNvSpPr txBox="1"/>
            <p:nvPr/>
          </p:nvSpPr>
          <p:spPr>
            <a:xfrm>
              <a:off x="266002" y="2132856"/>
              <a:ext cx="571500" cy="798407"/>
            </a:xfrm>
            <a:prstGeom prst="rect">
              <a:avLst/>
            </a:prstGeom>
            <a:noFill/>
          </p:spPr>
          <p:txBody>
            <a:bodyPr wrap="none" rtlCol="0">
              <a:spAutoFit/>
            </a:bodyPr>
            <a:lstStyle/>
            <a:p>
              <a:pPr algn="just"/>
              <a:r>
                <a:rPr lang="en-US" altLang="zh-CN" sz="3300" dirty="0">
                  <a:latin typeface="微软雅黑" panose="020B0503020204020204" pitchFamily="34" charset="-122"/>
                  <a:ea typeface="微软雅黑" panose="020B0503020204020204" pitchFamily="34" charset="-122"/>
                  <a:cs typeface="+mn-ea"/>
                  <a:sym typeface="+mn-lt"/>
                </a:rPr>
                <a:t>3</a:t>
              </a:r>
            </a:p>
          </p:txBody>
        </p:sp>
        <p:sp>
          <p:nvSpPr>
            <p:cNvPr id="26" name="矩形 25"/>
            <p:cNvSpPr/>
            <p:nvPr/>
          </p:nvSpPr>
          <p:spPr>
            <a:xfrm>
              <a:off x="848776" y="2401145"/>
              <a:ext cx="6549813" cy="429260"/>
            </a:xfrm>
            <a:prstGeom prst="rect">
              <a:avLst/>
            </a:prstGeom>
          </p:spPr>
          <p:txBody>
            <a:bodyPr wrap="none">
              <a:spAutoFit/>
            </a:bodyPr>
            <a:lstStyle/>
            <a:p>
              <a:pPr lvl="0" algn="ctr" defTabSz="330200" eaLnBrk="1" fontAlgn="auto" hangingPunct="1">
                <a:spcBef>
                  <a:spcPct val="20000"/>
                </a:spcBef>
                <a:spcAft>
                  <a:spcPts val="0"/>
                </a:spcAft>
                <a:buClr>
                  <a:srgbClr val="2183D9"/>
                </a:buClr>
                <a:tabLst>
                  <a:tab pos="8521700" algn="r"/>
                </a:tabLst>
                <a:defRPr/>
              </a:pPr>
              <a:r>
                <a:rPr lang="zh-CN" altLang="en-US" sz="1500"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远景目标牵引，队伍持续激励的首席教育官（</a:t>
              </a:r>
              <a:r>
                <a:rPr lang="en-US" altLang="zh-CN" sz="1500"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CEO</a:t>
              </a:r>
              <a:r>
                <a:rPr lang="zh-CN" altLang="en-US" sz="1500"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）角色</a:t>
              </a:r>
            </a:p>
          </p:txBody>
        </p:sp>
      </p:grpSp>
      <p:sp>
        <p:nvSpPr>
          <p:cNvPr id="3" name="矩形 2"/>
          <p:cNvSpPr/>
          <p:nvPr/>
        </p:nvSpPr>
        <p:spPr>
          <a:xfrm>
            <a:off x="1931194" y="1421765"/>
            <a:ext cx="5444966" cy="344805"/>
          </a:xfrm>
          <a:prstGeom prst="rect">
            <a:avLst/>
          </a:prstGeom>
        </p:spPr>
        <p:txBody>
          <a:bodyPr wrap="square">
            <a:spAutoFit/>
          </a:bodyPr>
          <a:lstStyle/>
          <a:p>
            <a:pPr algn="l"/>
            <a:r>
              <a:rPr lang="zh-CN" altLang="en-US" sz="1650" dirty="0">
                <a:solidFill>
                  <a:srgbClr val="C00000"/>
                </a:solidFill>
                <a:latin typeface="微软雅黑" panose="020B0503020204020204" pitchFamily="34" charset="-122"/>
                <a:ea typeface="微软雅黑" panose="020B0503020204020204" pitchFamily="34" charset="-122"/>
                <a:cs typeface="+mn-ea"/>
                <a:sym typeface="+mn-lt"/>
              </a:rPr>
              <a:t>方向大致正确、队伍充满活力，掌握拧麻花的艺术</a:t>
            </a:r>
          </a:p>
        </p:txBody>
      </p:sp>
      <p:sp>
        <p:nvSpPr>
          <p:cNvPr id="16" name="Rectangle 8"/>
          <p:cNvSpPr>
            <a:spLocks noChangeArrowheads="1"/>
          </p:cNvSpPr>
          <p:nvPr/>
        </p:nvSpPr>
        <p:spPr bwMode="auto">
          <a:xfrm>
            <a:off x="3387983" y="2758889"/>
            <a:ext cx="5767817" cy="904240"/>
          </a:xfrm>
          <a:prstGeom prst="rect">
            <a:avLst/>
          </a:prstGeom>
          <a:noFill/>
          <a:ln w="6350">
            <a:noFill/>
            <a:miter lim="800000"/>
          </a:ln>
        </p:spPr>
        <p:txBody>
          <a:bodyPr wrap="square" lIns="0" tIns="0" rIns="0" bIns="0" anchor="ctr">
            <a:spAutoFit/>
          </a:bodyPr>
          <a:lstStyle/>
          <a:p>
            <a:pPr marL="287020" lvl="1" indent="-285750" algn="just" defTabSz="330200">
              <a:spcBef>
                <a:spcPct val="20000"/>
              </a:spcBef>
              <a:buClr>
                <a:srgbClr val="267FC3"/>
              </a:buClr>
              <a:buFont typeface="Arial" panose="020B0604020202020204" pitchFamily="34" charset="0"/>
              <a:buChar char="•"/>
              <a:tabLst>
                <a:tab pos="8521700" algn="r"/>
              </a:tabLst>
            </a:pPr>
            <a:r>
              <a:rPr lang="zh-CN" altLang="en-US" sz="1275" dirty="0">
                <a:latin typeface="微软雅黑" panose="020B0503020204020204" pitchFamily="34" charset="-122"/>
                <a:ea typeface="微软雅黑" panose="020B0503020204020204" pitchFamily="34" charset="-122"/>
                <a:cs typeface="+mn-ea"/>
                <a:sym typeface="+mn-lt"/>
              </a:rPr>
              <a:t>洞察力与生存危机意识</a:t>
            </a:r>
          </a:p>
          <a:p>
            <a:pPr marL="287020" lvl="1" indent="-285750" algn="just" defTabSz="330200">
              <a:spcBef>
                <a:spcPct val="20000"/>
              </a:spcBef>
              <a:buClr>
                <a:srgbClr val="267FC3"/>
              </a:buClr>
              <a:buFont typeface="Arial" panose="020B0604020202020204" pitchFamily="34" charset="0"/>
              <a:buChar char="•"/>
              <a:tabLst>
                <a:tab pos="8521700" algn="r"/>
              </a:tabLst>
            </a:pPr>
            <a:r>
              <a:rPr lang="zh-CN" altLang="en-US" sz="1275" dirty="0">
                <a:latin typeface="微软雅黑" panose="020B0503020204020204" pitchFamily="34" charset="-122"/>
                <a:ea typeface="微软雅黑" panose="020B0503020204020204" pitchFamily="34" charset="-122"/>
                <a:cs typeface="+mn-ea"/>
                <a:sym typeface="+mn-lt"/>
              </a:rPr>
              <a:t>业务决断力与风险意识</a:t>
            </a:r>
          </a:p>
          <a:p>
            <a:pPr marL="287020" lvl="1" indent="-285750" algn="just" defTabSz="330200">
              <a:spcBef>
                <a:spcPct val="20000"/>
              </a:spcBef>
              <a:buClr>
                <a:srgbClr val="267FC3"/>
              </a:buClr>
              <a:buFont typeface="Arial" panose="020B0604020202020204" pitchFamily="34" charset="0"/>
              <a:buChar char="•"/>
              <a:tabLst>
                <a:tab pos="8521700" algn="r"/>
              </a:tabLst>
            </a:pPr>
            <a:r>
              <a:rPr lang="zh-CN" altLang="en-US" sz="1275" dirty="0">
                <a:latin typeface="微软雅黑" panose="020B0503020204020204" pitchFamily="34" charset="-122"/>
                <a:ea typeface="微软雅黑" panose="020B0503020204020204" pitchFamily="34" charset="-122"/>
                <a:cs typeface="+mn-ea"/>
                <a:sym typeface="+mn-lt"/>
              </a:rPr>
              <a:t>持续变革的领导力与均衡发展意识</a:t>
            </a:r>
          </a:p>
          <a:p>
            <a:pPr marL="287020" lvl="1" indent="-285750" algn="just" defTabSz="330200">
              <a:spcBef>
                <a:spcPct val="20000"/>
              </a:spcBef>
              <a:buClr>
                <a:srgbClr val="267FC3"/>
              </a:buClr>
              <a:buFont typeface="Arial" panose="020B0604020202020204" pitchFamily="34" charset="0"/>
              <a:buChar char="•"/>
              <a:tabLst>
                <a:tab pos="8521700" algn="r"/>
              </a:tabLst>
            </a:pPr>
            <a:r>
              <a:rPr lang="zh-CN" altLang="en-US" sz="1275" dirty="0">
                <a:latin typeface="微软雅黑" panose="020B0503020204020204" pitchFamily="34" charset="-122"/>
                <a:ea typeface="微软雅黑" panose="020B0503020204020204" pitchFamily="34" charset="-122"/>
                <a:cs typeface="+mn-ea"/>
                <a:sym typeface="+mn-lt"/>
              </a:rPr>
              <a:t>敢于舍的战略定力与不言弃的自我激励意识</a:t>
            </a:r>
          </a:p>
        </p:txBody>
      </p:sp>
      <p:grpSp>
        <p:nvGrpSpPr>
          <p:cNvPr id="17" name="组合 16"/>
          <p:cNvGrpSpPr/>
          <p:nvPr/>
        </p:nvGrpSpPr>
        <p:grpSpPr>
          <a:xfrm>
            <a:off x="2891197" y="1799160"/>
            <a:ext cx="5923387" cy="598805"/>
            <a:chOff x="288016" y="2132856"/>
            <a:chExt cx="7897850" cy="798407"/>
          </a:xfrm>
        </p:grpSpPr>
        <p:sp>
          <p:nvSpPr>
            <p:cNvPr id="18" name="文本框 17"/>
            <p:cNvSpPr txBox="1"/>
            <p:nvPr/>
          </p:nvSpPr>
          <p:spPr>
            <a:xfrm>
              <a:off x="288016" y="2132856"/>
              <a:ext cx="527473" cy="798407"/>
            </a:xfrm>
            <a:prstGeom prst="rect">
              <a:avLst/>
            </a:prstGeom>
            <a:noFill/>
          </p:spPr>
          <p:txBody>
            <a:bodyPr wrap="none" rtlCol="0">
              <a:spAutoFit/>
            </a:bodyPr>
            <a:lstStyle/>
            <a:p>
              <a:pPr algn="just"/>
              <a:r>
                <a:rPr lang="en-US" altLang="zh-CN" sz="3300" dirty="0">
                  <a:latin typeface="微软雅黑" panose="020B0503020204020204" pitchFamily="34" charset="-122"/>
                  <a:ea typeface="微软雅黑" panose="020B0503020204020204" pitchFamily="34" charset="-122"/>
                  <a:cs typeface="+mn-ea"/>
                  <a:sym typeface="+mn-lt"/>
                </a:rPr>
                <a:t>1</a:t>
              </a:r>
            </a:p>
          </p:txBody>
        </p:sp>
        <p:sp>
          <p:nvSpPr>
            <p:cNvPr id="19" name="矩形 18"/>
            <p:cNvSpPr/>
            <p:nvPr/>
          </p:nvSpPr>
          <p:spPr>
            <a:xfrm>
              <a:off x="782612" y="2386509"/>
              <a:ext cx="7403254" cy="429260"/>
            </a:xfrm>
            <a:prstGeom prst="rect">
              <a:avLst/>
            </a:prstGeom>
          </p:spPr>
          <p:txBody>
            <a:bodyPr wrap="none">
              <a:spAutoFit/>
            </a:bodyPr>
            <a:lstStyle/>
            <a:p>
              <a:pPr lvl="0" algn="ctr" defTabSz="330200" eaLnBrk="1" fontAlgn="auto" hangingPunct="1">
                <a:spcBef>
                  <a:spcPct val="20000"/>
                </a:spcBef>
                <a:spcAft>
                  <a:spcPts val="0"/>
                </a:spcAft>
                <a:buClr>
                  <a:srgbClr val="2183D9"/>
                </a:buClr>
                <a:tabLst>
                  <a:tab pos="8521700" algn="r"/>
                </a:tabLst>
                <a:defRPr/>
              </a:pPr>
              <a:r>
                <a:rPr lang="zh-CN" altLang="en-US" sz="15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愿景、使命、价值观、业务思想、变革管理的总设计师及践行者</a:t>
              </a:r>
            </a:p>
          </p:txBody>
        </p:sp>
      </p:grpSp>
      <p:grpSp>
        <p:nvGrpSpPr>
          <p:cNvPr id="20" name="组合 19"/>
          <p:cNvGrpSpPr/>
          <p:nvPr/>
        </p:nvGrpSpPr>
        <p:grpSpPr>
          <a:xfrm>
            <a:off x="2891197" y="2269246"/>
            <a:ext cx="2658803" cy="598805"/>
            <a:chOff x="288016" y="2132856"/>
            <a:chExt cx="3545071" cy="798407"/>
          </a:xfrm>
        </p:grpSpPr>
        <p:sp>
          <p:nvSpPr>
            <p:cNvPr id="21" name="文本框 20"/>
            <p:cNvSpPr txBox="1"/>
            <p:nvPr/>
          </p:nvSpPr>
          <p:spPr>
            <a:xfrm>
              <a:off x="288016" y="2132856"/>
              <a:ext cx="527473" cy="798407"/>
            </a:xfrm>
            <a:prstGeom prst="rect">
              <a:avLst/>
            </a:prstGeom>
            <a:noFill/>
          </p:spPr>
          <p:txBody>
            <a:bodyPr wrap="none" rtlCol="0">
              <a:spAutoFit/>
            </a:bodyPr>
            <a:lstStyle/>
            <a:p>
              <a:pPr algn="just"/>
              <a:r>
                <a:rPr lang="en-US" altLang="zh-CN" sz="3300" dirty="0">
                  <a:latin typeface="微软雅黑" panose="020B0503020204020204" pitchFamily="34" charset="-122"/>
                  <a:ea typeface="微软雅黑" panose="020B0503020204020204" pitchFamily="34" charset="-122"/>
                  <a:cs typeface="+mn-ea"/>
                  <a:sym typeface="+mn-lt"/>
                </a:rPr>
                <a:t>2</a:t>
              </a:r>
            </a:p>
          </p:txBody>
        </p:sp>
        <p:sp>
          <p:nvSpPr>
            <p:cNvPr id="22" name="矩形 21"/>
            <p:cNvSpPr/>
            <p:nvPr/>
          </p:nvSpPr>
          <p:spPr>
            <a:xfrm>
              <a:off x="776621" y="2386509"/>
              <a:ext cx="3056466" cy="429260"/>
            </a:xfrm>
            <a:prstGeom prst="rect">
              <a:avLst/>
            </a:prstGeom>
          </p:spPr>
          <p:txBody>
            <a:bodyPr wrap="none">
              <a:spAutoFit/>
            </a:bodyPr>
            <a:lstStyle/>
            <a:p>
              <a:pPr lvl="0" algn="ctr" defTabSz="330200" eaLnBrk="1" fontAlgn="auto" hangingPunct="1">
                <a:spcBef>
                  <a:spcPct val="20000"/>
                </a:spcBef>
                <a:spcAft>
                  <a:spcPts val="0"/>
                </a:spcAft>
                <a:buClr>
                  <a:srgbClr val="2183D9"/>
                </a:buClr>
                <a:tabLst>
                  <a:tab pos="8521700" algn="r"/>
                </a:tabLst>
                <a:defRPr/>
              </a:pPr>
              <a:r>
                <a:rPr lang="zh-CN" altLang="en-US" sz="15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战略素养中的拧麻花艺术</a:t>
              </a:r>
            </a:p>
          </p:txBody>
        </p:sp>
      </p:grpSp>
      <p:grpSp>
        <p:nvGrpSpPr>
          <p:cNvPr id="6" name="组合 5"/>
          <p:cNvGrpSpPr/>
          <p:nvPr/>
        </p:nvGrpSpPr>
        <p:grpSpPr>
          <a:xfrm>
            <a:off x="2754998" y="2322824"/>
            <a:ext cx="6303615" cy="1393041"/>
            <a:chOff x="1795636" y="2986181"/>
            <a:chExt cx="10972880" cy="1857388"/>
          </a:xfrm>
        </p:grpSpPr>
        <p:cxnSp>
          <p:nvCxnSpPr>
            <p:cNvPr id="15" name="直接连接符 14"/>
            <p:cNvCxnSpPr/>
            <p:nvPr/>
          </p:nvCxnSpPr>
          <p:spPr>
            <a:xfrm>
              <a:off x="1795636" y="2986181"/>
              <a:ext cx="1097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795636" y="4843569"/>
              <a:ext cx="1097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2" name="标题 1"/>
          <p:cNvSpPr txBox="1"/>
          <p:nvPr/>
        </p:nvSpPr>
        <p:spPr>
          <a:xfrm>
            <a:off x="574528" y="504955"/>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2060"/>
                </a:solidFill>
                <a:latin typeface="微软雅黑" panose="020B0503020204020204" pitchFamily="34" charset="-122"/>
                <a:ea typeface="微软雅黑" panose="020B0503020204020204" pitchFamily="34" charset="-122"/>
                <a:cs typeface="+mn-ea"/>
                <a:sym typeface="+mn-lt"/>
              </a:rPr>
              <a:t>各一把手战略素养：战略</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____</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力</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战略</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____</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力</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战略</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____</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力</a:t>
            </a:r>
          </a:p>
        </p:txBody>
      </p:sp>
      <p:sp>
        <p:nvSpPr>
          <p:cNvPr id="27" name="TextBox 26"/>
          <p:cNvSpPr txBox="1"/>
          <p:nvPr/>
        </p:nvSpPr>
        <p:spPr>
          <a:xfrm>
            <a:off x="1981228" y="4465964"/>
            <a:ext cx="8026003" cy="1091565"/>
          </a:xfrm>
          <a:prstGeom prst="rect">
            <a:avLst/>
          </a:prstGeom>
          <a:noFill/>
        </p:spPr>
        <p:txBody>
          <a:bodyPr wrap="square" rtlCol="0">
            <a:spAutoFit/>
          </a:bodyPr>
          <a:lstStyle/>
          <a:p>
            <a:pPr marL="357505" indent="-357505">
              <a:spcBef>
                <a:spcPts val="600"/>
              </a:spcBef>
              <a:buFont typeface="Arial" panose="020B0604020202020204" pitchFamily="34" charset="0"/>
              <a:buChar char="•"/>
            </a:pPr>
            <a:r>
              <a:rPr lang="zh-CN" altLang="en-US"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能力提升方式：</a:t>
            </a:r>
            <a:endParaRPr lang="en-US" altLang="zh-CN" sz="1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marL="628650" lvl="1" indent="-271780">
              <a:spcBef>
                <a:spcPts val="600"/>
              </a:spcBef>
              <a:buFont typeface="Wingdings" panose="05000000000000000000" pitchFamily="2" charset="2"/>
              <a:buChar char="ü"/>
            </a:pP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角色认知：</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理解并认同自身在战略规划中的角色和职责，转身</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marL="628650" lvl="1" indent="-271780">
              <a:spcBef>
                <a:spcPts val="600"/>
              </a:spcBef>
              <a:buFont typeface="Wingdings" panose="05000000000000000000" pitchFamily="2" charset="2"/>
              <a:buChar char="ü"/>
            </a:pP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掌握方法论：</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熟悉战略规划的思维方式、流程、方法论</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marL="628650" lvl="1" indent="-271780">
              <a:spcBef>
                <a:spcPts val="600"/>
              </a:spcBef>
              <a:buFont typeface="Wingdings" panose="05000000000000000000" pitchFamily="2" charset="2"/>
              <a:buChar char="ü"/>
            </a:pP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干中学：</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参与</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DSTE</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流程相关活动，岗位轮换</a:t>
            </a:r>
          </a:p>
        </p:txBody>
      </p:sp>
      <p:sp>
        <p:nvSpPr>
          <p:cNvPr id="30" name="Rectangle 3"/>
          <p:cNvSpPr txBox="1">
            <a:spLocks noChangeArrowheads="1"/>
          </p:cNvSpPr>
          <p:nvPr/>
        </p:nvSpPr>
        <p:spPr bwMode="auto">
          <a:xfrm>
            <a:off x="1524000" y="6310507"/>
            <a:ext cx="9144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2000" b="1" dirty="0">
                <a:solidFill>
                  <a:schemeClr val="bg1"/>
                </a:solidFill>
                <a:effectLst/>
                <a:latin typeface="微软雅黑" panose="020B0503020204020204" pitchFamily="34" charset="-122"/>
                <a:ea typeface="微软雅黑" panose="020B0503020204020204" pitchFamily="34" charset="-122"/>
              </a:rPr>
              <a:t>战略不能都等老板指令，授权范围内：先见</a:t>
            </a:r>
            <a:r>
              <a:rPr lang="en-US" altLang="zh-CN" sz="2000" b="1" dirty="0">
                <a:solidFill>
                  <a:schemeClr val="bg1"/>
                </a:solidFill>
                <a:effectLst/>
                <a:latin typeface="微软雅黑" panose="020B0503020204020204" pitchFamily="34" charset="-122"/>
                <a:ea typeface="微软雅黑" panose="020B0503020204020204" pitchFamily="34" charset="-122"/>
              </a:rPr>
              <a:t>+</a:t>
            </a:r>
            <a:r>
              <a:rPr lang="zh-CN" altLang="en-US" sz="2000" b="1" dirty="0">
                <a:solidFill>
                  <a:schemeClr val="bg1"/>
                </a:solidFill>
                <a:effectLst/>
                <a:latin typeface="微软雅黑" panose="020B0503020204020204" pitchFamily="34" charset="-122"/>
                <a:ea typeface="微软雅黑" panose="020B0503020204020204" pitchFamily="34" charset="-122"/>
              </a:rPr>
              <a:t>先决</a:t>
            </a:r>
            <a:r>
              <a:rPr lang="en-US" altLang="zh-CN" sz="2000" b="1" dirty="0">
                <a:solidFill>
                  <a:schemeClr val="bg1"/>
                </a:solidFill>
                <a:effectLst/>
                <a:latin typeface="微软雅黑" panose="020B0503020204020204" pitchFamily="34" charset="-122"/>
                <a:ea typeface="微软雅黑" panose="020B0503020204020204" pitchFamily="34" charset="-122"/>
              </a:rPr>
              <a:t>+</a:t>
            </a:r>
            <a:r>
              <a:rPr lang="zh-CN" altLang="en-US" sz="2000" b="1" dirty="0">
                <a:solidFill>
                  <a:schemeClr val="bg1"/>
                </a:solidFill>
                <a:effectLst/>
                <a:latin typeface="微软雅黑" panose="020B0503020204020204" pitchFamily="34" charset="-122"/>
                <a:ea typeface="微软雅黑" panose="020B0503020204020204" pitchFamily="34" charset="-122"/>
              </a:rPr>
              <a:t>先行。 案例：美军决策机制</a:t>
            </a:r>
            <a:endParaRPr lang="en-US" altLang="zh-CN" sz="2000" b="1" dirty="0">
              <a:solidFill>
                <a:schemeClr val="bg1"/>
              </a:solidFill>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3640"/>
            <a:ext cx="12206605" cy="522605"/>
          </a:xfrm>
          <a:prstGeom prst="rect">
            <a:avLst/>
          </a:prstGeom>
        </p:spPr>
      </p:pic>
      <p:sp>
        <p:nvSpPr>
          <p:cNvPr id="2" name="标题 1"/>
          <p:cNvSpPr txBox="1"/>
          <p:nvPr/>
        </p:nvSpPr>
        <p:spPr>
          <a:xfrm>
            <a:off x="502193" y="517795"/>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2060"/>
                </a:solidFill>
                <a:latin typeface="微软雅黑" panose="020B0503020204020204" pitchFamily="34" charset="-122"/>
                <a:ea typeface="微软雅黑" panose="020B0503020204020204" pitchFamily="34" charset="-122"/>
                <a:cs typeface="+mn-ea"/>
                <a:sym typeface="+mn-lt"/>
              </a:rPr>
              <a:t>看</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30</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年做</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10</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年：战略规划SP</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业务计划BP，长短结合</a:t>
            </a:r>
          </a:p>
        </p:txBody>
      </p:sp>
      <p:grpSp>
        <p:nvGrpSpPr>
          <p:cNvPr id="47" name="组合 46"/>
          <p:cNvGrpSpPr/>
          <p:nvPr/>
        </p:nvGrpSpPr>
        <p:grpSpPr>
          <a:xfrm>
            <a:off x="1898650" y="1180465"/>
            <a:ext cx="8373165" cy="4896519"/>
            <a:chOff x="-84" y="1929"/>
            <a:chExt cx="13722" cy="8024"/>
          </a:xfrm>
        </p:grpSpPr>
        <p:cxnSp>
          <p:nvCxnSpPr>
            <p:cNvPr id="3" name="直接箭头连接符 4"/>
            <p:cNvCxnSpPr>
              <a:cxnSpLocks noChangeShapeType="1"/>
            </p:cNvCxnSpPr>
            <p:nvPr/>
          </p:nvCxnSpPr>
          <p:spPr bwMode="auto">
            <a:xfrm>
              <a:off x="2072" y="8617"/>
              <a:ext cx="10772" cy="0"/>
            </a:xfrm>
            <a:prstGeom prst="straightConnector1">
              <a:avLst/>
            </a:prstGeom>
            <a:noFill/>
            <a:ln w="34925" algn="ctr">
              <a:solidFill>
                <a:schemeClr val="tx1">
                  <a:lumMod val="95000"/>
                  <a:lumOff val="5000"/>
                </a:schemeClr>
              </a:solidFill>
              <a:round/>
              <a:tailEnd type="triangle" w="med" len="med"/>
            </a:ln>
            <a:extLst>
              <a:ext uri="{909E8E84-426E-40DD-AFC4-6F175D3DCCD1}">
                <a14:hiddenFill xmlns:a14="http://schemas.microsoft.com/office/drawing/2010/main">
                  <a:noFill/>
                </a14:hiddenFill>
              </a:ext>
            </a:extLst>
          </p:spPr>
        </p:cxnSp>
        <p:cxnSp>
          <p:nvCxnSpPr>
            <p:cNvPr id="26" name="直接箭头连接符 6"/>
            <p:cNvCxnSpPr>
              <a:cxnSpLocks noChangeShapeType="1"/>
            </p:cNvCxnSpPr>
            <p:nvPr/>
          </p:nvCxnSpPr>
          <p:spPr bwMode="auto">
            <a:xfrm flipV="1">
              <a:off x="2072" y="2040"/>
              <a:ext cx="0" cy="6577"/>
            </a:xfrm>
            <a:prstGeom prst="straightConnector1">
              <a:avLst/>
            </a:prstGeom>
            <a:noFill/>
            <a:ln w="34925" algn="ctr">
              <a:solidFill>
                <a:schemeClr val="tx1">
                  <a:lumMod val="95000"/>
                  <a:lumOff val="5000"/>
                </a:schemeClr>
              </a:solidFill>
              <a:round/>
              <a:tailEnd type="triangle" w="med" len="med"/>
            </a:ln>
            <a:extLst>
              <a:ext uri="{909E8E84-426E-40DD-AFC4-6F175D3DCCD1}">
                <a14:hiddenFill xmlns:a14="http://schemas.microsoft.com/office/drawing/2010/main">
                  <a:noFill/>
                </a14:hiddenFill>
              </a:ext>
            </a:extLst>
          </p:spPr>
        </p:cxnSp>
        <p:cxnSp>
          <p:nvCxnSpPr>
            <p:cNvPr id="27" name="直接箭头连接符 9"/>
            <p:cNvCxnSpPr>
              <a:cxnSpLocks noChangeShapeType="1"/>
            </p:cNvCxnSpPr>
            <p:nvPr/>
          </p:nvCxnSpPr>
          <p:spPr bwMode="auto">
            <a:xfrm>
              <a:off x="2072" y="9285"/>
              <a:ext cx="10772" cy="0"/>
            </a:xfrm>
            <a:prstGeom prst="straightConnector1">
              <a:avLst/>
            </a:prstGeom>
            <a:noFill/>
            <a:ln w="12700" algn="ctr">
              <a:solidFill>
                <a:schemeClr val="tx1">
                  <a:lumMod val="95000"/>
                  <a:lumOff val="5000"/>
                </a:schemeClr>
              </a:solidFill>
              <a:round/>
              <a:tailEnd type="arrow" w="med" len="med"/>
            </a:ln>
            <a:extLst>
              <a:ext uri="{909E8E84-426E-40DD-AFC4-6F175D3DCCD1}">
                <a14:hiddenFill xmlns:a14="http://schemas.microsoft.com/office/drawing/2010/main">
                  <a:noFill/>
                </a14:hiddenFill>
              </a:ext>
            </a:extLst>
          </p:spPr>
        </p:cxnSp>
        <p:sp>
          <p:nvSpPr>
            <p:cNvPr id="28" name="TextBox 10"/>
            <p:cNvSpPr txBox="1">
              <a:spLocks noChangeArrowheads="1"/>
            </p:cNvSpPr>
            <p:nvPr/>
          </p:nvSpPr>
          <p:spPr bwMode="auto">
            <a:xfrm>
              <a:off x="1930" y="9400"/>
              <a:ext cx="1368" cy="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r>
                <a:rPr lang="zh-CN" altLang="en-US" sz="1600">
                  <a:solidFill>
                    <a:srgbClr val="AC0000"/>
                  </a:solidFill>
                  <a:latin typeface="微软雅黑" panose="020B0503020204020204" pitchFamily="34" charset="-122"/>
                  <a:ea typeface="微软雅黑" panose="020B0503020204020204" pitchFamily="34" charset="-122"/>
                  <a:cs typeface="+mn-ea"/>
                  <a:sym typeface="+mn-lt"/>
                </a:rPr>
                <a:t>战略性</a:t>
              </a:r>
            </a:p>
          </p:txBody>
        </p:sp>
        <p:sp>
          <p:nvSpPr>
            <p:cNvPr id="29" name="TextBox 11"/>
            <p:cNvSpPr txBox="1">
              <a:spLocks noChangeArrowheads="1"/>
            </p:cNvSpPr>
            <p:nvPr/>
          </p:nvSpPr>
          <p:spPr bwMode="auto">
            <a:xfrm>
              <a:off x="11570" y="9400"/>
              <a:ext cx="1388" cy="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r>
                <a:rPr lang="zh-CN" altLang="en-US" sz="1600" dirty="0">
                  <a:solidFill>
                    <a:srgbClr val="AC0000"/>
                  </a:solidFill>
                  <a:latin typeface="微软雅黑" panose="020B0503020204020204" pitchFamily="34" charset="-122"/>
                  <a:ea typeface="微软雅黑" panose="020B0503020204020204" pitchFamily="34" charset="-122"/>
                  <a:cs typeface="+mn-ea"/>
                  <a:sym typeface="+mn-lt"/>
                </a:rPr>
                <a:t>运营性</a:t>
              </a:r>
            </a:p>
          </p:txBody>
        </p:sp>
        <p:sp>
          <p:nvSpPr>
            <p:cNvPr id="30" name="TextBox 12"/>
            <p:cNvSpPr txBox="1">
              <a:spLocks noChangeArrowheads="1"/>
            </p:cNvSpPr>
            <p:nvPr/>
          </p:nvSpPr>
          <p:spPr bwMode="auto">
            <a:xfrm>
              <a:off x="1957" y="8617"/>
              <a:ext cx="942"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r>
                <a:rPr lang="zh-CN" altLang="en-US" sz="1400">
                  <a:solidFill>
                    <a:schemeClr val="tx1"/>
                  </a:solidFill>
                  <a:latin typeface="微软雅黑" panose="020B0503020204020204" pitchFamily="34" charset="-122"/>
                  <a:ea typeface="微软雅黑" panose="020B0503020204020204" pitchFamily="34" charset="-122"/>
                  <a:cs typeface="+mn-ea"/>
                  <a:sym typeface="+mn-lt"/>
                </a:rPr>
                <a:t>战略</a:t>
              </a:r>
            </a:p>
          </p:txBody>
        </p:sp>
        <p:sp>
          <p:nvSpPr>
            <p:cNvPr id="31" name="TextBox 13"/>
            <p:cNvSpPr txBox="1">
              <a:spLocks noChangeArrowheads="1"/>
            </p:cNvSpPr>
            <p:nvPr/>
          </p:nvSpPr>
          <p:spPr bwMode="auto">
            <a:xfrm>
              <a:off x="6267" y="8617"/>
              <a:ext cx="1920"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r>
                <a:rPr lang="zh-CN" altLang="en-US" sz="1400">
                  <a:solidFill>
                    <a:schemeClr val="tx1"/>
                  </a:solidFill>
                  <a:latin typeface="微软雅黑" panose="020B0503020204020204" pitchFamily="34" charset="-122"/>
                  <a:ea typeface="微软雅黑" panose="020B0503020204020204" pitchFamily="34" charset="-122"/>
                  <a:cs typeface="+mn-ea"/>
                  <a:sym typeface="+mn-lt"/>
                </a:rPr>
                <a:t>战略里程碑</a:t>
              </a:r>
            </a:p>
          </p:txBody>
        </p:sp>
        <p:sp>
          <p:nvSpPr>
            <p:cNvPr id="32" name="TextBox 14"/>
            <p:cNvSpPr txBox="1">
              <a:spLocks noChangeArrowheads="1"/>
            </p:cNvSpPr>
            <p:nvPr/>
          </p:nvSpPr>
          <p:spPr bwMode="auto">
            <a:xfrm>
              <a:off x="8875" y="8617"/>
              <a:ext cx="1755" cy="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r>
                <a:rPr lang="zh-CN" altLang="en-US" sz="1600">
                  <a:solidFill>
                    <a:schemeClr val="tx1"/>
                  </a:solidFill>
                  <a:latin typeface="微软雅黑" panose="020B0503020204020204" pitchFamily="34" charset="-122"/>
                  <a:ea typeface="微软雅黑" panose="020B0503020204020204" pitchFamily="34" charset="-122"/>
                  <a:cs typeface="+mn-ea"/>
                  <a:sym typeface="+mn-lt"/>
                </a:rPr>
                <a:t>运营计划</a:t>
              </a:r>
            </a:p>
          </p:txBody>
        </p:sp>
        <p:sp>
          <p:nvSpPr>
            <p:cNvPr id="33" name="TextBox 15"/>
            <p:cNvSpPr txBox="1">
              <a:spLocks noChangeArrowheads="1"/>
            </p:cNvSpPr>
            <p:nvPr/>
          </p:nvSpPr>
          <p:spPr bwMode="auto">
            <a:xfrm>
              <a:off x="11142" y="8617"/>
              <a:ext cx="1745" cy="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r>
                <a:rPr lang="zh-CN" altLang="en-US" sz="1600" dirty="0">
                  <a:latin typeface="微软雅黑" panose="020B0503020204020204" pitchFamily="34" charset="-122"/>
                  <a:ea typeface="微软雅黑" panose="020B0503020204020204" pitchFamily="34" charset="-122"/>
                  <a:cs typeface="+mn-ea"/>
                  <a:sym typeface="+mn-lt"/>
                </a:rPr>
                <a:t>全面</a:t>
              </a:r>
              <a:r>
                <a:rPr lang="zh-CN" altLang="en-US" sz="1600" dirty="0">
                  <a:solidFill>
                    <a:schemeClr val="tx1"/>
                  </a:solidFill>
                  <a:latin typeface="微软雅黑" panose="020B0503020204020204" pitchFamily="34" charset="-122"/>
                  <a:ea typeface="微软雅黑" panose="020B0503020204020204" pitchFamily="34" charset="-122"/>
                  <a:cs typeface="+mn-ea"/>
                  <a:sym typeface="+mn-lt"/>
                </a:rPr>
                <a:t>预算</a:t>
              </a:r>
            </a:p>
          </p:txBody>
        </p:sp>
        <p:sp>
          <p:nvSpPr>
            <p:cNvPr id="34" name="TextBox 16"/>
            <p:cNvSpPr txBox="1">
              <a:spLocks noChangeArrowheads="1"/>
            </p:cNvSpPr>
            <p:nvPr/>
          </p:nvSpPr>
          <p:spPr bwMode="auto">
            <a:xfrm>
              <a:off x="-84" y="2040"/>
              <a:ext cx="795" cy="1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r>
                <a:rPr lang="zh-CN" altLang="en-US" sz="1600" dirty="0">
                  <a:solidFill>
                    <a:srgbClr val="AC0000"/>
                  </a:solidFill>
                  <a:latin typeface="微软雅黑" panose="020B0503020204020204" pitchFamily="34" charset="-122"/>
                  <a:ea typeface="微软雅黑" panose="020B0503020204020204" pitchFamily="34" charset="-122"/>
                  <a:cs typeface="+mn-ea"/>
                  <a:sym typeface="+mn-lt"/>
                </a:rPr>
                <a:t>时间跨度</a:t>
              </a:r>
            </a:p>
          </p:txBody>
        </p:sp>
        <p:sp>
          <p:nvSpPr>
            <p:cNvPr id="35" name="TextBox 17"/>
            <p:cNvSpPr txBox="1">
              <a:spLocks noChangeArrowheads="1"/>
            </p:cNvSpPr>
            <p:nvPr/>
          </p:nvSpPr>
          <p:spPr bwMode="auto">
            <a:xfrm>
              <a:off x="937" y="2040"/>
              <a:ext cx="1136"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6</a:t>
              </a:r>
              <a:r>
                <a:rPr lang="zh-CN" alt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个月</a:t>
              </a:r>
            </a:p>
          </p:txBody>
        </p:sp>
        <p:sp>
          <p:nvSpPr>
            <p:cNvPr id="36" name="TextBox 18"/>
            <p:cNvSpPr txBox="1">
              <a:spLocks noChangeArrowheads="1"/>
            </p:cNvSpPr>
            <p:nvPr/>
          </p:nvSpPr>
          <p:spPr bwMode="auto">
            <a:xfrm>
              <a:off x="825" y="2982"/>
              <a:ext cx="1336"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12</a:t>
              </a:r>
              <a:r>
                <a:rPr lang="zh-CN" alt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个月</a:t>
              </a:r>
            </a:p>
          </p:txBody>
        </p:sp>
        <p:sp>
          <p:nvSpPr>
            <p:cNvPr id="37" name="TextBox 19"/>
            <p:cNvSpPr txBox="1">
              <a:spLocks noChangeArrowheads="1"/>
            </p:cNvSpPr>
            <p:nvPr/>
          </p:nvSpPr>
          <p:spPr bwMode="auto">
            <a:xfrm>
              <a:off x="825" y="4230"/>
              <a:ext cx="1336"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18</a:t>
              </a:r>
              <a:r>
                <a:rPr lang="zh-CN" alt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个月</a:t>
              </a:r>
            </a:p>
          </p:txBody>
        </p:sp>
        <p:sp>
          <p:nvSpPr>
            <p:cNvPr id="38" name="TextBox 20"/>
            <p:cNvSpPr txBox="1">
              <a:spLocks noChangeArrowheads="1"/>
            </p:cNvSpPr>
            <p:nvPr/>
          </p:nvSpPr>
          <p:spPr bwMode="auto">
            <a:xfrm>
              <a:off x="1277" y="5250"/>
              <a:ext cx="813"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2</a:t>
              </a: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年</a:t>
              </a:r>
            </a:p>
          </p:txBody>
        </p:sp>
        <p:sp>
          <p:nvSpPr>
            <p:cNvPr id="39" name="TextBox 21"/>
            <p:cNvSpPr txBox="1">
              <a:spLocks noChangeArrowheads="1"/>
            </p:cNvSpPr>
            <p:nvPr/>
          </p:nvSpPr>
          <p:spPr bwMode="auto">
            <a:xfrm>
              <a:off x="1277" y="7745"/>
              <a:ext cx="813"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5</a:t>
              </a:r>
              <a:r>
                <a:rPr lang="zh-CN" alt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年</a:t>
              </a:r>
            </a:p>
          </p:txBody>
        </p:sp>
        <p:sp>
          <p:nvSpPr>
            <p:cNvPr id="40" name="椭圆 39"/>
            <p:cNvSpPr/>
            <p:nvPr/>
          </p:nvSpPr>
          <p:spPr bwMode="auto">
            <a:xfrm>
              <a:off x="1278" y="4649"/>
              <a:ext cx="7257" cy="2268"/>
            </a:xfrm>
            <a:prstGeom prst="ellipse">
              <a:avLst/>
            </a:prstGeom>
            <a:solidFill>
              <a:schemeClr val="accent1">
                <a:lumMod val="50000"/>
              </a:schemeClr>
            </a:solidFill>
            <a:ln w="12700" cap="flat" cmpd="sng" algn="ctr">
              <a:noFill/>
              <a:prstDash val="solid"/>
              <a:round/>
              <a:headEnd type="arrow" w="med" len="med"/>
              <a:tailEnd type="none" w="med" len="med"/>
            </a:ln>
            <a:effectLst/>
            <a:scene3d>
              <a:camera prst="orthographicFront">
                <a:rot lat="0" lon="0" rev="2700000"/>
              </a:camera>
              <a:lightRig rig="threePt" dir="t"/>
            </a:scene3d>
          </p:spPr>
          <p:txBody>
            <a:bodyPr lIns="90000" tIns="46800" rIns="90000" bIns="46800" anchor="ctr"/>
            <a:lstStyle/>
            <a:p>
              <a:pPr algn="ctr" eaLnBrk="0" hangingPunct="0">
                <a:lnSpc>
                  <a:spcPct val="87000"/>
                </a:lnSpc>
                <a:spcBef>
                  <a:spcPct val="39000"/>
                </a:spcBef>
                <a:buSzPct val="25000"/>
                <a:defRPr/>
              </a:pPr>
              <a:r>
                <a:rPr lang="zh-CN" altLang="en-US"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lt"/>
                </a:rPr>
                <a:t>中长期发展规划</a:t>
              </a:r>
              <a:r>
                <a:rPr lang="en-US"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lt"/>
                </a:rPr>
                <a:t>SP</a:t>
              </a:r>
            </a:p>
            <a:p>
              <a:pPr algn="ctr" eaLnBrk="0" hangingPunct="0">
                <a:lnSpc>
                  <a:spcPct val="87000"/>
                </a:lnSpc>
                <a:spcBef>
                  <a:spcPct val="39000"/>
                </a:spcBef>
                <a:buSzPct val="25000"/>
                <a:defRPr/>
              </a:pPr>
              <a:r>
                <a:rPr lang="en-US"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lt"/>
                </a:rPr>
                <a:t>春季规划</a:t>
              </a:r>
              <a:r>
                <a:rPr lang="en-US"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lt"/>
                </a:rPr>
                <a:t>)</a:t>
              </a:r>
            </a:p>
          </p:txBody>
        </p:sp>
        <p:sp>
          <p:nvSpPr>
            <p:cNvPr id="41" name="椭圆 40"/>
            <p:cNvSpPr/>
            <p:nvPr/>
          </p:nvSpPr>
          <p:spPr bwMode="auto">
            <a:xfrm>
              <a:off x="6380" y="2380"/>
              <a:ext cx="7258" cy="2042"/>
            </a:xfrm>
            <a:prstGeom prst="ellipse">
              <a:avLst/>
            </a:prstGeom>
            <a:solidFill>
              <a:schemeClr val="accent2">
                <a:lumMod val="75000"/>
                <a:alpha val="70000"/>
              </a:schemeClr>
            </a:solidFill>
            <a:ln w="12700" cap="flat" cmpd="sng" algn="ctr">
              <a:noFill/>
              <a:prstDash val="solid"/>
              <a:round/>
              <a:headEnd type="arrow" w="med" len="med"/>
              <a:tailEnd type="none" w="med" len="med"/>
            </a:ln>
            <a:effectLst/>
          </p:spPr>
          <p:txBody>
            <a:bodyPr lIns="90000" tIns="46800" rIns="90000" bIns="46800" anchor="ctr"/>
            <a:lstStyle/>
            <a:p>
              <a:pPr algn="ctr" eaLnBrk="0" hangingPunct="0">
                <a:lnSpc>
                  <a:spcPct val="87000"/>
                </a:lnSpc>
                <a:spcBef>
                  <a:spcPct val="39000"/>
                </a:spcBef>
                <a:buSzPct val="25000"/>
                <a:defRPr/>
              </a:pPr>
              <a:r>
                <a:rPr lang="zh-CN" altLang="en-US"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lt"/>
                </a:rPr>
                <a:t>年度业务计划和经营预算</a:t>
              </a:r>
              <a:r>
                <a:rPr lang="en-US"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lt"/>
                </a:rPr>
                <a:t>BP</a:t>
              </a:r>
            </a:p>
            <a:p>
              <a:pPr algn="ctr" eaLnBrk="0" hangingPunct="0">
                <a:lnSpc>
                  <a:spcPct val="87000"/>
                </a:lnSpc>
                <a:spcBef>
                  <a:spcPct val="39000"/>
                </a:spcBef>
                <a:buSzPct val="25000"/>
                <a:defRPr/>
              </a:pPr>
              <a:r>
                <a:rPr lang="en-US"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lt"/>
                </a:rPr>
                <a:t>秋季规划</a:t>
              </a:r>
              <a:r>
                <a:rPr lang="en-US"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lt"/>
                </a:rPr>
                <a:t>)</a:t>
              </a:r>
            </a:p>
          </p:txBody>
        </p:sp>
        <p:cxnSp>
          <p:nvCxnSpPr>
            <p:cNvPr id="42" name="直接箭头连接符 26"/>
            <p:cNvCxnSpPr>
              <a:cxnSpLocks noChangeShapeType="1"/>
            </p:cNvCxnSpPr>
            <p:nvPr/>
          </p:nvCxnSpPr>
          <p:spPr bwMode="auto">
            <a:xfrm flipV="1">
              <a:off x="6722" y="4535"/>
              <a:ext cx="2380" cy="1247"/>
            </a:xfrm>
            <a:prstGeom prst="straightConnector1">
              <a:avLst/>
            </a:prstGeom>
            <a:noFill/>
            <a:ln w="38100" algn="ctr">
              <a:solidFill>
                <a:schemeClr val="tx1">
                  <a:lumMod val="95000"/>
                  <a:lumOff val="5000"/>
                </a:schemeClr>
              </a:solidFill>
              <a:round/>
              <a:tailEnd type="arrow" w="med" len="med"/>
            </a:ln>
            <a:extLst>
              <a:ext uri="{909E8E84-426E-40DD-AFC4-6F175D3DCCD1}">
                <a14:hiddenFill xmlns:a14="http://schemas.microsoft.com/office/drawing/2010/main">
                  <a:noFill/>
                </a14:hiddenFill>
              </a:ext>
            </a:extLst>
          </p:spPr>
        </p:cxnSp>
        <p:sp>
          <p:nvSpPr>
            <p:cNvPr id="43" name="TextBox 27"/>
            <p:cNvSpPr txBox="1">
              <a:spLocks noChangeArrowheads="1"/>
            </p:cNvSpPr>
            <p:nvPr/>
          </p:nvSpPr>
          <p:spPr bwMode="auto">
            <a:xfrm rot="19800000">
              <a:off x="6629" y="5255"/>
              <a:ext cx="3124" cy="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0" dirty="0">
                  <a:solidFill>
                    <a:srgbClr val="AC0000"/>
                  </a:solidFill>
                  <a:latin typeface="微软雅黑" panose="020B0503020204020204" pitchFamily="34" charset="-122"/>
                  <a:ea typeface="微软雅黑" panose="020B0503020204020204" pitchFamily="34" charset="-122"/>
                  <a:cs typeface="+mn-ea"/>
                  <a:sym typeface="+mn-lt"/>
                </a:rPr>
                <a:t>中长期发展规划牵引年度计划</a:t>
              </a:r>
            </a:p>
          </p:txBody>
        </p:sp>
        <p:sp>
          <p:nvSpPr>
            <p:cNvPr id="44" name="Text Box 21"/>
            <p:cNvSpPr txBox="1">
              <a:spLocks noChangeArrowheads="1"/>
            </p:cNvSpPr>
            <p:nvPr/>
          </p:nvSpPr>
          <p:spPr bwMode="gray">
            <a:xfrm>
              <a:off x="4659" y="1929"/>
              <a:ext cx="1916" cy="605"/>
            </a:xfrm>
            <a:prstGeom prst="rect">
              <a:avLst/>
            </a:prstGeom>
            <a:noFill/>
            <a:ln>
              <a:noFill/>
            </a:ln>
            <a:effectLst/>
            <a:extLst>
              <a:ext uri="{909E8E84-426E-40DD-AFC4-6F175D3DCCD1}">
                <a14:hiddenFill xmlns:a14="http://schemas.microsoft.com/office/drawing/2010/main">
                  <a:solidFill>
                    <a:srgbClr val="FFCC66">
                      <a:alpha val="50000"/>
                    </a:srgbClr>
                  </a:solidFill>
                </a14:hiddenFill>
              </a:ext>
              <a:ext uri="{91240B29-F687-4F45-9708-019B960494DF}">
                <a14:hiddenLine xmlns:a14="http://schemas.microsoft.com/office/drawing/2010/main" w="9525">
                  <a:solidFill>
                    <a:srgbClr val="A9A49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ctr" eaLnBrk="0" fontAlgn="base" hangingPunct="0"/>
              <a:r>
                <a:rPr lang="zh-CN" altLang="en-US" sz="1200" i="0" dirty="0">
                  <a:solidFill>
                    <a:srgbClr val="AC0000"/>
                  </a:solidFill>
                  <a:latin typeface="微软雅黑" panose="020B0503020204020204" pitchFamily="34" charset="-122"/>
                  <a:ea typeface="微软雅黑" panose="020B0503020204020204" pitchFamily="34" charset="-122"/>
                  <a:cs typeface="微软雅黑" panose="020B0503020204020204" pitchFamily="34" charset="-122"/>
                  <a:sym typeface="+mn-lt"/>
                </a:rPr>
                <a:t>战略里程碑和</a:t>
              </a:r>
            </a:p>
            <a:p>
              <a:pPr algn="ctr" eaLnBrk="0" fontAlgn="base" hangingPunct="0"/>
              <a:r>
                <a:rPr lang="en-US" altLang="zh-CN" sz="1200" i="0" dirty="0">
                  <a:solidFill>
                    <a:srgbClr val="AC0000"/>
                  </a:solidFill>
                  <a:latin typeface="微软雅黑" panose="020B0503020204020204" pitchFamily="34" charset="-122"/>
                  <a:ea typeface="微软雅黑" panose="020B0503020204020204" pitchFamily="34" charset="-122"/>
                  <a:cs typeface="微软雅黑" panose="020B0503020204020204" pitchFamily="34" charset="-122"/>
                  <a:sym typeface="+mn-lt"/>
                </a:rPr>
                <a:t>METRICS </a:t>
              </a:r>
              <a:r>
                <a:rPr lang="zh-CN" altLang="en-US" sz="1200" i="0" dirty="0">
                  <a:solidFill>
                    <a:srgbClr val="AC0000"/>
                  </a:solidFill>
                  <a:latin typeface="微软雅黑" panose="020B0503020204020204" pitchFamily="34" charset="-122"/>
                  <a:ea typeface="微软雅黑" panose="020B0503020204020204" pitchFamily="34" charset="-122"/>
                  <a:cs typeface="微软雅黑" panose="020B0503020204020204" pitchFamily="34" charset="-122"/>
                  <a:sym typeface="+mn-lt"/>
                </a:rPr>
                <a:t>指标</a:t>
              </a:r>
            </a:p>
          </p:txBody>
        </p:sp>
        <p:cxnSp>
          <p:nvCxnSpPr>
            <p:cNvPr id="45" name="直接箭头连接符 44"/>
            <p:cNvCxnSpPr/>
            <p:nvPr/>
          </p:nvCxnSpPr>
          <p:spPr bwMode="auto">
            <a:xfrm>
              <a:off x="6154" y="2721"/>
              <a:ext cx="907" cy="795"/>
            </a:xfrm>
            <a:prstGeom prst="straightConnector1">
              <a:avLst/>
            </a:prstGeom>
            <a:solidFill>
              <a:schemeClr val="accent1"/>
            </a:solidFill>
            <a:ln w="19050" cap="flat" cmpd="sng" algn="ctr">
              <a:solidFill>
                <a:schemeClr val="tx1">
                  <a:lumMod val="95000"/>
                  <a:lumOff val="5000"/>
                </a:schemeClr>
              </a:solidFill>
              <a:prstDash val="solid"/>
              <a:miter lim="800000"/>
              <a:headEnd type="none" w="med" len="med"/>
              <a:tailEnd type="triangle"/>
            </a:ln>
            <a:effectLst/>
          </p:spPr>
        </p:cxnSp>
        <p:sp>
          <p:nvSpPr>
            <p:cNvPr id="46" name="椭圆 45"/>
            <p:cNvSpPr/>
            <p:nvPr/>
          </p:nvSpPr>
          <p:spPr bwMode="auto">
            <a:xfrm>
              <a:off x="3518" y="7314"/>
              <a:ext cx="3543" cy="1260"/>
            </a:xfrm>
            <a:prstGeom prst="ellipse">
              <a:avLst/>
            </a:prstGeom>
            <a:solidFill>
              <a:srgbClr val="594531">
                <a:alpha val="69804"/>
              </a:srgbClr>
            </a:solidFill>
            <a:ln w="12700" cap="flat" cmpd="sng" algn="ctr">
              <a:noFill/>
              <a:prstDash val="solid"/>
              <a:round/>
              <a:headEnd type="arrow" w="med" len="med"/>
              <a:tailEnd type="none" w="med" len="med"/>
            </a:ln>
            <a:effectLst/>
          </p:spPr>
          <p:txBody>
            <a:bodyPr lIns="90000" tIns="46800" rIns="90000" bIns="46800" anchor="ctr"/>
            <a:lstStyle/>
            <a:p>
              <a:pPr algn="ctr" eaLnBrk="0" hangingPunct="0">
                <a:lnSpc>
                  <a:spcPct val="87000"/>
                </a:lnSpc>
                <a:spcBef>
                  <a:spcPct val="39000"/>
                </a:spcBef>
                <a:buSzPct val="25000"/>
                <a:defRPr/>
              </a:pPr>
              <a:r>
                <a:rPr lang="zh-CN" altLang="en-US"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lt"/>
                </a:rPr>
                <a:t>未来产业研究</a:t>
              </a:r>
              <a:endParaRPr lang="en-US"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lt"/>
              </a:endParaRPr>
            </a:p>
            <a:p>
              <a:pPr algn="ctr" eaLnBrk="0" hangingPunct="0">
                <a:lnSpc>
                  <a:spcPct val="87000"/>
                </a:lnSpc>
                <a:spcBef>
                  <a:spcPct val="39000"/>
                </a:spcBef>
                <a:buSzPct val="25000"/>
                <a:defRPr/>
              </a:pPr>
              <a:r>
                <a:rPr lang="en-US"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lt"/>
                </a:rPr>
                <a:t>(5-10</a:t>
              </a:r>
              <a:r>
                <a:rPr lang="zh-CN" altLang="en-US"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lt"/>
                </a:rPr>
                <a:t>年</a:t>
              </a:r>
              <a:r>
                <a:rPr lang="en-US"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lt"/>
                </a:rPr>
                <a:t>)</a:t>
              </a:r>
            </a:p>
          </p:txBody>
        </p:sp>
      </p:grpSp>
      <p:sp>
        <p:nvSpPr>
          <p:cNvPr id="49" name="Rectangle 3"/>
          <p:cNvSpPr txBox="1">
            <a:spLocks noChangeArrowheads="1"/>
          </p:cNvSpPr>
          <p:nvPr/>
        </p:nvSpPr>
        <p:spPr bwMode="auto">
          <a:xfrm>
            <a:off x="1409700" y="6296537"/>
            <a:ext cx="9144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2000" b="1" dirty="0">
                <a:solidFill>
                  <a:schemeClr val="bg1"/>
                </a:solidFill>
                <a:effectLst/>
                <a:latin typeface="微软雅黑" panose="020B0503020204020204" pitchFamily="34" charset="-122"/>
                <a:ea typeface="微软雅黑" panose="020B0503020204020204" pitchFamily="34" charset="-122"/>
              </a:rPr>
              <a:t>想不清楚</a:t>
            </a:r>
            <a:r>
              <a:rPr lang="en-US" altLang="zh-CN" sz="2000" b="1" dirty="0">
                <a:solidFill>
                  <a:srgbClr val="FCC78C"/>
                </a:solidFill>
                <a:effectLst/>
                <a:latin typeface="微软雅黑" panose="020B0503020204020204" pitchFamily="34" charset="-122"/>
                <a:ea typeface="微软雅黑" panose="020B0503020204020204" pitchFamily="34" charset="-122"/>
              </a:rPr>
              <a:t>10-30</a:t>
            </a:r>
            <a:r>
              <a:rPr lang="zh-CN" altLang="en-US" sz="2000" b="1" dirty="0">
                <a:solidFill>
                  <a:srgbClr val="FCC78C"/>
                </a:solidFill>
                <a:effectLst/>
                <a:latin typeface="微软雅黑" panose="020B0503020204020204" pitchFamily="34" charset="-122"/>
                <a:ea typeface="微软雅黑" panose="020B0503020204020204" pitchFamily="34" charset="-122"/>
              </a:rPr>
              <a:t>年</a:t>
            </a:r>
            <a:r>
              <a:rPr lang="zh-CN" altLang="en-US" sz="2000" b="1" dirty="0">
                <a:solidFill>
                  <a:schemeClr val="bg1"/>
                </a:solidFill>
                <a:effectLst/>
                <a:latin typeface="微软雅黑" panose="020B0503020204020204" pitchFamily="34" charset="-122"/>
                <a:ea typeface="微软雅黑" panose="020B0503020204020204" pitchFamily="34" charset="-122"/>
              </a:rPr>
              <a:t>后的产业和目标，就无法判断自己是否走在正确的道路上</a:t>
            </a:r>
            <a:endParaRPr lang="en-US" altLang="zh-CN" sz="2000" b="1" dirty="0">
              <a:solidFill>
                <a:schemeClr val="bg1"/>
              </a:solidFill>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3640"/>
            <a:ext cx="12206605" cy="522605"/>
          </a:xfrm>
          <a:prstGeom prst="rect">
            <a:avLst/>
          </a:prstGeom>
        </p:spPr>
      </p:pic>
      <p:sp>
        <p:nvSpPr>
          <p:cNvPr id="46" name="Rectangle 3"/>
          <p:cNvSpPr>
            <a:spLocks noChangeArrowheads="1"/>
          </p:cNvSpPr>
          <p:nvPr/>
        </p:nvSpPr>
        <p:spPr bwMode="auto">
          <a:xfrm>
            <a:off x="3614579" y="2132177"/>
            <a:ext cx="2128838" cy="3054883"/>
          </a:xfrm>
          <a:prstGeom prst="rect">
            <a:avLst/>
          </a:prstGeom>
          <a:noFill/>
          <a:ln w="9525" cap="flat" cmpd="sng" algn="ctr">
            <a:solidFill>
              <a:schemeClr val="tx1">
                <a:lumMod val="50000"/>
                <a:lumOff val="50000"/>
              </a:schemeClr>
            </a:solidFill>
            <a:prstDash val="lgDashDot"/>
          </a:ln>
          <a:effectLst/>
        </p:spPr>
        <p:txBody>
          <a:bodyPr wrap="square" lIns="60078" tIns="30039" rIns="60078" bIns="30039" anchor="t">
            <a:noAutofit/>
          </a:bodyPr>
          <a:lstStyle/>
          <a:p>
            <a:pPr marL="400685" marR="0" lvl="0" indent="-400685" algn="ctr" defTabSz="800735" eaLnBrk="1" fontAlgn="auto" latinLnBrk="0" hangingPunct="1">
              <a:lnSpc>
                <a:spcPct val="100000"/>
              </a:lnSpc>
              <a:spcBef>
                <a:spcPts val="0"/>
              </a:spcBef>
              <a:spcAft>
                <a:spcPts val="0"/>
              </a:spcAft>
              <a:buClr>
                <a:srgbClr val="000000"/>
              </a:buClr>
              <a:buSzPct val="50000"/>
              <a:buFontTx/>
              <a:buNone/>
              <a:defRPr/>
            </a:pPr>
            <a:r>
              <a:rPr kumimoji="0" lang="en-US" altLang="zh-CN" sz="1050" b="1" u="none" strike="noStrike" kern="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ea"/>
                <a:sym typeface="+mn-lt"/>
              </a:rPr>
              <a:t>BP</a:t>
            </a:r>
          </a:p>
        </p:txBody>
      </p:sp>
      <p:sp>
        <p:nvSpPr>
          <p:cNvPr id="47" name="Rectangle 6"/>
          <p:cNvSpPr>
            <a:spLocks noChangeArrowheads="1"/>
          </p:cNvSpPr>
          <p:nvPr/>
        </p:nvSpPr>
        <p:spPr bwMode="auto">
          <a:xfrm>
            <a:off x="1750219" y="2132171"/>
            <a:ext cx="1767364" cy="3054668"/>
          </a:xfrm>
          <a:prstGeom prst="rect">
            <a:avLst/>
          </a:prstGeom>
          <a:noFill/>
          <a:ln w="9525" cap="flat" cmpd="sng" algn="ctr">
            <a:solidFill>
              <a:schemeClr val="tx1">
                <a:lumMod val="50000"/>
                <a:lumOff val="50000"/>
              </a:schemeClr>
            </a:solidFill>
            <a:prstDash val="lgDashDot"/>
          </a:ln>
          <a:effectLst/>
        </p:spPr>
        <p:txBody>
          <a:bodyPr wrap="square" lIns="60078" tIns="30039" rIns="60078" bIns="30039" anchor="t">
            <a:noAutofit/>
          </a:bodyPr>
          <a:lstStyle/>
          <a:p>
            <a:pPr marL="400685" marR="0" lvl="0" indent="-400685" algn="ctr" defTabSz="800735" eaLnBrk="1" fontAlgn="auto" latinLnBrk="0" hangingPunct="1">
              <a:lnSpc>
                <a:spcPct val="100000"/>
              </a:lnSpc>
              <a:spcBef>
                <a:spcPts val="0"/>
              </a:spcBef>
              <a:spcAft>
                <a:spcPts val="0"/>
              </a:spcAft>
              <a:buClr>
                <a:srgbClr val="000000"/>
              </a:buClr>
              <a:buSzPct val="50000"/>
              <a:buFontTx/>
              <a:buNone/>
              <a:defRPr/>
            </a:pPr>
            <a:r>
              <a:rPr kumimoji="0" lang="en-US" altLang="zh-CN" sz="1050" b="1" i="0" u="none" strike="noStrike" kern="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ea"/>
                <a:sym typeface="+mn-lt"/>
              </a:rPr>
              <a:t>SP</a:t>
            </a:r>
          </a:p>
        </p:txBody>
      </p:sp>
      <p:sp>
        <p:nvSpPr>
          <p:cNvPr id="48" name="Rectangle 8"/>
          <p:cNvSpPr>
            <a:spLocks noChangeArrowheads="1"/>
          </p:cNvSpPr>
          <p:nvPr/>
        </p:nvSpPr>
        <p:spPr bwMode="auto">
          <a:xfrm>
            <a:off x="8048477" y="2132179"/>
            <a:ext cx="1406526" cy="2618185"/>
          </a:xfrm>
          <a:prstGeom prst="rect">
            <a:avLst/>
          </a:prstGeom>
          <a:noFill/>
          <a:ln w="9525" cap="flat" cmpd="sng" algn="ctr">
            <a:solidFill>
              <a:schemeClr val="tx1">
                <a:lumMod val="50000"/>
                <a:lumOff val="50000"/>
              </a:schemeClr>
            </a:solidFill>
            <a:prstDash val="lgDashDot"/>
          </a:ln>
          <a:effectLst/>
        </p:spPr>
        <p:txBody>
          <a:bodyPr wrap="square" lIns="60078" tIns="30039" rIns="60078" bIns="30039" anchor="t">
            <a:noAutofit/>
          </a:bodyPr>
          <a:lstStyle/>
          <a:p>
            <a:pPr marL="400685" marR="0" lvl="0" indent="-400685" algn="ctr" defTabSz="800735" eaLnBrk="1" fontAlgn="auto" latinLnBrk="0" hangingPunct="1">
              <a:lnSpc>
                <a:spcPct val="100000"/>
              </a:lnSpc>
              <a:spcBef>
                <a:spcPts val="0"/>
              </a:spcBef>
              <a:spcAft>
                <a:spcPts val="0"/>
              </a:spcAft>
              <a:buClr>
                <a:srgbClr val="000000"/>
              </a:buClr>
              <a:buSzPct val="50000"/>
              <a:buFontTx/>
              <a:buNone/>
              <a:defRPr/>
            </a:pPr>
            <a:endParaRPr kumimoji="0" lang="zh-CN" altLang="en-US" sz="105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Rectangle 9"/>
          <p:cNvSpPr>
            <a:spLocks noChangeArrowheads="1"/>
          </p:cNvSpPr>
          <p:nvPr/>
        </p:nvSpPr>
        <p:spPr bwMode="auto">
          <a:xfrm>
            <a:off x="5803810" y="3243258"/>
            <a:ext cx="2138048" cy="1943809"/>
          </a:xfrm>
          <a:prstGeom prst="rect">
            <a:avLst/>
          </a:prstGeom>
          <a:gradFill>
            <a:gsLst>
              <a:gs pos="0">
                <a:schemeClr val="accent1">
                  <a:lumMod val="20000"/>
                  <a:lumOff val="80000"/>
                </a:schemeClr>
              </a:gs>
              <a:gs pos="51000">
                <a:schemeClr val="accent1">
                  <a:lumMod val="60000"/>
                  <a:lumOff val="40000"/>
                </a:schemeClr>
              </a:gs>
              <a:gs pos="100000">
                <a:schemeClr val="accent1">
                  <a:lumMod val="20000"/>
                  <a:lumOff val="80000"/>
                </a:schemeClr>
              </a:gs>
            </a:gsLst>
            <a:lin ang="5400000" scaled="0"/>
          </a:gra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
                <a:srgbClr val="000000"/>
              </a:buClr>
              <a:buSzPct val="50000"/>
              <a:buFont typeface="Wingdings" panose="05000000000000000000" pitchFamily="2" charset="2"/>
              <a:buChar char="p"/>
              <a:defRPr/>
            </a:pPr>
            <a:endPar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90" name="AutoShape 11"/>
          <p:cNvSpPr>
            <a:spLocks noChangeArrowheads="1"/>
          </p:cNvSpPr>
          <p:nvPr/>
        </p:nvSpPr>
        <p:spPr bwMode="auto">
          <a:xfrm>
            <a:off x="2038200" y="1671400"/>
            <a:ext cx="1165225" cy="323850"/>
          </a:xfrm>
          <a:prstGeom prst="roundRect">
            <a:avLst>
              <a:gd name="adj" fmla="val 16667"/>
            </a:avLst>
          </a:prstGeom>
          <a:solidFill>
            <a:srgbClr val="0092D6"/>
          </a:solidFill>
          <a:ln w="6350" cap="flat" cmpd="sng" algn="ctr">
            <a:noFill/>
            <a:prstDash val="solid"/>
            <a:miter lim="800000"/>
          </a:ln>
          <a:effectLst/>
        </p:spPr>
        <p:txBody>
          <a:bodyPr lIns="44232" tIns="22116" rIns="44232" bIns="22116" anchor="ctr"/>
          <a:lstStyle/>
          <a:p>
            <a:pPr marL="0" marR="0" lvl="0" indent="0" algn="ctr" defTabSz="672465" eaLnBrk="1" fontAlgn="auto" latinLnBrk="0" hangingPunct="1">
              <a:lnSpc>
                <a:spcPct val="125000"/>
              </a:lnSpc>
              <a:spcBef>
                <a:spcPts val="0"/>
              </a:spcBef>
              <a:spcAft>
                <a:spcPts val="0"/>
              </a:spcAft>
              <a:buClr>
                <a:srgbClr val="777777"/>
              </a:buClr>
              <a:buSzPct val="60000"/>
              <a:buFontTx/>
              <a:buNone/>
              <a:defRPr/>
            </a:pPr>
            <a:r>
              <a:rPr kumimoji="0" lang="zh-CN" altLang="en-US" sz="135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战略制订</a:t>
            </a:r>
          </a:p>
        </p:txBody>
      </p:sp>
      <p:sp>
        <p:nvSpPr>
          <p:cNvPr id="91" name="AutoShape 12"/>
          <p:cNvSpPr>
            <a:spLocks noChangeArrowheads="1"/>
          </p:cNvSpPr>
          <p:nvPr/>
        </p:nvSpPr>
        <p:spPr bwMode="auto">
          <a:xfrm>
            <a:off x="5854542" y="1671400"/>
            <a:ext cx="2087562" cy="323850"/>
          </a:xfrm>
          <a:prstGeom prst="roundRect">
            <a:avLst>
              <a:gd name="adj" fmla="val 16667"/>
            </a:avLst>
          </a:prstGeom>
          <a:solidFill>
            <a:srgbClr val="0092D6"/>
          </a:solidFill>
          <a:ln w="6350" cap="flat" cmpd="sng" algn="ctr">
            <a:noFill/>
            <a:prstDash val="solid"/>
            <a:miter lim="800000"/>
          </a:ln>
          <a:effectLst/>
        </p:spPr>
        <p:txBody>
          <a:bodyPr lIns="44232" tIns="22116" rIns="44232" bIns="22116" anchor="ctr"/>
          <a:lstStyle/>
          <a:p>
            <a:pPr marL="0" marR="0" lvl="0" indent="0" algn="ctr" defTabSz="672465" eaLnBrk="1" fontAlgn="auto" latinLnBrk="0" hangingPunct="1">
              <a:lnSpc>
                <a:spcPct val="125000"/>
              </a:lnSpc>
              <a:spcBef>
                <a:spcPts val="0"/>
              </a:spcBef>
              <a:spcAft>
                <a:spcPts val="0"/>
              </a:spcAft>
              <a:buClr>
                <a:srgbClr val="777777"/>
              </a:buClr>
              <a:buSzPct val="60000"/>
              <a:buFontTx/>
              <a:buNone/>
              <a:defRPr/>
            </a:pPr>
            <a:r>
              <a:rPr kumimoji="0" lang="zh-CN" altLang="en-US" sz="135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战略执行与监控</a:t>
            </a:r>
          </a:p>
        </p:txBody>
      </p:sp>
      <p:sp>
        <p:nvSpPr>
          <p:cNvPr id="92" name="Rectangle 13"/>
          <p:cNvSpPr>
            <a:spLocks noChangeArrowheads="1"/>
          </p:cNvSpPr>
          <p:nvPr/>
        </p:nvSpPr>
        <p:spPr bwMode="auto">
          <a:xfrm>
            <a:off x="1810226" y="2441734"/>
            <a:ext cx="1654969" cy="270510"/>
          </a:xfrm>
          <a:prstGeom prst="rect">
            <a:avLst/>
          </a:prstGeom>
          <a:solidFill>
            <a:srgbClr val="D4EAF5"/>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975" b="0" i="0" u="none" strike="noStrike" kern="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战略方向</a:t>
            </a:r>
          </a:p>
        </p:txBody>
      </p:sp>
      <p:sp>
        <p:nvSpPr>
          <p:cNvPr id="93" name="Rectangle 14"/>
          <p:cNvSpPr>
            <a:spLocks noChangeArrowheads="1"/>
          </p:cNvSpPr>
          <p:nvPr/>
        </p:nvSpPr>
        <p:spPr bwMode="auto">
          <a:xfrm>
            <a:off x="1810226" y="2833688"/>
            <a:ext cx="1654969" cy="1026319"/>
          </a:xfrm>
          <a:prstGeom prst="rect">
            <a:avLst/>
          </a:prstGeom>
          <a:solidFill>
            <a:srgbClr val="D4EAF5"/>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业务战略</a:t>
            </a:r>
          </a:p>
        </p:txBody>
      </p:sp>
      <p:sp>
        <p:nvSpPr>
          <p:cNvPr id="94" name="Rectangle 15"/>
          <p:cNvSpPr>
            <a:spLocks noChangeArrowheads="1"/>
          </p:cNvSpPr>
          <p:nvPr/>
        </p:nvSpPr>
        <p:spPr bwMode="auto">
          <a:xfrm>
            <a:off x="1794510" y="4020979"/>
            <a:ext cx="1654969" cy="270510"/>
          </a:xfrm>
          <a:prstGeom prst="rect">
            <a:avLst/>
          </a:prstGeom>
          <a:solidFill>
            <a:srgbClr val="D4EAF5"/>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组织战略</a:t>
            </a:r>
          </a:p>
        </p:txBody>
      </p:sp>
      <p:sp>
        <p:nvSpPr>
          <p:cNvPr id="95" name="AutoShape 16"/>
          <p:cNvSpPr>
            <a:spLocks noChangeArrowheads="1"/>
          </p:cNvSpPr>
          <p:nvPr/>
        </p:nvSpPr>
        <p:spPr bwMode="auto">
          <a:xfrm>
            <a:off x="3765393" y="1671400"/>
            <a:ext cx="1236662" cy="323850"/>
          </a:xfrm>
          <a:prstGeom prst="roundRect">
            <a:avLst>
              <a:gd name="adj" fmla="val 16667"/>
            </a:avLst>
          </a:prstGeom>
          <a:solidFill>
            <a:srgbClr val="0092D6"/>
          </a:solidFill>
          <a:ln w="6350" cap="flat" cmpd="sng" algn="ctr">
            <a:noFill/>
            <a:prstDash val="solid"/>
            <a:miter lim="800000"/>
          </a:ln>
          <a:effectLst/>
        </p:spPr>
        <p:txBody>
          <a:bodyPr lIns="44232" tIns="22116" rIns="44232" bIns="22116" anchor="ctr"/>
          <a:lstStyle/>
          <a:p>
            <a:pPr marL="0" marR="0" lvl="0" indent="0" algn="ctr" defTabSz="672465" eaLnBrk="1" fontAlgn="auto" latinLnBrk="0" hangingPunct="1">
              <a:lnSpc>
                <a:spcPct val="125000"/>
              </a:lnSpc>
              <a:spcBef>
                <a:spcPts val="0"/>
              </a:spcBef>
              <a:spcAft>
                <a:spcPts val="0"/>
              </a:spcAft>
              <a:buClr>
                <a:srgbClr val="777777"/>
              </a:buClr>
              <a:buSzPct val="60000"/>
              <a:buFontTx/>
              <a:buNone/>
              <a:defRPr/>
            </a:pPr>
            <a:r>
              <a:rPr kumimoji="0" lang="zh-CN" altLang="en-US" sz="135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战略展开</a:t>
            </a:r>
          </a:p>
        </p:txBody>
      </p:sp>
      <p:sp>
        <p:nvSpPr>
          <p:cNvPr id="96" name="Rectangle 17"/>
          <p:cNvSpPr>
            <a:spLocks noChangeArrowheads="1"/>
          </p:cNvSpPr>
          <p:nvPr/>
        </p:nvSpPr>
        <p:spPr bwMode="auto">
          <a:xfrm>
            <a:off x="3660626" y="3243247"/>
            <a:ext cx="2016126" cy="270272"/>
          </a:xfrm>
          <a:prstGeom prst="rect">
            <a:avLst/>
          </a:prstGeom>
          <a:solidFill>
            <a:srgbClr val="D4EAF5"/>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975" b="0" i="0" u="none" strike="noStrike" kern="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年度市场和销售规划</a:t>
            </a:r>
          </a:p>
        </p:txBody>
      </p:sp>
      <p:sp>
        <p:nvSpPr>
          <p:cNvPr id="97" name="Rectangle 18"/>
          <p:cNvSpPr>
            <a:spLocks noChangeArrowheads="1"/>
          </p:cNvSpPr>
          <p:nvPr/>
        </p:nvSpPr>
        <p:spPr bwMode="auto">
          <a:xfrm>
            <a:off x="3660626" y="3589503"/>
            <a:ext cx="2016126" cy="270272"/>
          </a:xfrm>
          <a:prstGeom prst="rect">
            <a:avLst/>
          </a:prstGeom>
          <a:solidFill>
            <a:srgbClr val="D4EAF5"/>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975" b="0" i="0" u="none" strike="noStrike" kern="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年度订货预测和预算</a:t>
            </a:r>
          </a:p>
        </p:txBody>
      </p:sp>
      <p:sp>
        <p:nvSpPr>
          <p:cNvPr id="98" name="Rectangle 19"/>
          <p:cNvSpPr>
            <a:spLocks noChangeArrowheads="1"/>
          </p:cNvSpPr>
          <p:nvPr/>
        </p:nvSpPr>
        <p:spPr bwMode="auto">
          <a:xfrm>
            <a:off x="3665388" y="4020782"/>
            <a:ext cx="2016126" cy="270272"/>
          </a:xfrm>
          <a:prstGeom prst="rect">
            <a:avLst/>
          </a:prstGeom>
          <a:solidFill>
            <a:srgbClr val="D4EAF5"/>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年度组织规划</a:t>
            </a:r>
          </a:p>
        </p:txBody>
      </p:sp>
      <p:sp>
        <p:nvSpPr>
          <p:cNvPr id="99" name="Rectangle 20"/>
          <p:cNvSpPr>
            <a:spLocks noChangeArrowheads="1"/>
          </p:cNvSpPr>
          <p:nvPr/>
        </p:nvSpPr>
        <p:spPr bwMode="auto">
          <a:xfrm>
            <a:off x="3660626" y="4453904"/>
            <a:ext cx="2016126" cy="270272"/>
          </a:xfrm>
          <a:prstGeom prst="rect">
            <a:avLst/>
          </a:prstGeom>
          <a:solidFill>
            <a:srgbClr val="D4EAF5"/>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年度人才规划</a:t>
            </a:r>
          </a:p>
        </p:txBody>
      </p:sp>
      <p:sp>
        <p:nvSpPr>
          <p:cNvPr id="100" name="Rectangle 21"/>
          <p:cNvSpPr>
            <a:spLocks noChangeArrowheads="1"/>
          </p:cNvSpPr>
          <p:nvPr/>
        </p:nvSpPr>
        <p:spPr bwMode="auto">
          <a:xfrm>
            <a:off x="3660626" y="4846901"/>
            <a:ext cx="2016126" cy="270272"/>
          </a:xfrm>
          <a:prstGeom prst="rect">
            <a:avLst/>
          </a:prstGeom>
          <a:solidFill>
            <a:srgbClr val="D4EAF5"/>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流程与</a:t>
            </a:r>
            <a:r>
              <a:rPr kumimoji="0" lang="en-US" altLang="zh-CN"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IT</a:t>
            </a: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规划</a:t>
            </a:r>
          </a:p>
        </p:txBody>
      </p:sp>
      <p:sp>
        <p:nvSpPr>
          <p:cNvPr id="101" name="Rectangle 23"/>
          <p:cNvSpPr>
            <a:spLocks noChangeArrowheads="1"/>
          </p:cNvSpPr>
          <p:nvPr/>
        </p:nvSpPr>
        <p:spPr bwMode="auto">
          <a:xfrm>
            <a:off x="3665513" y="2854496"/>
            <a:ext cx="2016126" cy="270272"/>
          </a:xfrm>
          <a:prstGeom prst="rect">
            <a:avLst/>
          </a:prstGeom>
          <a:solidFill>
            <a:srgbClr val="D4EAF5"/>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975" b="0" i="0" u="none" strike="noStrike" kern="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年度平台与技术规划</a:t>
            </a:r>
          </a:p>
        </p:txBody>
      </p:sp>
      <p:sp>
        <p:nvSpPr>
          <p:cNvPr id="102" name="Rectangle 24"/>
          <p:cNvSpPr>
            <a:spLocks noChangeArrowheads="1"/>
          </p:cNvSpPr>
          <p:nvPr/>
        </p:nvSpPr>
        <p:spPr bwMode="auto">
          <a:xfrm>
            <a:off x="3660626" y="2417139"/>
            <a:ext cx="2016126" cy="352247"/>
          </a:xfrm>
          <a:prstGeom prst="rect">
            <a:avLst/>
          </a:prstGeom>
          <a:solidFill>
            <a:srgbClr val="D4EAF5"/>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年度产品与</a:t>
            </a:r>
          </a:p>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解决方案规划</a:t>
            </a:r>
          </a:p>
        </p:txBody>
      </p:sp>
      <p:sp>
        <p:nvSpPr>
          <p:cNvPr id="103" name="Rectangle 25"/>
          <p:cNvSpPr>
            <a:spLocks noChangeArrowheads="1"/>
          </p:cNvSpPr>
          <p:nvPr/>
        </p:nvSpPr>
        <p:spPr bwMode="auto">
          <a:xfrm>
            <a:off x="5803810" y="2465735"/>
            <a:ext cx="2138048" cy="270272"/>
          </a:xfrm>
          <a:prstGeom prst="rect">
            <a:avLst/>
          </a:prstGeom>
          <a:solidFill>
            <a:srgbClr val="D4EAF5"/>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集成产品开发</a:t>
            </a:r>
          </a:p>
        </p:txBody>
      </p:sp>
      <p:sp>
        <p:nvSpPr>
          <p:cNvPr id="104" name="Rectangle 26"/>
          <p:cNvSpPr>
            <a:spLocks noChangeArrowheads="1"/>
          </p:cNvSpPr>
          <p:nvPr/>
        </p:nvSpPr>
        <p:spPr bwMode="auto">
          <a:xfrm>
            <a:off x="5803810" y="2845544"/>
            <a:ext cx="2138048" cy="270272"/>
          </a:xfrm>
          <a:prstGeom prst="rect">
            <a:avLst/>
          </a:prstGeom>
          <a:solidFill>
            <a:srgbClr val="D4EAF5"/>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平台、技术开发与研究</a:t>
            </a:r>
          </a:p>
        </p:txBody>
      </p:sp>
      <p:sp>
        <p:nvSpPr>
          <p:cNvPr id="105" name="AutoShape 31"/>
          <p:cNvSpPr>
            <a:spLocks noChangeArrowheads="1"/>
          </p:cNvSpPr>
          <p:nvPr/>
        </p:nvSpPr>
        <p:spPr bwMode="auto">
          <a:xfrm>
            <a:off x="8158007" y="1671400"/>
            <a:ext cx="1944688" cy="323850"/>
          </a:xfrm>
          <a:prstGeom prst="roundRect">
            <a:avLst>
              <a:gd name="adj" fmla="val 16667"/>
            </a:avLst>
          </a:prstGeom>
          <a:solidFill>
            <a:srgbClr val="0092D6"/>
          </a:solidFill>
          <a:ln w="6350" cap="flat" cmpd="sng" algn="ctr">
            <a:noFill/>
            <a:prstDash val="solid"/>
            <a:miter lim="800000"/>
          </a:ln>
          <a:effectLst/>
        </p:spPr>
        <p:txBody>
          <a:bodyPr lIns="44232" tIns="22116" rIns="44232" bIns="22116" anchor="ctr"/>
          <a:lstStyle/>
          <a:p>
            <a:pPr marL="0" marR="0" lvl="0" indent="0" algn="ctr" defTabSz="672465" eaLnBrk="1" fontAlgn="auto" latinLnBrk="0" hangingPunct="1">
              <a:lnSpc>
                <a:spcPct val="125000"/>
              </a:lnSpc>
              <a:spcBef>
                <a:spcPts val="0"/>
              </a:spcBef>
              <a:spcAft>
                <a:spcPts val="0"/>
              </a:spcAft>
              <a:buClr>
                <a:srgbClr val="777777"/>
              </a:buClr>
              <a:buSzPct val="60000"/>
              <a:buFontTx/>
              <a:buNone/>
              <a:defRPr/>
            </a:pPr>
            <a:r>
              <a:rPr kumimoji="0" lang="zh-CN" altLang="en-US" sz="135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战略评估</a:t>
            </a:r>
          </a:p>
        </p:txBody>
      </p:sp>
      <p:sp>
        <p:nvSpPr>
          <p:cNvPr id="106" name="Rectangle 32"/>
          <p:cNvSpPr>
            <a:spLocks noChangeArrowheads="1"/>
          </p:cNvSpPr>
          <p:nvPr/>
        </p:nvSpPr>
        <p:spPr bwMode="auto">
          <a:xfrm>
            <a:off x="1810226" y="4453890"/>
            <a:ext cx="1654969" cy="270510"/>
          </a:xfrm>
          <a:prstGeom prst="rect">
            <a:avLst/>
          </a:prstGeom>
          <a:solidFill>
            <a:srgbClr val="D4EAF5"/>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人才战略</a:t>
            </a:r>
          </a:p>
        </p:txBody>
      </p:sp>
      <p:sp>
        <p:nvSpPr>
          <p:cNvPr id="107" name="Rectangle 33"/>
          <p:cNvSpPr>
            <a:spLocks noChangeArrowheads="1"/>
          </p:cNvSpPr>
          <p:nvPr/>
        </p:nvSpPr>
        <p:spPr bwMode="auto">
          <a:xfrm>
            <a:off x="1810226" y="4846796"/>
            <a:ext cx="1654969" cy="270510"/>
          </a:xfrm>
          <a:prstGeom prst="rect">
            <a:avLst/>
          </a:prstGeom>
          <a:solidFill>
            <a:srgbClr val="D4EAF5"/>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变革战略</a:t>
            </a:r>
          </a:p>
        </p:txBody>
      </p:sp>
      <p:sp>
        <p:nvSpPr>
          <p:cNvPr id="108" name="Rectangle 34"/>
          <p:cNvSpPr>
            <a:spLocks noChangeArrowheads="1"/>
          </p:cNvSpPr>
          <p:nvPr/>
        </p:nvSpPr>
        <p:spPr bwMode="auto">
          <a:xfrm>
            <a:off x="8126255" y="2483409"/>
            <a:ext cx="1295400" cy="566738"/>
          </a:xfrm>
          <a:prstGeom prst="rect">
            <a:avLst/>
          </a:prstGeom>
          <a:solidFill>
            <a:srgbClr val="D4EAF5"/>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项目绩效审视</a:t>
            </a:r>
          </a:p>
        </p:txBody>
      </p:sp>
      <p:sp>
        <p:nvSpPr>
          <p:cNvPr id="109" name="Text Box 35"/>
          <p:cNvSpPr txBox="1">
            <a:spLocks noChangeArrowheads="1"/>
          </p:cNvSpPr>
          <p:nvPr/>
        </p:nvSpPr>
        <p:spPr bwMode="auto">
          <a:xfrm>
            <a:off x="5897405" y="3243246"/>
            <a:ext cx="1969040" cy="208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59358" tIns="29679" rIns="59358" bIns="29679">
            <a:spAutoFit/>
          </a:bodyPr>
          <a:lstStyle>
            <a:lvl1pPr defTabSz="801370">
              <a:defRPr kumimoji="1" sz="1400">
                <a:solidFill>
                  <a:schemeClr val="bg1"/>
                </a:solidFill>
                <a:latin typeface="FrutigerNext LT Regular" charset="0"/>
                <a:ea typeface="MS PGothic" panose="020B0600070205080204" charset="-128"/>
                <a:cs typeface="MS PGothic" panose="020B0600070205080204" charset="-128"/>
              </a:defRPr>
            </a:lvl1pPr>
            <a:lvl2pPr marL="742950" indent="-285750" defTabSz="801370">
              <a:defRPr kumimoji="1" sz="1400">
                <a:solidFill>
                  <a:schemeClr val="bg1"/>
                </a:solidFill>
                <a:latin typeface="FrutigerNext LT Regular" charset="0"/>
                <a:ea typeface="MS PGothic" panose="020B0600070205080204" charset="-128"/>
                <a:cs typeface="MS PGothic" panose="020B0600070205080204" charset="-128"/>
              </a:defRPr>
            </a:lvl2pPr>
            <a:lvl3pPr marL="1143000" indent="-228600" defTabSz="801370">
              <a:defRPr kumimoji="1" sz="1400">
                <a:solidFill>
                  <a:schemeClr val="bg1"/>
                </a:solidFill>
                <a:latin typeface="FrutigerNext LT Regular" charset="0"/>
                <a:ea typeface="MS PGothic" panose="020B0600070205080204" charset="-128"/>
                <a:cs typeface="MS PGothic" panose="020B0600070205080204" charset="-128"/>
              </a:defRPr>
            </a:lvl3pPr>
            <a:lvl4pPr marL="1600200" indent="-228600" defTabSz="801370">
              <a:defRPr kumimoji="1" sz="1400">
                <a:solidFill>
                  <a:schemeClr val="bg1"/>
                </a:solidFill>
                <a:latin typeface="FrutigerNext LT Regular" charset="0"/>
                <a:ea typeface="MS PGothic" panose="020B0600070205080204" charset="-128"/>
                <a:cs typeface="MS PGothic" panose="020B0600070205080204" charset="-128"/>
              </a:defRPr>
            </a:lvl4pPr>
            <a:lvl5pPr marL="2057400" indent="-228600" defTabSz="801370">
              <a:defRPr kumimoji="1" sz="1400">
                <a:solidFill>
                  <a:schemeClr val="bg1"/>
                </a:solidFill>
                <a:latin typeface="FrutigerNext LT Regular" charset="0"/>
                <a:ea typeface="MS PGothic" panose="020B0600070205080204" charset="-128"/>
                <a:cs typeface="MS PGothic" panose="020B0600070205080204" charset="-128"/>
              </a:defRPr>
            </a:lvl5pPr>
            <a:lvl6pPr marL="2514600" indent="-228600" defTabSz="801370" fontAlgn="base">
              <a:spcBef>
                <a:spcPct val="0"/>
              </a:spcBef>
              <a:spcAft>
                <a:spcPct val="0"/>
              </a:spcAft>
              <a:defRPr kumimoji="1" sz="1400">
                <a:solidFill>
                  <a:schemeClr val="bg1"/>
                </a:solidFill>
                <a:latin typeface="FrutigerNext LT Regular" charset="0"/>
                <a:ea typeface="MS PGothic" panose="020B0600070205080204" charset="-128"/>
                <a:cs typeface="MS PGothic" panose="020B0600070205080204" charset="-128"/>
              </a:defRPr>
            </a:lvl6pPr>
            <a:lvl7pPr marL="2971800" indent="-228600" defTabSz="801370" fontAlgn="base">
              <a:spcBef>
                <a:spcPct val="0"/>
              </a:spcBef>
              <a:spcAft>
                <a:spcPct val="0"/>
              </a:spcAft>
              <a:defRPr kumimoji="1" sz="1400">
                <a:solidFill>
                  <a:schemeClr val="bg1"/>
                </a:solidFill>
                <a:latin typeface="FrutigerNext LT Regular" charset="0"/>
                <a:ea typeface="MS PGothic" panose="020B0600070205080204" charset="-128"/>
                <a:cs typeface="MS PGothic" panose="020B0600070205080204" charset="-128"/>
              </a:defRPr>
            </a:lvl7pPr>
            <a:lvl8pPr marL="3429000" indent="-228600" defTabSz="801370" fontAlgn="base">
              <a:spcBef>
                <a:spcPct val="0"/>
              </a:spcBef>
              <a:spcAft>
                <a:spcPct val="0"/>
              </a:spcAft>
              <a:defRPr kumimoji="1" sz="1400">
                <a:solidFill>
                  <a:schemeClr val="bg1"/>
                </a:solidFill>
                <a:latin typeface="FrutigerNext LT Regular" charset="0"/>
                <a:ea typeface="MS PGothic" panose="020B0600070205080204" charset="-128"/>
                <a:cs typeface="MS PGothic" panose="020B0600070205080204" charset="-128"/>
              </a:defRPr>
            </a:lvl8pPr>
            <a:lvl9pPr marL="3886200" indent="-228600" defTabSz="801370" fontAlgn="base">
              <a:spcBef>
                <a:spcPct val="0"/>
              </a:spcBef>
              <a:spcAft>
                <a:spcPct val="0"/>
              </a:spcAft>
              <a:defRPr kumimoji="1" sz="1400">
                <a:solidFill>
                  <a:schemeClr val="bg1"/>
                </a:solidFill>
                <a:latin typeface="FrutigerNext LT Regular" charset="0"/>
                <a:ea typeface="MS PGothic" panose="020B0600070205080204" charset="-128"/>
                <a:cs typeface="MS PGothic" panose="020B0600070205080204" charset="-128"/>
              </a:defRPr>
            </a:lvl9pPr>
          </a:lstStyle>
          <a:p>
            <a:pPr algn="ctr"/>
            <a:r>
              <a:rPr kumimoji="0" lang="zh-CN" altLang="en-US" sz="975"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市场和销售管理</a:t>
            </a:r>
          </a:p>
        </p:txBody>
      </p:sp>
      <p:sp>
        <p:nvSpPr>
          <p:cNvPr id="110" name="Text Box 36"/>
          <p:cNvSpPr txBox="1">
            <a:spLocks noChangeArrowheads="1"/>
          </p:cNvSpPr>
          <p:nvPr/>
        </p:nvSpPr>
        <p:spPr bwMode="auto">
          <a:xfrm>
            <a:off x="8342162" y="2192894"/>
            <a:ext cx="654050" cy="219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59358" tIns="29679" rIns="59358" bIns="29679">
            <a:spAutoFit/>
          </a:bodyPr>
          <a:lstStyle>
            <a:lvl1pPr defTabSz="801370">
              <a:defRPr kumimoji="1" sz="1400">
                <a:solidFill>
                  <a:schemeClr val="bg1"/>
                </a:solidFill>
                <a:latin typeface="FrutigerNext LT Regular" charset="0"/>
                <a:ea typeface="MS PGothic" panose="020B0600070205080204" charset="-128"/>
                <a:cs typeface="MS PGothic" panose="020B0600070205080204" charset="-128"/>
              </a:defRPr>
            </a:lvl1pPr>
            <a:lvl2pPr marL="742950" indent="-285750" defTabSz="801370">
              <a:defRPr kumimoji="1" sz="1400">
                <a:solidFill>
                  <a:schemeClr val="bg1"/>
                </a:solidFill>
                <a:latin typeface="FrutigerNext LT Regular" charset="0"/>
                <a:ea typeface="MS PGothic" panose="020B0600070205080204" charset="-128"/>
                <a:cs typeface="MS PGothic" panose="020B0600070205080204" charset="-128"/>
              </a:defRPr>
            </a:lvl2pPr>
            <a:lvl3pPr marL="1143000" indent="-228600" defTabSz="801370">
              <a:defRPr kumimoji="1" sz="1400">
                <a:solidFill>
                  <a:schemeClr val="bg1"/>
                </a:solidFill>
                <a:latin typeface="FrutigerNext LT Regular" charset="0"/>
                <a:ea typeface="MS PGothic" panose="020B0600070205080204" charset="-128"/>
                <a:cs typeface="MS PGothic" panose="020B0600070205080204" charset="-128"/>
              </a:defRPr>
            </a:lvl3pPr>
            <a:lvl4pPr marL="1600200" indent="-228600" defTabSz="801370">
              <a:defRPr kumimoji="1" sz="1400">
                <a:solidFill>
                  <a:schemeClr val="bg1"/>
                </a:solidFill>
                <a:latin typeface="FrutigerNext LT Regular" charset="0"/>
                <a:ea typeface="MS PGothic" panose="020B0600070205080204" charset="-128"/>
                <a:cs typeface="MS PGothic" panose="020B0600070205080204" charset="-128"/>
              </a:defRPr>
            </a:lvl4pPr>
            <a:lvl5pPr marL="2057400" indent="-228600" defTabSz="801370">
              <a:defRPr kumimoji="1" sz="1400">
                <a:solidFill>
                  <a:schemeClr val="bg1"/>
                </a:solidFill>
                <a:latin typeface="FrutigerNext LT Regular" charset="0"/>
                <a:ea typeface="MS PGothic" panose="020B0600070205080204" charset="-128"/>
                <a:cs typeface="MS PGothic" panose="020B0600070205080204" charset="-128"/>
              </a:defRPr>
            </a:lvl5pPr>
            <a:lvl6pPr marL="2514600" indent="-228600" defTabSz="801370" fontAlgn="base">
              <a:spcBef>
                <a:spcPct val="0"/>
              </a:spcBef>
              <a:spcAft>
                <a:spcPct val="0"/>
              </a:spcAft>
              <a:defRPr kumimoji="1" sz="1400">
                <a:solidFill>
                  <a:schemeClr val="bg1"/>
                </a:solidFill>
                <a:latin typeface="FrutigerNext LT Regular" charset="0"/>
                <a:ea typeface="MS PGothic" panose="020B0600070205080204" charset="-128"/>
                <a:cs typeface="MS PGothic" panose="020B0600070205080204" charset="-128"/>
              </a:defRPr>
            </a:lvl6pPr>
            <a:lvl7pPr marL="2971800" indent="-228600" defTabSz="801370" fontAlgn="base">
              <a:spcBef>
                <a:spcPct val="0"/>
              </a:spcBef>
              <a:spcAft>
                <a:spcPct val="0"/>
              </a:spcAft>
              <a:defRPr kumimoji="1" sz="1400">
                <a:solidFill>
                  <a:schemeClr val="bg1"/>
                </a:solidFill>
                <a:latin typeface="FrutigerNext LT Regular" charset="0"/>
                <a:ea typeface="MS PGothic" panose="020B0600070205080204" charset="-128"/>
                <a:cs typeface="MS PGothic" panose="020B0600070205080204" charset="-128"/>
              </a:defRPr>
            </a:lvl7pPr>
            <a:lvl8pPr marL="3429000" indent="-228600" defTabSz="801370" fontAlgn="base">
              <a:spcBef>
                <a:spcPct val="0"/>
              </a:spcBef>
              <a:spcAft>
                <a:spcPct val="0"/>
              </a:spcAft>
              <a:defRPr kumimoji="1" sz="1400">
                <a:solidFill>
                  <a:schemeClr val="bg1"/>
                </a:solidFill>
                <a:latin typeface="FrutigerNext LT Regular" charset="0"/>
                <a:ea typeface="MS PGothic" panose="020B0600070205080204" charset="-128"/>
                <a:cs typeface="MS PGothic" panose="020B0600070205080204" charset="-128"/>
              </a:defRPr>
            </a:lvl8pPr>
            <a:lvl9pPr marL="3886200" indent="-228600" defTabSz="801370" fontAlgn="base">
              <a:spcBef>
                <a:spcPct val="0"/>
              </a:spcBef>
              <a:spcAft>
                <a:spcPct val="0"/>
              </a:spcAft>
              <a:defRPr kumimoji="1" sz="1400">
                <a:solidFill>
                  <a:schemeClr val="bg1"/>
                </a:solidFill>
                <a:latin typeface="FrutigerNext LT Regular" charset="0"/>
                <a:ea typeface="MS PGothic" panose="020B0600070205080204" charset="-128"/>
                <a:cs typeface="MS PGothic" panose="020B0600070205080204" charset="-128"/>
              </a:defRPr>
            </a:lvl9pPr>
          </a:lstStyle>
          <a:p>
            <a:r>
              <a:rPr kumimoji="0" lang="zh-CN" altLang="en-US" sz="1050" b="1">
                <a:solidFill>
                  <a:srgbClr val="0070C0"/>
                </a:solidFill>
                <a:latin typeface="微软雅黑" panose="020B0503020204020204" pitchFamily="34" charset="-122"/>
                <a:ea typeface="微软雅黑" panose="020B0503020204020204" pitchFamily="34" charset="-122"/>
                <a:cs typeface="+mn-ea"/>
                <a:sym typeface="+mn-lt"/>
              </a:rPr>
              <a:t>绩效审视</a:t>
            </a:r>
          </a:p>
        </p:txBody>
      </p:sp>
      <p:sp>
        <p:nvSpPr>
          <p:cNvPr id="111" name="Rectangle 37"/>
          <p:cNvSpPr>
            <a:spLocks noChangeArrowheads="1"/>
          </p:cNvSpPr>
          <p:nvPr/>
        </p:nvSpPr>
        <p:spPr bwMode="auto">
          <a:xfrm>
            <a:off x="8126255" y="3212077"/>
            <a:ext cx="1295400" cy="1159669"/>
          </a:xfrm>
          <a:prstGeom prst="rect">
            <a:avLst/>
          </a:prstGeom>
          <a:solidFill>
            <a:srgbClr val="D4EAF5"/>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团队与组织</a:t>
            </a:r>
          </a:p>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绩效管理</a:t>
            </a:r>
          </a:p>
        </p:txBody>
      </p:sp>
      <p:sp>
        <p:nvSpPr>
          <p:cNvPr id="112" name="Text Box 39"/>
          <p:cNvSpPr txBox="1">
            <a:spLocks noChangeArrowheads="1"/>
          </p:cNvSpPr>
          <p:nvPr/>
        </p:nvSpPr>
        <p:spPr bwMode="auto">
          <a:xfrm>
            <a:off x="1619059" y="5493771"/>
            <a:ext cx="8640962" cy="242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59358" tIns="29679" rIns="59358" bIns="29679">
            <a:spAutoFit/>
          </a:bodyPr>
          <a:lstStyle>
            <a:lvl1pPr defTabSz="801370">
              <a:defRPr kumimoji="1" sz="1400">
                <a:solidFill>
                  <a:schemeClr val="bg1"/>
                </a:solidFill>
                <a:latin typeface="FrutigerNext LT Regular" charset="0"/>
                <a:ea typeface="MS PGothic" panose="020B0600070205080204" charset="-128"/>
                <a:cs typeface="MS PGothic" panose="020B0600070205080204" charset="-128"/>
              </a:defRPr>
            </a:lvl1pPr>
            <a:lvl2pPr marL="742950" indent="-285750" defTabSz="801370">
              <a:defRPr kumimoji="1" sz="1400">
                <a:solidFill>
                  <a:schemeClr val="bg1"/>
                </a:solidFill>
                <a:latin typeface="FrutigerNext LT Regular" charset="0"/>
                <a:ea typeface="MS PGothic" panose="020B0600070205080204" charset="-128"/>
                <a:cs typeface="MS PGothic" panose="020B0600070205080204" charset="-128"/>
              </a:defRPr>
            </a:lvl2pPr>
            <a:lvl3pPr marL="1143000" indent="-228600" defTabSz="801370">
              <a:defRPr kumimoji="1" sz="1400">
                <a:solidFill>
                  <a:schemeClr val="bg1"/>
                </a:solidFill>
                <a:latin typeface="FrutigerNext LT Regular" charset="0"/>
                <a:ea typeface="MS PGothic" panose="020B0600070205080204" charset="-128"/>
                <a:cs typeface="MS PGothic" panose="020B0600070205080204" charset="-128"/>
              </a:defRPr>
            </a:lvl3pPr>
            <a:lvl4pPr marL="1600200" indent="-228600" defTabSz="801370">
              <a:defRPr kumimoji="1" sz="1400">
                <a:solidFill>
                  <a:schemeClr val="bg1"/>
                </a:solidFill>
                <a:latin typeface="FrutigerNext LT Regular" charset="0"/>
                <a:ea typeface="MS PGothic" panose="020B0600070205080204" charset="-128"/>
                <a:cs typeface="MS PGothic" panose="020B0600070205080204" charset="-128"/>
              </a:defRPr>
            </a:lvl4pPr>
            <a:lvl5pPr marL="2057400" indent="-228600" defTabSz="801370">
              <a:defRPr kumimoji="1" sz="1400">
                <a:solidFill>
                  <a:schemeClr val="bg1"/>
                </a:solidFill>
                <a:latin typeface="FrutigerNext LT Regular" charset="0"/>
                <a:ea typeface="MS PGothic" panose="020B0600070205080204" charset="-128"/>
                <a:cs typeface="MS PGothic" panose="020B0600070205080204" charset="-128"/>
              </a:defRPr>
            </a:lvl5pPr>
            <a:lvl6pPr marL="2514600" indent="-228600" defTabSz="801370" fontAlgn="base">
              <a:spcBef>
                <a:spcPct val="0"/>
              </a:spcBef>
              <a:spcAft>
                <a:spcPct val="0"/>
              </a:spcAft>
              <a:defRPr kumimoji="1" sz="1400">
                <a:solidFill>
                  <a:schemeClr val="bg1"/>
                </a:solidFill>
                <a:latin typeface="FrutigerNext LT Regular" charset="0"/>
                <a:ea typeface="MS PGothic" panose="020B0600070205080204" charset="-128"/>
                <a:cs typeface="MS PGothic" panose="020B0600070205080204" charset="-128"/>
              </a:defRPr>
            </a:lvl6pPr>
            <a:lvl7pPr marL="2971800" indent="-228600" defTabSz="801370" fontAlgn="base">
              <a:spcBef>
                <a:spcPct val="0"/>
              </a:spcBef>
              <a:spcAft>
                <a:spcPct val="0"/>
              </a:spcAft>
              <a:defRPr kumimoji="1" sz="1400">
                <a:solidFill>
                  <a:schemeClr val="bg1"/>
                </a:solidFill>
                <a:latin typeface="FrutigerNext LT Regular" charset="0"/>
                <a:ea typeface="MS PGothic" panose="020B0600070205080204" charset="-128"/>
                <a:cs typeface="MS PGothic" panose="020B0600070205080204" charset="-128"/>
              </a:defRPr>
            </a:lvl7pPr>
            <a:lvl8pPr marL="3429000" indent="-228600" defTabSz="801370" fontAlgn="base">
              <a:spcBef>
                <a:spcPct val="0"/>
              </a:spcBef>
              <a:spcAft>
                <a:spcPct val="0"/>
              </a:spcAft>
              <a:defRPr kumimoji="1" sz="1400">
                <a:solidFill>
                  <a:schemeClr val="bg1"/>
                </a:solidFill>
                <a:latin typeface="FrutigerNext LT Regular" charset="0"/>
                <a:ea typeface="MS PGothic" panose="020B0600070205080204" charset="-128"/>
                <a:cs typeface="MS PGothic" panose="020B0600070205080204" charset="-128"/>
              </a:defRPr>
            </a:lvl8pPr>
            <a:lvl9pPr marL="3886200" indent="-228600" defTabSz="801370" fontAlgn="base">
              <a:spcBef>
                <a:spcPct val="0"/>
              </a:spcBef>
              <a:spcAft>
                <a:spcPct val="0"/>
              </a:spcAft>
              <a:defRPr kumimoji="1" sz="1400">
                <a:solidFill>
                  <a:schemeClr val="bg1"/>
                </a:solidFill>
                <a:latin typeface="FrutigerNext LT Regular" charset="0"/>
                <a:ea typeface="MS PGothic" panose="020B0600070205080204" charset="-128"/>
                <a:cs typeface="MS PGothic" panose="020B0600070205080204" charset="-128"/>
              </a:defRPr>
            </a:lvl9pPr>
          </a:lstStyle>
          <a:p>
            <a:pPr algn="ctr"/>
            <a:r>
              <a:rPr kumimoji="0" lang="zh-CN" altLang="en-US" sz="1200" b="1" dirty="0">
                <a:solidFill>
                  <a:srgbClr val="C00000"/>
                </a:solidFill>
                <a:latin typeface="微软雅黑" panose="020B0503020204020204" pitchFamily="34" charset="-122"/>
                <a:ea typeface="微软雅黑" panose="020B0503020204020204" pitchFamily="34" charset="-122"/>
                <a:cs typeface="+mn-ea"/>
                <a:sym typeface="+mn-lt"/>
              </a:rPr>
              <a:t>战略与规划不只是业务的战略与规划，还包括组织、人才、流程及管理体系的变革战略与规划</a:t>
            </a:r>
          </a:p>
        </p:txBody>
      </p:sp>
      <p:sp>
        <p:nvSpPr>
          <p:cNvPr id="113" name="Rectangle 41"/>
          <p:cNvSpPr>
            <a:spLocks noChangeArrowheads="1"/>
          </p:cNvSpPr>
          <p:nvPr/>
        </p:nvSpPr>
        <p:spPr bwMode="auto">
          <a:xfrm>
            <a:off x="8086568" y="4426506"/>
            <a:ext cx="1308100" cy="270272"/>
          </a:xfrm>
          <a:prstGeom prst="rect">
            <a:avLst/>
          </a:prstGeom>
          <a:solidFill>
            <a:srgbClr val="D4EAF5"/>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个人绩效管理</a:t>
            </a:r>
          </a:p>
        </p:txBody>
      </p:sp>
      <p:sp>
        <p:nvSpPr>
          <p:cNvPr id="114" name="Rectangle 42"/>
          <p:cNvSpPr>
            <a:spLocks noChangeArrowheads="1"/>
          </p:cNvSpPr>
          <p:nvPr/>
        </p:nvSpPr>
        <p:spPr bwMode="auto">
          <a:xfrm>
            <a:off x="8086577" y="4803947"/>
            <a:ext cx="1443553" cy="383120"/>
          </a:xfrm>
          <a:prstGeom prst="rect">
            <a:avLst/>
          </a:prstGeom>
          <a:solidFill>
            <a:srgbClr val="D4EAF5"/>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
                <a:srgbClr val="000000"/>
              </a:buClr>
              <a:buSzPct val="50000"/>
              <a:buFontTx/>
              <a:buNone/>
              <a:defRPr/>
            </a:pPr>
            <a:endPar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endParaRPr>
          </a:p>
        </p:txBody>
      </p:sp>
      <p:cxnSp>
        <p:nvCxnSpPr>
          <p:cNvPr id="115" name="AutoShape 44"/>
          <p:cNvCxnSpPr>
            <a:cxnSpLocks noChangeShapeType="1"/>
          </p:cNvCxnSpPr>
          <p:nvPr/>
        </p:nvCxnSpPr>
        <p:spPr bwMode="auto">
          <a:xfrm flipH="1">
            <a:off x="2038194" y="1833336"/>
            <a:ext cx="8064500" cy="1190"/>
          </a:xfrm>
          <a:prstGeom prst="bentConnector5">
            <a:avLst>
              <a:gd name="adj1" fmla="val -2815"/>
              <a:gd name="adj2" fmla="val -28000009"/>
              <a:gd name="adj3" fmla="val 102833"/>
            </a:avLst>
          </a:prstGeom>
          <a:noFill/>
          <a:ln w="38100">
            <a:solidFill>
              <a:srgbClr val="00B0F0"/>
            </a:solidFill>
            <a:miter lim="800000"/>
            <a:tailEnd type="triangle" w="med" len="med"/>
          </a:ln>
          <a:extLst>
            <a:ext uri="{909E8E84-426E-40DD-AFC4-6F175D3DCCD1}">
              <a14:hiddenFill xmlns:a14="http://schemas.microsoft.com/office/drawing/2010/main">
                <a:noFill/>
              </a14:hiddenFill>
            </a:ext>
          </a:extLst>
        </p:spPr>
      </p:cxnSp>
      <p:cxnSp>
        <p:nvCxnSpPr>
          <p:cNvPr id="116" name="AutoShape 45"/>
          <p:cNvCxnSpPr>
            <a:cxnSpLocks noChangeShapeType="1"/>
          </p:cNvCxnSpPr>
          <p:nvPr/>
        </p:nvCxnSpPr>
        <p:spPr bwMode="auto">
          <a:xfrm>
            <a:off x="3203421" y="1833325"/>
            <a:ext cx="561975" cy="0"/>
          </a:xfrm>
          <a:prstGeom prst="straightConnector1">
            <a:avLst/>
          </a:prstGeom>
          <a:noFill/>
          <a:ln w="38100">
            <a:solidFill>
              <a:srgbClr val="00B0F0"/>
            </a:solidFill>
            <a:round/>
            <a:tailEnd type="triangle" w="med" len="med"/>
          </a:ln>
          <a:extLst>
            <a:ext uri="{909E8E84-426E-40DD-AFC4-6F175D3DCCD1}">
              <a14:hiddenFill xmlns:a14="http://schemas.microsoft.com/office/drawing/2010/main">
                <a:noFill/>
              </a14:hiddenFill>
            </a:ext>
          </a:extLst>
        </p:spPr>
      </p:cxnSp>
      <p:cxnSp>
        <p:nvCxnSpPr>
          <p:cNvPr id="117" name="AutoShape 46"/>
          <p:cNvCxnSpPr>
            <a:cxnSpLocks noChangeShapeType="1"/>
          </p:cNvCxnSpPr>
          <p:nvPr/>
        </p:nvCxnSpPr>
        <p:spPr bwMode="auto">
          <a:xfrm>
            <a:off x="5002056" y="1833325"/>
            <a:ext cx="852488" cy="0"/>
          </a:xfrm>
          <a:prstGeom prst="straightConnector1">
            <a:avLst/>
          </a:prstGeom>
          <a:noFill/>
          <a:ln w="38100">
            <a:solidFill>
              <a:srgbClr val="00B0F0"/>
            </a:solidFill>
            <a:round/>
            <a:tailEnd type="triangle" w="med" len="med"/>
          </a:ln>
          <a:extLst>
            <a:ext uri="{909E8E84-426E-40DD-AFC4-6F175D3DCCD1}">
              <a14:hiddenFill xmlns:a14="http://schemas.microsoft.com/office/drawing/2010/main">
                <a:noFill/>
              </a14:hiddenFill>
            </a:ext>
          </a:extLst>
        </p:spPr>
      </p:cxnSp>
      <p:cxnSp>
        <p:nvCxnSpPr>
          <p:cNvPr id="118" name="AutoShape 47"/>
          <p:cNvCxnSpPr>
            <a:cxnSpLocks noChangeShapeType="1"/>
          </p:cNvCxnSpPr>
          <p:nvPr/>
        </p:nvCxnSpPr>
        <p:spPr bwMode="auto">
          <a:xfrm>
            <a:off x="7942106" y="1833325"/>
            <a:ext cx="215900" cy="0"/>
          </a:xfrm>
          <a:prstGeom prst="straightConnector1">
            <a:avLst/>
          </a:prstGeom>
          <a:noFill/>
          <a:ln w="38100">
            <a:solidFill>
              <a:srgbClr val="00B0F0"/>
            </a:solidFill>
            <a:round/>
            <a:tailEnd type="triangle" w="med" len="med"/>
          </a:ln>
          <a:extLst>
            <a:ext uri="{909E8E84-426E-40DD-AFC4-6F175D3DCCD1}">
              <a14:hiddenFill xmlns:a14="http://schemas.microsoft.com/office/drawing/2010/main">
                <a:noFill/>
              </a14:hiddenFill>
            </a:ext>
          </a:extLst>
        </p:spPr>
      </p:cxnSp>
      <p:sp>
        <p:nvSpPr>
          <p:cNvPr id="119" name="Rectangle 53"/>
          <p:cNvSpPr>
            <a:spLocks noChangeArrowheads="1"/>
          </p:cNvSpPr>
          <p:nvPr/>
        </p:nvSpPr>
        <p:spPr bwMode="auto">
          <a:xfrm>
            <a:off x="9526437" y="2482220"/>
            <a:ext cx="720726" cy="2704838"/>
          </a:xfrm>
          <a:prstGeom prst="rect">
            <a:avLst/>
          </a:prstGeom>
          <a:solidFill>
            <a:srgbClr val="D4EAF5"/>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
                <a:srgbClr val="000000"/>
              </a:buClr>
              <a:buSzPct val="50000"/>
              <a:buFontTx/>
              <a:buNone/>
              <a:defRPr/>
            </a:pPr>
            <a:r>
              <a:rPr kumimoji="0" lang="zh-CN" altLang="en-US" sz="975" b="0" i="0" u="none" strike="noStrike" kern="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管理</a:t>
            </a:r>
          </a:p>
          <a:p>
            <a:pPr marL="0" marR="0" lvl="0" indent="0" algn="ctr" defTabSz="914400" eaLnBrk="0" fontAlgn="auto" latinLnBrk="0" hangingPunct="0">
              <a:lnSpc>
                <a:spcPct val="100000"/>
              </a:lnSpc>
              <a:spcBef>
                <a:spcPts val="0"/>
              </a:spcBef>
              <a:spcAft>
                <a:spcPts val="0"/>
              </a:spcAft>
              <a:buClr>
                <a:srgbClr val="000000"/>
              </a:buClr>
              <a:buSzPct val="50000"/>
              <a:buFontTx/>
              <a:buNone/>
              <a:defRPr/>
            </a:pPr>
            <a:r>
              <a:rPr kumimoji="0" lang="zh-CN" altLang="en-US" sz="975" b="0" i="0" u="none" strike="noStrike" kern="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体系</a:t>
            </a:r>
          </a:p>
          <a:p>
            <a:pPr marL="0" marR="0" lvl="0" indent="0" algn="ctr" defTabSz="914400" eaLnBrk="0" fontAlgn="auto" latinLnBrk="0" hangingPunct="0">
              <a:lnSpc>
                <a:spcPct val="100000"/>
              </a:lnSpc>
              <a:spcBef>
                <a:spcPts val="0"/>
              </a:spcBef>
              <a:spcAft>
                <a:spcPts val="0"/>
              </a:spcAft>
              <a:buClr>
                <a:srgbClr val="000000"/>
              </a:buClr>
              <a:buSzPct val="50000"/>
              <a:buFontTx/>
              <a:buNone/>
              <a:defRPr/>
            </a:pPr>
            <a:r>
              <a:rPr kumimoji="0" lang="zh-CN" altLang="en-US" sz="975" b="0" i="0" u="none" strike="noStrike" kern="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评估</a:t>
            </a:r>
          </a:p>
        </p:txBody>
      </p:sp>
      <p:sp>
        <p:nvSpPr>
          <p:cNvPr id="120" name="Rectangle 27"/>
          <p:cNvSpPr>
            <a:spLocks noChangeArrowheads="1"/>
          </p:cNvSpPr>
          <p:nvPr/>
        </p:nvSpPr>
        <p:spPr bwMode="auto">
          <a:xfrm>
            <a:off x="5870423" y="3486399"/>
            <a:ext cx="2016126" cy="388584"/>
          </a:xfrm>
          <a:prstGeom prst="rect">
            <a:avLst/>
          </a:prstGeom>
          <a:solidFill>
            <a:srgbClr val="00B0F0">
              <a:alpha val="50000"/>
            </a:srgbClr>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
                <a:srgbClr val="000000"/>
              </a:buClr>
              <a:buSzPct val="50000"/>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财务</a:t>
            </a:r>
            <a:r>
              <a:rPr kumimoji="0" lang="en-US" altLang="zh-CN"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a:t>
            </a: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人力核算与监控</a:t>
            </a:r>
          </a:p>
        </p:txBody>
      </p:sp>
      <p:sp>
        <p:nvSpPr>
          <p:cNvPr id="121" name="Rectangle 28"/>
          <p:cNvSpPr>
            <a:spLocks noChangeArrowheads="1"/>
          </p:cNvSpPr>
          <p:nvPr/>
        </p:nvSpPr>
        <p:spPr bwMode="auto">
          <a:xfrm>
            <a:off x="5878169" y="3923578"/>
            <a:ext cx="964118" cy="411645"/>
          </a:xfrm>
          <a:prstGeom prst="rect">
            <a:avLst/>
          </a:prstGeom>
          <a:solidFill>
            <a:srgbClr val="00B0F0">
              <a:alpha val="50000"/>
            </a:srgbClr>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
                <a:srgbClr val="000000"/>
              </a:buClr>
              <a:buSzPct val="50000"/>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组织优化</a:t>
            </a:r>
          </a:p>
          <a:p>
            <a:pPr marL="0" marR="0" lvl="0" indent="0" algn="ctr" defTabSz="914400" eaLnBrk="0" fontAlgn="auto" latinLnBrk="0" hangingPunct="0">
              <a:lnSpc>
                <a:spcPct val="100000"/>
              </a:lnSpc>
              <a:spcBef>
                <a:spcPts val="0"/>
              </a:spcBef>
              <a:spcAft>
                <a:spcPts val="0"/>
              </a:spcAft>
              <a:buClr>
                <a:srgbClr val="000000"/>
              </a:buClr>
              <a:buSzPct val="50000"/>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实施</a:t>
            </a:r>
          </a:p>
        </p:txBody>
      </p:sp>
      <p:sp>
        <p:nvSpPr>
          <p:cNvPr id="122" name="Rectangle 29"/>
          <p:cNvSpPr>
            <a:spLocks noChangeArrowheads="1"/>
          </p:cNvSpPr>
          <p:nvPr/>
        </p:nvSpPr>
        <p:spPr bwMode="auto">
          <a:xfrm>
            <a:off x="5872324" y="4410482"/>
            <a:ext cx="971867" cy="340167"/>
          </a:xfrm>
          <a:prstGeom prst="rect">
            <a:avLst/>
          </a:prstGeom>
          <a:solidFill>
            <a:srgbClr val="00B0F0">
              <a:alpha val="50000"/>
            </a:srgbClr>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
                <a:srgbClr val="000000"/>
              </a:buClr>
              <a:buSzPct val="50000"/>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人才获取</a:t>
            </a:r>
          </a:p>
          <a:p>
            <a:pPr marL="0" marR="0" lvl="0" indent="0" algn="ctr" defTabSz="914400" eaLnBrk="0" fontAlgn="auto" latinLnBrk="0" hangingPunct="0">
              <a:lnSpc>
                <a:spcPct val="100000"/>
              </a:lnSpc>
              <a:spcBef>
                <a:spcPts val="0"/>
              </a:spcBef>
              <a:spcAft>
                <a:spcPts val="0"/>
              </a:spcAft>
              <a:buClr>
                <a:srgbClr val="000000"/>
              </a:buClr>
              <a:buSzPct val="50000"/>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与配置</a:t>
            </a:r>
          </a:p>
        </p:txBody>
      </p:sp>
      <p:sp>
        <p:nvSpPr>
          <p:cNvPr id="123" name="Rectangle 30"/>
          <p:cNvSpPr>
            <a:spLocks noChangeArrowheads="1"/>
          </p:cNvSpPr>
          <p:nvPr/>
        </p:nvSpPr>
        <p:spPr bwMode="auto">
          <a:xfrm>
            <a:off x="5872011" y="4812767"/>
            <a:ext cx="2016126" cy="270272"/>
          </a:xfrm>
          <a:prstGeom prst="rect">
            <a:avLst/>
          </a:prstGeom>
          <a:solidFill>
            <a:srgbClr val="00B0F0">
              <a:alpha val="50000"/>
            </a:srgbClr>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
                <a:srgbClr val="000000"/>
              </a:buClr>
              <a:buSzPct val="50000"/>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流程与</a:t>
            </a:r>
            <a:r>
              <a:rPr kumimoji="0" lang="en-US" altLang="zh-CN"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IT</a:t>
            </a: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管理</a:t>
            </a:r>
          </a:p>
        </p:txBody>
      </p:sp>
      <p:sp>
        <p:nvSpPr>
          <p:cNvPr id="124" name="Rectangle 49"/>
          <p:cNvSpPr>
            <a:spLocks noChangeArrowheads="1"/>
          </p:cNvSpPr>
          <p:nvPr/>
        </p:nvSpPr>
        <p:spPr bwMode="auto">
          <a:xfrm>
            <a:off x="6905279" y="3924530"/>
            <a:ext cx="964118" cy="411645"/>
          </a:xfrm>
          <a:prstGeom prst="rect">
            <a:avLst/>
          </a:prstGeom>
          <a:solidFill>
            <a:srgbClr val="00B0F0">
              <a:alpha val="50000"/>
            </a:srgbClr>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
                <a:srgbClr val="000000"/>
              </a:buClr>
              <a:buSzPct val="50000"/>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职位与</a:t>
            </a:r>
          </a:p>
          <a:p>
            <a:pPr marL="0" marR="0" lvl="0" indent="0" algn="ctr" defTabSz="914400" eaLnBrk="0" fontAlgn="auto" latinLnBrk="0" hangingPunct="0">
              <a:lnSpc>
                <a:spcPct val="100000"/>
              </a:lnSpc>
              <a:spcBef>
                <a:spcPts val="0"/>
              </a:spcBef>
              <a:spcAft>
                <a:spcPts val="0"/>
              </a:spcAft>
              <a:buClr>
                <a:srgbClr val="000000"/>
              </a:buClr>
              <a:buSzPct val="50000"/>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任职</a:t>
            </a:r>
          </a:p>
        </p:txBody>
      </p:sp>
      <p:sp>
        <p:nvSpPr>
          <p:cNvPr id="125" name="Rectangle 50"/>
          <p:cNvSpPr>
            <a:spLocks noChangeArrowheads="1"/>
          </p:cNvSpPr>
          <p:nvPr/>
        </p:nvSpPr>
        <p:spPr bwMode="auto">
          <a:xfrm>
            <a:off x="6905279" y="4410482"/>
            <a:ext cx="967293" cy="340167"/>
          </a:xfrm>
          <a:prstGeom prst="rect">
            <a:avLst/>
          </a:prstGeom>
          <a:solidFill>
            <a:srgbClr val="00B0F0">
              <a:alpha val="50000"/>
            </a:srgbClr>
          </a:solidFill>
          <a:ln w="9525" algn="ctr">
            <a:noFill/>
            <a:round/>
          </a:ln>
        </p:spPr>
        <p:txBody>
          <a:bodyPr wrap="none" lIns="0" tIns="0" rIns="0" bIns="0" anchor="ctr"/>
          <a:lstStyle/>
          <a:p>
            <a:pPr marL="0" marR="0" lvl="0" indent="0" algn="ctr" defTabSz="914400" eaLnBrk="0" fontAlgn="auto" latinLnBrk="0" hangingPunct="0">
              <a:lnSpc>
                <a:spcPct val="100000"/>
              </a:lnSpc>
              <a:spcBef>
                <a:spcPts val="0"/>
              </a:spcBef>
              <a:spcAft>
                <a:spcPts val="0"/>
              </a:spcAft>
              <a:buClr>
                <a:srgbClr val="000000"/>
              </a:buClr>
              <a:buSzPct val="50000"/>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学习与</a:t>
            </a:r>
          </a:p>
          <a:p>
            <a:pPr marL="0" marR="0" lvl="0" indent="0" algn="ctr" defTabSz="914400" eaLnBrk="0" fontAlgn="auto" latinLnBrk="0" hangingPunct="0">
              <a:lnSpc>
                <a:spcPct val="100000"/>
              </a:lnSpc>
              <a:spcBef>
                <a:spcPts val="0"/>
              </a:spcBef>
              <a:spcAft>
                <a:spcPts val="0"/>
              </a:spcAft>
              <a:buClr>
                <a:srgbClr val="000000"/>
              </a:buClr>
              <a:buSzPct val="50000"/>
              <a:buFontTx/>
              <a:buNone/>
              <a:defRPr/>
            </a:pPr>
            <a:r>
              <a:rPr kumimoji="0" lang="zh-CN" altLang="en-US" sz="975"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ea"/>
                <a:sym typeface="+mn-lt"/>
              </a:rPr>
              <a:t>发展</a:t>
            </a:r>
          </a:p>
        </p:txBody>
      </p:sp>
      <p:sp>
        <p:nvSpPr>
          <p:cNvPr id="2" name="标题 1"/>
          <p:cNvSpPr txBox="1"/>
          <p:nvPr/>
        </p:nvSpPr>
        <p:spPr>
          <a:xfrm>
            <a:off x="443390" y="500694"/>
            <a:ext cx="8978265" cy="34353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2060"/>
                </a:solidFill>
                <a:latin typeface="微软雅黑" panose="020B0503020204020204" pitchFamily="34" charset="-122"/>
                <a:ea typeface="微软雅黑" panose="020B0503020204020204" pitchFamily="34" charset="-122"/>
                <a:cs typeface="+mn-ea"/>
                <a:sym typeface="+mn-lt"/>
              </a:rPr>
              <a:t>以创迎变，战略让变革成为常态：业务</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预算</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组织人才</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流程</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IT</a:t>
            </a:r>
          </a:p>
        </p:txBody>
      </p:sp>
      <p:sp>
        <p:nvSpPr>
          <p:cNvPr id="44" name="Rectangle 3"/>
          <p:cNvSpPr txBox="1">
            <a:spLocks noChangeArrowheads="1"/>
          </p:cNvSpPr>
          <p:nvPr/>
        </p:nvSpPr>
        <p:spPr bwMode="auto">
          <a:xfrm>
            <a:off x="1524000" y="6302252"/>
            <a:ext cx="9144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2000" b="1" dirty="0">
                <a:solidFill>
                  <a:schemeClr val="bg1"/>
                </a:solidFill>
                <a:effectLst/>
                <a:latin typeface="微软雅黑" panose="020B0503020204020204" pitchFamily="34" charset="-122"/>
                <a:ea typeface="微软雅黑" panose="020B0503020204020204" pitchFamily="34" charset="-122"/>
              </a:rPr>
              <a:t>战略规划不只是业务，还包括组织、人才、流程及管理体系的变革战略与规划</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3" cstate="print"/>
          <a:stretch>
            <a:fillRect/>
          </a:stretch>
        </p:blipFill>
        <p:spPr>
          <a:xfrm>
            <a:off x="-7620" y="6263005"/>
            <a:ext cx="12206605" cy="522605"/>
          </a:xfrm>
          <a:prstGeom prst="rect">
            <a:avLst/>
          </a:prstGeom>
        </p:spPr>
      </p:pic>
      <p:grpSp>
        <p:nvGrpSpPr>
          <p:cNvPr id="194" name="组合 193"/>
          <p:cNvGrpSpPr/>
          <p:nvPr/>
        </p:nvGrpSpPr>
        <p:grpSpPr>
          <a:xfrm>
            <a:off x="871855" y="1134745"/>
            <a:ext cx="9909810" cy="4622800"/>
            <a:chOff x="476" y="1245"/>
            <a:chExt cx="14096" cy="9098"/>
          </a:xfrm>
        </p:grpSpPr>
        <p:sp>
          <p:nvSpPr>
            <p:cNvPr id="195" name="流程图: 可选过程 43"/>
            <p:cNvSpPr/>
            <p:nvPr/>
          </p:nvSpPr>
          <p:spPr>
            <a:xfrm>
              <a:off x="2337" y="6825"/>
              <a:ext cx="12093" cy="3195"/>
            </a:xfrm>
            <a:prstGeom prst="flowChartAlternateProcess">
              <a:avLst/>
            </a:prstGeom>
            <a:gradFill>
              <a:gsLst>
                <a:gs pos="0">
                  <a:srgbClr val="ED7D31">
                    <a:lumMod val="20000"/>
                    <a:lumOff val="80000"/>
                  </a:srgbClr>
                </a:gs>
                <a:gs pos="100000">
                  <a:srgbClr val="ED7D31">
                    <a:lumMod val="40000"/>
                    <a:lumOff val="60000"/>
                  </a:srgbClr>
                </a:gs>
              </a:gsLst>
              <a:lin ang="5400000" scaled="0"/>
            </a:gra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1"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96" name="流程图: 可选过程 46"/>
            <p:cNvSpPr/>
            <p:nvPr/>
          </p:nvSpPr>
          <p:spPr>
            <a:xfrm>
              <a:off x="4492" y="9222"/>
              <a:ext cx="9500" cy="955"/>
            </a:xfrm>
            <a:prstGeom prst="flowChartAlternateProcess">
              <a:avLst/>
            </a:prstGeom>
            <a:gradFill>
              <a:gsLst>
                <a:gs pos="0">
                  <a:sysClr val="window" lastClr="FFFFFF">
                    <a:lumMod val="85000"/>
                  </a:sysClr>
                </a:gs>
                <a:gs pos="100000">
                  <a:sysClr val="window" lastClr="FFFFFF">
                    <a:lumMod val="75000"/>
                  </a:sysClr>
                </a:gs>
              </a:gsLst>
              <a:lin ang="5400000" scaled="0"/>
            </a:gradFill>
            <a:ln w="28575">
              <a:solidFill>
                <a:sysClr val="window" lastClr="FFFFFF"/>
              </a:solid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1"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97" name="五边形 196"/>
            <p:cNvSpPr/>
            <p:nvPr/>
          </p:nvSpPr>
          <p:spPr>
            <a:xfrm>
              <a:off x="1874" y="2241"/>
              <a:ext cx="9081" cy="1644"/>
            </a:xfrm>
            <a:prstGeom prst="homePlate">
              <a:avLst/>
            </a:prstGeom>
            <a:gradFill>
              <a:gsLst>
                <a:gs pos="0">
                  <a:srgbClr val="5B9BD5">
                    <a:lumMod val="20000"/>
                    <a:lumOff val="80000"/>
                  </a:srgbClr>
                </a:gs>
                <a:gs pos="100000">
                  <a:srgbClr val="5B9BD5">
                    <a:lumMod val="40000"/>
                    <a:lumOff val="60000"/>
                  </a:srgbClr>
                </a:gs>
              </a:gsLst>
              <a:lin ang="5400000" scaled="0"/>
            </a:gra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1"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98" name="五边形 197"/>
            <p:cNvSpPr/>
            <p:nvPr/>
          </p:nvSpPr>
          <p:spPr>
            <a:xfrm>
              <a:off x="7109" y="4278"/>
              <a:ext cx="7462" cy="2195"/>
            </a:xfrm>
            <a:prstGeom prst="homePlate">
              <a:avLst/>
            </a:prstGeom>
            <a:gradFill>
              <a:gsLst>
                <a:gs pos="0">
                  <a:srgbClr val="70AD47">
                    <a:lumMod val="20000"/>
                    <a:lumOff val="80000"/>
                  </a:srgbClr>
                </a:gs>
                <a:gs pos="100000">
                  <a:srgbClr val="70AD47">
                    <a:lumMod val="40000"/>
                    <a:lumOff val="60000"/>
                  </a:srgbClr>
                </a:gs>
              </a:gsLst>
              <a:lin ang="5400000" scaled="0"/>
            </a:gra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1"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99" name="五边形 198"/>
            <p:cNvSpPr/>
            <p:nvPr/>
          </p:nvSpPr>
          <p:spPr>
            <a:xfrm>
              <a:off x="1057" y="1296"/>
              <a:ext cx="13265" cy="300"/>
            </a:xfrm>
            <a:prstGeom prst="homePlate">
              <a:avLst/>
            </a:prstGeom>
            <a:solidFill>
              <a:sysClr val="windowText" lastClr="000000">
                <a:lumMod val="50000"/>
                <a:lumOff val="50000"/>
              </a:sysClr>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630" b="1"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00" name="文本框 4"/>
            <p:cNvSpPr txBox="1"/>
            <p:nvPr/>
          </p:nvSpPr>
          <p:spPr>
            <a:xfrm>
              <a:off x="1053" y="1245"/>
              <a:ext cx="12834" cy="449"/>
            </a:xfrm>
            <a:prstGeom prst="rect">
              <a:avLst/>
            </a:prstGeom>
            <a:noFill/>
            <a:ln w="9525">
              <a:noFill/>
            </a:ln>
          </p:spPr>
          <p:txBody>
            <a:bodyPr>
              <a:spAutoFit/>
            </a:bodyPr>
            <a:lstStyle/>
            <a:p>
              <a:pPr marR="0" defTabSz="914400" eaLnBrk="1" hangingPunct="1">
                <a:buClrTx/>
                <a:buSzTx/>
                <a:buFont typeface="Arial" panose="020B0604020202020204" pitchFamily="34" charset="0"/>
                <a:buNone/>
                <a:defRPr/>
              </a:pPr>
              <a:r>
                <a:rPr kumimoji="0" lang="en-US" altLang="zh-CN" sz="890" b="1" kern="1200" cap="none" spc="0" normalizeH="0" baseline="0" noProof="1">
                  <a:solidFill>
                    <a:sysClr val="window" lastClr="FFFFFF"/>
                  </a:solidFill>
                  <a:latin typeface="微软雅黑" panose="020B0503020204020204" pitchFamily="34" charset="-122"/>
                  <a:ea typeface="微软雅黑" panose="020B0503020204020204" pitchFamily="34" charset="-122"/>
                  <a:cs typeface="+mn-ea"/>
                  <a:sym typeface="+mn-lt"/>
                </a:rPr>
                <a:t>April         July            Aug           Sep                 Oct                           Nov                       Dec               Jan                  Mar</a:t>
              </a:r>
            </a:p>
          </p:txBody>
        </p:sp>
        <p:sp>
          <p:nvSpPr>
            <p:cNvPr id="201" name="流程图: 多文档 5"/>
            <p:cNvSpPr/>
            <p:nvPr/>
          </p:nvSpPr>
          <p:spPr>
            <a:xfrm>
              <a:off x="942" y="2380"/>
              <a:ext cx="933" cy="653"/>
            </a:xfrm>
            <a:prstGeom prst="flowChartMultidocument">
              <a:avLst/>
            </a:prstGeom>
            <a:solidFill>
              <a:srgbClr val="0070C0"/>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rPr>
                <a:t>市场洞察</a:t>
              </a:r>
            </a:p>
          </p:txBody>
        </p:sp>
        <p:sp>
          <p:nvSpPr>
            <p:cNvPr id="202" name="矩形 201"/>
            <p:cNvSpPr/>
            <p:nvPr/>
          </p:nvSpPr>
          <p:spPr>
            <a:xfrm>
              <a:off x="1990" y="2376"/>
              <a:ext cx="940" cy="576"/>
            </a:xfrm>
            <a:prstGeom prst="rect">
              <a:avLst/>
            </a:prstGeom>
            <a:solidFill>
              <a:srgbClr val="0070C0"/>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rPr>
                <a:t>确定战略指引</a:t>
              </a:r>
            </a:p>
          </p:txBody>
        </p:sp>
        <p:sp>
          <p:nvSpPr>
            <p:cNvPr id="203" name="矩形 202"/>
            <p:cNvSpPr/>
            <p:nvPr/>
          </p:nvSpPr>
          <p:spPr>
            <a:xfrm>
              <a:off x="1987" y="3160"/>
              <a:ext cx="1359" cy="543"/>
            </a:xfrm>
            <a:prstGeom prst="rect">
              <a:avLst/>
            </a:prstGeom>
            <a:solidFill>
              <a:srgbClr val="0070C0"/>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战略规划（</a:t>
              </a:r>
              <a:r>
                <a:rPr kumimoji="0" lang="en-US" altLang="zh-CN"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BLM</a:t>
              </a: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模型）</a:t>
              </a:r>
            </a:p>
          </p:txBody>
        </p:sp>
        <p:sp>
          <p:nvSpPr>
            <p:cNvPr id="204" name="矩形 203"/>
            <p:cNvSpPr/>
            <p:nvPr/>
          </p:nvSpPr>
          <p:spPr>
            <a:xfrm>
              <a:off x="5012" y="3160"/>
              <a:ext cx="937" cy="562"/>
            </a:xfrm>
            <a:prstGeom prst="rect">
              <a:avLst/>
            </a:prstGeom>
            <a:solidFill>
              <a:srgbClr val="0070C0"/>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rPr>
                <a:t>战略规划批准</a:t>
              </a:r>
            </a:p>
          </p:txBody>
        </p:sp>
        <p:sp>
          <p:nvSpPr>
            <p:cNvPr id="205" name="矩形 204"/>
            <p:cNvSpPr/>
            <p:nvPr/>
          </p:nvSpPr>
          <p:spPr>
            <a:xfrm>
              <a:off x="6181" y="3160"/>
              <a:ext cx="1280" cy="562"/>
            </a:xfrm>
            <a:prstGeom prst="rect">
              <a:avLst/>
            </a:prstGeom>
            <a:solidFill>
              <a:srgbClr val="0070C0"/>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rPr>
                <a:t>导出战略衡量指标</a:t>
              </a:r>
            </a:p>
          </p:txBody>
        </p:sp>
        <p:sp>
          <p:nvSpPr>
            <p:cNvPr id="206" name="矩形 205"/>
            <p:cNvSpPr/>
            <p:nvPr/>
          </p:nvSpPr>
          <p:spPr>
            <a:xfrm>
              <a:off x="7695" y="3160"/>
              <a:ext cx="1157" cy="576"/>
            </a:xfrm>
            <a:prstGeom prst="rect">
              <a:avLst/>
            </a:prstGeom>
            <a:solidFill>
              <a:srgbClr val="0070C0"/>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rPr>
                <a:t>签署战略归档件</a:t>
              </a:r>
            </a:p>
          </p:txBody>
        </p:sp>
        <p:sp>
          <p:nvSpPr>
            <p:cNvPr id="207" name="矩形 206"/>
            <p:cNvSpPr/>
            <p:nvPr/>
          </p:nvSpPr>
          <p:spPr>
            <a:xfrm>
              <a:off x="9051" y="3160"/>
              <a:ext cx="1154" cy="562"/>
            </a:xfrm>
            <a:prstGeom prst="rect">
              <a:avLst/>
            </a:prstGeom>
            <a:solidFill>
              <a:srgbClr val="0070C0"/>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制定</a:t>
              </a:r>
              <a:r>
                <a:rPr kumimoji="0" lang="en-US" altLang="zh-CN"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KPI</a:t>
              </a: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指标方案</a:t>
              </a:r>
            </a:p>
          </p:txBody>
        </p:sp>
        <p:sp>
          <p:nvSpPr>
            <p:cNvPr id="208" name="矩形 207"/>
            <p:cNvSpPr/>
            <p:nvPr/>
          </p:nvSpPr>
          <p:spPr>
            <a:xfrm>
              <a:off x="6292" y="2376"/>
              <a:ext cx="2357" cy="334"/>
            </a:xfrm>
            <a:prstGeom prst="rect">
              <a:avLst/>
            </a:prstGeom>
            <a:solidFill>
              <a:srgbClr val="0070C0"/>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rPr>
                <a:t>战略宣讲</a:t>
              </a:r>
            </a:p>
          </p:txBody>
        </p:sp>
        <p:sp>
          <p:nvSpPr>
            <p:cNvPr id="209" name="矩形 208"/>
            <p:cNvSpPr/>
            <p:nvPr/>
          </p:nvSpPr>
          <p:spPr>
            <a:xfrm>
              <a:off x="7195" y="5066"/>
              <a:ext cx="1009" cy="576"/>
            </a:xfrm>
            <a:prstGeom prst="rect">
              <a:avLst/>
            </a:prstGeom>
            <a:solidFill>
              <a:srgbClr val="70AD47">
                <a:lumMod val="75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SP</a:t>
              </a: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向</a:t>
              </a:r>
              <a:r>
                <a:rPr kumimoji="0" lang="en-US" altLang="zh-CN"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BP</a:t>
              </a: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输入</a:t>
              </a:r>
            </a:p>
          </p:txBody>
        </p:sp>
        <p:sp>
          <p:nvSpPr>
            <p:cNvPr id="210" name="矩形 209"/>
            <p:cNvSpPr/>
            <p:nvPr/>
          </p:nvSpPr>
          <p:spPr>
            <a:xfrm>
              <a:off x="9545" y="4729"/>
              <a:ext cx="1735" cy="290"/>
            </a:xfrm>
            <a:prstGeom prst="rect">
              <a:avLst/>
            </a:prstGeom>
            <a:solidFill>
              <a:srgbClr val="70AD47">
                <a:lumMod val="75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制定</a:t>
              </a:r>
              <a:r>
                <a:rPr kumimoji="0" lang="en-US" altLang="zh-CN" sz="850" b="1"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BP</a:t>
              </a:r>
            </a:p>
          </p:txBody>
        </p:sp>
        <p:sp>
          <p:nvSpPr>
            <p:cNvPr id="211" name="矩形 210"/>
            <p:cNvSpPr/>
            <p:nvPr/>
          </p:nvSpPr>
          <p:spPr>
            <a:xfrm>
              <a:off x="9545" y="5103"/>
              <a:ext cx="1732" cy="449"/>
            </a:xfrm>
            <a:prstGeom prst="rect">
              <a:avLst/>
            </a:prstGeom>
            <a:solidFill>
              <a:srgbClr val="70AD47">
                <a:lumMod val="75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战略解码导出重点工作（</a:t>
              </a:r>
              <a:r>
                <a:rPr kumimoji="0" lang="en-US" altLang="zh-CN"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BEM</a:t>
              </a: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a:t>
              </a:r>
            </a:p>
          </p:txBody>
        </p:sp>
        <p:sp>
          <p:nvSpPr>
            <p:cNvPr id="212" name="矩形 211"/>
            <p:cNvSpPr/>
            <p:nvPr/>
          </p:nvSpPr>
          <p:spPr>
            <a:xfrm>
              <a:off x="9545" y="5624"/>
              <a:ext cx="1754" cy="262"/>
            </a:xfrm>
            <a:prstGeom prst="rect">
              <a:avLst/>
            </a:prstGeom>
            <a:solidFill>
              <a:srgbClr val="70AD47">
                <a:lumMod val="75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rPr>
                <a:t>制定全面预算</a:t>
              </a:r>
            </a:p>
          </p:txBody>
        </p:sp>
        <p:sp>
          <p:nvSpPr>
            <p:cNvPr id="213" name="矩形 212"/>
            <p:cNvSpPr/>
            <p:nvPr/>
          </p:nvSpPr>
          <p:spPr>
            <a:xfrm>
              <a:off x="9545" y="5983"/>
              <a:ext cx="1754" cy="300"/>
            </a:xfrm>
            <a:prstGeom prst="rect">
              <a:avLst/>
            </a:prstGeom>
            <a:solidFill>
              <a:srgbClr val="70AD47">
                <a:lumMod val="75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rPr>
                <a:t>制定人力预算</a:t>
              </a:r>
            </a:p>
          </p:txBody>
        </p:sp>
        <p:sp>
          <p:nvSpPr>
            <p:cNvPr id="214" name="矩形 213"/>
            <p:cNvSpPr/>
            <p:nvPr/>
          </p:nvSpPr>
          <p:spPr>
            <a:xfrm>
              <a:off x="11649" y="5742"/>
              <a:ext cx="925" cy="550"/>
            </a:xfrm>
            <a:prstGeom prst="rect">
              <a:avLst/>
            </a:prstGeom>
            <a:solidFill>
              <a:srgbClr val="70AD47">
                <a:lumMod val="75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lIns="26431" tIns="26431" rIns="26431" bIns="26431"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制定</a:t>
              </a:r>
              <a:r>
                <a:rPr kumimoji="0" lang="en-US" altLang="zh-CN"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KPI</a:t>
              </a: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目标值</a:t>
              </a:r>
            </a:p>
          </p:txBody>
        </p:sp>
        <p:sp>
          <p:nvSpPr>
            <p:cNvPr id="215" name="矩形 214"/>
            <p:cNvSpPr/>
            <p:nvPr/>
          </p:nvSpPr>
          <p:spPr>
            <a:xfrm>
              <a:off x="12679" y="4728"/>
              <a:ext cx="947" cy="571"/>
            </a:xfrm>
            <a:prstGeom prst="rect">
              <a:avLst/>
            </a:prstGeom>
            <a:solidFill>
              <a:srgbClr val="70AD47">
                <a:lumMod val="75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BP</a:t>
              </a: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与</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述职</a:t>
              </a:r>
            </a:p>
          </p:txBody>
        </p:sp>
        <p:sp>
          <p:nvSpPr>
            <p:cNvPr id="216" name="矩形 215"/>
            <p:cNvSpPr/>
            <p:nvPr/>
          </p:nvSpPr>
          <p:spPr>
            <a:xfrm>
              <a:off x="12695" y="5707"/>
              <a:ext cx="915" cy="592"/>
            </a:xfrm>
            <a:prstGeom prst="rect">
              <a:avLst/>
            </a:prstGeom>
            <a:solidFill>
              <a:srgbClr val="70AD47">
                <a:lumMod val="75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PBC</a:t>
              </a: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沟通</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与签署</a:t>
              </a:r>
            </a:p>
          </p:txBody>
        </p:sp>
        <p:sp>
          <p:nvSpPr>
            <p:cNvPr id="217" name="矩形 216"/>
            <p:cNvSpPr/>
            <p:nvPr/>
          </p:nvSpPr>
          <p:spPr>
            <a:xfrm>
              <a:off x="2800" y="8807"/>
              <a:ext cx="2090" cy="251"/>
            </a:xfrm>
            <a:prstGeom prst="rect">
              <a:avLst/>
            </a:prstGeom>
            <a:solidFill>
              <a:srgbClr val="ED7D31">
                <a:lumMod val="75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管理</a:t>
              </a:r>
              <a:r>
                <a:rPr kumimoji="0" lang="en-US" altLang="zh-CN" sz="850" b="1"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KPI</a:t>
              </a:r>
            </a:p>
          </p:txBody>
        </p:sp>
        <p:sp>
          <p:nvSpPr>
            <p:cNvPr id="218" name="矩形 217"/>
            <p:cNvSpPr/>
            <p:nvPr/>
          </p:nvSpPr>
          <p:spPr>
            <a:xfrm>
              <a:off x="2800" y="9146"/>
              <a:ext cx="2090" cy="304"/>
            </a:xfrm>
            <a:prstGeom prst="rect">
              <a:avLst/>
            </a:prstGeom>
            <a:solidFill>
              <a:srgbClr val="ED7D31">
                <a:lumMod val="75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rPr>
                <a:t>管理运营绩效</a:t>
              </a:r>
            </a:p>
          </p:txBody>
        </p:sp>
        <p:sp>
          <p:nvSpPr>
            <p:cNvPr id="219" name="矩形 218"/>
            <p:cNvSpPr/>
            <p:nvPr/>
          </p:nvSpPr>
          <p:spPr>
            <a:xfrm>
              <a:off x="2800" y="9550"/>
              <a:ext cx="2090" cy="353"/>
            </a:xfrm>
            <a:prstGeom prst="rect">
              <a:avLst/>
            </a:prstGeom>
            <a:solidFill>
              <a:srgbClr val="ED7D31">
                <a:lumMod val="75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rPr>
                <a:t>管理战略专题</a:t>
              </a:r>
            </a:p>
          </p:txBody>
        </p:sp>
        <p:sp>
          <p:nvSpPr>
            <p:cNvPr id="220" name="矩形 219"/>
            <p:cNvSpPr/>
            <p:nvPr/>
          </p:nvSpPr>
          <p:spPr>
            <a:xfrm>
              <a:off x="6061" y="7982"/>
              <a:ext cx="1504" cy="578"/>
            </a:xfrm>
            <a:prstGeom prst="rect">
              <a:avLst/>
            </a:prstGeom>
            <a:solidFill>
              <a:srgbClr val="ED7D31">
                <a:lumMod val="75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rPr>
                <a:t>例行决策</a:t>
              </a:r>
            </a:p>
          </p:txBody>
        </p:sp>
        <p:sp>
          <p:nvSpPr>
            <p:cNvPr id="221" name="矩形 220"/>
            <p:cNvSpPr/>
            <p:nvPr/>
          </p:nvSpPr>
          <p:spPr>
            <a:xfrm>
              <a:off x="8157" y="7982"/>
              <a:ext cx="1501" cy="578"/>
            </a:xfrm>
            <a:prstGeom prst="rect">
              <a:avLst/>
            </a:prstGeom>
            <a:solidFill>
              <a:srgbClr val="ED7D31">
                <a:lumMod val="75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BP</a:t>
              </a: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与预算</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半年审核</a:t>
              </a:r>
            </a:p>
          </p:txBody>
        </p:sp>
        <p:sp>
          <p:nvSpPr>
            <p:cNvPr id="222" name="矩形 221"/>
            <p:cNvSpPr/>
            <p:nvPr/>
          </p:nvSpPr>
          <p:spPr>
            <a:xfrm>
              <a:off x="10251" y="7933"/>
              <a:ext cx="1501" cy="603"/>
            </a:xfrm>
            <a:prstGeom prst="rect">
              <a:avLst/>
            </a:prstGeom>
            <a:solidFill>
              <a:srgbClr val="ED7D31">
                <a:lumMod val="75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rPr>
                <a:t>跟踪与闭环</a:t>
              </a:r>
            </a:p>
          </p:txBody>
        </p:sp>
        <p:sp>
          <p:nvSpPr>
            <p:cNvPr id="223" name="矩形 222"/>
            <p:cNvSpPr/>
            <p:nvPr/>
          </p:nvSpPr>
          <p:spPr>
            <a:xfrm>
              <a:off x="6993" y="9438"/>
              <a:ext cx="2094" cy="339"/>
            </a:xfrm>
            <a:prstGeom prst="rect">
              <a:avLst/>
            </a:prstGeom>
            <a:solidFill>
              <a:srgbClr val="C00000"/>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高管</a:t>
              </a:r>
              <a:r>
                <a:rPr kumimoji="0" lang="en-US" altLang="zh-CN"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PBC</a:t>
              </a: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绩效辅导</a:t>
              </a:r>
            </a:p>
          </p:txBody>
        </p:sp>
        <p:sp>
          <p:nvSpPr>
            <p:cNvPr id="224" name="矩形 223"/>
            <p:cNvSpPr/>
            <p:nvPr/>
          </p:nvSpPr>
          <p:spPr>
            <a:xfrm>
              <a:off x="11650" y="9438"/>
              <a:ext cx="2094" cy="339"/>
            </a:xfrm>
            <a:prstGeom prst="rect">
              <a:avLst/>
            </a:prstGeom>
            <a:solidFill>
              <a:srgbClr val="C00000"/>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高管</a:t>
              </a:r>
              <a:r>
                <a:rPr kumimoji="0" lang="en-US" altLang="zh-CN"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PBC</a:t>
              </a: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绩效评价</a:t>
              </a:r>
            </a:p>
          </p:txBody>
        </p:sp>
        <p:sp>
          <p:nvSpPr>
            <p:cNvPr id="225" name="矩形 224"/>
            <p:cNvSpPr/>
            <p:nvPr/>
          </p:nvSpPr>
          <p:spPr>
            <a:xfrm>
              <a:off x="3617" y="3160"/>
              <a:ext cx="1135" cy="562"/>
            </a:xfrm>
            <a:prstGeom prst="rect">
              <a:avLst/>
            </a:prstGeom>
            <a:solidFill>
              <a:srgbClr val="0070C0"/>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rPr>
                <a:t>集团层面战略协同</a:t>
              </a:r>
            </a:p>
          </p:txBody>
        </p:sp>
        <p:sp>
          <p:nvSpPr>
            <p:cNvPr id="226" name="矩形 225"/>
            <p:cNvSpPr/>
            <p:nvPr/>
          </p:nvSpPr>
          <p:spPr>
            <a:xfrm>
              <a:off x="8266" y="5066"/>
              <a:ext cx="947" cy="576"/>
            </a:xfrm>
            <a:prstGeom prst="rect">
              <a:avLst/>
            </a:prstGeom>
            <a:solidFill>
              <a:srgbClr val="70AD47">
                <a:lumMod val="75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rPr>
                <a:t>机会点到订货</a:t>
              </a:r>
            </a:p>
          </p:txBody>
        </p:sp>
        <p:sp>
          <p:nvSpPr>
            <p:cNvPr id="227" name="矩形 226"/>
            <p:cNvSpPr/>
            <p:nvPr/>
          </p:nvSpPr>
          <p:spPr>
            <a:xfrm>
              <a:off x="2800" y="7156"/>
              <a:ext cx="2090" cy="304"/>
            </a:xfrm>
            <a:prstGeom prst="rect">
              <a:avLst/>
            </a:prstGeom>
            <a:solidFill>
              <a:srgbClr val="ED7D31">
                <a:lumMod val="75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rPr>
                <a:t>管理滚动业务计划</a:t>
              </a:r>
            </a:p>
          </p:txBody>
        </p:sp>
        <p:sp>
          <p:nvSpPr>
            <p:cNvPr id="228" name="矩形 227"/>
            <p:cNvSpPr/>
            <p:nvPr/>
          </p:nvSpPr>
          <p:spPr>
            <a:xfrm>
              <a:off x="2800" y="7556"/>
              <a:ext cx="2090" cy="237"/>
            </a:xfrm>
            <a:prstGeom prst="rect">
              <a:avLst/>
            </a:prstGeom>
            <a:solidFill>
              <a:srgbClr val="ED7D31">
                <a:lumMod val="75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rPr>
                <a:t>管理财务预算</a:t>
              </a:r>
            </a:p>
          </p:txBody>
        </p:sp>
        <p:sp>
          <p:nvSpPr>
            <p:cNvPr id="229" name="矩形 228"/>
            <p:cNvSpPr/>
            <p:nvPr/>
          </p:nvSpPr>
          <p:spPr>
            <a:xfrm>
              <a:off x="2800" y="7895"/>
              <a:ext cx="2090" cy="234"/>
            </a:xfrm>
            <a:prstGeom prst="rect">
              <a:avLst/>
            </a:prstGeom>
            <a:solidFill>
              <a:srgbClr val="ED7D31">
                <a:lumMod val="75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rPr>
                <a:t>管理人力预算</a:t>
              </a:r>
            </a:p>
          </p:txBody>
        </p:sp>
        <p:sp>
          <p:nvSpPr>
            <p:cNvPr id="230" name="矩形 229"/>
            <p:cNvSpPr/>
            <p:nvPr/>
          </p:nvSpPr>
          <p:spPr>
            <a:xfrm>
              <a:off x="2800" y="8244"/>
              <a:ext cx="2090" cy="478"/>
            </a:xfrm>
            <a:prstGeom prst="rect">
              <a:avLst/>
            </a:prstGeom>
            <a:solidFill>
              <a:srgbClr val="ED7D31">
                <a:lumMod val="75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管理重点工作</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850" b="1"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a:t>
              </a:r>
              <a:r>
                <a:rPr kumimoji="0" lang="en-US" altLang="zh-CN" sz="850" b="1"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BEM</a:t>
              </a:r>
              <a:r>
                <a:rPr kumimoji="0" lang="zh-CN" altLang="en-US" sz="850" b="1"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方法）</a:t>
              </a:r>
            </a:p>
          </p:txBody>
        </p:sp>
        <p:sp>
          <p:nvSpPr>
            <p:cNvPr id="231" name="文本框 44"/>
            <p:cNvSpPr txBox="1"/>
            <p:nvPr/>
          </p:nvSpPr>
          <p:spPr>
            <a:xfrm>
              <a:off x="8835" y="4071"/>
              <a:ext cx="3492" cy="725"/>
            </a:xfrm>
            <a:prstGeom prst="rect">
              <a:avLst/>
            </a:prstGeom>
            <a:noFill/>
            <a:ln w="9525">
              <a:noFill/>
            </a:ln>
          </p:spPr>
          <p:txBody>
            <a:bodyPr>
              <a:spAutoFit/>
            </a:bodyPr>
            <a:lstStyle/>
            <a:p>
              <a:pPr eaLnBrk="1" hangingPunct="1">
                <a:buFont typeface="Arial" panose="020B0604020202020204" pitchFamily="34" charset="0"/>
                <a:buNone/>
              </a:pPr>
              <a:r>
                <a:rPr lang="zh-CN" altLang="en-US" sz="1800" b="1" dirty="0">
                  <a:solidFill>
                    <a:srgbClr val="0000FF"/>
                  </a:solidFill>
                  <a:latin typeface="微软雅黑" panose="020B0503020204020204" pitchFamily="34" charset="-122"/>
                  <a:ea typeface="微软雅黑" panose="020B0503020204020204" pitchFamily="34" charset="-122"/>
                  <a:cs typeface="+mn-ea"/>
                  <a:sym typeface="+mn-lt"/>
                </a:rPr>
                <a:t>年度业务计划与预测</a:t>
              </a:r>
            </a:p>
          </p:txBody>
        </p:sp>
        <p:sp>
          <p:nvSpPr>
            <p:cNvPr id="232" name="文本框 45"/>
            <p:cNvSpPr txBox="1"/>
            <p:nvPr/>
          </p:nvSpPr>
          <p:spPr>
            <a:xfrm>
              <a:off x="7757" y="6953"/>
              <a:ext cx="3489" cy="725"/>
            </a:xfrm>
            <a:prstGeom prst="rect">
              <a:avLst/>
            </a:prstGeom>
            <a:noFill/>
            <a:ln w="9525">
              <a:noFill/>
            </a:ln>
          </p:spPr>
          <p:txBody>
            <a:bodyPr>
              <a:spAutoFit/>
            </a:bodyPr>
            <a:lstStyle/>
            <a:p>
              <a:pPr eaLnBrk="1" hangingPunct="1">
                <a:buFont typeface="Arial" panose="020B0604020202020204" pitchFamily="34" charset="0"/>
                <a:buNone/>
              </a:pPr>
              <a:r>
                <a:rPr lang="zh-CN" altLang="en-US" sz="1800" b="1" dirty="0">
                  <a:solidFill>
                    <a:srgbClr val="0000FF"/>
                  </a:solidFill>
                  <a:latin typeface="微软雅黑" panose="020B0503020204020204" pitchFamily="34" charset="-122"/>
                  <a:ea typeface="微软雅黑" panose="020B0503020204020204" pitchFamily="34" charset="-122"/>
                  <a:cs typeface="+mn-ea"/>
                  <a:sym typeface="+mn-lt"/>
                </a:rPr>
                <a:t>管理执行与监控</a:t>
              </a:r>
            </a:p>
          </p:txBody>
        </p:sp>
        <p:cxnSp>
          <p:nvCxnSpPr>
            <p:cNvPr id="233" name="直接箭头连接符 47"/>
            <p:cNvCxnSpPr/>
            <p:nvPr/>
          </p:nvCxnSpPr>
          <p:spPr>
            <a:xfrm>
              <a:off x="9087" y="9608"/>
              <a:ext cx="2564" cy="0"/>
            </a:xfrm>
            <a:prstGeom prst="straightConnector1">
              <a:avLst/>
            </a:prstGeom>
            <a:ln w="9525">
              <a:solidFill>
                <a:sysClr val="window" lastClr="FFFFFF">
                  <a:lumMod val="65000"/>
                </a:sysClr>
              </a:solidFill>
              <a:headEnd type="none"/>
              <a:tailEnd type="triangle" w="med" len="med"/>
            </a:ln>
          </p:spPr>
          <p:style>
            <a:lnRef idx="1">
              <a:srgbClr val="5B9BD5"/>
            </a:lnRef>
            <a:fillRef idx="0">
              <a:srgbClr val="5B9BD5"/>
            </a:fillRef>
            <a:effectRef idx="0">
              <a:srgbClr val="5B9BD5"/>
            </a:effectRef>
            <a:fontRef idx="minor">
              <a:sysClr val="windowText" lastClr="000000"/>
            </a:fontRef>
          </p:style>
        </p:cxnSp>
        <p:sp>
          <p:nvSpPr>
            <p:cNvPr id="234" name="文本框 48"/>
            <p:cNvSpPr txBox="1"/>
            <p:nvPr/>
          </p:nvSpPr>
          <p:spPr>
            <a:xfrm>
              <a:off x="4549" y="2376"/>
              <a:ext cx="2531" cy="542"/>
            </a:xfrm>
            <a:prstGeom prst="rect">
              <a:avLst/>
            </a:prstGeom>
            <a:noFill/>
            <a:ln w="9525">
              <a:noFill/>
            </a:ln>
          </p:spPr>
          <p:txBody>
            <a:bodyPr>
              <a:spAutoFit/>
            </a:bodyPr>
            <a:lstStyle/>
            <a:p>
              <a:pPr eaLnBrk="1" hangingPunct="1">
                <a:buFont typeface="Arial" panose="020B0604020202020204" pitchFamily="34" charset="0"/>
                <a:buNone/>
              </a:pPr>
              <a:r>
                <a:rPr lang="zh-CN" altLang="en-US" sz="1200" b="1" i="1" dirty="0">
                  <a:solidFill>
                    <a:srgbClr val="002060"/>
                  </a:solidFill>
                  <a:latin typeface="微软雅黑" panose="020B0503020204020204" pitchFamily="34" charset="-122"/>
                  <a:ea typeface="微软雅黑" panose="020B0503020204020204" pitchFamily="34" charset="-122"/>
                  <a:cs typeface="+mn-ea"/>
                  <a:sym typeface="+mn-lt"/>
                </a:rPr>
                <a:t>战略规划</a:t>
              </a:r>
            </a:p>
          </p:txBody>
        </p:sp>
        <p:sp>
          <p:nvSpPr>
            <p:cNvPr id="235" name="虚尾箭头 234"/>
            <p:cNvSpPr/>
            <p:nvPr/>
          </p:nvSpPr>
          <p:spPr>
            <a:xfrm>
              <a:off x="1177" y="1644"/>
              <a:ext cx="1063" cy="380"/>
            </a:xfrm>
            <a:prstGeom prst="stripedRightArrow">
              <a:avLst/>
            </a:prstGeom>
            <a:solidFill>
              <a:srgbClr val="E7E6E6">
                <a:lumMod val="40000"/>
                <a:lumOff val="60000"/>
              </a:srgbClr>
            </a:solidFill>
          </p:spPr>
          <p:style>
            <a:lnRef idx="1">
              <a:srgbClr val="A5A5A5"/>
            </a:lnRef>
            <a:fillRef idx="3">
              <a:srgbClr val="A5A5A5"/>
            </a:fillRef>
            <a:effectRef idx="2">
              <a:srgbClr val="A5A5A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1"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36" name="矩形 235"/>
            <p:cNvSpPr/>
            <p:nvPr/>
          </p:nvSpPr>
          <p:spPr>
            <a:xfrm>
              <a:off x="2539" y="1704"/>
              <a:ext cx="395" cy="244"/>
            </a:xfrm>
            <a:prstGeom prst="rect">
              <a:avLst/>
            </a:prstGeom>
            <a:solidFill>
              <a:srgbClr val="E7E6E6">
                <a:lumMod val="40000"/>
                <a:lumOff val="60000"/>
              </a:srgbClr>
            </a:solidFill>
          </p:spPr>
          <p:style>
            <a:lnRef idx="1">
              <a:srgbClr val="A5A5A5"/>
            </a:lnRef>
            <a:fillRef idx="3">
              <a:srgbClr val="A5A5A5"/>
            </a:fillRef>
            <a:effectRef idx="2">
              <a:srgbClr val="A5A5A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1"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37" name="矩形 236"/>
            <p:cNvSpPr/>
            <p:nvPr/>
          </p:nvSpPr>
          <p:spPr>
            <a:xfrm>
              <a:off x="3498" y="1704"/>
              <a:ext cx="470" cy="227"/>
            </a:xfrm>
            <a:prstGeom prst="rect">
              <a:avLst/>
            </a:prstGeom>
            <a:solidFill>
              <a:srgbClr val="E7E6E6">
                <a:lumMod val="40000"/>
                <a:lumOff val="60000"/>
              </a:srgbClr>
            </a:solidFill>
          </p:spPr>
          <p:style>
            <a:lnRef idx="1">
              <a:srgbClr val="A5A5A5"/>
            </a:lnRef>
            <a:fillRef idx="3">
              <a:srgbClr val="A5A5A5"/>
            </a:fillRef>
            <a:effectRef idx="2">
              <a:srgbClr val="A5A5A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1"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38" name="右箭头 237"/>
            <p:cNvSpPr/>
            <p:nvPr/>
          </p:nvSpPr>
          <p:spPr>
            <a:xfrm>
              <a:off x="4202" y="1609"/>
              <a:ext cx="7772" cy="408"/>
            </a:xfrm>
            <a:prstGeom prst="rightArrow">
              <a:avLst/>
            </a:prstGeom>
            <a:solidFill>
              <a:srgbClr val="E7E6E6">
                <a:lumMod val="40000"/>
                <a:lumOff val="60000"/>
              </a:srgbClr>
            </a:solidFill>
          </p:spPr>
          <p:style>
            <a:lnRef idx="1">
              <a:srgbClr val="A5A5A5"/>
            </a:lnRef>
            <a:fillRef idx="3">
              <a:srgbClr val="A5A5A5"/>
            </a:fillRef>
            <a:effectRef idx="2">
              <a:srgbClr val="A5A5A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1"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39" name="虚尾箭头 238"/>
            <p:cNvSpPr/>
            <p:nvPr/>
          </p:nvSpPr>
          <p:spPr>
            <a:xfrm>
              <a:off x="12228" y="1644"/>
              <a:ext cx="1070" cy="394"/>
            </a:xfrm>
            <a:prstGeom prst="stripedRightArrow">
              <a:avLst/>
            </a:prstGeom>
            <a:solidFill>
              <a:srgbClr val="E7E6E6">
                <a:lumMod val="40000"/>
                <a:lumOff val="60000"/>
              </a:srgbClr>
            </a:solidFill>
          </p:spPr>
          <p:style>
            <a:lnRef idx="1">
              <a:srgbClr val="A5A5A5"/>
            </a:lnRef>
            <a:fillRef idx="3">
              <a:srgbClr val="A5A5A5"/>
            </a:fillRef>
            <a:effectRef idx="2">
              <a:srgbClr val="A5A5A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1"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40" name="文本框 55"/>
            <p:cNvSpPr txBox="1"/>
            <p:nvPr/>
          </p:nvSpPr>
          <p:spPr>
            <a:xfrm>
              <a:off x="6460" y="1539"/>
              <a:ext cx="4786" cy="887"/>
            </a:xfrm>
            <a:prstGeom prst="rect">
              <a:avLst/>
            </a:prstGeom>
            <a:noFill/>
            <a:ln w="9525">
              <a:noFill/>
            </a:ln>
          </p:spPr>
          <p:txBody>
            <a:bodyPr>
              <a:spAutoFit/>
            </a:bodyPr>
            <a:lstStyle/>
            <a:p>
              <a:pPr eaLnBrk="1" hangingPunct="1">
                <a:lnSpc>
                  <a:spcPct val="130000"/>
                </a:lnSpc>
                <a:buFont typeface="Arial" panose="020B0604020202020204" pitchFamily="34" charset="0"/>
                <a:buNone/>
              </a:pPr>
              <a:r>
                <a:rPr lang="zh-CN" altLang="en-US" sz="18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rPr>
                <a:t>识别战略问题</a:t>
              </a:r>
              <a:r>
                <a:rPr lang="en-US" altLang="zh-CN" sz="18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8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rPr>
                <a:t>战略专题研究</a:t>
              </a:r>
            </a:p>
          </p:txBody>
        </p:sp>
        <p:cxnSp>
          <p:nvCxnSpPr>
            <p:cNvPr id="241" name="直接箭头连接符 57"/>
            <p:cNvCxnSpPr>
              <a:stCxn id="198" idx="3"/>
              <a:endCxn id="199" idx="1"/>
            </p:cNvCxnSpPr>
            <p:nvPr/>
          </p:nvCxnSpPr>
          <p:spPr>
            <a:xfrm>
              <a:off x="1874" y="2659"/>
              <a:ext cx="116" cy="4"/>
            </a:xfrm>
            <a:prstGeom prst="straightConnector1">
              <a:avLst/>
            </a:prstGeom>
            <a:ln>
              <a:solidFill>
                <a:sysClr val="window" lastClr="FFFFFF">
                  <a:lumMod val="65000"/>
                </a:sysClr>
              </a:solidFill>
              <a:headEnd type="none"/>
              <a:tailEnd type="triangle" w="med" len="med"/>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42" name="直接箭头连接符 60"/>
            <p:cNvCxnSpPr>
              <a:stCxn id="198" idx="3"/>
              <a:endCxn id="199" idx="1"/>
            </p:cNvCxnSpPr>
            <p:nvPr/>
          </p:nvCxnSpPr>
          <p:spPr>
            <a:xfrm>
              <a:off x="1874" y="2659"/>
              <a:ext cx="116" cy="4"/>
            </a:xfrm>
            <a:prstGeom prst="straightConnector1">
              <a:avLst/>
            </a:prstGeom>
            <a:ln>
              <a:solidFill>
                <a:sysClr val="window" lastClr="FFFFFF">
                  <a:lumMod val="65000"/>
                </a:sysClr>
              </a:solidFill>
              <a:headEnd type="none"/>
              <a:tailEnd type="triangle" w="med" len="med"/>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43" name="直接箭头连接符 62"/>
            <p:cNvCxnSpPr>
              <a:stCxn id="198" idx="3"/>
              <a:endCxn id="199" idx="1"/>
            </p:cNvCxnSpPr>
            <p:nvPr/>
          </p:nvCxnSpPr>
          <p:spPr>
            <a:xfrm>
              <a:off x="1874" y="2659"/>
              <a:ext cx="116" cy="4"/>
            </a:xfrm>
            <a:prstGeom prst="straightConnector1">
              <a:avLst/>
            </a:prstGeom>
            <a:ln>
              <a:solidFill>
                <a:sysClr val="window" lastClr="FFFFFF">
                  <a:lumMod val="65000"/>
                </a:sysClr>
              </a:solidFill>
              <a:headEnd type="none"/>
              <a:tailEnd type="triangle" w="med" len="med"/>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44" name="直接箭头连接符 63"/>
            <p:cNvCxnSpPr>
              <a:stCxn id="198" idx="3"/>
              <a:endCxn id="199" idx="1"/>
            </p:cNvCxnSpPr>
            <p:nvPr/>
          </p:nvCxnSpPr>
          <p:spPr>
            <a:xfrm>
              <a:off x="1874" y="2659"/>
              <a:ext cx="116" cy="4"/>
            </a:xfrm>
            <a:prstGeom prst="straightConnector1">
              <a:avLst/>
            </a:prstGeom>
            <a:ln>
              <a:solidFill>
                <a:sysClr val="window" lastClr="FFFFFF">
                  <a:lumMod val="65000"/>
                </a:sysClr>
              </a:solidFill>
              <a:headEnd type="none"/>
              <a:tailEnd type="triangle" w="med" len="med"/>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45" name="直接箭头连接符 64"/>
            <p:cNvCxnSpPr>
              <a:stCxn id="198" idx="3"/>
              <a:endCxn id="199" idx="1"/>
            </p:cNvCxnSpPr>
            <p:nvPr/>
          </p:nvCxnSpPr>
          <p:spPr>
            <a:xfrm>
              <a:off x="1874" y="2659"/>
              <a:ext cx="116" cy="4"/>
            </a:xfrm>
            <a:prstGeom prst="straightConnector1">
              <a:avLst/>
            </a:prstGeom>
            <a:ln>
              <a:solidFill>
                <a:sysClr val="window" lastClr="FFFFFF">
                  <a:lumMod val="65000"/>
                </a:sysClr>
              </a:solidFill>
              <a:headEnd type="none"/>
              <a:tailEnd type="triangle" w="med" len="med"/>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46" name="直接箭头连接符 65"/>
            <p:cNvCxnSpPr>
              <a:stCxn id="198" idx="3"/>
              <a:endCxn id="199" idx="1"/>
            </p:cNvCxnSpPr>
            <p:nvPr/>
          </p:nvCxnSpPr>
          <p:spPr>
            <a:xfrm>
              <a:off x="1874" y="2659"/>
              <a:ext cx="116" cy="4"/>
            </a:xfrm>
            <a:prstGeom prst="straightConnector1">
              <a:avLst/>
            </a:prstGeom>
            <a:ln>
              <a:solidFill>
                <a:sysClr val="window" lastClr="FFFFFF">
                  <a:lumMod val="65000"/>
                </a:sysClr>
              </a:solidFill>
              <a:headEnd type="none"/>
              <a:tailEnd type="triangle" w="med" len="med"/>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47" name="肘形连接符 246"/>
            <p:cNvCxnSpPr>
              <a:stCxn id="198" idx="3"/>
              <a:endCxn id="199" idx="1"/>
            </p:cNvCxnSpPr>
            <p:nvPr/>
          </p:nvCxnSpPr>
          <p:spPr>
            <a:xfrm>
              <a:off x="1874" y="2659"/>
              <a:ext cx="116" cy="4"/>
            </a:xfrm>
            <a:prstGeom prst="bentConnector3">
              <a:avLst>
                <a:gd name="adj1" fmla="val 50000"/>
              </a:avLst>
            </a:prstGeom>
            <a:ln>
              <a:solidFill>
                <a:sysClr val="window" lastClr="FFFFFF">
                  <a:lumMod val="65000"/>
                </a:sysClr>
              </a:solidFill>
              <a:headEnd type="none"/>
              <a:tailEnd type="triangle" w="med" len="med"/>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48" name="直接箭头连接符 69"/>
            <p:cNvCxnSpPr>
              <a:stCxn id="198" idx="3"/>
              <a:endCxn id="199" idx="1"/>
            </p:cNvCxnSpPr>
            <p:nvPr/>
          </p:nvCxnSpPr>
          <p:spPr>
            <a:xfrm>
              <a:off x="1874" y="2659"/>
              <a:ext cx="116" cy="4"/>
            </a:xfrm>
            <a:prstGeom prst="straightConnector1">
              <a:avLst/>
            </a:prstGeom>
            <a:ln>
              <a:solidFill>
                <a:sysClr val="window" lastClr="FFFFFF">
                  <a:lumMod val="65000"/>
                </a:sysClr>
              </a:solidFill>
              <a:tailEnd type="arrow" w="med" len="med"/>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49" name="直接连接符 70"/>
            <p:cNvCxnSpPr/>
            <p:nvPr/>
          </p:nvCxnSpPr>
          <p:spPr>
            <a:xfrm>
              <a:off x="9204" y="5463"/>
              <a:ext cx="0" cy="0"/>
            </a:xfrm>
            <a:prstGeom prst="line">
              <a:avLst/>
            </a:prstGeom>
            <a:ln>
              <a:solidFill>
                <a:sysClr val="window" lastClr="FFFFFF">
                  <a:lumMod val="65000"/>
                </a:sysClr>
              </a:solidFill>
            </a:ln>
          </p:spPr>
          <p:style>
            <a:lnRef idx="1">
              <a:srgbClr val="5B9BD5"/>
            </a:lnRef>
            <a:fillRef idx="0">
              <a:srgbClr val="5B9BD5"/>
            </a:fillRef>
            <a:effectRef idx="0">
              <a:srgbClr val="5B9BD5"/>
            </a:effectRef>
            <a:fontRef idx="minor">
              <a:sysClr val="windowText" lastClr="000000"/>
            </a:fontRef>
          </p:style>
        </p:cxnSp>
        <p:cxnSp>
          <p:nvCxnSpPr>
            <p:cNvPr id="250" name="直接连接符 72"/>
            <p:cNvCxnSpPr/>
            <p:nvPr/>
          </p:nvCxnSpPr>
          <p:spPr>
            <a:xfrm>
              <a:off x="9187" y="5400"/>
              <a:ext cx="163" cy="4"/>
            </a:xfrm>
            <a:prstGeom prst="line">
              <a:avLst/>
            </a:prstGeom>
            <a:ln>
              <a:solidFill>
                <a:sysClr val="window" lastClr="FFFFFF">
                  <a:lumMod val="65000"/>
                </a:sysClr>
              </a:solidFill>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51" name="直接连接符 73"/>
            <p:cNvCxnSpPr/>
            <p:nvPr/>
          </p:nvCxnSpPr>
          <p:spPr>
            <a:xfrm>
              <a:off x="9360" y="4828"/>
              <a:ext cx="0" cy="1275"/>
            </a:xfrm>
            <a:prstGeom prst="line">
              <a:avLst/>
            </a:prstGeom>
            <a:ln>
              <a:solidFill>
                <a:sysClr val="window" lastClr="FFFFFF">
                  <a:lumMod val="65000"/>
                </a:sysClr>
              </a:solidFill>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52" name="直接箭头连接符 76"/>
            <p:cNvCxnSpPr/>
            <p:nvPr/>
          </p:nvCxnSpPr>
          <p:spPr>
            <a:xfrm>
              <a:off x="9360" y="6122"/>
              <a:ext cx="178" cy="11"/>
            </a:xfrm>
            <a:prstGeom prst="straightConnector1">
              <a:avLst/>
            </a:prstGeom>
            <a:ln>
              <a:solidFill>
                <a:sysClr val="window" lastClr="FFFFFF">
                  <a:lumMod val="65000"/>
                </a:sysClr>
              </a:solidFill>
              <a:headEnd type="none"/>
              <a:tailEnd type="triangle" w="med" len="med"/>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53" name="直接箭头连接符 77"/>
            <p:cNvCxnSpPr/>
            <p:nvPr/>
          </p:nvCxnSpPr>
          <p:spPr>
            <a:xfrm>
              <a:off x="9360" y="5738"/>
              <a:ext cx="178" cy="11"/>
            </a:xfrm>
            <a:prstGeom prst="straightConnector1">
              <a:avLst/>
            </a:prstGeom>
            <a:ln>
              <a:solidFill>
                <a:sysClr val="window" lastClr="FFFFFF">
                  <a:lumMod val="65000"/>
                </a:sysClr>
              </a:solidFill>
              <a:headEnd type="none"/>
              <a:tailEnd type="triangle" w="med" len="med"/>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54" name="直接箭头连接符 78"/>
            <p:cNvCxnSpPr/>
            <p:nvPr/>
          </p:nvCxnSpPr>
          <p:spPr>
            <a:xfrm>
              <a:off x="9360" y="5330"/>
              <a:ext cx="178" cy="11"/>
            </a:xfrm>
            <a:prstGeom prst="straightConnector1">
              <a:avLst/>
            </a:prstGeom>
            <a:ln>
              <a:solidFill>
                <a:sysClr val="window" lastClr="FFFFFF">
                  <a:lumMod val="65000"/>
                </a:sysClr>
              </a:solidFill>
              <a:headEnd type="none"/>
              <a:tailEnd type="triangle" w="med" len="med"/>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55" name="直接箭头连接符 79"/>
            <p:cNvCxnSpPr/>
            <p:nvPr/>
          </p:nvCxnSpPr>
          <p:spPr>
            <a:xfrm>
              <a:off x="9360" y="4840"/>
              <a:ext cx="178" cy="14"/>
            </a:xfrm>
            <a:prstGeom prst="straightConnector1">
              <a:avLst/>
            </a:prstGeom>
            <a:ln>
              <a:solidFill>
                <a:sysClr val="window" lastClr="FFFFFF">
                  <a:lumMod val="65000"/>
                </a:sysClr>
              </a:solidFill>
              <a:headEnd type="none"/>
              <a:tailEnd type="triangle" w="med" len="med"/>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56" name="直接连接符 80"/>
            <p:cNvCxnSpPr/>
            <p:nvPr/>
          </p:nvCxnSpPr>
          <p:spPr>
            <a:xfrm>
              <a:off x="11452" y="4828"/>
              <a:ext cx="0" cy="1275"/>
            </a:xfrm>
            <a:prstGeom prst="line">
              <a:avLst/>
            </a:prstGeom>
            <a:ln>
              <a:solidFill>
                <a:sysClr val="window" lastClr="FFFFFF">
                  <a:lumMod val="65000"/>
                </a:sysClr>
              </a:solidFill>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57" name="直接连接符 82"/>
            <p:cNvCxnSpPr/>
            <p:nvPr/>
          </p:nvCxnSpPr>
          <p:spPr>
            <a:xfrm>
              <a:off x="11283" y="4835"/>
              <a:ext cx="166" cy="0"/>
            </a:xfrm>
            <a:prstGeom prst="line">
              <a:avLst/>
            </a:prstGeom>
            <a:ln>
              <a:solidFill>
                <a:sysClr val="window" lastClr="FFFFFF">
                  <a:lumMod val="65000"/>
                </a:sysClr>
              </a:solidFill>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58" name="直接连接符 83"/>
            <p:cNvCxnSpPr/>
            <p:nvPr/>
          </p:nvCxnSpPr>
          <p:spPr>
            <a:xfrm>
              <a:off x="11279" y="5293"/>
              <a:ext cx="166" cy="0"/>
            </a:xfrm>
            <a:prstGeom prst="line">
              <a:avLst/>
            </a:prstGeom>
            <a:ln>
              <a:solidFill>
                <a:sysClr val="window" lastClr="FFFFFF">
                  <a:lumMod val="65000"/>
                </a:sysClr>
              </a:solidFill>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59" name="直接连接符 84"/>
            <p:cNvCxnSpPr/>
            <p:nvPr/>
          </p:nvCxnSpPr>
          <p:spPr>
            <a:xfrm>
              <a:off x="11283" y="5738"/>
              <a:ext cx="166" cy="0"/>
            </a:xfrm>
            <a:prstGeom prst="line">
              <a:avLst/>
            </a:prstGeom>
            <a:ln>
              <a:solidFill>
                <a:sysClr val="window" lastClr="FFFFFF">
                  <a:lumMod val="65000"/>
                </a:sysClr>
              </a:solidFill>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60" name="直接连接符 85"/>
            <p:cNvCxnSpPr/>
            <p:nvPr/>
          </p:nvCxnSpPr>
          <p:spPr>
            <a:xfrm>
              <a:off x="11283" y="6108"/>
              <a:ext cx="166" cy="0"/>
            </a:xfrm>
            <a:prstGeom prst="line">
              <a:avLst/>
            </a:prstGeom>
            <a:ln>
              <a:solidFill>
                <a:sysClr val="window" lastClr="FFFFFF">
                  <a:lumMod val="65000"/>
                </a:sysClr>
              </a:solidFill>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61" name="直接箭头连接符 86"/>
            <p:cNvCxnSpPr/>
            <p:nvPr/>
          </p:nvCxnSpPr>
          <p:spPr>
            <a:xfrm>
              <a:off x="11452" y="5964"/>
              <a:ext cx="178" cy="11"/>
            </a:xfrm>
            <a:prstGeom prst="straightConnector1">
              <a:avLst/>
            </a:prstGeom>
            <a:ln>
              <a:solidFill>
                <a:sysClr val="window" lastClr="FFFFFF">
                  <a:lumMod val="65000"/>
                </a:sysClr>
              </a:solidFill>
              <a:headEnd type="none"/>
              <a:tailEnd type="triangle" w="med" len="med"/>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62" name="直接箭头连接符 87"/>
            <p:cNvCxnSpPr/>
            <p:nvPr/>
          </p:nvCxnSpPr>
          <p:spPr>
            <a:xfrm>
              <a:off x="11399" y="4840"/>
              <a:ext cx="1280" cy="0"/>
            </a:xfrm>
            <a:prstGeom prst="straightConnector1">
              <a:avLst/>
            </a:prstGeom>
            <a:ln>
              <a:solidFill>
                <a:sysClr val="window" lastClr="FFFFFF">
                  <a:lumMod val="65000"/>
                </a:sysClr>
              </a:solidFill>
              <a:tailEnd type="arrow"/>
            </a:ln>
          </p:spPr>
          <p:style>
            <a:lnRef idx="1">
              <a:srgbClr val="5B9BD5"/>
            </a:lnRef>
            <a:fillRef idx="0">
              <a:srgbClr val="5B9BD5"/>
            </a:fillRef>
            <a:effectRef idx="0">
              <a:srgbClr val="5B9BD5"/>
            </a:effectRef>
            <a:fontRef idx="minor">
              <a:sysClr val="windowText" lastClr="000000"/>
            </a:fontRef>
          </p:style>
        </p:cxnSp>
        <p:cxnSp>
          <p:nvCxnSpPr>
            <p:cNvPr id="263" name="直接箭头连接符 89"/>
            <p:cNvCxnSpPr/>
            <p:nvPr/>
          </p:nvCxnSpPr>
          <p:spPr>
            <a:xfrm flipH="1">
              <a:off x="13144" y="5299"/>
              <a:ext cx="7" cy="408"/>
            </a:xfrm>
            <a:prstGeom prst="straightConnector1">
              <a:avLst/>
            </a:prstGeom>
            <a:ln>
              <a:solidFill>
                <a:sysClr val="window" lastClr="FFFFFF">
                  <a:lumMod val="65000"/>
                </a:sysClr>
              </a:solidFill>
              <a:headEnd type="none"/>
              <a:tailEnd type="triangle" w="med" len="med"/>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64" name="肘形连接符 263"/>
            <p:cNvCxnSpPr/>
            <p:nvPr/>
          </p:nvCxnSpPr>
          <p:spPr>
            <a:xfrm rot="16200000">
              <a:off x="12039" y="5128"/>
              <a:ext cx="899" cy="322"/>
            </a:xfrm>
            <a:prstGeom prst="bentConnector3">
              <a:avLst>
                <a:gd name="adj1" fmla="val 100110"/>
              </a:avLst>
            </a:prstGeom>
            <a:ln>
              <a:solidFill>
                <a:sysClr val="window" lastClr="FFFFFF">
                  <a:lumMod val="65000"/>
                </a:sysClr>
              </a:solidFill>
              <a:headEnd type="none"/>
              <a:tailEnd type="triangle" w="med" len="med"/>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65" name="直接箭头连接符 91"/>
            <p:cNvCxnSpPr>
              <a:stCxn id="229" idx="3"/>
              <a:endCxn id="229" idx="3"/>
            </p:cNvCxnSpPr>
            <p:nvPr/>
          </p:nvCxnSpPr>
          <p:spPr>
            <a:xfrm>
              <a:off x="4890" y="8012"/>
              <a:ext cx="0" cy="0"/>
            </a:xfrm>
            <a:prstGeom prst="straightConnector1">
              <a:avLst/>
            </a:prstGeom>
            <a:ln>
              <a:solidFill>
                <a:sysClr val="window" lastClr="FFFFFF">
                  <a:lumMod val="65000"/>
                </a:sysClr>
              </a:solidFill>
              <a:headEnd type="none"/>
              <a:tailEnd type="triangle" w="med" len="med"/>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66" name="直接连接符 92"/>
            <p:cNvCxnSpPr/>
            <p:nvPr/>
          </p:nvCxnSpPr>
          <p:spPr>
            <a:xfrm>
              <a:off x="5526" y="7537"/>
              <a:ext cx="0" cy="2227"/>
            </a:xfrm>
            <a:prstGeom prst="line">
              <a:avLst/>
            </a:prstGeom>
            <a:ln w="9525">
              <a:solidFill>
                <a:sysClr val="window" lastClr="FFFFFF">
                  <a:lumMod val="65000"/>
                </a:sysClr>
              </a:solidFill>
            </a:ln>
          </p:spPr>
          <p:style>
            <a:lnRef idx="1">
              <a:sysClr val="windowText" lastClr="000000"/>
            </a:lnRef>
            <a:fillRef idx="0">
              <a:sysClr val="windowText" lastClr="000000"/>
            </a:fillRef>
            <a:effectRef idx="0">
              <a:sysClr val="windowText" lastClr="000000"/>
            </a:effectRef>
            <a:fontRef idx="minor">
              <a:sysClr val="windowText" lastClr="000000"/>
            </a:fontRef>
          </p:style>
        </p:cxnSp>
        <p:sp>
          <p:nvSpPr>
            <p:cNvPr id="267" name="矩形 266"/>
            <p:cNvSpPr/>
            <p:nvPr/>
          </p:nvSpPr>
          <p:spPr>
            <a:xfrm>
              <a:off x="2684" y="6872"/>
              <a:ext cx="2328" cy="1318"/>
            </a:xfrm>
            <a:prstGeom prst="rect">
              <a:avLst/>
            </a:prstGeom>
            <a:noFill/>
            <a:ln w="9525">
              <a:solidFill>
                <a:sysClr val="window" lastClr="FFFFFF">
                  <a:lumMod val="65000"/>
                </a:sysClr>
              </a:solidFill>
              <a:prstDash val="sysDash"/>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1" i="0" u="none" strike="noStrike" kern="120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68" name="文本框 94"/>
            <p:cNvSpPr txBox="1"/>
            <p:nvPr/>
          </p:nvSpPr>
          <p:spPr>
            <a:xfrm>
              <a:off x="2800" y="6825"/>
              <a:ext cx="1150" cy="449"/>
            </a:xfrm>
            <a:prstGeom prst="rect">
              <a:avLst/>
            </a:prstGeom>
            <a:noFill/>
            <a:ln w="9525">
              <a:noFill/>
            </a:ln>
          </p:spPr>
          <p:txBody>
            <a:bodyPr>
              <a:spAutoFit/>
            </a:bodyPr>
            <a:lstStyle/>
            <a:p>
              <a:pPr marR="0" defTabSz="914400" eaLnBrk="1" hangingPunct="1">
                <a:buClrTx/>
                <a:buSzTx/>
                <a:buFont typeface="Arial" panose="020B0604020202020204" pitchFamily="34" charset="0"/>
                <a:buNone/>
                <a:defRPr/>
              </a:pPr>
              <a:r>
                <a:rPr kumimoji="0" lang="zh-CN" altLang="en-US" sz="890" b="1" kern="1200" cap="none" spc="0" normalizeH="0" baseline="0" noProof="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管理</a:t>
              </a:r>
              <a:r>
                <a:rPr kumimoji="0" lang="en-US" altLang="zh-CN" sz="890" b="1" kern="1200" cap="none" spc="0" normalizeH="0" baseline="0" noProof="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IBP</a:t>
              </a:r>
            </a:p>
          </p:txBody>
        </p:sp>
        <p:cxnSp>
          <p:nvCxnSpPr>
            <p:cNvPr id="269" name="直接连接符 95"/>
            <p:cNvCxnSpPr/>
            <p:nvPr/>
          </p:nvCxnSpPr>
          <p:spPr>
            <a:xfrm>
              <a:off x="5012" y="7542"/>
              <a:ext cx="492" cy="0"/>
            </a:xfrm>
            <a:prstGeom prst="line">
              <a:avLst/>
            </a:prstGeom>
            <a:ln w="9525">
              <a:solidFill>
                <a:sysClr val="window" lastClr="FFFFFF">
                  <a:lumMod val="65000"/>
                </a:sysClr>
              </a:solidFill>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70" name="直接连接符 97"/>
            <p:cNvCxnSpPr>
              <a:stCxn id="233" idx="3"/>
              <a:endCxn id="229" idx="3"/>
            </p:cNvCxnSpPr>
            <p:nvPr/>
          </p:nvCxnSpPr>
          <p:spPr>
            <a:xfrm>
              <a:off x="4889" y="8619"/>
              <a:ext cx="643" cy="0"/>
            </a:xfrm>
            <a:prstGeom prst="line">
              <a:avLst/>
            </a:prstGeom>
            <a:ln w="9525">
              <a:solidFill>
                <a:sysClr val="window" lastClr="FFFFFF">
                  <a:lumMod val="65000"/>
                </a:sysClr>
              </a:solidFill>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71" name="直接连接符 98"/>
            <p:cNvCxnSpPr>
              <a:stCxn id="233" idx="3"/>
              <a:endCxn id="229" idx="3"/>
            </p:cNvCxnSpPr>
            <p:nvPr/>
          </p:nvCxnSpPr>
          <p:spPr>
            <a:xfrm>
              <a:off x="4868" y="8877"/>
              <a:ext cx="643" cy="0"/>
            </a:xfrm>
            <a:prstGeom prst="line">
              <a:avLst/>
            </a:prstGeom>
            <a:ln w="9525">
              <a:solidFill>
                <a:sysClr val="window" lastClr="FFFFFF">
                  <a:lumMod val="65000"/>
                </a:sysClr>
              </a:solidFill>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72" name="直接连接符 99"/>
            <p:cNvCxnSpPr>
              <a:stCxn id="233" idx="3"/>
              <a:endCxn id="229" idx="3"/>
            </p:cNvCxnSpPr>
            <p:nvPr/>
          </p:nvCxnSpPr>
          <p:spPr>
            <a:xfrm>
              <a:off x="4868" y="9327"/>
              <a:ext cx="643" cy="0"/>
            </a:xfrm>
            <a:prstGeom prst="line">
              <a:avLst/>
            </a:prstGeom>
            <a:ln w="9525">
              <a:solidFill>
                <a:sysClr val="window" lastClr="FFFFFF">
                  <a:lumMod val="65000"/>
                </a:sysClr>
              </a:solidFill>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73" name="直接连接符 100"/>
            <p:cNvCxnSpPr>
              <a:stCxn id="233" idx="3"/>
              <a:endCxn id="229" idx="3"/>
            </p:cNvCxnSpPr>
            <p:nvPr/>
          </p:nvCxnSpPr>
          <p:spPr>
            <a:xfrm>
              <a:off x="4868" y="9762"/>
              <a:ext cx="643" cy="0"/>
            </a:xfrm>
            <a:prstGeom prst="line">
              <a:avLst/>
            </a:prstGeom>
            <a:ln w="9525">
              <a:solidFill>
                <a:sysClr val="window" lastClr="FFFFFF">
                  <a:lumMod val="65000"/>
                </a:sysClr>
              </a:solidFill>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74" name="直接箭头连接符 102"/>
            <p:cNvCxnSpPr>
              <a:stCxn id="233" idx="3"/>
              <a:endCxn id="223" idx="1"/>
            </p:cNvCxnSpPr>
            <p:nvPr/>
          </p:nvCxnSpPr>
          <p:spPr>
            <a:xfrm>
              <a:off x="5518" y="8372"/>
              <a:ext cx="542" cy="11"/>
            </a:xfrm>
            <a:prstGeom prst="straightConnector1">
              <a:avLst/>
            </a:prstGeom>
            <a:ln w="9525">
              <a:solidFill>
                <a:sysClr val="window" lastClr="FFFFFF">
                  <a:lumMod val="65000"/>
                </a:sysClr>
              </a:solidFill>
              <a:headEnd type="none"/>
              <a:tailEnd type="triangle" w="med" len="med"/>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75" name="直接箭头连接符 103"/>
            <p:cNvCxnSpPr>
              <a:stCxn id="233" idx="3"/>
              <a:endCxn id="223" idx="1"/>
            </p:cNvCxnSpPr>
            <p:nvPr/>
          </p:nvCxnSpPr>
          <p:spPr>
            <a:xfrm>
              <a:off x="7572" y="8319"/>
              <a:ext cx="547" cy="7"/>
            </a:xfrm>
            <a:prstGeom prst="straightConnector1">
              <a:avLst/>
            </a:prstGeom>
            <a:ln w="9525">
              <a:solidFill>
                <a:sysClr val="window" lastClr="FFFFFF">
                  <a:lumMod val="65000"/>
                </a:sysClr>
              </a:solidFill>
              <a:headEnd type="none"/>
              <a:tailEnd type="triangle" w="med" len="med"/>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76" name="直接箭头连接符 104"/>
            <p:cNvCxnSpPr>
              <a:stCxn id="233" idx="3"/>
              <a:endCxn id="223" idx="1"/>
            </p:cNvCxnSpPr>
            <p:nvPr/>
          </p:nvCxnSpPr>
          <p:spPr>
            <a:xfrm>
              <a:off x="9668" y="8319"/>
              <a:ext cx="542" cy="7"/>
            </a:xfrm>
            <a:prstGeom prst="straightConnector1">
              <a:avLst/>
            </a:prstGeom>
            <a:ln w="9525">
              <a:solidFill>
                <a:sysClr val="window" lastClr="FFFFFF">
                  <a:lumMod val="65000"/>
                </a:sysClr>
              </a:solidFill>
              <a:headEnd type="none"/>
              <a:tailEnd type="triangle" w="med" len="med"/>
            </a:ln>
          </p:spPr>
          <p:style>
            <a:lnRef idx="1">
              <a:sysClr val="windowText" lastClr="000000"/>
            </a:lnRef>
            <a:fillRef idx="0">
              <a:sysClr val="windowText" lastClr="000000"/>
            </a:fillRef>
            <a:effectRef idx="0">
              <a:sysClr val="windowText" lastClr="000000"/>
            </a:effectRef>
            <a:fontRef idx="minor">
              <a:sysClr val="windowText" lastClr="000000"/>
            </a:fontRef>
          </p:style>
        </p:cxnSp>
        <p:sp>
          <p:nvSpPr>
            <p:cNvPr id="277" name="左弧形箭头 105"/>
            <p:cNvSpPr/>
            <p:nvPr/>
          </p:nvSpPr>
          <p:spPr>
            <a:xfrm>
              <a:off x="476" y="1816"/>
              <a:ext cx="347" cy="785"/>
            </a:xfrm>
            <a:prstGeom prst="curvedRightArrow">
              <a:avLst/>
            </a:prstGeom>
            <a:solidFill>
              <a:srgbClr val="0070C0"/>
            </a:solidFill>
            <a:ln>
              <a:noFill/>
            </a:ln>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1" i="0" u="none" strike="noStrike" kern="1200" cap="none" spc="0" normalizeH="0" baseline="0" noProof="1">
                <a:ln>
                  <a:noFill/>
                </a:ln>
                <a:solidFill>
                  <a:sysClr val="windowText" lastClr="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78" name="下弧形箭头 107"/>
            <p:cNvSpPr/>
            <p:nvPr/>
          </p:nvSpPr>
          <p:spPr>
            <a:xfrm rot="17280000">
              <a:off x="13251" y="1952"/>
              <a:ext cx="564" cy="340"/>
            </a:xfrm>
            <a:prstGeom prst="curvedUpArrow">
              <a:avLst>
                <a:gd name="adj1" fmla="val 25000"/>
                <a:gd name="adj2" fmla="val 102317"/>
                <a:gd name="adj3" fmla="val 25000"/>
              </a:avLst>
            </a:prstGeom>
          </p:spPr>
          <p:style>
            <a:lnRef idx="2">
              <a:srgbClr val="5B9BD5">
                <a:shade val="50000"/>
              </a:srgbClr>
            </a:lnRef>
            <a:fillRef idx="1">
              <a:srgbClr val="5B9BD5"/>
            </a:fillRef>
            <a:effectRef idx="0">
              <a:srgbClr val="5B9BD5"/>
            </a:effectRef>
            <a:fontRef idx="minor">
              <a:sysClr val="window" lastClr="FFFFFF"/>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1" i="0" u="none" strike="noStrike" kern="1200" cap="none" spc="0" normalizeH="0" baseline="0" noProof="1">
                <a:ln>
                  <a:noFill/>
                </a:ln>
                <a:solidFill>
                  <a:sysClr val="windowText" lastClr="000000"/>
                </a:solidFill>
                <a:effectLst/>
                <a:uLnTx/>
                <a:uFillTx/>
                <a:latin typeface="微软雅黑" panose="020B0503020204020204" pitchFamily="34" charset="-122"/>
                <a:ea typeface="微软雅黑" panose="020B0503020204020204" pitchFamily="34" charset="-122"/>
                <a:cs typeface="+mn-ea"/>
                <a:sym typeface="+mn-lt"/>
              </a:endParaRPr>
            </a:p>
          </p:txBody>
        </p:sp>
        <p:grpSp>
          <p:nvGrpSpPr>
            <p:cNvPr id="279" name="组合 112"/>
            <p:cNvGrpSpPr/>
            <p:nvPr/>
          </p:nvGrpSpPr>
          <p:grpSpPr>
            <a:xfrm>
              <a:off x="1404" y="3317"/>
              <a:ext cx="13026" cy="7026"/>
              <a:chOff x="1077" y="3630"/>
              <a:chExt cx="12690" cy="7106"/>
            </a:xfrm>
          </p:grpSpPr>
          <p:cxnSp>
            <p:nvCxnSpPr>
              <p:cNvPr id="280" name="肘形连接符 279"/>
              <p:cNvCxnSpPr>
                <a:stCxn id="236" idx="3"/>
                <a:endCxn id="223" idx="1"/>
              </p:cNvCxnSpPr>
              <p:nvPr/>
            </p:nvCxnSpPr>
            <p:spPr>
              <a:xfrm flipH="1">
                <a:off x="1077" y="8908"/>
                <a:ext cx="12690" cy="1821"/>
              </a:xfrm>
              <a:prstGeom prst="bentConnector3">
                <a:avLst>
                  <a:gd name="adj1" fmla="val -2955"/>
                </a:avLst>
              </a:prstGeom>
              <a:ln w="9525">
                <a:solidFill>
                  <a:sysClr val="window" lastClr="FFFFFF">
                    <a:lumMod val="65000"/>
                  </a:sysClr>
                </a:solidFill>
              </a:ln>
            </p:spPr>
            <p:style>
              <a:lnRef idx="1">
                <a:srgbClr val="5B9BD5"/>
              </a:lnRef>
              <a:fillRef idx="0">
                <a:srgbClr val="5B9BD5"/>
              </a:fillRef>
              <a:effectRef idx="0">
                <a:srgbClr val="5B9BD5"/>
              </a:effectRef>
              <a:fontRef idx="minor">
                <a:sysClr val="windowText" lastClr="000000"/>
              </a:fontRef>
            </p:style>
          </p:cxnSp>
          <p:cxnSp>
            <p:nvCxnSpPr>
              <p:cNvPr id="281" name="直接连接符 111"/>
              <p:cNvCxnSpPr>
                <a:stCxn id="236" idx="3"/>
                <a:endCxn id="223" idx="1"/>
              </p:cNvCxnSpPr>
              <p:nvPr/>
            </p:nvCxnSpPr>
            <p:spPr>
              <a:xfrm flipV="1">
                <a:off x="1081" y="3630"/>
                <a:ext cx="0" cy="7106"/>
              </a:xfrm>
              <a:prstGeom prst="line">
                <a:avLst/>
              </a:prstGeom>
              <a:ln w="9525">
                <a:solidFill>
                  <a:sysClr val="window" lastClr="FFFFFF">
                    <a:lumMod val="65000"/>
                  </a:sysClr>
                </a:solidFill>
              </a:ln>
            </p:spPr>
            <p:style>
              <a:lnRef idx="1">
                <a:sysClr val="windowText" lastClr="000000"/>
              </a:lnRef>
              <a:fillRef idx="0">
                <a:sysClr val="windowText" lastClr="000000"/>
              </a:fillRef>
              <a:effectRef idx="0">
                <a:sysClr val="windowText" lastClr="000000"/>
              </a:effectRef>
              <a:fontRef idx="minor">
                <a:sysClr val="windowText" lastClr="000000"/>
              </a:fontRef>
            </p:style>
          </p:cxnSp>
        </p:grpSp>
        <p:cxnSp>
          <p:nvCxnSpPr>
            <p:cNvPr id="282" name="直接箭头连接符 113"/>
            <p:cNvCxnSpPr>
              <a:stCxn id="236" idx="3"/>
              <a:endCxn id="223" idx="1"/>
            </p:cNvCxnSpPr>
            <p:nvPr/>
          </p:nvCxnSpPr>
          <p:spPr>
            <a:xfrm>
              <a:off x="1412" y="3314"/>
              <a:ext cx="402" cy="0"/>
            </a:xfrm>
            <a:prstGeom prst="straightConnector1">
              <a:avLst/>
            </a:prstGeom>
            <a:ln>
              <a:solidFill>
                <a:sysClr val="window" lastClr="FFFFFF">
                  <a:lumMod val="65000"/>
                </a:sysClr>
              </a:solidFill>
              <a:headEnd type="none"/>
              <a:tailEnd type="triangle" w="med" len="med"/>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83" name="直接箭头连接符 114"/>
            <p:cNvCxnSpPr/>
            <p:nvPr/>
          </p:nvCxnSpPr>
          <p:spPr>
            <a:xfrm>
              <a:off x="1412" y="5403"/>
              <a:ext cx="5574" cy="0"/>
            </a:xfrm>
            <a:prstGeom prst="straightConnector1">
              <a:avLst/>
            </a:prstGeom>
            <a:ln w="9525">
              <a:solidFill>
                <a:sysClr val="window" lastClr="FFFFFF">
                  <a:lumMod val="65000"/>
                </a:sysClr>
              </a:solidFill>
              <a:headEnd type="none"/>
              <a:tailEnd type="triangle" w="med" len="med"/>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84" name="肘形连接符 283"/>
            <p:cNvCxnSpPr>
              <a:stCxn id="205" idx="3"/>
              <a:endCxn id="223" idx="1"/>
            </p:cNvCxnSpPr>
            <p:nvPr/>
          </p:nvCxnSpPr>
          <p:spPr>
            <a:xfrm flipH="1">
              <a:off x="6643" y="3439"/>
              <a:ext cx="3562" cy="617"/>
            </a:xfrm>
            <a:prstGeom prst="bentConnector3">
              <a:avLst>
                <a:gd name="adj1" fmla="val -10807"/>
              </a:avLst>
            </a:prstGeom>
            <a:ln w="9525">
              <a:solidFill>
                <a:sysClr val="window" lastClr="FFFFFF">
                  <a:lumMod val="65000"/>
                </a:sysClr>
              </a:solidFill>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85" name="直接连接符 116"/>
            <p:cNvCxnSpPr/>
            <p:nvPr/>
          </p:nvCxnSpPr>
          <p:spPr>
            <a:xfrm>
              <a:off x="6643" y="4044"/>
              <a:ext cx="0" cy="1356"/>
            </a:xfrm>
            <a:prstGeom prst="line">
              <a:avLst/>
            </a:prstGeom>
            <a:ln w="9525">
              <a:solidFill>
                <a:sysClr val="window" lastClr="FFFFFF">
                  <a:lumMod val="65000"/>
                </a:sysClr>
              </a:solidFill>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86" name="肘形连接符 285"/>
            <p:cNvCxnSpPr/>
            <p:nvPr/>
          </p:nvCxnSpPr>
          <p:spPr>
            <a:xfrm flipH="1">
              <a:off x="1987" y="5403"/>
              <a:ext cx="12585" cy="1261"/>
            </a:xfrm>
            <a:prstGeom prst="bentConnector3">
              <a:avLst>
                <a:gd name="adj1" fmla="val -3059"/>
              </a:avLst>
            </a:prstGeom>
            <a:ln w="9525">
              <a:solidFill>
                <a:sysClr val="window" lastClr="FFFFFF">
                  <a:lumMod val="65000"/>
                </a:sysClr>
              </a:solidFill>
            </a:ln>
          </p:spPr>
          <p:style>
            <a:lnRef idx="1">
              <a:srgbClr val="5B9BD5"/>
            </a:lnRef>
            <a:fillRef idx="0">
              <a:srgbClr val="5B9BD5"/>
            </a:fillRef>
            <a:effectRef idx="0">
              <a:srgbClr val="5B9BD5"/>
            </a:effectRef>
            <a:fontRef idx="minor">
              <a:sysClr val="windowText" lastClr="000000"/>
            </a:fontRef>
          </p:style>
        </p:cxnSp>
        <p:cxnSp>
          <p:nvCxnSpPr>
            <p:cNvPr id="287" name="直接连接符 120"/>
            <p:cNvCxnSpPr>
              <a:stCxn id="205" idx="3"/>
              <a:endCxn id="223" idx="1"/>
            </p:cNvCxnSpPr>
            <p:nvPr/>
          </p:nvCxnSpPr>
          <p:spPr>
            <a:xfrm>
              <a:off x="1987" y="6637"/>
              <a:ext cx="0" cy="2146"/>
            </a:xfrm>
            <a:prstGeom prst="line">
              <a:avLst/>
            </a:prstGeom>
            <a:ln w="12700">
              <a:solidFill>
                <a:sysClr val="window" lastClr="FFFFFF">
                  <a:lumMod val="65000"/>
                </a:sysClr>
              </a:solidFill>
            </a:ln>
          </p:spPr>
          <p:style>
            <a:lnRef idx="1">
              <a:sysClr val="windowText" lastClr="000000"/>
            </a:lnRef>
            <a:fillRef idx="0">
              <a:sysClr val="windowText" lastClr="000000"/>
            </a:fillRef>
            <a:effectRef idx="0">
              <a:sysClr val="windowText" lastClr="000000"/>
            </a:effectRef>
            <a:fontRef idx="minor">
              <a:sysClr val="windowText" lastClr="000000"/>
            </a:fontRef>
          </p:style>
        </p:cxnSp>
        <p:cxnSp>
          <p:nvCxnSpPr>
            <p:cNvPr id="288" name="直接箭头连接符 121"/>
            <p:cNvCxnSpPr>
              <a:stCxn id="205" idx="3"/>
              <a:endCxn id="223" idx="1"/>
            </p:cNvCxnSpPr>
            <p:nvPr/>
          </p:nvCxnSpPr>
          <p:spPr>
            <a:xfrm flipV="1">
              <a:off x="2012" y="8765"/>
              <a:ext cx="207" cy="7"/>
            </a:xfrm>
            <a:prstGeom prst="straightConnector1">
              <a:avLst/>
            </a:prstGeom>
            <a:ln>
              <a:solidFill>
                <a:sysClr val="window" lastClr="FFFFFF">
                  <a:lumMod val="65000"/>
                </a:sysClr>
              </a:solidFill>
              <a:headEnd type="none"/>
              <a:tailEnd type="triangle" w="med" len="med"/>
            </a:ln>
          </p:spPr>
          <p:style>
            <a:lnRef idx="1">
              <a:sysClr val="windowText" lastClr="000000"/>
            </a:lnRef>
            <a:fillRef idx="0">
              <a:sysClr val="windowText" lastClr="000000"/>
            </a:fillRef>
            <a:effectRef idx="0">
              <a:sysClr val="windowText" lastClr="000000"/>
            </a:effectRef>
            <a:fontRef idx="minor">
              <a:sysClr val="windowText" lastClr="000000"/>
            </a:fontRef>
          </p:style>
        </p:cxnSp>
      </p:grpSp>
      <p:sp>
        <p:nvSpPr>
          <p:cNvPr id="2" name="标题 1"/>
          <p:cNvSpPr txBox="1"/>
          <p:nvPr/>
        </p:nvSpPr>
        <p:spPr>
          <a:xfrm>
            <a:off x="569985" y="458128"/>
            <a:ext cx="8836660" cy="34353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2060"/>
                </a:solidFill>
                <a:latin typeface="微软雅黑" panose="020B0503020204020204" pitchFamily="34" charset="-122"/>
                <a:ea typeface="微软雅黑" panose="020B0503020204020204" pitchFamily="34" charset="-122"/>
                <a:cs typeface="+mn-ea"/>
                <a:sym typeface="+mn-lt"/>
              </a:rPr>
              <a:t>DSTE流程：战略规划、年度业务计划与预算、管理执行与监控</a:t>
            </a:r>
          </a:p>
        </p:txBody>
      </p:sp>
      <p:sp>
        <p:nvSpPr>
          <p:cNvPr id="99" name="Rectangle 3"/>
          <p:cNvSpPr txBox="1">
            <a:spLocks noChangeArrowheads="1"/>
          </p:cNvSpPr>
          <p:nvPr/>
        </p:nvSpPr>
        <p:spPr bwMode="auto">
          <a:xfrm>
            <a:off x="1337310" y="6295902"/>
            <a:ext cx="9144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2000" b="1" dirty="0">
                <a:solidFill>
                  <a:schemeClr val="bg1"/>
                </a:solidFill>
                <a:effectLst/>
                <a:latin typeface="微软雅黑" panose="020B0503020204020204" pitchFamily="34" charset="-122"/>
                <a:ea typeface="微软雅黑" panose="020B0503020204020204" pitchFamily="34" charset="-122"/>
              </a:rPr>
              <a:t>智能时代，</a:t>
            </a:r>
            <a:r>
              <a:rPr lang="zh-CN" altLang="en-US" sz="2000" b="1" dirty="0">
                <a:solidFill>
                  <a:srgbClr val="FCC78C"/>
                </a:solidFill>
                <a:effectLst/>
                <a:latin typeface="微软雅黑" panose="020B0503020204020204" pitchFamily="34" charset="-122"/>
                <a:ea typeface="微软雅黑" panose="020B0503020204020204" pitchFamily="34" charset="-122"/>
              </a:rPr>
              <a:t>高手在一线，智慧在民间</a:t>
            </a:r>
            <a:r>
              <a:rPr lang="zh-CN" altLang="en-US" sz="2000" b="1" dirty="0">
                <a:solidFill>
                  <a:schemeClr val="bg1"/>
                </a:solidFill>
                <a:effectLst/>
                <a:latin typeface="微软雅黑" panose="020B0503020204020204" pitchFamily="34" charset="-122"/>
                <a:ea typeface="微软雅黑" panose="020B0503020204020204" pitchFamily="34" charset="-122"/>
              </a:rPr>
              <a:t>，高管和专家都要参加，二等兵也要参加</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3" cstate="print"/>
          <a:stretch>
            <a:fillRect/>
          </a:stretch>
        </p:blipFill>
        <p:spPr>
          <a:xfrm>
            <a:off x="-7620" y="6263005"/>
            <a:ext cx="12206605" cy="522605"/>
          </a:xfrm>
          <a:prstGeom prst="rect">
            <a:avLst/>
          </a:prstGeom>
        </p:spPr>
      </p:pic>
      <p:sp>
        <p:nvSpPr>
          <p:cNvPr id="37" name="矩形标注 36"/>
          <p:cNvSpPr/>
          <p:nvPr/>
        </p:nvSpPr>
        <p:spPr>
          <a:xfrm>
            <a:off x="2086610" y="1368425"/>
            <a:ext cx="7991475" cy="912495"/>
          </a:xfrm>
          <a:prstGeom prst="wedgeRectCallout">
            <a:avLst>
              <a:gd name="adj1" fmla="val 23173"/>
              <a:gd name="adj2" fmla="val 100881"/>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rtlCol="0" anchor="ctr"/>
          <a:lstStyle/>
          <a:p>
            <a:pPr marL="287020" lvl="1" indent="-285750" algn="just" defTabSz="330200">
              <a:lnSpc>
                <a:spcPct val="130000"/>
              </a:lnSpc>
              <a:spcBef>
                <a:spcPts val="0"/>
              </a:spcBef>
              <a:buClr>
                <a:srgbClr val="267FC3"/>
              </a:buClr>
              <a:buFont typeface="Arial" panose="020B0604020202020204" pitchFamily="34" charset="0"/>
              <a:buChar char="•"/>
              <a:tabLst>
                <a:tab pos="8521700" algn="r"/>
              </a:tabLst>
            </a:pPr>
            <a:r>
              <a:rPr lang="zh-CN" altLang="en-US" sz="15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公司及各部门领导不能被日常事物缠住，要投入时间进行战略思考，战略不能变成战略部的事情</a:t>
            </a:r>
            <a:endParaRPr lang="en-US" altLang="zh-CN" sz="15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indent="-285750" algn="just" defTabSz="330200">
              <a:lnSpc>
                <a:spcPct val="130000"/>
              </a:lnSpc>
              <a:spcBef>
                <a:spcPts val="0"/>
              </a:spcBef>
              <a:buClr>
                <a:srgbClr val="267FC3"/>
              </a:buClr>
              <a:buFont typeface="Arial" panose="020B0604020202020204" pitchFamily="34" charset="0"/>
              <a:buChar char="•"/>
              <a:tabLst>
                <a:tab pos="8521700" algn="r"/>
              </a:tabLst>
            </a:pPr>
            <a:r>
              <a:rPr lang="zh-CN" altLang="en-US" sz="15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领导要给出战 略方向的指引，明确要解决的关键问题和矛盾的优先级</a:t>
            </a:r>
            <a:endParaRPr lang="en-US" altLang="zh-CN" sz="15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indent="-285750" algn="just" defTabSz="330200">
              <a:lnSpc>
                <a:spcPct val="130000"/>
              </a:lnSpc>
              <a:spcBef>
                <a:spcPts val="0"/>
              </a:spcBef>
              <a:buClr>
                <a:srgbClr val="267FC3"/>
              </a:buClr>
              <a:buFont typeface="Arial" panose="020B0604020202020204" pitchFamily="34" charset="0"/>
              <a:buChar char="•"/>
              <a:tabLst>
                <a:tab pos="8521700" algn="r"/>
              </a:tabLst>
            </a:pPr>
            <a:r>
              <a:rPr lang="zh-CN" altLang="en-US" sz="15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领导要培育出 一种激励人心的氛围，要鼓励专家和各业务部门的战略思考</a:t>
            </a:r>
          </a:p>
        </p:txBody>
      </p:sp>
      <p:grpSp>
        <p:nvGrpSpPr>
          <p:cNvPr id="3" name="组合 2"/>
          <p:cNvGrpSpPr/>
          <p:nvPr/>
        </p:nvGrpSpPr>
        <p:grpSpPr>
          <a:xfrm>
            <a:off x="1672141" y="2623290"/>
            <a:ext cx="8693530" cy="2884937"/>
            <a:chOff x="342936" y="2840285"/>
            <a:chExt cx="11591373" cy="3846582"/>
          </a:xfrm>
        </p:grpSpPr>
        <p:sp>
          <p:nvSpPr>
            <p:cNvPr id="4" name="AutoShape 4"/>
            <p:cNvSpPr/>
            <p:nvPr/>
          </p:nvSpPr>
          <p:spPr>
            <a:xfrm>
              <a:off x="5938636" y="3519593"/>
              <a:ext cx="4372613" cy="2597747"/>
            </a:xfrm>
            <a:prstGeom prst="roundRect">
              <a:avLst>
                <a:gd name="adj" fmla="val 0"/>
              </a:avLst>
            </a:prstGeom>
            <a:solidFill>
              <a:srgbClr val="D4EAF5"/>
            </a:solidFill>
            <a:ln w="9525" cap="flat" cmpd="sng">
              <a:noFill/>
              <a:prstDash val="solid"/>
              <a:headEnd type="none" w="med" len="med"/>
              <a:tailEnd type="none" w="med" len="med"/>
            </a:ln>
          </p:spPr>
          <p:txBody>
            <a:bodyPr lIns="91437" tIns="45718" rIns="91437" bIns="45718" anchor="ctr"/>
            <a:lstStyle/>
            <a:p>
              <a:pPr>
                <a:lnSpc>
                  <a:spcPct val="130000"/>
                </a:lnSpc>
                <a:spcBef>
                  <a:spcPts val="800"/>
                </a:spcBef>
                <a:buSzPct val="77000"/>
              </a:pPr>
              <a:endParaRPr lang="zh-CN" altLang="zh-CN" sz="825" dirty="0">
                <a:solidFill>
                  <a:srgbClr val="808080"/>
                </a:solidFill>
                <a:latin typeface="微软雅黑" panose="020B0503020204020204" pitchFamily="34" charset="-122"/>
                <a:ea typeface="微软雅黑" panose="020B0503020204020204" pitchFamily="34" charset="-122"/>
                <a:cs typeface="+mn-ea"/>
                <a:sym typeface="+mn-lt"/>
              </a:endParaRPr>
            </a:p>
          </p:txBody>
        </p:sp>
        <p:cxnSp>
          <p:nvCxnSpPr>
            <p:cNvPr id="5" name="直接连接符 4"/>
            <p:cNvCxnSpPr/>
            <p:nvPr/>
          </p:nvCxnSpPr>
          <p:spPr>
            <a:xfrm>
              <a:off x="8600809" y="4320920"/>
              <a:ext cx="683640" cy="483861"/>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7258999" y="5149617"/>
              <a:ext cx="680959" cy="480577"/>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V="1">
              <a:off x="7296533" y="4328584"/>
              <a:ext cx="568359" cy="476199"/>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8687941" y="5139763"/>
              <a:ext cx="568359" cy="474009"/>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8245585" y="4416160"/>
              <a:ext cx="0" cy="1154919"/>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V="1">
              <a:off x="7911809" y="4965704"/>
              <a:ext cx="690343" cy="0"/>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sp>
          <p:nvSpPr>
            <p:cNvPr id="11" name="AutoShape 4"/>
            <p:cNvSpPr/>
            <p:nvPr/>
          </p:nvSpPr>
          <p:spPr>
            <a:xfrm>
              <a:off x="1319376" y="3519593"/>
              <a:ext cx="4356528" cy="2597747"/>
            </a:xfrm>
            <a:prstGeom prst="roundRect">
              <a:avLst>
                <a:gd name="adj" fmla="val 0"/>
              </a:avLst>
            </a:prstGeom>
            <a:solidFill>
              <a:srgbClr val="D4EAF5"/>
            </a:solidFill>
            <a:ln w="9525" cap="flat" cmpd="sng">
              <a:noFill/>
              <a:prstDash val="solid"/>
              <a:headEnd type="none" w="med" len="med"/>
              <a:tailEnd type="none" w="med" len="med"/>
            </a:ln>
          </p:spPr>
          <p:txBody>
            <a:bodyPr lIns="91437" tIns="45718" rIns="91437" bIns="45718" anchor="ctr"/>
            <a:lstStyle/>
            <a:p>
              <a:pPr>
                <a:lnSpc>
                  <a:spcPct val="130000"/>
                </a:lnSpc>
                <a:spcBef>
                  <a:spcPts val="800"/>
                </a:spcBef>
                <a:buSzPct val="77000"/>
              </a:pPr>
              <a:endParaRPr lang="zh-CN" altLang="zh-CN" sz="825" dirty="0">
                <a:solidFill>
                  <a:srgbClr val="808080"/>
                </a:solidFill>
                <a:latin typeface="微软雅黑" panose="020B0503020204020204" pitchFamily="34" charset="-122"/>
                <a:ea typeface="微软雅黑" panose="020B0503020204020204" pitchFamily="34" charset="-122"/>
                <a:cs typeface="+mn-ea"/>
                <a:sym typeface="+mn-lt"/>
              </a:endParaRPr>
            </a:p>
          </p:txBody>
        </p:sp>
        <p:sp>
          <p:nvSpPr>
            <p:cNvPr id="12" name="矩形 11"/>
            <p:cNvSpPr/>
            <p:nvPr/>
          </p:nvSpPr>
          <p:spPr>
            <a:xfrm>
              <a:off x="1319376" y="2840285"/>
              <a:ext cx="8990533" cy="653627"/>
            </a:xfrm>
            <a:prstGeom prst="rect">
              <a:avLst/>
            </a:prstGeom>
            <a:solidFill>
              <a:srgbClr val="0092DB"/>
            </a:solidFill>
            <a:ln w="12700">
              <a:noFill/>
            </a:ln>
            <a:effectLst/>
          </p:spPr>
          <p:txBody>
            <a:bodyPr lIns="91437" tIns="45718" rIns="91437" bIns="45718" anchor="ctr">
              <a:spAutoFit/>
            </a:bodyPr>
            <a:lstStyle/>
            <a:p>
              <a:pPr algn="ctr" defTabSz="1218565" eaLnBrk="0" fontAlgn="base" hangingPunct="0">
                <a:lnSpc>
                  <a:spcPct val="130000"/>
                </a:lnSpc>
                <a:spcBef>
                  <a:spcPts val="800"/>
                </a:spcBef>
                <a:spcAft>
                  <a:spcPct val="0"/>
                </a:spcAft>
                <a:buSzPct val="77000"/>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领导力</a:t>
              </a:r>
            </a:p>
          </p:txBody>
        </p:sp>
        <p:sp>
          <p:nvSpPr>
            <p:cNvPr id="13" name="矩形 12"/>
            <p:cNvSpPr/>
            <p:nvPr/>
          </p:nvSpPr>
          <p:spPr>
            <a:xfrm>
              <a:off x="7376960" y="4050527"/>
              <a:ext cx="1735909" cy="365633"/>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r>
                <a:rPr lang="zh-CN" altLang="en-US" sz="900" b="1"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氛围</a:t>
              </a:r>
              <a:r>
                <a:rPr lang="en-US" altLang="zh-CN" sz="900" b="1"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900" b="1"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文化</a:t>
              </a:r>
            </a:p>
          </p:txBody>
        </p:sp>
        <p:sp>
          <p:nvSpPr>
            <p:cNvPr id="14" name="矩形 13"/>
            <p:cNvSpPr/>
            <p:nvPr/>
          </p:nvSpPr>
          <p:spPr>
            <a:xfrm>
              <a:off x="6464101" y="4659185"/>
              <a:ext cx="1446367" cy="613037"/>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r>
                <a:rPr lang="zh-CN" altLang="en-US" sz="825" b="1" dirty="0">
                  <a:solidFill>
                    <a:srgbClr val="262626"/>
                  </a:solidFill>
                  <a:latin typeface="微软雅黑" panose="020B0503020204020204" pitchFamily="34" charset="-122"/>
                  <a:ea typeface="微软雅黑" panose="020B0503020204020204" pitchFamily="34" charset="-122"/>
                  <a:cs typeface="+mn-ea"/>
                  <a:sym typeface="+mn-lt"/>
                </a:rPr>
                <a:t>关键任务</a:t>
              </a:r>
            </a:p>
            <a:p>
              <a:pPr algn="ctr" defTabSz="1218565" fontAlgn="base">
                <a:spcBef>
                  <a:spcPct val="0"/>
                </a:spcBef>
                <a:spcAft>
                  <a:spcPct val="0"/>
                </a:spcAft>
                <a:defRPr/>
              </a:pPr>
              <a:r>
                <a:rPr lang="zh-CN" altLang="en-US" sz="900" b="1" dirty="0">
                  <a:solidFill>
                    <a:srgbClr val="262626"/>
                  </a:solidFill>
                  <a:latin typeface="微软雅黑" panose="020B0503020204020204" pitchFamily="34" charset="-122"/>
                  <a:ea typeface="微软雅黑" panose="020B0503020204020204" pitchFamily="34" charset="-122"/>
                  <a:cs typeface="+mn-ea"/>
                  <a:sym typeface="+mn-lt"/>
                </a:rPr>
                <a:t>依赖关系</a:t>
              </a:r>
            </a:p>
          </p:txBody>
        </p:sp>
        <p:sp>
          <p:nvSpPr>
            <p:cNvPr id="15" name="矩形 14"/>
            <p:cNvSpPr/>
            <p:nvPr/>
          </p:nvSpPr>
          <p:spPr>
            <a:xfrm>
              <a:off x="8578021" y="4783983"/>
              <a:ext cx="1449048" cy="365633"/>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r>
                <a:rPr lang="zh-CN" altLang="en-US" sz="900" b="1" dirty="0">
                  <a:solidFill>
                    <a:srgbClr val="262626"/>
                  </a:solidFill>
                  <a:latin typeface="微软雅黑" panose="020B0503020204020204" pitchFamily="34" charset="-122"/>
                  <a:ea typeface="微软雅黑" panose="020B0503020204020204" pitchFamily="34" charset="-122"/>
                  <a:cs typeface="+mn-ea"/>
                  <a:sym typeface="+mn-lt"/>
                </a:rPr>
                <a:t>正式组织</a:t>
              </a:r>
            </a:p>
          </p:txBody>
        </p:sp>
        <p:sp>
          <p:nvSpPr>
            <p:cNvPr id="16" name="矩形 15"/>
            <p:cNvSpPr/>
            <p:nvPr/>
          </p:nvSpPr>
          <p:spPr>
            <a:xfrm>
              <a:off x="7521731" y="5587501"/>
              <a:ext cx="1449048" cy="365633"/>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r>
                <a:rPr lang="zh-CN" altLang="en-US" sz="900" b="1" noProof="1">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人才</a:t>
              </a:r>
            </a:p>
          </p:txBody>
        </p:sp>
        <p:sp>
          <p:nvSpPr>
            <p:cNvPr id="17" name="等腰三角形 16"/>
            <p:cNvSpPr/>
            <p:nvPr/>
          </p:nvSpPr>
          <p:spPr>
            <a:xfrm rot="5400000">
              <a:off x="10355565" y="4823726"/>
              <a:ext cx="478388" cy="294904"/>
            </a:xfrm>
            <a:prstGeom prst="triangle">
              <a:avLst/>
            </a:prstGeom>
            <a:solidFill>
              <a:srgbClr val="0092DB"/>
            </a:solidFill>
            <a:ln>
              <a:no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endParaRPr lang="zh-CN" altLang="en-US" sz="1425" b="1" noProof="1">
                <a:latin typeface="微软雅黑" panose="020B0503020204020204" pitchFamily="34" charset="-122"/>
                <a:ea typeface="微软雅黑" panose="020B0503020204020204" pitchFamily="34" charset="-122"/>
                <a:cs typeface="+mn-ea"/>
                <a:sym typeface="+mn-lt"/>
              </a:endParaRPr>
            </a:p>
          </p:txBody>
        </p:sp>
        <p:sp>
          <p:nvSpPr>
            <p:cNvPr id="18" name="等腰三角形 17"/>
            <p:cNvSpPr/>
            <p:nvPr/>
          </p:nvSpPr>
          <p:spPr>
            <a:xfrm rot="5400000">
              <a:off x="5729603" y="4837957"/>
              <a:ext cx="478388" cy="294904"/>
            </a:xfrm>
            <a:prstGeom prst="triangle">
              <a:avLst/>
            </a:prstGeom>
            <a:solidFill>
              <a:srgbClr val="0092DB"/>
            </a:solidFill>
            <a:ln>
              <a:no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endParaRPr lang="zh-CN" altLang="en-US" sz="1425" b="1" noProof="1">
                <a:latin typeface="微软雅黑" panose="020B0503020204020204" pitchFamily="34" charset="-122"/>
                <a:ea typeface="微软雅黑" panose="020B0503020204020204" pitchFamily="34" charset="-122"/>
                <a:cs typeface="+mn-ea"/>
                <a:sym typeface="+mn-lt"/>
              </a:endParaRPr>
            </a:p>
          </p:txBody>
        </p:sp>
        <p:sp>
          <p:nvSpPr>
            <p:cNvPr id="19" name="等腰三角形 18"/>
            <p:cNvSpPr/>
            <p:nvPr/>
          </p:nvSpPr>
          <p:spPr>
            <a:xfrm rot="16200000">
              <a:off x="5383762" y="4837957"/>
              <a:ext cx="478388" cy="294904"/>
            </a:xfrm>
            <a:prstGeom prst="triangle">
              <a:avLst/>
            </a:prstGeom>
            <a:solidFill>
              <a:srgbClr val="0092DB"/>
            </a:solidFill>
            <a:ln>
              <a:no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endParaRPr lang="zh-CN" altLang="en-US" sz="1425" b="1" noProof="1">
                <a:latin typeface="微软雅黑" panose="020B0503020204020204" pitchFamily="34" charset="-122"/>
                <a:ea typeface="微软雅黑" panose="020B0503020204020204" pitchFamily="34" charset="-122"/>
                <a:cs typeface="+mn-ea"/>
                <a:sym typeface="+mn-lt"/>
              </a:endParaRPr>
            </a:p>
          </p:txBody>
        </p:sp>
        <p:cxnSp>
          <p:nvCxnSpPr>
            <p:cNvPr id="21" name="直接连接符 20"/>
            <p:cNvCxnSpPr/>
            <p:nvPr/>
          </p:nvCxnSpPr>
          <p:spPr>
            <a:xfrm>
              <a:off x="3746967" y="4320920"/>
              <a:ext cx="680959" cy="483861"/>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2405158" y="5149617"/>
              <a:ext cx="680959" cy="480577"/>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2442690" y="4328584"/>
              <a:ext cx="568359" cy="476199"/>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V="1">
              <a:off x="3834098" y="5139763"/>
              <a:ext cx="568359" cy="474009"/>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3438659" y="4416160"/>
              <a:ext cx="0" cy="1154919"/>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3103541" y="4965704"/>
              <a:ext cx="670235" cy="0"/>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319376" y="6185640"/>
              <a:ext cx="8990533" cy="501227"/>
            </a:xfrm>
            <a:prstGeom prst="rect">
              <a:avLst/>
            </a:prstGeom>
            <a:solidFill>
              <a:srgbClr val="0092DB"/>
            </a:solidFill>
            <a:ln w="12700">
              <a:noFill/>
            </a:ln>
            <a:effectLst/>
          </p:spPr>
          <p:txBody>
            <a:bodyPr lIns="91437" tIns="45718" rIns="91437" bIns="45718" anchor="ctr">
              <a:spAutoFit/>
            </a:bodyPr>
            <a:lstStyle/>
            <a:p>
              <a:pPr algn="ctr" defTabSz="1218565" eaLnBrk="0" fontAlgn="base" hangingPunct="0">
                <a:lnSpc>
                  <a:spcPct val="130000"/>
                </a:lnSpc>
                <a:spcBef>
                  <a:spcPts val="800"/>
                </a:spcBef>
                <a:spcAft>
                  <a:spcPct val="0"/>
                </a:spcAft>
                <a:buSzPct val="77000"/>
                <a:defRPr/>
              </a:pPr>
              <a:r>
                <a:rPr lang="zh-CN" altLang="en-US" sz="1425" b="1" dirty="0">
                  <a:solidFill>
                    <a:schemeClr val="bg1"/>
                  </a:solidFill>
                  <a:latin typeface="微软雅黑" panose="020B0503020204020204" pitchFamily="34" charset="-122"/>
                  <a:ea typeface="微软雅黑" panose="020B0503020204020204" pitchFamily="34" charset="-122"/>
                  <a:cs typeface="+mn-ea"/>
                  <a:sym typeface="+mn-lt"/>
                </a:rPr>
                <a:t>价值观</a:t>
              </a:r>
            </a:p>
          </p:txBody>
        </p:sp>
        <p:sp>
          <p:nvSpPr>
            <p:cNvPr id="28" name="矩形 27"/>
            <p:cNvSpPr/>
            <p:nvPr/>
          </p:nvSpPr>
          <p:spPr>
            <a:xfrm>
              <a:off x="2713466" y="4050527"/>
              <a:ext cx="1446367" cy="365633"/>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r>
                <a:rPr lang="zh-CN" altLang="en-US" sz="900" b="1" dirty="0">
                  <a:solidFill>
                    <a:srgbClr val="262626"/>
                  </a:solidFill>
                  <a:latin typeface="微软雅黑" panose="020B0503020204020204" pitchFamily="34" charset="-122"/>
                  <a:ea typeface="微软雅黑" panose="020B0503020204020204" pitchFamily="34" charset="-122"/>
                  <a:cs typeface="+mn-ea"/>
                  <a:sym typeface="+mn-lt"/>
                </a:rPr>
                <a:t>市场洞察</a:t>
              </a:r>
            </a:p>
          </p:txBody>
        </p:sp>
        <p:sp>
          <p:nvSpPr>
            <p:cNvPr id="29" name="矩形 28"/>
            <p:cNvSpPr/>
            <p:nvPr/>
          </p:nvSpPr>
          <p:spPr>
            <a:xfrm>
              <a:off x="1657175" y="4783983"/>
              <a:ext cx="1446367" cy="365633"/>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r>
                <a:rPr lang="zh-CN" altLang="en-US" sz="900" b="1" dirty="0">
                  <a:solidFill>
                    <a:srgbClr val="262626"/>
                  </a:solidFill>
                  <a:latin typeface="微软雅黑" panose="020B0503020204020204" pitchFamily="34" charset="-122"/>
                  <a:ea typeface="微软雅黑" panose="020B0503020204020204" pitchFamily="34" charset="-122"/>
                  <a:cs typeface="+mn-ea"/>
                  <a:sym typeface="+mn-lt"/>
                </a:rPr>
                <a:t>战略意图</a:t>
              </a:r>
            </a:p>
          </p:txBody>
        </p:sp>
        <p:sp>
          <p:nvSpPr>
            <p:cNvPr id="30" name="矩形 29"/>
            <p:cNvSpPr/>
            <p:nvPr/>
          </p:nvSpPr>
          <p:spPr>
            <a:xfrm>
              <a:off x="3771096" y="4783983"/>
              <a:ext cx="1449048" cy="365633"/>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r>
                <a:rPr lang="zh-CN" altLang="en-US" sz="900" b="1" noProof="1">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业务设计</a:t>
              </a:r>
            </a:p>
          </p:txBody>
        </p:sp>
        <p:sp>
          <p:nvSpPr>
            <p:cNvPr id="31" name="矩形 30"/>
            <p:cNvSpPr/>
            <p:nvPr/>
          </p:nvSpPr>
          <p:spPr>
            <a:xfrm>
              <a:off x="2713466" y="5571079"/>
              <a:ext cx="1446367" cy="365633"/>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r>
                <a:rPr lang="zh-CN" altLang="en-US" sz="900" b="1" dirty="0">
                  <a:solidFill>
                    <a:srgbClr val="262626"/>
                  </a:solidFill>
                  <a:latin typeface="微软雅黑" panose="020B0503020204020204" pitchFamily="34" charset="-122"/>
                  <a:ea typeface="微软雅黑" panose="020B0503020204020204" pitchFamily="34" charset="-122"/>
                  <a:cs typeface="+mn-ea"/>
                  <a:sym typeface="+mn-lt"/>
                </a:rPr>
                <a:t>创新焦点</a:t>
              </a:r>
            </a:p>
          </p:txBody>
        </p:sp>
        <p:sp>
          <p:nvSpPr>
            <p:cNvPr id="32" name="文本框 81"/>
            <p:cNvSpPr txBox="1"/>
            <p:nvPr/>
          </p:nvSpPr>
          <p:spPr>
            <a:xfrm>
              <a:off x="7882705" y="3653148"/>
              <a:ext cx="1309639" cy="413173"/>
            </a:xfrm>
            <a:prstGeom prst="rect">
              <a:avLst/>
            </a:prstGeom>
            <a:noFill/>
            <a:ln w="9525">
              <a:noFill/>
            </a:ln>
          </p:spPr>
          <p:txBody>
            <a:bodyPr lIns="91437" tIns="45718" rIns="91437" bIns="45718">
              <a:spAutoFit/>
            </a:bodyPr>
            <a:lstStyle/>
            <a:p>
              <a:pPr eaLnBrk="1" hangingPunct="1">
                <a:buFont typeface="Arial" panose="020B0604020202020204" pitchFamily="34" charset="0"/>
                <a:buNone/>
              </a:pPr>
              <a:r>
                <a:rPr lang="zh-CN" altLang="en-US" sz="1425" dirty="0">
                  <a:solidFill>
                    <a:srgbClr val="FF0000"/>
                  </a:solidFill>
                  <a:latin typeface="微软雅黑" panose="020B0503020204020204" pitchFamily="34" charset="-122"/>
                  <a:ea typeface="微软雅黑" panose="020B0503020204020204" pitchFamily="34" charset="-122"/>
                  <a:cs typeface="+mn-ea"/>
                  <a:sym typeface="+mn-lt"/>
                </a:rPr>
                <a:t>执行</a:t>
              </a:r>
            </a:p>
          </p:txBody>
        </p:sp>
        <p:sp>
          <p:nvSpPr>
            <p:cNvPr id="33" name="文本框 83"/>
            <p:cNvSpPr txBox="1"/>
            <p:nvPr/>
          </p:nvSpPr>
          <p:spPr>
            <a:xfrm>
              <a:off x="2776467" y="3654556"/>
              <a:ext cx="1443687" cy="413173"/>
            </a:xfrm>
            <a:prstGeom prst="rect">
              <a:avLst/>
            </a:prstGeom>
            <a:noFill/>
            <a:ln w="9525">
              <a:noFill/>
            </a:ln>
          </p:spPr>
          <p:txBody>
            <a:bodyPr lIns="91437" tIns="45718" rIns="91437" bIns="45718" anchor="ctr">
              <a:spAutoFit/>
            </a:bodyPr>
            <a:lstStyle/>
            <a:p>
              <a:pPr algn="ctr" eaLnBrk="1" hangingPunct="1">
                <a:buFont typeface="Arial" panose="020B0604020202020204" pitchFamily="34" charset="0"/>
                <a:buNone/>
              </a:pPr>
              <a:r>
                <a:rPr lang="zh-CN" altLang="en-US" sz="1425" dirty="0">
                  <a:solidFill>
                    <a:srgbClr val="FF0000"/>
                  </a:solidFill>
                  <a:latin typeface="微软雅黑" panose="020B0503020204020204" pitchFamily="34" charset="-122"/>
                  <a:ea typeface="微软雅黑" panose="020B0503020204020204" pitchFamily="34" charset="-122"/>
                  <a:cs typeface="+mn-ea"/>
                  <a:sym typeface="+mn-lt"/>
                </a:rPr>
                <a:t>战略</a:t>
              </a:r>
            </a:p>
          </p:txBody>
        </p:sp>
        <p:sp>
          <p:nvSpPr>
            <p:cNvPr id="34" name="等腰三角形 33"/>
            <p:cNvSpPr/>
            <p:nvPr/>
          </p:nvSpPr>
          <p:spPr>
            <a:xfrm rot="10800000">
              <a:off x="3178733" y="3399082"/>
              <a:ext cx="637851" cy="221177"/>
            </a:xfrm>
            <a:prstGeom prst="triangle">
              <a:avLst/>
            </a:prstGeom>
            <a:solidFill>
              <a:srgbClr val="0092DB"/>
            </a:solidFill>
            <a:ln>
              <a:no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endParaRPr lang="zh-CN" altLang="en-US" sz="1425" b="1" noProof="1">
                <a:latin typeface="微软雅黑" panose="020B0503020204020204" pitchFamily="34" charset="-122"/>
                <a:ea typeface="微软雅黑" panose="020B0503020204020204" pitchFamily="34" charset="-122"/>
                <a:cs typeface="+mn-ea"/>
                <a:sym typeface="+mn-lt"/>
              </a:endParaRPr>
            </a:p>
          </p:txBody>
        </p:sp>
        <p:sp>
          <p:nvSpPr>
            <p:cNvPr id="35" name="等腰三角形 34"/>
            <p:cNvSpPr/>
            <p:nvPr/>
          </p:nvSpPr>
          <p:spPr>
            <a:xfrm rot="10800000">
              <a:off x="7864751" y="3399082"/>
              <a:ext cx="637851" cy="221177"/>
            </a:xfrm>
            <a:prstGeom prst="triangle">
              <a:avLst/>
            </a:prstGeom>
            <a:solidFill>
              <a:srgbClr val="0092DB"/>
            </a:solidFill>
            <a:ln>
              <a:no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endParaRPr lang="zh-CN" altLang="en-US" sz="1425" b="1" noProof="1">
                <a:latin typeface="微软雅黑" panose="020B0503020204020204" pitchFamily="34" charset="-122"/>
                <a:ea typeface="微软雅黑" panose="020B0503020204020204" pitchFamily="34" charset="-122"/>
                <a:cs typeface="+mn-ea"/>
                <a:sym typeface="+mn-lt"/>
              </a:endParaRPr>
            </a:p>
          </p:txBody>
        </p:sp>
        <p:sp>
          <p:nvSpPr>
            <p:cNvPr id="41" name="Text Box 32"/>
            <p:cNvSpPr txBox="1"/>
            <p:nvPr/>
          </p:nvSpPr>
          <p:spPr>
            <a:xfrm>
              <a:off x="342936" y="4489687"/>
              <a:ext cx="952507" cy="800100"/>
            </a:xfrm>
            <a:prstGeom prst="rect">
              <a:avLst/>
            </a:prstGeom>
            <a:noFill/>
            <a:ln w="9525">
              <a:noFill/>
            </a:ln>
          </p:spPr>
          <p:txBody>
            <a:bodyPr wrap="square" lIns="0" tIns="0" rIns="0" bIns="0" anchor="ctr">
              <a:spAutoFit/>
            </a:bodyPr>
            <a:lstStyle/>
            <a:p>
              <a:pPr marL="287020" lvl="1" indent="-285750" algn="just" defTabSz="330200">
                <a:lnSpc>
                  <a:spcPct val="130000"/>
                </a:lnSpc>
                <a:spcBef>
                  <a:spcPts val="0"/>
                </a:spcBef>
                <a:buClr>
                  <a:srgbClr val="267FC3"/>
                </a:buClr>
                <a:buSzPct val="81000"/>
                <a:buFont typeface="Arial" panose="020B0604020202020204" pitchFamily="34" charset="0"/>
                <a:buChar char="•"/>
                <a:tabLst>
                  <a:tab pos="8521700" algn="r"/>
                </a:tabLst>
                <a:defRPr/>
              </a:pPr>
              <a:r>
                <a:rPr lang="zh-CN" altLang="en-US" sz="1500" noProof="1">
                  <a:latin typeface="微软雅黑" panose="020B0503020204020204" pitchFamily="34" charset="-122"/>
                  <a:ea typeface="微软雅黑" panose="020B0503020204020204" pitchFamily="34" charset="-122"/>
                  <a:cs typeface="+mn-ea"/>
                  <a:sym typeface="+mn-lt"/>
                </a:rPr>
                <a:t>业绩</a:t>
              </a:r>
            </a:p>
            <a:p>
              <a:pPr marL="287020" lvl="1" indent="-285750" algn="just" defTabSz="330200">
                <a:lnSpc>
                  <a:spcPct val="130000"/>
                </a:lnSpc>
                <a:spcBef>
                  <a:spcPts val="0"/>
                </a:spcBef>
                <a:buClr>
                  <a:srgbClr val="267FC3"/>
                </a:buClr>
                <a:buSzPct val="81000"/>
                <a:buFont typeface="Arial" panose="020B0604020202020204" pitchFamily="34" charset="0"/>
                <a:buChar char="•"/>
                <a:tabLst>
                  <a:tab pos="8521700" algn="r"/>
                </a:tabLst>
                <a:defRPr/>
              </a:pPr>
              <a:r>
                <a:rPr lang="zh-CN" altLang="en-US" sz="1500" noProof="1">
                  <a:latin typeface="微软雅黑" panose="020B0503020204020204" pitchFamily="34" charset="-122"/>
                  <a:ea typeface="微软雅黑" panose="020B0503020204020204" pitchFamily="34" charset="-122"/>
                  <a:cs typeface="+mn-ea"/>
                  <a:sym typeface="+mn-lt"/>
                </a:rPr>
                <a:t>机会</a:t>
              </a:r>
            </a:p>
          </p:txBody>
        </p:sp>
        <p:sp>
          <p:nvSpPr>
            <p:cNvPr id="42" name="椭圆 41"/>
            <p:cNvSpPr/>
            <p:nvPr/>
          </p:nvSpPr>
          <p:spPr>
            <a:xfrm>
              <a:off x="10848528" y="4484312"/>
              <a:ext cx="1085781" cy="888904"/>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5999" tIns="45718" rIns="35999" bIns="45718" anchor="ctr"/>
            <a:lstStyle/>
            <a:p>
              <a:pPr algn="ctr" defTabSz="1218565" fontAlgn="base">
                <a:spcBef>
                  <a:spcPct val="0"/>
                </a:spcBef>
                <a:spcAft>
                  <a:spcPct val="0"/>
                </a:spcAft>
                <a:defRPr/>
              </a:pPr>
              <a:r>
                <a:rPr lang="zh-CN" altLang="en-US" sz="1425" b="1" dirty="0">
                  <a:solidFill>
                    <a:srgbClr val="FFFFFF"/>
                  </a:solidFill>
                  <a:latin typeface="微软雅黑" panose="020B0503020204020204" pitchFamily="34" charset="-122"/>
                  <a:ea typeface="微软雅黑" panose="020B0503020204020204" pitchFamily="34" charset="-122"/>
                  <a:cs typeface="+mn-ea"/>
                  <a:sym typeface="+mn-lt"/>
                </a:rPr>
                <a:t>市场结果</a:t>
              </a:r>
            </a:p>
          </p:txBody>
        </p:sp>
        <p:sp>
          <p:nvSpPr>
            <p:cNvPr id="43" name="Text Box 34"/>
            <p:cNvSpPr txBox="1"/>
            <p:nvPr/>
          </p:nvSpPr>
          <p:spPr>
            <a:xfrm>
              <a:off x="437301" y="4132570"/>
              <a:ext cx="857256" cy="323427"/>
            </a:xfrm>
            <a:prstGeom prst="rect">
              <a:avLst/>
            </a:prstGeom>
            <a:solidFill>
              <a:srgbClr val="595959"/>
            </a:solidFill>
            <a:ln w="9525">
              <a:noFill/>
            </a:ln>
          </p:spPr>
          <p:txBody>
            <a:bodyPr wrap="square" lIns="0" tIns="0" rIns="0" bIns="0" anchor="ctr" anchorCtr="1">
              <a:spAutoFit/>
            </a:bodyPr>
            <a:lstStyle/>
            <a:p>
              <a:pPr algn="ctr" defTabSz="1096010">
                <a:spcAft>
                  <a:spcPct val="15000"/>
                </a:spcAft>
                <a:defRPr/>
              </a:pPr>
              <a:r>
                <a:rPr lang="zh-CN" altLang="en-US" sz="1575" b="1" noProof="1">
                  <a:solidFill>
                    <a:schemeClr val="bg1"/>
                  </a:solidFill>
                  <a:latin typeface="微软雅黑" panose="020B0503020204020204" pitchFamily="34" charset="-122"/>
                  <a:ea typeface="微软雅黑" panose="020B0503020204020204" pitchFamily="34" charset="-122"/>
                  <a:cs typeface="+mn-ea"/>
                  <a:sym typeface="+mn-lt"/>
                </a:rPr>
                <a:t>差距</a:t>
              </a:r>
            </a:p>
          </p:txBody>
        </p:sp>
      </p:grpSp>
      <p:sp>
        <p:nvSpPr>
          <p:cNvPr id="2" name="标题 1"/>
          <p:cNvSpPr txBox="1"/>
          <p:nvPr/>
        </p:nvSpPr>
        <p:spPr>
          <a:xfrm>
            <a:off x="496018" y="470834"/>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2060"/>
                </a:solidFill>
                <a:latin typeface="微软雅黑" panose="020B0503020204020204" pitchFamily="34" charset="-122"/>
                <a:ea typeface="微软雅黑" panose="020B0503020204020204" pitchFamily="34" charset="-122"/>
                <a:cs typeface="+mn-ea"/>
                <a:sym typeface="+mn-lt"/>
              </a:rPr>
              <a:t>BLM模型之领导力：战略取决于管理层的视野、定位和习惯</a:t>
            </a:r>
          </a:p>
        </p:txBody>
      </p:sp>
      <p:sp>
        <p:nvSpPr>
          <p:cNvPr id="40" name="Rectangle 3"/>
          <p:cNvSpPr txBox="1">
            <a:spLocks noChangeArrowheads="1"/>
          </p:cNvSpPr>
          <p:nvPr/>
        </p:nvSpPr>
        <p:spPr bwMode="auto">
          <a:xfrm>
            <a:off x="1604645" y="6328287"/>
            <a:ext cx="9144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2000" b="1" dirty="0">
                <a:solidFill>
                  <a:srgbClr val="FCC78C"/>
                </a:solidFill>
                <a:effectLst/>
                <a:latin typeface="微软雅黑" panose="020B0503020204020204" pitchFamily="34" charset="-122"/>
                <a:ea typeface="微软雅黑" panose="020B0503020204020204" pitchFamily="34" charset="-122"/>
              </a:rPr>
              <a:t>战略的流程方法工具并不复杂，但战略领导力难学：大量商业案例</a:t>
            </a:r>
            <a:r>
              <a:rPr lang="en-US" altLang="zh-CN" sz="2000" b="1" dirty="0">
                <a:solidFill>
                  <a:srgbClr val="FCC78C"/>
                </a:solidFill>
                <a:effectLst/>
                <a:latin typeface="微软雅黑" panose="020B0503020204020204" pitchFamily="34" charset="-122"/>
                <a:ea typeface="微软雅黑" panose="020B0503020204020204" pitchFamily="34" charset="-122"/>
              </a:rPr>
              <a:t>+</a:t>
            </a:r>
            <a:r>
              <a:rPr lang="zh-CN" altLang="en-US" sz="2000" b="1" dirty="0">
                <a:solidFill>
                  <a:srgbClr val="FCC78C"/>
                </a:solidFill>
                <a:effectLst/>
                <a:latin typeface="微软雅黑" panose="020B0503020204020204" pitchFamily="34" charset="-122"/>
                <a:ea typeface="微软雅黑" panose="020B0503020204020204" pitchFamily="34" charset="-122"/>
              </a:rPr>
              <a:t>实战积累</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3005"/>
            <a:ext cx="12206605" cy="522605"/>
          </a:xfrm>
          <a:prstGeom prst="rect">
            <a:avLst/>
          </a:prstGeom>
        </p:spPr>
      </p:pic>
      <p:sp>
        <p:nvSpPr>
          <p:cNvPr id="38" name="文本框 2"/>
          <p:cNvSpPr txBox="1"/>
          <p:nvPr/>
        </p:nvSpPr>
        <p:spPr>
          <a:xfrm>
            <a:off x="2304402" y="4556972"/>
            <a:ext cx="8358246" cy="1208405"/>
          </a:xfrm>
          <a:prstGeom prst="rect">
            <a:avLst/>
          </a:prstGeom>
          <a:noFill/>
        </p:spPr>
        <p:txBody>
          <a:bodyPr wrap="square" lIns="91437" tIns="45718" rIns="91437" bIns="45718" rtlCol="0">
            <a:spAutoFit/>
          </a:bodyPr>
          <a:lstStyle/>
          <a:p>
            <a:pPr marL="287020" lvl="1" indent="-285750" algn="just" defTabSz="330200">
              <a:lnSpc>
                <a:spcPct val="130000"/>
              </a:lnSpc>
              <a:spcBef>
                <a:spcPts val="0"/>
              </a:spcBef>
              <a:buClr>
                <a:srgbClr val="267FC3"/>
              </a:buClr>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价值观是我们决策与行动的基本准则</a:t>
            </a:r>
            <a:endPar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indent="-285750" algn="just" defTabSz="330200">
              <a:lnSpc>
                <a:spcPct val="130000"/>
              </a:lnSpc>
              <a:spcBef>
                <a:spcPts val="0"/>
              </a:spcBef>
              <a:buClr>
                <a:srgbClr val="267FC3"/>
              </a:buClr>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要确保价值观反映在公司的战略 上</a:t>
            </a:r>
            <a:endPar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indent="-285750" algn="just" defTabSz="330200">
              <a:lnSpc>
                <a:spcPct val="130000"/>
              </a:lnSpc>
              <a:spcBef>
                <a:spcPts val="0"/>
              </a:spcBef>
              <a:buClr>
                <a:srgbClr val="267FC3"/>
              </a:buClr>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以客户为中心：要体现在客户选择、业务设计、正式组织等方面</a:t>
            </a:r>
            <a:endPar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indent="-285750" algn="just" defTabSz="330200">
              <a:lnSpc>
                <a:spcPct val="130000"/>
              </a:lnSpc>
              <a:spcBef>
                <a:spcPts val="0"/>
              </a:spcBef>
              <a:buClr>
                <a:srgbClr val="267FC3"/>
              </a:buClr>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以奋斗者为本：要体现在正式组织、人才、氛围</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文化等方面</a:t>
            </a:r>
          </a:p>
        </p:txBody>
      </p:sp>
      <p:grpSp>
        <p:nvGrpSpPr>
          <p:cNvPr id="40" name="组合 39"/>
          <p:cNvGrpSpPr/>
          <p:nvPr/>
        </p:nvGrpSpPr>
        <p:grpSpPr>
          <a:xfrm>
            <a:off x="1745007" y="1499397"/>
            <a:ext cx="8693530" cy="2855437"/>
            <a:chOff x="342936" y="2916484"/>
            <a:chExt cx="11591373" cy="3807249"/>
          </a:xfrm>
        </p:grpSpPr>
        <p:sp>
          <p:nvSpPr>
            <p:cNvPr id="41" name="AutoShape 4"/>
            <p:cNvSpPr/>
            <p:nvPr/>
          </p:nvSpPr>
          <p:spPr>
            <a:xfrm>
              <a:off x="5938636" y="3519593"/>
              <a:ext cx="4372613" cy="2597747"/>
            </a:xfrm>
            <a:prstGeom prst="roundRect">
              <a:avLst>
                <a:gd name="adj" fmla="val 0"/>
              </a:avLst>
            </a:prstGeom>
            <a:solidFill>
              <a:srgbClr val="D4EAF5"/>
            </a:solidFill>
            <a:ln w="9525" cap="flat" cmpd="sng">
              <a:noFill/>
              <a:prstDash val="solid"/>
              <a:headEnd type="none" w="med" len="med"/>
              <a:tailEnd type="none" w="med" len="med"/>
            </a:ln>
          </p:spPr>
          <p:txBody>
            <a:bodyPr lIns="91437" tIns="45718" rIns="91437" bIns="45718" anchor="ctr"/>
            <a:lstStyle/>
            <a:p>
              <a:pPr>
                <a:lnSpc>
                  <a:spcPct val="130000"/>
                </a:lnSpc>
                <a:spcBef>
                  <a:spcPts val="800"/>
                </a:spcBef>
                <a:buSzPct val="77000"/>
              </a:pPr>
              <a:endParaRPr lang="zh-CN" altLang="zh-CN" sz="825" dirty="0">
                <a:solidFill>
                  <a:srgbClr val="808080"/>
                </a:solidFill>
                <a:latin typeface="微软雅黑" panose="020B0503020204020204" pitchFamily="34" charset="-122"/>
                <a:ea typeface="微软雅黑" panose="020B0503020204020204" pitchFamily="34" charset="-122"/>
                <a:cs typeface="+mn-ea"/>
                <a:sym typeface="+mn-lt"/>
              </a:endParaRPr>
            </a:p>
          </p:txBody>
        </p:sp>
        <p:cxnSp>
          <p:nvCxnSpPr>
            <p:cNvPr id="42" name="直接连接符 41"/>
            <p:cNvCxnSpPr/>
            <p:nvPr/>
          </p:nvCxnSpPr>
          <p:spPr>
            <a:xfrm>
              <a:off x="8600809" y="4320920"/>
              <a:ext cx="683640" cy="483861"/>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7258999" y="5149617"/>
              <a:ext cx="680959" cy="480577"/>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V="1">
              <a:off x="7296533" y="4328584"/>
              <a:ext cx="568359" cy="476199"/>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V="1">
              <a:off x="8687941" y="5139763"/>
              <a:ext cx="568359" cy="474009"/>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8245585" y="4416160"/>
              <a:ext cx="0" cy="1154919"/>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V="1">
              <a:off x="7911809" y="4965704"/>
              <a:ext cx="690343" cy="0"/>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sp>
          <p:nvSpPr>
            <p:cNvPr id="48" name="AutoShape 4"/>
            <p:cNvSpPr/>
            <p:nvPr/>
          </p:nvSpPr>
          <p:spPr>
            <a:xfrm>
              <a:off x="1319376" y="3519593"/>
              <a:ext cx="4356528" cy="2597747"/>
            </a:xfrm>
            <a:prstGeom prst="roundRect">
              <a:avLst>
                <a:gd name="adj" fmla="val 0"/>
              </a:avLst>
            </a:prstGeom>
            <a:solidFill>
              <a:srgbClr val="D4EAF5"/>
            </a:solidFill>
            <a:ln w="9525" cap="flat" cmpd="sng">
              <a:noFill/>
              <a:prstDash val="solid"/>
              <a:headEnd type="none" w="med" len="med"/>
              <a:tailEnd type="none" w="med" len="med"/>
            </a:ln>
          </p:spPr>
          <p:txBody>
            <a:bodyPr lIns="91437" tIns="45718" rIns="91437" bIns="45718" anchor="ctr"/>
            <a:lstStyle/>
            <a:p>
              <a:pPr>
                <a:lnSpc>
                  <a:spcPct val="130000"/>
                </a:lnSpc>
                <a:spcBef>
                  <a:spcPts val="800"/>
                </a:spcBef>
                <a:buSzPct val="77000"/>
              </a:pPr>
              <a:endParaRPr lang="zh-CN" altLang="zh-CN" sz="825" dirty="0">
                <a:solidFill>
                  <a:srgbClr val="808080"/>
                </a:solidFill>
                <a:latin typeface="微软雅黑" panose="020B0503020204020204" pitchFamily="34" charset="-122"/>
                <a:ea typeface="微软雅黑" panose="020B0503020204020204" pitchFamily="34" charset="-122"/>
                <a:cs typeface="+mn-ea"/>
                <a:sym typeface="+mn-lt"/>
              </a:endParaRPr>
            </a:p>
          </p:txBody>
        </p:sp>
        <p:sp>
          <p:nvSpPr>
            <p:cNvPr id="49" name="矩形 48"/>
            <p:cNvSpPr/>
            <p:nvPr/>
          </p:nvSpPr>
          <p:spPr>
            <a:xfrm>
              <a:off x="1319376" y="2916484"/>
              <a:ext cx="8990533" cy="501227"/>
            </a:xfrm>
            <a:prstGeom prst="rect">
              <a:avLst/>
            </a:prstGeom>
            <a:solidFill>
              <a:srgbClr val="0092DB"/>
            </a:solidFill>
            <a:ln w="12700">
              <a:noFill/>
            </a:ln>
            <a:effectLst/>
          </p:spPr>
          <p:txBody>
            <a:bodyPr lIns="91437" tIns="45718" rIns="91437" bIns="45718" anchor="ctr">
              <a:spAutoFit/>
            </a:bodyPr>
            <a:lstStyle/>
            <a:p>
              <a:pPr algn="ctr" defTabSz="1218565" eaLnBrk="0" fontAlgn="base" hangingPunct="0">
                <a:lnSpc>
                  <a:spcPct val="130000"/>
                </a:lnSpc>
                <a:spcBef>
                  <a:spcPts val="800"/>
                </a:spcBef>
                <a:spcAft>
                  <a:spcPct val="0"/>
                </a:spcAft>
                <a:buSzPct val="77000"/>
                <a:defRPr/>
              </a:pPr>
              <a:r>
                <a:rPr lang="zh-CN" altLang="en-US" sz="1425" b="1" dirty="0">
                  <a:solidFill>
                    <a:schemeClr val="bg1"/>
                  </a:solidFill>
                  <a:latin typeface="微软雅黑" panose="020B0503020204020204" pitchFamily="34" charset="-122"/>
                  <a:ea typeface="微软雅黑" panose="020B0503020204020204" pitchFamily="34" charset="-122"/>
                  <a:cs typeface="+mn-ea"/>
                  <a:sym typeface="+mn-lt"/>
                </a:rPr>
                <a:t>领导力</a:t>
              </a:r>
            </a:p>
          </p:txBody>
        </p:sp>
        <p:sp>
          <p:nvSpPr>
            <p:cNvPr id="50" name="矩形 49"/>
            <p:cNvSpPr/>
            <p:nvPr/>
          </p:nvSpPr>
          <p:spPr>
            <a:xfrm>
              <a:off x="7376960" y="4050527"/>
              <a:ext cx="1735909" cy="365633"/>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r>
                <a:rPr lang="zh-CN" altLang="en-US" sz="900" b="1"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氛围</a:t>
              </a:r>
              <a:r>
                <a:rPr lang="en-US" altLang="zh-CN" sz="900" b="1"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900" b="1"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文化</a:t>
              </a:r>
            </a:p>
          </p:txBody>
        </p:sp>
        <p:sp>
          <p:nvSpPr>
            <p:cNvPr id="51" name="矩形 50"/>
            <p:cNvSpPr/>
            <p:nvPr/>
          </p:nvSpPr>
          <p:spPr>
            <a:xfrm>
              <a:off x="6464101" y="4659185"/>
              <a:ext cx="1446367" cy="613037"/>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r>
                <a:rPr lang="zh-CN" altLang="en-US" sz="825" b="1" dirty="0">
                  <a:solidFill>
                    <a:srgbClr val="262626"/>
                  </a:solidFill>
                  <a:latin typeface="微软雅黑" panose="020B0503020204020204" pitchFamily="34" charset="-122"/>
                  <a:ea typeface="微软雅黑" panose="020B0503020204020204" pitchFamily="34" charset="-122"/>
                  <a:cs typeface="+mn-ea"/>
                  <a:sym typeface="+mn-lt"/>
                </a:rPr>
                <a:t>关键任务</a:t>
              </a:r>
            </a:p>
            <a:p>
              <a:pPr algn="ctr" defTabSz="1218565" fontAlgn="base">
                <a:spcBef>
                  <a:spcPct val="0"/>
                </a:spcBef>
                <a:spcAft>
                  <a:spcPct val="0"/>
                </a:spcAft>
                <a:defRPr/>
              </a:pPr>
              <a:r>
                <a:rPr lang="zh-CN" altLang="en-US" sz="900" b="1" dirty="0">
                  <a:solidFill>
                    <a:srgbClr val="262626"/>
                  </a:solidFill>
                  <a:latin typeface="微软雅黑" panose="020B0503020204020204" pitchFamily="34" charset="-122"/>
                  <a:ea typeface="微软雅黑" panose="020B0503020204020204" pitchFamily="34" charset="-122"/>
                  <a:cs typeface="+mn-ea"/>
                  <a:sym typeface="+mn-lt"/>
                </a:rPr>
                <a:t>依赖关系</a:t>
              </a:r>
            </a:p>
          </p:txBody>
        </p:sp>
        <p:sp>
          <p:nvSpPr>
            <p:cNvPr id="52" name="矩形 51"/>
            <p:cNvSpPr/>
            <p:nvPr/>
          </p:nvSpPr>
          <p:spPr>
            <a:xfrm>
              <a:off x="8578021" y="4783983"/>
              <a:ext cx="1449048" cy="365633"/>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r>
                <a:rPr lang="zh-CN" altLang="en-US" sz="900" b="1" dirty="0">
                  <a:solidFill>
                    <a:srgbClr val="262626"/>
                  </a:solidFill>
                  <a:latin typeface="微软雅黑" panose="020B0503020204020204" pitchFamily="34" charset="-122"/>
                  <a:ea typeface="微软雅黑" panose="020B0503020204020204" pitchFamily="34" charset="-122"/>
                  <a:cs typeface="+mn-ea"/>
                  <a:sym typeface="+mn-lt"/>
                </a:rPr>
                <a:t>正式组织</a:t>
              </a:r>
            </a:p>
          </p:txBody>
        </p:sp>
        <p:sp>
          <p:nvSpPr>
            <p:cNvPr id="53" name="矩形 52"/>
            <p:cNvSpPr/>
            <p:nvPr/>
          </p:nvSpPr>
          <p:spPr>
            <a:xfrm>
              <a:off x="7521731" y="5587501"/>
              <a:ext cx="1449048" cy="365633"/>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r>
                <a:rPr lang="zh-CN" altLang="en-US" sz="900" b="1" noProof="1">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人才</a:t>
              </a:r>
            </a:p>
          </p:txBody>
        </p:sp>
        <p:sp>
          <p:nvSpPr>
            <p:cNvPr id="54" name="等腰三角形 53"/>
            <p:cNvSpPr/>
            <p:nvPr/>
          </p:nvSpPr>
          <p:spPr>
            <a:xfrm rot="5400000">
              <a:off x="10355565" y="4823726"/>
              <a:ext cx="478388" cy="294904"/>
            </a:xfrm>
            <a:prstGeom prst="triangle">
              <a:avLst/>
            </a:prstGeom>
            <a:solidFill>
              <a:srgbClr val="0092DB"/>
            </a:solidFill>
            <a:ln>
              <a:no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endParaRPr lang="zh-CN" altLang="en-US" sz="1425" b="1" noProof="1">
                <a:latin typeface="微软雅黑" panose="020B0503020204020204" pitchFamily="34" charset="-122"/>
                <a:ea typeface="微软雅黑" panose="020B0503020204020204" pitchFamily="34" charset="-122"/>
                <a:cs typeface="+mn-ea"/>
                <a:sym typeface="+mn-lt"/>
              </a:endParaRPr>
            </a:p>
          </p:txBody>
        </p:sp>
        <p:sp>
          <p:nvSpPr>
            <p:cNvPr id="55" name="等腰三角形 54"/>
            <p:cNvSpPr/>
            <p:nvPr/>
          </p:nvSpPr>
          <p:spPr>
            <a:xfrm rot="5400000">
              <a:off x="5729603" y="4837957"/>
              <a:ext cx="478388" cy="294904"/>
            </a:xfrm>
            <a:prstGeom prst="triangle">
              <a:avLst/>
            </a:prstGeom>
            <a:solidFill>
              <a:srgbClr val="0092DB"/>
            </a:solidFill>
            <a:ln>
              <a:no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endParaRPr lang="zh-CN" altLang="en-US" sz="1425" b="1" noProof="1">
                <a:latin typeface="微软雅黑" panose="020B0503020204020204" pitchFamily="34" charset="-122"/>
                <a:ea typeface="微软雅黑" panose="020B0503020204020204" pitchFamily="34" charset="-122"/>
                <a:cs typeface="+mn-ea"/>
                <a:sym typeface="+mn-lt"/>
              </a:endParaRPr>
            </a:p>
          </p:txBody>
        </p:sp>
        <p:sp>
          <p:nvSpPr>
            <p:cNvPr id="56" name="等腰三角形 55"/>
            <p:cNvSpPr/>
            <p:nvPr/>
          </p:nvSpPr>
          <p:spPr>
            <a:xfrm rot="16200000">
              <a:off x="5383762" y="4837957"/>
              <a:ext cx="478388" cy="294904"/>
            </a:xfrm>
            <a:prstGeom prst="triangle">
              <a:avLst/>
            </a:prstGeom>
            <a:solidFill>
              <a:srgbClr val="0092DB"/>
            </a:solidFill>
            <a:ln>
              <a:no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endParaRPr lang="zh-CN" altLang="en-US" sz="1425" b="1" noProof="1">
                <a:latin typeface="微软雅黑" panose="020B0503020204020204" pitchFamily="34" charset="-122"/>
                <a:ea typeface="微软雅黑" panose="020B0503020204020204" pitchFamily="34" charset="-122"/>
                <a:cs typeface="+mn-ea"/>
                <a:sym typeface="+mn-lt"/>
              </a:endParaRPr>
            </a:p>
          </p:txBody>
        </p:sp>
        <p:cxnSp>
          <p:nvCxnSpPr>
            <p:cNvPr id="57" name="直接连接符 56"/>
            <p:cNvCxnSpPr/>
            <p:nvPr/>
          </p:nvCxnSpPr>
          <p:spPr>
            <a:xfrm>
              <a:off x="3746967" y="4320920"/>
              <a:ext cx="680959" cy="483861"/>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2405158" y="5149617"/>
              <a:ext cx="680959" cy="480577"/>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V="1">
              <a:off x="2442690" y="4328584"/>
              <a:ext cx="568359" cy="476199"/>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V="1">
              <a:off x="3834098" y="5139763"/>
              <a:ext cx="568359" cy="474009"/>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3438659" y="4416160"/>
              <a:ext cx="0" cy="1154919"/>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3103541" y="4965704"/>
              <a:ext cx="670235" cy="0"/>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sp>
          <p:nvSpPr>
            <p:cNvPr id="63" name="矩形 62"/>
            <p:cNvSpPr/>
            <p:nvPr/>
          </p:nvSpPr>
          <p:spPr>
            <a:xfrm>
              <a:off x="1319376" y="6222506"/>
              <a:ext cx="8990533" cy="501227"/>
            </a:xfrm>
            <a:prstGeom prst="rect">
              <a:avLst/>
            </a:prstGeom>
            <a:solidFill>
              <a:srgbClr val="0092DB"/>
            </a:solidFill>
            <a:ln w="12700">
              <a:noFill/>
            </a:ln>
            <a:effectLst/>
          </p:spPr>
          <p:txBody>
            <a:bodyPr lIns="91437" tIns="45718" rIns="91437" bIns="45718" anchor="ctr">
              <a:spAutoFit/>
            </a:bodyPr>
            <a:lstStyle/>
            <a:p>
              <a:pPr algn="ctr" defTabSz="1218565" eaLnBrk="0" fontAlgn="base" hangingPunct="0">
                <a:lnSpc>
                  <a:spcPct val="130000"/>
                </a:lnSpc>
                <a:spcBef>
                  <a:spcPts val="800"/>
                </a:spcBef>
                <a:spcAft>
                  <a:spcPct val="0"/>
                </a:spcAft>
                <a:buSzPct val="77000"/>
                <a:defRPr/>
              </a:pPr>
              <a:r>
                <a:rPr lang="zh-CN" altLang="en-US" sz="1425" b="1" dirty="0">
                  <a:solidFill>
                    <a:schemeClr val="bg1"/>
                  </a:solidFill>
                  <a:latin typeface="微软雅黑" panose="020B0503020204020204" pitchFamily="34" charset="-122"/>
                  <a:ea typeface="微软雅黑" panose="020B0503020204020204" pitchFamily="34" charset="-122"/>
                  <a:cs typeface="+mn-ea"/>
                  <a:sym typeface="+mn-lt"/>
                </a:rPr>
                <a:t>价值观</a:t>
              </a:r>
            </a:p>
          </p:txBody>
        </p:sp>
        <p:sp>
          <p:nvSpPr>
            <p:cNvPr id="64" name="矩形 63"/>
            <p:cNvSpPr/>
            <p:nvPr/>
          </p:nvSpPr>
          <p:spPr>
            <a:xfrm>
              <a:off x="2713466" y="4050527"/>
              <a:ext cx="1446367" cy="365633"/>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r>
                <a:rPr lang="zh-CN" altLang="en-US" sz="900" b="1" dirty="0">
                  <a:solidFill>
                    <a:srgbClr val="262626"/>
                  </a:solidFill>
                  <a:latin typeface="微软雅黑" panose="020B0503020204020204" pitchFamily="34" charset="-122"/>
                  <a:ea typeface="微软雅黑" panose="020B0503020204020204" pitchFamily="34" charset="-122"/>
                  <a:cs typeface="+mn-ea"/>
                  <a:sym typeface="+mn-lt"/>
                </a:rPr>
                <a:t>市场洞察</a:t>
              </a:r>
            </a:p>
          </p:txBody>
        </p:sp>
        <p:sp>
          <p:nvSpPr>
            <p:cNvPr id="65" name="矩形 64"/>
            <p:cNvSpPr/>
            <p:nvPr/>
          </p:nvSpPr>
          <p:spPr>
            <a:xfrm>
              <a:off x="1657175" y="4783983"/>
              <a:ext cx="1446367" cy="365633"/>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r>
                <a:rPr lang="zh-CN" altLang="en-US" sz="900" b="1" dirty="0">
                  <a:solidFill>
                    <a:srgbClr val="262626"/>
                  </a:solidFill>
                  <a:latin typeface="微软雅黑" panose="020B0503020204020204" pitchFamily="34" charset="-122"/>
                  <a:ea typeface="微软雅黑" panose="020B0503020204020204" pitchFamily="34" charset="-122"/>
                  <a:cs typeface="+mn-ea"/>
                  <a:sym typeface="+mn-lt"/>
                </a:rPr>
                <a:t>战略意图</a:t>
              </a:r>
            </a:p>
          </p:txBody>
        </p:sp>
        <p:sp>
          <p:nvSpPr>
            <p:cNvPr id="66" name="矩形 65"/>
            <p:cNvSpPr/>
            <p:nvPr/>
          </p:nvSpPr>
          <p:spPr>
            <a:xfrm>
              <a:off x="3771096" y="4783983"/>
              <a:ext cx="1449048" cy="365633"/>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r>
                <a:rPr lang="zh-CN" altLang="en-US" sz="900" b="1" noProof="1">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业务设计</a:t>
              </a:r>
            </a:p>
          </p:txBody>
        </p:sp>
        <p:sp>
          <p:nvSpPr>
            <p:cNvPr id="67" name="矩形 66"/>
            <p:cNvSpPr/>
            <p:nvPr/>
          </p:nvSpPr>
          <p:spPr>
            <a:xfrm>
              <a:off x="2713466" y="5571079"/>
              <a:ext cx="1446367" cy="365633"/>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r>
                <a:rPr lang="zh-CN" altLang="en-US" sz="900" b="1" dirty="0">
                  <a:solidFill>
                    <a:srgbClr val="262626"/>
                  </a:solidFill>
                  <a:latin typeface="微软雅黑" panose="020B0503020204020204" pitchFamily="34" charset="-122"/>
                  <a:ea typeface="微软雅黑" panose="020B0503020204020204" pitchFamily="34" charset="-122"/>
                  <a:cs typeface="+mn-ea"/>
                  <a:sym typeface="+mn-lt"/>
                </a:rPr>
                <a:t>创新焦点</a:t>
              </a:r>
            </a:p>
          </p:txBody>
        </p:sp>
        <p:sp>
          <p:nvSpPr>
            <p:cNvPr id="68" name="文本框 81"/>
            <p:cNvSpPr txBox="1"/>
            <p:nvPr/>
          </p:nvSpPr>
          <p:spPr>
            <a:xfrm>
              <a:off x="7882705" y="3653148"/>
              <a:ext cx="1309639" cy="413173"/>
            </a:xfrm>
            <a:prstGeom prst="rect">
              <a:avLst/>
            </a:prstGeom>
            <a:noFill/>
            <a:ln w="9525">
              <a:noFill/>
            </a:ln>
          </p:spPr>
          <p:txBody>
            <a:bodyPr lIns="91437" tIns="45718" rIns="91437" bIns="45718">
              <a:spAutoFit/>
            </a:bodyPr>
            <a:lstStyle/>
            <a:p>
              <a:pPr eaLnBrk="1" hangingPunct="1">
                <a:buFont typeface="Arial" panose="020B0604020202020204" pitchFamily="34" charset="0"/>
                <a:buNone/>
              </a:pPr>
              <a:r>
                <a:rPr lang="zh-CN" altLang="en-US" sz="1425" dirty="0">
                  <a:solidFill>
                    <a:srgbClr val="FF0000"/>
                  </a:solidFill>
                  <a:latin typeface="微软雅黑" panose="020B0503020204020204" pitchFamily="34" charset="-122"/>
                  <a:ea typeface="微软雅黑" panose="020B0503020204020204" pitchFamily="34" charset="-122"/>
                  <a:cs typeface="+mn-ea"/>
                  <a:sym typeface="+mn-lt"/>
                </a:rPr>
                <a:t>执行</a:t>
              </a:r>
            </a:p>
          </p:txBody>
        </p:sp>
        <p:sp>
          <p:nvSpPr>
            <p:cNvPr id="69" name="文本框 83"/>
            <p:cNvSpPr txBox="1"/>
            <p:nvPr/>
          </p:nvSpPr>
          <p:spPr>
            <a:xfrm>
              <a:off x="2776467" y="3654556"/>
              <a:ext cx="1443687" cy="413173"/>
            </a:xfrm>
            <a:prstGeom prst="rect">
              <a:avLst/>
            </a:prstGeom>
            <a:noFill/>
            <a:ln w="9525">
              <a:noFill/>
            </a:ln>
          </p:spPr>
          <p:txBody>
            <a:bodyPr lIns="91437" tIns="45718" rIns="91437" bIns="45718" anchor="ctr">
              <a:spAutoFit/>
            </a:bodyPr>
            <a:lstStyle/>
            <a:p>
              <a:pPr algn="ctr" eaLnBrk="1" hangingPunct="1">
                <a:buFont typeface="Arial" panose="020B0604020202020204" pitchFamily="34" charset="0"/>
                <a:buNone/>
              </a:pPr>
              <a:r>
                <a:rPr lang="zh-CN" altLang="en-US" sz="1425" dirty="0">
                  <a:solidFill>
                    <a:srgbClr val="FF0000"/>
                  </a:solidFill>
                  <a:latin typeface="微软雅黑" panose="020B0503020204020204" pitchFamily="34" charset="-122"/>
                  <a:ea typeface="微软雅黑" panose="020B0503020204020204" pitchFamily="34" charset="-122"/>
                  <a:cs typeface="+mn-ea"/>
                  <a:sym typeface="+mn-lt"/>
                </a:rPr>
                <a:t>战略</a:t>
              </a:r>
            </a:p>
          </p:txBody>
        </p:sp>
        <p:sp>
          <p:nvSpPr>
            <p:cNvPr id="70" name="等腰三角形 69"/>
            <p:cNvSpPr/>
            <p:nvPr/>
          </p:nvSpPr>
          <p:spPr>
            <a:xfrm rot="10800000">
              <a:off x="3178733" y="3399082"/>
              <a:ext cx="637851" cy="221177"/>
            </a:xfrm>
            <a:prstGeom prst="triangle">
              <a:avLst/>
            </a:prstGeom>
            <a:solidFill>
              <a:srgbClr val="0092DB"/>
            </a:solidFill>
            <a:ln>
              <a:no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endParaRPr lang="zh-CN" altLang="en-US" sz="1425" b="1" noProof="1">
                <a:latin typeface="微软雅黑" panose="020B0503020204020204" pitchFamily="34" charset="-122"/>
                <a:ea typeface="微软雅黑" panose="020B0503020204020204" pitchFamily="34" charset="-122"/>
                <a:cs typeface="+mn-ea"/>
                <a:sym typeface="+mn-lt"/>
              </a:endParaRPr>
            </a:p>
          </p:txBody>
        </p:sp>
        <p:sp>
          <p:nvSpPr>
            <p:cNvPr id="71" name="等腰三角形 70"/>
            <p:cNvSpPr/>
            <p:nvPr/>
          </p:nvSpPr>
          <p:spPr>
            <a:xfrm rot="10800000">
              <a:off x="7864751" y="3399082"/>
              <a:ext cx="637851" cy="221177"/>
            </a:xfrm>
            <a:prstGeom prst="triangle">
              <a:avLst/>
            </a:prstGeom>
            <a:solidFill>
              <a:srgbClr val="0092DB"/>
            </a:solidFill>
            <a:ln>
              <a:no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fontAlgn="base">
                <a:spcBef>
                  <a:spcPct val="0"/>
                </a:spcBef>
                <a:spcAft>
                  <a:spcPct val="0"/>
                </a:spcAft>
                <a:defRPr/>
              </a:pPr>
              <a:endParaRPr lang="zh-CN" altLang="en-US" sz="1425" b="1" noProof="1">
                <a:latin typeface="微软雅黑" panose="020B0503020204020204" pitchFamily="34" charset="-122"/>
                <a:ea typeface="微软雅黑" panose="020B0503020204020204" pitchFamily="34" charset="-122"/>
                <a:cs typeface="+mn-ea"/>
                <a:sym typeface="+mn-lt"/>
              </a:endParaRPr>
            </a:p>
          </p:txBody>
        </p:sp>
        <p:sp>
          <p:nvSpPr>
            <p:cNvPr id="72" name="Text Box 32"/>
            <p:cNvSpPr txBox="1"/>
            <p:nvPr/>
          </p:nvSpPr>
          <p:spPr>
            <a:xfrm>
              <a:off x="342936" y="4489687"/>
              <a:ext cx="952507" cy="800100"/>
            </a:xfrm>
            <a:prstGeom prst="rect">
              <a:avLst/>
            </a:prstGeom>
            <a:noFill/>
            <a:ln w="9525">
              <a:noFill/>
            </a:ln>
          </p:spPr>
          <p:txBody>
            <a:bodyPr wrap="square" lIns="0" tIns="0" rIns="0" bIns="0" anchor="ctr">
              <a:spAutoFit/>
            </a:bodyPr>
            <a:lstStyle/>
            <a:p>
              <a:pPr marL="287020" lvl="1" indent="-285750" algn="just" defTabSz="330200">
                <a:lnSpc>
                  <a:spcPct val="130000"/>
                </a:lnSpc>
                <a:spcBef>
                  <a:spcPts val="0"/>
                </a:spcBef>
                <a:buClr>
                  <a:srgbClr val="267FC3"/>
                </a:buClr>
                <a:buSzPct val="81000"/>
                <a:buFont typeface="Arial" panose="020B0604020202020204" pitchFamily="34" charset="0"/>
                <a:buChar char="•"/>
                <a:tabLst>
                  <a:tab pos="8521700" algn="r"/>
                </a:tabLst>
                <a:defRPr/>
              </a:pPr>
              <a:r>
                <a:rPr lang="zh-CN" altLang="en-US" sz="1500" noProof="1">
                  <a:latin typeface="微软雅黑" panose="020B0503020204020204" pitchFamily="34" charset="-122"/>
                  <a:ea typeface="微软雅黑" panose="020B0503020204020204" pitchFamily="34" charset="-122"/>
                  <a:cs typeface="+mn-ea"/>
                  <a:sym typeface="+mn-lt"/>
                </a:rPr>
                <a:t>业绩</a:t>
              </a:r>
            </a:p>
            <a:p>
              <a:pPr marL="287020" lvl="1" indent="-285750" algn="just" defTabSz="330200">
                <a:lnSpc>
                  <a:spcPct val="130000"/>
                </a:lnSpc>
                <a:spcBef>
                  <a:spcPts val="0"/>
                </a:spcBef>
                <a:buClr>
                  <a:srgbClr val="267FC3"/>
                </a:buClr>
                <a:buSzPct val="81000"/>
                <a:buFont typeface="Arial" panose="020B0604020202020204" pitchFamily="34" charset="0"/>
                <a:buChar char="•"/>
                <a:tabLst>
                  <a:tab pos="8521700" algn="r"/>
                </a:tabLst>
                <a:defRPr/>
              </a:pPr>
              <a:r>
                <a:rPr lang="zh-CN" altLang="en-US" sz="1500" noProof="1">
                  <a:latin typeface="微软雅黑" panose="020B0503020204020204" pitchFamily="34" charset="-122"/>
                  <a:ea typeface="微软雅黑" panose="020B0503020204020204" pitchFamily="34" charset="-122"/>
                  <a:cs typeface="+mn-ea"/>
                  <a:sym typeface="+mn-lt"/>
                </a:rPr>
                <a:t>机会</a:t>
              </a:r>
            </a:p>
          </p:txBody>
        </p:sp>
        <p:sp>
          <p:nvSpPr>
            <p:cNvPr id="73" name="椭圆 72"/>
            <p:cNvSpPr/>
            <p:nvPr/>
          </p:nvSpPr>
          <p:spPr>
            <a:xfrm>
              <a:off x="10848528" y="4484312"/>
              <a:ext cx="1085781" cy="888904"/>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5999" tIns="45718" rIns="35999" bIns="45718" anchor="ctr"/>
            <a:lstStyle/>
            <a:p>
              <a:pPr algn="ctr" defTabSz="1218565" fontAlgn="base">
                <a:spcBef>
                  <a:spcPct val="0"/>
                </a:spcBef>
                <a:spcAft>
                  <a:spcPct val="0"/>
                </a:spcAft>
                <a:defRPr/>
              </a:pPr>
              <a:r>
                <a:rPr lang="zh-CN" altLang="en-US" sz="1425" b="1" dirty="0">
                  <a:solidFill>
                    <a:srgbClr val="FFFFFF"/>
                  </a:solidFill>
                  <a:latin typeface="微软雅黑" panose="020B0503020204020204" pitchFamily="34" charset="-122"/>
                  <a:ea typeface="微软雅黑" panose="020B0503020204020204" pitchFamily="34" charset="-122"/>
                  <a:cs typeface="+mn-ea"/>
                  <a:sym typeface="+mn-lt"/>
                </a:rPr>
                <a:t>市场结果</a:t>
              </a:r>
            </a:p>
          </p:txBody>
        </p:sp>
        <p:sp>
          <p:nvSpPr>
            <p:cNvPr id="74" name="Text Box 34"/>
            <p:cNvSpPr txBox="1"/>
            <p:nvPr/>
          </p:nvSpPr>
          <p:spPr>
            <a:xfrm>
              <a:off x="437301" y="4132570"/>
              <a:ext cx="857256" cy="323427"/>
            </a:xfrm>
            <a:prstGeom prst="rect">
              <a:avLst/>
            </a:prstGeom>
            <a:solidFill>
              <a:srgbClr val="595959"/>
            </a:solidFill>
            <a:ln w="9525">
              <a:noFill/>
            </a:ln>
          </p:spPr>
          <p:txBody>
            <a:bodyPr wrap="square" lIns="0" tIns="0" rIns="0" bIns="0" anchor="ctr" anchorCtr="1">
              <a:spAutoFit/>
            </a:bodyPr>
            <a:lstStyle/>
            <a:p>
              <a:pPr algn="ctr" defTabSz="1096010">
                <a:spcAft>
                  <a:spcPct val="15000"/>
                </a:spcAft>
                <a:defRPr/>
              </a:pPr>
              <a:r>
                <a:rPr lang="zh-CN" altLang="en-US" sz="1575" b="1" noProof="1">
                  <a:solidFill>
                    <a:schemeClr val="bg1"/>
                  </a:solidFill>
                  <a:latin typeface="微软雅黑" panose="020B0503020204020204" pitchFamily="34" charset="-122"/>
                  <a:ea typeface="微软雅黑" panose="020B0503020204020204" pitchFamily="34" charset="-122"/>
                  <a:cs typeface="+mn-ea"/>
                  <a:sym typeface="+mn-lt"/>
                </a:rPr>
                <a:t>差距</a:t>
              </a:r>
            </a:p>
          </p:txBody>
        </p:sp>
      </p:grpSp>
      <p:sp>
        <p:nvSpPr>
          <p:cNvPr id="2" name="标题 1"/>
          <p:cNvSpPr txBox="1"/>
          <p:nvPr/>
        </p:nvSpPr>
        <p:spPr>
          <a:xfrm>
            <a:off x="568884" y="551693"/>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2060"/>
                </a:solidFill>
                <a:latin typeface="微软雅黑" panose="020B0503020204020204" pitchFamily="34" charset="-122"/>
                <a:ea typeface="微软雅黑" panose="020B0503020204020204" pitchFamily="34" charset="-122"/>
                <a:cs typeface="+mn-ea"/>
                <a:sym typeface="+mn-lt"/>
              </a:rPr>
              <a:t>BLM模型之价值观：案例：华为的不赚快钱</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追求卓越</a:t>
            </a:r>
          </a:p>
        </p:txBody>
      </p:sp>
      <p:sp>
        <p:nvSpPr>
          <p:cNvPr id="75" name="Rectangle 3"/>
          <p:cNvSpPr txBox="1">
            <a:spLocks noChangeArrowheads="1"/>
          </p:cNvSpPr>
          <p:nvPr/>
        </p:nvSpPr>
        <p:spPr bwMode="auto">
          <a:xfrm>
            <a:off x="1706880" y="6307332"/>
            <a:ext cx="9144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2000" b="1" dirty="0">
                <a:solidFill>
                  <a:schemeClr val="bg1"/>
                </a:solidFill>
                <a:effectLst/>
                <a:latin typeface="微软雅黑" panose="020B0503020204020204" pitchFamily="34" charset="-122"/>
                <a:ea typeface="微软雅黑" panose="020B0503020204020204" pitchFamily="34" charset="-122"/>
              </a:rPr>
              <a:t>核心价值观都有，只是都放到墙上了，能真正落地的组织，想不优秀都不行</a:t>
            </a:r>
            <a:endParaRPr lang="zh-CN" altLang="en-US" sz="2000" b="1" dirty="0">
              <a:solidFill>
                <a:srgbClr val="FFFF00"/>
              </a:solidFill>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3005"/>
            <a:ext cx="12206605" cy="522605"/>
          </a:xfrm>
          <a:prstGeom prst="rect">
            <a:avLst/>
          </a:prstGeom>
        </p:spPr>
      </p:pic>
      <p:sp>
        <p:nvSpPr>
          <p:cNvPr id="2" name="标题 1"/>
          <p:cNvSpPr txBox="1"/>
          <p:nvPr/>
        </p:nvSpPr>
        <p:spPr>
          <a:xfrm>
            <a:off x="527238" y="482684"/>
            <a:ext cx="9197340" cy="34353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2060"/>
                </a:solidFill>
                <a:latin typeface="微软雅黑" panose="020B0503020204020204" pitchFamily="34" charset="-122"/>
                <a:ea typeface="微软雅黑" panose="020B0503020204020204" pitchFamily="34" charset="-122"/>
                <a:cs typeface="+mn-ea"/>
                <a:sym typeface="+mn-lt"/>
              </a:rPr>
              <a:t>BLM模型之差距：三分天下→</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No1</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 →霸主（重新定义三分天下）</a:t>
            </a:r>
          </a:p>
        </p:txBody>
      </p:sp>
      <p:grpSp>
        <p:nvGrpSpPr>
          <p:cNvPr id="45" name="组合 44"/>
          <p:cNvGrpSpPr/>
          <p:nvPr/>
        </p:nvGrpSpPr>
        <p:grpSpPr>
          <a:xfrm>
            <a:off x="1609090" y="1158240"/>
            <a:ext cx="8829040" cy="4562519"/>
            <a:chOff x="591" y="1842"/>
            <a:chExt cx="18018" cy="9310"/>
          </a:xfrm>
        </p:grpSpPr>
        <p:sp>
          <p:nvSpPr>
            <p:cNvPr id="4" name="标题 1"/>
            <p:cNvSpPr txBox="1"/>
            <p:nvPr/>
          </p:nvSpPr>
          <p:spPr>
            <a:xfrm>
              <a:off x="591" y="6676"/>
              <a:ext cx="18018" cy="1256"/>
            </a:xfrm>
            <a:prstGeom prst="rect">
              <a:avLst/>
            </a:prstGeom>
            <a:solidFill>
              <a:srgbClr val="0092DB"/>
            </a:solidFill>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r>
                <a:rPr lang="zh-CN" altLang="en-US" sz="1400" dirty="0">
                  <a:latin typeface="微软雅黑" panose="020B0503020204020204" pitchFamily="34" charset="-122"/>
                  <a:ea typeface="微软雅黑" panose="020B0503020204020204" pitchFamily="34" charset="-122"/>
                  <a:cs typeface="+mn-ea"/>
                  <a:sym typeface="+mn-lt"/>
                </a:rPr>
                <a:t>战略是由不满意激发的</a:t>
              </a:r>
              <a:r>
                <a:rPr lang="zh-CN" altLang="en-US" sz="1400" b="0" dirty="0">
                  <a:latin typeface="微软雅黑" panose="020B0503020204020204" pitchFamily="34" charset="-122"/>
                  <a:ea typeface="微软雅黑" panose="020B0503020204020204" pitchFamily="34" charset="-122"/>
                  <a:cs typeface="+mn-ea"/>
                  <a:sym typeface="+mn-lt"/>
                </a:rPr>
                <a:t>，而不满意是对</a:t>
              </a:r>
              <a:r>
                <a:rPr lang="zh-CN" altLang="en-US" sz="1400" dirty="0">
                  <a:latin typeface="微软雅黑" panose="020B0503020204020204" pitchFamily="34" charset="-122"/>
                  <a:ea typeface="微软雅黑" panose="020B0503020204020204" pitchFamily="34" charset="-122"/>
                  <a:cs typeface="+mn-ea"/>
                  <a:sym typeface="+mn-lt"/>
                </a:rPr>
                <a:t>现状和期望业绩之间差距</a:t>
              </a:r>
              <a:r>
                <a:rPr lang="zh-CN" altLang="en-US" sz="1400" b="0" dirty="0">
                  <a:latin typeface="微软雅黑" panose="020B0503020204020204" pitchFamily="34" charset="-122"/>
                  <a:ea typeface="微软雅黑" panose="020B0503020204020204" pitchFamily="34" charset="-122"/>
                  <a:cs typeface="+mn-ea"/>
                  <a:sym typeface="+mn-lt"/>
                </a:rPr>
                <a:t>的一种感知。</a:t>
              </a:r>
              <a:endParaRPr lang="en-US" altLang="zh-CN" sz="1400" b="0" dirty="0">
                <a:latin typeface="微软雅黑" panose="020B0503020204020204" pitchFamily="34" charset="-122"/>
                <a:ea typeface="微软雅黑" panose="020B0503020204020204" pitchFamily="34" charset="-122"/>
                <a:cs typeface="+mn-ea"/>
                <a:sym typeface="+mn-lt"/>
              </a:endParaRPr>
            </a:p>
            <a:p>
              <a:r>
                <a:rPr lang="zh-CN" altLang="en-US" sz="1400" b="0" dirty="0">
                  <a:latin typeface="微软雅黑" panose="020B0503020204020204" pitchFamily="34" charset="-122"/>
                  <a:ea typeface="微软雅黑" panose="020B0503020204020204" pitchFamily="34" charset="-122"/>
                  <a:cs typeface="+mn-ea"/>
                  <a:sym typeface="+mn-lt"/>
                </a:rPr>
                <a:t>差距分析其实是对上一年度战略执行的一个检验，通过差距分析能更深入的了解自身。</a:t>
              </a:r>
            </a:p>
          </p:txBody>
        </p:sp>
        <p:grpSp>
          <p:nvGrpSpPr>
            <p:cNvPr id="24" name="组合 94"/>
            <p:cNvGrpSpPr/>
            <p:nvPr/>
          </p:nvGrpSpPr>
          <p:grpSpPr>
            <a:xfrm>
              <a:off x="7031" y="1842"/>
              <a:ext cx="5488" cy="3467"/>
              <a:chOff x="5157" y="1660"/>
              <a:chExt cx="2601" cy="2191"/>
            </a:xfrm>
          </p:grpSpPr>
          <p:sp>
            <p:nvSpPr>
              <p:cNvPr id="26" name="AutoShape 4"/>
              <p:cNvSpPr/>
              <p:nvPr/>
            </p:nvSpPr>
            <p:spPr>
              <a:xfrm>
                <a:off x="5157" y="2094"/>
                <a:ext cx="2601" cy="1757"/>
              </a:xfrm>
              <a:prstGeom prst="roundRect">
                <a:avLst>
                  <a:gd name="adj" fmla="val 0"/>
                </a:avLst>
              </a:prstGeom>
              <a:solidFill>
                <a:srgbClr val="D4EAF5"/>
              </a:solidFill>
              <a:ln w="9525" cap="flat" cmpd="sng">
                <a:noFill/>
                <a:prstDash val="solid"/>
                <a:headEnd type="none" w="med" len="med"/>
                <a:tailEnd type="none" w="med" len="med"/>
              </a:ln>
            </p:spPr>
            <p:txBody>
              <a:bodyPr anchor="ctr"/>
              <a:lstStyle/>
              <a:p>
                <a:pPr>
                  <a:lnSpc>
                    <a:spcPct val="130000"/>
                  </a:lnSpc>
                  <a:spcBef>
                    <a:spcPts val="800"/>
                  </a:spcBef>
                  <a:buSzPct val="77000"/>
                </a:pPr>
                <a:endParaRPr lang="zh-CN" altLang="zh-CN" sz="600" dirty="0">
                  <a:solidFill>
                    <a:srgbClr val="808080"/>
                  </a:solidFill>
                  <a:latin typeface="微软雅黑" panose="020B0503020204020204" pitchFamily="34" charset="-122"/>
                  <a:ea typeface="微软雅黑" panose="020B0503020204020204" pitchFamily="34" charset="-122"/>
                  <a:cs typeface="+mn-ea"/>
                  <a:sym typeface="+mn-lt"/>
                </a:endParaRPr>
              </a:p>
            </p:txBody>
          </p:sp>
          <p:cxnSp>
            <p:nvCxnSpPr>
              <p:cNvPr id="27" name="直接连接符 26"/>
              <p:cNvCxnSpPr/>
              <p:nvPr/>
            </p:nvCxnSpPr>
            <p:spPr>
              <a:xfrm>
                <a:off x="6728" y="2437"/>
                <a:ext cx="494" cy="401"/>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5759" y="3124"/>
                <a:ext cx="492" cy="398"/>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5786" y="2444"/>
                <a:ext cx="410" cy="395"/>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V="1">
                <a:off x="6791" y="3116"/>
                <a:ext cx="410" cy="393"/>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6472" y="2516"/>
                <a:ext cx="0" cy="957"/>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5844" y="2213"/>
                <a:ext cx="1254" cy="303"/>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fontAlgn="base">
                  <a:spcBef>
                    <a:spcPct val="0"/>
                  </a:spcBef>
                  <a:spcAft>
                    <a:spcPct val="0"/>
                  </a:spcAft>
                  <a:defRPr/>
                </a:pPr>
                <a:r>
                  <a:rPr lang="zh-CN" altLang="en-US" sz="700" b="1"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氛围</a:t>
                </a:r>
                <a:r>
                  <a:rPr lang="en-US" altLang="zh-CN" sz="700" b="1"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700" b="1"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文化</a:t>
                </a:r>
              </a:p>
            </p:txBody>
          </p:sp>
          <p:sp>
            <p:nvSpPr>
              <p:cNvPr id="33" name="矩形 32"/>
              <p:cNvSpPr/>
              <p:nvPr/>
            </p:nvSpPr>
            <p:spPr>
              <a:xfrm>
                <a:off x="5185" y="2821"/>
                <a:ext cx="1044" cy="29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fontAlgn="base">
                  <a:spcBef>
                    <a:spcPct val="0"/>
                  </a:spcBef>
                  <a:spcAft>
                    <a:spcPct val="0"/>
                  </a:spcAft>
                  <a:defRPr/>
                </a:pPr>
                <a:r>
                  <a:rPr lang="zh-CN" altLang="en-US" sz="600" b="1" dirty="0">
                    <a:solidFill>
                      <a:srgbClr val="262626"/>
                    </a:solidFill>
                    <a:latin typeface="微软雅黑" panose="020B0503020204020204" pitchFamily="34" charset="-122"/>
                    <a:ea typeface="微软雅黑" panose="020B0503020204020204" pitchFamily="34" charset="-122"/>
                    <a:cs typeface="+mn-ea"/>
                    <a:sym typeface="+mn-lt"/>
                  </a:rPr>
                  <a:t>关键任务</a:t>
                </a:r>
              </a:p>
            </p:txBody>
          </p:sp>
          <p:sp>
            <p:nvSpPr>
              <p:cNvPr id="34" name="矩形 33"/>
              <p:cNvSpPr/>
              <p:nvPr/>
            </p:nvSpPr>
            <p:spPr>
              <a:xfrm>
                <a:off x="6712" y="2821"/>
                <a:ext cx="1026" cy="303"/>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fontAlgn="base">
                  <a:spcBef>
                    <a:spcPct val="0"/>
                  </a:spcBef>
                  <a:spcAft>
                    <a:spcPct val="0"/>
                  </a:spcAft>
                  <a:defRPr/>
                </a:pPr>
                <a:r>
                  <a:rPr lang="zh-CN" altLang="en-US" sz="700" b="1" dirty="0">
                    <a:solidFill>
                      <a:srgbClr val="262626"/>
                    </a:solidFill>
                    <a:latin typeface="微软雅黑" panose="020B0503020204020204" pitchFamily="34" charset="-122"/>
                    <a:ea typeface="微软雅黑" panose="020B0503020204020204" pitchFamily="34" charset="-122"/>
                    <a:cs typeface="+mn-ea"/>
                    <a:sym typeface="+mn-lt"/>
                  </a:rPr>
                  <a:t>正式组织</a:t>
                </a:r>
              </a:p>
            </p:txBody>
          </p:sp>
          <p:sp>
            <p:nvSpPr>
              <p:cNvPr id="35" name="矩形 34"/>
              <p:cNvSpPr/>
              <p:nvPr/>
            </p:nvSpPr>
            <p:spPr>
              <a:xfrm>
                <a:off x="5949" y="3487"/>
                <a:ext cx="1046" cy="303"/>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fontAlgn="base">
                  <a:spcBef>
                    <a:spcPct val="0"/>
                  </a:spcBef>
                  <a:spcAft>
                    <a:spcPct val="0"/>
                  </a:spcAft>
                  <a:defRPr/>
                </a:pPr>
                <a:r>
                  <a:rPr lang="zh-CN" altLang="en-US" sz="700" b="1" noProof="1">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人才</a:t>
                </a:r>
              </a:p>
            </p:txBody>
          </p:sp>
          <p:sp>
            <p:nvSpPr>
              <p:cNvPr id="36" name="文本框 81"/>
              <p:cNvSpPr txBox="1"/>
              <p:nvPr/>
            </p:nvSpPr>
            <p:spPr>
              <a:xfrm>
                <a:off x="6152" y="1660"/>
                <a:ext cx="946" cy="355"/>
              </a:xfrm>
              <a:prstGeom prst="rect">
                <a:avLst/>
              </a:prstGeom>
              <a:noFill/>
              <a:ln w="9525">
                <a:noFill/>
              </a:ln>
            </p:spPr>
            <p:txBody>
              <a:bodyPr>
                <a:spAutoFit/>
              </a:bodyPr>
              <a:lstStyle/>
              <a:p>
                <a:pPr eaLnBrk="1" hangingPunct="1">
                  <a:buFont typeface="Arial" panose="020B0604020202020204" pitchFamily="34" charset="0"/>
                  <a:buNone/>
                </a:pPr>
                <a:r>
                  <a:rPr lang="zh-CN" altLang="en-US" sz="1200" dirty="0">
                    <a:solidFill>
                      <a:srgbClr val="FF0000"/>
                    </a:solidFill>
                    <a:latin typeface="微软雅黑" panose="020B0503020204020204" pitchFamily="34" charset="-122"/>
                    <a:ea typeface="微软雅黑" panose="020B0503020204020204" pitchFamily="34" charset="-122"/>
                    <a:cs typeface="+mn-ea"/>
                    <a:sym typeface="+mn-lt"/>
                  </a:rPr>
                  <a:t>执行</a:t>
                </a:r>
              </a:p>
            </p:txBody>
          </p:sp>
          <p:cxnSp>
            <p:nvCxnSpPr>
              <p:cNvPr id="37" name="直接连接符 36"/>
              <p:cNvCxnSpPr/>
              <p:nvPr/>
            </p:nvCxnSpPr>
            <p:spPr>
              <a:xfrm flipV="1">
                <a:off x="6231" y="2972"/>
                <a:ext cx="499" cy="0"/>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grpSp>
        <p:sp>
          <p:nvSpPr>
            <p:cNvPr id="38" name="矩形 37"/>
            <p:cNvSpPr/>
            <p:nvPr/>
          </p:nvSpPr>
          <p:spPr>
            <a:xfrm>
              <a:off x="1162" y="2864"/>
              <a:ext cx="4478" cy="234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r>
                <a:rPr lang="zh-CN" altLang="en-US" sz="2400" dirty="0">
                  <a:latin typeface="微软雅黑" panose="020B0503020204020204" pitchFamily="34" charset="-122"/>
                  <a:ea typeface="微软雅黑" panose="020B0503020204020204" pitchFamily="34" charset="-122"/>
                  <a:cs typeface="+mn-ea"/>
                  <a:sym typeface="+mn-lt"/>
                </a:rPr>
                <a:t>战略目标</a:t>
              </a:r>
            </a:p>
          </p:txBody>
        </p:sp>
        <p:sp>
          <p:nvSpPr>
            <p:cNvPr id="39" name="矩形 38"/>
            <p:cNvSpPr/>
            <p:nvPr/>
          </p:nvSpPr>
          <p:spPr>
            <a:xfrm>
              <a:off x="13735" y="2784"/>
              <a:ext cx="4478" cy="234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r>
                <a:rPr lang="zh-CN" altLang="en-US" sz="1400" b="1" dirty="0">
                  <a:latin typeface="微软雅黑" panose="020B0503020204020204" pitchFamily="34" charset="-122"/>
                  <a:ea typeface="微软雅黑" panose="020B0503020204020204" pitchFamily="34" charset="-122"/>
                  <a:cs typeface="+mn-ea"/>
                  <a:sym typeface="+mn-lt"/>
                </a:rPr>
                <a:t>市场结果</a:t>
              </a:r>
            </a:p>
            <a:p>
              <a:pPr algn="ctr"/>
              <a:r>
                <a:rPr lang="zh-CN" altLang="en-US" sz="1400" b="1" dirty="0">
                  <a:latin typeface="微软雅黑" panose="020B0503020204020204" pitchFamily="34" charset="-122"/>
                  <a:ea typeface="微软雅黑" panose="020B0503020204020204" pitchFamily="34" charset="-122"/>
                  <a:cs typeface="+mn-ea"/>
                  <a:sym typeface="+mn-lt"/>
                </a:rPr>
                <a:t>（业绩）</a:t>
              </a:r>
            </a:p>
          </p:txBody>
        </p:sp>
        <p:sp>
          <p:nvSpPr>
            <p:cNvPr id="40" name="文本框 8"/>
            <p:cNvSpPr txBox="1"/>
            <p:nvPr/>
          </p:nvSpPr>
          <p:spPr>
            <a:xfrm>
              <a:off x="2657" y="2285"/>
              <a:ext cx="1486" cy="622"/>
            </a:xfrm>
            <a:prstGeom prst="rect">
              <a:avLst/>
            </a:prstGeom>
            <a:noFill/>
          </p:spPr>
          <p:txBody>
            <a:bodyPr wrap="square" lIns="121917" tIns="60958" rIns="121917" bIns="60958" rtlCol="0">
              <a:spAutoFit/>
            </a:bodyPr>
            <a:lstStyle/>
            <a:p>
              <a:r>
                <a:rPr lang="zh-CN" altLang="en-US" sz="1200" u="sng" dirty="0">
                  <a:latin typeface="微软雅黑" panose="020B0503020204020204" pitchFamily="34" charset="-122"/>
                  <a:ea typeface="微软雅黑" panose="020B0503020204020204" pitchFamily="34" charset="-122"/>
                  <a:cs typeface="+mn-ea"/>
                  <a:sym typeface="+mn-lt"/>
                </a:rPr>
                <a:t>期望</a:t>
              </a:r>
            </a:p>
          </p:txBody>
        </p:sp>
        <p:sp>
          <p:nvSpPr>
            <p:cNvPr id="41" name="文本框 9"/>
            <p:cNvSpPr txBox="1"/>
            <p:nvPr/>
          </p:nvSpPr>
          <p:spPr>
            <a:xfrm>
              <a:off x="15407" y="2205"/>
              <a:ext cx="1486" cy="622"/>
            </a:xfrm>
            <a:prstGeom prst="rect">
              <a:avLst/>
            </a:prstGeom>
            <a:noFill/>
          </p:spPr>
          <p:txBody>
            <a:bodyPr wrap="square" lIns="121917" tIns="60958" rIns="121917" bIns="60958" rtlCol="0">
              <a:spAutoFit/>
            </a:bodyPr>
            <a:lstStyle/>
            <a:p>
              <a:r>
                <a:rPr lang="zh-CN" altLang="en-US" sz="1200" u="sng" dirty="0">
                  <a:latin typeface="微软雅黑" panose="020B0503020204020204" pitchFamily="34" charset="-122"/>
                  <a:ea typeface="微软雅黑" panose="020B0503020204020204" pitchFamily="34" charset="-122"/>
                  <a:cs typeface="+mn-ea"/>
                  <a:sym typeface="+mn-lt"/>
                </a:rPr>
                <a:t>现实</a:t>
              </a:r>
            </a:p>
          </p:txBody>
        </p:sp>
        <p:sp>
          <p:nvSpPr>
            <p:cNvPr id="42" name="下弧形箭头 41"/>
            <p:cNvSpPr/>
            <p:nvPr/>
          </p:nvSpPr>
          <p:spPr>
            <a:xfrm>
              <a:off x="2837" y="5202"/>
              <a:ext cx="13708" cy="1256"/>
            </a:xfrm>
            <a:prstGeom prst="curvedUpArrow">
              <a:avLst/>
            </a:prstGeom>
            <a:solidFill>
              <a:srgbClr val="7F7F7F"/>
            </a:solidFill>
            <a:ln>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sz="140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3" name="文本框 11"/>
            <p:cNvSpPr txBox="1"/>
            <p:nvPr/>
          </p:nvSpPr>
          <p:spPr>
            <a:xfrm>
              <a:off x="7768" y="5655"/>
              <a:ext cx="4359" cy="622"/>
            </a:xfrm>
            <a:prstGeom prst="rect">
              <a:avLst/>
            </a:prstGeom>
            <a:noFill/>
          </p:spPr>
          <p:txBody>
            <a:bodyPr wrap="square" lIns="121917" tIns="60958" rIns="121917" bIns="60958" rtlCol="0">
              <a:spAutoFit/>
            </a:bodyPr>
            <a:lstStyle/>
            <a:p>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业绩差距  机会差距</a:t>
              </a:r>
            </a:p>
          </p:txBody>
        </p:sp>
        <p:sp>
          <p:nvSpPr>
            <p:cNvPr id="44" name="矩形 43"/>
            <p:cNvSpPr/>
            <p:nvPr/>
          </p:nvSpPr>
          <p:spPr>
            <a:xfrm>
              <a:off x="1189" y="8684"/>
              <a:ext cx="16627" cy="2468"/>
            </a:xfrm>
            <a:prstGeom prst="rect">
              <a:avLst/>
            </a:prstGeom>
          </p:spPr>
          <p:txBody>
            <a:bodyPr wrap="square">
              <a:spAutoFit/>
            </a:bodyPr>
            <a:lstStyle/>
            <a:p>
              <a:pPr marL="287020" lvl="1" indent="-285750" algn="just" defTabSz="330200">
                <a:lnSpc>
                  <a:spcPct val="130000"/>
                </a:lnSpc>
                <a:spcBef>
                  <a:spcPts val="0"/>
                </a:spcBef>
                <a:buClr>
                  <a:srgbClr val="267FC3"/>
                </a:buClr>
                <a:buFont typeface="Arial" panose="020B0604020202020204" pitchFamily="34" charset="0"/>
                <a:buChar char="•"/>
                <a:tabLst>
                  <a:tab pos="8521700" algn="r"/>
                </a:tabLst>
              </a:pP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sym typeface="+mn-lt"/>
                </a:rPr>
                <a:t>业绩差距</a:t>
              </a:r>
              <a:r>
                <a:rPr lang="en-US" altLang="zh-CN" sz="1400" b="1" dirty="0">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是现有经营结果和期望值之间差距的一种量化的陈述</a:t>
              </a:r>
            </a:p>
            <a:p>
              <a:pPr marL="287020" lvl="1" indent="-285750" algn="just" defTabSz="330200">
                <a:lnSpc>
                  <a:spcPct val="130000"/>
                </a:lnSpc>
                <a:spcBef>
                  <a:spcPts val="0"/>
                </a:spcBef>
                <a:buClr>
                  <a:srgbClr val="267FC3"/>
                </a:buClr>
                <a:buFont typeface="Arial" panose="020B0604020202020204" pitchFamily="34" charset="0"/>
                <a:buChar char="•"/>
                <a:tabLst>
                  <a:tab pos="8521700" algn="r"/>
                </a:tabLst>
              </a:pP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sym typeface="+mn-lt"/>
                </a:rPr>
                <a:t>机会差距</a:t>
              </a:r>
              <a:r>
                <a:rPr lang="en-US" altLang="zh-CN" sz="1400" b="1" dirty="0">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是现有经营结果和新的业务设计所能带来的经营结果之间差距的一种量化的评估</a:t>
              </a:r>
            </a:p>
            <a:p>
              <a:pPr marL="287020" lvl="1" indent="-285750" algn="just" defTabSz="330200">
                <a:lnSpc>
                  <a:spcPct val="130000"/>
                </a:lnSpc>
                <a:spcBef>
                  <a:spcPts val="0"/>
                </a:spcBef>
                <a:buClr>
                  <a:srgbClr val="267FC3"/>
                </a:buClr>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业绩差距常常可以通过高效的执行填补，并且不需要改变业务设计。主要是要提高效率及运营水平</a:t>
              </a:r>
            </a:p>
            <a:p>
              <a:pPr marL="287020" lvl="1" indent="-285750" algn="just" defTabSz="330200">
                <a:lnSpc>
                  <a:spcPct val="130000"/>
                </a:lnSpc>
                <a:spcBef>
                  <a:spcPts val="0"/>
                </a:spcBef>
                <a:buClr>
                  <a:srgbClr val="267FC3"/>
                </a:buClr>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填补一个机会差距却需要有新的业务设计</a:t>
              </a:r>
            </a:p>
          </p:txBody>
        </p:sp>
      </p:grpSp>
      <p:sp>
        <p:nvSpPr>
          <p:cNvPr id="46" name="Rectangle 3"/>
          <p:cNvSpPr txBox="1">
            <a:spLocks noChangeArrowheads="1"/>
          </p:cNvSpPr>
          <p:nvPr/>
        </p:nvSpPr>
        <p:spPr bwMode="auto">
          <a:xfrm>
            <a:off x="1524000" y="6310595"/>
            <a:ext cx="8991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2000" b="1" dirty="0">
                <a:solidFill>
                  <a:schemeClr val="bg1"/>
                </a:solidFill>
                <a:effectLst/>
                <a:latin typeface="微软雅黑" panose="020B0503020204020204" pitchFamily="34" charset="-122"/>
                <a:ea typeface="微软雅黑" panose="020B0503020204020204" pitchFamily="34" charset="-122"/>
              </a:rPr>
              <a:t>如果只想做第</a:t>
            </a:r>
            <a:r>
              <a:rPr lang="en-US" altLang="zh-CN" sz="2000" b="1" dirty="0">
                <a:solidFill>
                  <a:schemeClr val="bg1"/>
                </a:solidFill>
                <a:effectLst/>
                <a:latin typeface="微软雅黑" panose="020B0503020204020204" pitchFamily="34" charset="-122"/>
                <a:ea typeface="微软雅黑" panose="020B0503020204020204" pitchFamily="34" charset="-122"/>
              </a:rPr>
              <a:t>2</a:t>
            </a:r>
            <a:r>
              <a:rPr lang="zh-CN" altLang="en-US" sz="2000" b="1" dirty="0">
                <a:solidFill>
                  <a:schemeClr val="bg1"/>
                </a:solidFill>
                <a:effectLst/>
                <a:latin typeface="微软雅黑" panose="020B0503020204020204" pitchFamily="34" charset="-122"/>
                <a:ea typeface="微软雅黑" panose="020B0503020204020204" pitchFamily="34" charset="-122"/>
              </a:rPr>
              <a:t>，最终很可能是第</a:t>
            </a:r>
            <a:r>
              <a:rPr lang="en-US" altLang="zh-CN" sz="2000" b="1" dirty="0">
                <a:solidFill>
                  <a:schemeClr val="bg1"/>
                </a:solidFill>
                <a:effectLst/>
                <a:latin typeface="微软雅黑" panose="020B0503020204020204" pitchFamily="34" charset="-122"/>
                <a:ea typeface="微软雅黑" panose="020B0503020204020204" pitchFamily="34" charset="-122"/>
              </a:rPr>
              <a:t>18</a:t>
            </a:r>
            <a:r>
              <a:rPr lang="zh-CN" altLang="en-US" sz="2000" b="1" dirty="0">
                <a:solidFill>
                  <a:schemeClr val="bg1"/>
                </a:solidFill>
                <a:effectLst/>
                <a:latin typeface="微软雅黑" panose="020B0503020204020204" pitchFamily="34" charset="-122"/>
                <a:ea typeface="微软雅黑" panose="020B0503020204020204" pitchFamily="34" charset="-122"/>
              </a:rPr>
              <a:t>，必须要有追求卓越的王者之气！</a:t>
            </a:r>
            <a:endParaRPr lang="en-US" altLang="zh-CN" sz="2000" b="1" dirty="0">
              <a:solidFill>
                <a:schemeClr val="bg1"/>
              </a:solidFill>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txBox="1"/>
          <p:nvPr/>
        </p:nvSpPr>
        <p:spPr>
          <a:xfrm>
            <a:off x="607604" y="488666"/>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2060"/>
                </a:solidFill>
                <a:latin typeface="微软雅黑" panose="020B0503020204020204" pitchFamily="34" charset="-122"/>
                <a:ea typeface="微软雅黑" panose="020B0503020204020204" pitchFamily="34" charset="-122"/>
                <a:cs typeface="+mn-ea"/>
                <a:sym typeface="+mn-lt"/>
              </a:rPr>
              <a:t>战略：包括市场洞察、战略意图、创新焦点、业务设计</a:t>
            </a:r>
          </a:p>
        </p:txBody>
      </p:sp>
      <p:grpSp>
        <p:nvGrpSpPr>
          <p:cNvPr id="4" name="组合 3"/>
          <p:cNvGrpSpPr/>
          <p:nvPr/>
        </p:nvGrpSpPr>
        <p:grpSpPr>
          <a:xfrm>
            <a:off x="2686685" y="1242695"/>
            <a:ext cx="6834505" cy="2248535"/>
            <a:chOff x="2678752" y="1711672"/>
            <a:chExt cx="6834495" cy="2248517"/>
          </a:xfrm>
        </p:grpSpPr>
        <p:pic>
          <p:nvPicPr>
            <p:cNvPr id="5" name="图片 4"/>
            <p:cNvPicPr>
              <a:picLocks noChangeAspect="1"/>
            </p:cNvPicPr>
            <p:nvPr/>
          </p:nvPicPr>
          <p:blipFill>
            <a:blip r:embed="rId2" cstate="email"/>
            <a:stretch>
              <a:fillRect/>
            </a:stretch>
          </p:blipFill>
          <p:spPr>
            <a:xfrm>
              <a:off x="2678752" y="1711672"/>
              <a:ext cx="6834495" cy="2248517"/>
            </a:xfrm>
            <a:prstGeom prst="rect">
              <a:avLst/>
            </a:prstGeom>
          </p:spPr>
        </p:pic>
        <p:sp>
          <p:nvSpPr>
            <p:cNvPr id="6" name="椭圆 5"/>
            <p:cNvSpPr/>
            <p:nvPr/>
          </p:nvSpPr>
          <p:spPr>
            <a:xfrm>
              <a:off x="3575720" y="1900354"/>
              <a:ext cx="1944216" cy="194421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grpSp>
        <p:nvGrpSpPr>
          <p:cNvPr id="34" name="组合 33"/>
          <p:cNvGrpSpPr/>
          <p:nvPr/>
        </p:nvGrpSpPr>
        <p:grpSpPr>
          <a:xfrm>
            <a:off x="1034415" y="3699400"/>
            <a:ext cx="9879965" cy="2753358"/>
            <a:chOff x="-2032" y="5614"/>
            <a:chExt cx="17895" cy="4660"/>
          </a:xfrm>
        </p:grpSpPr>
        <p:grpSp>
          <p:nvGrpSpPr>
            <p:cNvPr id="7" name="组合 6"/>
            <p:cNvGrpSpPr/>
            <p:nvPr/>
          </p:nvGrpSpPr>
          <p:grpSpPr>
            <a:xfrm>
              <a:off x="-1623" y="5614"/>
              <a:ext cx="17486" cy="1136"/>
              <a:chOff x="508230" y="2246050"/>
              <a:chExt cx="11103702" cy="721536"/>
            </a:xfrm>
          </p:grpSpPr>
          <p:grpSp>
            <p:nvGrpSpPr>
              <p:cNvPr id="8" name="组合 7"/>
              <p:cNvGrpSpPr/>
              <p:nvPr/>
            </p:nvGrpSpPr>
            <p:grpSpPr>
              <a:xfrm>
                <a:off x="508230" y="2246050"/>
                <a:ext cx="11103702" cy="721536"/>
                <a:chOff x="508230" y="2246050"/>
                <a:chExt cx="11103702" cy="721536"/>
              </a:xfrm>
            </p:grpSpPr>
            <p:grpSp>
              <p:nvGrpSpPr>
                <p:cNvPr id="9" name="组合 8"/>
                <p:cNvGrpSpPr/>
                <p:nvPr/>
              </p:nvGrpSpPr>
              <p:grpSpPr>
                <a:xfrm>
                  <a:off x="508230" y="2246050"/>
                  <a:ext cx="2082408" cy="664175"/>
                  <a:chOff x="331179" y="2287092"/>
                  <a:chExt cx="2082408" cy="664175"/>
                </a:xfrm>
              </p:grpSpPr>
              <p:sp>
                <p:nvSpPr>
                  <p:cNvPr id="10" name="文本框 9"/>
                  <p:cNvSpPr txBox="1"/>
                  <p:nvPr/>
                </p:nvSpPr>
                <p:spPr>
                  <a:xfrm>
                    <a:off x="331179" y="2287092"/>
                    <a:ext cx="441146" cy="561113"/>
                  </a:xfrm>
                  <a:prstGeom prst="rect">
                    <a:avLst/>
                  </a:prstGeom>
                  <a:noFill/>
                </p:spPr>
                <p:txBody>
                  <a:bodyPr wrap="square" rtlCol="0">
                    <a:spAutoFit/>
                  </a:bodyPr>
                  <a:lstStyle/>
                  <a:p>
                    <a:pPr algn="just"/>
                    <a:r>
                      <a:rPr lang="en-US" altLang="zh-CN" sz="2800" dirty="0">
                        <a:latin typeface="微软雅黑" panose="020B0503020204020204" pitchFamily="34" charset="-122"/>
                        <a:ea typeface="微软雅黑" panose="020B0503020204020204" pitchFamily="34" charset="-122"/>
                        <a:cs typeface="+mn-ea"/>
                        <a:sym typeface="+mn-lt"/>
                      </a:rPr>
                      <a:t>1</a:t>
                    </a:r>
                  </a:p>
                </p:txBody>
              </p:sp>
              <p:sp>
                <p:nvSpPr>
                  <p:cNvPr id="11" name="矩形 10"/>
                  <p:cNvSpPr/>
                  <p:nvPr/>
                </p:nvSpPr>
                <p:spPr>
                  <a:xfrm>
                    <a:off x="878205" y="2343736"/>
                    <a:ext cx="1535382" cy="607531"/>
                  </a:xfrm>
                  <a:prstGeom prst="rect">
                    <a:avLst/>
                  </a:prstGeom>
                </p:spPr>
                <p:txBody>
                  <a:bodyPr wrap="square">
                    <a:spAutoFit/>
                  </a:bodyPr>
                  <a:lstStyle/>
                  <a:p>
                    <a:pPr lvl="0" defTabSz="330200" eaLnBrk="1" fontAlgn="auto" hangingPunct="1">
                      <a:spcBef>
                        <a:spcPct val="20000"/>
                      </a:spcBef>
                      <a:spcAft>
                        <a:spcPts val="0"/>
                      </a:spcAft>
                      <a:buClr>
                        <a:srgbClr val="2183D9"/>
                      </a:buClr>
                      <a:tabLst>
                        <a:tab pos="8521700" algn="r"/>
                      </a:tabLst>
                      <a:defRPr/>
                    </a:pPr>
                    <a:r>
                      <a:rPr lang="zh-CN" altLang="en-US"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市场洞察</a:t>
                    </a:r>
                    <a:endParaRPr lang="en-US" altLang="zh-CN"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lvl="0" defTabSz="330200" eaLnBrk="1" fontAlgn="auto" hangingPunct="1">
                      <a:spcBef>
                        <a:spcPct val="20000"/>
                      </a:spcBef>
                      <a:spcAft>
                        <a:spcPts val="0"/>
                      </a:spcAft>
                      <a:buClr>
                        <a:srgbClr val="2183D9"/>
                      </a:buClr>
                      <a:tabLst>
                        <a:tab pos="8521700" algn="r"/>
                      </a:tabLst>
                      <a:defRPr/>
                    </a:pPr>
                    <a:r>
                      <a:rPr lang="en-US" altLang="zh-CN" sz="14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rPr>
                      <a:t>500</a:t>
                    </a:r>
                    <a:r>
                      <a:rPr lang="zh-CN" altLang="en-US" sz="14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rPr>
                      <a:t>页</a:t>
                    </a:r>
                  </a:p>
                </p:txBody>
              </p:sp>
            </p:grpSp>
            <p:cxnSp>
              <p:nvCxnSpPr>
                <p:cNvPr id="12" name="直接连接符 11"/>
                <p:cNvCxnSpPr/>
                <p:nvPr/>
              </p:nvCxnSpPr>
              <p:spPr>
                <a:xfrm>
                  <a:off x="546579" y="2967586"/>
                  <a:ext cx="11065353"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13" name="矩形 12"/>
              <p:cNvSpPr/>
              <p:nvPr/>
            </p:nvSpPr>
            <p:spPr>
              <a:xfrm>
                <a:off x="2697300" y="2304518"/>
                <a:ext cx="8914632" cy="462816"/>
              </a:xfrm>
              <a:prstGeom prst="rect">
                <a:avLst/>
              </a:prstGeom>
              <a:noFill/>
              <a:ln w="6350">
                <a:noFill/>
                <a:miter lim="800000"/>
              </a:ln>
            </p:spPr>
            <p:txBody>
              <a:bodyPr wrap="square" lIns="0" tIns="0" rIns="0" bIns="0" anchor="ctr">
                <a:spAutoFit/>
              </a:bodyPr>
              <a:lstStyle/>
              <a:p>
                <a:pPr marL="1270" lvl="1" algn="just" defTabSz="330200">
                  <a:spcBef>
                    <a:spcPct val="20000"/>
                  </a:spcBef>
                  <a:buClr>
                    <a:srgbClr val="267FC3"/>
                  </a:buClr>
                  <a:tabLst>
                    <a:tab pos="8521700" algn="r"/>
                  </a:tabLst>
                </a:pPr>
                <a:r>
                  <a:rPr lang="zh-CN" altLang="en-US" sz="1400" dirty="0">
                    <a:latin typeface="微软雅黑" panose="020B0503020204020204" pitchFamily="34" charset="-122"/>
                    <a:ea typeface="微软雅黑" panose="020B0503020204020204" pitchFamily="34" charset="-122"/>
                    <a:cs typeface="+mn-ea"/>
                  </a:rPr>
                  <a:t>了解客户需求、竞争者的动向、技术的发展和市场经济状况以找到机遇和风险。目标是解释市场上正在发生什么，重点关注价值转移趋势，以及这些改变对公司来说意味着什么</a:t>
                </a:r>
              </a:p>
            </p:txBody>
          </p:sp>
        </p:grpSp>
        <p:grpSp>
          <p:nvGrpSpPr>
            <p:cNvPr id="14" name="组合 13"/>
            <p:cNvGrpSpPr/>
            <p:nvPr/>
          </p:nvGrpSpPr>
          <p:grpSpPr>
            <a:xfrm>
              <a:off x="-2032" y="6779"/>
              <a:ext cx="17895" cy="1167"/>
              <a:chOff x="248617" y="2246050"/>
              <a:chExt cx="11363315" cy="741323"/>
            </a:xfrm>
          </p:grpSpPr>
          <p:grpSp>
            <p:nvGrpSpPr>
              <p:cNvPr id="15" name="组合 14"/>
              <p:cNvGrpSpPr/>
              <p:nvPr/>
            </p:nvGrpSpPr>
            <p:grpSpPr>
              <a:xfrm>
                <a:off x="248617" y="2246050"/>
                <a:ext cx="11065353" cy="741323"/>
                <a:chOff x="248617" y="2246050"/>
                <a:chExt cx="11065353" cy="741323"/>
              </a:xfrm>
            </p:grpSpPr>
            <p:grpSp>
              <p:nvGrpSpPr>
                <p:cNvPr id="16" name="组合 15"/>
                <p:cNvGrpSpPr/>
                <p:nvPr/>
              </p:nvGrpSpPr>
              <p:grpSpPr>
                <a:xfrm>
                  <a:off x="508230" y="2246050"/>
                  <a:ext cx="1896048" cy="741323"/>
                  <a:chOff x="331179" y="2287092"/>
                  <a:chExt cx="1896048" cy="741323"/>
                </a:xfrm>
              </p:grpSpPr>
              <p:sp>
                <p:nvSpPr>
                  <p:cNvPr id="17" name="文本框 16"/>
                  <p:cNvSpPr txBox="1"/>
                  <p:nvPr/>
                </p:nvSpPr>
                <p:spPr>
                  <a:xfrm>
                    <a:off x="331179" y="2287092"/>
                    <a:ext cx="441146" cy="561140"/>
                  </a:xfrm>
                  <a:prstGeom prst="rect">
                    <a:avLst/>
                  </a:prstGeom>
                  <a:noFill/>
                </p:spPr>
                <p:txBody>
                  <a:bodyPr wrap="square" rtlCol="0">
                    <a:spAutoFit/>
                  </a:bodyPr>
                  <a:lstStyle/>
                  <a:p>
                    <a:pPr algn="just"/>
                    <a:r>
                      <a:rPr lang="en-US" altLang="zh-CN" sz="2800" dirty="0">
                        <a:latin typeface="微软雅黑" panose="020B0503020204020204" pitchFamily="34" charset="-122"/>
                        <a:ea typeface="微软雅黑" panose="020B0503020204020204" pitchFamily="34" charset="-122"/>
                        <a:cs typeface="+mn-ea"/>
                        <a:sym typeface="+mn-lt"/>
                      </a:rPr>
                      <a:t>2</a:t>
                    </a:r>
                  </a:p>
                </p:txBody>
              </p:sp>
              <p:sp>
                <p:nvSpPr>
                  <p:cNvPr id="18" name="矩形 17"/>
                  <p:cNvSpPr/>
                  <p:nvPr/>
                </p:nvSpPr>
                <p:spPr>
                  <a:xfrm>
                    <a:off x="878205" y="2420854"/>
                    <a:ext cx="1349022" cy="607561"/>
                  </a:xfrm>
                  <a:prstGeom prst="rect">
                    <a:avLst/>
                  </a:prstGeom>
                </p:spPr>
                <p:txBody>
                  <a:bodyPr wrap="square">
                    <a:spAutoFit/>
                  </a:bodyPr>
                  <a:lstStyle/>
                  <a:p>
                    <a:pPr lvl="0" defTabSz="330200" eaLnBrk="1" fontAlgn="auto" hangingPunct="1">
                      <a:spcBef>
                        <a:spcPct val="20000"/>
                      </a:spcBef>
                      <a:spcAft>
                        <a:spcPts val="0"/>
                      </a:spcAft>
                      <a:buClr>
                        <a:srgbClr val="2183D9"/>
                      </a:buClr>
                      <a:tabLst>
                        <a:tab pos="8521700" algn="r"/>
                      </a:tabLst>
                      <a:defRPr/>
                    </a:pPr>
                    <a:r>
                      <a:rPr lang="zh-CN" altLang="en-US"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战略意图</a:t>
                    </a:r>
                    <a:endParaRPr lang="en-US" altLang="zh-CN"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lvl="0" defTabSz="330200" eaLnBrk="1" fontAlgn="auto" hangingPunct="1">
                      <a:spcBef>
                        <a:spcPct val="20000"/>
                      </a:spcBef>
                      <a:spcAft>
                        <a:spcPts val="0"/>
                      </a:spcAft>
                      <a:buClr>
                        <a:srgbClr val="2183D9"/>
                      </a:buClr>
                      <a:tabLst>
                        <a:tab pos="8521700" algn="r"/>
                      </a:tabLst>
                      <a:defRPr/>
                    </a:pPr>
                    <a:r>
                      <a:rPr lang="en-US" altLang="zh-CN" sz="14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rPr>
                      <a:t>5</a:t>
                    </a:r>
                    <a:r>
                      <a:rPr lang="zh-CN" altLang="en-US" sz="14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rPr>
                      <a:t>条</a:t>
                    </a:r>
                  </a:p>
                </p:txBody>
              </p:sp>
            </p:grpSp>
            <p:cxnSp>
              <p:nvCxnSpPr>
                <p:cNvPr id="19" name="直接连接符 18"/>
                <p:cNvCxnSpPr/>
                <p:nvPr/>
              </p:nvCxnSpPr>
              <p:spPr>
                <a:xfrm>
                  <a:off x="248617" y="2986032"/>
                  <a:ext cx="11065353"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20" name="矩形 19"/>
              <p:cNvSpPr/>
              <p:nvPr/>
            </p:nvSpPr>
            <p:spPr>
              <a:xfrm>
                <a:off x="2697300" y="2420223"/>
                <a:ext cx="8914632" cy="231427"/>
              </a:xfrm>
              <a:prstGeom prst="rect">
                <a:avLst/>
              </a:prstGeom>
              <a:noFill/>
              <a:ln w="6350">
                <a:noFill/>
                <a:miter lim="800000"/>
              </a:ln>
            </p:spPr>
            <p:txBody>
              <a:bodyPr wrap="square" lIns="0" tIns="0" rIns="0" bIns="0" anchor="ctr">
                <a:spAutoFit/>
              </a:bodyPr>
              <a:lstStyle/>
              <a:p>
                <a:pPr marL="1270" lvl="1" algn="just" defTabSz="330200">
                  <a:spcBef>
                    <a:spcPct val="20000"/>
                  </a:spcBef>
                  <a:buClr>
                    <a:srgbClr val="267FC3"/>
                  </a:buClr>
                  <a:tabLst>
                    <a:tab pos="8521700" algn="r"/>
                  </a:tabLst>
                </a:pPr>
                <a:r>
                  <a:rPr lang="zh-CN" altLang="en-US" sz="1400" dirty="0">
                    <a:latin typeface="微软雅黑" panose="020B0503020204020204" pitchFamily="34" charset="-122"/>
                    <a:ea typeface="微软雅黑" panose="020B0503020204020204" pitchFamily="34" charset="-122"/>
                    <a:cs typeface="+mn-ea"/>
                  </a:rPr>
                  <a:t>组织机构的方向和最终目标，与公司的战略重点相一致</a:t>
                </a:r>
              </a:p>
            </p:txBody>
          </p:sp>
        </p:grpSp>
        <p:grpSp>
          <p:nvGrpSpPr>
            <p:cNvPr id="21" name="组合 20"/>
            <p:cNvGrpSpPr/>
            <p:nvPr/>
          </p:nvGrpSpPr>
          <p:grpSpPr>
            <a:xfrm>
              <a:off x="-1623" y="7943"/>
              <a:ext cx="17486" cy="1288"/>
              <a:chOff x="508230" y="2246050"/>
              <a:chExt cx="11103702" cy="818644"/>
            </a:xfrm>
          </p:grpSpPr>
          <p:grpSp>
            <p:nvGrpSpPr>
              <p:cNvPr id="22" name="组合 21"/>
              <p:cNvGrpSpPr/>
              <p:nvPr/>
            </p:nvGrpSpPr>
            <p:grpSpPr>
              <a:xfrm>
                <a:off x="508230" y="2246050"/>
                <a:ext cx="11103702" cy="818644"/>
                <a:chOff x="508230" y="2246050"/>
                <a:chExt cx="11103702" cy="818644"/>
              </a:xfrm>
            </p:grpSpPr>
            <p:grpSp>
              <p:nvGrpSpPr>
                <p:cNvPr id="23" name="组合 22"/>
                <p:cNvGrpSpPr/>
                <p:nvPr/>
              </p:nvGrpSpPr>
              <p:grpSpPr>
                <a:xfrm>
                  <a:off x="508230" y="2246050"/>
                  <a:ext cx="2082408" cy="818644"/>
                  <a:chOff x="331179" y="2287092"/>
                  <a:chExt cx="2082408" cy="818644"/>
                </a:xfrm>
              </p:grpSpPr>
              <p:sp>
                <p:nvSpPr>
                  <p:cNvPr id="24" name="文本框 23"/>
                  <p:cNvSpPr txBox="1"/>
                  <p:nvPr/>
                </p:nvSpPr>
                <p:spPr>
                  <a:xfrm>
                    <a:off x="331179" y="2287092"/>
                    <a:ext cx="441146" cy="561328"/>
                  </a:xfrm>
                  <a:prstGeom prst="rect">
                    <a:avLst/>
                  </a:prstGeom>
                  <a:noFill/>
                </p:spPr>
                <p:txBody>
                  <a:bodyPr wrap="square" rtlCol="0">
                    <a:spAutoFit/>
                  </a:bodyPr>
                  <a:lstStyle/>
                  <a:p>
                    <a:pPr algn="just"/>
                    <a:r>
                      <a:rPr lang="en-US" altLang="zh-CN" sz="2800" dirty="0">
                        <a:latin typeface="微软雅黑" panose="020B0503020204020204" pitchFamily="34" charset="-122"/>
                        <a:ea typeface="微软雅黑" panose="020B0503020204020204" pitchFamily="34" charset="-122"/>
                        <a:cs typeface="+mn-ea"/>
                        <a:sym typeface="+mn-lt"/>
                      </a:rPr>
                      <a:t>3</a:t>
                    </a:r>
                  </a:p>
                </p:txBody>
              </p:sp>
              <p:sp>
                <p:nvSpPr>
                  <p:cNvPr id="25" name="矩形 24"/>
                  <p:cNvSpPr/>
                  <p:nvPr/>
                </p:nvSpPr>
                <p:spPr>
                  <a:xfrm>
                    <a:off x="878205" y="2497972"/>
                    <a:ext cx="1535382" cy="607764"/>
                  </a:xfrm>
                  <a:prstGeom prst="rect">
                    <a:avLst/>
                  </a:prstGeom>
                </p:spPr>
                <p:txBody>
                  <a:bodyPr wrap="square">
                    <a:spAutoFit/>
                  </a:bodyPr>
                  <a:lstStyle/>
                  <a:p>
                    <a:pPr lvl="0" defTabSz="330200" eaLnBrk="1" fontAlgn="auto" hangingPunct="1">
                      <a:spcBef>
                        <a:spcPct val="20000"/>
                      </a:spcBef>
                      <a:spcAft>
                        <a:spcPts val="0"/>
                      </a:spcAft>
                      <a:buClr>
                        <a:srgbClr val="2183D9"/>
                      </a:buClr>
                      <a:tabLst>
                        <a:tab pos="8521700" algn="r"/>
                      </a:tabLst>
                      <a:defRPr/>
                    </a:pPr>
                    <a:r>
                      <a:rPr lang="zh-CN" altLang="en-US"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创新焦点</a:t>
                    </a:r>
                    <a:endParaRPr lang="en-US" altLang="zh-CN"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lvl="0" defTabSz="330200" eaLnBrk="1" fontAlgn="auto" hangingPunct="1">
                      <a:spcBef>
                        <a:spcPct val="20000"/>
                      </a:spcBef>
                      <a:spcAft>
                        <a:spcPts val="0"/>
                      </a:spcAft>
                      <a:buClr>
                        <a:srgbClr val="2183D9"/>
                      </a:buClr>
                      <a:tabLst>
                        <a:tab pos="8521700" algn="r"/>
                      </a:tabLst>
                      <a:defRPr/>
                    </a:pPr>
                    <a:r>
                      <a:rPr lang="en-US" altLang="zh-CN" sz="14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rPr>
                      <a:t>5</a:t>
                    </a:r>
                    <a:r>
                      <a:rPr lang="zh-CN" altLang="en-US" sz="14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rPr>
                      <a:t>条</a:t>
                    </a:r>
                  </a:p>
                </p:txBody>
              </p:sp>
            </p:grpSp>
            <p:cxnSp>
              <p:nvCxnSpPr>
                <p:cNvPr id="26" name="直接连接符 25"/>
                <p:cNvCxnSpPr/>
                <p:nvPr/>
              </p:nvCxnSpPr>
              <p:spPr>
                <a:xfrm>
                  <a:off x="546579" y="2967586"/>
                  <a:ext cx="11065353"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27" name="矩形 26"/>
              <p:cNvSpPr/>
              <p:nvPr/>
            </p:nvSpPr>
            <p:spPr>
              <a:xfrm>
                <a:off x="2697300" y="2304431"/>
                <a:ext cx="8914632" cy="463007"/>
              </a:xfrm>
              <a:prstGeom prst="rect">
                <a:avLst/>
              </a:prstGeom>
              <a:noFill/>
              <a:ln w="6350">
                <a:noFill/>
                <a:miter lim="800000"/>
              </a:ln>
            </p:spPr>
            <p:txBody>
              <a:bodyPr wrap="square" lIns="0" tIns="0" rIns="0" bIns="0" anchor="ctr">
                <a:spAutoFit/>
              </a:bodyPr>
              <a:lstStyle/>
              <a:p>
                <a:pPr marL="1270" lvl="1" algn="just" defTabSz="330200">
                  <a:spcBef>
                    <a:spcPct val="20000"/>
                  </a:spcBef>
                  <a:buClr>
                    <a:srgbClr val="267FC3"/>
                  </a:buClr>
                  <a:tabLst>
                    <a:tab pos="8521700" algn="r"/>
                  </a:tabLst>
                </a:pPr>
                <a:r>
                  <a:rPr lang="zh-CN" altLang="en-US" sz="1400" dirty="0">
                    <a:latin typeface="微软雅黑" panose="020B0503020204020204" pitchFamily="34" charset="-122"/>
                    <a:ea typeface="微软雅黑" panose="020B0503020204020204" pitchFamily="34" charset="-122"/>
                    <a:cs typeface="+mn-ea"/>
                  </a:rPr>
                  <a:t>进行与市场同步的探索与试验。从广泛的资源中过滤想法，通过试点和深入市场的实验探索新想法，谨慎地进行投资和处理资源，以应对行业的变化</a:t>
                </a:r>
              </a:p>
            </p:txBody>
          </p:sp>
        </p:grpSp>
        <p:grpSp>
          <p:nvGrpSpPr>
            <p:cNvPr id="28" name="组合 27"/>
            <p:cNvGrpSpPr/>
            <p:nvPr/>
          </p:nvGrpSpPr>
          <p:grpSpPr>
            <a:xfrm>
              <a:off x="-1623" y="9109"/>
              <a:ext cx="17486" cy="1165"/>
              <a:chOff x="508230" y="2246082"/>
              <a:chExt cx="11103702" cy="739813"/>
            </a:xfrm>
          </p:grpSpPr>
          <p:grpSp>
            <p:nvGrpSpPr>
              <p:cNvPr id="29" name="组合 28"/>
              <p:cNvGrpSpPr/>
              <p:nvPr/>
            </p:nvGrpSpPr>
            <p:grpSpPr>
              <a:xfrm>
                <a:off x="508230" y="2246082"/>
                <a:ext cx="1896048" cy="739813"/>
                <a:chOff x="331179" y="2287124"/>
                <a:chExt cx="1896048" cy="739813"/>
              </a:xfrm>
            </p:grpSpPr>
            <p:sp>
              <p:nvSpPr>
                <p:cNvPr id="30" name="文本框 29"/>
                <p:cNvSpPr txBox="1"/>
                <p:nvPr/>
              </p:nvSpPr>
              <p:spPr>
                <a:xfrm>
                  <a:off x="331179" y="2287124"/>
                  <a:ext cx="441146" cy="560980"/>
                </a:xfrm>
                <a:prstGeom prst="rect">
                  <a:avLst/>
                </a:prstGeom>
                <a:noFill/>
              </p:spPr>
              <p:txBody>
                <a:bodyPr wrap="square" rtlCol="0">
                  <a:spAutoFit/>
                </a:bodyPr>
                <a:lstStyle/>
                <a:p>
                  <a:pPr algn="just"/>
                  <a:r>
                    <a:rPr lang="en-US" altLang="zh-CN" sz="2800" dirty="0">
                      <a:latin typeface="微软雅黑" panose="020B0503020204020204" pitchFamily="34" charset="-122"/>
                      <a:ea typeface="微软雅黑" panose="020B0503020204020204" pitchFamily="34" charset="-122"/>
                      <a:cs typeface="+mn-ea"/>
                      <a:sym typeface="+mn-lt"/>
                    </a:rPr>
                    <a:t>4</a:t>
                  </a:r>
                </a:p>
              </p:txBody>
            </p:sp>
            <p:sp>
              <p:nvSpPr>
                <p:cNvPr id="31" name="矩形 30"/>
                <p:cNvSpPr/>
                <p:nvPr/>
              </p:nvSpPr>
              <p:spPr>
                <a:xfrm>
                  <a:off x="878205" y="2419549"/>
                  <a:ext cx="1349022" cy="607388"/>
                </a:xfrm>
                <a:prstGeom prst="rect">
                  <a:avLst/>
                </a:prstGeom>
              </p:spPr>
              <p:txBody>
                <a:bodyPr wrap="square">
                  <a:spAutoFit/>
                </a:bodyPr>
                <a:lstStyle/>
                <a:p>
                  <a:pPr lvl="0" defTabSz="330200" eaLnBrk="1" fontAlgn="auto" hangingPunct="1">
                    <a:spcBef>
                      <a:spcPct val="20000"/>
                    </a:spcBef>
                    <a:spcAft>
                      <a:spcPts val="0"/>
                    </a:spcAft>
                    <a:buClr>
                      <a:srgbClr val="2183D9"/>
                    </a:buClr>
                    <a:tabLst>
                      <a:tab pos="8521700" algn="r"/>
                    </a:tabLst>
                    <a:defRPr/>
                  </a:pPr>
                  <a:r>
                    <a:rPr lang="zh-CN" altLang="en-US"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业务设计</a:t>
                  </a:r>
                  <a:endParaRPr lang="en-US" altLang="zh-CN"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lvl="0" defTabSz="330200" eaLnBrk="1" fontAlgn="auto" hangingPunct="1">
                    <a:spcBef>
                      <a:spcPct val="20000"/>
                    </a:spcBef>
                    <a:spcAft>
                      <a:spcPts val="0"/>
                    </a:spcAft>
                    <a:buClr>
                      <a:srgbClr val="2183D9"/>
                    </a:buClr>
                    <a:tabLst>
                      <a:tab pos="8521700" algn="r"/>
                    </a:tabLst>
                    <a:defRPr/>
                  </a:pPr>
                  <a:r>
                    <a:rPr lang="en-US" altLang="zh-CN" sz="14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rPr>
                    <a:t>1-10</a:t>
                  </a:r>
                  <a:r>
                    <a:rPr lang="zh-CN" altLang="en-US" sz="14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rPr>
                    <a:t>级</a:t>
                  </a:r>
                </a:p>
              </p:txBody>
            </p:sp>
          </p:grpSp>
          <p:sp>
            <p:nvSpPr>
              <p:cNvPr id="32" name="矩形 31"/>
              <p:cNvSpPr/>
              <p:nvPr/>
            </p:nvSpPr>
            <p:spPr>
              <a:xfrm>
                <a:off x="2697300" y="2458830"/>
                <a:ext cx="8914632" cy="462706"/>
              </a:xfrm>
              <a:prstGeom prst="rect">
                <a:avLst/>
              </a:prstGeom>
              <a:noFill/>
              <a:ln w="6350">
                <a:noFill/>
                <a:miter lim="800000"/>
              </a:ln>
            </p:spPr>
            <p:txBody>
              <a:bodyPr wrap="square" lIns="0" tIns="0" rIns="0" bIns="0" anchor="ctr">
                <a:spAutoFit/>
              </a:bodyPr>
              <a:lstStyle/>
              <a:p>
                <a:pPr marL="1270" lvl="1" algn="just" defTabSz="330200">
                  <a:spcBef>
                    <a:spcPct val="20000"/>
                  </a:spcBef>
                  <a:buClr>
                    <a:srgbClr val="267FC3"/>
                  </a:buClr>
                  <a:tabLst>
                    <a:tab pos="8521700" algn="r"/>
                  </a:tabLst>
                </a:pPr>
                <a:r>
                  <a:rPr lang="zh-CN" altLang="en-US" sz="1400" dirty="0">
                    <a:latin typeface="微软雅黑" panose="020B0503020204020204" pitchFamily="34" charset="-122"/>
                    <a:ea typeface="微软雅黑" panose="020B0503020204020204" pitchFamily="34" charset="-122"/>
                    <a:cs typeface="+mn-ea"/>
                  </a:rPr>
                  <a:t>对外部的深入理解，为利用内部能力和持续增加价值探索的业务设计提供了基础。业务设计涉及六要素：</a:t>
                </a:r>
                <a:r>
                  <a:rPr lang="zh-CN" altLang="en-US" sz="1400" b="1" dirty="0">
                    <a:latin typeface="微软雅黑" panose="020B0503020204020204" pitchFamily="34" charset="-122"/>
                    <a:ea typeface="微软雅黑" panose="020B0503020204020204" pitchFamily="34" charset="-122"/>
                    <a:cs typeface="+mn-ea"/>
                  </a:rPr>
                  <a:t>客户选择、价值主张、价值获取、活动范围，战略控制点和风险管理</a:t>
                </a: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3005"/>
            <a:ext cx="12206605" cy="522605"/>
          </a:xfrm>
          <a:prstGeom prst="rect">
            <a:avLst/>
          </a:prstGeom>
        </p:spPr>
      </p:pic>
      <p:sp>
        <p:nvSpPr>
          <p:cNvPr id="2" name="标题 1"/>
          <p:cNvSpPr txBox="1"/>
          <p:nvPr/>
        </p:nvSpPr>
        <p:spPr>
          <a:xfrm>
            <a:off x="639097" y="485090"/>
            <a:ext cx="8633942" cy="266980"/>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2060"/>
                </a:solidFill>
                <a:latin typeface="微软雅黑" panose="020B0503020204020204" pitchFamily="34" charset="-122"/>
                <a:ea typeface="微软雅黑" panose="020B0503020204020204" pitchFamily="34" charset="-122"/>
                <a:cs typeface="+mn-ea"/>
                <a:sym typeface="+mn-lt"/>
              </a:rPr>
              <a:t>战略五看：多年积累</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随时刷新，一年一版的</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500</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页厚书</a:t>
            </a:r>
          </a:p>
        </p:txBody>
      </p:sp>
      <p:grpSp>
        <p:nvGrpSpPr>
          <p:cNvPr id="65" name="组合 64"/>
          <p:cNvGrpSpPr/>
          <p:nvPr/>
        </p:nvGrpSpPr>
        <p:grpSpPr>
          <a:xfrm>
            <a:off x="2193444" y="1249198"/>
            <a:ext cx="7993226" cy="4332222"/>
            <a:chOff x="840" y="2642"/>
            <a:chExt cx="15028" cy="6623"/>
          </a:xfrm>
        </p:grpSpPr>
        <p:sp>
          <p:nvSpPr>
            <p:cNvPr id="3" name="圆角矩形 1"/>
            <p:cNvSpPr/>
            <p:nvPr/>
          </p:nvSpPr>
          <p:spPr>
            <a:xfrm>
              <a:off x="2382" y="2642"/>
              <a:ext cx="1785" cy="1307"/>
            </a:xfrm>
            <a:prstGeom prst="roundRect">
              <a:avLst/>
            </a:prstGeom>
            <a:solidFill>
              <a:srgbClr val="D4EA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sp>
          <p:nvSpPr>
            <p:cNvPr id="35" name="圆角矩形 2"/>
            <p:cNvSpPr/>
            <p:nvPr/>
          </p:nvSpPr>
          <p:spPr>
            <a:xfrm>
              <a:off x="2339" y="4532"/>
              <a:ext cx="1785" cy="1307"/>
            </a:xfrm>
            <a:prstGeom prst="roundRect">
              <a:avLst/>
            </a:prstGeom>
            <a:solidFill>
              <a:srgbClr val="D4EA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sp>
          <p:nvSpPr>
            <p:cNvPr id="36" name="圆角矩形 3"/>
            <p:cNvSpPr/>
            <p:nvPr/>
          </p:nvSpPr>
          <p:spPr>
            <a:xfrm>
              <a:off x="2339" y="6500"/>
              <a:ext cx="1785" cy="1307"/>
            </a:xfrm>
            <a:prstGeom prst="roundRect">
              <a:avLst/>
            </a:prstGeom>
            <a:solidFill>
              <a:srgbClr val="D4EA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sp>
          <p:nvSpPr>
            <p:cNvPr id="37" name="圆角矩形 4"/>
            <p:cNvSpPr/>
            <p:nvPr/>
          </p:nvSpPr>
          <p:spPr>
            <a:xfrm>
              <a:off x="2339" y="8334"/>
              <a:ext cx="1785" cy="919"/>
            </a:xfrm>
            <a:prstGeom prst="roundRect">
              <a:avLst/>
            </a:prstGeom>
            <a:solidFill>
              <a:srgbClr val="D4EA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sp>
          <p:nvSpPr>
            <p:cNvPr id="38" name="object 29"/>
            <p:cNvSpPr txBox="1"/>
            <p:nvPr/>
          </p:nvSpPr>
          <p:spPr>
            <a:xfrm>
              <a:off x="10140" y="3944"/>
              <a:ext cx="1595" cy="706"/>
            </a:xfrm>
            <a:prstGeom prst="rect">
              <a:avLst/>
            </a:prstGeom>
          </p:spPr>
          <p:txBody>
            <a:bodyPr vert="horz" wrap="square" lIns="0" tIns="0" rIns="0" bIns="0" rtlCol="0">
              <a:spAutoFit/>
            </a:bodyPr>
            <a:lstStyle/>
            <a:p>
              <a:pPr marL="12700" marR="6350" algn="just">
                <a:lnSpc>
                  <a:spcPct val="100000"/>
                </a:lnSpc>
              </a:pPr>
              <a:r>
                <a:rPr sz="1500" spc="-15" dirty="0" err="1">
                  <a:solidFill>
                    <a:srgbClr val="C00000"/>
                  </a:solidFill>
                  <a:latin typeface="微软雅黑" panose="020B0503020204020204" pitchFamily="34" charset="-122"/>
                  <a:ea typeface="微软雅黑" panose="020B0503020204020204" pitchFamily="34" charset="-122"/>
                  <a:cs typeface="+mn-ea"/>
                  <a:sym typeface="+mn-lt"/>
                </a:rPr>
                <a:t>外部机</a:t>
              </a:r>
              <a:r>
                <a:rPr sz="1500" spc="-25" dirty="0" err="1">
                  <a:solidFill>
                    <a:srgbClr val="C00000"/>
                  </a:solidFill>
                  <a:latin typeface="微软雅黑" panose="020B0503020204020204" pitchFamily="34" charset="-122"/>
                  <a:ea typeface="微软雅黑" panose="020B0503020204020204" pitchFamily="34" charset="-122"/>
                  <a:cs typeface="+mn-ea"/>
                  <a:sym typeface="+mn-lt"/>
                </a:rPr>
                <a:t>会和威</a:t>
              </a:r>
              <a:r>
                <a:rPr sz="1500" spc="-20" dirty="0" err="1">
                  <a:solidFill>
                    <a:srgbClr val="C00000"/>
                  </a:solidFill>
                  <a:latin typeface="微软雅黑" panose="020B0503020204020204" pitchFamily="34" charset="-122"/>
                  <a:ea typeface="微软雅黑" panose="020B0503020204020204" pitchFamily="34" charset="-122"/>
                  <a:cs typeface="+mn-ea"/>
                  <a:sym typeface="+mn-lt"/>
                </a:rPr>
                <a:t>胁</a:t>
              </a:r>
              <a:endParaRPr sz="1500" spc="-20" dirty="0">
                <a:solidFill>
                  <a:srgbClr val="C00000"/>
                </a:solidFill>
                <a:latin typeface="微软雅黑" panose="020B0503020204020204" pitchFamily="34" charset="-122"/>
                <a:ea typeface="微软雅黑" panose="020B0503020204020204" pitchFamily="34" charset="-122"/>
                <a:cs typeface="+mn-ea"/>
                <a:sym typeface="+mn-lt"/>
              </a:endParaRPr>
            </a:p>
          </p:txBody>
        </p:sp>
        <p:sp>
          <p:nvSpPr>
            <p:cNvPr id="39" name="object 30"/>
            <p:cNvSpPr txBox="1"/>
            <p:nvPr/>
          </p:nvSpPr>
          <p:spPr>
            <a:xfrm>
              <a:off x="9964" y="7624"/>
              <a:ext cx="1668" cy="706"/>
            </a:xfrm>
            <a:prstGeom prst="rect">
              <a:avLst/>
            </a:prstGeom>
          </p:spPr>
          <p:txBody>
            <a:bodyPr vert="horz" wrap="square" lIns="0" tIns="0" rIns="0" bIns="0" rtlCol="0">
              <a:spAutoFit/>
            </a:bodyPr>
            <a:lstStyle/>
            <a:p>
              <a:pPr marL="12700" marR="6350" algn="just">
                <a:lnSpc>
                  <a:spcPct val="100000"/>
                </a:lnSpc>
              </a:pPr>
              <a:r>
                <a:rPr sz="1500" spc="-15" dirty="0">
                  <a:solidFill>
                    <a:srgbClr val="C00000"/>
                  </a:solidFill>
                  <a:latin typeface="微软雅黑" panose="020B0503020204020204" pitchFamily="34" charset="-122"/>
                  <a:ea typeface="微软雅黑" panose="020B0503020204020204" pitchFamily="34" charset="-122"/>
                  <a:cs typeface="+mn-ea"/>
                  <a:sym typeface="+mn-lt"/>
                </a:rPr>
                <a:t>内部优势和劣势</a:t>
              </a:r>
            </a:p>
          </p:txBody>
        </p:sp>
        <p:sp>
          <p:nvSpPr>
            <p:cNvPr id="40" name="object 31"/>
            <p:cNvSpPr txBox="1"/>
            <p:nvPr/>
          </p:nvSpPr>
          <p:spPr>
            <a:xfrm>
              <a:off x="12836" y="6646"/>
              <a:ext cx="3032" cy="658"/>
            </a:xfrm>
            <a:prstGeom prst="rect">
              <a:avLst/>
            </a:prstGeom>
          </p:spPr>
          <p:txBody>
            <a:bodyPr vert="horz" wrap="square" lIns="0" tIns="0" rIns="0" bIns="0" rtlCol="0">
              <a:spAutoFit/>
            </a:bodyPr>
            <a:lstStyle/>
            <a:p>
              <a:pPr marL="1270" marR="6350" lvl="1" algn="just" defTabSz="330200">
                <a:spcBef>
                  <a:spcPts val="800"/>
                </a:spcBef>
                <a:buClr>
                  <a:srgbClr val="267FC3"/>
                </a:buClr>
                <a:buSzPct val="100000"/>
                <a:tabLst>
                  <a:tab pos="8521700" algn="r"/>
                </a:tabLst>
              </a:pPr>
              <a:r>
                <a:rPr lang="zh-CN" altLang="en-US"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通过</a:t>
              </a:r>
              <a:r>
                <a:rPr lang="en-US" altLang="zh-CN"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SPAN</a:t>
              </a:r>
              <a:r>
                <a:rPr lang="zh-CN" altLang="en-US"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图明确战略机会点</a:t>
              </a:r>
              <a:endParaRPr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1" name="object 8"/>
            <p:cNvSpPr txBox="1"/>
            <p:nvPr/>
          </p:nvSpPr>
          <p:spPr>
            <a:xfrm>
              <a:off x="2733" y="2924"/>
              <a:ext cx="998" cy="987"/>
            </a:xfrm>
            <a:prstGeom prst="rect">
              <a:avLst/>
            </a:prstGeom>
          </p:spPr>
          <p:txBody>
            <a:bodyPr vert="horz" wrap="square" lIns="0" tIns="0" rIns="0" bIns="0" rtlCol="0">
              <a:spAutoFit/>
            </a:bodyPr>
            <a:lstStyle/>
            <a:p>
              <a:pPr marL="12700">
                <a:lnSpc>
                  <a:spcPct val="100000"/>
                </a:lnSpc>
              </a:pPr>
              <a:r>
                <a:rPr sz="1400" b="1" spc="-25"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看</a:t>
              </a:r>
              <a:r>
                <a:rPr lang="zh-CN" altLang="en-US" sz="1400" b="1" spc="-25"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行业</a:t>
              </a:r>
              <a:r>
                <a:rPr lang="en-US" altLang="zh-CN" sz="1400" b="1" spc="-25"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sz="1400" b="1" spc="-25" dirty="0" err="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趋势</a:t>
              </a:r>
            </a:p>
          </p:txBody>
        </p:sp>
        <p:sp>
          <p:nvSpPr>
            <p:cNvPr id="42" name="object 9"/>
            <p:cNvSpPr txBox="1"/>
            <p:nvPr/>
          </p:nvSpPr>
          <p:spPr>
            <a:xfrm>
              <a:off x="4305" y="2705"/>
              <a:ext cx="5160" cy="329"/>
            </a:xfrm>
            <a:prstGeom prst="rect">
              <a:avLst/>
            </a:prstGeom>
          </p:spPr>
          <p:txBody>
            <a:bodyPr vert="horz" wrap="square" lIns="0" tIns="0" rIns="0" bIns="0" rtlCol="0">
              <a:spAutoFit/>
            </a:bodyPr>
            <a:lstStyle/>
            <a:p>
              <a:pPr marL="287020" lvl="1" indent="-285750" algn="just" defTabSz="330200">
                <a:spcBef>
                  <a:spcPts val="800"/>
                </a:spcBef>
                <a:buClr>
                  <a:srgbClr val="267FC3"/>
                </a:buClr>
                <a:buSzPct val="100000"/>
                <a:buFont typeface="Arial" panose="020B0604020202020204" pitchFamily="34" charset="0"/>
                <a:buChar char="•"/>
                <a:tabLst>
                  <a:tab pos="8521700" algn="r"/>
                </a:tabLst>
              </a:pPr>
              <a:r>
                <a:rPr lang="zh-CN" altLang="en-US" sz="1400" b="1" dirty="0">
                  <a:solidFill>
                    <a:srgbClr val="FF0000"/>
                  </a:solidFill>
                  <a:latin typeface="微软雅黑" panose="020B0503020204020204" pitchFamily="34" charset="-122"/>
                  <a:ea typeface="微软雅黑" panose="020B0503020204020204" pitchFamily="34" charset="-122"/>
                  <a:cs typeface="+mn-ea"/>
                  <a:sym typeface="+mn-lt"/>
                </a:rPr>
                <a:t>价值转移趋势分析</a:t>
              </a:r>
            </a:p>
          </p:txBody>
        </p:sp>
        <p:sp>
          <p:nvSpPr>
            <p:cNvPr id="43" name="object 23"/>
            <p:cNvSpPr txBox="1"/>
            <p:nvPr/>
          </p:nvSpPr>
          <p:spPr>
            <a:xfrm>
              <a:off x="2733" y="6894"/>
              <a:ext cx="998" cy="658"/>
            </a:xfrm>
            <a:prstGeom prst="rect">
              <a:avLst/>
            </a:prstGeom>
          </p:spPr>
          <p:txBody>
            <a:bodyPr vert="horz" wrap="square" lIns="0" tIns="0" rIns="0" bIns="0" rtlCol="0">
              <a:spAutoFit/>
            </a:bodyPr>
            <a:lstStyle/>
            <a:p>
              <a:pPr marL="12700">
                <a:lnSpc>
                  <a:spcPct val="100000"/>
                </a:lnSpc>
              </a:pPr>
              <a:r>
                <a:rPr sz="1400" b="1" spc="-20" dirty="0">
                  <a:solidFill>
                    <a:srgbClr val="FF0000"/>
                  </a:solidFill>
                  <a:latin typeface="微软雅黑" panose="020B0503020204020204" pitchFamily="34" charset="-122"/>
                  <a:ea typeface="微软雅黑" panose="020B0503020204020204" pitchFamily="34" charset="-122"/>
                  <a:cs typeface="+mn-ea"/>
                  <a:sym typeface="+mn-lt"/>
                </a:rPr>
                <a:t>看</a:t>
              </a:r>
              <a:r>
                <a:rPr lang="zh-CN" altLang="en-US" sz="1400" b="1" spc="-20" dirty="0">
                  <a:solidFill>
                    <a:srgbClr val="0070C0"/>
                  </a:solidFill>
                  <a:latin typeface="微软雅黑" panose="020B0503020204020204" pitchFamily="34" charset="-122"/>
                  <a:ea typeface="微软雅黑" panose="020B0503020204020204" pitchFamily="34" charset="-122"/>
                  <a:cs typeface="+mn-ea"/>
                  <a:sym typeface="+mn-lt"/>
                </a:rPr>
                <a:t>竞争</a:t>
              </a:r>
            </a:p>
          </p:txBody>
        </p:sp>
        <p:sp>
          <p:nvSpPr>
            <p:cNvPr id="44" name="object 24"/>
            <p:cNvSpPr txBox="1"/>
            <p:nvPr/>
          </p:nvSpPr>
          <p:spPr>
            <a:xfrm>
              <a:off x="4305" y="6769"/>
              <a:ext cx="4516" cy="329"/>
            </a:xfrm>
            <a:prstGeom prst="rect">
              <a:avLst/>
            </a:prstGeom>
          </p:spPr>
          <p:txBody>
            <a:bodyPr vert="horz" wrap="square" lIns="0" tIns="0" rIns="0" bIns="0" rtlCol="0">
              <a:spAutoFit/>
            </a:bodyPr>
            <a:lstStyle/>
            <a:p>
              <a:pPr marL="287020" lvl="1" indent="-285750" algn="just" defTabSz="330200">
                <a:spcBef>
                  <a:spcPts val="800"/>
                </a:spcBef>
                <a:buClr>
                  <a:srgbClr val="267FC3"/>
                </a:buClr>
                <a:buSzPct val="100000"/>
                <a:buFont typeface="Arial" panose="020B0604020202020204" pitchFamily="34" charset="0"/>
                <a:buChar char="•"/>
                <a:tabLst>
                  <a:tab pos="8521700" algn="r"/>
                </a:tabLst>
              </a:pPr>
              <a:r>
                <a:rPr lang="zh-CN" altLang="en-US"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主要竞争对手</a:t>
              </a:r>
              <a:r>
                <a:rPr lang="en-US" altLang="zh-CN"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SP</a:t>
              </a:r>
              <a:r>
                <a:rPr lang="zh-CN" altLang="en-US"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分析</a:t>
              </a:r>
            </a:p>
          </p:txBody>
        </p:sp>
        <p:sp>
          <p:nvSpPr>
            <p:cNvPr id="45" name="object 25"/>
            <p:cNvSpPr txBox="1"/>
            <p:nvPr/>
          </p:nvSpPr>
          <p:spPr>
            <a:xfrm>
              <a:off x="4305" y="4570"/>
              <a:ext cx="4516" cy="329"/>
            </a:xfrm>
            <a:prstGeom prst="rect">
              <a:avLst/>
            </a:prstGeom>
          </p:spPr>
          <p:txBody>
            <a:bodyPr vert="horz" wrap="square" lIns="0" tIns="0" rIns="0" bIns="0" rtlCol="0">
              <a:spAutoFit/>
            </a:bodyPr>
            <a:lstStyle/>
            <a:p>
              <a:pPr marL="287020" lvl="1" indent="-285750" algn="just" defTabSz="330200">
                <a:spcBef>
                  <a:spcPts val="800"/>
                </a:spcBef>
                <a:buClr>
                  <a:srgbClr val="267FC3"/>
                </a:buClr>
                <a:buSzPct val="100000"/>
                <a:buFont typeface="Arial" panose="020B0604020202020204" pitchFamily="34" charset="0"/>
                <a:buChar char="•"/>
                <a:tabLst>
                  <a:tab pos="8521700" algn="r"/>
                </a:tabLst>
              </a:pPr>
              <a:r>
                <a:rPr sz="1400" b="1" dirty="0" err="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市场细分及需求</a:t>
              </a:r>
              <a:r>
                <a:rPr lang="zh-CN" altLang="en-US"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；客户</a:t>
              </a:r>
              <a:r>
                <a:rPr lang="en-US" altLang="zh-CN"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SP</a:t>
              </a:r>
              <a:endParaRPr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6" name="object 26"/>
            <p:cNvSpPr txBox="1"/>
            <p:nvPr/>
          </p:nvSpPr>
          <p:spPr>
            <a:xfrm>
              <a:off x="2733" y="8607"/>
              <a:ext cx="998" cy="658"/>
            </a:xfrm>
            <a:prstGeom prst="rect">
              <a:avLst/>
            </a:prstGeom>
          </p:spPr>
          <p:txBody>
            <a:bodyPr vert="horz" wrap="square" lIns="0" tIns="0" rIns="0" bIns="0" rtlCol="0">
              <a:spAutoFit/>
            </a:bodyPr>
            <a:lstStyle/>
            <a:p>
              <a:pPr marL="12700">
                <a:lnSpc>
                  <a:spcPct val="100000"/>
                </a:lnSpc>
              </a:pPr>
              <a:r>
                <a:rPr sz="1400" b="1" spc="-20" dirty="0">
                  <a:solidFill>
                    <a:srgbClr val="FF0000"/>
                  </a:solidFill>
                  <a:latin typeface="微软雅黑" panose="020B0503020204020204" pitchFamily="34" charset="-122"/>
                  <a:ea typeface="微软雅黑" panose="020B0503020204020204" pitchFamily="34" charset="-122"/>
                  <a:cs typeface="+mn-ea"/>
                  <a:sym typeface="+mn-lt"/>
                </a:rPr>
                <a:t>看</a:t>
              </a:r>
              <a:r>
                <a:rPr sz="1400" b="1" spc="-20" dirty="0">
                  <a:solidFill>
                    <a:srgbClr val="0070C0"/>
                  </a:solidFill>
                  <a:latin typeface="微软雅黑" panose="020B0503020204020204" pitchFamily="34" charset="-122"/>
                  <a:ea typeface="微软雅黑" panose="020B0503020204020204" pitchFamily="34" charset="-122"/>
                  <a:cs typeface="+mn-ea"/>
                  <a:sym typeface="+mn-lt"/>
                </a:rPr>
                <a:t>自己</a:t>
              </a:r>
            </a:p>
          </p:txBody>
        </p:sp>
        <p:sp>
          <p:nvSpPr>
            <p:cNvPr id="47" name="object 27"/>
            <p:cNvSpPr txBox="1"/>
            <p:nvPr/>
          </p:nvSpPr>
          <p:spPr>
            <a:xfrm>
              <a:off x="4305" y="8226"/>
              <a:ext cx="4301" cy="329"/>
            </a:xfrm>
            <a:prstGeom prst="rect">
              <a:avLst/>
            </a:prstGeom>
          </p:spPr>
          <p:txBody>
            <a:bodyPr vert="horz" wrap="square" lIns="0" tIns="0" rIns="0" bIns="0" rtlCol="0">
              <a:spAutoFit/>
            </a:bodyPr>
            <a:lstStyle/>
            <a:p>
              <a:pPr marL="287020" lvl="1" indent="-285750" algn="just" defTabSz="330200">
                <a:spcBef>
                  <a:spcPts val="800"/>
                </a:spcBef>
                <a:buClr>
                  <a:srgbClr val="267FC3"/>
                </a:buClr>
                <a:buSzPct val="100000"/>
                <a:buFont typeface="Arial" panose="020B0604020202020204" pitchFamily="34" charset="0"/>
                <a:buChar char="•"/>
                <a:tabLst>
                  <a:tab pos="8521700" algn="r"/>
                </a:tabLst>
              </a:pPr>
              <a:r>
                <a:rPr lang="zh-CN" altLang="en-US" sz="1400" dirty="0">
                  <a:solidFill>
                    <a:srgbClr val="000000"/>
                  </a:solidFill>
                  <a:latin typeface="微软雅黑" panose="020B0503020204020204" pitchFamily="34" charset="-122"/>
                  <a:ea typeface="微软雅黑" panose="020B0503020204020204" pitchFamily="34" charset="-122"/>
                  <a:cs typeface="+mn-ea"/>
                  <a:sym typeface="+mn-lt"/>
                </a:rPr>
                <a:t>企业</a:t>
              </a:r>
              <a:r>
                <a:rPr sz="1400" dirty="0" err="1">
                  <a:solidFill>
                    <a:srgbClr val="000000"/>
                  </a:solidFill>
                  <a:latin typeface="微软雅黑" panose="020B0503020204020204" pitchFamily="34" charset="-122"/>
                  <a:ea typeface="微软雅黑" panose="020B0503020204020204" pitchFamily="34" charset="-122"/>
                  <a:cs typeface="+mn-ea"/>
                  <a:sym typeface="+mn-lt"/>
                </a:rPr>
                <a:t>商业模式分析</a:t>
              </a:r>
              <a:endParaRPr sz="1400" dirty="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48" name="object 28"/>
            <p:cNvSpPr txBox="1"/>
            <p:nvPr/>
          </p:nvSpPr>
          <p:spPr>
            <a:xfrm>
              <a:off x="4305" y="8599"/>
              <a:ext cx="3557" cy="658"/>
            </a:xfrm>
            <a:prstGeom prst="rect">
              <a:avLst/>
            </a:prstGeom>
          </p:spPr>
          <p:txBody>
            <a:bodyPr vert="horz" wrap="square" lIns="0" tIns="0" rIns="0" bIns="0" rtlCol="0">
              <a:spAutoFit/>
            </a:bodyPr>
            <a:lstStyle/>
            <a:p>
              <a:pPr marL="287020" marR="6350" lvl="1" indent="-285750" algn="just" defTabSz="330200">
                <a:spcBef>
                  <a:spcPts val="0"/>
                </a:spcBef>
                <a:buClr>
                  <a:srgbClr val="267FC3"/>
                </a:buClr>
                <a:buSzPct val="100000"/>
                <a:buFont typeface="Arial" panose="020B0604020202020204" pitchFamily="34" charset="0"/>
                <a:buChar char="•"/>
                <a:tabLst>
                  <a:tab pos="8521700" algn="r"/>
                </a:tabLst>
              </a:pP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企业</a:t>
              </a:r>
              <a:r>
                <a:rPr sz="14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经营状况分析</a:t>
              </a:r>
              <a:r>
                <a:rPr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 </a:t>
              </a:r>
              <a:endParaRPr lang="en-US" altLang="zh-CN"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marR="6350" lvl="1" indent="-285750" algn="just" defTabSz="330200">
                <a:spcBef>
                  <a:spcPts val="0"/>
                </a:spcBef>
                <a:buClr>
                  <a:srgbClr val="267FC3"/>
                </a:buClr>
                <a:buSzPct val="100000"/>
                <a:buFont typeface="Arial" panose="020B0604020202020204" pitchFamily="34" charset="0"/>
                <a:buChar char="•"/>
                <a:tabLst>
                  <a:tab pos="8521700" algn="r"/>
                </a:tabLst>
              </a:pPr>
              <a:r>
                <a:rPr sz="1400" b="1" dirty="0" err="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内部</a:t>
              </a:r>
              <a:r>
                <a:rPr lang="zh-CN" altLang="en-US"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核心</a:t>
              </a:r>
              <a:r>
                <a:rPr sz="1400" b="1" dirty="0" err="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能力分析</a:t>
              </a:r>
              <a:endParaRPr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9" name="object 32"/>
            <p:cNvSpPr txBox="1"/>
            <p:nvPr/>
          </p:nvSpPr>
          <p:spPr>
            <a:xfrm>
              <a:off x="2733" y="4846"/>
              <a:ext cx="998" cy="987"/>
            </a:xfrm>
            <a:prstGeom prst="rect">
              <a:avLst/>
            </a:prstGeom>
          </p:spPr>
          <p:txBody>
            <a:bodyPr vert="horz" wrap="square" lIns="0" tIns="0" rIns="0" bIns="0" rtlCol="0">
              <a:spAutoFit/>
            </a:bodyPr>
            <a:lstStyle/>
            <a:p>
              <a:pPr marL="12700">
                <a:lnSpc>
                  <a:spcPct val="100000"/>
                </a:lnSpc>
              </a:pPr>
              <a:r>
                <a:rPr sz="1400" b="1" spc="-2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看</a:t>
              </a:r>
              <a:r>
                <a:rPr lang="zh-CN" altLang="en-US" sz="1400" b="1" spc="-2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市场</a:t>
              </a:r>
              <a:r>
                <a:rPr lang="en-US" altLang="zh-CN" sz="1400" b="1" spc="-2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400" b="1" spc="-2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客户</a:t>
              </a:r>
            </a:p>
          </p:txBody>
        </p:sp>
        <p:sp>
          <p:nvSpPr>
            <p:cNvPr id="50" name="object 9"/>
            <p:cNvSpPr txBox="1"/>
            <p:nvPr/>
          </p:nvSpPr>
          <p:spPr>
            <a:xfrm>
              <a:off x="4305" y="3178"/>
              <a:ext cx="5160" cy="329"/>
            </a:xfrm>
            <a:prstGeom prst="rect">
              <a:avLst/>
            </a:prstGeom>
          </p:spPr>
          <p:txBody>
            <a:bodyPr vert="horz" wrap="square" lIns="0" tIns="0" rIns="0" bIns="0" rtlCol="0">
              <a:spAutoFit/>
            </a:bodyPr>
            <a:lstStyle/>
            <a:p>
              <a:pPr marL="287020" lvl="1" indent="-285750" algn="just" defTabSz="330200">
                <a:spcBef>
                  <a:spcPts val="800"/>
                </a:spcBef>
                <a:buClr>
                  <a:srgbClr val="267FC3"/>
                </a:buClr>
                <a:buSzPct val="100000"/>
                <a:buFont typeface="Arial" panose="020B0604020202020204" pitchFamily="34" charset="0"/>
                <a:buChar char="•"/>
                <a:tabLst>
                  <a:tab pos="8521700" algn="r"/>
                </a:tabLst>
              </a:pPr>
              <a:r>
                <a:rPr lang="zh-CN" altLang="en-US" sz="1400" dirty="0">
                  <a:solidFill>
                    <a:srgbClr val="000000"/>
                  </a:solidFill>
                  <a:latin typeface="微软雅黑" panose="020B0503020204020204" pitchFamily="34" charset="-122"/>
                  <a:ea typeface="微软雅黑" panose="020B0503020204020204" pitchFamily="34" charset="-122"/>
                  <a:cs typeface="+mn-ea"/>
                  <a:sym typeface="+mn-lt"/>
                </a:rPr>
                <a:t>识别利润区和发现利润区</a:t>
              </a:r>
            </a:p>
          </p:txBody>
        </p:sp>
        <p:sp>
          <p:nvSpPr>
            <p:cNvPr id="51" name="object 9"/>
            <p:cNvSpPr txBox="1"/>
            <p:nvPr/>
          </p:nvSpPr>
          <p:spPr>
            <a:xfrm>
              <a:off x="4305" y="3640"/>
              <a:ext cx="5160" cy="329"/>
            </a:xfrm>
            <a:prstGeom prst="rect">
              <a:avLst/>
            </a:prstGeom>
          </p:spPr>
          <p:txBody>
            <a:bodyPr vert="horz" wrap="square" lIns="0" tIns="0" rIns="0" bIns="0" rtlCol="0">
              <a:spAutoFit/>
            </a:bodyPr>
            <a:lstStyle/>
            <a:p>
              <a:pPr marL="287020" lvl="1" indent="-285750" algn="just" defTabSz="330200">
                <a:spcBef>
                  <a:spcPts val="800"/>
                </a:spcBef>
                <a:buClr>
                  <a:srgbClr val="267FC3"/>
                </a:buClr>
                <a:buSzPct val="100000"/>
                <a:buFont typeface="Arial" panose="020B0604020202020204" pitchFamily="34" charset="0"/>
                <a:buChar char="•"/>
                <a:tabLst>
                  <a:tab pos="8521700" algn="r"/>
                </a:tabLst>
              </a:pPr>
              <a:r>
                <a:rPr lang="zh-CN" altLang="en-US" sz="1400" dirty="0">
                  <a:solidFill>
                    <a:srgbClr val="000000"/>
                  </a:solidFill>
                  <a:latin typeface="微软雅黑" panose="020B0503020204020204" pitchFamily="34" charset="-122"/>
                  <a:ea typeface="微软雅黑" panose="020B0503020204020204" pitchFamily="34" charset="-122"/>
                  <a:cs typeface="+mn-ea"/>
                  <a:sym typeface="+mn-lt"/>
                </a:rPr>
                <a:t>行业技术趋势分析</a:t>
              </a:r>
            </a:p>
          </p:txBody>
        </p:sp>
        <p:sp>
          <p:nvSpPr>
            <p:cNvPr id="52" name="object 24"/>
            <p:cNvSpPr txBox="1"/>
            <p:nvPr/>
          </p:nvSpPr>
          <p:spPr>
            <a:xfrm>
              <a:off x="4305" y="5016"/>
              <a:ext cx="5375" cy="329"/>
            </a:xfrm>
            <a:prstGeom prst="rect">
              <a:avLst/>
            </a:prstGeom>
          </p:spPr>
          <p:txBody>
            <a:bodyPr vert="horz" wrap="square" lIns="0" tIns="0" rIns="0" bIns="0" rtlCol="0">
              <a:spAutoFit/>
            </a:bodyPr>
            <a:lstStyle/>
            <a:p>
              <a:pPr marL="287020" lvl="1" indent="-285750" algn="just" defTabSz="330200">
                <a:spcBef>
                  <a:spcPts val="800"/>
                </a:spcBef>
                <a:buClr>
                  <a:srgbClr val="267FC3"/>
                </a:buClr>
                <a:buSzPct val="100000"/>
                <a:buFont typeface="Arial" panose="020B0604020202020204" pitchFamily="34" charset="0"/>
                <a:buChar char="•"/>
                <a:tabLst>
                  <a:tab pos="8521700" algn="r"/>
                </a:tabLst>
              </a:pPr>
              <a:r>
                <a:rPr sz="1400" dirty="0" err="1">
                  <a:solidFill>
                    <a:srgbClr val="000000"/>
                  </a:solidFill>
                  <a:latin typeface="微软雅黑" panose="020B0503020204020204" pitchFamily="34" charset="-122"/>
                  <a:ea typeface="微软雅黑" panose="020B0503020204020204" pitchFamily="34" charset="-122"/>
                  <a:cs typeface="+mn-ea"/>
                  <a:sym typeface="+mn-lt"/>
                </a:rPr>
                <a:t>客户</a:t>
              </a:r>
              <a:r>
                <a:rPr lang="zh-CN" altLang="en-US" sz="1400" dirty="0">
                  <a:solidFill>
                    <a:srgbClr val="000000"/>
                  </a:solidFill>
                  <a:latin typeface="微软雅黑" panose="020B0503020204020204" pitchFamily="34" charset="-122"/>
                  <a:ea typeface="微软雅黑" panose="020B0503020204020204" pitchFamily="34" charset="-122"/>
                  <a:cs typeface="+mn-ea"/>
                  <a:sym typeface="+mn-lt"/>
                </a:rPr>
                <a:t>购买</a:t>
              </a:r>
              <a:r>
                <a:rPr sz="1400" dirty="0" err="1">
                  <a:solidFill>
                    <a:srgbClr val="000000"/>
                  </a:solidFill>
                  <a:latin typeface="微软雅黑" panose="020B0503020204020204" pitchFamily="34" charset="-122"/>
                  <a:ea typeface="微软雅黑" panose="020B0503020204020204" pitchFamily="34" charset="-122"/>
                  <a:cs typeface="+mn-ea"/>
                  <a:sym typeface="+mn-lt"/>
                </a:rPr>
                <a:t>行为分析</a:t>
              </a:r>
              <a:r>
                <a:rPr sz="1400" dirty="0">
                  <a:solidFill>
                    <a:srgbClr val="000000"/>
                  </a:solidFill>
                  <a:latin typeface="微软雅黑" panose="020B0503020204020204" pitchFamily="34" charset="-122"/>
                  <a:ea typeface="微软雅黑" panose="020B0503020204020204" pitchFamily="34" charset="-122"/>
                  <a:cs typeface="+mn-ea"/>
                  <a:sym typeface="+mn-lt"/>
                </a:rPr>
                <a:t>（</a:t>
              </a:r>
              <a:r>
                <a:rPr lang="zh-CN" altLang="en-US" sz="1400" dirty="0">
                  <a:solidFill>
                    <a:srgbClr val="000000"/>
                  </a:solidFill>
                  <a:latin typeface="微软雅黑" panose="020B0503020204020204" pitchFamily="34" charset="-122"/>
                  <a:ea typeface="微软雅黑" panose="020B0503020204020204" pitchFamily="34" charset="-122"/>
                  <a:cs typeface="+mn-ea"/>
                  <a:sym typeface="+mn-lt"/>
                </a:rPr>
                <a:t>全价值链</a:t>
              </a:r>
              <a:r>
                <a:rPr sz="1400" dirty="0">
                  <a:solidFill>
                    <a:srgbClr val="000000"/>
                  </a:solidFill>
                  <a:latin typeface="微软雅黑" panose="020B0503020204020204" pitchFamily="34" charset="-122"/>
                  <a:ea typeface="微软雅黑" panose="020B0503020204020204" pitchFamily="34" charset="-122"/>
                  <a:cs typeface="+mn-ea"/>
                  <a:sym typeface="+mn-lt"/>
                </a:rPr>
                <a:t>）</a:t>
              </a:r>
            </a:p>
          </p:txBody>
        </p:sp>
        <p:sp>
          <p:nvSpPr>
            <p:cNvPr id="53" name="object 24"/>
            <p:cNvSpPr txBox="1"/>
            <p:nvPr/>
          </p:nvSpPr>
          <p:spPr>
            <a:xfrm>
              <a:off x="4305" y="7243"/>
              <a:ext cx="5161" cy="329"/>
            </a:xfrm>
            <a:prstGeom prst="rect">
              <a:avLst/>
            </a:prstGeom>
          </p:spPr>
          <p:txBody>
            <a:bodyPr vert="horz" wrap="square" lIns="0" tIns="0" rIns="0" bIns="0" rtlCol="0">
              <a:spAutoFit/>
            </a:bodyPr>
            <a:lstStyle/>
            <a:p>
              <a:pPr marL="287020" lvl="1" indent="-285750" algn="just" defTabSz="330200">
                <a:spcBef>
                  <a:spcPts val="800"/>
                </a:spcBef>
                <a:buClr>
                  <a:srgbClr val="267FC3"/>
                </a:buClr>
                <a:buSzPct val="100000"/>
                <a:buFont typeface="Arial" panose="020B0604020202020204" pitchFamily="34" charset="0"/>
                <a:buChar char="•"/>
                <a:tabLst>
                  <a:tab pos="8521700" algn="r"/>
                </a:tabLst>
              </a:pPr>
              <a:r>
                <a:rPr lang="zh-CN" altLang="en-US" sz="1400" dirty="0">
                  <a:solidFill>
                    <a:srgbClr val="000000"/>
                  </a:solidFill>
                  <a:latin typeface="微软雅黑" panose="020B0503020204020204" pitchFamily="34" charset="-122"/>
                  <a:ea typeface="微软雅黑" panose="020B0503020204020204" pitchFamily="34" charset="-122"/>
                  <a:cs typeface="+mn-ea"/>
                  <a:sym typeface="+mn-lt"/>
                </a:rPr>
                <a:t>竞争对手主流产品竞争力分析</a:t>
              </a:r>
            </a:p>
          </p:txBody>
        </p:sp>
        <p:sp>
          <p:nvSpPr>
            <p:cNvPr id="54" name="object 24"/>
            <p:cNvSpPr txBox="1"/>
            <p:nvPr/>
          </p:nvSpPr>
          <p:spPr>
            <a:xfrm>
              <a:off x="4305" y="5537"/>
              <a:ext cx="4516" cy="329"/>
            </a:xfrm>
            <a:prstGeom prst="rect">
              <a:avLst/>
            </a:prstGeom>
          </p:spPr>
          <p:txBody>
            <a:bodyPr vert="horz" wrap="square" lIns="0" tIns="0" rIns="0" bIns="0" rtlCol="0">
              <a:spAutoFit/>
            </a:bodyPr>
            <a:lstStyle/>
            <a:p>
              <a:pPr marL="287020" lvl="1" indent="-285750" algn="just" defTabSz="330200">
                <a:spcBef>
                  <a:spcPts val="800"/>
                </a:spcBef>
                <a:buClr>
                  <a:srgbClr val="267FC3"/>
                </a:buClr>
                <a:buSzPct val="100000"/>
                <a:buFont typeface="Arial" panose="020B0604020202020204" pitchFamily="34" charset="0"/>
                <a:buChar char="•"/>
                <a:tabLst>
                  <a:tab pos="8521700" algn="r"/>
                </a:tabLst>
              </a:pPr>
              <a:r>
                <a:rPr sz="1400" dirty="0" err="1">
                  <a:solidFill>
                    <a:srgbClr val="000000"/>
                  </a:solidFill>
                  <a:latin typeface="微软雅黑" panose="020B0503020204020204" pitchFamily="34" charset="-122"/>
                  <a:ea typeface="微软雅黑" panose="020B0503020204020204" pitchFamily="34" charset="-122"/>
                  <a:cs typeface="+mn-ea"/>
                  <a:sym typeface="+mn-lt"/>
                </a:rPr>
                <a:t>客户</a:t>
              </a:r>
              <a:r>
                <a:rPr lang="zh-CN" altLang="en-US" sz="1400" dirty="0">
                  <a:solidFill>
                    <a:srgbClr val="000000"/>
                  </a:solidFill>
                  <a:latin typeface="微软雅黑" panose="020B0503020204020204" pitchFamily="34" charset="-122"/>
                  <a:ea typeface="微软雅黑" panose="020B0503020204020204" pitchFamily="34" charset="-122"/>
                  <a:cs typeface="+mn-ea"/>
                  <a:sym typeface="+mn-lt"/>
                </a:rPr>
                <a:t>系统经济学</a:t>
              </a:r>
            </a:p>
          </p:txBody>
        </p:sp>
        <p:sp>
          <p:nvSpPr>
            <p:cNvPr id="55" name="圆角矩形 5"/>
            <p:cNvSpPr/>
            <p:nvPr/>
          </p:nvSpPr>
          <p:spPr>
            <a:xfrm>
              <a:off x="840" y="2642"/>
              <a:ext cx="842" cy="6611"/>
            </a:xfrm>
            <a:prstGeom prst="roundRect">
              <a:avLst/>
            </a:prstGeom>
            <a:solidFill>
              <a:srgbClr val="0092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sp>
          <p:nvSpPr>
            <p:cNvPr id="56" name="object 3"/>
            <p:cNvSpPr txBox="1"/>
            <p:nvPr/>
          </p:nvSpPr>
          <p:spPr>
            <a:xfrm>
              <a:off x="1036" y="4965"/>
              <a:ext cx="360" cy="1506"/>
            </a:xfrm>
            <a:prstGeom prst="rect">
              <a:avLst/>
            </a:prstGeom>
          </p:spPr>
          <p:txBody>
            <a:bodyPr vert="horz" wrap="square" lIns="0" tIns="0" rIns="0" bIns="0" rtlCol="0">
              <a:spAutoFit/>
            </a:bodyPr>
            <a:lstStyle/>
            <a:p>
              <a:pPr marL="12700" marR="6350" algn="just">
                <a:lnSpc>
                  <a:spcPct val="100000"/>
                </a:lnSpc>
              </a:pPr>
              <a:r>
                <a:rPr sz="1600" b="1" spc="-15"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lt"/>
                </a:rPr>
                <a:t>市 场 洞 察</a:t>
              </a:r>
            </a:p>
          </p:txBody>
        </p:sp>
        <p:cxnSp>
          <p:nvCxnSpPr>
            <p:cNvPr id="57" name="直接箭头连接符 56"/>
            <p:cNvCxnSpPr/>
            <p:nvPr/>
          </p:nvCxnSpPr>
          <p:spPr>
            <a:xfrm>
              <a:off x="1729" y="3258"/>
              <a:ext cx="534" cy="0"/>
            </a:xfrm>
            <a:prstGeom prst="straightConnector1">
              <a:avLst/>
            </a:prstGeom>
            <a:ln w="12700">
              <a:solidFill>
                <a:srgbClr val="00B0F0"/>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a:off x="1682" y="5186"/>
              <a:ext cx="534" cy="0"/>
            </a:xfrm>
            <a:prstGeom prst="straightConnector1">
              <a:avLst/>
            </a:prstGeom>
            <a:ln w="12700">
              <a:solidFill>
                <a:srgbClr val="00B0F0"/>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a:off x="1682" y="7153"/>
              <a:ext cx="534" cy="0"/>
            </a:xfrm>
            <a:prstGeom prst="straightConnector1">
              <a:avLst/>
            </a:prstGeom>
            <a:ln w="12700">
              <a:solidFill>
                <a:srgbClr val="00B0F0"/>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a:off x="1682" y="8800"/>
              <a:ext cx="534" cy="0"/>
            </a:xfrm>
            <a:prstGeom prst="straightConnector1">
              <a:avLst/>
            </a:prstGeom>
            <a:ln w="12700">
              <a:solidFill>
                <a:srgbClr val="00B0F0"/>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61" name="右大括号 60"/>
            <p:cNvSpPr/>
            <p:nvPr/>
          </p:nvSpPr>
          <p:spPr>
            <a:xfrm>
              <a:off x="9315" y="2924"/>
              <a:ext cx="656" cy="2613"/>
            </a:xfrm>
            <a:prstGeom prst="rightBrac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sp>
          <p:nvSpPr>
            <p:cNvPr id="62" name="右大括号 61"/>
            <p:cNvSpPr/>
            <p:nvPr/>
          </p:nvSpPr>
          <p:spPr>
            <a:xfrm>
              <a:off x="9180" y="6641"/>
              <a:ext cx="656" cy="2613"/>
            </a:xfrm>
            <a:prstGeom prst="rightBrac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sp>
          <p:nvSpPr>
            <p:cNvPr id="63" name="右大括号 62"/>
            <p:cNvSpPr/>
            <p:nvPr/>
          </p:nvSpPr>
          <p:spPr>
            <a:xfrm>
              <a:off x="11768" y="4281"/>
              <a:ext cx="656" cy="3635"/>
            </a:xfrm>
            <a:prstGeom prst="rightBrac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sp>
          <p:nvSpPr>
            <p:cNvPr id="64" name="圆角矩形 1"/>
            <p:cNvSpPr/>
            <p:nvPr/>
          </p:nvSpPr>
          <p:spPr>
            <a:xfrm>
              <a:off x="12623" y="5223"/>
              <a:ext cx="3175" cy="1307"/>
            </a:xfrm>
            <a:prstGeom prst="roundRect">
              <a:avLst/>
            </a:prstGeom>
            <a:solidFill>
              <a:srgbClr val="D4EA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dirty="0">
                  <a:solidFill>
                    <a:srgbClr val="FF0000"/>
                  </a:solidFill>
                  <a:latin typeface="微软雅黑" panose="020B0503020204020204" pitchFamily="34" charset="-122"/>
                  <a:ea typeface="微软雅黑" panose="020B0503020204020204" pitchFamily="34" charset="-122"/>
                  <a:cs typeface="+mn-ea"/>
                  <a:sym typeface="+mn-lt"/>
                </a:rPr>
                <a:t>看</a:t>
              </a:r>
              <a:r>
                <a:rPr lang="zh-CN" altLang="en-US" dirty="0">
                  <a:solidFill>
                    <a:srgbClr val="000000"/>
                  </a:solidFill>
                  <a:latin typeface="微软雅黑" panose="020B0503020204020204" pitchFamily="34" charset="-122"/>
                  <a:ea typeface="微软雅黑" panose="020B0503020204020204" pitchFamily="34" charset="-122"/>
                  <a:cs typeface="+mn-ea"/>
                  <a:sym typeface="+mn-lt"/>
                </a:rPr>
                <a:t>机会</a:t>
              </a:r>
            </a:p>
          </p:txBody>
        </p:sp>
      </p:grpSp>
      <p:sp>
        <p:nvSpPr>
          <p:cNvPr id="67" name="Rectangle 3"/>
          <p:cNvSpPr txBox="1">
            <a:spLocks noChangeArrowheads="1"/>
          </p:cNvSpPr>
          <p:nvPr/>
        </p:nvSpPr>
        <p:spPr bwMode="auto">
          <a:xfrm>
            <a:off x="1567815" y="6294169"/>
            <a:ext cx="8991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en-US" altLang="zh-CN" sz="2000" b="1" dirty="0" err="1">
                <a:solidFill>
                  <a:schemeClr val="bg1"/>
                </a:solidFill>
                <a:effectLst/>
                <a:latin typeface="微软雅黑" panose="020B0503020204020204" pitchFamily="34" charset="-122"/>
                <a:ea typeface="微软雅黑" panose="020B0503020204020204" pitchFamily="34" charset="-122"/>
              </a:rPr>
              <a:t>doc→ppt</a:t>
            </a:r>
            <a:r>
              <a:rPr lang="zh-CN" altLang="en-US" sz="2000" b="1" dirty="0">
                <a:solidFill>
                  <a:schemeClr val="bg1"/>
                </a:solidFill>
                <a:effectLst/>
                <a:latin typeface="微软雅黑" panose="020B0503020204020204" pitchFamily="34" charset="-122"/>
                <a:ea typeface="微软雅黑" panose="020B0503020204020204" pitchFamily="34" charset="-122"/>
              </a:rPr>
              <a:t>：汇报关键点和变化点，其中</a:t>
            </a:r>
            <a:r>
              <a:rPr lang="zh-CN" altLang="en-US" sz="2000" b="1" dirty="0">
                <a:solidFill>
                  <a:srgbClr val="FCC78C"/>
                </a:solidFill>
                <a:effectLst/>
                <a:latin typeface="微软雅黑" panose="020B0503020204020204" pitchFamily="34" charset="-122"/>
                <a:ea typeface="微软雅黑" panose="020B0503020204020204" pitchFamily="34" charset="-122"/>
              </a:rPr>
              <a:t>一定留有较多空白区</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3005"/>
            <a:ext cx="12206605" cy="522605"/>
          </a:xfrm>
          <a:prstGeom prst="rect">
            <a:avLst/>
          </a:prstGeom>
        </p:spPr>
      </p:pic>
      <p:sp>
        <p:nvSpPr>
          <p:cNvPr id="2" name="标题 1"/>
          <p:cNvSpPr txBox="1"/>
          <p:nvPr/>
        </p:nvSpPr>
        <p:spPr>
          <a:xfrm>
            <a:off x="805239" y="459912"/>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2060"/>
                </a:solidFill>
                <a:latin typeface="微软雅黑" panose="020B0503020204020204" pitchFamily="34" charset="-122"/>
                <a:ea typeface="微软雅黑" panose="020B0503020204020204" pitchFamily="34" charset="-122"/>
                <a:cs typeface="+mn-ea"/>
                <a:sym typeface="+mn-lt"/>
              </a:rPr>
              <a:t>市场洞察：大数据</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专家，</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AI</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推荐，专家校正，主管决策</a:t>
            </a:r>
          </a:p>
        </p:txBody>
      </p:sp>
      <p:sp>
        <p:nvSpPr>
          <p:cNvPr id="3" name="矩形 2"/>
          <p:cNvSpPr/>
          <p:nvPr/>
        </p:nvSpPr>
        <p:spPr>
          <a:xfrm>
            <a:off x="2437765" y="1518920"/>
            <a:ext cx="3810000" cy="4174490"/>
          </a:xfrm>
          <a:prstGeom prst="rect">
            <a:avLst/>
          </a:prstGeom>
          <a:solidFill>
            <a:srgbClr val="D4EAF5"/>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sz="160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 name="矩形 4"/>
          <p:cNvSpPr/>
          <p:nvPr/>
        </p:nvSpPr>
        <p:spPr>
          <a:xfrm>
            <a:off x="2437765" y="2762250"/>
            <a:ext cx="2658110" cy="29311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sz="160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 name="矩形 5"/>
          <p:cNvSpPr/>
          <p:nvPr/>
        </p:nvSpPr>
        <p:spPr>
          <a:xfrm>
            <a:off x="3166745" y="3916680"/>
            <a:ext cx="229870" cy="489585"/>
          </a:xfrm>
          <a:prstGeom prst="rect">
            <a:avLst/>
          </a:prstGeom>
          <a:noFill/>
        </p:spPr>
        <p:txBody>
          <a:bodyPr wrap="square" lIns="121917" tIns="60958" rIns="121917" bIns="60958" rtlCol="0">
            <a:spAutoFit/>
          </a:bodyPr>
          <a:lstStyle/>
          <a:p>
            <a:pPr algn="ctr"/>
            <a:endParaRPr lang="zh-CN" altLang="en-US" sz="2400" b="1" dirty="0">
              <a:latin typeface="微软雅黑" panose="020B0503020204020204" pitchFamily="34" charset="-122"/>
              <a:ea typeface="微软雅黑" panose="020B0503020204020204" pitchFamily="34" charset="-122"/>
              <a:cs typeface="+mn-ea"/>
              <a:sym typeface="+mn-lt"/>
            </a:endParaRPr>
          </a:p>
        </p:txBody>
      </p:sp>
      <p:sp>
        <p:nvSpPr>
          <p:cNvPr id="8" name="TextBox 17"/>
          <p:cNvSpPr txBox="1"/>
          <p:nvPr/>
        </p:nvSpPr>
        <p:spPr>
          <a:xfrm>
            <a:off x="2615565" y="3028315"/>
            <a:ext cx="869950" cy="489585"/>
          </a:xfrm>
          <a:prstGeom prst="rect">
            <a:avLst/>
          </a:prstGeom>
          <a:noFill/>
        </p:spPr>
        <p:txBody>
          <a:bodyPr wrap="square" lIns="121917" tIns="60958" rIns="121917" bIns="60958" rtlCol="0">
            <a:spAutoFit/>
          </a:bodyPr>
          <a:lstStyle/>
          <a:p>
            <a:pPr algn="ctr"/>
            <a:r>
              <a:rPr lang="zh-CN" altLang="en-US" sz="2400" b="1" dirty="0">
                <a:latin typeface="微软雅黑" panose="020B0503020204020204" pitchFamily="34" charset="-122"/>
                <a:ea typeface="微软雅黑" panose="020B0503020204020204" pitchFamily="34" charset="-122"/>
                <a:cs typeface="+mn-ea"/>
                <a:sym typeface="+mn-lt"/>
              </a:rPr>
              <a:t>信息</a:t>
            </a:r>
          </a:p>
        </p:txBody>
      </p:sp>
      <p:sp>
        <p:nvSpPr>
          <p:cNvPr id="9" name="TextBox 18"/>
          <p:cNvSpPr txBox="1"/>
          <p:nvPr/>
        </p:nvSpPr>
        <p:spPr>
          <a:xfrm>
            <a:off x="2615565" y="1784985"/>
            <a:ext cx="869950" cy="489585"/>
          </a:xfrm>
          <a:prstGeom prst="rect">
            <a:avLst/>
          </a:prstGeom>
          <a:noFill/>
        </p:spPr>
        <p:txBody>
          <a:bodyPr wrap="square" lIns="121917" tIns="60958" rIns="121917" bIns="60958" rtlCol="0">
            <a:spAutoFit/>
          </a:bodyPr>
          <a:lstStyle/>
          <a:p>
            <a:pPr algn="ctr"/>
            <a:r>
              <a:rPr lang="zh-CN" altLang="en-US" sz="2400" b="1" dirty="0">
                <a:latin typeface="微软雅黑" panose="020B0503020204020204" pitchFamily="34" charset="-122"/>
                <a:ea typeface="微软雅黑" panose="020B0503020204020204" pitchFamily="34" charset="-122"/>
                <a:cs typeface="+mn-ea"/>
                <a:sym typeface="+mn-lt"/>
              </a:rPr>
              <a:t>洞察</a:t>
            </a:r>
          </a:p>
        </p:txBody>
      </p:sp>
      <p:sp>
        <p:nvSpPr>
          <p:cNvPr id="10" name="TextBox 19"/>
          <p:cNvSpPr txBox="1"/>
          <p:nvPr/>
        </p:nvSpPr>
        <p:spPr>
          <a:xfrm>
            <a:off x="1822450" y="1330960"/>
            <a:ext cx="488315" cy="1406525"/>
          </a:xfrm>
          <a:prstGeom prst="rect">
            <a:avLst/>
          </a:prstGeom>
          <a:noFill/>
        </p:spPr>
        <p:txBody>
          <a:bodyPr vert="eaVert" wrap="square" lIns="121917" tIns="60958" rIns="121917" bIns="60958" rtlCol="0">
            <a:spAutoFit/>
          </a:bodyPr>
          <a:lstStyle/>
          <a:p>
            <a:r>
              <a:rPr lang="zh-CN" altLang="en-US" sz="1600" dirty="0">
                <a:latin typeface="微软雅黑" panose="020B0503020204020204" pitchFamily="34" charset="-122"/>
                <a:ea typeface="微软雅黑" panose="020B0503020204020204" pitchFamily="34" charset="-122"/>
                <a:cs typeface="+mn-ea"/>
                <a:sym typeface="+mn-lt"/>
              </a:rPr>
              <a:t>决策的灵活性</a:t>
            </a:r>
          </a:p>
        </p:txBody>
      </p:sp>
      <p:sp>
        <p:nvSpPr>
          <p:cNvPr id="11" name="TextBox 20"/>
          <p:cNvSpPr txBox="1"/>
          <p:nvPr/>
        </p:nvSpPr>
        <p:spPr>
          <a:xfrm>
            <a:off x="3858895" y="5692775"/>
            <a:ext cx="1088390" cy="366395"/>
          </a:xfrm>
          <a:prstGeom prst="rect">
            <a:avLst/>
          </a:prstGeom>
          <a:noFill/>
        </p:spPr>
        <p:txBody>
          <a:bodyPr wrap="square" lIns="121917" tIns="60958" rIns="121917" bIns="60958" rtlCol="0">
            <a:spAutoFit/>
          </a:bodyPr>
          <a:lstStyle/>
          <a:p>
            <a:r>
              <a:rPr lang="zh-CN" altLang="en-US" sz="1600" dirty="0">
                <a:latin typeface="微软雅黑" panose="020B0503020204020204" pitchFamily="34" charset="-122"/>
                <a:ea typeface="微软雅黑" panose="020B0503020204020204" pitchFamily="34" charset="-122"/>
                <a:cs typeface="+mn-ea"/>
                <a:sym typeface="+mn-lt"/>
              </a:rPr>
              <a:t>商业价值</a:t>
            </a:r>
          </a:p>
        </p:txBody>
      </p:sp>
      <p:sp>
        <p:nvSpPr>
          <p:cNvPr id="14" name="右箭头 13"/>
          <p:cNvSpPr/>
          <p:nvPr/>
        </p:nvSpPr>
        <p:spPr>
          <a:xfrm rot="18631689">
            <a:off x="3557270" y="3200400"/>
            <a:ext cx="1864995" cy="531495"/>
          </a:xfrm>
          <a:prstGeom prst="rightArrow">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sz="160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7" name="右箭头 16"/>
          <p:cNvSpPr/>
          <p:nvPr/>
        </p:nvSpPr>
        <p:spPr>
          <a:xfrm rot="18631689">
            <a:off x="4855845" y="1899920"/>
            <a:ext cx="1547495" cy="531495"/>
          </a:xfrm>
          <a:prstGeom prst="rightArrow">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sz="160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22" name="矩形 21"/>
          <p:cNvSpPr/>
          <p:nvPr/>
        </p:nvSpPr>
        <p:spPr>
          <a:xfrm>
            <a:off x="2437765" y="4183380"/>
            <a:ext cx="1417955" cy="1510030"/>
          </a:xfrm>
          <a:prstGeom prst="rect">
            <a:avLst/>
          </a:prstGeom>
          <a:solidFill>
            <a:srgbClr val="D4EAF5"/>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sz="160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6" name="矩形 45"/>
          <p:cNvSpPr/>
          <p:nvPr/>
        </p:nvSpPr>
        <p:spPr>
          <a:xfrm>
            <a:off x="2687955" y="4168140"/>
            <a:ext cx="661670" cy="366395"/>
          </a:xfrm>
          <a:prstGeom prst="rect">
            <a:avLst/>
          </a:prstGeom>
        </p:spPr>
        <p:txBody>
          <a:bodyPr wrap="square" lIns="121917" tIns="60958" rIns="121917" bIns="60958">
            <a:spAutoFit/>
          </a:bodyPr>
          <a:lstStyle/>
          <a:p>
            <a:pPr algn="ctr"/>
            <a:r>
              <a:rPr lang="zh-CN" altLang="en-US" sz="1600" b="1" dirty="0">
                <a:latin typeface="微软雅黑" panose="020B0503020204020204" pitchFamily="34" charset="-122"/>
                <a:ea typeface="微软雅黑" panose="020B0503020204020204" pitchFamily="34" charset="-122"/>
                <a:cs typeface="+mn-ea"/>
                <a:sym typeface="+mn-lt"/>
              </a:rPr>
              <a:t>数据</a:t>
            </a:r>
          </a:p>
        </p:txBody>
      </p:sp>
      <p:sp>
        <p:nvSpPr>
          <p:cNvPr id="47" name="右箭头 46"/>
          <p:cNvSpPr/>
          <p:nvPr/>
        </p:nvSpPr>
        <p:spPr>
          <a:xfrm rot="18631689">
            <a:off x="2343785" y="4622800"/>
            <a:ext cx="1692910" cy="531495"/>
          </a:xfrm>
          <a:prstGeom prst="rightArrow">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sz="160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48" name="TextBox 29"/>
          <p:cNvSpPr txBox="1"/>
          <p:nvPr/>
        </p:nvSpPr>
        <p:spPr>
          <a:xfrm rot="18752840">
            <a:off x="2804160" y="4642485"/>
            <a:ext cx="875030" cy="366395"/>
          </a:xfrm>
          <a:prstGeom prst="rect">
            <a:avLst/>
          </a:prstGeom>
          <a:noFill/>
        </p:spPr>
        <p:txBody>
          <a:bodyPr wrap="square" lIns="121917" tIns="60958" rIns="121917" bIns="60958" rtlCol="0">
            <a:spAutoFit/>
          </a:bodyPr>
          <a:lstStyle/>
          <a:p>
            <a:r>
              <a:rPr lang="zh-CN" altLang="en-US" sz="1600" dirty="0">
                <a:solidFill>
                  <a:schemeClr val="bg1"/>
                </a:solidFill>
                <a:latin typeface="微软雅黑" panose="020B0503020204020204" pitchFamily="34" charset="-122"/>
                <a:ea typeface="微软雅黑" panose="020B0503020204020204" pitchFamily="34" charset="-122"/>
                <a:cs typeface="+mn-ea"/>
                <a:sym typeface="+mn-lt"/>
              </a:rPr>
              <a:t>被动的</a:t>
            </a:r>
          </a:p>
        </p:txBody>
      </p:sp>
      <p:sp>
        <p:nvSpPr>
          <p:cNvPr id="49" name="TextBox 30"/>
          <p:cNvSpPr txBox="1"/>
          <p:nvPr/>
        </p:nvSpPr>
        <p:spPr>
          <a:xfrm rot="18752840">
            <a:off x="4048125" y="3310255"/>
            <a:ext cx="875030" cy="366395"/>
          </a:xfrm>
          <a:prstGeom prst="rect">
            <a:avLst/>
          </a:prstGeom>
          <a:noFill/>
        </p:spPr>
        <p:txBody>
          <a:bodyPr wrap="square" lIns="121917" tIns="60958" rIns="121917" bIns="60958" rtlCol="0">
            <a:spAutoFit/>
          </a:bodyPr>
          <a:lstStyle/>
          <a:p>
            <a:r>
              <a:rPr lang="zh-CN" altLang="en-US" sz="1600" dirty="0">
                <a:solidFill>
                  <a:schemeClr val="bg1"/>
                </a:solidFill>
                <a:latin typeface="微软雅黑" panose="020B0503020204020204" pitchFamily="34" charset="-122"/>
                <a:ea typeface="微软雅黑" panose="020B0503020204020204" pitchFamily="34" charset="-122"/>
                <a:cs typeface="+mn-ea"/>
                <a:sym typeface="+mn-lt"/>
              </a:rPr>
              <a:t>主动的</a:t>
            </a:r>
          </a:p>
        </p:txBody>
      </p:sp>
      <p:sp>
        <p:nvSpPr>
          <p:cNvPr id="50" name="TextBox 31"/>
          <p:cNvSpPr txBox="1"/>
          <p:nvPr/>
        </p:nvSpPr>
        <p:spPr>
          <a:xfrm rot="18752840">
            <a:off x="5094605" y="1994535"/>
            <a:ext cx="1090930" cy="366395"/>
          </a:xfrm>
          <a:prstGeom prst="rect">
            <a:avLst/>
          </a:prstGeom>
          <a:noFill/>
        </p:spPr>
        <p:txBody>
          <a:bodyPr wrap="square" lIns="121917" tIns="60958" rIns="121917" bIns="60958" rtlCol="0">
            <a:spAutoFit/>
          </a:bodyPr>
          <a:lstStyle/>
          <a:p>
            <a:r>
              <a:rPr lang="zh-CN" altLang="en-US" sz="1600" dirty="0">
                <a:solidFill>
                  <a:schemeClr val="bg1"/>
                </a:solidFill>
                <a:latin typeface="微软雅黑" panose="020B0503020204020204" pitchFamily="34" charset="-122"/>
                <a:ea typeface="微软雅黑" panose="020B0503020204020204" pitchFamily="34" charset="-122"/>
                <a:cs typeface="+mn-ea"/>
                <a:sym typeface="+mn-lt"/>
              </a:rPr>
              <a:t>预见性的</a:t>
            </a:r>
          </a:p>
        </p:txBody>
      </p:sp>
      <p:grpSp>
        <p:nvGrpSpPr>
          <p:cNvPr id="51" name="组合 50"/>
          <p:cNvGrpSpPr/>
          <p:nvPr/>
        </p:nvGrpSpPr>
        <p:grpSpPr>
          <a:xfrm>
            <a:off x="2436495" y="1164590"/>
            <a:ext cx="4519930" cy="4530725"/>
            <a:chOff x="1046656" y="1574573"/>
            <a:chExt cx="4858843" cy="4858842"/>
          </a:xfrm>
        </p:grpSpPr>
        <p:cxnSp>
          <p:nvCxnSpPr>
            <p:cNvPr id="52" name="直接箭头连接符 51"/>
            <p:cNvCxnSpPr/>
            <p:nvPr/>
          </p:nvCxnSpPr>
          <p:spPr>
            <a:xfrm rot="5400000" flipH="1" flipV="1">
              <a:off x="-1381177" y="4002406"/>
              <a:ext cx="4857784" cy="2117"/>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a:off x="1047715" y="6431298"/>
              <a:ext cx="4857784" cy="2117"/>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a:xfrm>
            <a:off x="6835140" y="1383665"/>
            <a:ext cx="2827020" cy="1412650"/>
            <a:chOff x="7887408" y="1871617"/>
            <a:chExt cx="3039090" cy="1514662"/>
          </a:xfrm>
        </p:grpSpPr>
        <p:grpSp>
          <p:nvGrpSpPr>
            <p:cNvPr id="55" name="组合 54"/>
            <p:cNvGrpSpPr/>
            <p:nvPr/>
          </p:nvGrpSpPr>
          <p:grpSpPr>
            <a:xfrm>
              <a:off x="7887408" y="1871617"/>
              <a:ext cx="665740" cy="789458"/>
              <a:chOff x="7680176" y="1774557"/>
              <a:chExt cx="665740" cy="789458"/>
            </a:xfrm>
          </p:grpSpPr>
          <p:sp>
            <p:nvSpPr>
              <p:cNvPr id="56" name="文本框 55"/>
              <p:cNvSpPr txBox="1"/>
              <p:nvPr/>
            </p:nvSpPr>
            <p:spPr>
              <a:xfrm>
                <a:off x="7680176" y="1774557"/>
                <a:ext cx="441146" cy="625706"/>
              </a:xfrm>
              <a:prstGeom prst="rect">
                <a:avLst/>
              </a:prstGeom>
              <a:noFill/>
            </p:spPr>
            <p:txBody>
              <a:bodyPr wrap="square" rtlCol="0">
                <a:spAutoFit/>
              </a:bodyPr>
              <a:lstStyle/>
              <a:p>
                <a:pPr algn="just"/>
                <a:r>
                  <a:rPr lang="en-US" altLang="zh-CN" sz="3200" dirty="0">
                    <a:latin typeface="微软雅黑" panose="020B0503020204020204" pitchFamily="34" charset="-122"/>
                    <a:ea typeface="微软雅黑" panose="020B0503020204020204" pitchFamily="34" charset="-122"/>
                    <a:cs typeface="+mn-ea"/>
                    <a:sym typeface="+mn-lt"/>
                  </a:rPr>
                  <a:t>1</a:t>
                </a:r>
              </a:p>
            </p:txBody>
          </p:sp>
          <p:cxnSp>
            <p:nvCxnSpPr>
              <p:cNvPr id="57" name="直接连接符 56"/>
              <p:cNvCxnSpPr/>
              <p:nvPr/>
            </p:nvCxnSpPr>
            <p:spPr>
              <a:xfrm flipH="1">
                <a:off x="7937400" y="205013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58" name="矩形 57"/>
            <p:cNvSpPr/>
            <p:nvPr/>
          </p:nvSpPr>
          <p:spPr>
            <a:xfrm>
              <a:off x="8585778" y="2194782"/>
              <a:ext cx="2340720" cy="1191497"/>
            </a:xfrm>
            <a:prstGeom prst="rect">
              <a:avLst/>
            </a:prstGeom>
          </p:spPr>
          <p:txBody>
            <a:bodyPr wrap="square">
              <a:spAutoFit/>
            </a:bodyPr>
            <a:lstStyle/>
            <a:p>
              <a:pPr lvl="0">
                <a:lnSpc>
                  <a:spcPct val="80000"/>
                </a:lnSpc>
              </a:pPr>
              <a:r>
                <a:rPr lang="zh-CN" altLang="en-US" sz="1600" b="1" dirty="0">
                  <a:solidFill>
                    <a:srgbClr val="C00000"/>
                  </a:solidFill>
                  <a:latin typeface="微软雅黑" panose="020B0503020204020204" pitchFamily="34" charset="-122"/>
                  <a:ea typeface="微软雅黑" panose="020B0503020204020204" pitchFamily="34" charset="-122"/>
                  <a:cs typeface="+mn-ea"/>
                  <a:sym typeface="+mn-lt"/>
                </a:rPr>
                <a:t>洞察：</a:t>
              </a:r>
            </a:p>
            <a:p>
              <a:pPr marL="287020" lvl="1" indent="-285750" algn="just" defTabSz="330200">
                <a:lnSpc>
                  <a:spcPct val="80000"/>
                </a:lnSpc>
                <a:spcBef>
                  <a:spcPts val="800"/>
                </a:spcBef>
                <a:buClr>
                  <a:srgbClr val="267FC3"/>
                </a:buClr>
                <a:buSzPct val="100000"/>
                <a:buFont typeface="Arial" panose="020B0604020202020204" pitchFamily="34" charset="0"/>
                <a:buChar char="•"/>
                <a:tabLst>
                  <a:tab pos="8521700" algn="r"/>
                </a:tabLst>
              </a:pPr>
              <a:r>
                <a:rPr lang="zh-CN" altLang="en-US" sz="1400" dirty="0">
                  <a:solidFill>
                    <a:srgbClr val="000000"/>
                  </a:solidFill>
                  <a:latin typeface="微软雅黑" panose="020B0503020204020204" pitchFamily="34" charset="-122"/>
                  <a:ea typeface="微软雅黑" panose="020B0503020204020204" pitchFamily="34" charset="-122"/>
                  <a:cs typeface="+mn-ea"/>
                  <a:sym typeface="+mn-lt"/>
                </a:rPr>
                <a:t>关键发现</a:t>
              </a:r>
              <a:endParaRPr lang="en-US" altLang="zh-CN" sz="1400" dirty="0">
                <a:solidFill>
                  <a:srgbClr val="000000"/>
                </a:solidFill>
                <a:latin typeface="微软雅黑" panose="020B0503020204020204" pitchFamily="34" charset="-122"/>
                <a:ea typeface="微软雅黑" panose="020B0503020204020204" pitchFamily="34" charset="-122"/>
                <a:cs typeface="+mn-ea"/>
                <a:sym typeface="+mn-lt"/>
              </a:endParaRPr>
            </a:p>
            <a:p>
              <a:pPr marL="287020" lvl="1" indent="-285750" algn="just" defTabSz="330200">
                <a:lnSpc>
                  <a:spcPct val="80000"/>
                </a:lnSpc>
                <a:spcBef>
                  <a:spcPts val="800"/>
                </a:spcBef>
                <a:buClr>
                  <a:srgbClr val="267FC3"/>
                </a:buClr>
                <a:buSzPct val="100000"/>
                <a:buFont typeface="Arial" panose="020B0604020202020204" pitchFamily="34" charset="0"/>
                <a:buChar char="•"/>
                <a:tabLst>
                  <a:tab pos="8521700" algn="r"/>
                </a:tabLst>
              </a:pPr>
              <a:r>
                <a:rPr lang="zh-CN" altLang="en-US" sz="1400" dirty="0">
                  <a:solidFill>
                    <a:srgbClr val="000000"/>
                  </a:solidFill>
                  <a:latin typeface="微软雅黑" panose="020B0503020204020204" pitchFamily="34" charset="-122"/>
                  <a:ea typeface="微软雅黑" panose="020B0503020204020204" pitchFamily="34" charset="-122"/>
                  <a:cs typeface="+mn-ea"/>
                  <a:sym typeface="+mn-lt"/>
                </a:rPr>
                <a:t>推荐建议</a:t>
              </a:r>
              <a:endParaRPr lang="en-US" altLang="zh-CN" sz="1400" dirty="0">
                <a:solidFill>
                  <a:srgbClr val="000000"/>
                </a:solidFill>
                <a:latin typeface="微软雅黑" panose="020B0503020204020204" pitchFamily="34" charset="-122"/>
                <a:ea typeface="微软雅黑" panose="020B0503020204020204" pitchFamily="34" charset="-122"/>
                <a:cs typeface="+mn-ea"/>
                <a:sym typeface="+mn-lt"/>
              </a:endParaRPr>
            </a:p>
            <a:p>
              <a:pPr marL="287020" lvl="1" indent="-285750" algn="just" defTabSz="330200">
                <a:lnSpc>
                  <a:spcPct val="80000"/>
                </a:lnSpc>
                <a:spcBef>
                  <a:spcPts val="800"/>
                </a:spcBef>
                <a:buClr>
                  <a:srgbClr val="267FC3"/>
                </a:buClr>
                <a:buSzPct val="100000"/>
                <a:buFont typeface="Arial" panose="020B0604020202020204" pitchFamily="34" charset="0"/>
                <a:buChar char="•"/>
                <a:tabLst>
                  <a:tab pos="8521700" algn="r"/>
                </a:tabLst>
              </a:pPr>
              <a:r>
                <a:rPr lang="zh-CN" altLang="en-US" sz="1400" dirty="0">
                  <a:solidFill>
                    <a:srgbClr val="000000"/>
                  </a:solidFill>
                  <a:latin typeface="微软雅黑" panose="020B0503020204020204" pitchFamily="34" charset="-122"/>
                  <a:ea typeface="微软雅黑" panose="020B0503020204020204" pitchFamily="34" charset="-122"/>
                  <a:cs typeface="+mn-ea"/>
                  <a:sym typeface="+mn-lt"/>
                </a:rPr>
                <a:t>下一步措施</a:t>
              </a:r>
            </a:p>
          </p:txBody>
        </p:sp>
      </p:grpSp>
      <p:grpSp>
        <p:nvGrpSpPr>
          <p:cNvPr id="59" name="组合 58"/>
          <p:cNvGrpSpPr/>
          <p:nvPr/>
        </p:nvGrpSpPr>
        <p:grpSpPr>
          <a:xfrm>
            <a:off x="6758305" y="2944495"/>
            <a:ext cx="4642485" cy="1412490"/>
            <a:chOff x="7887408" y="1871617"/>
            <a:chExt cx="4991007" cy="1515295"/>
          </a:xfrm>
        </p:grpSpPr>
        <p:grpSp>
          <p:nvGrpSpPr>
            <p:cNvPr id="60" name="组合 59"/>
            <p:cNvGrpSpPr/>
            <p:nvPr/>
          </p:nvGrpSpPr>
          <p:grpSpPr>
            <a:xfrm>
              <a:off x="7887408" y="1871617"/>
              <a:ext cx="665740" cy="789458"/>
              <a:chOff x="7680176" y="1774557"/>
              <a:chExt cx="665740" cy="789458"/>
            </a:xfrm>
          </p:grpSpPr>
          <p:sp>
            <p:nvSpPr>
              <p:cNvPr id="61" name="文本框 60"/>
              <p:cNvSpPr txBox="1"/>
              <p:nvPr/>
            </p:nvSpPr>
            <p:spPr>
              <a:xfrm>
                <a:off x="7680176" y="1774557"/>
                <a:ext cx="441146" cy="626039"/>
              </a:xfrm>
              <a:prstGeom prst="rect">
                <a:avLst/>
              </a:prstGeom>
              <a:noFill/>
            </p:spPr>
            <p:txBody>
              <a:bodyPr wrap="square" rtlCol="0">
                <a:spAutoFit/>
              </a:bodyPr>
              <a:lstStyle/>
              <a:p>
                <a:pPr algn="just"/>
                <a:r>
                  <a:rPr lang="en-US" altLang="zh-CN" sz="3200" dirty="0">
                    <a:latin typeface="微软雅黑" panose="020B0503020204020204" pitchFamily="34" charset="-122"/>
                    <a:ea typeface="微软雅黑" panose="020B0503020204020204" pitchFamily="34" charset="-122"/>
                    <a:cs typeface="+mn-ea"/>
                    <a:sym typeface="+mn-lt"/>
                  </a:rPr>
                  <a:t>2</a:t>
                </a:r>
              </a:p>
            </p:txBody>
          </p:sp>
          <p:cxnSp>
            <p:nvCxnSpPr>
              <p:cNvPr id="62" name="直接连接符 61"/>
              <p:cNvCxnSpPr/>
              <p:nvPr/>
            </p:nvCxnSpPr>
            <p:spPr>
              <a:xfrm flipH="1">
                <a:off x="7937400" y="205013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63" name="矩形 62"/>
            <p:cNvSpPr/>
            <p:nvPr/>
          </p:nvSpPr>
          <p:spPr>
            <a:xfrm>
              <a:off x="8585777" y="2194782"/>
              <a:ext cx="4292638" cy="1192130"/>
            </a:xfrm>
            <a:prstGeom prst="rect">
              <a:avLst/>
            </a:prstGeom>
          </p:spPr>
          <p:txBody>
            <a:bodyPr wrap="square">
              <a:spAutoFit/>
            </a:bodyPr>
            <a:lstStyle/>
            <a:p>
              <a:pPr>
                <a:lnSpc>
                  <a:spcPct val="80000"/>
                </a:lnSpc>
              </a:pPr>
              <a:r>
                <a:rPr lang="zh-CN" alt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信息：</a:t>
              </a:r>
            </a:p>
            <a:p>
              <a:pPr marL="287020" lvl="1" indent="-285750" algn="just" defTabSz="330200">
                <a:lnSpc>
                  <a:spcPct val="80000"/>
                </a:lnSpc>
                <a:spcBef>
                  <a:spcPts val="800"/>
                </a:spcBef>
                <a:buClr>
                  <a:srgbClr val="267FC3"/>
                </a:buClr>
                <a:buSzPct val="100000"/>
                <a:buFont typeface="Arial" panose="020B0604020202020204" pitchFamily="34" charset="0"/>
                <a:buChar char="•"/>
                <a:tabLst>
                  <a:tab pos="8521700" algn="r"/>
                </a:tabLst>
              </a:pP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整合数据，进行 推理</a:t>
              </a:r>
            </a:p>
            <a:p>
              <a:pPr marL="287020" lvl="1" indent="-285750" algn="just" defTabSz="330200">
                <a:lnSpc>
                  <a:spcPct val="80000"/>
                </a:lnSpc>
                <a:spcBef>
                  <a:spcPts val="800"/>
                </a:spcBef>
                <a:buClr>
                  <a:srgbClr val="267FC3"/>
                </a:buClr>
                <a:buSzPct val="100000"/>
                <a:buFont typeface="Arial" panose="020B0604020202020204" pitchFamily="34" charset="0"/>
                <a:buChar char="•"/>
                <a:tabLst>
                  <a:tab pos="8521700" algn="r"/>
                </a:tabLst>
              </a:pP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定性分析，描述数据背后的故事</a:t>
              </a:r>
            </a:p>
            <a:p>
              <a:pPr marL="287020" lvl="1" indent="-285750" algn="just" defTabSz="330200">
                <a:lnSpc>
                  <a:spcPct val="80000"/>
                </a:lnSpc>
                <a:spcBef>
                  <a:spcPts val="800"/>
                </a:spcBef>
                <a:buClr>
                  <a:srgbClr val="267FC3"/>
                </a:buClr>
                <a:buSzPct val="100000"/>
                <a:buFont typeface="Arial" panose="020B0604020202020204" pitchFamily="34" charset="0"/>
                <a:buChar char="•"/>
                <a:tabLst>
                  <a:tab pos="8521700" algn="r"/>
                </a:tabLst>
              </a:pP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知识的传播与接受</a:t>
              </a:r>
            </a:p>
          </p:txBody>
        </p:sp>
      </p:grpSp>
      <p:grpSp>
        <p:nvGrpSpPr>
          <p:cNvPr id="64" name="组合 63"/>
          <p:cNvGrpSpPr/>
          <p:nvPr/>
        </p:nvGrpSpPr>
        <p:grpSpPr>
          <a:xfrm>
            <a:off x="6691630" y="4538980"/>
            <a:ext cx="3143885" cy="1138327"/>
            <a:chOff x="7887408" y="1871617"/>
            <a:chExt cx="3371388" cy="1220540"/>
          </a:xfrm>
        </p:grpSpPr>
        <p:grpSp>
          <p:nvGrpSpPr>
            <p:cNvPr id="65" name="组合 64"/>
            <p:cNvGrpSpPr/>
            <p:nvPr/>
          </p:nvGrpSpPr>
          <p:grpSpPr>
            <a:xfrm>
              <a:off x="7887408" y="1871617"/>
              <a:ext cx="665740" cy="789458"/>
              <a:chOff x="7680176" y="1774557"/>
              <a:chExt cx="665740" cy="789458"/>
            </a:xfrm>
          </p:grpSpPr>
          <p:sp>
            <p:nvSpPr>
              <p:cNvPr id="66" name="文本框 65"/>
              <p:cNvSpPr txBox="1"/>
              <p:nvPr/>
            </p:nvSpPr>
            <p:spPr>
              <a:xfrm>
                <a:off x="7680176" y="1774557"/>
                <a:ext cx="441146" cy="625712"/>
              </a:xfrm>
              <a:prstGeom prst="rect">
                <a:avLst/>
              </a:prstGeom>
              <a:noFill/>
            </p:spPr>
            <p:txBody>
              <a:bodyPr wrap="square" rtlCol="0">
                <a:spAutoFit/>
              </a:bodyPr>
              <a:lstStyle/>
              <a:p>
                <a:pPr algn="just"/>
                <a:r>
                  <a:rPr lang="en-US" altLang="zh-CN" sz="3200" dirty="0">
                    <a:latin typeface="微软雅黑" panose="020B0503020204020204" pitchFamily="34" charset="-122"/>
                    <a:ea typeface="微软雅黑" panose="020B0503020204020204" pitchFamily="34" charset="-122"/>
                    <a:cs typeface="+mn-ea"/>
                    <a:sym typeface="+mn-lt"/>
                  </a:rPr>
                  <a:t>3</a:t>
                </a:r>
              </a:p>
            </p:txBody>
          </p:sp>
          <p:cxnSp>
            <p:nvCxnSpPr>
              <p:cNvPr id="67" name="直接连接符 66"/>
              <p:cNvCxnSpPr/>
              <p:nvPr/>
            </p:nvCxnSpPr>
            <p:spPr>
              <a:xfrm flipH="1">
                <a:off x="7937400" y="205013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68" name="矩形 67"/>
            <p:cNvSpPr/>
            <p:nvPr/>
          </p:nvSpPr>
          <p:spPr>
            <a:xfrm>
              <a:off x="8585777" y="2194782"/>
              <a:ext cx="2673019" cy="897375"/>
            </a:xfrm>
            <a:prstGeom prst="rect">
              <a:avLst/>
            </a:prstGeom>
          </p:spPr>
          <p:txBody>
            <a:bodyPr wrap="square">
              <a:spAutoFit/>
            </a:bodyPr>
            <a:lstStyle/>
            <a:p>
              <a:pPr>
                <a:lnSpc>
                  <a:spcPct val="80000"/>
                </a:lnSpc>
              </a:pPr>
              <a:r>
                <a:rPr lang="zh-CN" altLang="en-US" sz="1600" b="1" dirty="0">
                  <a:solidFill>
                    <a:srgbClr val="C00000"/>
                  </a:solidFill>
                  <a:latin typeface="微软雅黑" panose="020B0503020204020204" pitchFamily="34" charset="-122"/>
                  <a:ea typeface="微软雅黑" panose="020B0503020204020204" pitchFamily="34" charset="-122"/>
                  <a:cs typeface="+mn-ea"/>
                  <a:sym typeface="+mn-lt"/>
                </a:rPr>
                <a:t>数据：</a:t>
              </a:r>
            </a:p>
            <a:p>
              <a:pPr marL="287020" lvl="1" indent="-285750" algn="just" defTabSz="330200">
                <a:lnSpc>
                  <a:spcPct val="80000"/>
                </a:lnSpc>
                <a:spcBef>
                  <a:spcPts val="800"/>
                </a:spcBef>
                <a:buClr>
                  <a:srgbClr val="267FC3"/>
                </a:buClr>
                <a:buSzPct val="100000"/>
                <a:buFont typeface="Arial" panose="020B0604020202020204" pitchFamily="34" charset="0"/>
                <a:buChar char="•"/>
                <a:tabLst>
                  <a:tab pos="8521700" algn="r"/>
                </a:tabLst>
              </a:pPr>
              <a:r>
                <a:rPr lang="zh-CN" altLang="en-US" sz="1400" dirty="0">
                  <a:solidFill>
                    <a:srgbClr val="000000"/>
                  </a:solidFill>
                  <a:latin typeface="微软雅黑" panose="020B0503020204020204" pitchFamily="34" charset="-122"/>
                  <a:ea typeface="微软雅黑" panose="020B0503020204020204" pitchFamily="34" charset="-122"/>
                  <a:cs typeface="+mn-ea"/>
                  <a:sym typeface="+mn-lt"/>
                </a:rPr>
                <a:t>基础事实</a:t>
              </a:r>
            </a:p>
            <a:p>
              <a:pPr marL="287020" lvl="1" indent="-285750" algn="just" defTabSz="330200">
                <a:lnSpc>
                  <a:spcPct val="80000"/>
                </a:lnSpc>
                <a:spcBef>
                  <a:spcPts val="800"/>
                </a:spcBef>
                <a:buClr>
                  <a:srgbClr val="267FC3"/>
                </a:buClr>
                <a:buSzPct val="100000"/>
                <a:buFont typeface="Arial" panose="020B0604020202020204" pitchFamily="34" charset="0"/>
                <a:buChar char="•"/>
                <a:tabLst>
                  <a:tab pos="8521700" algn="r"/>
                </a:tabLst>
              </a:pPr>
              <a:r>
                <a:rPr lang="zh-CN" altLang="en-US" sz="1400" dirty="0">
                  <a:solidFill>
                    <a:srgbClr val="000000"/>
                  </a:solidFill>
                  <a:latin typeface="微软雅黑" panose="020B0503020204020204" pitchFamily="34" charset="-122"/>
                  <a:ea typeface="微软雅黑" panose="020B0503020204020204" pitchFamily="34" charset="-122"/>
                  <a:cs typeface="+mn-ea"/>
                  <a:sym typeface="+mn-lt"/>
                </a:rPr>
                <a:t>统计数据或资料</a:t>
              </a:r>
            </a:p>
          </p:txBody>
        </p:sp>
      </p:grpSp>
      <p:sp>
        <p:nvSpPr>
          <p:cNvPr id="37" name="Rectangle 3"/>
          <p:cNvSpPr txBox="1">
            <a:spLocks noChangeArrowheads="1"/>
          </p:cNvSpPr>
          <p:nvPr/>
        </p:nvSpPr>
        <p:spPr bwMode="auto">
          <a:xfrm>
            <a:off x="1464945" y="6308774"/>
            <a:ext cx="8991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2000" b="1" dirty="0">
                <a:solidFill>
                  <a:schemeClr val="bg1"/>
                </a:solidFill>
                <a:effectLst/>
                <a:latin typeface="微软雅黑" panose="020B0503020204020204" pitchFamily="34" charset="-122"/>
                <a:ea typeface="微软雅黑" panose="020B0503020204020204" pitchFamily="34" charset="-122"/>
              </a:rPr>
              <a:t>案例：盒马鲜生的选址，商业</a:t>
            </a:r>
            <a:r>
              <a:rPr lang="en-US" altLang="zh-CN" sz="2000" b="1" dirty="0">
                <a:solidFill>
                  <a:schemeClr val="bg1"/>
                </a:solidFill>
                <a:effectLst/>
                <a:latin typeface="微软雅黑" panose="020B0503020204020204" pitchFamily="34" charset="-122"/>
                <a:ea typeface="微软雅黑" panose="020B0503020204020204" pitchFamily="34" charset="-122"/>
              </a:rPr>
              <a:t>≈</a:t>
            </a:r>
            <a:r>
              <a:rPr lang="zh-CN" altLang="en-US" sz="2000" b="1" dirty="0">
                <a:solidFill>
                  <a:schemeClr val="bg1"/>
                </a:solidFill>
                <a:effectLst/>
                <a:latin typeface="微软雅黑" panose="020B0503020204020204" pitchFamily="34" charset="-122"/>
                <a:ea typeface="微软雅黑" panose="020B0503020204020204" pitchFamily="34" charset="-122"/>
              </a:rPr>
              <a:t>数据智能</a:t>
            </a:r>
            <a:r>
              <a:rPr lang="en-US" altLang="zh-CN" sz="2000" b="1" dirty="0">
                <a:solidFill>
                  <a:schemeClr val="bg1"/>
                </a:solidFill>
                <a:effectLst/>
                <a:latin typeface="微软雅黑" panose="020B0503020204020204" pitchFamily="34" charset="-122"/>
                <a:ea typeface="微软雅黑" panose="020B0503020204020204" pitchFamily="34" charset="-122"/>
              </a:rPr>
              <a:t>+</a:t>
            </a:r>
            <a:r>
              <a:rPr lang="zh-CN" altLang="en-US" sz="2000" b="1" dirty="0">
                <a:solidFill>
                  <a:schemeClr val="bg1"/>
                </a:solidFill>
                <a:effectLst/>
                <a:latin typeface="微软雅黑" panose="020B0503020204020204" pitchFamily="34" charset="-122"/>
                <a:ea typeface="微软雅黑" panose="020B0503020204020204" pitchFamily="34" charset="-122"/>
              </a:rPr>
              <a:t>网络协同</a:t>
            </a:r>
            <a:endParaRPr lang="en-US" altLang="zh-CN" sz="2000" b="1" dirty="0">
              <a:solidFill>
                <a:schemeClr val="bg1"/>
              </a:solidFill>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3005"/>
            <a:ext cx="12206605" cy="522605"/>
          </a:xfrm>
          <a:prstGeom prst="rect">
            <a:avLst/>
          </a:prstGeom>
        </p:spPr>
      </p:pic>
      <p:sp>
        <p:nvSpPr>
          <p:cNvPr id="2" name="标题 1"/>
          <p:cNvSpPr txBox="1"/>
          <p:nvPr/>
        </p:nvSpPr>
        <p:spPr>
          <a:xfrm>
            <a:off x="540237" y="459972"/>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2060"/>
                </a:solidFill>
                <a:latin typeface="微软雅黑" panose="020B0503020204020204" pitchFamily="34" charset="-122"/>
                <a:ea typeface="微软雅黑" panose="020B0503020204020204" pitchFamily="34" charset="-122"/>
                <a:cs typeface="+mn-ea"/>
                <a:sym typeface="+mn-lt"/>
              </a:rPr>
              <a:t>看行业：</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6</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个方面，核心是价值转移的风险和机会，看</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10</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年！</a:t>
            </a:r>
          </a:p>
        </p:txBody>
      </p:sp>
      <p:grpSp>
        <p:nvGrpSpPr>
          <p:cNvPr id="29" name="组合 28"/>
          <p:cNvGrpSpPr/>
          <p:nvPr/>
        </p:nvGrpSpPr>
        <p:grpSpPr>
          <a:xfrm>
            <a:off x="1489710" y="952500"/>
            <a:ext cx="8359140" cy="5237480"/>
            <a:chOff x="892" y="1483"/>
            <a:chExt cx="16564" cy="8229"/>
          </a:xfrm>
        </p:grpSpPr>
        <p:sp>
          <p:nvSpPr>
            <p:cNvPr id="4" name="Oval 3"/>
            <p:cNvSpPr>
              <a:spLocks noChangeArrowheads="1"/>
            </p:cNvSpPr>
            <p:nvPr/>
          </p:nvSpPr>
          <p:spPr bwMode="auto">
            <a:xfrm>
              <a:off x="12297" y="6000"/>
              <a:ext cx="4165" cy="2320"/>
            </a:xfrm>
            <a:prstGeom prst="ellipse">
              <a:avLst/>
            </a:prstGeom>
            <a:solidFill>
              <a:srgbClr val="267FC3">
                <a:lumMod val="40000"/>
                <a:lumOff val="60000"/>
              </a:srgbClr>
            </a:solidFill>
            <a:ln w="9525" cmpd="sng">
              <a:noFill/>
              <a:round/>
            </a:ln>
            <a:effectLst/>
          </p:spPr>
          <p:txBody>
            <a:bodyPr lIns="0" anchor="ctr"/>
            <a:lstStyle/>
            <a:p>
              <a:pPr marL="0" marR="0" lvl="0" indent="0" algn="ctr" defTabSz="914400" eaLnBrk="1" fontAlgn="auto" latinLnBrk="0" hangingPunct="1">
                <a:lnSpc>
                  <a:spcPts val="24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6</a:t>
              </a: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、新的或变化中的利润模式</a:t>
              </a:r>
            </a:p>
          </p:txBody>
        </p:sp>
        <p:sp>
          <p:nvSpPr>
            <p:cNvPr id="5" name="Oval 4"/>
            <p:cNvSpPr>
              <a:spLocks noChangeArrowheads="1"/>
            </p:cNvSpPr>
            <p:nvPr/>
          </p:nvSpPr>
          <p:spPr bwMode="auto">
            <a:xfrm>
              <a:off x="1440" y="3493"/>
              <a:ext cx="4165" cy="2320"/>
            </a:xfrm>
            <a:prstGeom prst="ellipse">
              <a:avLst/>
            </a:prstGeom>
            <a:solidFill>
              <a:srgbClr val="267FC3"/>
            </a:solidFill>
            <a:ln w="9525" cmpd="sng">
              <a:noFill/>
              <a:round/>
            </a:ln>
            <a:effectLst/>
          </p:spPr>
          <p:txBody>
            <a:bodyPr wrap="none" anchor="ctr"/>
            <a:lstStyle/>
            <a:p>
              <a:pPr marL="0" marR="0" lvl="0" indent="0" algn="ctr" defTabSz="914400" eaLnBrk="1" fontAlgn="auto" latinLnBrk="0" hangingPunct="1">
                <a:lnSpc>
                  <a:spcPts val="24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1</a:t>
              </a: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、变化中的客户偏好</a:t>
              </a:r>
              <a:endParaRPr kumimoji="0" lang="en-US" altLang="zh-CN"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0" marR="0" lvl="0" indent="0" algn="ctr" defTabSz="914400" eaLnBrk="1" fontAlgn="auto" latinLnBrk="0" hangingPunct="1">
                <a:lnSpc>
                  <a:spcPts val="2400"/>
                </a:lnSpc>
                <a:spcBef>
                  <a:spcPts val="0"/>
                </a:spcBef>
                <a:spcAft>
                  <a:spcPts val="0"/>
                </a:spcAft>
                <a:buClrTx/>
                <a:buSzTx/>
                <a:buFontTx/>
                <a:buNone/>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lt"/>
                </a:rPr>
                <a:t>（以客户为中心）</a:t>
              </a: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6" name="Oval 5"/>
            <p:cNvSpPr>
              <a:spLocks noChangeArrowheads="1"/>
            </p:cNvSpPr>
            <p:nvPr/>
          </p:nvSpPr>
          <p:spPr bwMode="auto">
            <a:xfrm>
              <a:off x="1542" y="6000"/>
              <a:ext cx="4165" cy="2320"/>
            </a:xfrm>
            <a:prstGeom prst="ellipse">
              <a:avLst/>
            </a:prstGeom>
            <a:solidFill>
              <a:srgbClr val="267FC3">
                <a:lumMod val="40000"/>
                <a:lumOff val="60000"/>
              </a:srgbClr>
            </a:solidFill>
            <a:ln w="9525" cmpd="sng">
              <a:noFill/>
              <a:round/>
            </a:ln>
            <a:effectLst/>
          </p:spPr>
          <p:txBody>
            <a:bodyPr wrap="none" anchor="ctr"/>
            <a:lstStyle/>
            <a:p>
              <a:pPr marL="0" marR="0" lvl="0" indent="0" algn="ctr" defTabSz="914400" eaLnBrk="1" fontAlgn="auto" latinLnBrk="0" hangingPunct="1">
                <a:lnSpc>
                  <a:spcPts val="24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4</a:t>
              </a:r>
              <a:r>
                <a:rPr kumimoji="0" lang="zh-CN" altLang="en-US" sz="1400" b="1"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、突破性的新技术</a:t>
              </a:r>
            </a:p>
          </p:txBody>
        </p:sp>
        <p:sp>
          <p:nvSpPr>
            <p:cNvPr id="7" name="Oval 6"/>
            <p:cNvSpPr>
              <a:spLocks noChangeArrowheads="1"/>
            </p:cNvSpPr>
            <p:nvPr/>
          </p:nvSpPr>
          <p:spPr bwMode="auto">
            <a:xfrm>
              <a:off x="12297" y="3493"/>
              <a:ext cx="4165" cy="2320"/>
            </a:xfrm>
            <a:prstGeom prst="ellipse">
              <a:avLst/>
            </a:prstGeom>
            <a:solidFill>
              <a:srgbClr val="267FC3"/>
            </a:solidFill>
            <a:ln w="9525" cmpd="sng">
              <a:noFill/>
              <a:round/>
            </a:ln>
            <a:effectLst/>
          </p:spPr>
          <p:txBody>
            <a:bodyPr wrap="none" anchor="ctr"/>
            <a:lstStyle/>
            <a:p>
              <a:pPr marL="0" marR="0" lvl="0" indent="0" algn="ctr" defTabSz="914400" eaLnBrk="1" fontAlgn="auto" latinLnBrk="0" hangingPunct="1">
                <a:lnSpc>
                  <a:spcPts val="24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3</a:t>
              </a: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、全球化/新进入</a:t>
              </a:r>
            </a:p>
            <a:p>
              <a:pPr marL="0" marR="0" lvl="0" indent="0" algn="ctr" defTabSz="914400" eaLnBrk="1" fontAlgn="auto" latinLnBrk="0" hangingPunct="1">
                <a:lnSpc>
                  <a:spcPts val="24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市场的全球性竞争者</a:t>
              </a:r>
              <a:endParaRPr kumimoji="0" lang="en-US" altLang="zh-CN"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a:p>
              <a:pPr algn="ctr" eaLnBrk="1" fontAlgn="auto" hangingPunct="1">
                <a:lnSpc>
                  <a:spcPts val="2400"/>
                </a:lnSpc>
                <a:spcBef>
                  <a:spcPts val="0"/>
                </a:spcBef>
                <a:spcAft>
                  <a:spcPts val="0"/>
                </a:spcAft>
                <a:defRPr/>
              </a:pPr>
              <a:r>
                <a:rPr lang="zh-CN" altLang="en-US" sz="1400" b="1"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lt"/>
                </a:rPr>
                <a:t>（已没有本土科技公司）</a:t>
              </a:r>
            </a:p>
            <a:p>
              <a:pPr marL="0" marR="0" lvl="0" indent="0" algn="ctr" defTabSz="914400" eaLnBrk="1" fontAlgn="auto" latinLnBrk="0" hangingPunct="1">
                <a:lnSpc>
                  <a:spcPts val="2400"/>
                </a:lnSpc>
                <a:spcBef>
                  <a:spcPts val="0"/>
                </a:spcBef>
                <a:spcAft>
                  <a:spcPts val="0"/>
                </a:spcAft>
                <a:buClrTx/>
                <a:buSzTx/>
                <a:buFontTx/>
                <a:buNone/>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8" name="Oval 7"/>
            <p:cNvSpPr>
              <a:spLocks noChangeArrowheads="1"/>
            </p:cNvSpPr>
            <p:nvPr/>
          </p:nvSpPr>
          <p:spPr bwMode="auto">
            <a:xfrm>
              <a:off x="6869" y="3493"/>
              <a:ext cx="4165" cy="2320"/>
            </a:xfrm>
            <a:prstGeom prst="ellipse">
              <a:avLst/>
            </a:prstGeom>
            <a:solidFill>
              <a:srgbClr val="267FC3">
                <a:lumMod val="40000"/>
                <a:lumOff val="60000"/>
              </a:srgbClr>
            </a:solidFill>
            <a:ln w="9525" cmpd="sng">
              <a:noFill/>
              <a:round/>
            </a:ln>
            <a:effectLst/>
          </p:spPr>
          <p:txBody>
            <a:bodyPr wrap="none" anchor="ctr"/>
            <a:lstStyle/>
            <a:p>
              <a:pPr marL="0" marR="0" lvl="0" indent="0" algn="ctr" defTabSz="914400" eaLnBrk="1" fontAlgn="auto" latinLnBrk="0" hangingPunct="1">
                <a:lnSpc>
                  <a:spcPts val="24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2</a:t>
              </a: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、行业间的界限模糊</a:t>
              </a:r>
            </a:p>
          </p:txBody>
        </p:sp>
        <p:sp>
          <p:nvSpPr>
            <p:cNvPr id="9" name="Oval 8"/>
            <p:cNvSpPr>
              <a:spLocks noChangeArrowheads="1"/>
            </p:cNvSpPr>
            <p:nvPr/>
          </p:nvSpPr>
          <p:spPr bwMode="auto">
            <a:xfrm>
              <a:off x="6869" y="6000"/>
              <a:ext cx="4165" cy="2320"/>
            </a:xfrm>
            <a:prstGeom prst="ellipse">
              <a:avLst/>
            </a:prstGeom>
            <a:solidFill>
              <a:srgbClr val="267FC3"/>
            </a:solidFill>
            <a:ln w="9525" cmpd="sng">
              <a:noFill/>
              <a:round/>
            </a:ln>
            <a:effectLst/>
          </p:spPr>
          <p:txBody>
            <a:bodyPr wrap="none" anchor="ctr"/>
            <a:lstStyle/>
            <a:p>
              <a:pPr marL="0" marR="0" lvl="0" indent="0" algn="ctr" defTabSz="914400" eaLnBrk="1" fontAlgn="auto" latinLnBrk="0" hangingPunct="1">
                <a:lnSpc>
                  <a:spcPts val="24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FCC78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5</a:t>
              </a:r>
              <a:r>
                <a:rPr kumimoji="0" lang="zh-CN" altLang="en-US" sz="1400" b="1" i="0" u="none" strike="noStrike" kern="0" cap="none" spc="0" normalizeH="0" baseline="0" noProof="0" dirty="0">
                  <a:ln>
                    <a:noFill/>
                  </a:ln>
                  <a:solidFill>
                    <a:srgbClr val="FCC78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、政策、法规变化</a:t>
              </a:r>
            </a:p>
          </p:txBody>
        </p:sp>
        <p:sp>
          <p:nvSpPr>
            <p:cNvPr id="10" name="TextBox 8"/>
            <p:cNvSpPr txBox="1"/>
            <p:nvPr/>
          </p:nvSpPr>
          <p:spPr>
            <a:xfrm>
              <a:off x="892" y="1483"/>
              <a:ext cx="16564" cy="723"/>
            </a:xfrm>
            <a:prstGeom prst="rect">
              <a:avLst/>
            </a:prstGeom>
            <a:noFill/>
          </p:spPr>
          <p:txBody>
            <a:bodyPr wrap="square" rtlCol="0">
              <a:spAutoFit/>
            </a:bodyPr>
            <a:lstStyle/>
            <a:p>
              <a:pPr algn="ctr">
                <a:lnSpc>
                  <a:spcPct val="150000"/>
                </a:lnSpc>
              </a:pPr>
              <a:r>
                <a:rPr kumimoji="1" lang="zh-CN" altLang="en-US" sz="1600" b="1" dirty="0">
                  <a:solidFill>
                    <a:srgbClr val="0070C0"/>
                  </a:solidFill>
                  <a:latin typeface="微软雅黑" panose="020B0503020204020204" pitchFamily="34" charset="-122"/>
                  <a:ea typeface="微软雅黑" panose="020B0503020204020204" pitchFamily="34" charset="-122"/>
                  <a:cs typeface="+mn-ea"/>
                  <a:sym typeface="+mn-lt"/>
                </a:rPr>
                <a:t>研究价值转移趋势是战略洞察的关键输入</a:t>
              </a:r>
            </a:p>
          </p:txBody>
        </p:sp>
        <p:sp>
          <p:nvSpPr>
            <p:cNvPr id="11" name="文本框 10"/>
            <p:cNvSpPr txBox="1"/>
            <p:nvPr/>
          </p:nvSpPr>
          <p:spPr>
            <a:xfrm>
              <a:off x="1684" y="2465"/>
              <a:ext cx="4025" cy="820"/>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客户侧的颠覆性</a:t>
              </a:r>
              <a:r>
                <a:rPr lang="zh-CN" altLang="en-US"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风险</a:t>
              </a:r>
              <a:endParaRPr lang="en-US" altLang="zh-CN"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自身的</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解决方案的</a:t>
              </a:r>
            </a:p>
          </p:txBody>
        </p:sp>
        <p:sp>
          <p:nvSpPr>
            <p:cNvPr id="12" name="文本框 11"/>
            <p:cNvSpPr txBox="1"/>
            <p:nvPr/>
          </p:nvSpPr>
          <p:spPr>
            <a:xfrm>
              <a:off x="7660" y="2465"/>
              <a:ext cx="3374" cy="482"/>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cs typeface="+mn-ea"/>
                  <a:sym typeface="+mn-lt"/>
                </a:rPr>
                <a:t>混沌中的跨界</a:t>
              </a:r>
              <a:r>
                <a:rPr lang="zh-CN" altLang="en-US" sz="1400" b="1" dirty="0">
                  <a:solidFill>
                    <a:srgbClr val="FF0000"/>
                  </a:solidFill>
                  <a:latin typeface="微软雅黑" panose="020B0503020204020204" pitchFamily="34" charset="-122"/>
                  <a:ea typeface="微软雅黑" panose="020B0503020204020204" pitchFamily="34" charset="-122"/>
                  <a:cs typeface="+mn-ea"/>
                  <a:sym typeface="+mn-lt"/>
                </a:rPr>
                <a:t>机会</a:t>
              </a:r>
            </a:p>
          </p:txBody>
        </p:sp>
        <p:sp>
          <p:nvSpPr>
            <p:cNvPr id="13" name="文本框 12"/>
            <p:cNvSpPr txBox="1"/>
            <p:nvPr/>
          </p:nvSpPr>
          <p:spPr>
            <a:xfrm>
              <a:off x="12160" y="2465"/>
              <a:ext cx="4659" cy="482"/>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cs typeface="+mn-ea"/>
                  <a:sym typeface="+mn-lt"/>
                </a:rPr>
                <a:t>潜在的竞争，</a:t>
              </a:r>
              <a:r>
                <a:rPr lang="zh-CN" altLang="en-US" sz="1400" b="1" dirty="0">
                  <a:solidFill>
                    <a:srgbClr val="FF0000"/>
                  </a:solidFill>
                  <a:latin typeface="微软雅黑" panose="020B0503020204020204" pitchFamily="34" charset="-122"/>
                  <a:ea typeface="微软雅黑" panose="020B0503020204020204" pitchFamily="34" charset="-122"/>
                  <a:cs typeface="+mn-ea"/>
                  <a:sym typeface="+mn-lt"/>
                </a:rPr>
                <a:t>对手</a:t>
              </a:r>
              <a:r>
                <a:rPr lang="zh-CN" altLang="en-US" sz="1400" dirty="0">
                  <a:latin typeface="微软雅黑" panose="020B0503020204020204" pitchFamily="34" charset="-122"/>
                  <a:ea typeface="微软雅黑" panose="020B0503020204020204" pitchFamily="34" charset="-122"/>
                  <a:cs typeface="+mn-ea"/>
                  <a:sym typeface="+mn-lt"/>
                </a:rPr>
                <a:t>的势能</a:t>
              </a:r>
            </a:p>
          </p:txBody>
        </p:sp>
        <p:sp>
          <p:nvSpPr>
            <p:cNvPr id="26" name="文本框 25"/>
            <p:cNvSpPr txBox="1"/>
            <p:nvPr/>
          </p:nvSpPr>
          <p:spPr>
            <a:xfrm>
              <a:off x="991" y="8554"/>
              <a:ext cx="4165" cy="820"/>
            </a:xfrm>
            <a:prstGeom prst="rect">
              <a:avLst/>
            </a:prstGeom>
            <a:noFill/>
          </p:spPr>
          <p:txBody>
            <a:bodyPr wrap="square" rtlCol="0">
              <a:spAutoFit/>
            </a:bodyPr>
            <a:lstStyle/>
            <a:p>
              <a:pPr algn="ctr"/>
              <a:r>
                <a:rPr lang="zh-CN" altLang="en-US" sz="1400" b="1" dirty="0">
                  <a:solidFill>
                    <a:srgbClr val="FF0000"/>
                  </a:solidFill>
                  <a:latin typeface="微软雅黑" panose="020B0503020204020204" pitchFamily="34" charset="-122"/>
                  <a:ea typeface="微软雅黑" panose="020B0503020204020204" pitchFamily="34" charset="-122"/>
                  <a:cs typeface="+mn-ea"/>
                  <a:sym typeface="+mn-lt"/>
                </a:rPr>
                <a:t>技术</a:t>
              </a:r>
              <a:r>
                <a:rPr lang="zh-CN" altLang="en-US" sz="1400" dirty="0">
                  <a:latin typeface="微软雅黑" panose="020B0503020204020204" pitchFamily="34" charset="-122"/>
                  <a:ea typeface="微软雅黑" panose="020B0503020204020204" pitchFamily="34" charset="-122"/>
                  <a:cs typeface="+mn-ea"/>
                  <a:sym typeface="+mn-lt"/>
                </a:rPr>
                <a:t>成熟曲线中的</a:t>
              </a:r>
              <a:endParaRPr lang="en-US" altLang="zh-CN" sz="1400" dirty="0">
                <a:latin typeface="微软雅黑" panose="020B0503020204020204" pitchFamily="34" charset="-122"/>
                <a:ea typeface="微软雅黑" panose="020B0503020204020204" pitchFamily="34" charset="-122"/>
                <a:cs typeface="+mn-ea"/>
                <a:sym typeface="+mn-lt"/>
              </a:endParaRPr>
            </a:p>
            <a:p>
              <a:pPr algn="ctr"/>
              <a:r>
                <a:rPr lang="zh-CN" altLang="en-US" sz="1400" dirty="0">
                  <a:latin typeface="微软雅黑" panose="020B0503020204020204" pitchFamily="34" charset="-122"/>
                  <a:ea typeface="微软雅黑" panose="020B0503020204020204" pitchFamily="34" charset="-122"/>
                  <a:cs typeface="+mn-ea"/>
                  <a:sym typeface="+mn-lt"/>
                </a:rPr>
                <a:t>成熟度迁移，如区块链</a:t>
              </a:r>
            </a:p>
          </p:txBody>
        </p:sp>
        <p:sp>
          <p:nvSpPr>
            <p:cNvPr id="27" name="文本框 26"/>
            <p:cNvSpPr txBox="1"/>
            <p:nvPr/>
          </p:nvSpPr>
          <p:spPr>
            <a:xfrm>
              <a:off x="7213" y="8554"/>
              <a:ext cx="3375" cy="1158"/>
            </a:xfrm>
            <a:prstGeom prst="rect">
              <a:avLst/>
            </a:prstGeom>
            <a:noFill/>
          </p:spPr>
          <p:txBody>
            <a:bodyPr wrap="square" rtlCol="0">
              <a:spAutoFit/>
            </a:bodyPr>
            <a:lstStyle/>
            <a:p>
              <a:pPr algn="ctr"/>
              <a:r>
                <a:rPr lang="zh-CN" altLang="en-US" sz="1400" dirty="0">
                  <a:latin typeface="微软雅黑" panose="020B0503020204020204" pitchFamily="34" charset="-122"/>
                  <a:ea typeface="微软雅黑" panose="020B0503020204020204" pitchFamily="34" charset="-122"/>
                  <a:cs typeface="+mn-ea"/>
                  <a:sym typeface="+mn-lt"/>
                </a:rPr>
                <a:t>贸易争端</a:t>
              </a:r>
              <a:endParaRPr lang="en-US" altLang="zh-CN" sz="1400" dirty="0">
                <a:latin typeface="微软雅黑" panose="020B0503020204020204" pitchFamily="34" charset="-122"/>
                <a:ea typeface="微软雅黑" panose="020B0503020204020204" pitchFamily="34" charset="-122"/>
                <a:cs typeface="+mn-ea"/>
                <a:sym typeface="+mn-lt"/>
              </a:endParaRPr>
            </a:p>
            <a:p>
              <a:pPr algn="ctr"/>
              <a:r>
                <a:rPr lang="zh-CN" altLang="en-US" sz="1400" dirty="0">
                  <a:latin typeface="微软雅黑" panose="020B0503020204020204" pitchFamily="34" charset="-122"/>
                  <a:ea typeface="微软雅黑" panose="020B0503020204020204" pitchFamily="34" charset="-122"/>
                  <a:cs typeface="+mn-ea"/>
                  <a:sym typeface="+mn-lt"/>
                </a:rPr>
                <a:t>绿色、社会责任</a:t>
              </a:r>
              <a:endParaRPr lang="en-US" altLang="zh-CN" sz="1400" dirty="0">
                <a:latin typeface="微软雅黑" panose="020B0503020204020204" pitchFamily="34" charset="-122"/>
                <a:ea typeface="微软雅黑" panose="020B0503020204020204" pitchFamily="34" charset="-122"/>
                <a:cs typeface="+mn-ea"/>
                <a:sym typeface="+mn-lt"/>
              </a:endParaRPr>
            </a:p>
            <a:p>
              <a:pPr algn="ctr"/>
              <a:r>
                <a:rPr lang="zh-CN" altLang="en-US" sz="1400" b="1" dirty="0">
                  <a:solidFill>
                    <a:srgbClr val="FF0000"/>
                  </a:solidFill>
                  <a:latin typeface="微软雅黑" panose="020B0503020204020204" pitchFamily="34" charset="-122"/>
                  <a:ea typeface="微软雅黑" panose="020B0503020204020204" pitchFamily="34" charset="-122"/>
                  <a:cs typeface="+mn-ea"/>
                  <a:sym typeface="+mn-lt"/>
                </a:rPr>
                <a:t>国家</a:t>
              </a:r>
              <a:r>
                <a:rPr lang="zh-CN" altLang="en-US" sz="1400" dirty="0">
                  <a:latin typeface="微软雅黑" panose="020B0503020204020204" pitchFamily="34" charset="-122"/>
                  <a:ea typeface="微软雅黑" panose="020B0503020204020204" pitchFamily="34" charset="-122"/>
                  <a:cs typeface="+mn-ea"/>
                  <a:sym typeface="+mn-lt"/>
                </a:rPr>
                <a:t>战略变化</a:t>
              </a:r>
            </a:p>
          </p:txBody>
        </p:sp>
        <p:sp>
          <p:nvSpPr>
            <p:cNvPr id="28" name="文本框 27"/>
            <p:cNvSpPr txBox="1"/>
            <p:nvPr/>
          </p:nvSpPr>
          <p:spPr>
            <a:xfrm>
              <a:off x="12733" y="8554"/>
              <a:ext cx="3601" cy="482"/>
            </a:xfrm>
            <a:prstGeom prst="rect">
              <a:avLst/>
            </a:prstGeom>
            <a:noFill/>
          </p:spPr>
          <p:txBody>
            <a:bodyPr wrap="square" rtlCol="0">
              <a:spAutoFit/>
            </a:bodyPr>
            <a:lstStyle/>
            <a:p>
              <a:pPr algn="ctr"/>
              <a:r>
                <a:rPr lang="zh-CN" altLang="en-US" sz="1400" b="1" dirty="0">
                  <a:solidFill>
                    <a:srgbClr val="FF0000"/>
                  </a:solidFill>
                  <a:latin typeface="微软雅黑" panose="020B0503020204020204" pitchFamily="34" charset="-122"/>
                  <a:ea typeface="微软雅黑" panose="020B0503020204020204" pitchFamily="34" charset="-122"/>
                  <a:cs typeface="+mn-ea"/>
                  <a:sym typeface="+mn-lt"/>
                </a:rPr>
                <a:t>商业模式</a:t>
              </a:r>
            </a:p>
          </p:txBody>
        </p:sp>
      </p:grpSp>
      <p:sp>
        <p:nvSpPr>
          <p:cNvPr id="18" name="Rectangle 3"/>
          <p:cNvSpPr txBox="1">
            <a:spLocks noChangeArrowheads="1"/>
          </p:cNvSpPr>
          <p:nvPr/>
        </p:nvSpPr>
        <p:spPr bwMode="auto">
          <a:xfrm>
            <a:off x="1656715" y="6328694"/>
            <a:ext cx="8991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1800" b="1" dirty="0">
                <a:solidFill>
                  <a:schemeClr val="bg1"/>
                </a:solidFill>
                <a:effectLst/>
                <a:latin typeface="微软雅黑" panose="020B0503020204020204" pitchFamily="34" charset="-122"/>
                <a:ea typeface="微软雅黑" panose="020B0503020204020204" pitchFamily="34" charset="-122"/>
              </a:rPr>
              <a:t>看得见的都不怕，看不见的跨界对手越来越多，案例：美团</a:t>
            </a:r>
            <a:r>
              <a:rPr lang="en-US" altLang="zh-CN" sz="1800" b="1" dirty="0">
                <a:solidFill>
                  <a:schemeClr val="bg1"/>
                </a:solidFill>
                <a:effectLst/>
                <a:latin typeface="微软雅黑" panose="020B0503020204020204" pitchFamily="34" charset="-122"/>
                <a:ea typeface="微软雅黑" panose="020B0503020204020204" pitchFamily="34" charset="-122"/>
              </a:rPr>
              <a:t>vs</a:t>
            </a:r>
            <a:r>
              <a:rPr lang="zh-CN" altLang="en-US" sz="1800" b="1" dirty="0">
                <a:solidFill>
                  <a:schemeClr val="bg1"/>
                </a:solidFill>
                <a:effectLst/>
                <a:latin typeface="微软雅黑" panose="020B0503020204020204" pitchFamily="34" charset="-122"/>
                <a:ea typeface="微软雅黑" panose="020B0503020204020204" pitchFamily="34" charset="-122"/>
              </a:rPr>
              <a:t>康师傅；手机</a:t>
            </a:r>
            <a:r>
              <a:rPr lang="en-US" altLang="zh-CN" sz="1800" b="1" dirty="0">
                <a:solidFill>
                  <a:schemeClr val="bg1"/>
                </a:solidFill>
                <a:effectLst/>
                <a:latin typeface="微软雅黑" panose="020B0503020204020204" pitchFamily="34" charset="-122"/>
                <a:ea typeface="微软雅黑" panose="020B0503020204020204" pitchFamily="34" charset="-122"/>
              </a:rPr>
              <a:t>vs</a:t>
            </a:r>
            <a:r>
              <a:rPr lang="zh-CN" altLang="en-US" sz="1800" b="1" dirty="0">
                <a:solidFill>
                  <a:schemeClr val="bg1"/>
                </a:solidFill>
                <a:effectLst/>
                <a:latin typeface="微软雅黑" panose="020B0503020204020204" pitchFamily="34" charset="-122"/>
                <a:ea typeface="微软雅黑" panose="020B0503020204020204" pitchFamily="34" charset="-122"/>
              </a:rPr>
              <a:t>相机</a:t>
            </a:r>
            <a:r>
              <a:rPr lang="en-US" altLang="zh-CN" sz="1800" b="1" dirty="0">
                <a:solidFill>
                  <a:schemeClr val="bg1"/>
                </a:solidFill>
                <a:effectLst/>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3005"/>
            <a:ext cx="12206605" cy="522605"/>
          </a:xfrm>
          <a:prstGeom prst="rect">
            <a:avLst/>
          </a:prstGeom>
        </p:spPr>
      </p:pic>
      <p:sp>
        <p:nvSpPr>
          <p:cNvPr id="51203" name="内容占位符 2"/>
          <p:cNvSpPr>
            <a:spLocks noChangeArrowheads="1"/>
          </p:cNvSpPr>
          <p:nvPr/>
        </p:nvSpPr>
        <p:spPr bwMode="auto">
          <a:xfrm>
            <a:off x="2202304" y="4461925"/>
            <a:ext cx="7932575" cy="1765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ts val="1000"/>
              </a:spcBef>
              <a:buClr>
                <a:srgbClr val="90C226"/>
              </a:buClr>
              <a:buSzPct val="80000"/>
              <a:buFont typeface="Wingdings 3" panose="05040102010807070707" pitchFamily="18" charset="2"/>
              <a:buChar char=""/>
            </a:pPr>
            <a:endParaRPr lang="zh-CN" altLang="zh-CN" sz="100">
              <a:solidFill>
                <a:srgbClr val="000000"/>
              </a:solidFill>
              <a:latin typeface="+mn-lt"/>
              <a:ea typeface="+mn-ea"/>
              <a:cs typeface="+mn-ea"/>
              <a:sym typeface="+mn-lt"/>
            </a:endParaRPr>
          </a:p>
        </p:txBody>
      </p:sp>
      <p:sp>
        <p:nvSpPr>
          <p:cNvPr id="2" name="标题 1"/>
          <p:cNvSpPr txBox="1"/>
          <p:nvPr/>
        </p:nvSpPr>
        <p:spPr>
          <a:xfrm>
            <a:off x="576796" y="461615"/>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2060"/>
                </a:solidFill>
                <a:latin typeface="微软雅黑" panose="020B0503020204020204" pitchFamily="34" charset="-122"/>
                <a:ea typeface="微软雅黑" panose="020B0503020204020204" pitchFamily="34" charset="-122"/>
                <a:cs typeface="+mn-ea"/>
                <a:sym typeface="+mn-lt"/>
              </a:rPr>
              <a:t>看行业： 外部环境的PEST工具</a:t>
            </a:r>
          </a:p>
        </p:txBody>
      </p:sp>
      <p:sp>
        <p:nvSpPr>
          <p:cNvPr id="3" name="内容占位符 2"/>
          <p:cNvSpPr>
            <a:spLocks noChangeArrowheads="1"/>
          </p:cNvSpPr>
          <p:nvPr/>
        </p:nvSpPr>
        <p:spPr bwMode="auto">
          <a:xfrm>
            <a:off x="909955" y="1111885"/>
            <a:ext cx="10251440" cy="419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285750" indent="-285750" algn="just">
              <a:lnSpc>
                <a:spcPct val="130000"/>
              </a:lnSpc>
              <a:spcBef>
                <a:spcPts val="1000"/>
              </a:spcBef>
              <a:buClr>
                <a:srgbClr val="90C226"/>
              </a:buClr>
              <a:buSzPct val="80000"/>
              <a:buFont typeface="Wingdings" panose="05000000000000000000" pitchFamily="2" charset="2"/>
              <a:buChar char="u"/>
            </a:pPr>
            <a:r>
              <a:rPr lang="zh-CN" alt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政治和法律因素（</a:t>
            </a:r>
            <a:r>
              <a:rPr lang="en-US" altLang="zh-CN"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political factors</a:t>
            </a:r>
            <a:r>
              <a:rPr lang="zh-CN" alt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6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例如知识产权</a:t>
            </a:r>
            <a:endParaRPr lang="en-US" altLang="zh-CN" sz="16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0" indent="0" algn="just">
              <a:lnSpc>
                <a:spcPct val="130000"/>
              </a:lnSpc>
              <a:spcBef>
                <a:spcPts val="1000"/>
              </a:spcBef>
              <a:buClr>
                <a:srgbClr val="90C226"/>
              </a:buClr>
              <a:buSzPct val="80000"/>
            </a:pPr>
            <a:r>
              <a:rPr lang="en-US" altLang="zh-CN"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97</a:t>
            </a: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年开始中国政府转变职能，一切工作以经济建设为中心。搞经济外交，促进经济贸易发展和国际合作。华为很早就意识到，一个企业拥有</a:t>
            </a:r>
            <a:r>
              <a:rPr lang="zh-CN" altLang="en-US" sz="1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专利</a:t>
            </a: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的多少是市场竞争的准入门槛和游戏筹码</a:t>
            </a:r>
          </a:p>
          <a:p>
            <a:pPr marL="285750" indent="-285750" algn="just">
              <a:lnSpc>
                <a:spcPct val="130000"/>
              </a:lnSpc>
              <a:spcBef>
                <a:spcPts val="1000"/>
              </a:spcBef>
              <a:buClr>
                <a:srgbClr val="90C226"/>
              </a:buClr>
              <a:buSzPct val="80000"/>
              <a:buFont typeface="Wingdings" panose="05000000000000000000" pitchFamily="2" charset="2"/>
              <a:buChar char="u"/>
            </a:pPr>
            <a:r>
              <a:rPr lang="zh-CN" alt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经济因素（</a:t>
            </a:r>
            <a:r>
              <a:rPr lang="en-US" altLang="zh-CN"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economic factors</a:t>
            </a:r>
            <a:r>
              <a:rPr lang="zh-CN" alt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6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例如移动互联网的普及</a:t>
            </a:r>
            <a:endParaRPr lang="en-US" altLang="zh-CN" sz="16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0" indent="0" algn="just">
              <a:lnSpc>
                <a:spcPct val="130000"/>
              </a:lnSpc>
              <a:spcBef>
                <a:spcPts val="1000"/>
              </a:spcBef>
              <a:buClr>
                <a:srgbClr val="90C226"/>
              </a:buClr>
              <a:buSzPct val="80000"/>
            </a:pP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欧洲、美洲和非洲有广阔的电信市场可以拓展，尤其是非洲和拉美市场，电信领域正处于高速发展期。华为成熟的产品和解决方案，恰恰是这些地区运营商所需要的，华为正是看准这个时机来开拓市场。给与我们以整网解决方案去</a:t>
            </a:r>
            <a:r>
              <a:rPr lang="zh-CN" altLang="en-US" sz="1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封闭市场</a:t>
            </a: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的可能</a:t>
            </a:r>
          </a:p>
          <a:p>
            <a:pPr marL="285750" indent="-285750" algn="just">
              <a:lnSpc>
                <a:spcPct val="130000"/>
              </a:lnSpc>
              <a:spcBef>
                <a:spcPts val="1000"/>
              </a:spcBef>
              <a:buClr>
                <a:srgbClr val="90C226"/>
              </a:buClr>
              <a:buSzPct val="80000"/>
              <a:buFont typeface="Wingdings" panose="05000000000000000000" pitchFamily="2" charset="2"/>
              <a:buChar char="u"/>
            </a:pPr>
            <a:r>
              <a:rPr lang="zh-CN" alt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社会和文化因素（</a:t>
            </a:r>
            <a:r>
              <a:rPr lang="en-US" altLang="zh-CN"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social factors</a:t>
            </a:r>
            <a:r>
              <a:rPr lang="zh-CN" alt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6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国家战略协同</a:t>
            </a:r>
            <a:endParaRPr lang="en-US" altLang="zh-CN" sz="16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0" indent="0" algn="just">
              <a:lnSpc>
                <a:spcPct val="130000"/>
              </a:lnSpc>
              <a:spcBef>
                <a:spcPts val="1000"/>
              </a:spcBef>
              <a:buClr>
                <a:srgbClr val="90C226"/>
              </a:buClr>
              <a:buSzPct val="80000"/>
            </a:pP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随着中国经济飞速发展，国际市场对中国高科技公司所知甚少，中国需要在世界树立有影响力的品牌。华为的战略与</a:t>
            </a:r>
            <a:r>
              <a:rPr lang="zh-CN" altLang="en-US" sz="1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国家战略协同</a:t>
            </a: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起来</a:t>
            </a:r>
          </a:p>
          <a:p>
            <a:pPr marL="285750" indent="-285750" algn="just">
              <a:lnSpc>
                <a:spcPct val="130000"/>
              </a:lnSpc>
              <a:spcBef>
                <a:spcPts val="1000"/>
              </a:spcBef>
              <a:buClr>
                <a:srgbClr val="90C226"/>
              </a:buClr>
              <a:buSzPct val="80000"/>
              <a:buFont typeface="Wingdings" panose="05000000000000000000" pitchFamily="2" charset="2"/>
              <a:buChar char="u"/>
            </a:pPr>
            <a:r>
              <a:rPr lang="zh-CN" alt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技术因素（</a:t>
            </a:r>
            <a:r>
              <a:rPr lang="en-US" altLang="zh-CN"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technological factors</a:t>
            </a:r>
            <a:r>
              <a:rPr lang="zh-CN" alt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6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要特别关注新技术带来的风险和机会</a:t>
            </a:r>
            <a:endParaRPr lang="zh-CN" altLang="en-US" sz="16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0" indent="0" algn="just">
              <a:lnSpc>
                <a:spcPct val="130000"/>
              </a:lnSpc>
              <a:spcBef>
                <a:spcPts val="1000"/>
              </a:spcBef>
              <a:buClr>
                <a:srgbClr val="90C226"/>
              </a:buClr>
              <a:buSzPct val="80000"/>
            </a:pP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华为在全球建设了</a:t>
            </a:r>
            <a:r>
              <a:rPr lang="en-US" altLang="zh-CN"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12</a:t>
            </a: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个研发中心，在通讯领域占有</a:t>
            </a:r>
            <a:r>
              <a:rPr lang="en-US" altLang="zh-CN"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30%</a:t>
            </a:r>
            <a:r>
              <a:rPr lang="zh-CN" alt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的核心专利，产品研发、生产和售后</a:t>
            </a:r>
            <a:r>
              <a:rPr lang="zh-CN" altLang="en-US" sz="1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不会受制于人</a:t>
            </a:r>
          </a:p>
          <a:p>
            <a:pPr marL="0" indent="0" algn="just">
              <a:spcBef>
                <a:spcPts val="1000"/>
              </a:spcBef>
              <a:buClr>
                <a:srgbClr val="90C226"/>
              </a:buClr>
              <a:buSzPct val="80000"/>
            </a:pPr>
            <a:endParaRPr lang="zh-CN" altLang="en-US" sz="1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6" name="Rectangle 3"/>
          <p:cNvSpPr txBox="1">
            <a:spLocks noChangeArrowheads="1"/>
          </p:cNvSpPr>
          <p:nvPr/>
        </p:nvSpPr>
        <p:spPr bwMode="auto">
          <a:xfrm>
            <a:off x="1788795" y="6300119"/>
            <a:ext cx="8991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2000" b="1" dirty="0">
                <a:solidFill>
                  <a:schemeClr val="bg1"/>
                </a:solidFill>
                <a:effectLst/>
                <a:latin typeface="微软雅黑" panose="020B0503020204020204" pitchFamily="34" charset="-122"/>
                <a:ea typeface="微软雅黑" panose="020B0503020204020204" pitchFamily="34" charset="-122"/>
              </a:rPr>
              <a:t>贸易战、退群、一带一路等所有关键事件要有风险、机会和应对措施分析</a:t>
            </a:r>
            <a:endParaRPr lang="en-US" altLang="zh-CN" sz="2000" b="1" dirty="0">
              <a:solidFill>
                <a:schemeClr val="bg1"/>
              </a:solidFill>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3005"/>
            <a:ext cx="12206605" cy="522605"/>
          </a:xfrm>
          <a:prstGeom prst="rect">
            <a:avLst/>
          </a:prstGeom>
        </p:spPr>
      </p:pic>
      <p:sp>
        <p:nvSpPr>
          <p:cNvPr id="51203" name="内容占位符 2"/>
          <p:cNvSpPr>
            <a:spLocks noChangeArrowheads="1"/>
          </p:cNvSpPr>
          <p:nvPr/>
        </p:nvSpPr>
        <p:spPr bwMode="auto">
          <a:xfrm>
            <a:off x="2202304" y="4461925"/>
            <a:ext cx="7932575" cy="1765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ts val="1000"/>
              </a:spcBef>
              <a:buClr>
                <a:srgbClr val="90C226"/>
              </a:buClr>
              <a:buSzPct val="80000"/>
              <a:buFont typeface="Wingdings 3" panose="05040102010807070707" pitchFamily="18" charset="2"/>
              <a:buChar char=""/>
            </a:pPr>
            <a:endParaRPr lang="zh-CN" altLang="zh-CN" sz="100">
              <a:solidFill>
                <a:srgbClr val="000000"/>
              </a:solidFill>
              <a:latin typeface="+mn-lt"/>
              <a:ea typeface="+mn-ea"/>
              <a:cs typeface="+mn-ea"/>
              <a:sym typeface="+mn-lt"/>
            </a:endParaRPr>
          </a:p>
        </p:txBody>
      </p:sp>
      <p:sp>
        <p:nvSpPr>
          <p:cNvPr id="2" name="标题 1"/>
          <p:cNvSpPr txBox="1"/>
          <p:nvPr/>
        </p:nvSpPr>
        <p:spPr>
          <a:xfrm>
            <a:off x="668942" y="303530"/>
            <a:ext cx="9378315" cy="831850"/>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lnSpc>
                <a:spcPct val="150000"/>
              </a:lnSpc>
            </a:pPr>
            <a:r>
              <a:rPr lang="zh-CN" altLang="en-US" sz="2000" dirty="0">
                <a:solidFill>
                  <a:srgbClr val="C00000"/>
                </a:solidFill>
                <a:latin typeface="微软雅黑" panose="020B0503020204020204" pitchFamily="34" charset="-122"/>
                <a:ea typeface="微软雅黑" panose="020B0503020204020204" pitchFamily="34" charset="-122"/>
                <a:cs typeface="+mn-ea"/>
                <a:sym typeface="+mn-lt"/>
              </a:rPr>
              <a:t>看技术的工具： 甘特炒作曲线，洞察走向，适时切入</a:t>
            </a:r>
            <a:endParaRPr lang="en-US" altLang="zh-CN" sz="2000" dirty="0">
              <a:solidFill>
                <a:srgbClr val="C00000"/>
              </a:solidFill>
              <a:latin typeface="微软雅黑" panose="020B0503020204020204" pitchFamily="34" charset="-122"/>
              <a:ea typeface="微软雅黑" panose="020B0503020204020204" pitchFamily="34" charset="-122"/>
              <a:cs typeface="+mn-ea"/>
              <a:sym typeface="+mn-lt"/>
            </a:endParaRPr>
          </a:p>
          <a:p>
            <a:pPr algn="l" eaLnBrk="1" hangingPunct="1">
              <a:lnSpc>
                <a:spcPct val="150000"/>
              </a:lnSpc>
            </a:pPr>
            <a:r>
              <a:rPr lang="zh-CN" altLang="en-US" sz="2000" dirty="0">
                <a:solidFill>
                  <a:srgbClr val="C00000"/>
                </a:solidFill>
                <a:latin typeface="微软雅黑" panose="020B0503020204020204" pitchFamily="34" charset="-122"/>
                <a:ea typeface="微软雅黑" panose="020B0503020204020204" pitchFamily="34" charset="-122"/>
                <a:cs typeface="+mn-ea"/>
                <a:sym typeface="+mn-lt"/>
              </a:rPr>
              <a:t>问题：如果跨界电商当前是</a:t>
            </a:r>
            <a:r>
              <a:rPr lang="en-US" altLang="zh-CN" sz="2000" dirty="0">
                <a:solidFill>
                  <a:srgbClr val="C00000"/>
                </a:solidFill>
                <a:latin typeface="微软雅黑" panose="020B0503020204020204" pitchFamily="34" charset="-122"/>
                <a:ea typeface="微软雅黑" panose="020B0503020204020204" pitchFamily="34" charset="-122"/>
                <a:cs typeface="+mn-ea"/>
                <a:sym typeface="+mn-lt"/>
              </a:rPr>
              <a:t>3.0</a:t>
            </a:r>
            <a:r>
              <a:rPr lang="zh-CN" altLang="en-US" sz="2000" dirty="0">
                <a:solidFill>
                  <a:srgbClr val="C00000"/>
                </a:solidFill>
                <a:latin typeface="微软雅黑" panose="020B0503020204020204" pitchFamily="34" charset="-122"/>
                <a:ea typeface="微软雅黑" panose="020B0503020204020204" pitchFamily="34" charset="-122"/>
                <a:cs typeface="+mn-ea"/>
                <a:sym typeface="+mn-lt"/>
              </a:rPr>
              <a:t>，</a:t>
            </a:r>
            <a:r>
              <a:rPr lang="en-US" altLang="zh-CN" sz="2000" dirty="0">
                <a:solidFill>
                  <a:srgbClr val="C00000"/>
                </a:solidFill>
                <a:latin typeface="微软雅黑" panose="020B0503020204020204" pitchFamily="34" charset="-122"/>
                <a:ea typeface="微软雅黑" panose="020B0503020204020204" pitchFamily="34" charset="-122"/>
                <a:cs typeface="+mn-ea"/>
                <a:sym typeface="+mn-lt"/>
              </a:rPr>
              <a:t>4.0</a:t>
            </a:r>
            <a:r>
              <a:rPr lang="zh-CN" altLang="en-US" sz="2000" dirty="0">
                <a:solidFill>
                  <a:srgbClr val="C00000"/>
                </a:solidFill>
                <a:latin typeface="微软雅黑" panose="020B0503020204020204" pitchFamily="34" charset="-122"/>
                <a:ea typeface="微软雅黑" panose="020B0503020204020204" pitchFamily="34" charset="-122"/>
                <a:cs typeface="+mn-ea"/>
                <a:sym typeface="+mn-lt"/>
              </a:rPr>
              <a:t>是什么？智能商业？</a:t>
            </a:r>
          </a:p>
        </p:txBody>
      </p:sp>
      <p:pic>
        <p:nvPicPr>
          <p:cNvPr id="7" name="图片 6"/>
          <p:cNvPicPr>
            <a:picLocks noChangeAspect="1"/>
          </p:cNvPicPr>
          <p:nvPr/>
        </p:nvPicPr>
        <p:blipFill rotWithShape="1">
          <a:blip r:embed="rId3" cstate="print">
            <a:extLst>
              <a:ext uri="{28A0092B-C50C-407E-A947-70E740481C1C}">
                <a14:useLocalDpi xmlns:a14="http://schemas.microsoft.com/office/drawing/2010/main" val="0"/>
              </a:ext>
            </a:extLst>
          </a:blip>
          <a:srcRect b="33759"/>
          <a:stretch>
            <a:fillRect/>
          </a:stretch>
        </p:blipFill>
        <p:spPr>
          <a:xfrm>
            <a:off x="1611392" y="1576253"/>
            <a:ext cx="8345981" cy="4245878"/>
          </a:xfrm>
          <a:prstGeom prst="rect">
            <a:avLst/>
          </a:prstGeom>
        </p:spPr>
      </p:pic>
      <p:sp>
        <p:nvSpPr>
          <p:cNvPr id="5" name="TextBox 20"/>
          <p:cNvSpPr txBox="1"/>
          <p:nvPr/>
        </p:nvSpPr>
        <p:spPr>
          <a:xfrm>
            <a:off x="3302635" y="5356225"/>
            <a:ext cx="1088390" cy="366395"/>
          </a:xfrm>
          <a:prstGeom prst="rect">
            <a:avLst/>
          </a:prstGeom>
          <a:noFill/>
        </p:spPr>
        <p:txBody>
          <a:bodyPr wrap="square" lIns="121917" tIns="60958" rIns="121917" bIns="60958" rtlCol="0">
            <a:spAutoFit/>
          </a:bodyPr>
          <a:lstStyle/>
          <a:p>
            <a:r>
              <a:rPr lang="zh-CN" altLang="en-US" sz="1600" dirty="0">
                <a:latin typeface="微软雅黑" panose="020B0503020204020204" pitchFamily="34" charset="-122"/>
                <a:ea typeface="微软雅黑" panose="020B0503020204020204" pitchFamily="34" charset="-122"/>
                <a:cs typeface="+mn-ea"/>
                <a:sym typeface="+mn-lt"/>
              </a:rPr>
              <a:t>商业价值</a:t>
            </a:r>
          </a:p>
        </p:txBody>
      </p:sp>
      <p:sp>
        <p:nvSpPr>
          <p:cNvPr id="8" name="Rectangle 3"/>
          <p:cNvSpPr txBox="1">
            <a:spLocks noChangeArrowheads="1"/>
          </p:cNvSpPr>
          <p:nvPr/>
        </p:nvSpPr>
        <p:spPr bwMode="auto">
          <a:xfrm>
            <a:off x="1611392" y="6310679"/>
            <a:ext cx="9114393"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2000" b="1" dirty="0">
                <a:solidFill>
                  <a:schemeClr val="bg1"/>
                </a:solidFill>
                <a:effectLst/>
                <a:latin typeface="微软雅黑" panose="020B0503020204020204" pitchFamily="34" charset="-122"/>
                <a:ea typeface="微软雅黑" panose="020B0503020204020204" pitchFamily="34" charset="-122"/>
              </a:rPr>
              <a:t>与时俱进，积极试错：先</a:t>
            </a:r>
            <a:r>
              <a:rPr lang="en-US" altLang="zh-CN" sz="2000" b="1" dirty="0">
                <a:solidFill>
                  <a:schemeClr val="bg1"/>
                </a:solidFill>
                <a:effectLst/>
                <a:latin typeface="微软雅黑" panose="020B0503020204020204" pitchFamily="34" charset="-122"/>
                <a:ea typeface="微软雅黑" panose="020B0503020204020204" pitchFamily="34" charset="-122"/>
              </a:rPr>
              <a:t>______</a:t>
            </a:r>
            <a:r>
              <a:rPr lang="zh-CN" altLang="en-US" sz="2000" b="1" dirty="0">
                <a:solidFill>
                  <a:schemeClr val="bg1"/>
                </a:solidFill>
                <a:effectLst/>
                <a:latin typeface="微软雅黑" panose="020B0503020204020204" pitchFamily="34" charset="-122"/>
                <a:ea typeface="微软雅黑" panose="020B0503020204020204" pitchFamily="34" charset="-122"/>
              </a:rPr>
              <a:t>→再</a:t>
            </a:r>
            <a:r>
              <a:rPr lang="en-US" altLang="zh-CN" sz="2000" b="1" dirty="0">
                <a:solidFill>
                  <a:schemeClr val="bg1"/>
                </a:solidFill>
                <a:effectLst/>
                <a:latin typeface="微软雅黑" panose="020B0503020204020204" pitchFamily="34" charset="-122"/>
                <a:ea typeface="微软雅黑" panose="020B0503020204020204" pitchFamily="34" charset="-122"/>
              </a:rPr>
              <a:t>______ </a:t>
            </a:r>
            <a:r>
              <a:rPr lang="zh-CN" altLang="en-US" sz="2000" b="1" dirty="0">
                <a:solidFill>
                  <a:schemeClr val="bg1"/>
                </a:solidFill>
                <a:effectLst/>
                <a:latin typeface="微软雅黑" panose="020B0503020204020204" pitchFamily="34" charset="-122"/>
                <a:ea typeface="微软雅黑" panose="020B0503020204020204" pitchFamily="34" charset="-122"/>
              </a:rPr>
              <a:t>→</a:t>
            </a:r>
            <a:r>
              <a:rPr lang="en-US" altLang="zh-CN" sz="2000" b="1" dirty="0">
                <a:solidFill>
                  <a:schemeClr val="bg1"/>
                </a:solidFill>
                <a:effectLst/>
                <a:latin typeface="微软雅黑" panose="020B0503020204020204" pitchFamily="34" charset="-122"/>
                <a:ea typeface="微软雅黑" panose="020B0503020204020204" pitchFamily="34" charset="-122"/>
              </a:rPr>
              <a:t> </a:t>
            </a:r>
            <a:r>
              <a:rPr lang="zh-CN" altLang="en-US" sz="2000" b="1" dirty="0">
                <a:solidFill>
                  <a:schemeClr val="bg1"/>
                </a:solidFill>
                <a:effectLst/>
                <a:latin typeface="微软雅黑" panose="020B0503020204020204" pitchFamily="34" charset="-122"/>
                <a:ea typeface="微软雅黑" panose="020B0503020204020204" pitchFamily="34" charset="-122"/>
              </a:rPr>
              <a:t>最后</a:t>
            </a:r>
            <a:r>
              <a:rPr lang="en-US" altLang="zh-CN" sz="2000" b="1" dirty="0">
                <a:solidFill>
                  <a:schemeClr val="bg1"/>
                </a:solidFill>
                <a:effectLst/>
                <a:latin typeface="微软雅黑" panose="020B0503020204020204" pitchFamily="34" charset="-122"/>
                <a:ea typeface="微软雅黑" panose="020B0503020204020204" pitchFamily="34" charset="-122"/>
              </a:rPr>
              <a:t>______</a:t>
            </a:r>
            <a:r>
              <a:rPr lang="zh-CN" altLang="en-US" sz="2000" b="1" dirty="0">
                <a:solidFill>
                  <a:schemeClr val="bg1"/>
                </a:solidFill>
                <a:effectLst/>
                <a:latin typeface="微软雅黑" panose="020B0503020204020204" pitchFamily="34" charset="-122"/>
                <a:ea typeface="微软雅黑" panose="020B0503020204020204" pitchFamily="34" charset="-122"/>
              </a:rPr>
              <a:t>；阿里：拆分组织试错</a:t>
            </a:r>
            <a:endParaRPr lang="en-US" altLang="zh-CN" sz="2000" b="1" dirty="0">
              <a:solidFill>
                <a:schemeClr val="bg1"/>
              </a:solidFill>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txBox="1"/>
          <p:nvPr/>
        </p:nvSpPr>
        <p:spPr>
          <a:xfrm>
            <a:off x="742178" y="439285"/>
            <a:ext cx="8581272" cy="72023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lnSpc>
                <a:spcPct val="150000"/>
              </a:lnSpc>
            </a:pPr>
            <a:r>
              <a:rPr lang="zh-CN" altLang="en-US" sz="2000" dirty="0">
                <a:solidFill>
                  <a:srgbClr val="C00000"/>
                </a:solidFill>
                <a:latin typeface="微软雅黑" panose="020B0503020204020204" pitchFamily="34" charset="-122"/>
                <a:ea typeface="微软雅黑" panose="020B0503020204020204" pitchFamily="34" charset="-122"/>
                <a:cs typeface="+mn-ea"/>
                <a:sym typeface="+mn-lt"/>
              </a:rPr>
              <a:t>看客户：对标客户</a:t>
            </a:r>
            <a:r>
              <a:rPr lang="en-US" altLang="zh-CN" sz="2000" dirty="0">
                <a:solidFill>
                  <a:srgbClr val="C00000"/>
                </a:solidFill>
                <a:latin typeface="微软雅黑" panose="020B0503020204020204" pitchFamily="34" charset="-122"/>
                <a:ea typeface="微软雅黑" panose="020B0503020204020204" pitchFamily="34" charset="-122"/>
                <a:cs typeface="+mn-ea"/>
                <a:sym typeface="+mn-lt"/>
              </a:rPr>
              <a:t>SP</a:t>
            </a:r>
            <a:r>
              <a:rPr lang="zh-CN" altLang="en-US" sz="2000" dirty="0">
                <a:solidFill>
                  <a:srgbClr val="C00000"/>
                </a:solidFill>
                <a:latin typeface="微软雅黑" panose="020B0503020204020204" pitchFamily="34" charset="-122"/>
                <a:ea typeface="微软雅黑" panose="020B0503020204020204" pitchFamily="34" charset="-122"/>
                <a:cs typeface="+mn-ea"/>
                <a:sym typeface="+mn-lt"/>
              </a:rPr>
              <a:t>（</a:t>
            </a:r>
            <a:r>
              <a:rPr lang="en-US" altLang="zh-CN" sz="2000" dirty="0">
                <a:solidFill>
                  <a:srgbClr val="C00000"/>
                </a:solidFill>
                <a:latin typeface="微软雅黑" panose="020B0503020204020204" pitchFamily="34" charset="-122"/>
                <a:ea typeface="微软雅黑" panose="020B0503020204020204" pitchFamily="34" charset="-122"/>
                <a:cs typeface="+mn-ea"/>
                <a:sym typeface="+mn-lt"/>
              </a:rPr>
              <a:t>2B</a:t>
            </a:r>
            <a:r>
              <a:rPr lang="zh-CN" altLang="en-US" sz="2000" dirty="0">
                <a:solidFill>
                  <a:srgbClr val="C00000"/>
                </a:solidFill>
                <a:latin typeface="微软雅黑" panose="020B0503020204020204" pitchFamily="34" charset="-122"/>
                <a:ea typeface="微软雅黑" panose="020B0503020204020204" pitchFamily="34" charset="-122"/>
                <a:cs typeface="+mn-ea"/>
                <a:sym typeface="+mn-lt"/>
              </a:rPr>
              <a:t>）；客户行为变化、爆款研究（</a:t>
            </a:r>
            <a:r>
              <a:rPr lang="en-US" altLang="zh-CN" sz="2000" dirty="0">
                <a:solidFill>
                  <a:srgbClr val="C00000"/>
                </a:solidFill>
                <a:latin typeface="微软雅黑" panose="020B0503020204020204" pitchFamily="34" charset="-122"/>
                <a:ea typeface="微软雅黑" panose="020B0503020204020204" pitchFamily="34" charset="-122"/>
                <a:cs typeface="+mn-ea"/>
                <a:sym typeface="+mn-lt"/>
              </a:rPr>
              <a:t>2C</a:t>
            </a:r>
            <a:r>
              <a:rPr lang="zh-CN" altLang="en-US" sz="2000" dirty="0">
                <a:solidFill>
                  <a:srgbClr val="C00000"/>
                </a:solidFill>
                <a:latin typeface="微软雅黑" panose="020B0503020204020204" pitchFamily="34" charset="-122"/>
                <a:ea typeface="微软雅黑" panose="020B0503020204020204" pitchFamily="34" charset="-122"/>
                <a:cs typeface="+mn-ea"/>
                <a:sym typeface="+mn-lt"/>
              </a:rPr>
              <a:t>）</a:t>
            </a:r>
            <a:endParaRPr lang="en-US" altLang="zh-CN" sz="2000" dirty="0">
              <a:solidFill>
                <a:srgbClr val="C00000"/>
              </a:solidFill>
              <a:latin typeface="微软雅黑" panose="020B0503020204020204" pitchFamily="34" charset="-122"/>
              <a:ea typeface="微软雅黑" panose="020B0503020204020204" pitchFamily="34" charset="-122"/>
              <a:cs typeface="+mn-ea"/>
              <a:sym typeface="+mn-lt"/>
            </a:endParaRPr>
          </a:p>
          <a:p>
            <a:pPr algn="l" eaLnBrk="1" hangingPunct="1">
              <a:lnSpc>
                <a:spcPct val="150000"/>
              </a:lnSpc>
            </a:pPr>
            <a:r>
              <a:rPr lang="zh-CN" altLang="en-US" sz="2000" dirty="0">
                <a:solidFill>
                  <a:srgbClr val="C00000"/>
                </a:solidFill>
                <a:latin typeface="微软雅黑" panose="020B0503020204020204" pitchFamily="34" charset="-122"/>
                <a:ea typeface="微软雅黑" panose="020B0503020204020204" pitchFamily="34" charset="-122"/>
                <a:cs typeface="+mn-ea"/>
                <a:sym typeface="+mn-lt"/>
              </a:rPr>
              <a:t>案例：华为手机，</a:t>
            </a:r>
            <a:r>
              <a:rPr lang="en-US" altLang="zh-CN" sz="2000" dirty="0">
                <a:solidFill>
                  <a:srgbClr val="C00000"/>
                </a:solidFill>
                <a:latin typeface="微软雅黑" panose="020B0503020204020204" pitchFamily="34" charset="-122"/>
                <a:ea typeface="微软雅黑" panose="020B0503020204020204" pitchFamily="34" charset="-122"/>
                <a:cs typeface="+mn-ea"/>
                <a:sym typeface="+mn-lt"/>
              </a:rPr>
              <a:t>1</a:t>
            </a:r>
            <a:r>
              <a:rPr lang="zh-CN" altLang="en-US" sz="2000" dirty="0">
                <a:solidFill>
                  <a:srgbClr val="C00000"/>
                </a:solidFill>
                <a:latin typeface="微软雅黑" panose="020B0503020204020204" pitchFamily="34" charset="-122"/>
                <a:ea typeface="微软雅黑" panose="020B0503020204020204" pitchFamily="34" charset="-122"/>
                <a:cs typeface="+mn-ea"/>
                <a:sym typeface="+mn-lt"/>
              </a:rPr>
              <a:t>摄像头→</a:t>
            </a:r>
            <a:r>
              <a:rPr lang="en-US" altLang="zh-CN" sz="2000" dirty="0">
                <a:solidFill>
                  <a:srgbClr val="C00000"/>
                </a:solidFill>
                <a:latin typeface="微软雅黑" panose="020B0503020204020204" pitchFamily="34" charset="-122"/>
                <a:ea typeface="微软雅黑" panose="020B0503020204020204" pitchFamily="34" charset="-122"/>
                <a:cs typeface="+mn-ea"/>
                <a:sym typeface="+mn-lt"/>
              </a:rPr>
              <a:t>2</a:t>
            </a:r>
            <a:r>
              <a:rPr lang="zh-CN" altLang="en-US" sz="2000" dirty="0">
                <a:solidFill>
                  <a:srgbClr val="C00000"/>
                </a:solidFill>
                <a:latin typeface="微软雅黑" panose="020B0503020204020204" pitchFamily="34" charset="-122"/>
                <a:ea typeface="微软雅黑" panose="020B0503020204020204" pitchFamily="34" charset="-122"/>
                <a:cs typeface="+mn-ea"/>
                <a:sym typeface="+mn-lt"/>
              </a:rPr>
              <a:t>摄像头→</a:t>
            </a:r>
            <a:r>
              <a:rPr lang="en-US" altLang="zh-CN" sz="2000" dirty="0">
                <a:solidFill>
                  <a:srgbClr val="C00000"/>
                </a:solidFill>
                <a:latin typeface="微软雅黑" panose="020B0503020204020204" pitchFamily="34" charset="-122"/>
                <a:ea typeface="微软雅黑" panose="020B0503020204020204" pitchFamily="34" charset="-122"/>
                <a:cs typeface="+mn-ea"/>
                <a:sym typeface="+mn-lt"/>
              </a:rPr>
              <a:t>3</a:t>
            </a:r>
            <a:r>
              <a:rPr lang="zh-CN" altLang="en-US" sz="2000" dirty="0">
                <a:solidFill>
                  <a:srgbClr val="C00000"/>
                </a:solidFill>
                <a:latin typeface="微软雅黑" panose="020B0503020204020204" pitchFamily="34" charset="-122"/>
                <a:ea typeface="微软雅黑" panose="020B0503020204020204" pitchFamily="34" charset="-122"/>
                <a:cs typeface="+mn-ea"/>
                <a:sym typeface="+mn-lt"/>
              </a:rPr>
              <a:t>摄像头→保时捷→</a:t>
            </a:r>
            <a:r>
              <a:rPr lang="en-US" altLang="zh-CN" sz="2000" dirty="0">
                <a:solidFill>
                  <a:srgbClr val="C00000"/>
                </a:solidFill>
                <a:latin typeface="微软雅黑" panose="020B0503020204020204" pitchFamily="34" charset="-122"/>
                <a:ea typeface="微软雅黑" panose="020B0503020204020204" pitchFamily="34" charset="-122"/>
                <a:cs typeface="+mn-ea"/>
                <a:sym typeface="+mn-lt"/>
              </a:rPr>
              <a:t>AI…</a:t>
            </a:r>
            <a:endParaRPr lang="zh-CN" altLang="en-US" sz="2000" dirty="0">
              <a:solidFill>
                <a:srgbClr val="C00000"/>
              </a:solidFill>
              <a:latin typeface="微软雅黑" panose="020B0503020204020204" pitchFamily="34" charset="-122"/>
              <a:ea typeface="微软雅黑" panose="020B0503020204020204" pitchFamily="34" charset="-122"/>
              <a:cs typeface="+mn-ea"/>
              <a:sym typeface="+mn-lt"/>
            </a:endParaRPr>
          </a:p>
        </p:txBody>
      </p:sp>
      <p:grpSp>
        <p:nvGrpSpPr>
          <p:cNvPr id="73" name="组合 72"/>
          <p:cNvGrpSpPr/>
          <p:nvPr/>
        </p:nvGrpSpPr>
        <p:grpSpPr>
          <a:xfrm>
            <a:off x="1583690" y="1590040"/>
            <a:ext cx="8655050" cy="4305193"/>
            <a:chOff x="1367" y="1845"/>
            <a:chExt cx="16174" cy="8045"/>
          </a:xfrm>
        </p:grpSpPr>
        <p:sp>
          <p:nvSpPr>
            <p:cNvPr id="6" name="Rectangle 2"/>
            <p:cNvSpPr>
              <a:spLocks noChangeArrowheads="1"/>
            </p:cNvSpPr>
            <p:nvPr/>
          </p:nvSpPr>
          <p:spPr bwMode="auto">
            <a:xfrm>
              <a:off x="3704" y="8360"/>
              <a:ext cx="2305" cy="1093"/>
            </a:xfrm>
            <a:prstGeom prst="rect">
              <a:avLst/>
            </a:prstGeom>
            <a:solidFill>
              <a:srgbClr val="D4EAF5"/>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7" name="Text Box 4"/>
            <p:cNvSpPr txBox="1">
              <a:spLocks noChangeArrowheads="1"/>
            </p:cNvSpPr>
            <p:nvPr/>
          </p:nvSpPr>
          <p:spPr bwMode="auto">
            <a:xfrm>
              <a:off x="3704" y="9432"/>
              <a:ext cx="2305" cy="4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0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产品“购买者”</a:t>
              </a:r>
            </a:p>
          </p:txBody>
        </p:sp>
        <p:sp>
          <p:nvSpPr>
            <p:cNvPr id="8" name="Text Box 5"/>
            <p:cNvSpPr txBox="1">
              <a:spLocks noChangeArrowheads="1"/>
            </p:cNvSpPr>
            <p:nvPr/>
          </p:nvSpPr>
          <p:spPr bwMode="auto">
            <a:xfrm>
              <a:off x="1367" y="8641"/>
              <a:ext cx="2337" cy="5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r">
                <a:spcBef>
                  <a:spcPct val="50000"/>
                </a:spcBef>
              </a:pPr>
              <a:r>
                <a:rPr lang="zh-CN" altLang="en-US" sz="1200" b="1" dirty="0">
                  <a:solidFill>
                    <a:srgbClr val="000000"/>
                  </a:solidFill>
                  <a:latin typeface="微软雅黑" panose="020B0503020204020204" pitchFamily="34" charset="-122"/>
                  <a:ea typeface="微软雅黑" panose="020B0503020204020204" pitchFamily="34" charset="-122"/>
                  <a:cs typeface="+mn-ea"/>
                  <a:sym typeface="+mn-lt"/>
                </a:rPr>
                <a:t>产品功能性</a:t>
              </a:r>
            </a:p>
          </p:txBody>
        </p:sp>
        <p:sp>
          <p:nvSpPr>
            <p:cNvPr id="9" name="Rectangle 7"/>
            <p:cNvSpPr>
              <a:spLocks noChangeArrowheads="1"/>
            </p:cNvSpPr>
            <p:nvPr/>
          </p:nvSpPr>
          <p:spPr bwMode="auto">
            <a:xfrm>
              <a:off x="3704" y="7290"/>
              <a:ext cx="2305" cy="1093"/>
            </a:xfrm>
            <a:prstGeom prst="rect">
              <a:avLst/>
            </a:prstGeom>
            <a:solidFill>
              <a:srgbClr val="D4EAF5">
                <a:alpha val="50000"/>
              </a:srgbClr>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Rectangle 8"/>
            <p:cNvSpPr>
              <a:spLocks noChangeArrowheads="1"/>
            </p:cNvSpPr>
            <p:nvPr/>
          </p:nvSpPr>
          <p:spPr bwMode="auto">
            <a:xfrm>
              <a:off x="3704" y="6202"/>
              <a:ext cx="2305" cy="1090"/>
            </a:xfrm>
            <a:prstGeom prst="rect">
              <a:avLst/>
            </a:prstGeom>
            <a:solidFill>
              <a:srgbClr val="D4EAF5">
                <a:alpha val="50000"/>
              </a:srgbClr>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1" name="Rectangle 9"/>
            <p:cNvSpPr>
              <a:spLocks noChangeArrowheads="1"/>
            </p:cNvSpPr>
            <p:nvPr/>
          </p:nvSpPr>
          <p:spPr bwMode="auto">
            <a:xfrm>
              <a:off x="3704" y="5112"/>
              <a:ext cx="2305" cy="1090"/>
            </a:xfrm>
            <a:prstGeom prst="rect">
              <a:avLst/>
            </a:prstGeom>
            <a:solidFill>
              <a:srgbClr val="D4EAF5">
                <a:alpha val="50000"/>
              </a:srgbClr>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2" name="Rectangle 10"/>
            <p:cNvSpPr>
              <a:spLocks noChangeArrowheads="1"/>
            </p:cNvSpPr>
            <p:nvPr/>
          </p:nvSpPr>
          <p:spPr bwMode="auto">
            <a:xfrm>
              <a:off x="3704" y="4025"/>
              <a:ext cx="2305" cy="1088"/>
            </a:xfrm>
            <a:prstGeom prst="rect">
              <a:avLst/>
            </a:prstGeom>
            <a:solidFill>
              <a:srgbClr val="D4EAF5">
                <a:alpha val="50000"/>
              </a:srgbClr>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Rectangle 11"/>
            <p:cNvSpPr>
              <a:spLocks noChangeArrowheads="1"/>
            </p:cNvSpPr>
            <p:nvPr/>
          </p:nvSpPr>
          <p:spPr bwMode="auto">
            <a:xfrm>
              <a:off x="3704" y="2940"/>
              <a:ext cx="2305" cy="1095"/>
            </a:xfrm>
            <a:prstGeom prst="rect">
              <a:avLst/>
            </a:prstGeom>
            <a:solidFill>
              <a:srgbClr val="D4EAF5">
                <a:alpha val="50000"/>
              </a:srgbClr>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Rectangle 12"/>
            <p:cNvSpPr>
              <a:spLocks noChangeArrowheads="1"/>
            </p:cNvSpPr>
            <p:nvPr/>
          </p:nvSpPr>
          <p:spPr bwMode="auto">
            <a:xfrm>
              <a:off x="3704" y="1845"/>
              <a:ext cx="2305" cy="1090"/>
            </a:xfrm>
            <a:prstGeom prst="rect">
              <a:avLst/>
            </a:prstGeom>
            <a:solidFill>
              <a:srgbClr val="D4EAF5">
                <a:alpha val="50000"/>
              </a:srgbClr>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5" name="Text Box 13"/>
            <p:cNvSpPr txBox="1">
              <a:spLocks noChangeArrowheads="1"/>
            </p:cNvSpPr>
            <p:nvPr/>
          </p:nvSpPr>
          <p:spPr bwMode="auto">
            <a:xfrm>
              <a:off x="1391" y="7576"/>
              <a:ext cx="2313" cy="5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r">
                <a:spcBef>
                  <a:spcPct val="50000"/>
                </a:spcBef>
              </a:pPr>
              <a:r>
                <a:rPr lang="zh-CN" altLang="en-US" sz="1200" b="1">
                  <a:solidFill>
                    <a:srgbClr val="000000"/>
                  </a:solidFill>
                  <a:latin typeface="微软雅黑" panose="020B0503020204020204" pitchFamily="34" charset="-122"/>
                  <a:ea typeface="微软雅黑" panose="020B0503020204020204" pitchFamily="34" charset="-122"/>
                  <a:cs typeface="+mn-ea"/>
                  <a:sym typeface="+mn-lt"/>
                </a:rPr>
                <a:t>减少成本</a:t>
              </a:r>
            </a:p>
          </p:txBody>
        </p:sp>
        <p:sp>
          <p:nvSpPr>
            <p:cNvPr id="16" name="Text Box 14"/>
            <p:cNvSpPr txBox="1">
              <a:spLocks noChangeArrowheads="1"/>
            </p:cNvSpPr>
            <p:nvPr/>
          </p:nvSpPr>
          <p:spPr bwMode="auto">
            <a:xfrm>
              <a:off x="1411" y="6486"/>
              <a:ext cx="2293" cy="5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r">
                <a:spcBef>
                  <a:spcPct val="50000"/>
                </a:spcBef>
              </a:pPr>
              <a:r>
                <a:rPr lang="zh-CN" altLang="en-US" sz="1200" b="1">
                  <a:solidFill>
                    <a:srgbClr val="000000"/>
                  </a:solidFill>
                  <a:latin typeface="微软雅黑" panose="020B0503020204020204" pitchFamily="34" charset="-122"/>
                  <a:ea typeface="微软雅黑" panose="020B0503020204020204" pitchFamily="34" charset="-122"/>
                  <a:cs typeface="+mn-ea"/>
                  <a:sym typeface="+mn-lt"/>
                </a:rPr>
                <a:t>减少资金</a:t>
              </a:r>
            </a:p>
          </p:txBody>
        </p:sp>
        <p:sp>
          <p:nvSpPr>
            <p:cNvPr id="17" name="Text Box 15"/>
            <p:cNvSpPr txBox="1">
              <a:spLocks noChangeArrowheads="1"/>
            </p:cNvSpPr>
            <p:nvPr/>
          </p:nvSpPr>
          <p:spPr bwMode="auto">
            <a:xfrm>
              <a:off x="1443" y="4311"/>
              <a:ext cx="2261" cy="5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r">
                <a:spcBef>
                  <a:spcPct val="50000"/>
                </a:spcBef>
              </a:pPr>
              <a:r>
                <a:rPr lang="zh-CN" altLang="en-US" sz="1200" b="1" dirty="0">
                  <a:solidFill>
                    <a:srgbClr val="000000"/>
                  </a:solidFill>
                  <a:latin typeface="微软雅黑" panose="020B0503020204020204" pitchFamily="34" charset="-122"/>
                  <a:ea typeface="微软雅黑" panose="020B0503020204020204" pitchFamily="34" charset="-122"/>
                  <a:cs typeface="+mn-ea"/>
                  <a:sym typeface="+mn-lt"/>
                </a:rPr>
                <a:t>减少错误</a:t>
              </a:r>
            </a:p>
          </p:txBody>
        </p:sp>
        <p:sp>
          <p:nvSpPr>
            <p:cNvPr id="18" name="Text Box 16"/>
            <p:cNvSpPr txBox="1">
              <a:spLocks noChangeArrowheads="1"/>
            </p:cNvSpPr>
            <p:nvPr/>
          </p:nvSpPr>
          <p:spPr bwMode="auto">
            <a:xfrm>
              <a:off x="1463" y="5396"/>
              <a:ext cx="2241" cy="5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r">
                <a:spcBef>
                  <a:spcPct val="50000"/>
                </a:spcBef>
              </a:pPr>
              <a:r>
                <a:rPr lang="zh-CN" altLang="en-US" sz="1200" b="1">
                  <a:solidFill>
                    <a:srgbClr val="000000"/>
                  </a:solidFill>
                  <a:latin typeface="微软雅黑" panose="020B0503020204020204" pitchFamily="34" charset="-122"/>
                  <a:ea typeface="微软雅黑" panose="020B0503020204020204" pitchFamily="34" charset="-122"/>
                  <a:cs typeface="+mn-ea"/>
                  <a:sym typeface="+mn-lt"/>
                </a:rPr>
                <a:t>减少周折</a:t>
              </a:r>
            </a:p>
          </p:txBody>
        </p:sp>
        <p:sp>
          <p:nvSpPr>
            <p:cNvPr id="19" name="Text Box 17"/>
            <p:cNvSpPr txBox="1">
              <a:spLocks noChangeArrowheads="1"/>
            </p:cNvSpPr>
            <p:nvPr/>
          </p:nvSpPr>
          <p:spPr bwMode="auto">
            <a:xfrm>
              <a:off x="1415" y="3226"/>
              <a:ext cx="2289" cy="5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r">
                <a:spcBef>
                  <a:spcPct val="50000"/>
                </a:spcBef>
              </a:pPr>
              <a:r>
                <a:rPr lang="zh-CN" altLang="en-US" sz="1200" b="1" dirty="0">
                  <a:solidFill>
                    <a:srgbClr val="000000"/>
                  </a:solidFill>
                  <a:latin typeface="微软雅黑" panose="020B0503020204020204" pitchFamily="34" charset="-122"/>
                  <a:ea typeface="微软雅黑" panose="020B0503020204020204" pitchFamily="34" charset="-122"/>
                  <a:cs typeface="+mn-ea"/>
                  <a:sym typeface="+mn-lt"/>
                </a:rPr>
                <a:t>更大的区别</a:t>
              </a:r>
            </a:p>
          </p:txBody>
        </p:sp>
        <p:sp>
          <p:nvSpPr>
            <p:cNvPr id="20" name="Text Box 18"/>
            <p:cNvSpPr txBox="1">
              <a:spLocks noChangeArrowheads="1"/>
            </p:cNvSpPr>
            <p:nvPr/>
          </p:nvSpPr>
          <p:spPr bwMode="auto">
            <a:xfrm>
              <a:off x="1463" y="2129"/>
              <a:ext cx="2241" cy="5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r">
                <a:spcBef>
                  <a:spcPct val="50000"/>
                </a:spcBef>
              </a:pPr>
              <a:r>
                <a:rPr lang="zh-CN" altLang="en-US" sz="1200" b="1" dirty="0">
                  <a:solidFill>
                    <a:srgbClr val="000000"/>
                  </a:solidFill>
                  <a:latin typeface="微软雅黑" panose="020B0503020204020204" pitchFamily="34" charset="-122"/>
                  <a:ea typeface="微软雅黑" panose="020B0503020204020204" pitchFamily="34" charset="-122"/>
                  <a:cs typeface="+mn-ea"/>
                  <a:sym typeface="+mn-lt"/>
                </a:rPr>
                <a:t>更多的销售</a:t>
              </a:r>
            </a:p>
          </p:txBody>
        </p:sp>
        <p:sp>
          <p:nvSpPr>
            <p:cNvPr id="21" name="Rectangle 19"/>
            <p:cNvSpPr>
              <a:spLocks noChangeArrowheads="1"/>
            </p:cNvSpPr>
            <p:nvPr/>
          </p:nvSpPr>
          <p:spPr bwMode="auto">
            <a:xfrm>
              <a:off x="6009" y="7290"/>
              <a:ext cx="2311" cy="1093"/>
            </a:xfrm>
            <a:prstGeom prst="rect">
              <a:avLst/>
            </a:prstGeom>
            <a:solidFill>
              <a:srgbClr val="D4EAF5">
                <a:alpha val="50000"/>
              </a:srgbClr>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2" name="Rectangle 20"/>
            <p:cNvSpPr>
              <a:spLocks noChangeArrowheads="1"/>
            </p:cNvSpPr>
            <p:nvPr/>
          </p:nvSpPr>
          <p:spPr bwMode="auto">
            <a:xfrm>
              <a:off x="8320" y="7290"/>
              <a:ext cx="2311" cy="1093"/>
            </a:xfrm>
            <a:prstGeom prst="rect">
              <a:avLst/>
            </a:prstGeom>
            <a:solidFill>
              <a:srgbClr val="D4EAF5">
                <a:alpha val="50000"/>
              </a:srgbClr>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3" name="Rectangle 21"/>
            <p:cNvSpPr>
              <a:spLocks noChangeArrowheads="1"/>
            </p:cNvSpPr>
            <p:nvPr/>
          </p:nvSpPr>
          <p:spPr bwMode="auto">
            <a:xfrm>
              <a:off x="10622" y="7290"/>
              <a:ext cx="2311" cy="1093"/>
            </a:xfrm>
            <a:prstGeom prst="rect">
              <a:avLst/>
            </a:prstGeom>
            <a:solidFill>
              <a:srgbClr val="E9F4FA"/>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4" name="Rectangle 22"/>
            <p:cNvSpPr>
              <a:spLocks noChangeArrowheads="1"/>
            </p:cNvSpPr>
            <p:nvPr/>
          </p:nvSpPr>
          <p:spPr bwMode="auto">
            <a:xfrm>
              <a:off x="12930" y="7290"/>
              <a:ext cx="2311" cy="1093"/>
            </a:xfrm>
            <a:prstGeom prst="rect">
              <a:avLst/>
            </a:prstGeom>
            <a:solidFill>
              <a:srgbClr val="D4EAF5">
                <a:alpha val="50000"/>
              </a:srgbClr>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5" name="Rectangle 23"/>
            <p:cNvSpPr>
              <a:spLocks noChangeArrowheads="1"/>
            </p:cNvSpPr>
            <p:nvPr/>
          </p:nvSpPr>
          <p:spPr bwMode="auto">
            <a:xfrm>
              <a:off x="6009" y="6202"/>
              <a:ext cx="2311" cy="1090"/>
            </a:xfrm>
            <a:prstGeom prst="rect">
              <a:avLst/>
            </a:prstGeom>
            <a:solidFill>
              <a:srgbClr val="D4EAF5">
                <a:alpha val="50000"/>
              </a:srgbClr>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6" name="Rectangle 24"/>
            <p:cNvSpPr>
              <a:spLocks noChangeArrowheads="1"/>
            </p:cNvSpPr>
            <p:nvPr/>
          </p:nvSpPr>
          <p:spPr bwMode="auto">
            <a:xfrm>
              <a:off x="8320" y="6202"/>
              <a:ext cx="2311" cy="1090"/>
            </a:xfrm>
            <a:prstGeom prst="rect">
              <a:avLst/>
            </a:prstGeom>
            <a:solidFill>
              <a:srgbClr val="D4EAF5">
                <a:alpha val="50000"/>
              </a:srgbClr>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7" name="Rectangle 25"/>
            <p:cNvSpPr>
              <a:spLocks noChangeArrowheads="1"/>
            </p:cNvSpPr>
            <p:nvPr/>
          </p:nvSpPr>
          <p:spPr bwMode="auto">
            <a:xfrm>
              <a:off x="10622" y="6202"/>
              <a:ext cx="2311" cy="1090"/>
            </a:xfrm>
            <a:prstGeom prst="rect">
              <a:avLst/>
            </a:prstGeom>
            <a:solidFill>
              <a:srgbClr val="E9F4FA"/>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8" name="Rectangle 26"/>
            <p:cNvSpPr>
              <a:spLocks noChangeArrowheads="1"/>
            </p:cNvSpPr>
            <p:nvPr/>
          </p:nvSpPr>
          <p:spPr bwMode="auto">
            <a:xfrm>
              <a:off x="15229" y="6202"/>
              <a:ext cx="2311" cy="1090"/>
            </a:xfrm>
            <a:prstGeom prst="rect">
              <a:avLst/>
            </a:prstGeom>
            <a:solidFill>
              <a:srgbClr val="E9F4FA"/>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9" name="Rectangle 27"/>
            <p:cNvSpPr>
              <a:spLocks noChangeArrowheads="1"/>
            </p:cNvSpPr>
            <p:nvPr/>
          </p:nvSpPr>
          <p:spPr bwMode="auto">
            <a:xfrm>
              <a:off x="12930" y="6202"/>
              <a:ext cx="2311" cy="1090"/>
            </a:xfrm>
            <a:prstGeom prst="rect">
              <a:avLst/>
            </a:prstGeom>
            <a:solidFill>
              <a:srgbClr val="E9F4FA"/>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0" name="Rectangle 28"/>
            <p:cNvSpPr>
              <a:spLocks noChangeArrowheads="1"/>
            </p:cNvSpPr>
            <p:nvPr/>
          </p:nvSpPr>
          <p:spPr bwMode="auto">
            <a:xfrm>
              <a:off x="6009" y="5112"/>
              <a:ext cx="2311" cy="1090"/>
            </a:xfrm>
            <a:prstGeom prst="rect">
              <a:avLst/>
            </a:prstGeom>
            <a:solidFill>
              <a:srgbClr val="D4EAF5">
                <a:alpha val="50000"/>
              </a:srgbClr>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1" name="Rectangle 29"/>
            <p:cNvSpPr>
              <a:spLocks noChangeArrowheads="1"/>
            </p:cNvSpPr>
            <p:nvPr/>
          </p:nvSpPr>
          <p:spPr bwMode="auto">
            <a:xfrm>
              <a:off x="8320" y="5112"/>
              <a:ext cx="2311" cy="1090"/>
            </a:xfrm>
            <a:prstGeom prst="rect">
              <a:avLst/>
            </a:prstGeom>
            <a:solidFill>
              <a:srgbClr val="D4EAF5">
                <a:alpha val="50000"/>
              </a:srgbClr>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2" name="Rectangle 30"/>
            <p:cNvSpPr>
              <a:spLocks noChangeArrowheads="1"/>
            </p:cNvSpPr>
            <p:nvPr/>
          </p:nvSpPr>
          <p:spPr bwMode="auto">
            <a:xfrm>
              <a:off x="10622" y="5112"/>
              <a:ext cx="2311" cy="1090"/>
            </a:xfrm>
            <a:prstGeom prst="rect">
              <a:avLst/>
            </a:prstGeom>
            <a:solidFill>
              <a:srgbClr val="D4EAF5">
                <a:alpha val="50000"/>
              </a:srgbClr>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3" name="Rectangle 31"/>
            <p:cNvSpPr>
              <a:spLocks noChangeArrowheads="1"/>
            </p:cNvSpPr>
            <p:nvPr/>
          </p:nvSpPr>
          <p:spPr bwMode="auto">
            <a:xfrm>
              <a:off x="15229" y="5112"/>
              <a:ext cx="2311" cy="1090"/>
            </a:xfrm>
            <a:prstGeom prst="rect">
              <a:avLst/>
            </a:prstGeom>
            <a:solidFill>
              <a:srgbClr val="E9F4FA"/>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4" name="Rectangle 32"/>
            <p:cNvSpPr>
              <a:spLocks noChangeArrowheads="1"/>
            </p:cNvSpPr>
            <p:nvPr/>
          </p:nvSpPr>
          <p:spPr bwMode="auto">
            <a:xfrm>
              <a:off x="12930" y="5112"/>
              <a:ext cx="2311" cy="1090"/>
            </a:xfrm>
            <a:prstGeom prst="rect">
              <a:avLst/>
            </a:prstGeom>
            <a:solidFill>
              <a:srgbClr val="E9F4FA"/>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5" name="Rectangle 33"/>
            <p:cNvSpPr>
              <a:spLocks noChangeArrowheads="1"/>
            </p:cNvSpPr>
            <p:nvPr/>
          </p:nvSpPr>
          <p:spPr bwMode="auto">
            <a:xfrm>
              <a:off x="6009" y="4025"/>
              <a:ext cx="2311" cy="1088"/>
            </a:xfrm>
            <a:prstGeom prst="rect">
              <a:avLst/>
            </a:prstGeom>
            <a:solidFill>
              <a:srgbClr val="D4EAF5">
                <a:alpha val="50000"/>
              </a:srgbClr>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6" name="Rectangle 34"/>
            <p:cNvSpPr>
              <a:spLocks noChangeArrowheads="1"/>
            </p:cNvSpPr>
            <p:nvPr/>
          </p:nvSpPr>
          <p:spPr bwMode="auto">
            <a:xfrm>
              <a:off x="8320" y="4025"/>
              <a:ext cx="2311" cy="1088"/>
            </a:xfrm>
            <a:prstGeom prst="rect">
              <a:avLst/>
            </a:prstGeom>
            <a:solidFill>
              <a:srgbClr val="D4EAF5">
                <a:alpha val="50000"/>
              </a:srgbClr>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7" name="Rectangle 35"/>
            <p:cNvSpPr>
              <a:spLocks noChangeArrowheads="1"/>
            </p:cNvSpPr>
            <p:nvPr/>
          </p:nvSpPr>
          <p:spPr bwMode="auto">
            <a:xfrm>
              <a:off x="10622" y="4025"/>
              <a:ext cx="2311" cy="1088"/>
            </a:xfrm>
            <a:prstGeom prst="rect">
              <a:avLst/>
            </a:prstGeom>
            <a:solidFill>
              <a:srgbClr val="E9F4FA"/>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8" name="Rectangle 36"/>
            <p:cNvSpPr>
              <a:spLocks noChangeArrowheads="1"/>
            </p:cNvSpPr>
            <p:nvPr/>
          </p:nvSpPr>
          <p:spPr bwMode="auto">
            <a:xfrm>
              <a:off x="15229" y="4025"/>
              <a:ext cx="2311" cy="1088"/>
            </a:xfrm>
            <a:prstGeom prst="rect">
              <a:avLst/>
            </a:prstGeom>
            <a:solidFill>
              <a:srgbClr val="E9F4FA"/>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9" name="Rectangle 37"/>
            <p:cNvSpPr>
              <a:spLocks noChangeArrowheads="1"/>
            </p:cNvSpPr>
            <p:nvPr/>
          </p:nvSpPr>
          <p:spPr bwMode="auto">
            <a:xfrm>
              <a:off x="12930" y="4025"/>
              <a:ext cx="2311" cy="1088"/>
            </a:xfrm>
            <a:prstGeom prst="rect">
              <a:avLst/>
            </a:prstGeom>
            <a:solidFill>
              <a:srgbClr val="E9F4FA"/>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0" name="Rectangle 38"/>
            <p:cNvSpPr>
              <a:spLocks noChangeArrowheads="1"/>
            </p:cNvSpPr>
            <p:nvPr/>
          </p:nvSpPr>
          <p:spPr bwMode="auto">
            <a:xfrm>
              <a:off x="6009" y="2940"/>
              <a:ext cx="2311" cy="1095"/>
            </a:xfrm>
            <a:prstGeom prst="rect">
              <a:avLst/>
            </a:prstGeom>
            <a:solidFill>
              <a:srgbClr val="D4EAF5">
                <a:alpha val="50000"/>
              </a:srgbClr>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1" name="Rectangle 39"/>
            <p:cNvSpPr>
              <a:spLocks noChangeArrowheads="1"/>
            </p:cNvSpPr>
            <p:nvPr/>
          </p:nvSpPr>
          <p:spPr bwMode="auto">
            <a:xfrm>
              <a:off x="8320" y="2940"/>
              <a:ext cx="2311" cy="1095"/>
            </a:xfrm>
            <a:prstGeom prst="rect">
              <a:avLst/>
            </a:prstGeom>
            <a:solidFill>
              <a:srgbClr val="D4EAF5">
                <a:alpha val="50000"/>
              </a:srgbClr>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2" name="Rectangle 40"/>
            <p:cNvSpPr>
              <a:spLocks noChangeArrowheads="1"/>
            </p:cNvSpPr>
            <p:nvPr/>
          </p:nvSpPr>
          <p:spPr bwMode="auto">
            <a:xfrm>
              <a:off x="10622" y="2940"/>
              <a:ext cx="2311" cy="1095"/>
            </a:xfrm>
            <a:prstGeom prst="rect">
              <a:avLst/>
            </a:prstGeom>
            <a:solidFill>
              <a:srgbClr val="E9F4FA"/>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3" name="Rectangle 41"/>
            <p:cNvSpPr>
              <a:spLocks noChangeArrowheads="1"/>
            </p:cNvSpPr>
            <p:nvPr/>
          </p:nvSpPr>
          <p:spPr bwMode="auto">
            <a:xfrm>
              <a:off x="15229" y="2940"/>
              <a:ext cx="2311" cy="1095"/>
            </a:xfrm>
            <a:prstGeom prst="rect">
              <a:avLst/>
            </a:prstGeom>
            <a:solidFill>
              <a:srgbClr val="E9F4FA"/>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Rectangle 42"/>
            <p:cNvSpPr>
              <a:spLocks noChangeArrowheads="1"/>
            </p:cNvSpPr>
            <p:nvPr/>
          </p:nvSpPr>
          <p:spPr bwMode="auto">
            <a:xfrm>
              <a:off x="12930" y="2940"/>
              <a:ext cx="2311" cy="1095"/>
            </a:xfrm>
            <a:prstGeom prst="rect">
              <a:avLst/>
            </a:prstGeom>
            <a:solidFill>
              <a:srgbClr val="E9F4FA"/>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Rectangle 43"/>
            <p:cNvSpPr>
              <a:spLocks noChangeArrowheads="1"/>
            </p:cNvSpPr>
            <p:nvPr/>
          </p:nvSpPr>
          <p:spPr bwMode="auto">
            <a:xfrm>
              <a:off x="6009" y="1845"/>
              <a:ext cx="2311" cy="1090"/>
            </a:xfrm>
            <a:prstGeom prst="rect">
              <a:avLst/>
            </a:prstGeom>
            <a:solidFill>
              <a:srgbClr val="D4EAF5">
                <a:alpha val="50000"/>
              </a:srgbClr>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Rectangle 44"/>
            <p:cNvSpPr>
              <a:spLocks noChangeArrowheads="1"/>
            </p:cNvSpPr>
            <p:nvPr/>
          </p:nvSpPr>
          <p:spPr bwMode="auto">
            <a:xfrm>
              <a:off x="8320" y="1845"/>
              <a:ext cx="2311" cy="1090"/>
            </a:xfrm>
            <a:prstGeom prst="rect">
              <a:avLst/>
            </a:prstGeom>
            <a:solidFill>
              <a:srgbClr val="E9F4FA"/>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Rectangle 45"/>
            <p:cNvSpPr>
              <a:spLocks noChangeArrowheads="1"/>
            </p:cNvSpPr>
            <p:nvPr/>
          </p:nvSpPr>
          <p:spPr bwMode="auto">
            <a:xfrm>
              <a:off x="10622" y="1845"/>
              <a:ext cx="2311" cy="1090"/>
            </a:xfrm>
            <a:prstGeom prst="rect">
              <a:avLst/>
            </a:prstGeom>
            <a:solidFill>
              <a:srgbClr val="E9F4FA"/>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Rectangle 46"/>
            <p:cNvSpPr>
              <a:spLocks noChangeArrowheads="1"/>
            </p:cNvSpPr>
            <p:nvPr/>
          </p:nvSpPr>
          <p:spPr bwMode="auto">
            <a:xfrm>
              <a:off x="15229" y="1845"/>
              <a:ext cx="2311" cy="1090"/>
            </a:xfrm>
            <a:prstGeom prst="rect">
              <a:avLst/>
            </a:prstGeom>
            <a:solidFill>
              <a:srgbClr val="E9F4FA"/>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Rectangle 47"/>
            <p:cNvSpPr>
              <a:spLocks noChangeArrowheads="1"/>
            </p:cNvSpPr>
            <p:nvPr/>
          </p:nvSpPr>
          <p:spPr bwMode="auto">
            <a:xfrm>
              <a:off x="12930" y="1845"/>
              <a:ext cx="2311" cy="1090"/>
            </a:xfrm>
            <a:prstGeom prst="rect">
              <a:avLst/>
            </a:prstGeom>
            <a:solidFill>
              <a:srgbClr val="E9F4FA"/>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grpSp>
          <p:nvGrpSpPr>
            <p:cNvPr id="50" name="Group 48"/>
            <p:cNvGrpSpPr/>
            <p:nvPr/>
          </p:nvGrpSpPr>
          <p:grpSpPr bwMode="auto">
            <a:xfrm>
              <a:off x="6912" y="2650"/>
              <a:ext cx="8330" cy="6328"/>
              <a:chOff x="-6" y="0"/>
              <a:chExt cx="3135" cy="2531"/>
            </a:xfrm>
          </p:grpSpPr>
          <p:sp>
            <p:nvSpPr>
              <p:cNvPr id="51" name="Oval 49"/>
              <p:cNvSpPr>
                <a:spLocks noChangeArrowheads="1"/>
              </p:cNvSpPr>
              <p:nvPr/>
            </p:nvSpPr>
            <p:spPr bwMode="auto">
              <a:xfrm rot="16232388">
                <a:off x="-5" y="-1"/>
                <a:ext cx="2174" cy="2176"/>
              </a:xfrm>
              <a:prstGeom prst="ellipse">
                <a:avLst/>
              </a:prstGeom>
              <a:solidFill>
                <a:schemeClr val="bg1">
                  <a:alpha val="44000"/>
                </a:schemeClr>
              </a:solidFill>
              <a:ln w="76200" cmpd="sng">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tIns="91440" rIns="100584" bIns="91440" anchor="ctr" anchorCtr="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grpSp>
            <p:nvGrpSpPr>
              <p:cNvPr id="52" name="Group 50"/>
              <p:cNvGrpSpPr/>
              <p:nvPr/>
            </p:nvGrpSpPr>
            <p:grpSpPr bwMode="auto">
              <a:xfrm>
                <a:off x="1974" y="1671"/>
                <a:ext cx="1155" cy="860"/>
                <a:chOff x="0" y="0"/>
                <a:chExt cx="2306" cy="1668"/>
              </a:xfrm>
            </p:grpSpPr>
            <p:sp>
              <p:nvSpPr>
                <p:cNvPr id="53" name="Rectangle 51"/>
                <p:cNvSpPr>
                  <a:spLocks noChangeArrowheads="1"/>
                </p:cNvSpPr>
                <p:nvPr/>
              </p:nvSpPr>
              <p:spPr bwMode="auto">
                <a:xfrm rot="18231581">
                  <a:off x="-43" y="77"/>
                  <a:ext cx="235" cy="81"/>
                </a:xfrm>
                <a:prstGeom prst="rect">
                  <a:avLst/>
                </a:prstGeom>
                <a:solidFill>
                  <a:srgbClr val="000000"/>
                </a:solidFill>
                <a:ln w="9525" cmpd="sng">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4" name="未知"/>
                <p:cNvSpPr/>
                <p:nvPr/>
              </p:nvSpPr>
              <p:spPr bwMode="auto">
                <a:xfrm rot="18231581">
                  <a:off x="-3" y="127"/>
                  <a:ext cx="381" cy="132"/>
                </a:xfrm>
                <a:custGeom>
                  <a:avLst/>
                  <a:gdLst>
                    <a:gd name="T0" fmla="*/ 0 w 288"/>
                    <a:gd name="T1" fmla="*/ 100 h 100"/>
                    <a:gd name="T2" fmla="*/ 288 w 288"/>
                    <a:gd name="T3" fmla="*/ 100 h 100"/>
                    <a:gd name="T4" fmla="*/ 284 w 288"/>
                    <a:gd name="T5" fmla="*/ 48 h 100"/>
                    <a:gd name="T6" fmla="*/ 236 w 288"/>
                    <a:gd name="T7" fmla="*/ 0 h 100"/>
                    <a:gd name="T8" fmla="*/ 60 w 288"/>
                    <a:gd name="T9" fmla="*/ 0 h 100"/>
                    <a:gd name="T10" fmla="*/ 12 w 288"/>
                    <a:gd name="T11" fmla="*/ 48 h 100"/>
                    <a:gd name="T12" fmla="*/ 0 w 288"/>
                    <a:gd name="T13" fmla="*/ 100 h 100"/>
                  </a:gdLst>
                  <a:ahLst/>
                  <a:cxnLst>
                    <a:cxn ang="0">
                      <a:pos x="T0" y="T1"/>
                    </a:cxn>
                    <a:cxn ang="0">
                      <a:pos x="T2" y="T3"/>
                    </a:cxn>
                    <a:cxn ang="0">
                      <a:pos x="T4" y="T5"/>
                    </a:cxn>
                    <a:cxn ang="0">
                      <a:pos x="T6" y="T7"/>
                    </a:cxn>
                    <a:cxn ang="0">
                      <a:pos x="T8" y="T9"/>
                    </a:cxn>
                    <a:cxn ang="0">
                      <a:pos x="T10" y="T11"/>
                    </a:cxn>
                    <a:cxn ang="0">
                      <a:pos x="T12" y="T13"/>
                    </a:cxn>
                  </a:cxnLst>
                  <a:rect l="0" t="0" r="r" b="b"/>
                  <a:pathLst>
                    <a:path w="288" h="100">
                      <a:moveTo>
                        <a:pt x="0" y="100"/>
                      </a:moveTo>
                      <a:lnTo>
                        <a:pt x="288" y="100"/>
                      </a:lnTo>
                      <a:lnTo>
                        <a:pt x="284" y="48"/>
                      </a:lnTo>
                      <a:lnTo>
                        <a:pt x="236" y="0"/>
                      </a:lnTo>
                      <a:lnTo>
                        <a:pt x="60" y="0"/>
                      </a:lnTo>
                      <a:lnTo>
                        <a:pt x="12" y="48"/>
                      </a:lnTo>
                      <a:lnTo>
                        <a:pt x="0" y="100"/>
                      </a:lnTo>
                      <a:close/>
                    </a:path>
                  </a:pathLst>
                </a:custGeom>
                <a:solidFill>
                  <a:srgbClr val="000000"/>
                </a:solidFill>
                <a:ln w="9525" cap="flat" cmpd="sng">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Line 53"/>
                <p:cNvSpPr>
                  <a:spLocks noChangeShapeType="1"/>
                </p:cNvSpPr>
                <p:nvPr/>
              </p:nvSpPr>
              <p:spPr bwMode="auto">
                <a:xfrm rot="18231581">
                  <a:off x="1158" y="-213"/>
                  <a:ext cx="0" cy="2108"/>
                </a:xfrm>
                <a:prstGeom prst="line">
                  <a:avLst/>
                </a:prstGeom>
                <a:noFill/>
                <a:ln w="76200"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56" name="Line 54"/>
                <p:cNvSpPr>
                  <a:spLocks noChangeShapeType="1"/>
                </p:cNvSpPr>
                <p:nvPr/>
              </p:nvSpPr>
              <p:spPr bwMode="auto">
                <a:xfrm rot="18231581">
                  <a:off x="1216" y="-300"/>
                  <a:ext cx="0" cy="2108"/>
                </a:xfrm>
                <a:prstGeom prst="line">
                  <a:avLst/>
                </a:prstGeom>
                <a:noFill/>
                <a:ln w="38100"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57" name="Line 55"/>
                <p:cNvSpPr>
                  <a:spLocks noChangeShapeType="1"/>
                </p:cNvSpPr>
                <p:nvPr/>
              </p:nvSpPr>
              <p:spPr bwMode="auto">
                <a:xfrm rot="18231581">
                  <a:off x="1101" y="-128"/>
                  <a:ext cx="0" cy="2108"/>
                </a:xfrm>
                <a:prstGeom prst="line">
                  <a:avLst/>
                </a:prstGeom>
                <a:noFill/>
                <a:ln w="38100"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58" name="Line 56"/>
                <p:cNvSpPr>
                  <a:spLocks noChangeShapeType="1"/>
                </p:cNvSpPr>
                <p:nvPr/>
              </p:nvSpPr>
              <p:spPr bwMode="auto">
                <a:xfrm rot="18231581">
                  <a:off x="1252" y="-353"/>
                  <a:ext cx="0" cy="2108"/>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59" name="Line 57"/>
                <p:cNvSpPr>
                  <a:spLocks noChangeShapeType="1"/>
                </p:cNvSpPr>
                <p:nvPr/>
              </p:nvSpPr>
              <p:spPr bwMode="auto">
                <a:xfrm rot="18231581">
                  <a:off x="1049" y="-72"/>
                  <a:ext cx="1" cy="2108"/>
                </a:xfrm>
                <a:prstGeom prst="line">
                  <a:avLst/>
                </a:prstGeom>
                <a:noFill/>
                <a:ln w="285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60" name="AutoShape 58"/>
                <p:cNvSpPr>
                  <a:spLocks noChangeArrowheads="1"/>
                </p:cNvSpPr>
                <p:nvPr/>
              </p:nvSpPr>
              <p:spPr bwMode="auto">
                <a:xfrm rot="18231581">
                  <a:off x="1896" y="1438"/>
                  <a:ext cx="389" cy="63"/>
                </a:xfrm>
                <a:prstGeom prst="roundRect">
                  <a:avLst>
                    <a:gd name="adj" fmla="val 16667"/>
                  </a:avLst>
                </a:prstGeom>
                <a:solidFill>
                  <a:srgbClr val="000000"/>
                </a:solidFill>
                <a:ln w="0" cmpd="sng">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grpSp>
        </p:grpSp>
        <p:sp>
          <p:nvSpPr>
            <p:cNvPr id="61" name="Rectangle 59"/>
            <p:cNvSpPr>
              <a:spLocks noChangeArrowheads="1"/>
            </p:cNvSpPr>
            <p:nvPr/>
          </p:nvSpPr>
          <p:spPr bwMode="auto">
            <a:xfrm>
              <a:off x="15229" y="7290"/>
              <a:ext cx="2311" cy="1093"/>
            </a:xfrm>
            <a:prstGeom prst="rect">
              <a:avLst/>
            </a:prstGeom>
            <a:solidFill>
              <a:srgbClr val="E9F4FA"/>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62" name="Text Box 61"/>
            <p:cNvSpPr txBox="1">
              <a:spLocks noChangeArrowheads="1"/>
            </p:cNvSpPr>
            <p:nvPr/>
          </p:nvSpPr>
          <p:spPr bwMode="auto">
            <a:xfrm>
              <a:off x="8284" y="9432"/>
              <a:ext cx="2338" cy="4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914400" eaLnBrk="1" fontAlgn="auto" latinLnBrk="0" hangingPunct="1">
                <a:lnSpc>
                  <a:spcPct val="100000"/>
                </a:lnSpc>
                <a:spcBef>
                  <a:spcPct val="50000"/>
                </a:spcBef>
                <a:spcAft>
                  <a:spcPts val="0"/>
                </a:spcAft>
                <a:buClrTx/>
                <a:buSzTx/>
                <a:buFontTx/>
                <a:buNone/>
                <a:defRPr/>
              </a:pP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CMO</a:t>
              </a:r>
            </a:p>
          </p:txBody>
        </p:sp>
        <p:sp>
          <p:nvSpPr>
            <p:cNvPr id="63" name="Rectangle 62"/>
            <p:cNvSpPr>
              <a:spLocks noChangeArrowheads="1"/>
            </p:cNvSpPr>
            <p:nvPr/>
          </p:nvSpPr>
          <p:spPr bwMode="auto">
            <a:xfrm>
              <a:off x="6009" y="8360"/>
              <a:ext cx="2311" cy="1093"/>
            </a:xfrm>
            <a:prstGeom prst="rect">
              <a:avLst/>
            </a:prstGeom>
            <a:solidFill>
              <a:srgbClr val="E9F4FA"/>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64" name="Rectangle 63"/>
            <p:cNvSpPr>
              <a:spLocks noChangeArrowheads="1"/>
            </p:cNvSpPr>
            <p:nvPr/>
          </p:nvSpPr>
          <p:spPr bwMode="auto">
            <a:xfrm>
              <a:off x="8320" y="8360"/>
              <a:ext cx="2311" cy="1093"/>
            </a:xfrm>
            <a:prstGeom prst="rect">
              <a:avLst/>
            </a:prstGeom>
            <a:solidFill>
              <a:srgbClr val="E9F4FA"/>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65" name="Rectangle 64"/>
            <p:cNvSpPr>
              <a:spLocks noChangeArrowheads="1"/>
            </p:cNvSpPr>
            <p:nvPr/>
          </p:nvSpPr>
          <p:spPr bwMode="auto">
            <a:xfrm>
              <a:off x="10622" y="8360"/>
              <a:ext cx="2311" cy="1093"/>
            </a:xfrm>
            <a:prstGeom prst="rect">
              <a:avLst/>
            </a:prstGeom>
            <a:solidFill>
              <a:srgbClr val="E9F4FA"/>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66" name="Rectangle 65"/>
            <p:cNvSpPr>
              <a:spLocks noChangeArrowheads="1"/>
            </p:cNvSpPr>
            <p:nvPr/>
          </p:nvSpPr>
          <p:spPr bwMode="auto">
            <a:xfrm>
              <a:off x="15229" y="8360"/>
              <a:ext cx="2311" cy="1093"/>
            </a:xfrm>
            <a:prstGeom prst="rect">
              <a:avLst/>
            </a:prstGeom>
            <a:solidFill>
              <a:srgbClr val="E9F4FA"/>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67" name="Rectangle 66"/>
            <p:cNvSpPr>
              <a:spLocks noChangeArrowheads="1"/>
            </p:cNvSpPr>
            <p:nvPr/>
          </p:nvSpPr>
          <p:spPr bwMode="auto">
            <a:xfrm>
              <a:off x="12930" y="8360"/>
              <a:ext cx="2311" cy="1093"/>
            </a:xfrm>
            <a:prstGeom prst="rect">
              <a:avLst/>
            </a:prstGeom>
            <a:solidFill>
              <a:srgbClr val="E9F4FA"/>
            </a:solidFill>
            <a:ln w="9525" cmpd="sng">
              <a:solidFill>
                <a:srgbClr val="FFFFFF"/>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68" name="Text Box 67"/>
            <p:cNvSpPr txBox="1">
              <a:spLocks noChangeArrowheads="1"/>
            </p:cNvSpPr>
            <p:nvPr/>
          </p:nvSpPr>
          <p:spPr bwMode="auto">
            <a:xfrm>
              <a:off x="10622" y="9432"/>
              <a:ext cx="2421" cy="4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defRPr/>
              </a:pPr>
              <a:r>
                <a:rPr kumimoji="0"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CFO</a:t>
              </a:r>
            </a:p>
          </p:txBody>
        </p:sp>
        <p:sp>
          <p:nvSpPr>
            <p:cNvPr id="69" name="Text Box 68"/>
            <p:cNvSpPr txBox="1">
              <a:spLocks noChangeArrowheads="1"/>
            </p:cNvSpPr>
            <p:nvPr/>
          </p:nvSpPr>
          <p:spPr bwMode="auto">
            <a:xfrm>
              <a:off x="12719" y="9432"/>
              <a:ext cx="2794" cy="4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defRPr/>
              </a:pPr>
              <a:r>
                <a:rPr kumimoji="0" lang="en-US" altLang="zh-CN" sz="10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CEO</a:t>
              </a:r>
            </a:p>
          </p:txBody>
        </p:sp>
        <p:sp>
          <p:nvSpPr>
            <p:cNvPr id="70" name="Text Box 69"/>
            <p:cNvSpPr txBox="1">
              <a:spLocks noChangeArrowheads="1"/>
            </p:cNvSpPr>
            <p:nvPr/>
          </p:nvSpPr>
          <p:spPr bwMode="auto">
            <a:xfrm>
              <a:off x="15167" y="9432"/>
              <a:ext cx="2374" cy="4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914400" eaLnBrk="1" fontAlgn="auto" latinLnBrk="0" hangingPunct="1">
                <a:lnSpc>
                  <a:spcPct val="100000"/>
                </a:lnSpc>
                <a:spcBef>
                  <a:spcPct val="50000"/>
                </a:spcBef>
                <a:spcAft>
                  <a:spcPts val="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客户的客户</a:t>
              </a:r>
            </a:p>
          </p:txBody>
        </p:sp>
        <p:sp>
          <p:nvSpPr>
            <p:cNvPr id="71" name="Text Box 70"/>
            <p:cNvSpPr txBox="1">
              <a:spLocks noChangeArrowheads="1"/>
            </p:cNvSpPr>
            <p:nvPr/>
          </p:nvSpPr>
          <p:spPr bwMode="auto">
            <a:xfrm>
              <a:off x="5845" y="9432"/>
              <a:ext cx="2639" cy="4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 产品维护部门</a:t>
              </a: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VP</a:t>
              </a:r>
            </a:p>
          </p:txBody>
        </p:sp>
        <p:sp>
          <p:nvSpPr>
            <p:cNvPr id="72" name="矩形 71"/>
            <p:cNvSpPr/>
            <p:nvPr/>
          </p:nvSpPr>
          <p:spPr>
            <a:xfrm>
              <a:off x="7431" y="3644"/>
              <a:ext cx="5050" cy="3391"/>
            </a:xfrm>
            <a:prstGeom prst="rect">
              <a:avLst/>
            </a:prstGeom>
          </p:spPr>
          <p:txBody>
            <a:bodyPr wrap="square">
              <a:spAutoFit/>
            </a:bodyPr>
            <a:lstStyle/>
            <a:p>
              <a:pPr lvl="0" eaLnBrk="1" fontAlgn="auto" hangingPunct="1">
                <a:spcBef>
                  <a:spcPts val="0"/>
                </a:spcBef>
                <a:spcAft>
                  <a:spcPts val="0"/>
                </a:spcAft>
                <a:defRPr/>
              </a:pPr>
              <a:r>
                <a:rPr lang="zh-CN" altLang="en-US" sz="1400"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用效益的视角看客户，客户各角色分别关注什么？</a:t>
              </a:r>
              <a:endParaRPr lang="en-US" altLang="zh-CN" sz="1400"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lvl="0" eaLnBrk="1" fontAlgn="auto" hangingPunct="1">
                <a:spcBef>
                  <a:spcPts val="0"/>
                </a:spcBef>
                <a:spcAft>
                  <a:spcPts val="0"/>
                </a:spcAft>
                <a:defRPr/>
              </a:pPr>
              <a:endParaRPr lang="en-US" altLang="zh-CN" sz="1400"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eaLnBrk="1" fontAlgn="auto" hangingPunct="1">
                <a:spcBef>
                  <a:spcPts val="0"/>
                </a:spcBef>
                <a:spcAft>
                  <a:spcPts val="0"/>
                </a:spcAft>
                <a:defRPr/>
              </a:pPr>
              <a:r>
                <a:rPr lang="zh-CN" altLang="en-US" sz="1400"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用效用的视角看用户，不同用户群分别关注什么？</a:t>
              </a:r>
              <a:endParaRPr lang="en-US" altLang="zh-CN" sz="1400" b="1" kern="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lvl="0" eaLnBrk="1" fontAlgn="auto" hangingPunct="1">
                <a:spcBef>
                  <a:spcPts val="0"/>
                </a:spcBef>
                <a:spcAft>
                  <a:spcPts val="0"/>
                </a:spcAft>
                <a:defRPr/>
              </a:pPr>
              <a:endParaRPr lang="en-US" altLang="zh-CN" sz="1400" b="1" kern="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lvl="0" eaLnBrk="1" fontAlgn="auto" hangingPunct="1">
                <a:spcBef>
                  <a:spcPts val="0"/>
                </a:spcBef>
                <a:spcAft>
                  <a:spcPts val="0"/>
                </a:spcAft>
                <a:defRPr/>
              </a:pPr>
              <a:endParaRPr lang="en-US" altLang="zh-CN"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lvl="0" eaLnBrk="1" fontAlgn="auto" hangingPunct="1">
                <a:spcBef>
                  <a:spcPts val="0"/>
                </a:spcBef>
                <a:spcAft>
                  <a:spcPts val="0"/>
                </a:spcAft>
                <a:defRPr/>
              </a:pPr>
              <a:r>
                <a:rPr lang="en-US" altLang="zh-CN"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2C</a:t>
              </a:r>
              <a:r>
                <a:rPr lang="zh-CN" altLang="en-US"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：数据决策机制：</a:t>
              </a:r>
              <a:r>
                <a:rPr lang="en-US" altLang="zh-CN"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AI</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3" name="内容占位符 2"/>
          <p:cNvSpPr>
            <a:spLocks noChangeArrowheads="1"/>
          </p:cNvSpPr>
          <p:nvPr/>
        </p:nvSpPr>
        <p:spPr bwMode="auto">
          <a:xfrm>
            <a:off x="2202304" y="4461925"/>
            <a:ext cx="7932575" cy="1765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ts val="1000"/>
              </a:spcBef>
              <a:buClr>
                <a:srgbClr val="90C226"/>
              </a:buClr>
              <a:buSzPct val="80000"/>
              <a:buFont typeface="Wingdings 3" panose="05040102010807070707" pitchFamily="18" charset="2"/>
              <a:buChar char=""/>
            </a:pPr>
            <a:endParaRPr lang="zh-CN" altLang="zh-CN" sz="100">
              <a:solidFill>
                <a:srgbClr val="000000"/>
              </a:solidFill>
              <a:latin typeface="+mn-lt"/>
              <a:ea typeface="+mn-ea"/>
              <a:cs typeface="+mn-ea"/>
              <a:sym typeface="+mn-lt"/>
            </a:endParaRPr>
          </a:p>
        </p:txBody>
      </p:sp>
      <p:sp>
        <p:nvSpPr>
          <p:cNvPr id="2" name="标题 1"/>
          <p:cNvSpPr txBox="1"/>
          <p:nvPr/>
        </p:nvSpPr>
        <p:spPr>
          <a:xfrm>
            <a:off x="693441" y="712899"/>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lnSpc>
                <a:spcPct val="150000"/>
              </a:lnSpc>
            </a:pPr>
            <a:r>
              <a:rPr lang="zh-CN" altLang="en-US" sz="2000" dirty="0">
                <a:solidFill>
                  <a:srgbClr val="C00000"/>
                </a:solidFill>
                <a:latin typeface="微软雅黑" panose="020B0503020204020204" pitchFamily="34" charset="-122"/>
                <a:ea typeface="微软雅黑" panose="020B0503020204020204" pitchFamily="34" charset="-122"/>
                <a:cs typeface="+mn-ea"/>
                <a:sym typeface="+mn-lt"/>
              </a:rPr>
              <a:t>关于安防洞察的问题提示：找到未被充分满足的价值细分市场</a:t>
            </a:r>
            <a:endParaRPr lang="en-US" altLang="zh-CN" sz="2000" dirty="0">
              <a:solidFill>
                <a:srgbClr val="C00000"/>
              </a:solidFill>
              <a:latin typeface="微软雅黑" panose="020B0503020204020204" pitchFamily="34" charset="-122"/>
              <a:ea typeface="微软雅黑" panose="020B0503020204020204" pitchFamily="34" charset="-122"/>
              <a:cs typeface="+mn-ea"/>
              <a:sym typeface="+mn-lt"/>
            </a:endParaRPr>
          </a:p>
          <a:p>
            <a:pPr algn="l" eaLnBrk="1" hangingPunct="1">
              <a:lnSpc>
                <a:spcPct val="150000"/>
              </a:lnSpc>
            </a:pPr>
            <a:r>
              <a:rPr lang="zh-CN" altLang="en-US" sz="2000" dirty="0">
                <a:solidFill>
                  <a:srgbClr val="C00000"/>
                </a:solidFill>
                <a:latin typeface="微软雅黑" panose="020B0503020204020204" pitchFamily="34" charset="-122"/>
                <a:ea typeface="微软雅黑" panose="020B0503020204020204" pitchFamily="34" charset="-122"/>
                <a:cs typeface="+mn-ea"/>
                <a:sym typeface="+mn-lt"/>
              </a:rPr>
              <a:t>参考：手机、汽车等细分市场的选择</a:t>
            </a:r>
          </a:p>
        </p:txBody>
      </p:sp>
      <p:sp>
        <p:nvSpPr>
          <p:cNvPr id="3" name="内容占位符 2"/>
          <p:cNvSpPr>
            <a:spLocks noChangeArrowheads="1"/>
          </p:cNvSpPr>
          <p:nvPr/>
        </p:nvSpPr>
        <p:spPr bwMode="auto">
          <a:xfrm>
            <a:off x="2202304" y="1810774"/>
            <a:ext cx="9763432" cy="497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285750" indent="-285750" algn="just">
              <a:spcBef>
                <a:spcPts val="1000"/>
              </a:spcBef>
              <a:buClr>
                <a:srgbClr val="90C226"/>
              </a:buClr>
              <a:buSzPct val="80000"/>
              <a:buFont typeface="Wingdings" panose="05000000000000000000" pitchFamily="2" charset="2"/>
              <a:buChar char="u"/>
            </a:pP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跨界：通信、手机、互联网巨头进入，竞争和手机、汽车一样空前惨烈</a:t>
            </a:r>
            <a:endParaRPr lang="en-US" altLang="zh-CN"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5750" indent="-285750" algn="just">
              <a:spcBef>
                <a:spcPts val="1000"/>
              </a:spcBef>
              <a:buClr>
                <a:srgbClr val="90C226"/>
              </a:buClr>
              <a:buSzPct val="80000"/>
              <a:buFont typeface="Wingdings" panose="05000000000000000000" pitchFamily="2" charset="2"/>
              <a:buChar char="u"/>
            </a:pP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下一代产品：</a:t>
            </a:r>
            <a:r>
              <a:rPr lang="en-US" altLang="zh-CN"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AI</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摄像头</a:t>
            </a:r>
            <a:r>
              <a:rPr lang="en-US" altLang="zh-CN"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+AI</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云</a:t>
            </a:r>
            <a:r>
              <a:rPr lang="en-US" altLang="zh-CN"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更广泛的应用，如同功能机到智能机</a:t>
            </a:r>
            <a:endParaRPr lang="en-US" altLang="zh-CN" sz="18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5750" indent="-285750" algn="just">
              <a:spcBef>
                <a:spcPts val="1000"/>
              </a:spcBef>
              <a:buClr>
                <a:srgbClr val="90C226"/>
              </a:buClr>
              <a:buSzPct val="80000"/>
              <a:buFont typeface="Wingdings" panose="05000000000000000000" pitchFamily="2" charset="2"/>
              <a:buChar char="u"/>
            </a:pPr>
            <a:r>
              <a:rPr lang="zh-CN" altLang="en-US" sz="18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视频监控≠安防，有太多的增值业务可以挖掘，“醉翁之意不在酒”</a:t>
            </a:r>
            <a:endParaRPr lang="en-US" altLang="zh-CN" sz="1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857250" lvl="2" indent="-285750" algn="just">
              <a:spcBef>
                <a:spcPts val="1000"/>
              </a:spcBef>
              <a:buClr>
                <a:srgbClr val="90C226"/>
              </a:buClr>
              <a:buSzPct val="80000"/>
              <a:buFont typeface="Wingdings" panose="05000000000000000000" pitchFamily="2" charset="2"/>
              <a:buChar char="u"/>
            </a:pPr>
            <a:r>
              <a:rPr lang="zh-CN" altLang="en-US"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商业：只有用于商业增值，安防才有更大价值。案例：谷歌、</a:t>
            </a:r>
            <a:r>
              <a:rPr lang="en-US" altLang="zh-CN"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FB</a:t>
            </a:r>
          </a:p>
          <a:p>
            <a:pPr marL="857250" lvl="2" indent="-285750" algn="just">
              <a:spcBef>
                <a:spcPts val="1000"/>
              </a:spcBef>
              <a:buClr>
                <a:srgbClr val="90C226"/>
              </a:buClr>
              <a:buSzPct val="80000"/>
              <a:buFont typeface="Wingdings" panose="05000000000000000000" pitchFamily="2" charset="2"/>
              <a:buChar char="u"/>
            </a:pPr>
            <a:r>
              <a:rPr lang="zh-CN" altLang="en-US"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会议：已有</a:t>
            </a:r>
            <a:endParaRPr lang="en-US" altLang="zh-CN"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857250" lvl="2" indent="-285750" algn="just">
              <a:spcBef>
                <a:spcPts val="1000"/>
              </a:spcBef>
              <a:buClr>
                <a:srgbClr val="90C226"/>
              </a:buClr>
              <a:buSzPct val="80000"/>
              <a:buFont typeface="Wingdings" panose="05000000000000000000" pitchFamily="2" charset="2"/>
              <a:buChar char="u"/>
            </a:pPr>
            <a:r>
              <a:rPr lang="zh-CN" altLang="en-US"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教育：</a:t>
            </a:r>
            <a:endParaRPr lang="en-US" altLang="zh-CN"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857250" lvl="2" indent="-285750" algn="just">
              <a:spcBef>
                <a:spcPts val="1000"/>
              </a:spcBef>
              <a:buClr>
                <a:srgbClr val="90C226"/>
              </a:buClr>
              <a:buSzPct val="80000"/>
              <a:buFont typeface="Wingdings" panose="05000000000000000000" pitchFamily="2" charset="2"/>
              <a:buChar char="u"/>
            </a:pPr>
            <a:r>
              <a:rPr lang="zh-CN" altLang="en-US"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远程作业</a:t>
            </a:r>
            <a:r>
              <a:rPr lang="en-US" altLang="zh-CN"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a:t>
            </a:r>
          </a:p>
          <a:p>
            <a:pPr marL="285750" indent="-285750" algn="just">
              <a:spcBef>
                <a:spcPts val="1000"/>
              </a:spcBef>
              <a:buClr>
                <a:srgbClr val="90C226"/>
              </a:buClr>
              <a:buSzPct val="80000"/>
              <a:buFont typeface="Wingdings" panose="05000000000000000000" pitchFamily="2" charset="2"/>
              <a:buChar char="u"/>
            </a:pP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如何通过增加新业务获得更多的客户粘性？数据积累和</a:t>
            </a:r>
            <a:r>
              <a:rPr lang="en-US" altLang="zh-CN"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app</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应用</a:t>
            </a:r>
            <a:endParaRPr lang="en-US" altLang="zh-CN"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5750" indent="-285750" algn="just">
              <a:spcBef>
                <a:spcPts val="1000"/>
              </a:spcBef>
              <a:buClr>
                <a:srgbClr val="90C226"/>
              </a:buClr>
              <a:buSzPct val="80000"/>
              <a:buFont typeface="Wingdings" panose="05000000000000000000" pitchFamily="2" charset="2"/>
              <a:buChar char="u"/>
            </a:pP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全球视野：哪里有更大的空间且竞争不激励？另类农村包围城市</a:t>
            </a:r>
            <a:endParaRPr lang="en-US" altLang="zh-CN"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5750" indent="-285750" algn="just">
              <a:spcBef>
                <a:spcPts val="1000"/>
              </a:spcBef>
              <a:buClr>
                <a:srgbClr val="90C226"/>
              </a:buClr>
              <a:buSzPct val="80000"/>
              <a:buFont typeface="Wingdings" panose="05000000000000000000" pitchFamily="2" charset="2"/>
              <a:buChar char="u"/>
            </a:pP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全场景覆盖看细分市场：手机、汽车、家庭、企业、国家机关</a:t>
            </a:r>
            <a:r>
              <a:rPr lang="en-US" altLang="zh-CN"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a:t>
            </a:r>
            <a:endParaRPr lang="en-US" altLang="zh-CN" sz="18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5750" indent="-285750" algn="just">
              <a:spcBef>
                <a:spcPts val="1000"/>
              </a:spcBef>
              <a:buClr>
                <a:srgbClr val="90C226"/>
              </a:buClr>
              <a:buSzPct val="80000"/>
              <a:buFont typeface="Wingdings" panose="05000000000000000000" pitchFamily="2" charset="2"/>
              <a:buChar char="u"/>
            </a:pPr>
            <a:r>
              <a:rPr lang="zh-CN" altLang="en-US" sz="18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安防是未来智慧城市、数字中国的一块，我们是否做好战略协同的准备？</a:t>
            </a:r>
            <a:endParaRPr lang="en-US" altLang="zh-CN" sz="1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5750" indent="-285750" algn="just">
              <a:spcBef>
                <a:spcPts val="1000"/>
              </a:spcBef>
              <a:buClr>
                <a:srgbClr val="90C226"/>
              </a:buClr>
              <a:buSzPct val="80000"/>
              <a:buFont typeface="Wingdings" panose="05000000000000000000" pitchFamily="2" charset="2"/>
              <a:buChar char="u"/>
            </a:pPr>
            <a:endParaRPr lang="en-US" altLang="zh-CN" sz="18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0" indent="0" algn="just">
              <a:spcBef>
                <a:spcPts val="1000"/>
              </a:spcBef>
              <a:buClr>
                <a:srgbClr val="90C226"/>
              </a:buClr>
              <a:buSzPct val="80000"/>
            </a:pPr>
            <a:endParaRPr lang="zh-CN" altLang="en-US" sz="16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3005"/>
            <a:ext cx="12206605" cy="522605"/>
          </a:xfrm>
          <a:prstGeom prst="rect">
            <a:avLst/>
          </a:prstGeom>
        </p:spPr>
      </p:pic>
      <p:sp>
        <p:nvSpPr>
          <p:cNvPr id="4" name="标题 1"/>
          <p:cNvSpPr txBox="1"/>
          <p:nvPr/>
        </p:nvSpPr>
        <p:spPr>
          <a:xfrm>
            <a:off x="490973" y="355154"/>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看竞争：全方位分析对手现状和</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SP</a:t>
            </a:r>
            <a:r>
              <a:rPr lang="zh-CN" altLang="en-US" dirty="0">
                <a:solidFill>
                  <a:srgbClr val="0070C0"/>
                </a:solidFill>
                <a:latin typeface="微软雅黑" panose="020B0503020204020204" pitchFamily="34" charset="-122"/>
                <a:ea typeface="微软雅黑" panose="020B0503020204020204" pitchFamily="34" charset="-122"/>
                <a:cs typeface="+mn-ea"/>
                <a:sym typeface="+mn-lt"/>
              </a:rPr>
              <a:t>，工具：</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18</a:t>
            </a:r>
            <a:r>
              <a:rPr lang="zh-CN" altLang="en-US" dirty="0">
                <a:solidFill>
                  <a:srgbClr val="0070C0"/>
                </a:solidFill>
                <a:latin typeface="微软雅黑" panose="020B0503020204020204" pitchFamily="34" charset="-122"/>
                <a:ea typeface="微软雅黑" panose="020B0503020204020204" pitchFamily="34" charset="-122"/>
                <a:cs typeface="+mn-ea"/>
                <a:sym typeface="+mn-lt"/>
              </a:rPr>
              <a:t>要素</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dirty="0">
                <a:solidFill>
                  <a:srgbClr val="0070C0"/>
                </a:solidFill>
                <a:latin typeface="微软雅黑" panose="020B0503020204020204" pitchFamily="34" charset="-122"/>
                <a:ea typeface="微软雅黑" panose="020B0503020204020204" pitchFamily="34" charset="-122"/>
                <a:cs typeface="+mn-ea"/>
                <a:sym typeface="+mn-lt"/>
              </a:rPr>
              <a:t>雷达图</a:t>
            </a:r>
          </a:p>
        </p:txBody>
      </p:sp>
      <p:grpSp>
        <p:nvGrpSpPr>
          <p:cNvPr id="27" name="组合 26"/>
          <p:cNvGrpSpPr/>
          <p:nvPr/>
        </p:nvGrpSpPr>
        <p:grpSpPr>
          <a:xfrm>
            <a:off x="1176655" y="949325"/>
            <a:ext cx="9406255" cy="4939060"/>
            <a:chOff x="540" y="2092"/>
            <a:chExt cx="18021" cy="7664"/>
          </a:xfrm>
        </p:grpSpPr>
        <p:grpSp>
          <p:nvGrpSpPr>
            <p:cNvPr id="5" name="组合 4"/>
            <p:cNvGrpSpPr/>
            <p:nvPr/>
          </p:nvGrpSpPr>
          <p:grpSpPr>
            <a:xfrm>
              <a:off x="572" y="2988"/>
              <a:ext cx="17986" cy="1635"/>
              <a:chOff x="230348" y="1914708"/>
              <a:chExt cx="11421157" cy="1038507"/>
            </a:xfrm>
          </p:grpSpPr>
          <p:sp>
            <p:nvSpPr>
              <p:cNvPr id="6" name="Rectangle 3"/>
              <p:cNvSpPr>
                <a:spLocks noChangeArrowheads="1"/>
              </p:cNvSpPr>
              <p:nvPr/>
            </p:nvSpPr>
            <p:spPr bwMode="auto">
              <a:xfrm>
                <a:off x="3168615" y="1914708"/>
                <a:ext cx="2646255" cy="232683"/>
              </a:xfrm>
              <a:prstGeom prst="rect">
                <a:avLst/>
              </a:prstGeom>
              <a:solidFill>
                <a:srgbClr val="267FC3"/>
              </a:solidFill>
              <a:ln w="12700">
                <a:solidFill>
                  <a:srgbClr val="FFFFFF"/>
                </a:solidFill>
                <a:miter lim="800000"/>
              </a:ln>
            </p:spPr>
            <p:txBody>
              <a:bodyPr lIns="91424" tIns="45712" rIns="91424" bIns="45712" anchor="ctr"/>
              <a:lstStyle/>
              <a:p>
                <a:pPr marL="0" marR="0" lvl="0" indent="0" algn="ctr" defTabSz="913765"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当前的OFFER</a:t>
                </a:r>
              </a:p>
            </p:txBody>
          </p:sp>
          <p:sp>
            <p:nvSpPr>
              <p:cNvPr id="7" name="Rectangle 4"/>
              <p:cNvSpPr>
                <a:spLocks noChangeArrowheads="1"/>
              </p:cNvSpPr>
              <p:nvPr/>
            </p:nvSpPr>
            <p:spPr bwMode="auto">
              <a:xfrm>
                <a:off x="3155919" y="2122897"/>
                <a:ext cx="2646256" cy="830318"/>
              </a:xfrm>
              <a:prstGeom prst="rect">
                <a:avLst/>
              </a:prstGeom>
              <a:solidFill>
                <a:srgbClr val="267FC3">
                  <a:lumMod val="20000"/>
                  <a:lumOff val="80000"/>
                </a:srgbClr>
              </a:solidFill>
              <a:ln w="12700">
                <a:solidFill>
                  <a:srgbClr val="FFFFFF"/>
                </a:solidFill>
                <a:miter lim="800000"/>
              </a:ln>
            </p:spPr>
            <p:txBody>
              <a:bodyPr lIns="91424" tIns="45712" rIns="91424" bIns="45712"/>
              <a:lstStyle/>
              <a:p>
                <a:pPr marL="115570" marR="0" lvl="0" indent="-115570" defTabSz="913765" eaLnBrk="0" fontAlgn="auto" latinLnBrk="0" hangingPunct="0">
                  <a:lnSpc>
                    <a:spcPct val="100000"/>
                  </a:lnSpc>
                  <a:spcBef>
                    <a:spcPts val="0"/>
                  </a:spcBef>
                  <a:spcAft>
                    <a:spcPts val="0"/>
                  </a:spcAft>
                  <a:buClrTx/>
                  <a:buSzPct val="60000"/>
                  <a:buFont typeface="Wingdings" panose="05000000000000000000" pitchFamily="2" charset="2"/>
                  <a:buChar char="n"/>
                  <a:defRPr/>
                </a:pPr>
                <a:r>
                  <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a:t>
                </a:r>
              </a:p>
              <a:p>
                <a:pPr marL="115570" marR="0" lvl="0" indent="-115570" defTabSz="913765" eaLnBrk="0" fontAlgn="auto" latinLnBrk="0" hangingPunct="0">
                  <a:lnSpc>
                    <a:spcPct val="100000"/>
                  </a:lnSpc>
                  <a:spcBef>
                    <a:spcPts val="0"/>
                  </a:spcBef>
                  <a:spcAft>
                    <a:spcPts val="0"/>
                  </a:spcAft>
                  <a:buClrTx/>
                  <a:buSzPct val="60000"/>
                  <a:buFont typeface="Wingdings" panose="05000000000000000000" pitchFamily="2" charset="2"/>
                  <a:buChar char="n"/>
                  <a:defRPr/>
                </a:pPr>
                <a:r>
                  <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a:t>
                </a:r>
              </a:p>
            </p:txBody>
          </p:sp>
          <p:sp>
            <p:nvSpPr>
              <p:cNvPr id="8" name="Rectangle 5"/>
              <p:cNvSpPr>
                <a:spLocks noChangeArrowheads="1"/>
              </p:cNvSpPr>
              <p:nvPr/>
            </p:nvSpPr>
            <p:spPr bwMode="auto">
              <a:xfrm>
                <a:off x="6083305" y="1914708"/>
                <a:ext cx="2644441" cy="232683"/>
              </a:xfrm>
              <a:prstGeom prst="rect">
                <a:avLst/>
              </a:prstGeom>
              <a:solidFill>
                <a:srgbClr val="267FC3"/>
              </a:solidFill>
              <a:ln w="12700">
                <a:solidFill>
                  <a:srgbClr val="FFFFFF"/>
                </a:solidFill>
                <a:miter lim="800000"/>
              </a:ln>
            </p:spPr>
            <p:txBody>
              <a:bodyPr lIns="91424" tIns="45712" rIns="91424" bIns="45712" anchor="ctr"/>
              <a:lstStyle/>
              <a:p>
                <a:pPr marL="0" marR="0" lvl="0" indent="0" algn="ctr" defTabSz="913765"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战略意图与目的</a:t>
                </a:r>
              </a:p>
            </p:txBody>
          </p:sp>
          <p:sp>
            <p:nvSpPr>
              <p:cNvPr id="9" name="Rectangle 6"/>
              <p:cNvSpPr>
                <a:spLocks noChangeArrowheads="1"/>
              </p:cNvSpPr>
              <p:nvPr/>
            </p:nvSpPr>
            <p:spPr bwMode="auto">
              <a:xfrm>
                <a:off x="6083305" y="2122897"/>
                <a:ext cx="2644441" cy="830318"/>
              </a:xfrm>
              <a:prstGeom prst="rect">
                <a:avLst/>
              </a:prstGeom>
              <a:solidFill>
                <a:srgbClr val="267FC3">
                  <a:lumMod val="20000"/>
                  <a:lumOff val="80000"/>
                </a:srgbClr>
              </a:solidFill>
              <a:ln w="12700">
                <a:solidFill>
                  <a:srgbClr val="FFFFFF"/>
                </a:solidFill>
                <a:miter lim="800000"/>
              </a:ln>
            </p:spPr>
            <p:txBody>
              <a:bodyPr lIns="91424" tIns="45712" rIns="91424" bIns="45712"/>
              <a:lstStyle/>
              <a:p>
                <a:pPr marL="115570" marR="0" lvl="0" indent="-115570" defTabSz="913765" eaLnBrk="0" fontAlgn="auto" latinLnBrk="0" hangingPunct="0">
                  <a:lnSpc>
                    <a:spcPct val="100000"/>
                  </a:lnSpc>
                  <a:spcBef>
                    <a:spcPts val="0"/>
                  </a:spcBef>
                  <a:spcAft>
                    <a:spcPts val="0"/>
                  </a:spcAft>
                  <a:buClrTx/>
                  <a:buSzPct val="60000"/>
                  <a:buFont typeface="Wingdings" panose="05000000000000000000" pitchFamily="2" charset="2"/>
                  <a:buChar char="n"/>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市场战略</a:t>
                </a:r>
              </a:p>
              <a:p>
                <a:pPr marL="115570" marR="0" lvl="0" indent="-115570" defTabSz="913765" eaLnBrk="0" fontAlgn="auto" latinLnBrk="0" hangingPunct="0">
                  <a:lnSpc>
                    <a:spcPct val="100000"/>
                  </a:lnSpc>
                  <a:spcBef>
                    <a:spcPts val="0"/>
                  </a:spcBef>
                  <a:spcAft>
                    <a:spcPts val="0"/>
                  </a:spcAft>
                  <a:buClrTx/>
                  <a:buSzPct val="60000"/>
                  <a:buFont typeface="Wingdings" panose="05000000000000000000" pitchFamily="2" charset="2"/>
                  <a:buChar char="n"/>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产品包战略</a:t>
                </a:r>
                <a:r>
                  <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a:t>
                </a:r>
              </a:p>
            </p:txBody>
          </p:sp>
          <p:sp>
            <p:nvSpPr>
              <p:cNvPr id="10" name="Rectangle 9"/>
              <p:cNvSpPr>
                <a:spLocks noChangeArrowheads="1"/>
              </p:cNvSpPr>
              <p:nvPr/>
            </p:nvSpPr>
            <p:spPr bwMode="auto">
              <a:xfrm>
                <a:off x="230348" y="1914708"/>
                <a:ext cx="2644441" cy="232683"/>
              </a:xfrm>
              <a:prstGeom prst="rect">
                <a:avLst/>
              </a:prstGeom>
              <a:solidFill>
                <a:srgbClr val="267FC3"/>
              </a:solidFill>
              <a:ln w="12700">
                <a:solidFill>
                  <a:srgbClr val="FFFFFF"/>
                </a:solidFill>
                <a:miter lim="800000"/>
              </a:ln>
            </p:spPr>
            <p:txBody>
              <a:bodyPr lIns="91424" tIns="45712" rIns="91424" bIns="45712" anchor="ctr"/>
              <a:lstStyle/>
              <a:p>
                <a:pPr marL="0" marR="0" lvl="0" indent="0" algn="ctr" defTabSz="913765"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总体评估</a:t>
                </a:r>
              </a:p>
            </p:txBody>
          </p:sp>
          <p:sp>
            <p:nvSpPr>
              <p:cNvPr id="11" name="Rectangle 10"/>
              <p:cNvSpPr>
                <a:spLocks noChangeArrowheads="1"/>
              </p:cNvSpPr>
              <p:nvPr/>
            </p:nvSpPr>
            <p:spPr bwMode="auto">
              <a:xfrm>
                <a:off x="230348" y="2122897"/>
                <a:ext cx="2644441" cy="830318"/>
              </a:xfrm>
              <a:prstGeom prst="rect">
                <a:avLst/>
              </a:prstGeom>
              <a:solidFill>
                <a:srgbClr val="267FC3">
                  <a:lumMod val="20000"/>
                  <a:lumOff val="80000"/>
                </a:srgbClr>
              </a:solidFill>
              <a:ln w="12700">
                <a:solidFill>
                  <a:srgbClr val="FFFFFF"/>
                </a:solidFill>
                <a:miter lim="800000"/>
              </a:ln>
            </p:spPr>
            <p:txBody>
              <a:bodyPr lIns="91424" tIns="45712" rIns="91424" bIns="45712"/>
              <a:lstStyle/>
              <a:p>
                <a:pPr marL="115570" marR="0" lvl="0" indent="-115570" defTabSz="913765" eaLnBrk="0" fontAlgn="auto" latinLnBrk="0" hangingPunct="0">
                  <a:lnSpc>
                    <a:spcPct val="100000"/>
                  </a:lnSpc>
                  <a:spcBef>
                    <a:spcPts val="0"/>
                  </a:spcBef>
                  <a:spcAft>
                    <a:spcPts val="0"/>
                  </a:spcAft>
                  <a:buClrTx/>
                  <a:buSzPct val="60000"/>
                  <a:buFont typeface="Wingdings" panose="05000000000000000000" pitchFamily="2" charset="2"/>
                  <a:buChar char="n"/>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包括国家及区域</a:t>
                </a:r>
              </a:p>
              <a:p>
                <a:pPr marL="115570" marR="0" lvl="0" indent="-115570" defTabSz="913765" eaLnBrk="0" fontAlgn="auto" latinLnBrk="0" hangingPunct="0">
                  <a:lnSpc>
                    <a:spcPct val="100000"/>
                  </a:lnSpc>
                  <a:spcBef>
                    <a:spcPts val="0"/>
                  </a:spcBef>
                  <a:spcAft>
                    <a:spcPts val="0"/>
                  </a:spcAft>
                  <a:buClrTx/>
                  <a:buSzPct val="60000"/>
                  <a:buFont typeface="Wingdings" panose="05000000000000000000" pitchFamily="2" charset="2"/>
                  <a:buChar char="n"/>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现有和潜在的</a:t>
                </a:r>
              </a:p>
              <a:p>
                <a:pPr marL="115570" marR="0" lvl="0" indent="-115570" defTabSz="913765" eaLnBrk="0" fontAlgn="auto" latinLnBrk="0" hangingPunct="0">
                  <a:lnSpc>
                    <a:spcPct val="100000"/>
                  </a:lnSpc>
                  <a:spcBef>
                    <a:spcPts val="0"/>
                  </a:spcBef>
                  <a:spcAft>
                    <a:spcPts val="0"/>
                  </a:spcAft>
                  <a:buClrTx/>
                  <a:buSzPct val="60000"/>
                  <a:buFont typeface="Wingdings" panose="05000000000000000000" pitchFamily="2" charset="2"/>
                  <a:buChar char="n"/>
                  <a:defRPr/>
                </a:pPr>
                <a:r>
                  <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a:t>
                </a:r>
              </a:p>
              <a:p>
                <a:pPr marL="115570" marR="0" lvl="0" indent="-115570" defTabSz="913765" eaLnBrk="0" fontAlgn="auto" latinLnBrk="0" hangingPunct="0">
                  <a:lnSpc>
                    <a:spcPct val="100000"/>
                  </a:lnSpc>
                  <a:spcBef>
                    <a:spcPts val="0"/>
                  </a:spcBef>
                  <a:spcAft>
                    <a:spcPts val="0"/>
                  </a:spcAft>
                  <a:buClrTx/>
                  <a:buSzPct val="60000"/>
                  <a:buFont typeface="Wingdings" panose="05000000000000000000" pitchFamily="2" charset="2"/>
                  <a:buChar char="n"/>
                  <a:defRPr/>
                </a:pPr>
                <a:endPar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12" name="Rectangle 13"/>
              <p:cNvSpPr>
                <a:spLocks noChangeArrowheads="1"/>
              </p:cNvSpPr>
              <p:nvPr/>
            </p:nvSpPr>
            <p:spPr bwMode="auto">
              <a:xfrm>
                <a:off x="9008877" y="1914708"/>
                <a:ext cx="2642628" cy="232683"/>
              </a:xfrm>
              <a:prstGeom prst="rect">
                <a:avLst/>
              </a:prstGeom>
              <a:solidFill>
                <a:srgbClr val="267FC3"/>
              </a:solidFill>
              <a:ln w="12700">
                <a:solidFill>
                  <a:srgbClr val="FFFFFF"/>
                </a:solidFill>
                <a:miter lim="800000"/>
              </a:ln>
            </p:spPr>
            <p:txBody>
              <a:bodyPr lIns="91424" tIns="45712" rIns="91424" bIns="45712" anchor="ctr"/>
              <a:lstStyle/>
              <a:p>
                <a:pPr marL="0" marR="0" lvl="0" indent="0" algn="ctr" defTabSz="913765"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优势</a:t>
                </a:r>
              </a:p>
            </p:txBody>
          </p:sp>
          <p:sp>
            <p:nvSpPr>
              <p:cNvPr id="13" name="Rectangle 14"/>
              <p:cNvSpPr>
                <a:spLocks noChangeArrowheads="1"/>
              </p:cNvSpPr>
              <p:nvPr/>
            </p:nvSpPr>
            <p:spPr bwMode="auto">
              <a:xfrm>
                <a:off x="9008877" y="2122897"/>
                <a:ext cx="2642627" cy="830318"/>
              </a:xfrm>
              <a:prstGeom prst="rect">
                <a:avLst/>
              </a:prstGeom>
              <a:solidFill>
                <a:srgbClr val="267FC3">
                  <a:lumMod val="20000"/>
                  <a:lumOff val="80000"/>
                </a:srgbClr>
              </a:solidFill>
              <a:ln w="12700">
                <a:solidFill>
                  <a:srgbClr val="FFFFFF"/>
                </a:solidFill>
                <a:miter lim="800000"/>
              </a:ln>
            </p:spPr>
            <p:txBody>
              <a:bodyPr lIns="91424" tIns="45712" rIns="91424" bIns="45712"/>
              <a:lstStyle/>
              <a:p>
                <a:pPr marL="115570" marR="0" lvl="0" indent="-115570" defTabSz="913765" eaLnBrk="0" fontAlgn="auto" latinLnBrk="0" hangingPunct="0">
                  <a:lnSpc>
                    <a:spcPct val="100000"/>
                  </a:lnSpc>
                  <a:spcBef>
                    <a:spcPts val="0"/>
                  </a:spcBef>
                  <a:spcAft>
                    <a:spcPts val="0"/>
                  </a:spcAft>
                  <a:buClrTx/>
                  <a:buSzPct val="60000"/>
                  <a:buFont typeface="Wingdings" panose="05000000000000000000" pitchFamily="2" charset="2"/>
                  <a:buChar char="n"/>
                  <a:defRPr/>
                </a:pPr>
                <a:r>
                  <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Strategic control points</a:t>
                </a:r>
              </a:p>
              <a:p>
                <a:pPr marL="115570" marR="0" lvl="0" indent="-115570" defTabSz="913765" eaLnBrk="0" fontAlgn="auto" latinLnBrk="0" hangingPunct="0">
                  <a:lnSpc>
                    <a:spcPct val="100000"/>
                  </a:lnSpc>
                  <a:spcBef>
                    <a:spcPts val="0"/>
                  </a:spcBef>
                  <a:spcAft>
                    <a:spcPts val="0"/>
                  </a:spcAft>
                  <a:buClrTx/>
                  <a:buSzPct val="60000"/>
                  <a:buFont typeface="Wingdings" panose="05000000000000000000" pitchFamily="2" charset="2"/>
                  <a:buChar char="n"/>
                  <a:defRPr/>
                </a:pPr>
                <a:r>
                  <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a:t>
                </a:r>
              </a:p>
              <a:p>
                <a:pPr marL="115570" marR="0" lvl="0" indent="-115570" defTabSz="913765" eaLnBrk="0" fontAlgn="auto" latinLnBrk="0" hangingPunct="0">
                  <a:lnSpc>
                    <a:spcPct val="100000"/>
                  </a:lnSpc>
                  <a:spcBef>
                    <a:spcPts val="0"/>
                  </a:spcBef>
                  <a:spcAft>
                    <a:spcPts val="0"/>
                  </a:spcAft>
                  <a:buClrTx/>
                  <a:buSzPct val="60000"/>
                  <a:buFont typeface="Wingdings" panose="05000000000000000000" pitchFamily="2" charset="2"/>
                  <a:buChar char="n"/>
                  <a:defRPr/>
                </a:pPr>
                <a:r>
                  <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a:t>
                </a:r>
              </a:p>
            </p:txBody>
          </p:sp>
        </p:grpSp>
        <p:grpSp>
          <p:nvGrpSpPr>
            <p:cNvPr id="14" name="组合 13"/>
            <p:cNvGrpSpPr/>
            <p:nvPr/>
          </p:nvGrpSpPr>
          <p:grpSpPr>
            <a:xfrm>
              <a:off x="572" y="4954"/>
              <a:ext cx="17989" cy="1978"/>
              <a:chOff x="168681" y="3759837"/>
              <a:chExt cx="11422970" cy="1255877"/>
            </a:xfrm>
          </p:grpSpPr>
          <p:sp>
            <p:nvSpPr>
              <p:cNvPr id="15" name="Rectangle 7"/>
              <p:cNvSpPr>
                <a:spLocks noChangeArrowheads="1"/>
              </p:cNvSpPr>
              <p:nvPr/>
            </p:nvSpPr>
            <p:spPr bwMode="auto">
              <a:xfrm>
                <a:off x="168681" y="3759837"/>
                <a:ext cx="2644441" cy="231321"/>
              </a:xfrm>
              <a:prstGeom prst="rect">
                <a:avLst/>
              </a:prstGeom>
              <a:solidFill>
                <a:srgbClr val="267FC3"/>
              </a:solidFill>
              <a:ln w="12700">
                <a:solidFill>
                  <a:srgbClr val="FFFFFF"/>
                </a:solidFill>
                <a:miter lim="800000"/>
              </a:ln>
            </p:spPr>
            <p:txBody>
              <a:bodyPr lIns="91424" tIns="45712" rIns="91424" bIns="45712" anchor="ctr"/>
              <a:lstStyle/>
              <a:p>
                <a:pPr marL="0" marR="0" lvl="0" indent="0" algn="ctr" defTabSz="913765"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财务及</a:t>
                </a:r>
                <a:r>
                  <a:rPr kumimoji="0" lang="zh-CN" altLang="zh-CN" sz="10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KPI</a:t>
                </a:r>
              </a:p>
            </p:txBody>
          </p:sp>
          <p:sp>
            <p:nvSpPr>
              <p:cNvPr id="16" name="Rectangle 8"/>
              <p:cNvSpPr>
                <a:spLocks noChangeArrowheads="1"/>
              </p:cNvSpPr>
              <p:nvPr/>
            </p:nvSpPr>
            <p:spPr bwMode="auto">
              <a:xfrm>
                <a:off x="168681" y="3996601"/>
                <a:ext cx="2644441" cy="1018112"/>
              </a:xfrm>
              <a:prstGeom prst="rect">
                <a:avLst/>
              </a:prstGeom>
              <a:solidFill>
                <a:srgbClr val="267FC3">
                  <a:lumMod val="20000"/>
                  <a:lumOff val="80000"/>
                </a:srgbClr>
              </a:solidFill>
              <a:ln w="12700">
                <a:solidFill>
                  <a:srgbClr val="FFFFFF"/>
                </a:solidFill>
                <a:miter lim="800000"/>
              </a:ln>
            </p:spPr>
            <p:txBody>
              <a:bodyPr lIns="91424" tIns="45712" rIns="91424" bIns="45712"/>
              <a:lstStyle/>
              <a:p>
                <a:pPr marL="115570" marR="0" lvl="0" indent="-115570" defTabSz="913765" eaLnBrk="0" fontAlgn="auto" latinLnBrk="0" hangingPunct="0">
                  <a:lnSpc>
                    <a:spcPct val="100000"/>
                  </a:lnSpc>
                  <a:spcBef>
                    <a:spcPts val="0"/>
                  </a:spcBef>
                  <a:spcAft>
                    <a:spcPts val="0"/>
                  </a:spcAft>
                  <a:buClrTx/>
                  <a:buSzPct val="60000"/>
                  <a:buFont typeface="Wingdings" panose="05000000000000000000" pitchFamily="2" charset="2"/>
                  <a:buChar char="n"/>
                  <a:defRPr/>
                </a:pPr>
                <a:r>
                  <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a:t>
                </a:r>
              </a:p>
              <a:p>
                <a:pPr marL="115570" marR="0" lvl="0" indent="-115570" defTabSz="913765" eaLnBrk="0" fontAlgn="auto" latinLnBrk="0" hangingPunct="0">
                  <a:lnSpc>
                    <a:spcPct val="100000"/>
                  </a:lnSpc>
                  <a:spcBef>
                    <a:spcPts val="0"/>
                  </a:spcBef>
                  <a:spcAft>
                    <a:spcPts val="0"/>
                  </a:spcAft>
                  <a:buClrTx/>
                  <a:buSzPct val="60000"/>
                  <a:buFont typeface="Wingdings" panose="05000000000000000000" pitchFamily="2" charset="2"/>
                  <a:buChar char="n"/>
                  <a:defRPr/>
                </a:pPr>
                <a:r>
                  <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a:t>
                </a:r>
              </a:p>
            </p:txBody>
          </p:sp>
          <p:sp>
            <p:nvSpPr>
              <p:cNvPr id="17" name="Rectangle 11"/>
              <p:cNvSpPr>
                <a:spLocks noChangeArrowheads="1"/>
              </p:cNvSpPr>
              <p:nvPr/>
            </p:nvSpPr>
            <p:spPr bwMode="auto">
              <a:xfrm>
                <a:off x="8947210" y="3759837"/>
                <a:ext cx="2644441" cy="231321"/>
              </a:xfrm>
              <a:prstGeom prst="rect">
                <a:avLst/>
              </a:prstGeom>
              <a:solidFill>
                <a:srgbClr val="267FC3"/>
              </a:solidFill>
              <a:ln w="12700">
                <a:solidFill>
                  <a:srgbClr val="FFFFFF"/>
                </a:solidFill>
                <a:miter lim="800000"/>
              </a:ln>
            </p:spPr>
            <p:txBody>
              <a:bodyPr lIns="91424" tIns="45712" rIns="91424" bIns="45712" anchor="ctr"/>
              <a:lstStyle/>
              <a:p>
                <a:pPr marL="0" marR="0" lvl="0" indent="0" algn="ctr" defTabSz="913765"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弱点</a:t>
                </a:r>
              </a:p>
            </p:txBody>
          </p:sp>
          <p:sp>
            <p:nvSpPr>
              <p:cNvPr id="18" name="Rectangle 12"/>
              <p:cNvSpPr>
                <a:spLocks noChangeArrowheads="1"/>
              </p:cNvSpPr>
              <p:nvPr/>
            </p:nvSpPr>
            <p:spPr bwMode="auto">
              <a:xfrm>
                <a:off x="8947210" y="3996601"/>
                <a:ext cx="2644441" cy="1018112"/>
              </a:xfrm>
              <a:prstGeom prst="rect">
                <a:avLst/>
              </a:prstGeom>
              <a:solidFill>
                <a:srgbClr val="267FC3">
                  <a:lumMod val="20000"/>
                  <a:lumOff val="80000"/>
                </a:srgbClr>
              </a:solidFill>
              <a:ln w="12700">
                <a:solidFill>
                  <a:srgbClr val="FFFFFF"/>
                </a:solidFill>
                <a:miter lim="800000"/>
              </a:ln>
            </p:spPr>
            <p:txBody>
              <a:bodyPr lIns="91424" tIns="45712" rIns="91424" bIns="45712"/>
              <a:lstStyle/>
              <a:p>
                <a:pPr marL="115570" marR="0" lvl="0" indent="-115570" defTabSz="913765" eaLnBrk="0" fontAlgn="auto" latinLnBrk="0" hangingPunct="0">
                  <a:lnSpc>
                    <a:spcPct val="100000"/>
                  </a:lnSpc>
                  <a:spcBef>
                    <a:spcPts val="0"/>
                  </a:spcBef>
                  <a:spcAft>
                    <a:spcPts val="0"/>
                  </a:spcAft>
                  <a:buClrTx/>
                  <a:buSzPct val="60000"/>
                  <a:buFont typeface="Wingdings" panose="05000000000000000000" pitchFamily="2" charset="2"/>
                  <a:buChar char="n"/>
                  <a:defRPr/>
                </a:pPr>
                <a:r>
                  <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a:t>
                </a:r>
              </a:p>
              <a:p>
                <a:pPr marL="115570" marR="0" lvl="0" indent="-115570" defTabSz="913765" eaLnBrk="0" fontAlgn="auto" latinLnBrk="0" hangingPunct="0">
                  <a:lnSpc>
                    <a:spcPct val="100000"/>
                  </a:lnSpc>
                  <a:spcBef>
                    <a:spcPts val="0"/>
                  </a:spcBef>
                  <a:spcAft>
                    <a:spcPts val="0"/>
                  </a:spcAft>
                  <a:buClrTx/>
                  <a:buSzPct val="60000"/>
                  <a:buFont typeface="Wingdings" panose="05000000000000000000" pitchFamily="2" charset="2"/>
                  <a:buChar char="n"/>
                  <a:defRPr/>
                </a:pPr>
                <a:r>
                  <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a:t>
                </a:r>
              </a:p>
            </p:txBody>
          </p:sp>
          <p:sp>
            <p:nvSpPr>
              <p:cNvPr id="19" name="Rectangle 15"/>
              <p:cNvSpPr>
                <a:spLocks noChangeArrowheads="1"/>
              </p:cNvSpPr>
              <p:nvPr/>
            </p:nvSpPr>
            <p:spPr bwMode="auto">
              <a:xfrm>
                <a:off x="6021638" y="3759837"/>
                <a:ext cx="2644441" cy="231321"/>
              </a:xfrm>
              <a:prstGeom prst="rect">
                <a:avLst/>
              </a:prstGeom>
              <a:solidFill>
                <a:srgbClr val="267FC3"/>
              </a:solidFill>
              <a:ln w="12700">
                <a:solidFill>
                  <a:srgbClr val="FFFFFF"/>
                </a:solidFill>
                <a:miter lim="800000"/>
              </a:ln>
            </p:spPr>
            <p:txBody>
              <a:bodyPr lIns="91424" tIns="45712" rIns="91424" bIns="45712" anchor="ctr"/>
              <a:lstStyle/>
              <a:p>
                <a:pPr marL="0" marR="0" lvl="0" indent="0" algn="ctr" defTabSz="913765"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近期进展</a:t>
                </a:r>
              </a:p>
            </p:txBody>
          </p:sp>
          <p:sp>
            <p:nvSpPr>
              <p:cNvPr id="20" name="Rectangle 16"/>
              <p:cNvSpPr>
                <a:spLocks noChangeArrowheads="1"/>
              </p:cNvSpPr>
              <p:nvPr/>
            </p:nvSpPr>
            <p:spPr bwMode="auto">
              <a:xfrm>
                <a:off x="6021638" y="3996601"/>
                <a:ext cx="2644441" cy="1018112"/>
              </a:xfrm>
              <a:prstGeom prst="rect">
                <a:avLst/>
              </a:prstGeom>
              <a:solidFill>
                <a:srgbClr val="267FC3">
                  <a:lumMod val="20000"/>
                  <a:lumOff val="80000"/>
                </a:srgbClr>
              </a:solidFill>
              <a:ln w="12700">
                <a:solidFill>
                  <a:srgbClr val="FFFFFF"/>
                </a:solidFill>
                <a:miter lim="800000"/>
              </a:ln>
            </p:spPr>
            <p:txBody>
              <a:bodyPr lIns="91424" tIns="45712" rIns="91424" bIns="45712"/>
              <a:lstStyle/>
              <a:p>
                <a:pPr marL="115570" marR="0" lvl="0" indent="-115570" defTabSz="913765" eaLnBrk="0" fontAlgn="auto" latinLnBrk="0" hangingPunct="0">
                  <a:lnSpc>
                    <a:spcPct val="100000"/>
                  </a:lnSpc>
                  <a:spcBef>
                    <a:spcPts val="0"/>
                  </a:spcBef>
                  <a:spcAft>
                    <a:spcPts val="0"/>
                  </a:spcAft>
                  <a:buClrTx/>
                  <a:buSzPct val="60000"/>
                  <a:buFont typeface="Wingdings" panose="05000000000000000000" pitchFamily="2" charset="2"/>
                  <a:buChar char="n"/>
                  <a:defRPr/>
                </a:pPr>
                <a:r>
                  <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 …</a:t>
                </a:r>
              </a:p>
            </p:txBody>
          </p:sp>
          <p:sp>
            <p:nvSpPr>
              <p:cNvPr id="21" name="Rectangle 17"/>
              <p:cNvSpPr>
                <a:spLocks noChangeArrowheads="1"/>
              </p:cNvSpPr>
              <p:nvPr/>
            </p:nvSpPr>
            <p:spPr bwMode="auto">
              <a:xfrm>
                <a:off x="3096066" y="3759837"/>
                <a:ext cx="2644441" cy="231321"/>
              </a:xfrm>
              <a:prstGeom prst="rect">
                <a:avLst/>
              </a:prstGeom>
              <a:solidFill>
                <a:srgbClr val="267FC3"/>
              </a:solidFill>
              <a:ln w="12700">
                <a:solidFill>
                  <a:srgbClr val="FFFFFF"/>
                </a:solidFill>
                <a:miter lim="800000"/>
              </a:ln>
            </p:spPr>
            <p:txBody>
              <a:bodyPr lIns="91424" tIns="45712" rIns="91424" bIns="45712" anchor="ctr"/>
              <a:lstStyle/>
              <a:p>
                <a:pPr marL="0" marR="0" lvl="0" indent="0" algn="ctr" defTabSz="913765" eaLnBrk="0" fontAlgn="auto" latinLnBrk="0" hangingPunct="0">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现有市场覆盖</a:t>
                </a:r>
              </a:p>
            </p:txBody>
          </p:sp>
          <p:sp>
            <p:nvSpPr>
              <p:cNvPr id="22" name="Rectangle 18"/>
              <p:cNvSpPr>
                <a:spLocks noChangeArrowheads="1"/>
              </p:cNvSpPr>
              <p:nvPr/>
            </p:nvSpPr>
            <p:spPr bwMode="auto">
              <a:xfrm>
                <a:off x="3096066" y="3996601"/>
                <a:ext cx="2644441" cy="1019113"/>
              </a:xfrm>
              <a:prstGeom prst="rect">
                <a:avLst/>
              </a:prstGeom>
              <a:solidFill>
                <a:srgbClr val="267FC3">
                  <a:lumMod val="20000"/>
                  <a:lumOff val="80000"/>
                </a:srgbClr>
              </a:solidFill>
              <a:ln w="12700">
                <a:solidFill>
                  <a:srgbClr val="FFFFFF"/>
                </a:solidFill>
                <a:miter lim="800000"/>
              </a:ln>
            </p:spPr>
            <p:txBody>
              <a:bodyPr lIns="91424" tIns="45712" rIns="91424" bIns="45712"/>
              <a:lstStyle/>
              <a:p>
                <a:pPr marL="115570" marR="0" lvl="0" indent="-115570" defTabSz="913765" eaLnBrk="0" fontAlgn="auto" latinLnBrk="0" hangingPunct="0">
                  <a:lnSpc>
                    <a:spcPct val="100000"/>
                  </a:lnSpc>
                  <a:spcBef>
                    <a:spcPts val="0"/>
                  </a:spcBef>
                  <a:spcAft>
                    <a:spcPts val="0"/>
                  </a:spcAft>
                  <a:buClrTx/>
                  <a:buSzPct val="60000"/>
                  <a:buFont typeface="Wingdings" panose="05000000000000000000" pitchFamily="2" charset="2"/>
                  <a:buChar char="n"/>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区域及份额 </a:t>
                </a:r>
              </a:p>
              <a:p>
                <a:pPr marL="115570" marR="0" lvl="0" indent="-115570" defTabSz="913765" eaLnBrk="0" fontAlgn="auto" latinLnBrk="0" hangingPunct="0">
                  <a:lnSpc>
                    <a:spcPct val="100000"/>
                  </a:lnSpc>
                  <a:spcBef>
                    <a:spcPts val="0"/>
                  </a:spcBef>
                  <a:spcAft>
                    <a:spcPts val="0"/>
                  </a:spcAft>
                  <a:buClrTx/>
                  <a:buSzPct val="60000"/>
                  <a:buFont typeface="Wingdings" panose="05000000000000000000" pitchFamily="2" charset="2"/>
                  <a:buChar char="n"/>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主要客户群</a:t>
                </a:r>
              </a:p>
              <a:p>
                <a:pPr marL="115570" marR="0" lvl="0" indent="-115570" defTabSz="913765" eaLnBrk="0" fontAlgn="auto" latinLnBrk="0" hangingPunct="0">
                  <a:lnSpc>
                    <a:spcPct val="100000"/>
                  </a:lnSpc>
                  <a:spcBef>
                    <a:spcPts val="0"/>
                  </a:spcBef>
                  <a:spcAft>
                    <a:spcPts val="0"/>
                  </a:spcAft>
                  <a:buClrTx/>
                  <a:buSzPct val="60000"/>
                  <a:buFont typeface="Wingdings" panose="05000000000000000000" pitchFamily="2" charset="2"/>
                  <a:buChar char="n"/>
                  <a:defRPr/>
                </a:pPr>
                <a:r>
                  <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a:t>
                </a:r>
              </a:p>
            </p:txBody>
          </p:sp>
        </p:grpSp>
        <p:sp>
          <p:nvSpPr>
            <p:cNvPr id="23" name="Rectangle 19"/>
            <p:cNvSpPr>
              <a:spLocks noChangeArrowheads="1"/>
            </p:cNvSpPr>
            <p:nvPr/>
          </p:nvSpPr>
          <p:spPr bwMode="auto">
            <a:xfrm>
              <a:off x="540" y="2092"/>
              <a:ext cx="17767" cy="574"/>
            </a:xfrm>
            <a:prstGeom prst="rect">
              <a:avLst/>
            </a:prstGeom>
            <a:noFill/>
            <a:ln w="9525">
              <a:noFill/>
              <a:miter lim="800000"/>
            </a:ln>
          </p:spPr>
          <p:txBody>
            <a:bodyPr lIns="0" tIns="45712" rIns="0" bIns="45712"/>
            <a:lstStyle/>
            <a:p>
              <a:pPr defTabSz="0" eaLnBrk="0" hangingPunct="0">
                <a:spcBef>
                  <a:spcPct val="20000"/>
                </a:spcBef>
              </a:pPr>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分析主要竞争对手的情况，（可从</a:t>
              </a:r>
              <a:r>
                <a:rPr lang="zh-CN"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18</a:t>
              </a:r>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个竞争情报要素选择重点</a:t>
              </a:r>
              <a:r>
                <a:rPr lang="zh-CN"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3-5</a:t>
              </a:r>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个进行）</a:t>
              </a:r>
            </a:p>
          </p:txBody>
        </p:sp>
        <p:sp>
          <p:nvSpPr>
            <p:cNvPr id="24" name="Rectangle 20"/>
            <p:cNvSpPr>
              <a:spLocks noChangeArrowheads="1"/>
            </p:cNvSpPr>
            <p:nvPr/>
          </p:nvSpPr>
          <p:spPr bwMode="auto">
            <a:xfrm>
              <a:off x="3880" y="7229"/>
              <a:ext cx="5461" cy="2527"/>
            </a:xfrm>
            <a:prstGeom prst="rect">
              <a:avLst/>
            </a:prstGeom>
            <a:noFill/>
            <a:ln w="9525">
              <a:noFill/>
              <a:miter lim="800000"/>
            </a:ln>
          </p:spPr>
          <p:txBody>
            <a:bodyPr lIns="91424" tIns="45712" rIns="91424" bIns="45712">
              <a:spAutoFit/>
            </a:bodyPr>
            <a:lstStyle/>
            <a:p>
              <a:pPr marL="342900" indent="-342900" defTabSz="913765" eaLnBrk="0" hangingPunct="0">
                <a:buFontTx/>
                <a:buAutoNum type="arabicPeriod"/>
              </a:pPr>
              <a:r>
                <a:rPr lang="zh-CN" altLang="zh-CN" sz="1000" dirty="0">
                  <a:solidFill>
                    <a:srgbClr val="CC0000"/>
                  </a:solidFill>
                  <a:latin typeface="微软雅黑" panose="020B0503020204020204" pitchFamily="34" charset="-122"/>
                  <a:ea typeface="微软雅黑" panose="020B0503020204020204" pitchFamily="34" charset="-122"/>
                  <a:cs typeface="+mn-ea"/>
                  <a:sym typeface="+mn-lt"/>
                </a:rPr>
                <a:t>Profits</a:t>
              </a:r>
            </a:p>
            <a:p>
              <a:pPr marL="342900" indent="-342900" defTabSz="913765" eaLnBrk="0" hangingPunct="0">
                <a:buFontTx/>
                <a:buAutoNum type="arabicPeriod"/>
              </a:pPr>
              <a:r>
                <a:rPr lang="zh-CN" altLang="zh-CN" sz="1000" dirty="0">
                  <a:solidFill>
                    <a:srgbClr val="CC0000"/>
                  </a:solidFill>
                  <a:latin typeface="微软雅黑" panose="020B0503020204020204" pitchFamily="34" charset="-122"/>
                  <a:ea typeface="微软雅黑" panose="020B0503020204020204" pitchFamily="34" charset="-122"/>
                  <a:cs typeface="+mn-ea"/>
                  <a:sym typeface="+mn-lt"/>
                </a:rPr>
                <a:t>Market Share &amp; Trend</a:t>
              </a:r>
            </a:p>
            <a:p>
              <a:pPr marL="342900" indent="-342900" defTabSz="913765" eaLnBrk="0" hangingPunct="0">
                <a:buFontTx/>
                <a:buAutoNum type="arabicPeriod"/>
              </a:pPr>
              <a:r>
                <a:rPr lang="zh-CN" altLang="zh-CN" sz="1000" dirty="0">
                  <a:solidFill>
                    <a:srgbClr val="CC0000"/>
                  </a:solidFill>
                  <a:latin typeface="微软雅黑" panose="020B0503020204020204" pitchFamily="34" charset="-122"/>
                  <a:ea typeface="微软雅黑" panose="020B0503020204020204" pitchFamily="34" charset="-122"/>
                  <a:cs typeface="+mn-ea"/>
                  <a:sym typeface="+mn-lt"/>
                </a:rPr>
                <a:t>Range of Products</a:t>
              </a:r>
            </a:p>
            <a:p>
              <a:pPr marL="342900" indent="-342900" defTabSz="913765" eaLnBrk="0" hangingPunct="0">
                <a:buFontTx/>
                <a:buAutoNum type="arabicPeriod"/>
              </a:pPr>
              <a:r>
                <a:rPr lang="zh-CN" altLang="zh-CN" sz="1000" dirty="0">
                  <a:solidFill>
                    <a:srgbClr val="CC0000"/>
                  </a:solidFill>
                  <a:latin typeface="微软雅黑" panose="020B0503020204020204" pitchFamily="34" charset="-122"/>
                  <a:ea typeface="微软雅黑" panose="020B0503020204020204" pitchFamily="34" charset="-122"/>
                  <a:cs typeface="+mn-ea"/>
                  <a:sym typeface="+mn-lt"/>
                </a:rPr>
                <a:t>Product Quality</a:t>
              </a:r>
            </a:p>
            <a:p>
              <a:pPr marL="342900" indent="-342900" defTabSz="913765" eaLnBrk="0" hangingPunct="0">
                <a:buFontTx/>
                <a:buAutoNum type="arabicPeriod"/>
              </a:pPr>
              <a:r>
                <a:rPr lang="zh-CN" altLang="zh-CN" sz="1000" dirty="0">
                  <a:solidFill>
                    <a:srgbClr val="CC0000"/>
                  </a:solidFill>
                  <a:latin typeface="微软雅黑" panose="020B0503020204020204" pitchFamily="34" charset="-122"/>
                  <a:ea typeface="微软雅黑" panose="020B0503020204020204" pitchFamily="34" charset="-122"/>
                  <a:cs typeface="+mn-ea"/>
                  <a:sym typeface="+mn-lt"/>
                </a:rPr>
                <a:t>New Products in Pipeline</a:t>
              </a:r>
            </a:p>
            <a:p>
              <a:pPr marL="342900" indent="-342900" defTabSz="913765" eaLnBrk="0" hangingPunct="0">
                <a:buFontTx/>
                <a:buAutoNum type="arabicPeriod"/>
              </a:pPr>
              <a:r>
                <a:rPr lang="zh-CN" altLang="zh-CN" sz="1000" dirty="0">
                  <a:solidFill>
                    <a:srgbClr val="CC0000"/>
                  </a:solidFill>
                  <a:latin typeface="微软雅黑" panose="020B0503020204020204" pitchFamily="34" charset="-122"/>
                  <a:ea typeface="微软雅黑" panose="020B0503020204020204" pitchFamily="34" charset="-122"/>
                  <a:cs typeface="+mn-ea"/>
                  <a:sym typeface="+mn-lt"/>
                </a:rPr>
                <a:t>Customers &amp; Relationships</a:t>
              </a:r>
            </a:p>
            <a:p>
              <a:pPr marL="342900" indent="-342900" defTabSz="913765" eaLnBrk="0" hangingPunct="0">
                <a:buFontTx/>
                <a:buAutoNum type="arabicPeriod"/>
              </a:pPr>
              <a:r>
                <a:rPr lang="zh-CN" altLang="zh-CN" sz="1000" dirty="0">
                  <a:solidFill>
                    <a:srgbClr val="CC0000"/>
                  </a:solidFill>
                  <a:latin typeface="微软雅黑" panose="020B0503020204020204" pitchFamily="34" charset="-122"/>
                  <a:ea typeface="微软雅黑" panose="020B0503020204020204" pitchFamily="34" charset="-122"/>
                  <a:cs typeface="+mn-ea"/>
                  <a:sym typeface="+mn-lt"/>
                </a:rPr>
                <a:t>Prices &amp; Costs</a:t>
              </a:r>
            </a:p>
            <a:p>
              <a:pPr marL="342900" indent="-342900" defTabSz="913765" eaLnBrk="0" hangingPunct="0">
                <a:buFontTx/>
                <a:buAutoNum type="arabicPeriod"/>
              </a:pPr>
              <a:r>
                <a:rPr lang="zh-CN" altLang="zh-CN" sz="1000" dirty="0">
                  <a:solidFill>
                    <a:srgbClr val="CC0000"/>
                  </a:solidFill>
                  <a:latin typeface="微软雅黑" panose="020B0503020204020204" pitchFamily="34" charset="-122"/>
                  <a:ea typeface="微软雅黑" panose="020B0503020204020204" pitchFamily="34" charset="-122"/>
                  <a:cs typeface="+mn-ea"/>
                  <a:sym typeface="+mn-lt"/>
                </a:rPr>
                <a:t>Growth Strategy</a:t>
              </a:r>
            </a:p>
            <a:p>
              <a:pPr marL="342900" indent="-342900" defTabSz="913765" eaLnBrk="0" hangingPunct="0">
                <a:buFontTx/>
                <a:buAutoNum type="arabicPeriod"/>
              </a:pPr>
              <a:r>
                <a:rPr lang="zh-CN" altLang="zh-CN" sz="1000" dirty="0">
                  <a:solidFill>
                    <a:srgbClr val="CC0000"/>
                  </a:solidFill>
                  <a:latin typeface="微软雅黑" panose="020B0503020204020204" pitchFamily="34" charset="-122"/>
                  <a:ea typeface="微软雅黑" panose="020B0503020204020204" pitchFamily="34" charset="-122"/>
                  <a:cs typeface="+mn-ea"/>
                  <a:sym typeface="+mn-lt"/>
                </a:rPr>
                <a:t>Financial Security</a:t>
              </a:r>
            </a:p>
            <a:p>
              <a:pPr marL="342900" indent="-342900" defTabSz="913765" eaLnBrk="0" hangingPunct="0">
                <a:buFontTx/>
                <a:buAutoNum type="arabicPeriod"/>
              </a:pPr>
              <a:endParaRPr lang="zh-CN" altLang="zh-CN" sz="1000" dirty="0">
                <a:solidFill>
                  <a:srgbClr val="CC0000"/>
                </a:solidFill>
                <a:latin typeface="微软雅黑" panose="020B0503020204020204" pitchFamily="34" charset="-122"/>
                <a:ea typeface="微软雅黑" panose="020B0503020204020204" pitchFamily="34" charset="-122"/>
                <a:cs typeface="+mn-ea"/>
                <a:sym typeface="+mn-lt"/>
              </a:endParaRPr>
            </a:p>
          </p:txBody>
        </p:sp>
        <p:sp>
          <p:nvSpPr>
            <p:cNvPr id="25" name="Rectangle 21"/>
            <p:cNvSpPr>
              <a:spLocks noChangeArrowheads="1"/>
            </p:cNvSpPr>
            <p:nvPr/>
          </p:nvSpPr>
          <p:spPr bwMode="auto">
            <a:xfrm>
              <a:off x="8143" y="7299"/>
              <a:ext cx="6050" cy="2289"/>
            </a:xfrm>
            <a:prstGeom prst="rect">
              <a:avLst/>
            </a:prstGeom>
            <a:noFill/>
            <a:ln w="9525">
              <a:noFill/>
              <a:miter lim="800000"/>
            </a:ln>
          </p:spPr>
          <p:txBody>
            <a:bodyPr lIns="91424" tIns="45712" rIns="91424" bIns="45712">
              <a:spAutoFit/>
            </a:bodyPr>
            <a:lstStyle/>
            <a:p>
              <a:pPr marL="342900" indent="-342900" defTabSz="913765" eaLnBrk="0" hangingPunct="0">
                <a:buFontTx/>
                <a:buAutoNum type="arabicPeriod" startAt="10"/>
              </a:pPr>
              <a:r>
                <a:rPr lang="zh-CN" altLang="zh-CN" sz="10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sym typeface="+mn-lt"/>
                </a:rPr>
                <a:t>Raw Material Suppliers</a:t>
              </a:r>
            </a:p>
            <a:p>
              <a:pPr marL="342900" indent="-342900" defTabSz="913765" eaLnBrk="0" hangingPunct="0">
                <a:buFontTx/>
                <a:buAutoNum type="arabicPeriod" startAt="10"/>
              </a:pPr>
              <a:r>
                <a:rPr lang="zh-CN" altLang="zh-CN" sz="10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sym typeface="+mn-lt"/>
                </a:rPr>
                <a:t>Capacities</a:t>
              </a:r>
              <a:r>
                <a:rPr lang="zh-CN" altLang="en-US" sz="10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sym typeface="+mn-lt"/>
                </a:rPr>
                <a:t>（产能）</a:t>
              </a:r>
              <a:endParaRPr lang="en-US" altLang="zh-CN" sz="10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342900" indent="-342900" defTabSz="913765" eaLnBrk="0" hangingPunct="0">
                <a:buFontTx/>
                <a:buAutoNum type="arabicPeriod" startAt="10"/>
              </a:pPr>
              <a:r>
                <a:rPr lang="zh-CN" altLang="zh-CN" sz="10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sym typeface="+mn-lt"/>
                </a:rPr>
                <a:t>Partner &amp; Allies</a:t>
              </a:r>
            </a:p>
            <a:p>
              <a:pPr marL="342900" indent="-342900" defTabSz="913765" eaLnBrk="0" hangingPunct="0">
                <a:buFontTx/>
                <a:buAutoNum type="arabicPeriod" startAt="10"/>
              </a:pPr>
              <a:r>
                <a:rPr lang="zh-CN" altLang="zh-CN" sz="10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sym typeface="+mn-lt"/>
                </a:rPr>
                <a:t>Strategic Control point &amp;Business model</a:t>
              </a:r>
            </a:p>
            <a:p>
              <a:pPr marL="342900" indent="-342900" defTabSz="913765" eaLnBrk="0" hangingPunct="0">
                <a:buFontTx/>
                <a:buAutoNum type="arabicPeriod" startAt="10"/>
              </a:pPr>
              <a:r>
                <a:rPr lang="zh-CN" altLang="zh-CN" sz="10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sym typeface="+mn-lt"/>
                </a:rPr>
                <a:t>Organization Structure</a:t>
              </a:r>
            </a:p>
            <a:p>
              <a:pPr marL="342900" indent="-342900" defTabSz="913765" eaLnBrk="0" hangingPunct="0">
                <a:buFontTx/>
                <a:buAutoNum type="arabicPeriod" startAt="10"/>
              </a:pPr>
              <a:r>
                <a:rPr lang="zh-CN" altLang="zh-CN" sz="10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sym typeface="+mn-lt"/>
                </a:rPr>
                <a:t>Bonus Structure/Measurement</a:t>
              </a:r>
            </a:p>
            <a:p>
              <a:pPr marL="342900" indent="-342900" defTabSz="913765" eaLnBrk="0" hangingPunct="0">
                <a:buFontTx/>
                <a:buAutoNum type="arabicPeriod" startAt="10"/>
              </a:pPr>
              <a:r>
                <a:rPr lang="zh-CN" altLang="zh-CN" sz="10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sym typeface="+mn-lt"/>
                </a:rPr>
                <a:t>People Characteristics &amp; Culture</a:t>
              </a:r>
            </a:p>
            <a:p>
              <a:pPr marL="342900" indent="-342900" defTabSz="913765" eaLnBrk="0" hangingPunct="0">
                <a:buFontTx/>
                <a:buAutoNum type="arabicPeriod" startAt="10"/>
              </a:pPr>
              <a:r>
                <a:rPr lang="zh-CN" altLang="zh-CN" sz="10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sym typeface="+mn-lt"/>
                </a:rPr>
                <a:t>Acquisitions/Investments</a:t>
              </a:r>
            </a:p>
            <a:p>
              <a:pPr marL="342900" indent="-342900" defTabSz="913765" eaLnBrk="0" hangingPunct="0">
                <a:buFontTx/>
                <a:buAutoNum type="arabicPeriod" startAt="10"/>
              </a:pPr>
              <a:r>
                <a:rPr lang="zh-CN" altLang="zh-CN" sz="10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sym typeface="+mn-lt"/>
                </a:rPr>
                <a:t>Problems</a:t>
              </a:r>
            </a:p>
          </p:txBody>
        </p:sp>
        <p:sp>
          <p:nvSpPr>
            <p:cNvPr id="26" name="Text Box 22"/>
            <p:cNvSpPr txBox="1">
              <a:spLocks noChangeArrowheads="1"/>
            </p:cNvSpPr>
            <p:nvPr/>
          </p:nvSpPr>
          <p:spPr bwMode="auto">
            <a:xfrm>
              <a:off x="599" y="7217"/>
              <a:ext cx="3537" cy="521"/>
            </a:xfrm>
            <a:prstGeom prst="rect">
              <a:avLst/>
            </a:prstGeom>
            <a:noFill/>
            <a:ln w="9525">
              <a:noFill/>
              <a:miter lim="800000"/>
            </a:ln>
          </p:spPr>
          <p:txBody>
            <a:bodyPr wrap="square" lIns="91424" tIns="45712" rIns="91424" bIns="45712">
              <a:spAutoFit/>
            </a:bodyPr>
            <a:lstStyle/>
            <a:p>
              <a:pPr defTabSz="0">
                <a:spcBef>
                  <a:spcPct val="20000"/>
                </a:spcBef>
              </a:pPr>
              <a:r>
                <a:rPr lang="zh-CN" altLang="en-US" sz="1600" b="1" dirty="0">
                  <a:solidFill>
                    <a:srgbClr val="0000FF"/>
                  </a:solidFill>
                  <a:latin typeface="微软雅黑" panose="020B0503020204020204" pitchFamily="34" charset="-122"/>
                  <a:ea typeface="微软雅黑" panose="020B0503020204020204" pitchFamily="34" charset="-122"/>
                  <a:cs typeface="+mn-ea"/>
                  <a:sym typeface="+mn-lt"/>
                </a:rPr>
                <a:t>竞争情报要素：</a:t>
              </a:r>
            </a:p>
          </p:txBody>
        </p:sp>
      </p:grpSp>
      <p:sp>
        <p:nvSpPr>
          <p:cNvPr id="29" name="Rectangle 3"/>
          <p:cNvSpPr txBox="1">
            <a:spLocks noChangeArrowheads="1"/>
          </p:cNvSpPr>
          <p:nvPr/>
        </p:nvSpPr>
        <p:spPr bwMode="auto">
          <a:xfrm>
            <a:off x="1524000" y="6296074"/>
            <a:ext cx="9144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2000" b="1" dirty="0">
                <a:solidFill>
                  <a:schemeClr val="bg1"/>
                </a:solidFill>
                <a:effectLst/>
                <a:latin typeface="微软雅黑" panose="020B0503020204020204" pitchFamily="34" charset="-122"/>
                <a:ea typeface="微软雅黑" panose="020B0503020204020204" pitchFamily="34" charset="-122"/>
              </a:rPr>
              <a:t>雷达图，关键领域对比一目了然，依据对手现状和</a:t>
            </a:r>
            <a:r>
              <a:rPr lang="en-US" altLang="zh-CN" sz="2000" b="1" dirty="0">
                <a:solidFill>
                  <a:schemeClr val="bg1"/>
                </a:solidFill>
                <a:effectLst/>
                <a:latin typeface="微软雅黑" panose="020B0503020204020204" pitchFamily="34" charset="-122"/>
                <a:ea typeface="微软雅黑" panose="020B0503020204020204" pitchFamily="34" charset="-122"/>
              </a:rPr>
              <a:t>SP</a:t>
            </a:r>
            <a:r>
              <a:rPr lang="zh-CN" altLang="en-US" sz="2000" b="1" dirty="0">
                <a:solidFill>
                  <a:schemeClr val="bg1"/>
                </a:solidFill>
                <a:effectLst/>
                <a:latin typeface="微软雅黑" panose="020B0503020204020204" pitchFamily="34" charset="-122"/>
                <a:ea typeface="微软雅黑" panose="020B0503020204020204" pitchFamily="34" charset="-122"/>
              </a:rPr>
              <a:t>确定竞争策略（保密）</a:t>
            </a:r>
            <a:endParaRPr lang="en-US" altLang="zh-CN" sz="2000" b="1" dirty="0">
              <a:solidFill>
                <a:schemeClr val="bg1"/>
              </a:solidFill>
              <a:effectLst/>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3" cstate="print"/>
          <a:stretch>
            <a:fillRect/>
          </a:stretch>
        </p:blipFill>
        <p:spPr>
          <a:xfrm>
            <a:off x="8082280" y="4252595"/>
            <a:ext cx="1979930" cy="16421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3005"/>
            <a:ext cx="12206605" cy="522605"/>
          </a:xfrm>
          <a:prstGeom prst="rect">
            <a:avLst/>
          </a:prstGeom>
        </p:spPr>
      </p:pic>
      <p:sp>
        <p:nvSpPr>
          <p:cNvPr id="13" name="object 30"/>
          <p:cNvSpPr txBox="1"/>
          <p:nvPr/>
        </p:nvSpPr>
        <p:spPr>
          <a:xfrm>
            <a:off x="3886122" y="5525405"/>
            <a:ext cx="4608846" cy="230505"/>
          </a:xfrm>
          <a:prstGeom prst="rect">
            <a:avLst/>
          </a:prstGeom>
        </p:spPr>
        <p:txBody>
          <a:bodyPr vert="horz" wrap="square" lIns="0" tIns="0" rIns="0" bIns="0" rtlCol="0">
            <a:spAutoFit/>
          </a:bodyPr>
          <a:lstStyle/>
          <a:p>
            <a:pPr marL="12700" algn="ctr"/>
            <a:r>
              <a:rPr lang="zh-CN" altLang="en-US" sz="1500" b="1" i="1" spc="-5" dirty="0">
                <a:solidFill>
                  <a:srgbClr val="C00000"/>
                </a:solidFill>
                <a:latin typeface="微软雅黑" panose="020B0503020204020204" pitchFamily="34" charset="-122"/>
                <a:ea typeface="微软雅黑" panose="020B0503020204020204" pitchFamily="34" charset="-122"/>
                <a:cs typeface="+mn-ea"/>
                <a:sym typeface="+mn-lt"/>
              </a:rPr>
              <a:t>商业模型画布深入分析企业自身的优势、劣势和差距</a:t>
            </a:r>
          </a:p>
        </p:txBody>
      </p:sp>
      <p:graphicFrame>
        <p:nvGraphicFramePr>
          <p:cNvPr id="14" name="object 29"/>
          <p:cNvGraphicFramePr>
            <a:graphicFrameLocks noGrp="1"/>
          </p:cNvGraphicFramePr>
          <p:nvPr/>
        </p:nvGraphicFramePr>
        <p:xfrm>
          <a:off x="1132205" y="1169035"/>
          <a:ext cx="9552305" cy="3829685"/>
        </p:xfrm>
        <a:graphic>
          <a:graphicData uri="http://schemas.openxmlformats.org/drawingml/2006/table">
            <a:tbl>
              <a:tblPr firstRow="1" bandRow="1"/>
              <a:tblGrid>
                <a:gridCol w="1919605">
                  <a:extLst>
                    <a:ext uri="{9D8B030D-6E8A-4147-A177-3AD203B41FA5}">
                      <a16:colId xmlns:a16="http://schemas.microsoft.com/office/drawing/2014/main" val="20000"/>
                    </a:ext>
                  </a:extLst>
                </a:gridCol>
                <a:gridCol w="1848485">
                  <a:extLst>
                    <a:ext uri="{9D8B030D-6E8A-4147-A177-3AD203B41FA5}">
                      <a16:colId xmlns:a16="http://schemas.microsoft.com/office/drawing/2014/main" val="20001"/>
                    </a:ext>
                  </a:extLst>
                </a:gridCol>
                <a:gridCol w="918845">
                  <a:extLst>
                    <a:ext uri="{9D8B030D-6E8A-4147-A177-3AD203B41FA5}">
                      <a16:colId xmlns:a16="http://schemas.microsoft.com/office/drawing/2014/main" val="20002"/>
                    </a:ext>
                  </a:extLst>
                </a:gridCol>
                <a:gridCol w="1184275">
                  <a:extLst>
                    <a:ext uri="{9D8B030D-6E8A-4147-A177-3AD203B41FA5}">
                      <a16:colId xmlns:a16="http://schemas.microsoft.com/office/drawing/2014/main" val="20003"/>
                    </a:ext>
                  </a:extLst>
                </a:gridCol>
                <a:gridCol w="1871345">
                  <a:extLst>
                    <a:ext uri="{9D8B030D-6E8A-4147-A177-3AD203B41FA5}">
                      <a16:colId xmlns:a16="http://schemas.microsoft.com/office/drawing/2014/main" val="20004"/>
                    </a:ext>
                  </a:extLst>
                </a:gridCol>
                <a:gridCol w="1809750">
                  <a:extLst>
                    <a:ext uri="{9D8B030D-6E8A-4147-A177-3AD203B41FA5}">
                      <a16:colId xmlns:a16="http://schemas.microsoft.com/office/drawing/2014/main" val="20005"/>
                    </a:ext>
                  </a:extLst>
                </a:gridCol>
              </a:tblGrid>
              <a:tr h="281940">
                <a:tc>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4925">
                        <a:lnSpc>
                          <a:spcPct val="100000"/>
                        </a:lnSpc>
                      </a:pPr>
                      <a:r>
                        <a:rPr sz="1200"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sz="1200" b="1" dirty="0">
                          <a:solidFill>
                            <a:srgbClr val="0070C0"/>
                          </a:solidFill>
                          <a:latin typeface="微软雅黑" panose="020B0503020204020204" pitchFamily="34" charset="-122"/>
                          <a:ea typeface="微软雅黑" panose="020B0503020204020204" pitchFamily="34" charset="-122"/>
                          <a:cs typeface="+mn-ea"/>
                          <a:sym typeface="+mn-lt"/>
                        </a:rPr>
                        <a:t>重要伙伴</a:t>
                      </a:r>
                      <a:r>
                        <a:rPr sz="1200" dirty="0">
                          <a:solidFill>
                            <a:srgbClr val="0070C0"/>
                          </a:solidFill>
                          <a:latin typeface="微软雅黑" panose="020B0503020204020204" pitchFamily="34" charset="-122"/>
                          <a:ea typeface="微软雅黑" panose="020B0503020204020204" pitchFamily="34" charset="-122"/>
                          <a:cs typeface="+mn-ea"/>
                          <a:sym typeface="+mn-lt"/>
                        </a:rPr>
                        <a:t>】</a:t>
                      </a:r>
                    </a:p>
                  </a:txBody>
                  <a:tcPr marL="0" marR="0" marT="0" marB="0">
                    <a:lnL w="12700">
                      <a:solidFill>
                        <a:srgbClr val="000000"/>
                      </a:solidFill>
                      <a:prstDash val="solid"/>
                    </a:lnL>
                    <a:lnR w="12700">
                      <a:solidFill>
                        <a:srgbClr val="000000"/>
                      </a:solidFill>
                      <a:prstDash val="solid"/>
                    </a:lnR>
                    <a:lnT w="12700">
                      <a:solidFill>
                        <a:srgbClr val="000000"/>
                      </a:solidFill>
                      <a:prstDash val="soli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4925">
                        <a:lnSpc>
                          <a:spcPct val="100000"/>
                        </a:lnSpc>
                      </a:pPr>
                      <a:r>
                        <a:rPr sz="1200"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sz="1200" b="1" dirty="0">
                          <a:solidFill>
                            <a:srgbClr val="0070C0"/>
                          </a:solidFill>
                          <a:latin typeface="微软雅黑" panose="020B0503020204020204" pitchFamily="34" charset="-122"/>
                          <a:ea typeface="微软雅黑" panose="020B0503020204020204" pitchFamily="34" charset="-122"/>
                          <a:cs typeface="+mn-ea"/>
                          <a:sym typeface="+mn-lt"/>
                        </a:rPr>
                        <a:t>关键</a:t>
                      </a:r>
                      <a:r>
                        <a:rPr sz="1200" b="1" dirty="0" err="1">
                          <a:solidFill>
                            <a:srgbClr val="0070C0"/>
                          </a:solidFill>
                          <a:latin typeface="微软雅黑" panose="020B0503020204020204" pitchFamily="34" charset="-122"/>
                          <a:ea typeface="微软雅黑" panose="020B0503020204020204" pitchFamily="34" charset="-122"/>
                          <a:cs typeface="+mn-ea"/>
                          <a:sym typeface="+mn-lt"/>
                        </a:rPr>
                        <a:t>业务</a:t>
                      </a:r>
                      <a:r>
                        <a:rPr sz="1200" b="1" dirty="0">
                          <a:solidFill>
                            <a:srgbClr val="0070C0"/>
                          </a:solidFill>
                          <a:latin typeface="微软雅黑" panose="020B0503020204020204" pitchFamily="34" charset="-122"/>
                          <a:ea typeface="微软雅黑" panose="020B0503020204020204" pitchFamily="34" charset="-122"/>
                          <a:cs typeface="+mn-ea"/>
                          <a:sym typeface="+mn-lt"/>
                        </a:rPr>
                        <a:t>】</a:t>
                      </a:r>
                    </a:p>
                  </a:txBody>
                  <a:tcPr marL="0" marR="0" marT="0" marB="0">
                    <a:lnL w="12700">
                      <a:solidFill>
                        <a:srgbClr val="000000"/>
                      </a:solidFill>
                      <a:prstDash val="solid"/>
                    </a:lnL>
                    <a:lnR w="12700">
                      <a:solidFill>
                        <a:srgbClr val="000000"/>
                      </a:solidFill>
                      <a:prstDash val="solid"/>
                    </a:lnR>
                    <a:lnT w="12700">
                      <a:solidFill>
                        <a:srgbClr val="000000"/>
                      </a:solidFill>
                      <a:prstDash val="solid"/>
                    </a:lnT>
                    <a:lnB>
                      <a:noFill/>
                    </a:lnB>
                    <a:lnTlToBr w="12700" cmpd="sng">
                      <a:noFill/>
                      <a:prstDash val="solid"/>
                    </a:lnTlToBr>
                    <a:lnBlToTr w="12700" cmpd="sng">
                      <a:noFill/>
                      <a:prstDash val="solid"/>
                    </a:lnBlToTr>
                    <a:noFill/>
                  </a:tcPr>
                </a:tc>
                <a:tc gridSpan="2">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4925">
                        <a:lnSpc>
                          <a:spcPct val="100000"/>
                        </a:lnSpc>
                      </a:pPr>
                      <a:r>
                        <a:rPr sz="1200"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sz="1200" b="1" dirty="0">
                          <a:solidFill>
                            <a:srgbClr val="0070C0"/>
                          </a:solidFill>
                          <a:latin typeface="微软雅黑" panose="020B0503020204020204" pitchFamily="34" charset="-122"/>
                          <a:ea typeface="微软雅黑" panose="020B0503020204020204" pitchFamily="34" charset="-122"/>
                          <a:cs typeface="+mn-ea"/>
                          <a:sym typeface="+mn-lt"/>
                        </a:rPr>
                        <a:t>价值主张</a:t>
                      </a:r>
                      <a:r>
                        <a:rPr sz="1200" dirty="0">
                          <a:solidFill>
                            <a:srgbClr val="0070C0"/>
                          </a:solidFill>
                          <a:latin typeface="微软雅黑" panose="020B0503020204020204" pitchFamily="34" charset="-122"/>
                          <a:ea typeface="微软雅黑" panose="020B0503020204020204" pitchFamily="34" charset="-122"/>
                          <a:cs typeface="+mn-ea"/>
                          <a:sym typeface="+mn-lt"/>
                        </a:rPr>
                        <a:t>】</a:t>
                      </a:r>
                    </a:p>
                  </a:txBody>
                  <a:tcPr marL="0" marR="0" marT="0" marB="0">
                    <a:lnL w="12700">
                      <a:solidFill>
                        <a:srgbClr val="000000"/>
                      </a:solidFill>
                      <a:prstDash val="solid"/>
                    </a:lnL>
                    <a:lnR w="12700">
                      <a:solidFill>
                        <a:srgbClr val="000000"/>
                      </a:solidFill>
                      <a:prstDash val="solid"/>
                    </a:lnR>
                    <a:lnT w="12700">
                      <a:solidFill>
                        <a:srgbClr val="000000"/>
                      </a:solidFill>
                      <a:prstDash val="solid"/>
                    </a:lnT>
                    <a:lnB>
                      <a:noFill/>
                    </a:lnB>
                    <a:lnTlToBr w="12700" cmpd="sng">
                      <a:noFill/>
                      <a:prstDash val="solid"/>
                    </a:lnTlToBr>
                    <a:lnBlToTr w="12700" cmpd="sng">
                      <a:noFill/>
                      <a:prstDash val="solid"/>
                    </a:lnBlToTr>
                    <a:noFill/>
                  </a:tcPr>
                </a:tc>
                <a:tc hMerge="1">
                  <a:txBody>
                    <a:bodyPr/>
                    <a:lstStyle/>
                    <a:p>
                      <a:endParaRPr lang="zh-CN"/>
                    </a:p>
                  </a:txBody>
                  <a:tcPr marL="0" marR="0" marT="0" marB="0"/>
                </a:tc>
                <a:tc>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5560">
                        <a:lnSpc>
                          <a:spcPct val="100000"/>
                        </a:lnSpc>
                      </a:pPr>
                      <a:r>
                        <a:rPr sz="1200" dirty="0">
                          <a:solidFill>
                            <a:srgbClr val="0070C0"/>
                          </a:solidFill>
                          <a:latin typeface="微软雅黑" panose="020B0503020204020204" pitchFamily="34" charset="-122"/>
                          <a:ea typeface="微软雅黑" panose="020B0503020204020204" pitchFamily="34" charset="-122"/>
                          <a:cs typeface="+mn-ea"/>
                          <a:sym typeface="+mn-lt"/>
                        </a:rPr>
                        <a:t>【</a:t>
                      </a:r>
                      <a:r>
                        <a:rPr sz="1200" b="1" dirty="0">
                          <a:solidFill>
                            <a:srgbClr val="0070C0"/>
                          </a:solidFill>
                          <a:latin typeface="微软雅黑" panose="020B0503020204020204" pitchFamily="34" charset="-122"/>
                          <a:ea typeface="微软雅黑" panose="020B0503020204020204" pitchFamily="34" charset="-122"/>
                          <a:cs typeface="+mn-ea"/>
                          <a:sym typeface="+mn-lt"/>
                        </a:rPr>
                        <a:t>客户关系</a:t>
                      </a:r>
                      <a:r>
                        <a:rPr sz="1200" dirty="0">
                          <a:solidFill>
                            <a:srgbClr val="0070C0"/>
                          </a:solidFill>
                          <a:latin typeface="微软雅黑" panose="020B0503020204020204" pitchFamily="34" charset="-122"/>
                          <a:ea typeface="微软雅黑" panose="020B0503020204020204" pitchFamily="34" charset="-122"/>
                          <a:cs typeface="+mn-ea"/>
                          <a:sym typeface="+mn-lt"/>
                        </a:rPr>
                        <a:t>】</a:t>
                      </a:r>
                    </a:p>
                  </a:txBody>
                  <a:tcPr marL="0" marR="0" marT="0" marB="0">
                    <a:lnL w="12700">
                      <a:solidFill>
                        <a:srgbClr val="000000"/>
                      </a:solidFill>
                      <a:prstDash val="solid"/>
                    </a:lnL>
                    <a:lnR w="12700">
                      <a:solidFill>
                        <a:srgbClr val="000000"/>
                      </a:solidFill>
                      <a:prstDash val="solid"/>
                    </a:lnR>
                    <a:lnT w="12700">
                      <a:solidFill>
                        <a:srgbClr val="000000"/>
                      </a:solidFill>
                      <a:prstDash val="soli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5560">
                        <a:lnSpc>
                          <a:spcPct val="100000"/>
                        </a:lnSpc>
                      </a:pPr>
                      <a:r>
                        <a:rPr sz="1200"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sz="1200" b="1" dirty="0">
                          <a:solidFill>
                            <a:srgbClr val="0070C0"/>
                          </a:solidFill>
                          <a:latin typeface="微软雅黑" panose="020B0503020204020204" pitchFamily="34" charset="-122"/>
                          <a:ea typeface="微软雅黑" panose="020B0503020204020204" pitchFamily="34" charset="-122"/>
                          <a:cs typeface="+mn-ea"/>
                          <a:sym typeface="+mn-lt"/>
                        </a:rPr>
                        <a:t>目标客户</a:t>
                      </a:r>
                      <a:r>
                        <a:rPr sz="1200" dirty="0">
                          <a:solidFill>
                            <a:srgbClr val="0070C0"/>
                          </a:solidFill>
                          <a:latin typeface="微软雅黑" panose="020B0503020204020204" pitchFamily="34" charset="-122"/>
                          <a:ea typeface="微软雅黑" panose="020B0503020204020204" pitchFamily="34" charset="-122"/>
                          <a:cs typeface="+mn-ea"/>
                          <a:sym typeface="+mn-lt"/>
                        </a:rPr>
                        <a:t>】</a:t>
                      </a:r>
                    </a:p>
                  </a:txBody>
                  <a:tcPr marL="0" marR="0" marT="0" marB="0">
                    <a:lnL w="12700">
                      <a:solidFill>
                        <a:srgbClr val="000000"/>
                      </a:solidFill>
                      <a:prstDash val="solid"/>
                    </a:lnL>
                    <a:lnR w="12700">
                      <a:solidFill>
                        <a:srgbClr val="000000"/>
                      </a:solidFill>
                      <a:prstDash val="solid"/>
                    </a:lnR>
                    <a:lnT w="12700">
                      <a:solidFill>
                        <a:srgbClr val="000000"/>
                      </a:solidFill>
                      <a:prstDash val="soli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333500">
                <a:tc>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4925"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cs typeface="+mn-ea"/>
                          <a:sym typeface="+mn-lt"/>
                        </a:rPr>
                        <a:t>供应商、合作伙伴等</a:t>
                      </a:r>
                    </a:p>
                    <a:p>
                      <a:pPr marL="34925">
                        <a:lnSpc>
                          <a:spcPct val="100000"/>
                        </a:lnSpc>
                      </a:pPr>
                      <a:r>
                        <a:rPr lang="zh-CN" altLang="en-US" sz="1200" dirty="0">
                          <a:latin typeface="微软雅黑" panose="020B0503020204020204" pitchFamily="34" charset="-122"/>
                          <a:ea typeface="微软雅黑" panose="020B0503020204020204" pitchFamily="34" charset="-122"/>
                          <a:cs typeface="+mn-ea"/>
                          <a:sym typeface="+mn-lt"/>
                        </a:rPr>
                        <a:t>重大战略客户对华为的认识和期望？</a:t>
                      </a:r>
                      <a:endParaRPr lang="en-US" altLang="zh-CN" sz="1200" dirty="0">
                        <a:latin typeface="微软雅黑" panose="020B0503020204020204" pitchFamily="34" charset="-122"/>
                        <a:ea typeface="微软雅黑" panose="020B0503020204020204" pitchFamily="34" charset="-122"/>
                        <a:cs typeface="+mn-ea"/>
                        <a:sym typeface="+mn-lt"/>
                      </a:endParaRPr>
                    </a:p>
                  </a:txBody>
                  <a:tcPr marL="0" marR="0" marT="0" marB="0">
                    <a:lnL w="12700">
                      <a:solidFill>
                        <a:srgbClr val="000000"/>
                      </a:solidFill>
                      <a:prstDash val="solid"/>
                    </a:lnL>
                    <a:lnR w="12700">
                      <a:solidFill>
                        <a:srgbClr val="000000"/>
                      </a:solidFill>
                      <a:prstDash val="solid"/>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4925">
                        <a:lnSpc>
                          <a:spcPct val="100000"/>
                        </a:lnSpc>
                      </a:pPr>
                      <a:r>
                        <a:rPr sz="1200" spc="45" dirty="0" err="1">
                          <a:latin typeface="微软雅黑" panose="020B0503020204020204" pitchFamily="34" charset="-122"/>
                          <a:ea typeface="微软雅黑" panose="020B0503020204020204" pitchFamily="34" charset="-122"/>
                          <a:cs typeface="+mn-ea"/>
                          <a:sym typeface="+mn-lt"/>
                        </a:rPr>
                        <a:t>实施商业模式</a:t>
                      </a:r>
                      <a:r>
                        <a:rPr sz="1200" spc="35" dirty="0" err="1">
                          <a:latin typeface="微软雅黑" panose="020B0503020204020204" pitchFamily="34" charset="-122"/>
                          <a:ea typeface="微软雅黑" panose="020B0503020204020204" pitchFamily="34" charset="-122"/>
                          <a:cs typeface="+mn-ea"/>
                          <a:sym typeface="+mn-lt"/>
                        </a:rPr>
                        <a:t>必</a:t>
                      </a:r>
                      <a:r>
                        <a:rPr sz="1200" dirty="0" err="1">
                          <a:latin typeface="微软雅黑" panose="020B0503020204020204" pitchFamily="34" charset="-122"/>
                          <a:ea typeface="微软雅黑" panose="020B0503020204020204" pitchFamily="34" charset="-122"/>
                          <a:cs typeface="+mn-ea"/>
                          <a:sym typeface="+mn-lt"/>
                        </a:rPr>
                        <a:t>需</a:t>
                      </a:r>
                      <a:r>
                        <a:rPr lang="zh-CN" altLang="en-US" sz="1200" dirty="0">
                          <a:latin typeface="微软雅黑" panose="020B0503020204020204" pitchFamily="34" charset="-122"/>
                          <a:ea typeface="微软雅黑" panose="020B0503020204020204" pitchFamily="34" charset="-122"/>
                          <a:cs typeface="+mn-ea"/>
                          <a:sym typeface="+mn-lt"/>
                        </a:rPr>
                        <a:t>的研发、生产、销售等关键任务活动</a:t>
                      </a:r>
                      <a:endParaRPr lang="en-US" altLang="zh-CN" sz="1200" dirty="0">
                        <a:latin typeface="微软雅黑" panose="020B0503020204020204" pitchFamily="34" charset="-122"/>
                        <a:ea typeface="微软雅黑" panose="020B0503020204020204" pitchFamily="34" charset="-122"/>
                        <a:cs typeface="+mn-ea"/>
                        <a:sym typeface="+mn-lt"/>
                      </a:endParaRPr>
                    </a:p>
                    <a:p>
                      <a:pPr marL="34925">
                        <a:lnSpc>
                          <a:spcPct val="100000"/>
                        </a:lnSpc>
                      </a:pPr>
                      <a:endParaRPr sz="1200" dirty="0">
                        <a:latin typeface="微软雅黑" panose="020B0503020204020204" pitchFamily="34" charset="-122"/>
                        <a:ea typeface="微软雅黑" panose="020B0503020204020204" pitchFamily="34" charset="-122"/>
                        <a:cs typeface="+mn-ea"/>
                        <a:sym typeface="+mn-lt"/>
                      </a:endParaRPr>
                    </a:p>
                  </a:txBody>
                  <a:tcPr marL="0" marR="0" marT="0" marB="0">
                    <a:lnL w="12700">
                      <a:solidFill>
                        <a:srgbClr val="000000"/>
                      </a:solidFill>
                      <a:prstDash val="solid"/>
                    </a:lnL>
                    <a:lnR w="12700">
                      <a:solidFill>
                        <a:srgbClr val="000000"/>
                      </a:solidFill>
                      <a:prstDash val="solid"/>
                    </a:lnR>
                    <a:lnT>
                      <a:noFill/>
                    </a:lnT>
                    <a:lnB>
                      <a:noFill/>
                    </a:lnB>
                    <a:lnTlToBr w="12700" cmpd="sng">
                      <a:noFill/>
                      <a:prstDash val="solid"/>
                    </a:lnTlToBr>
                    <a:lnBlToTr w="12700" cmpd="sng">
                      <a:noFill/>
                      <a:prstDash val="solid"/>
                    </a:lnBlToTr>
                    <a:noFill/>
                  </a:tcPr>
                </a:tc>
                <a:tc gridSpan="2">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4925">
                        <a:lnSpc>
                          <a:spcPct val="10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我们能够给目标客户提供什么</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产品与服务</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34925">
                        <a:lnSpc>
                          <a:spcPct val="10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为客户带来什么价值，或者为客户解决什么痛点</a:t>
                      </a:r>
                    </a:p>
                  </a:txBody>
                  <a:tcPr marL="0" marR="0" marT="0" marB="0">
                    <a:lnL w="12700">
                      <a:solidFill>
                        <a:srgbClr val="000000"/>
                      </a:solidFill>
                      <a:prstDash val="solid"/>
                    </a:lnL>
                    <a:lnR w="12700">
                      <a:solidFill>
                        <a:srgbClr val="000000"/>
                      </a:solidFill>
                      <a:prstDash val="solid"/>
                    </a:lnR>
                    <a:lnT>
                      <a:noFill/>
                    </a:lnT>
                    <a:lnB>
                      <a:noFill/>
                    </a:lnB>
                    <a:lnTlToBr w="12700" cmpd="sng">
                      <a:noFill/>
                      <a:prstDash val="solid"/>
                    </a:lnTlToBr>
                    <a:lnBlToTr w="12700" cmpd="sng">
                      <a:noFill/>
                      <a:prstDash val="solid"/>
                    </a:lnBlToTr>
                    <a:noFill/>
                  </a:tcPr>
                </a:tc>
                <a:tc hMerge="1">
                  <a:txBody>
                    <a:bodyPr/>
                    <a:lstStyle/>
                    <a:p>
                      <a:endParaRPr lang="zh-CN"/>
                    </a:p>
                  </a:txBody>
                  <a:tcPr marL="0" marR="0" marT="0" marB="0"/>
                </a:tc>
                <a:tc>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5560">
                        <a:lnSpc>
                          <a:spcPct val="100000"/>
                        </a:lnSpc>
                      </a:pPr>
                      <a:r>
                        <a:rPr sz="1200" spc="140" dirty="0" err="1">
                          <a:latin typeface="微软雅黑" panose="020B0503020204020204" pitchFamily="34" charset="-122"/>
                          <a:ea typeface="微软雅黑" panose="020B0503020204020204" pitchFamily="34" charset="-122"/>
                          <a:cs typeface="微软雅黑" panose="020B0503020204020204" pitchFamily="34" charset="-122"/>
                          <a:sym typeface="+mn-lt"/>
                        </a:rPr>
                        <a:t>通过何种方式</a:t>
                      </a:r>
                      <a:r>
                        <a:rPr lang="zh-CN" altLang="en-US" sz="1200" spc="0" dirty="0">
                          <a:latin typeface="微软雅黑" panose="020B0503020204020204" pitchFamily="34" charset="-122"/>
                          <a:ea typeface="微软雅黑" panose="020B0503020204020204" pitchFamily="34" charset="-122"/>
                          <a:cs typeface="微软雅黑" panose="020B0503020204020204" pitchFamily="34" charset="-122"/>
                          <a:sym typeface="+mn-lt"/>
                        </a:rPr>
                        <a:t>维系和增加和客户的关系</a:t>
                      </a:r>
                      <a:endParaRPr lang="en-US" altLang="zh-CN" sz="1200" spc="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35560">
                        <a:lnSpc>
                          <a:spcPct val="100000"/>
                        </a:lnSpc>
                      </a:pPr>
                      <a:r>
                        <a:rPr lang="zh-CN" altLang="en-US" sz="1200" spc="0" dirty="0">
                          <a:latin typeface="微软雅黑" panose="020B0503020204020204" pitchFamily="34" charset="-122"/>
                          <a:ea typeface="微软雅黑" panose="020B0503020204020204" pitchFamily="34" charset="-122"/>
                          <a:cs typeface="微软雅黑" panose="020B0503020204020204" pitchFamily="34" charset="-122"/>
                          <a:sym typeface="+mn-lt"/>
                        </a:rPr>
                        <a:t>尤其是组织型客户关系建立（战略对标，生态共享，采购计划共享，集成的联合供应链）</a:t>
                      </a:r>
                      <a:r>
                        <a:rPr sz="1200" spc="-275" dirty="0">
                          <a:latin typeface="微软雅黑" panose="020B0503020204020204" pitchFamily="34" charset="-122"/>
                          <a:ea typeface="微软雅黑" panose="020B0503020204020204" pitchFamily="34" charset="-122"/>
                          <a:cs typeface="微软雅黑" panose="020B0503020204020204" pitchFamily="34" charset="-122"/>
                          <a:sym typeface="+mn-lt"/>
                        </a:rPr>
                        <a:t> </a:t>
                      </a:r>
                      <a:endParaRPr sz="1200" dirty="0">
                        <a:latin typeface="微软雅黑" panose="020B0503020204020204" pitchFamily="34" charset="-122"/>
                        <a:ea typeface="微软雅黑" panose="020B0503020204020204" pitchFamily="34" charset="-122"/>
                        <a:cs typeface="微软雅黑" panose="020B0503020204020204" pitchFamily="34" charset="-122"/>
                        <a:sym typeface="+mn-lt"/>
                      </a:endParaRPr>
                    </a:p>
                  </a:txBody>
                  <a:tcPr marL="0" marR="0" marT="0" marB="0">
                    <a:lnL w="12700">
                      <a:solidFill>
                        <a:srgbClr val="000000"/>
                      </a:solidFill>
                      <a:prstDash val="solid"/>
                    </a:lnL>
                    <a:lnR w="12700">
                      <a:solidFill>
                        <a:srgbClr val="000000"/>
                      </a:solidFill>
                      <a:prstDash val="solid"/>
                    </a:lnR>
                    <a:lnT>
                      <a:noFill/>
                    </a:lnT>
                    <a:lnB>
                      <a:noFill/>
                    </a:lnB>
                    <a:lnTlToBr w="12700" cmpd="sng">
                      <a:noFill/>
                      <a:prstDash val="solid"/>
                    </a:lnTlToBr>
                    <a:lnBlToTr w="12700" cmpd="sng">
                      <a:noFill/>
                      <a:prstDash val="solid"/>
                    </a:lnBlToTr>
                    <a:noFill/>
                  </a:tcPr>
                </a:tc>
                <a:tc rowSpan="4">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4925">
                        <a:lnSpc>
                          <a:spcPct val="10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高价值目标客户群</a:t>
                      </a:r>
                    </a:p>
                    <a:p>
                      <a:pPr marL="34925">
                        <a:lnSpc>
                          <a:spcPct val="10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我们选择什么样的客户</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lt"/>
                        </a:rPr>
                        <a:t>?</a:t>
                      </a:r>
                    </a:p>
                    <a:p>
                      <a:pPr marL="320675" indent="-285750">
                        <a:lnSpc>
                          <a:spcPct val="100000"/>
                        </a:lnSpc>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什么公司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lt"/>
                        </a:rPr>
                        <a:t>?</a:t>
                      </a:r>
                    </a:p>
                    <a:p>
                      <a:pPr marL="320675" indent="-285750">
                        <a:lnSpc>
                          <a:spcPct val="100000"/>
                        </a:lnSpc>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所处位置</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lt"/>
                        </a:rPr>
                        <a:t>?</a:t>
                      </a:r>
                    </a:p>
                    <a:p>
                      <a:pPr marL="320675" indent="-285750">
                        <a:lnSpc>
                          <a:spcPct val="100000"/>
                        </a:lnSpc>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什么样的决策者</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lt"/>
                        </a:rPr>
                        <a:t>?</a:t>
                      </a:r>
                    </a:p>
                    <a:p>
                      <a:pPr marL="320675" indent="-285750">
                        <a:lnSpc>
                          <a:spcPct val="100000"/>
                        </a:lnSpc>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该客户的战略竞争对手或许是首选？</a:t>
                      </a:r>
                    </a:p>
                  </a:txBody>
                  <a:tcPr marL="0" marR="0" marT="0" marB="0">
                    <a:lnL w="12700">
                      <a:solidFill>
                        <a:srgbClr val="000000"/>
                      </a:solidFill>
                      <a:prstDash val="solid"/>
                    </a:lnL>
                    <a:lnR w="12700">
                      <a:solidFill>
                        <a:srgbClr val="000000"/>
                      </a:solidFill>
                      <a:prstDash val="solid"/>
                    </a:lnR>
                    <a:lnT>
                      <a:noFill/>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5900">
                <a:tc rowSpan="3">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4925">
                        <a:lnSpc>
                          <a:spcPct val="100000"/>
                        </a:lnSpc>
                      </a:pPr>
                      <a:endParaRPr sz="1200" dirty="0">
                        <a:solidFill>
                          <a:srgbClr val="0070C0"/>
                        </a:solidFill>
                        <a:latin typeface="微软雅黑" panose="020B0503020204020204" pitchFamily="34" charset="-122"/>
                        <a:ea typeface="微软雅黑" panose="020B0503020204020204" pitchFamily="34" charset="-122"/>
                        <a:cs typeface="+mn-ea"/>
                        <a:sym typeface="+mn-lt"/>
                      </a:endParaRPr>
                    </a:p>
                  </a:txBody>
                  <a:tcPr marL="0" marR="0" marT="0" marB="0">
                    <a:lnL w="12700">
                      <a:solidFill>
                        <a:srgbClr val="000000"/>
                      </a:solidFill>
                      <a:prstDash val="solid"/>
                    </a:lnL>
                    <a:lnR w="12700" cap="flat" cmpd="sng" algn="ctr">
                      <a:solidFill>
                        <a:srgbClr val="000000"/>
                      </a:solidFill>
                      <a:prstDash val="solid"/>
                      <a:round/>
                      <a:headEnd type="none" w="med" len="med"/>
                      <a:tailEnd type="none" w="med" len="med"/>
                    </a:lnR>
                    <a:lnT>
                      <a:noFill/>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4925">
                        <a:lnSpc>
                          <a:spcPct val="100000"/>
                        </a:lnSpc>
                      </a:pPr>
                      <a:endParaRPr sz="1200" dirty="0">
                        <a:latin typeface="微软雅黑" panose="020B0503020204020204" pitchFamily="34" charset="-122"/>
                        <a:ea typeface="微软雅黑" panose="020B0503020204020204" pitchFamily="34" charset="-122"/>
                        <a:cs typeface="+mn-ea"/>
                        <a:sym typeface="+mn-l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a:solidFill>
                        <a:srgbClr val="000000"/>
                      </a:solidFill>
                      <a:prstDash val="solid"/>
                    </a:lnB>
                    <a:lnTlToBr w="12700" cmpd="sng">
                      <a:noFill/>
                      <a:prstDash val="solid"/>
                    </a:lnTlToBr>
                    <a:lnBlToTr w="12700" cmpd="sng">
                      <a:noFill/>
                      <a:prstDash val="solid"/>
                    </a:lnBlToTr>
                    <a:noFill/>
                  </a:tcPr>
                </a:tc>
                <a:tc rowSpan="3" gridSpan="2">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4925" marR="0" lvl="0" indent="0" algn="l" defTabSz="914400" rtl="0" eaLnBrk="1" fontAlgn="auto" latinLnBrk="0" hangingPunct="1">
                        <a:lnSpc>
                          <a:spcPct val="100000"/>
                        </a:lnSpc>
                        <a:spcBef>
                          <a:spcPts val="0"/>
                        </a:spcBef>
                        <a:spcAft>
                          <a:spcPts val="0"/>
                        </a:spcAft>
                        <a:buClrTx/>
                        <a:buSzTx/>
                        <a:buFontTx/>
                        <a:buNone/>
                        <a:defRPr/>
                      </a:pPr>
                      <a:r>
                        <a:rPr lang="zh-CN" altLang="en-US" sz="1200" b="1" dirty="0">
                          <a:solidFill>
                            <a:srgbClr val="0000FF"/>
                          </a:solidFill>
                          <a:latin typeface="微软雅黑" panose="020B0503020204020204" pitchFamily="34" charset="-122"/>
                          <a:ea typeface="微软雅黑" panose="020B0503020204020204" pitchFamily="34" charset="-122"/>
                          <a:cs typeface="+mn-ea"/>
                          <a:sym typeface="+mn-lt"/>
                        </a:rPr>
                        <a:t>我们特有的和优势性的价值定位是什么？</a:t>
                      </a:r>
                    </a:p>
                    <a:p>
                      <a:pPr marL="34925">
                        <a:lnSpc>
                          <a:spcPct val="100000"/>
                        </a:lnSpc>
                      </a:pPr>
                      <a:endParaRPr lang="zh-CN" altLang="en-US" sz="1200" b="1" dirty="0">
                        <a:solidFill>
                          <a:srgbClr val="0000FF"/>
                        </a:solidFill>
                        <a:latin typeface="微软雅黑" panose="020B0503020204020204" pitchFamily="34" charset="-122"/>
                        <a:ea typeface="微软雅黑" panose="020B0503020204020204" pitchFamily="34" charset="-122"/>
                        <a:cs typeface="+mn-ea"/>
                        <a:sym typeface="+mn-l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a:solidFill>
                        <a:srgbClr val="000000"/>
                      </a:solidFill>
                      <a:prstDash val="solid"/>
                    </a:lnB>
                    <a:lnTlToBr w="12700" cmpd="sng">
                      <a:noFill/>
                      <a:prstDash val="solid"/>
                    </a:lnTlToBr>
                    <a:lnBlToTr w="12700" cmpd="sng">
                      <a:noFill/>
                      <a:prstDash val="solid"/>
                    </a:lnBlToTr>
                    <a:noFill/>
                  </a:tcPr>
                </a:tc>
                <a:tc rowSpan="3" hMerge="1">
                  <a:txBody>
                    <a:bodyPr/>
                    <a:lstStyle/>
                    <a:p>
                      <a:endParaRPr lang="zh-CN"/>
                    </a:p>
                  </a:txBody>
                  <a:tcPr marL="0" marR="0" marT="0" marB="0"/>
                </a:tc>
                <a:tc>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5560">
                        <a:lnSpc>
                          <a:spcPct val="100000"/>
                        </a:lnSpc>
                      </a:pPr>
                      <a:endParaRPr sz="1200" dirty="0">
                        <a:latin typeface="微软雅黑" panose="020B0503020204020204" pitchFamily="34" charset="-122"/>
                        <a:ea typeface="微软雅黑" panose="020B0503020204020204" pitchFamily="34" charset="-122"/>
                        <a:cs typeface="+mn-ea"/>
                        <a:sym typeface="+mn-l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a:solidFill>
                        <a:srgbClr val="000000"/>
                      </a:solidFill>
                      <a:prstDash val="solid"/>
                    </a:lnB>
                    <a:lnTlToBr w="12700" cmpd="sng">
                      <a:noFill/>
                      <a:prstDash val="solid"/>
                    </a:lnTlToBr>
                    <a:lnBlToTr w="12700" cmpd="sng">
                      <a:noFill/>
                      <a:prstDash val="solid"/>
                    </a:lnBlToTr>
                    <a:noFill/>
                  </a:tcPr>
                </a:tc>
                <a:tc vMerge="1">
                  <a:txBody>
                    <a:bodyPr/>
                    <a:lstStyle/>
                    <a:p>
                      <a:endParaRPr lang="zh-CN"/>
                    </a:p>
                  </a:txBody>
                  <a:tcPr marL="0" marR="0" marT="0" marB="0">
                    <a:lnL w="12700">
                      <a:solidFill>
                        <a:srgbClr val="000000"/>
                      </a:solidFill>
                      <a:prstDash val="solid"/>
                    </a:lnL>
                    <a:lnR w="12700">
                      <a:solidFill>
                        <a:srgbClr val="000000"/>
                      </a:solidFill>
                      <a:prstDash val="solid"/>
                    </a:lnR>
                    <a:lnB w="12700">
                      <a:solidFill>
                        <a:srgbClr val="000000"/>
                      </a:solidFill>
                      <a:prstDash val="solid"/>
                    </a:lnB>
                  </a:tcPr>
                </a:tc>
                <a:extLst>
                  <a:ext uri="{0D108BD9-81ED-4DB2-BD59-A6C34878D82A}">
                    <a16:rowId xmlns:a16="http://schemas.microsoft.com/office/drawing/2014/main" val="10002"/>
                  </a:ext>
                </a:extLst>
              </a:tr>
              <a:tr h="290830">
                <a:tc vMerge="1">
                  <a:txBody>
                    <a:bodyPr/>
                    <a:lstStyle/>
                    <a:p>
                      <a:endParaRPr lang="zh-CN"/>
                    </a:p>
                  </a:txBody>
                  <a:tcPr/>
                </a:tc>
                <a:tc>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4925">
                        <a:lnSpc>
                          <a:spcPct val="100000"/>
                        </a:lnSpc>
                      </a:pPr>
                      <a:r>
                        <a:rPr sz="1200" dirty="0">
                          <a:solidFill>
                            <a:srgbClr val="0070C0"/>
                          </a:solidFill>
                          <a:latin typeface="微软雅黑" panose="020B0503020204020204" pitchFamily="34" charset="-122"/>
                          <a:ea typeface="微软雅黑" panose="020B0503020204020204" pitchFamily="34" charset="-122"/>
                          <a:cs typeface="+mn-ea"/>
                          <a:sym typeface="+mn-lt"/>
                        </a:rPr>
                        <a:t>【</a:t>
                      </a:r>
                      <a:r>
                        <a:rPr sz="1200" b="1" dirty="0">
                          <a:solidFill>
                            <a:srgbClr val="0070C0"/>
                          </a:solidFill>
                          <a:latin typeface="微软雅黑" panose="020B0503020204020204" pitchFamily="34" charset="-122"/>
                          <a:ea typeface="微软雅黑" panose="020B0503020204020204" pitchFamily="34" charset="-122"/>
                          <a:cs typeface="+mn-ea"/>
                          <a:sym typeface="+mn-lt"/>
                        </a:rPr>
                        <a:t>核心资源</a:t>
                      </a:r>
                      <a:r>
                        <a:rPr sz="1200" dirty="0">
                          <a:solidFill>
                            <a:srgbClr val="0070C0"/>
                          </a:solidFill>
                          <a:latin typeface="微软雅黑" panose="020B0503020204020204" pitchFamily="34" charset="-122"/>
                          <a:ea typeface="微软雅黑" panose="020B0503020204020204" pitchFamily="34" charset="-122"/>
                          <a:cs typeface="+mn-ea"/>
                          <a:sym typeface="+mn-lt"/>
                        </a:rPr>
                        <a: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prstDash val="solid"/>
                    </a:lnT>
                    <a:lnB>
                      <a:noFill/>
                    </a:lnB>
                    <a:lnTlToBr w="12700" cmpd="sng">
                      <a:noFill/>
                      <a:prstDash val="solid"/>
                    </a:lnTlToBr>
                    <a:lnBlToTr w="12700" cmpd="sng">
                      <a:noFill/>
                      <a:prstDash val="solid"/>
                    </a:lnBlToTr>
                    <a:noFill/>
                  </a:tcPr>
                </a:tc>
                <a:tc gridSpan="2" vMerge="1">
                  <a:txBody>
                    <a:bodyPr/>
                    <a:lstStyle/>
                    <a:p>
                      <a:endParaRPr lang="zh-CN"/>
                    </a:p>
                  </a:txBody>
                  <a:tcPr/>
                </a:tc>
                <a:tc hMerge="1" vMerge="1">
                  <a:txBody>
                    <a:bodyPr/>
                    <a:lstStyle/>
                    <a:p>
                      <a:endParaRPr lang="zh-CN"/>
                    </a:p>
                  </a:txBody>
                  <a:tcPr/>
                </a:tc>
                <a:tc>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5560">
                        <a:lnSpc>
                          <a:spcPct val="100000"/>
                        </a:lnSpc>
                      </a:pPr>
                      <a:r>
                        <a:rPr sz="1200" dirty="0">
                          <a:solidFill>
                            <a:srgbClr val="0070C0"/>
                          </a:solidFill>
                          <a:latin typeface="微软雅黑" panose="020B0503020204020204" pitchFamily="34" charset="-122"/>
                          <a:ea typeface="微软雅黑" panose="020B0503020204020204" pitchFamily="34" charset="-122"/>
                          <a:cs typeface="+mn-ea"/>
                          <a:sym typeface="+mn-lt"/>
                        </a:rPr>
                        <a:t>【</a:t>
                      </a:r>
                      <a:r>
                        <a:rPr sz="1200" b="1" dirty="0" err="1">
                          <a:solidFill>
                            <a:srgbClr val="0070C0"/>
                          </a:solidFill>
                          <a:latin typeface="微软雅黑" panose="020B0503020204020204" pitchFamily="34" charset="-122"/>
                          <a:ea typeface="微软雅黑" panose="020B0503020204020204" pitchFamily="34" charset="-122"/>
                          <a:cs typeface="+mn-ea"/>
                          <a:sym typeface="+mn-lt"/>
                        </a:rPr>
                        <a:t>渠道</a:t>
                      </a:r>
                      <a:r>
                        <a:rPr sz="1200" dirty="0">
                          <a:solidFill>
                            <a:srgbClr val="0070C0"/>
                          </a:solidFill>
                          <a:latin typeface="微软雅黑" panose="020B0503020204020204" pitchFamily="34" charset="-122"/>
                          <a:ea typeface="微软雅黑" panose="020B0503020204020204" pitchFamily="34" charset="-122"/>
                          <a:cs typeface="+mn-ea"/>
                          <a:sym typeface="+mn-lt"/>
                        </a:rPr>
                        <a:t>】</a:t>
                      </a:r>
                    </a:p>
                  </a:txBody>
                  <a:tcPr marL="0" marR="0" marT="0" marB="0">
                    <a:lnL w="12700">
                      <a:solidFill>
                        <a:srgbClr val="000000"/>
                      </a:solidFill>
                      <a:prstDash val="solid"/>
                    </a:lnL>
                    <a:lnR w="12700">
                      <a:solidFill>
                        <a:srgbClr val="000000"/>
                      </a:solidFill>
                      <a:prstDash val="solid"/>
                    </a:lnR>
                    <a:lnT w="12700">
                      <a:solidFill>
                        <a:srgbClr val="000000"/>
                      </a:solidFill>
                      <a:prstDash val="solid"/>
                    </a:lnT>
                    <a:lnB>
                      <a:noFill/>
                    </a:lnB>
                    <a:lnTlToBr w="12700" cmpd="sng">
                      <a:noFill/>
                      <a:prstDash val="solid"/>
                    </a:lnTlToBr>
                    <a:lnBlToTr w="12700" cmpd="sng">
                      <a:noFill/>
                      <a:prstDash val="solid"/>
                    </a:lnBlToTr>
                    <a:noFill/>
                  </a:tcPr>
                </a:tc>
                <a:tc vMerge="1">
                  <a:txBody>
                    <a:bodyPr/>
                    <a:lstStyle/>
                    <a:p>
                      <a:endParaRPr lang="zh-CN"/>
                    </a:p>
                  </a:txBody>
                  <a:tcPr/>
                </a:tc>
                <a:extLst>
                  <a:ext uri="{0D108BD9-81ED-4DB2-BD59-A6C34878D82A}">
                    <a16:rowId xmlns:a16="http://schemas.microsoft.com/office/drawing/2014/main" val="10003"/>
                  </a:ext>
                </a:extLst>
              </a:tr>
              <a:tr h="621665">
                <a:tc vMerge="1">
                  <a:txBody>
                    <a:bodyPr/>
                    <a:lstStyle/>
                    <a:p>
                      <a:endParaRPr lang="zh-CN"/>
                    </a:p>
                  </a:txBody>
                  <a:tcPr marL="0" marR="0" marT="0" marB="0">
                    <a:lnL w="12700">
                      <a:solidFill>
                        <a:srgbClr val="000000"/>
                      </a:solidFill>
                      <a:prstDash val="solid"/>
                    </a:lnL>
                    <a:lnR w="12700">
                      <a:solidFill>
                        <a:srgbClr val="000000"/>
                      </a:solidFill>
                      <a:prstDash val="solid"/>
                    </a:lnR>
                    <a:lnB w="12700">
                      <a:solidFill>
                        <a:srgbClr val="000000"/>
                      </a:solidFill>
                      <a:prstDash val="solid"/>
                    </a:lnB>
                  </a:tcPr>
                </a:tc>
                <a:tc>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4925" marR="0" indent="0" algn="l" defTabSz="914400" rtl="0" eaLnBrk="1" fontAlgn="auto" latinLnBrk="0" hangingPunct="1">
                        <a:lnSpc>
                          <a:spcPct val="100000"/>
                        </a:lnSpc>
                        <a:spcBef>
                          <a:spcPts val="0"/>
                        </a:spcBef>
                        <a:spcAft>
                          <a:spcPts val="0"/>
                        </a:spcAft>
                        <a:buClrTx/>
                        <a:buSzTx/>
                        <a:buFontTx/>
                        <a:buNone/>
                        <a:defRPr/>
                      </a:pPr>
                      <a:r>
                        <a:rPr lang="zh-CN" altLang="en-US" sz="1200" spc="45" dirty="0">
                          <a:latin typeface="微软雅黑" panose="020B0503020204020204" pitchFamily="34" charset="-122"/>
                          <a:ea typeface="微软雅黑" panose="020B0503020204020204" pitchFamily="34" charset="-122"/>
                          <a:cs typeface="微软雅黑" panose="020B0503020204020204" pitchFamily="34" charset="-122"/>
                          <a:sym typeface="+mn-lt"/>
                        </a:rPr>
                        <a:t>平台</a:t>
                      </a:r>
                      <a:r>
                        <a:rPr lang="en-US" altLang="zh-CN" sz="1200" spc="45" dirty="0">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200" spc="45" dirty="0">
                          <a:latin typeface="微软雅黑" panose="020B0503020204020204" pitchFamily="34" charset="-122"/>
                          <a:ea typeface="微软雅黑" panose="020B0503020204020204" pitchFamily="34" charset="-122"/>
                          <a:cs typeface="微软雅黑" panose="020B0503020204020204" pitchFamily="34" charset="-122"/>
                          <a:sym typeface="+mn-lt"/>
                        </a:rPr>
                        <a:t>网络、关键人才、客</a:t>
                      </a:r>
                      <a:r>
                        <a:rPr lang="zh-CN" altLang="en-US" sz="1200" spc="35" dirty="0">
                          <a:latin typeface="微软雅黑" panose="020B0503020204020204" pitchFamily="34" charset="-122"/>
                          <a:ea typeface="微软雅黑" panose="020B0503020204020204" pitchFamily="34" charset="-122"/>
                          <a:cs typeface="微软雅黑" panose="020B0503020204020204" pitchFamily="34" charset="-122"/>
                          <a:sym typeface="+mn-lt"/>
                        </a:rPr>
                        <a:t>户</a:t>
                      </a:r>
                      <a:r>
                        <a:rPr lang="zh-CN" altLang="en-US" sz="1200" spc="0" dirty="0">
                          <a:latin typeface="微软雅黑" panose="020B0503020204020204" pitchFamily="34" charset="-122"/>
                          <a:ea typeface="微软雅黑" panose="020B0503020204020204" pitchFamily="34" charset="-122"/>
                          <a:cs typeface="微软雅黑" panose="020B0503020204020204" pitchFamily="34" charset="-122"/>
                          <a:sym typeface="+mn-lt"/>
                        </a:rPr>
                        <a:t>关系或关键设备等</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a:solidFill>
                        <a:srgbClr val="000000"/>
                      </a:solidFill>
                      <a:prstDash val="solid"/>
                    </a:lnB>
                    <a:lnTlToBr w="12700" cmpd="sng">
                      <a:noFill/>
                      <a:prstDash val="solid"/>
                    </a:lnTlToBr>
                    <a:lnBlToTr w="12700" cmpd="sng">
                      <a:noFill/>
                      <a:prstDash val="solid"/>
                    </a:lnBlToTr>
                    <a:noFill/>
                  </a:tcPr>
                </a:tc>
                <a:tc gridSpan="2" vMerge="1">
                  <a:txBody>
                    <a:bodyPr/>
                    <a:lstStyle/>
                    <a:p>
                      <a:endParaRPr lang="zh-CN"/>
                    </a:p>
                  </a:txBody>
                  <a:tcPr marL="0" marR="0" marT="0" marB="0">
                    <a:lnL w="12700">
                      <a:solidFill>
                        <a:srgbClr val="000000"/>
                      </a:solidFill>
                      <a:prstDash val="solid"/>
                    </a:lnL>
                    <a:lnR w="12700">
                      <a:solidFill>
                        <a:srgbClr val="000000"/>
                      </a:solidFill>
                      <a:prstDash val="solid"/>
                    </a:lnR>
                    <a:lnB w="12700">
                      <a:solidFill>
                        <a:srgbClr val="000000"/>
                      </a:solidFill>
                      <a:prstDash val="solid"/>
                    </a:lnB>
                  </a:tcPr>
                </a:tc>
                <a:tc hMerge="1" vMerge="1">
                  <a:txBody>
                    <a:bodyPr/>
                    <a:lstStyle/>
                    <a:p>
                      <a:endParaRPr lang="zh-CN"/>
                    </a:p>
                  </a:txBody>
                  <a:tcPr marL="0" marR="0" marT="0" marB="0"/>
                </a:tc>
                <a:tc>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5560">
                        <a:lnSpc>
                          <a:spcPct val="100000"/>
                        </a:lnSpc>
                      </a:pPr>
                      <a:r>
                        <a:rPr sz="1200" dirty="0" err="1">
                          <a:latin typeface="微软雅黑" panose="020B0503020204020204" pitchFamily="34" charset="-122"/>
                          <a:ea typeface="微软雅黑" panose="020B0503020204020204" pitchFamily="34" charset="-122"/>
                          <a:cs typeface="+mn-ea"/>
                          <a:sym typeface="+mn-lt"/>
                        </a:rPr>
                        <a:t>如何找到客户</a:t>
                      </a:r>
                      <a:endParaRPr lang="en-US" sz="1200" dirty="0">
                        <a:latin typeface="微软雅黑" panose="020B0503020204020204" pitchFamily="34" charset="-122"/>
                        <a:ea typeface="微软雅黑" panose="020B0503020204020204" pitchFamily="34" charset="-122"/>
                        <a:cs typeface="+mn-ea"/>
                        <a:sym typeface="+mn-lt"/>
                      </a:endParaRPr>
                    </a:p>
                    <a:p>
                      <a:pPr marL="35560">
                        <a:lnSpc>
                          <a:spcPct val="100000"/>
                        </a:lnSpc>
                      </a:pPr>
                      <a:r>
                        <a:rPr lang="zh-CN" altLang="en-US" sz="1200" dirty="0">
                          <a:latin typeface="微软雅黑" panose="020B0503020204020204" pitchFamily="34" charset="-122"/>
                          <a:ea typeface="微软雅黑" panose="020B0503020204020204" pitchFamily="34" charset="-122"/>
                          <a:cs typeface="+mn-ea"/>
                          <a:sym typeface="+mn-lt"/>
                        </a:rPr>
                        <a:t>突破战略客户必要的认证和资质（俱乐部）</a:t>
                      </a:r>
                      <a:endParaRPr sz="1200" dirty="0">
                        <a:latin typeface="微软雅黑" panose="020B0503020204020204" pitchFamily="34" charset="-122"/>
                        <a:ea typeface="微软雅黑" panose="020B0503020204020204" pitchFamily="34" charset="-122"/>
                        <a:cs typeface="+mn-ea"/>
                        <a:sym typeface="+mn-l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a:solidFill>
                        <a:srgbClr val="000000"/>
                      </a:solidFill>
                      <a:prstDash val="solid"/>
                    </a:lnB>
                    <a:lnTlToBr w="12700" cmpd="sng">
                      <a:noFill/>
                      <a:prstDash val="solid"/>
                    </a:lnTlToBr>
                    <a:lnBlToTr w="12700" cmpd="sng">
                      <a:noFill/>
                      <a:prstDash val="solid"/>
                    </a:lnBlToTr>
                    <a:noFill/>
                  </a:tcPr>
                </a:tc>
                <a:tc vMerge="1">
                  <a:txBody>
                    <a:bodyPr/>
                    <a:lstStyle/>
                    <a:p>
                      <a:endParaRPr lang="zh-CN"/>
                    </a:p>
                  </a:txBody>
                  <a:tcPr marL="0" marR="0" marT="0" marB="0">
                    <a:lnL w="12700">
                      <a:solidFill>
                        <a:srgbClr val="000000"/>
                      </a:solidFill>
                      <a:prstDash val="solid"/>
                    </a:lnL>
                    <a:lnR w="12700">
                      <a:solidFill>
                        <a:srgbClr val="000000"/>
                      </a:solidFill>
                      <a:prstDash val="solid"/>
                    </a:lnR>
                    <a:lnB w="12700">
                      <a:solidFill>
                        <a:srgbClr val="000000"/>
                      </a:solidFill>
                      <a:prstDash val="solid"/>
                    </a:lnB>
                  </a:tcPr>
                </a:tc>
                <a:extLst>
                  <a:ext uri="{0D108BD9-81ED-4DB2-BD59-A6C34878D82A}">
                    <a16:rowId xmlns:a16="http://schemas.microsoft.com/office/drawing/2014/main" val="10004"/>
                  </a:ext>
                </a:extLst>
              </a:tr>
              <a:tr h="216535">
                <a:tc gridSpan="3">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4925">
                        <a:lnSpc>
                          <a:spcPct val="100000"/>
                        </a:lnSpc>
                      </a:pPr>
                      <a:r>
                        <a:rPr sz="1200" dirty="0">
                          <a:solidFill>
                            <a:srgbClr val="0070C0"/>
                          </a:solidFill>
                          <a:latin typeface="微软雅黑" panose="020B0503020204020204" pitchFamily="34" charset="-122"/>
                          <a:ea typeface="微软雅黑" panose="020B0503020204020204" pitchFamily="34" charset="-122"/>
                          <a:cs typeface="+mn-ea"/>
                          <a:sym typeface="+mn-lt"/>
                        </a:rPr>
                        <a:t>【</a:t>
                      </a:r>
                      <a:r>
                        <a:rPr sz="1200" b="1" dirty="0" err="1">
                          <a:solidFill>
                            <a:srgbClr val="0070C0"/>
                          </a:solidFill>
                          <a:latin typeface="微软雅黑" panose="020B0503020204020204" pitchFamily="34" charset="-122"/>
                          <a:ea typeface="微软雅黑" panose="020B0503020204020204" pitchFamily="34" charset="-122"/>
                          <a:cs typeface="+mn-ea"/>
                          <a:sym typeface="+mn-lt"/>
                        </a:rPr>
                        <a:t>成本</a:t>
                      </a:r>
                      <a:r>
                        <a:rPr sz="1200" dirty="0">
                          <a:solidFill>
                            <a:srgbClr val="0070C0"/>
                          </a:solidFill>
                          <a:latin typeface="微软雅黑" panose="020B0503020204020204" pitchFamily="34" charset="-122"/>
                          <a:ea typeface="微软雅黑" panose="020B0503020204020204" pitchFamily="34" charset="-122"/>
                          <a:cs typeface="+mn-ea"/>
                          <a:sym typeface="+mn-lt"/>
                        </a:rPr>
                        <a:t>】</a:t>
                      </a:r>
                    </a:p>
                  </a:txBody>
                  <a:tcPr marL="0" marR="0" marT="0" marB="0">
                    <a:lnL w="12700">
                      <a:solidFill>
                        <a:srgbClr val="000000"/>
                      </a:solidFill>
                      <a:prstDash val="solid"/>
                    </a:lnL>
                    <a:lnR w="12700">
                      <a:solidFill>
                        <a:srgbClr val="000000"/>
                      </a:solidFill>
                      <a:prstDash val="solid"/>
                    </a:lnR>
                    <a:lnT w="12700">
                      <a:solidFill>
                        <a:srgbClr val="000000"/>
                      </a:solidFill>
                      <a:prstDash val="solid"/>
                    </a:lnT>
                    <a:lnB>
                      <a:noFill/>
                    </a:lnB>
                    <a:lnTlToBr w="12700" cmpd="sng">
                      <a:noFill/>
                      <a:prstDash val="solid"/>
                    </a:lnTlToBr>
                    <a:lnBlToTr w="12700" cmpd="sng">
                      <a:noFill/>
                      <a:prstDash val="solid"/>
                    </a:lnBlToTr>
                    <a:noFill/>
                  </a:tcPr>
                </a:tc>
                <a:tc hMerge="1">
                  <a:txBody>
                    <a:bodyPr/>
                    <a:lstStyle/>
                    <a:p>
                      <a:endParaRPr lang="zh-CN"/>
                    </a:p>
                  </a:txBody>
                  <a:tcPr marL="0" marR="0" marT="0" marB="0"/>
                </a:tc>
                <a:tc hMerge="1">
                  <a:txBody>
                    <a:bodyPr/>
                    <a:lstStyle/>
                    <a:p>
                      <a:endParaRPr lang="zh-CN"/>
                    </a:p>
                  </a:txBody>
                  <a:tcPr marL="0" marR="0" marT="0" marB="0"/>
                </a:tc>
                <a:tc gridSpan="3">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5560">
                        <a:lnSpc>
                          <a:spcPct val="100000"/>
                        </a:lnSpc>
                      </a:pPr>
                      <a:r>
                        <a:rPr sz="1200" dirty="0">
                          <a:solidFill>
                            <a:srgbClr val="0070C0"/>
                          </a:solidFill>
                          <a:latin typeface="微软雅黑" panose="020B0503020204020204" pitchFamily="34" charset="-122"/>
                          <a:ea typeface="微软雅黑" panose="020B0503020204020204" pitchFamily="34" charset="-122"/>
                          <a:cs typeface="+mn-ea"/>
                          <a:sym typeface="+mn-lt"/>
                        </a:rPr>
                        <a:t>【</a:t>
                      </a:r>
                      <a:r>
                        <a:rPr sz="1200" b="1" dirty="0" err="1">
                          <a:solidFill>
                            <a:srgbClr val="0070C0"/>
                          </a:solidFill>
                          <a:latin typeface="微软雅黑" panose="020B0503020204020204" pitchFamily="34" charset="-122"/>
                          <a:ea typeface="微软雅黑" panose="020B0503020204020204" pitchFamily="34" charset="-122"/>
                          <a:cs typeface="+mn-ea"/>
                          <a:sym typeface="+mn-lt"/>
                        </a:rPr>
                        <a:t>收入</a:t>
                      </a:r>
                      <a:r>
                        <a:rPr sz="1200" dirty="0">
                          <a:solidFill>
                            <a:srgbClr val="0070C0"/>
                          </a:solidFill>
                          <a:latin typeface="微软雅黑" panose="020B0503020204020204" pitchFamily="34" charset="-122"/>
                          <a:ea typeface="微软雅黑" panose="020B0503020204020204" pitchFamily="34" charset="-122"/>
                          <a:cs typeface="+mn-ea"/>
                          <a:sym typeface="+mn-lt"/>
                        </a:rPr>
                        <a:t>】</a:t>
                      </a:r>
                    </a:p>
                  </a:txBody>
                  <a:tcPr marL="0" marR="0" marT="0" marB="0">
                    <a:lnL w="12700">
                      <a:solidFill>
                        <a:srgbClr val="000000"/>
                      </a:solidFill>
                      <a:prstDash val="solid"/>
                    </a:lnL>
                    <a:lnR w="12700">
                      <a:solidFill>
                        <a:srgbClr val="000000"/>
                      </a:solidFill>
                      <a:prstDash val="solid"/>
                    </a:lnR>
                    <a:lnT w="12700">
                      <a:solidFill>
                        <a:srgbClr val="000000"/>
                      </a:solidFill>
                      <a:prstDash val="solid"/>
                    </a:lnT>
                    <a:lnB>
                      <a:noFill/>
                    </a:lnB>
                    <a:lnTlToBr w="12700" cmpd="sng">
                      <a:noFill/>
                      <a:prstDash val="solid"/>
                    </a:lnTlToBr>
                    <a:lnBlToTr w="12700" cmpd="sng">
                      <a:noFill/>
                      <a:prstDash val="solid"/>
                    </a:lnBlToTr>
                    <a:noFill/>
                  </a:tcPr>
                </a:tc>
                <a:tc hMerge="1">
                  <a:txBody>
                    <a:bodyPr/>
                    <a:lstStyle/>
                    <a:p>
                      <a:endParaRPr lang="zh-CN"/>
                    </a:p>
                  </a:txBody>
                  <a:tcPr marL="0" marR="0" marT="0" marB="0"/>
                </a:tc>
                <a:tc hMerge="1">
                  <a:txBody>
                    <a:bodyPr/>
                    <a:lstStyle/>
                    <a:p>
                      <a:endParaRPr lang="zh-CN"/>
                    </a:p>
                  </a:txBody>
                  <a:tcPr marL="0" marR="0" marT="0" marB="0"/>
                </a:tc>
                <a:extLst>
                  <a:ext uri="{0D108BD9-81ED-4DB2-BD59-A6C34878D82A}">
                    <a16:rowId xmlns:a16="http://schemas.microsoft.com/office/drawing/2014/main" val="10005"/>
                  </a:ext>
                </a:extLst>
              </a:tr>
              <a:tr h="215900">
                <a:tc gridSpan="3">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4925">
                        <a:lnSpc>
                          <a:spcPct val="100000"/>
                        </a:lnSpc>
                      </a:pPr>
                      <a:r>
                        <a:rPr sz="1200" dirty="0">
                          <a:latin typeface="微软雅黑" panose="020B0503020204020204" pitchFamily="34" charset="-122"/>
                          <a:ea typeface="微软雅黑" panose="020B0503020204020204" pitchFamily="34" charset="-122"/>
                          <a:cs typeface="+mn-ea"/>
                          <a:sym typeface="+mn-lt"/>
                        </a:rPr>
                        <a:t>制造成本</a:t>
                      </a:r>
                    </a:p>
                  </a:txBody>
                  <a:tcPr marL="0" marR="0" marT="0" marB="0">
                    <a:lnL w="12700">
                      <a:solidFill>
                        <a:srgbClr val="000000"/>
                      </a:solidFill>
                      <a:prstDash val="solid"/>
                    </a:lnL>
                    <a:lnR w="12700">
                      <a:solidFill>
                        <a:srgbClr val="000000"/>
                      </a:solidFill>
                      <a:prstDash val="solid"/>
                    </a:lnR>
                    <a:lnT>
                      <a:noFill/>
                    </a:lnT>
                    <a:lnB>
                      <a:noFill/>
                    </a:lnB>
                    <a:lnTlToBr w="12700" cmpd="sng">
                      <a:noFill/>
                      <a:prstDash val="solid"/>
                    </a:lnTlToBr>
                    <a:lnBlToTr w="12700" cmpd="sng">
                      <a:noFill/>
                      <a:prstDash val="solid"/>
                    </a:lnBlToTr>
                    <a:noFill/>
                  </a:tcPr>
                </a:tc>
                <a:tc hMerge="1">
                  <a:txBody>
                    <a:bodyPr/>
                    <a:lstStyle/>
                    <a:p>
                      <a:endParaRPr lang="zh-CN"/>
                    </a:p>
                  </a:txBody>
                  <a:tcPr marL="0" marR="0" marT="0" marB="0"/>
                </a:tc>
                <a:tc hMerge="1">
                  <a:txBody>
                    <a:bodyPr/>
                    <a:lstStyle/>
                    <a:p>
                      <a:endParaRPr lang="zh-CN"/>
                    </a:p>
                  </a:txBody>
                  <a:tcPr marL="0" marR="0" marT="0" marB="0"/>
                </a:tc>
                <a:tc gridSpan="3">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5560">
                        <a:lnSpc>
                          <a:spcPct val="100000"/>
                        </a:lnSpc>
                      </a:pPr>
                      <a:r>
                        <a:rPr sz="1200" dirty="0">
                          <a:latin typeface="微软雅黑" panose="020B0503020204020204" pitchFamily="34" charset="-122"/>
                          <a:ea typeface="微软雅黑" panose="020B0503020204020204" pitchFamily="34" charset="-122"/>
                          <a:cs typeface="+mn-ea"/>
                          <a:sym typeface="+mn-lt"/>
                        </a:rPr>
                        <a:t>盈利模式</a:t>
                      </a:r>
                    </a:p>
                  </a:txBody>
                  <a:tcPr marL="0" marR="0" marT="0" marB="0">
                    <a:lnL w="12700">
                      <a:solidFill>
                        <a:srgbClr val="000000"/>
                      </a:solidFill>
                      <a:prstDash val="solid"/>
                    </a:lnL>
                    <a:lnR w="12700">
                      <a:solidFill>
                        <a:srgbClr val="000000"/>
                      </a:solidFill>
                      <a:prstDash val="solid"/>
                    </a:lnR>
                    <a:lnT>
                      <a:noFill/>
                    </a:lnT>
                    <a:lnB>
                      <a:noFill/>
                    </a:lnB>
                    <a:lnTlToBr w="12700" cmpd="sng">
                      <a:noFill/>
                      <a:prstDash val="solid"/>
                    </a:lnTlToBr>
                    <a:lnBlToTr w="12700" cmpd="sng">
                      <a:noFill/>
                      <a:prstDash val="solid"/>
                    </a:lnBlToTr>
                    <a:noFill/>
                  </a:tcPr>
                </a:tc>
                <a:tc hMerge="1">
                  <a:txBody>
                    <a:bodyPr/>
                    <a:lstStyle/>
                    <a:p>
                      <a:endParaRPr lang="zh-CN"/>
                    </a:p>
                  </a:txBody>
                  <a:tcPr marL="0" marR="0" marT="0" marB="0"/>
                </a:tc>
                <a:tc hMerge="1">
                  <a:txBody>
                    <a:bodyPr/>
                    <a:lstStyle/>
                    <a:p>
                      <a:endParaRPr lang="zh-CN"/>
                    </a:p>
                  </a:txBody>
                  <a:tcPr marL="0" marR="0" marT="0" marB="0"/>
                </a:tc>
                <a:extLst>
                  <a:ext uri="{0D108BD9-81ED-4DB2-BD59-A6C34878D82A}">
                    <a16:rowId xmlns:a16="http://schemas.microsoft.com/office/drawing/2014/main" val="10006"/>
                  </a:ext>
                </a:extLst>
              </a:tr>
              <a:tr h="215265">
                <a:tc gridSpan="3">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4925">
                        <a:lnSpc>
                          <a:spcPct val="100000"/>
                        </a:lnSpc>
                      </a:pPr>
                      <a:r>
                        <a:rPr sz="1200" dirty="0">
                          <a:latin typeface="微软雅黑" panose="020B0503020204020204" pitchFamily="34" charset="-122"/>
                          <a:ea typeface="微软雅黑" panose="020B0503020204020204" pitchFamily="34" charset="-122"/>
                          <a:cs typeface="+mn-ea"/>
                          <a:sym typeface="+mn-lt"/>
                        </a:rPr>
                        <a:t>销售费用</a:t>
                      </a:r>
                    </a:p>
                  </a:txBody>
                  <a:tcPr marL="0" marR="0" marT="0" marB="0">
                    <a:lnL w="12700">
                      <a:solidFill>
                        <a:srgbClr val="000000"/>
                      </a:solidFill>
                      <a:prstDash val="solid"/>
                    </a:lnL>
                    <a:lnR w="12700">
                      <a:solidFill>
                        <a:srgbClr val="000000"/>
                      </a:solidFill>
                      <a:prstDash val="solid"/>
                    </a:lnR>
                    <a:lnT>
                      <a:noFill/>
                    </a:lnT>
                    <a:lnB>
                      <a:noFill/>
                    </a:lnB>
                    <a:lnTlToBr w="12700" cmpd="sng">
                      <a:noFill/>
                      <a:prstDash val="solid"/>
                    </a:lnTlToBr>
                    <a:lnBlToTr w="12700" cmpd="sng">
                      <a:noFill/>
                      <a:prstDash val="solid"/>
                    </a:lnBlToTr>
                    <a:noFill/>
                  </a:tcPr>
                </a:tc>
                <a:tc hMerge="1">
                  <a:txBody>
                    <a:bodyPr/>
                    <a:lstStyle/>
                    <a:p>
                      <a:endParaRPr lang="zh-CN"/>
                    </a:p>
                  </a:txBody>
                  <a:tcPr marL="0" marR="0" marT="0" marB="0"/>
                </a:tc>
                <a:tc hMerge="1">
                  <a:txBody>
                    <a:bodyPr/>
                    <a:lstStyle/>
                    <a:p>
                      <a:endParaRPr lang="zh-CN"/>
                    </a:p>
                  </a:txBody>
                  <a:tcPr marL="0" marR="0" marT="0" marB="0"/>
                </a:tc>
                <a:tc gridSpan="3">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5560">
                        <a:lnSpc>
                          <a:spcPct val="100000"/>
                        </a:lnSpc>
                      </a:pPr>
                      <a:r>
                        <a:rPr sz="1200" dirty="0">
                          <a:latin typeface="微软雅黑" panose="020B0503020204020204" pitchFamily="34" charset="-122"/>
                          <a:ea typeface="微软雅黑" panose="020B0503020204020204" pitchFamily="34" charset="-122"/>
                          <a:cs typeface="+mn-ea"/>
                          <a:sym typeface="+mn-lt"/>
                        </a:rPr>
                        <a:t>客户价值</a:t>
                      </a:r>
                    </a:p>
                  </a:txBody>
                  <a:tcPr marL="0" marR="0" marT="0" marB="0">
                    <a:lnL w="12700">
                      <a:solidFill>
                        <a:srgbClr val="000000"/>
                      </a:solidFill>
                      <a:prstDash val="solid"/>
                    </a:lnL>
                    <a:lnR w="12700">
                      <a:solidFill>
                        <a:srgbClr val="000000"/>
                      </a:solidFill>
                      <a:prstDash val="solid"/>
                    </a:lnR>
                    <a:lnT>
                      <a:noFill/>
                    </a:lnT>
                    <a:lnB>
                      <a:noFill/>
                    </a:lnB>
                    <a:lnTlToBr w="12700" cmpd="sng">
                      <a:noFill/>
                      <a:prstDash val="solid"/>
                    </a:lnTlToBr>
                    <a:lnBlToTr w="12700" cmpd="sng">
                      <a:noFill/>
                      <a:prstDash val="solid"/>
                    </a:lnBlToTr>
                    <a:noFill/>
                  </a:tcPr>
                </a:tc>
                <a:tc hMerge="1">
                  <a:txBody>
                    <a:bodyPr/>
                    <a:lstStyle/>
                    <a:p>
                      <a:endParaRPr lang="zh-CN"/>
                    </a:p>
                  </a:txBody>
                  <a:tcPr marL="0" marR="0" marT="0" marB="0"/>
                </a:tc>
                <a:tc hMerge="1">
                  <a:txBody>
                    <a:bodyPr/>
                    <a:lstStyle/>
                    <a:p>
                      <a:endParaRPr lang="zh-CN"/>
                    </a:p>
                  </a:txBody>
                  <a:tcPr marL="0" marR="0" marT="0" marB="0"/>
                </a:tc>
                <a:extLst>
                  <a:ext uri="{0D108BD9-81ED-4DB2-BD59-A6C34878D82A}">
                    <a16:rowId xmlns:a16="http://schemas.microsoft.com/office/drawing/2014/main" val="10007"/>
                  </a:ext>
                </a:extLst>
              </a:tr>
              <a:tr h="215900">
                <a:tc gridSpan="3">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4925">
                        <a:lnSpc>
                          <a:spcPct val="100000"/>
                        </a:lnSpc>
                      </a:pPr>
                      <a:r>
                        <a:rPr sz="1200" dirty="0">
                          <a:latin typeface="微软雅黑" panose="020B0503020204020204" pitchFamily="34" charset="-122"/>
                          <a:ea typeface="微软雅黑" panose="020B0503020204020204" pitchFamily="34" charset="-122"/>
                          <a:cs typeface="+mn-ea"/>
                          <a:sym typeface="+mn-lt"/>
                        </a:rPr>
                        <a:t>研发费用</a:t>
                      </a:r>
                    </a:p>
                  </a:txBody>
                  <a:tcPr marL="0" marR="0" marT="0" marB="0">
                    <a:lnL w="12700">
                      <a:solidFill>
                        <a:srgbClr val="000000"/>
                      </a:solidFill>
                      <a:prstDash val="solid"/>
                    </a:lnL>
                    <a:lnR w="12700">
                      <a:solidFill>
                        <a:srgbClr val="000000"/>
                      </a:solidFill>
                      <a:prstDash val="solid"/>
                    </a:lnR>
                    <a:lnT>
                      <a:noFill/>
                    </a:lnT>
                    <a:lnB>
                      <a:noFill/>
                    </a:lnB>
                    <a:lnTlToBr w="12700" cmpd="sng">
                      <a:noFill/>
                      <a:prstDash val="solid"/>
                    </a:lnTlToBr>
                    <a:lnBlToTr w="12700" cmpd="sng">
                      <a:noFill/>
                      <a:prstDash val="solid"/>
                    </a:lnBlToTr>
                    <a:noFill/>
                  </a:tcPr>
                </a:tc>
                <a:tc hMerge="1">
                  <a:txBody>
                    <a:bodyPr/>
                    <a:lstStyle/>
                    <a:p>
                      <a:endParaRPr lang="zh-CN"/>
                    </a:p>
                  </a:txBody>
                  <a:tcPr marL="0" marR="0" marT="0" marB="0"/>
                </a:tc>
                <a:tc hMerge="1">
                  <a:txBody>
                    <a:bodyPr/>
                    <a:lstStyle/>
                    <a:p>
                      <a:endParaRPr lang="zh-CN"/>
                    </a:p>
                  </a:txBody>
                  <a:tcPr marL="0" marR="0" marT="0" marB="0"/>
                </a:tc>
                <a:tc gridSpan="3">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5560">
                        <a:lnSpc>
                          <a:spcPct val="100000"/>
                        </a:lnSpc>
                      </a:pPr>
                      <a:r>
                        <a:rPr lang="zh-CN" altLang="en-US" sz="1200" dirty="0">
                          <a:latin typeface="微软雅黑" panose="020B0503020204020204" pitchFamily="34" charset="-122"/>
                          <a:ea typeface="微软雅黑" panose="020B0503020204020204" pitchFamily="34" charset="-122"/>
                          <a:cs typeface="+mn-ea"/>
                          <a:sym typeface="+mn-lt"/>
                        </a:rPr>
                        <a:t>销售</a:t>
                      </a:r>
                      <a:r>
                        <a:rPr sz="1200" dirty="0" err="1">
                          <a:latin typeface="微软雅黑" panose="020B0503020204020204" pitchFamily="34" charset="-122"/>
                          <a:ea typeface="微软雅黑" panose="020B0503020204020204" pitchFamily="34" charset="-122"/>
                          <a:cs typeface="+mn-ea"/>
                          <a:sym typeface="+mn-lt"/>
                        </a:rPr>
                        <a:t>收入</a:t>
                      </a:r>
                      <a:endParaRPr sz="1200" dirty="0">
                        <a:latin typeface="微软雅黑" panose="020B0503020204020204" pitchFamily="34" charset="-122"/>
                        <a:ea typeface="微软雅黑" panose="020B0503020204020204" pitchFamily="34" charset="-122"/>
                        <a:cs typeface="+mn-ea"/>
                        <a:sym typeface="+mn-lt"/>
                      </a:endParaRPr>
                    </a:p>
                  </a:txBody>
                  <a:tcPr marL="0" marR="0" marT="0" marB="0">
                    <a:lnL w="12700">
                      <a:solidFill>
                        <a:srgbClr val="000000"/>
                      </a:solidFill>
                      <a:prstDash val="solid"/>
                    </a:lnL>
                    <a:lnR w="12700">
                      <a:solidFill>
                        <a:srgbClr val="000000"/>
                      </a:solidFill>
                      <a:prstDash val="solid"/>
                    </a:lnR>
                    <a:lnT>
                      <a:noFill/>
                    </a:lnT>
                    <a:lnB>
                      <a:noFill/>
                    </a:lnB>
                    <a:lnTlToBr w="12700" cmpd="sng">
                      <a:noFill/>
                      <a:prstDash val="solid"/>
                    </a:lnTlToBr>
                    <a:lnBlToTr w="12700" cmpd="sng">
                      <a:noFill/>
                      <a:prstDash val="solid"/>
                    </a:lnBlToTr>
                    <a:noFill/>
                  </a:tcPr>
                </a:tc>
                <a:tc hMerge="1">
                  <a:txBody>
                    <a:bodyPr/>
                    <a:lstStyle/>
                    <a:p>
                      <a:endParaRPr lang="zh-CN"/>
                    </a:p>
                  </a:txBody>
                  <a:tcPr marL="0" marR="0" marT="0" marB="0"/>
                </a:tc>
                <a:tc hMerge="1">
                  <a:txBody>
                    <a:bodyPr/>
                    <a:lstStyle/>
                    <a:p>
                      <a:endParaRPr lang="zh-CN"/>
                    </a:p>
                  </a:txBody>
                  <a:tcPr marL="0" marR="0" marT="0" marB="0"/>
                </a:tc>
                <a:extLst>
                  <a:ext uri="{0D108BD9-81ED-4DB2-BD59-A6C34878D82A}">
                    <a16:rowId xmlns:a16="http://schemas.microsoft.com/office/drawing/2014/main" val="10008"/>
                  </a:ext>
                </a:extLst>
              </a:tr>
              <a:tr h="222250">
                <a:tc gridSpan="3">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4925">
                        <a:lnSpc>
                          <a:spcPts val="1680"/>
                        </a:lnSpc>
                      </a:pPr>
                      <a:r>
                        <a:rPr sz="1200" dirty="0">
                          <a:latin typeface="微软雅黑" panose="020B0503020204020204" pitchFamily="34" charset="-122"/>
                          <a:ea typeface="微软雅黑" panose="020B0503020204020204" pitchFamily="34" charset="-122"/>
                          <a:cs typeface="+mn-ea"/>
                          <a:sym typeface="+mn-lt"/>
                        </a:rPr>
                        <a:t>管理费用</a:t>
                      </a:r>
                    </a:p>
                  </a:txBody>
                  <a:tcPr marL="0" marR="0" marT="0" marB="0">
                    <a:lnL w="12700">
                      <a:solidFill>
                        <a:srgbClr val="000000"/>
                      </a:solidFill>
                      <a:prstDash val="solid"/>
                    </a:lnL>
                    <a:lnR w="12700">
                      <a:solidFill>
                        <a:srgbClr val="000000"/>
                      </a:solidFill>
                      <a:prstDash val="solid"/>
                    </a:lnR>
                    <a:lnT>
                      <a:noFill/>
                    </a:lnT>
                    <a:lnB w="12700">
                      <a:solidFill>
                        <a:srgbClr val="000000"/>
                      </a:solidFill>
                      <a:prstDash val="solid"/>
                    </a:lnB>
                    <a:lnTlToBr w="12700" cmpd="sng">
                      <a:noFill/>
                      <a:prstDash val="solid"/>
                    </a:lnTlToBr>
                    <a:lnBlToTr w="12700" cmpd="sng">
                      <a:noFill/>
                      <a:prstDash val="solid"/>
                    </a:lnBlToTr>
                    <a:noFill/>
                  </a:tcPr>
                </a:tc>
                <a:tc hMerge="1">
                  <a:txBody>
                    <a:bodyPr/>
                    <a:lstStyle/>
                    <a:p>
                      <a:endParaRPr lang="zh-CN"/>
                    </a:p>
                  </a:txBody>
                  <a:tcPr marL="0" marR="0" marT="0" marB="0"/>
                </a:tc>
                <a:tc hMerge="1">
                  <a:txBody>
                    <a:bodyPr/>
                    <a:lstStyle/>
                    <a:p>
                      <a:endParaRPr lang="zh-CN"/>
                    </a:p>
                  </a:txBody>
                  <a:tcPr marL="0" marR="0" marT="0" marB="0"/>
                </a:tc>
                <a:tc gridSpan="3">
                  <a:txBody>
                    <a:bodyPr/>
                    <a:lstStyle>
                      <a:lvl1pPr marL="0" algn="l" defTabSz="914400" rtl="0" eaLnBrk="1" latinLnBrk="0" hangingPunct="1">
                        <a:defRPr sz="1800" kern="1200">
                          <a:solidFill>
                            <a:schemeClr val="tx1"/>
                          </a:solidFill>
                          <a:latin typeface="DengXian"/>
                        </a:defRPr>
                      </a:lvl1pPr>
                      <a:lvl2pPr marL="457200" algn="l" defTabSz="914400" rtl="0" eaLnBrk="1" latinLnBrk="0" hangingPunct="1">
                        <a:defRPr sz="1800" kern="1200">
                          <a:solidFill>
                            <a:schemeClr val="tx1"/>
                          </a:solidFill>
                          <a:latin typeface="DengXian"/>
                        </a:defRPr>
                      </a:lvl2pPr>
                      <a:lvl3pPr marL="914400" algn="l" defTabSz="914400" rtl="0" eaLnBrk="1" latinLnBrk="0" hangingPunct="1">
                        <a:defRPr sz="1800" kern="1200">
                          <a:solidFill>
                            <a:schemeClr val="tx1"/>
                          </a:solidFill>
                          <a:latin typeface="DengXian"/>
                        </a:defRPr>
                      </a:lvl3pPr>
                      <a:lvl4pPr marL="1371600" algn="l" defTabSz="914400" rtl="0" eaLnBrk="1" latinLnBrk="0" hangingPunct="1">
                        <a:defRPr sz="1800" kern="1200">
                          <a:solidFill>
                            <a:schemeClr val="tx1"/>
                          </a:solidFill>
                          <a:latin typeface="DengXian"/>
                        </a:defRPr>
                      </a:lvl4pPr>
                      <a:lvl5pPr marL="1828800" algn="l" defTabSz="914400" rtl="0" eaLnBrk="1" latinLnBrk="0" hangingPunct="1">
                        <a:defRPr sz="1800" kern="1200">
                          <a:solidFill>
                            <a:schemeClr val="tx1"/>
                          </a:solidFill>
                          <a:latin typeface="DengXian"/>
                        </a:defRPr>
                      </a:lvl5pPr>
                      <a:lvl6pPr marL="2286000" algn="l" defTabSz="914400" rtl="0" eaLnBrk="1" latinLnBrk="0" hangingPunct="1">
                        <a:defRPr sz="1800" kern="1200">
                          <a:solidFill>
                            <a:schemeClr val="tx1"/>
                          </a:solidFill>
                          <a:latin typeface="DengXian"/>
                        </a:defRPr>
                      </a:lvl6pPr>
                      <a:lvl7pPr marL="2743200" algn="l" defTabSz="914400" rtl="0" eaLnBrk="1" latinLnBrk="0" hangingPunct="1">
                        <a:defRPr sz="1800" kern="1200">
                          <a:solidFill>
                            <a:schemeClr val="tx1"/>
                          </a:solidFill>
                          <a:latin typeface="DengXian"/>
                        </a:defRPr>
                      </a:lvl7pPr>
                      <a:lvl8pPr marL="3200400" algn="l" defTabSz="914400" rtl="0" eaLnBrk="1" latinLnBrk="0" hangingPunct="1">
                        <a:defRPr sz="1800" kern="1200">
                          <a:solidFill>
                            <a:schemeClr val="tx1"/>
                          </a:solidFill>
                          <a:latin typeface="DengXian"/>
                        </a:defRPr>
                      </a:lvl8pPr>
                      <a:lvl9pPr marL="3657600" algn="l" defTabSz="914400" rtl="0" eaLnBrk="1" latinLnBrk="0" hangingPunct="1">
                        <a:defRPr sz="1800" kern="1200">
                          <a:solidFill>
                            <a:schemeClr val="tx1"/>
                          </a:solidFill>
                          <a:latin typeface="DengXian"/>
                        </a:defRPr>
                      </a:lvl9pPr>
                    </a:lstStyle>
                    <a:p>
                      <a:pPr marL="35560">
                        <a:lnSpc>
                          <a:spcPts val="1680"/>
                        </a:lnSpc>
                      </a:pPr>
                      <a:r>
                        <a:rPr sz="1200" dirty="0">
                          <a:latin typeface="微软雅黑" panose="020B0503020204020204" pitchFamily="34" charset="-122"/>
                          <a:ea typeface="微软雅黑" panose="020B0503020204020204" pitchFamily="34" charset="-122"/>
                          <a:cs typeface="+mn-ea"/>
                          <a:sym typeface="+mn-lt"/>
                        </a:rPr>
                        <a:t>利润</a:t>
                      </a:r>
                    </a:p>
                  </a:txBody>
                  <a:tcPr marL="0" marR="0" marT="0" marB="0">
                    <a:lnL w="12700">
                      <a:solidFill>
                        <a:srgbClr val="000000"/>
                      </a:solidFill>
                      <a:prstDash val="solid"/>
                    </a:lnL>
                    <a:lnR w="12700">
                      <a:solidFill>
                        <a:srgbClr val="000000"/>
                      </a:solidFill>
                      <a:prstDash val="solid"/>
                    </a:lnR>
                    <a:lnT>
                      <a:noFill/>
                    </a:lnT>
                    <a:lnB w="12700">
                      <a:solidFill>
                        <a:srgbClr val="000000"/>
                      </a:solidFill>
                      <a:prstDash val="solid"/>
                    </a:lnB>
                    <a:lnTlToBr w="12700" cmpd="sng">
                      <a:noFill/>
                      <a:prstDash val="solid"/>
                    </a:lnTlToBr>
                    <a:lnBlToTr w="12700" cmpd="sng">
                      <a:noFill/>
                      <a:prstDash val="solid"/>
                    </a:lnBlToTr>
                    <a:noFill/>
                  </a:tcPr>
                </a:tc>
                <a:tc hMerge="1">
                  <a:txBody>
                    <a:bodyPr/>
                    <a:lstStyle/>
                    <a:p>
                      <a:endParaRPr lang="zh-CN"/>
                    </a:p>
                  </a:txBody>
                  <a:tcPr marL="0" marR="0" marT="0" marB="0"/>
                </a:tc>
                <a:tc hMerge="1">
                  <a:txBody>
                    <a:bodyPr/>
                    <a:lstStyle/>
                    <a:p>
                      <a:endParaRPr lang="zh-CN"/>
                    </a:p>
                  </a:txBody>
                  <a:tcPr marL="0" marR="0" marT="0" marB="0"/>
                </a:tc>
                <a:extLst>
                  <a:ext uri="{0D108BD9-81ED-4DB2-BD59-A6C34878D82A}">
                    <a16:rowId xmlns:a16="http://schemas.microsoft.com/office/drawing/2014/main" val="10009"/>
                  </a:ext>
                </a:extLst>
              </a:tr>
            </a:tbl>
          </a:graphicData>
        </a:graphic>
      </p:graphicFrame>
      <p:sp>
        <p:nvSpPr>
          <p:cNvPr id="15" name="矩形 14"/>
          <p:cNvSpPr/>
          <p:nvPr/>
        </p:nvSpPr>
        <p:spPr>
          <a:xfrm>
            <a:off x="1132205" y="5137150"/>
            <a:ext cx="9552305" cy="250190"/>
          </a:xfrm>
          <a:prstGeom prst="rect">
            <a:avLst/>
          </a:prstGeom>
          <a:noFill/>
          <a:ln w="12700" cap="flat" cmpd="sng" algn="ctr">
            <a:solidFill>
              <a:schemeClr val="bg1">
                <a:lumMod val="75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mn-lt"/>
              </a:rPr>
              <a:t>战略控制点</a:t>
            </a:r>
          </a:p>
        </p:txBody>
      </p:sp>
      <p:sp>
        <p:nvSpPr>
          <p:cNvPr id="4" name="标题 1"/>
          <p:cNvSpPr txBox="1"/>
          <p:nvPr/>
        </p:nvSpPr>
        <p:spPr>
          <a:xfrm>
            <a:off x="485119" y="387667"/>
            <a:ext cx="7659370" cy="34353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看自己：工具，商业模型画布（但不受限于当前能力）</a:t>
            </a:r>
          </a:p>
        </p:txBody>
      </p:sp>
      <p:sp>
        <p:nvSpPr>
          <p:cNvPr id="9" name="Rectangle 3"/>
          <p:cNvSpPr txBox="1">
            <a:spLocks noChangeArrowheads="1"/>
          </p:cNvSpPr>
          <p:nvPr/>
        </p:nvSpPr>
        <p:spPr bwMode="auto">
          <a:xfrm>
            <a:off x="1438910" y="6282104"/>
            <a:ext cx="8991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2000" b="1" dirty="0">
                <a:solidFill>
                  <a:schemeClr val="bg1"/>
                </a:solidFill>
                <a:effectLst/>
                <a:latin typeface="微软雅黑" panose="020B0503020204020204" pitchFamily="34" charset="-122"/>
                <a:ea typeface="微软雅黑" panose="020B0503020204020204" pitchFamily="34" charset="-122"/>
              </a:rPr>
              <a:t>案例：华为手机 </a:t>
            </a:r>
            <a:r>
              <a:rPr lang="en-US" altLang="zh-CN" sz="2000" b="1" dirty="0">
                <a:solidFill>
                  <a:schemeClr val="bg1"/>
                </a:solidFill>
                <a:effectLst/>
                <a:latin typeface="微软雅黑" panose="020B0503020204020204" pitchFamily="34" charset="-122"/>
                <a:ea typeface="微软雅黑" panose="020B0503020204020204" pitchFamily="34" charset="-122"/>
              </a:rPr>
              <a:t>pk </a:t>
            </a:r>
            <a:r>
              <a:rPr lang="zh-CN" altLang="en-US" sz="2000" b="1" dirty="0">
                <a:solidFill>
                  <a:schemeClr val="bg1"/>
                </a:solidFill>
                <a:effectLst/>
                <a:latin typeface="微软雅黑" panose="020B0503020204020204" pitchFamily="34" charset="-122"/>
                <a:ea typeface="微软雅黑" panose="020B0503020204020204" pitchFamily="34" charset="-122"/>
              </a:rPr>
              <a:t>苹果：最强的芯片和硬件</a:t>
            </a:r>
            <a:r>
              <a:rPr lang="en-US" altLang="zh-CN" sz="2000" b="1" dirty="0">
                <a:solidFill>
                  <a:schemeClr val="bg1"/>
                </a:solidFill>
                <a:effectLst/>
                <a:latin typeface="微软雅黑" panose="020B0503020204020204" pitchFamily="34" charset="-122"/>
                <a:ea typeface="微软雅黑" panose="020B0503020204020204" pitchFamily="34" charset="-122"/>
              </a:rPr>
              <a:t>+</a:t>
            </a:r>
            <a:r>
              <a:rPr lang="zh-CN" altLang="en-US" sz="2000" b="1" dirty="0">
                <a:solidFill>
                  <a:schemeClr val="bg1"/>
                </a:solidFill>
                <a:effectLst/>
                <a:latin typeface="微软雅黑" panose="020B0503020204020204" pitchFamily="34" charset="-122"/>
                <a:ea typeface="微软雅黑" panose="020B0503020204020204" pitchFamily="34" charset="-122"/>
              </a:rPr>
              <a:t>莱卡</a:t>
            </a:r>
            <a:r>
              <a:rPr lang="en-US" altLang="zh-CN" sz="2000" b="1" dirty="0">
                <a:solidFill>
                  <a:schemeClr val="bg1"/>
                </a:solidFill>
                <a:effectLst/>
                <a:latin typeface="微软雅黑" panose="020B0503020204020204" pitchFamily="34" charset="-122"/>
                <a:ea typeface="微软雅黑" panose="020B0503020204020204" pitchFamily="34" charset="-122"/>
              </a:rPr>
              <a:t>+</a:t>
            </a:r>
            <a:r>
              <a:rPr lang="zh-CN" altLang="en-US" sz="2000" b="1" dirty="0">
                <a:solidFill>
                  <a:schemeClr val="bg1"/>
                </a:solidFill>
                <a:effectLst/>
                <a:latin typeface="微软雅黑" panose="020B0503020204020204" pitchFamily="34" charset="-122"/>
                <a:ea typeface="微软雅黑" panose="020B0503020204020204" pitchFamily="34" charset="-122"/>
              </a:rPr>
              <a:t>保时捷</a:t>
            </a:r>
            <a:endParaRPr lang="en-US" altLang="zh-CN" sz="2000" b="1" dirty="0">
              <a:solidFill>
                <a:schemeClr val="bg1"/>
              </a:solidFill>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文本框 3"/>
          <p:cNvSpPr txBox="1"/>
          <p:nvPr/>
        </p:nvSpPr>
        <p:spPr>
          <a:xfrm>
            <a:off x="1327150" y="1318895"/>
            <a:ext cx="9641205" cy="368300"/>
          </a:xfrm>
          <a:prstGeom prst="rect">
            <a:avLst/>
          </a:prstGeom>
          <a:noFill/>
        </p:spPr>
        <p:txBody>
          <a:bodyPr wrap="square" rtlCol="0">
            <a:spAutoFit/>
          </a:bodyPr>
          <a:lstStyle/>
          <a:p>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lt"/>
              </a:rPr>
              <a:t>细分市场</a:t>
            </a:r>
            <a:r>
              <a:rPr lang="zh-CN" altLang="zh-CN" sz="1800" dirty="0">
                <a:latin typeface="微软雅黑" panose="020B0503020204020204" pitchFamily="34" charset="-122"/>
                <a:ea typeface="微软雅黑" panose="020B0503020204020204" pitchFamily="34" charset="-122"/>
                <a:cs typeface="微软雅黑" panose="020B0503020204020204" pitchFamily="34" charset="-122"/>
                <a:sym typeface="+mn-lt"/>
              </a:rPr>
              <a:t>主要从</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lt"/>
              </a:rPr>
              <a:t>5</a:t>
            </a:r>
            <a:r>
              <a:rPr lang="zh-CN" altLang="zh-CN" sz="1800" dirty="0">
                <a:latin typeface="微软雅黑" panose="020B0503020204020204" pitchFamily="34" charset="-122"/>
                <a:ea typeface="微软雅黑" panose="020B0503020204020204" pitchFamily="34" charset="-122"/>
                <a:cs typeface="微软雅黑" panose="020B0503020204020204" pitchFamily="34" charset="-122"/>
                <a:sym typeface="+mn-lt"/>
              </a:rPr>
              <a:t>个方面考虑：</a:t>
            </a:r>
            <a:r>
              <a:rPr lang="zh-CN" altLang="zh-CN"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重要性、</a:t>
            </a:r>
            <a:r>
              <a:rPr lang="zh-CN" altLang="zh-CN"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持久性</a:t>
            </a:r>
            <a:r>
              <a:rPr lang="zh-CN" altLang="zh-CN"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zh-CN"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独特性、可衡量性</a:t>
            </a:r>
            <a:r>
              <a:rPr lang="zh-CN" altLang="zh-CN"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和可识别性</a:t>
            </a:r>
          </a:p>
        </p:txBody>
      </p:sp>
      <p:sp>
        <p:nvSpPr>
          <p:cNvPr id="3" name="矩形 2"/>
          <p:cNvSpPr/>
          <p:nvPr/>
        </p:nvSpPr>
        <p:spPr>
          <a:xfrm>
            <a:off x="1334135" y="1804670"/>
            <a:ext cx="9632950" cy="4246245"/>
          </a:xfrm>
          <a:prstGeom prst="rect">
            <a:avLst/>
          </a:prstGeom>
        </p:spPr>
        <p:txBody>
          <a:bodyPr wrap="square">
            <a:spAutoFit/>
          </a:bodyPr>
          <a:lstStyle/>
          <a:p>
            <a:pPr lvl="0">
              <a:spcBef>
                <a:spcPts val="600"/>
              </a:spcBef>
            </a:pPr>
            <a:r>
              <a:rPr lang="zh-CN" altLang="zh-CN" sz="1500" b="1" dirty="0">
                <a:solidFill>
                  <a:srgbClr val="C00000"/>
                </a:solidFill>
                <a:latin typeface="Arial" panose="020B0604020202020204" pitchFamily="34" charset="0"/>
                <a:ea typeface="微软雅黑" panose="020B0503020204020204" pitchFamily="34" charset="-122"/>
                <a:cs typeface="+mn-ea"/>
                <a:sym typeface="+mn-lt"/>
              </a:rPr>
              <a:t>重要性：</a:t>
            </a:r>
            <a:endParaRPr lang="en-US" altLang="zh-CN" sz="1500" b="1" dirty="0">
              <a:solidFill>
                <a:srgbClr val="C00000"/>
              </a:solidFill>
              <a:latin typeface="Arial" panose="020B0604020202020204" pitchFamily="34" charset="0"/>
              <a:ea typeface="微软雅黑" panose="020B0503020204020204" pitchFamily="34" charset="-122"/>
              <a:cs typeface="+mn-ea"/>
              <a:sym typeface="+mn-lt"/>
            </a:endParaRPr>
          </a:p>
          <a:p>
            <a:pPr lvl="0"/>
            <a:r>
              <a:rPr lang="zh-CN" altLang="zh-CN" sz="1500" dirty="0">
                <a:solidFill>
                  <a:srgbClr val="000000"/>
                </a:solidFill>
                <a:latin typeface="Arial" panose="020B0604020202020204" pitchFamily="34" charset="0"/>
                <a:ea typeface="微软雅黑" panose="020B0503020204020204" pitchFamily="34" charset="-122"/>
                <a:cs typeface="+mn-ea"/>
                <a:sym typeface="+mn-lt"/>
              </a:rPr>
              <a:t>这个细分市场要能达到一定的规模，这个规模能产生足够的利润来进行产品差异化、从事大型市场活动或提供售后服务；</a:t>
            </a:r>
            <a:endParaRPr lang="en-US" altLang="zh-CN" sz="1500" dirty="0">
              <a:solidFill>
                <a:srgbClr val="000000"/>
              </a:solidFill>
              <a:latin typeface="Arial" panose="020B0604020202020204" pitchFamily="34" charset="0"/>
              <a:ea typeface="微软雅黑" panose="020B0503020204020204" pitchFamily="34" charset="-122"/>
              <a:cs typeface="+mn-ea"/>
              <a:sym typeface="+mn-lt"/>
            </a:endParaRPr>
          </a:p>
          <a:p>
            <a:pPr lvl="0"/>
            <a:endParaRPr lang="en-US" altLang="zh-CN" sz="1500" dirty="0">
              <a:solidFill>
                <a:srgbClr val="000000"/>
              </a:solidFill>
              <a:latin typeface="Arial" panose="020B0604020202020204" pitchFamily="34" charset="0"/>
              <a:ea typeface="微软雅黑" panose="020B0503020204020204" pitchFamily="34" charset="-122"/>
              <a:cs typeface="+mn-ea"/>
              <a:sym typeface="+mn-lt"/>
            </a:endParaRPr>
          </a:p>
          <a:p>
            <a:pPr lvl="0">
              <a:spcBef>
                <a:spcPts val="600"/>
              </a:spcBef>
            </a:pPr>
            <a:r>
              <a:rPr lang="zh-CN" altLang="zh-CN" sz="1500" b="1" dirty="0">
                <a:solidFill>
                  <a:srgbClr val="C00000"/>
                </a:solidFill>
                <a:latin typeface="Arial" panose="020B0604020202020204" pitchFamily="34" charset="0"/>
                <a:ea typeface="微软雅黑" panose="020B0503020204020204" pitchFamily="34" charset="-122"/>
                <a:cs typeface="+mn-ea"/>
                <a:sym typeface="+mn-lt"/>
              </a:rPr>
              <a:t>持久性：</a:t>
            </a:r>
            <a:endParaRPr lang="en-US" altLang="zh-CN" sz="1500" b="1" dirty="0">
              <a:solidFill>
                <a:srgbClr val="C00000"/>
              </a:solidFill>
              <a:latin typeface="Arial" panose="020B0604020202020204" pitchFamily="34" charset="0"/>
              <a:ea typeface="微软雅黑" panose="020B0503020204020204" pitchFamily="34" charset="-122"/>
              <a:cs typeface="+mn-ea"/>
              <a:sym typeface="+mn-lt"/>
            </a:endParaRPr>
          </a:p>
          <a:p>
            <a:pPr lvl="0"/>
            <a:r>
              <a:rPr lang="zh-CN" altLang="zh-CN" sz="1500" dirty="0">
                <a:solidFill>
                  <a:srgbClr val="000000"/>
                </a:solidFill>
                <a:latin typeface="Arial" panose="020B0604020202020204" pitchFamily="34" charset="0"/>
                <a:ea typeface="微软雅黑" panose="020B0503020204020204" pitchFamily="34" charset="-122"/>
                <a:cs typeface="+mn-ea"/>
                <a:sym typeface="+mn-lt"/>
              </a:rPr>
              <a:t>最基本的要求是细分市场的存在至少要能够持续到公司产生利润；</a:t>
            </a:r>
            <a:endParaRPr lang="en-US" altLang="zh-CN" sz="1500" dirty="0">
              <a:solidFill>
                <a:srgbClr val="000000"/>
              </a:solidFill>
              <a:latin typeface="Arial" panose="020B0604020202020204" pitchFamily="34" charset="0"/>
              <a:ea typeface="微软雅黑" panose="020B0503020204020204" pitchFamily="34" charset="-122"/>
              <a:cs typeface="+mn-ea"/>
              <a:sym typeface="+mn-lt"/>
            </a:endParaRPr>
          </a:p>
          <a:p>
            <a:pPr lvl="0"/>
            <a:endParaRPr lang="en-US" altLang="zh-CN" sz="1500" dirty="0">
              <a:solidFill>
                <a:srgbClr val="000000"/>
              </a:solidFill>
              <a:latin typeface="Arial" panose="020B0604020202020204" pitchFamily="34" charset="0"/>
              <a:ea typeface="微软雅黑" panose="020B0503020204020204" pitchFamily="34" charset="-122"/>
              <a:cs typeface="+mn-ea"/>
              <a:sym typeface="+mn-lt"/>
            </a:endParaRPr>
          </a:p>
          <a:p>
            <a:pPr lvl="0"/>
            <a:r>
              <a:rPr lang="zh-CN" altLang="zh-CN" sz="1500" b="1" dirty="0">
                <a:solidFill>
                  <a:srgbClr val="C00000"/>
                </a:solidFill>
                <a:latin typeface="Arial" panose="020B0604020202020204" pitchFamily="34" charset="0"/>
                <a:ea typeface="微软雅黑" panose="020B0503020204020204" pitchFamily="34" charset="-122"/>
                <a:cs typeface="+mn-ea"/>
                <a:sym typeface="+mn-lt"/>
              </a:rPr>
              <a:t>独特性：</a:t>
            </a:r>
            <a:endParaRPr lang="en-US" altLang="zh-CN" sz="1500" b="1" dirty="0">
              <a:solidFill>
                <a:srgbClr val="C00000"/>
              </a:solidFill>
              <a:latin typeface="Arial" panose="020B0604020202020204" pitchFamily="34" charset="0"/>
              <a:ea typeface="微软雅黑" panose="020B0503020204020204" pitchFamily="34" charset="-122"/>
              <a:cs typeface="+mn-ea"/>
              <a:sym typeface="+mn-lt"/>
            </a:endParaRPr>
          </a:p>
          <a:p>
            <a:pPr lvl="0"/>
            <a:r>
              <a:rPr lang="zh-CN" altLang="zh-CN" sz="1500" dirty="0">
                <a:solidFill>
                  <a:srgbClr val="000000"/>
                </a:solidFill>
                <a:latin typeface="Arial" panose="020B0604020202020204" pitchFamily="34" charset="0"/>
                <a:ea typeface="微软雅黑" panose="020B0503020204020204" pitchFamily="34" charset="-122"/>
                <a:cs typeface="+mn-ea"/>
                <a:sym typeface="+mn-lt"/>
              </a:rPr>
              <a:t>该细分市场是否要求成本优势、高的资本投入、满足客户独特的需要、或者提供的产品要有足够的差异化。并且为了满足这些独特性是否需要一定的进入门槛；</a:t>
            </a:r>
            <a:endParaRPr lang="en-US" altLang="zh-CN" sz="1500" dirty="0">
              <a:solidFill>
                <a:srgbClr val="000000"/>
              </a:solidFill>
              <a:latin typeface="Arial" panose="020B0604020202020204" pitchFamily="34" charset="0"/>
              <a:ea typeface="微软雅黑" panose="020B0503020204020204" pitchFamily="34" charset="-122"/>
              <a:cs typeface="+mn-ea"/>
              <a:sym typeface="+mn-lt"/>
            </a:endParaRPr>
          </a:p>
          <a:p>
            <a:pPr lvl="0"/>
            <a:endParaRPr lang="en-US" altLang="zh-CN" sz="1500" dirty="0">
              <a:solidFill>
                <a:srgbClr val="000000"/>
              </a:solidFill>
              <a:latin typeface="Arial" panose="020B0604020202020204" pitchFamily="34" charset="0"/>
              <a:ea typeface="微软雅黑" panose="020B0503020204020204" pitchFamily="34" charset="-122"/>
              <a:cs typeface="+mn-ea"/>
              <a:sym typeface="+mn-lt"/>
            </a:endParaRPr>
          </a:p>
          <a:p>
            <a:pPr lvl="0">
              <a:spcBef>
                <a:spcPts val="600"/>
              </a:spcBef>
            </a:pPr>
            <a:r>
              <a:rPr lang="zh-CN" altLang="zh-CN" sz="1500" b="1" dirty="0">
                <a:solidFill>
                  <a:srgbClr val="C00000"/>
                </a:solidFill>
                <a:latin typeface="Arial" panose="020B0604020202020204" pitchFamily="34" charset="0"/>
                <a:ea typeface="微软雅黑" panose="020B0503020204020204" pitchFamily="34" charset="-122"/>
                <a:cs typeface="+mn-ea"/>
                <a:sym typeface="+mn-lt"/>
              </a:rPr>
              <a:t>可衡量性：</a:t>
            </a:r>
            <a:endParaRPr lang="en-US" altLang="zh-CN" sz="1500" b="1" dirty="0">
              <a:solidFill>
                <a:srgbClr val="C00000"/>
              </a:solidFill>
              <a:latin typeface="Arial" panose="020B0604020202020204" pitchFamily="34" charset="0"/>
              <a:ea typeface="微软雅黑" panose="020B0503020204020204" pitchFamily="34" charset="-122"/>
              <a:cs typeface="+mn-ea"/>
              <a:sym typeface="+mn-lt"/>
            </a:endParaRPr>
          </a:p>
          <a:p>
            <a:pPr lvl="0"/>
            <a:r>
              <a:rPr lang="zh-CN" altLang="zh-CN" sz="1500" dirty="0">
                <a:solidFill>
                  <a:srgbClr val="000000"/>
                </a:solidFill>
                <a:latin typeface="Arial" panose="020B0604020202020204" pitchFamily="34" charset="0"/>
                <a:ea typeface="微软雅黑" panose="020B0503020204020204" pitchFamily="34" charset="-122"/>
                <a:cs typeface="+mn-ea"/>
                <a:sym typeface="+mn-lt"/>
              </a:rPr>
              <a:t>能够衡量这个细分市场的市场销量与增长率；</a:t>
            </a:r>
            <a:endParaRPr lang="en-US" altLang="zh-CN" sz="1500" dirty="0">
              <a:solidFill>
                <a:srgbClr val="000000"/>
              </a:solidFill>
              <a:latin typeface="Arial" panose="020B0604020202020204" pitchFamily="34" charset="0"/>
              <a:ea typeface="微软雅黑" panose="020B0503020204020204" pitchFamily="34" charset="-122"/>
              <a:cs typeface="+mn-ea"/>
              <a:sym typeface="+mn-lt"/>
            </a:endParaRPr>
          </a:p>
          <a:p>
            <a:pPr lvl="0"/>
            <a:endParaRPr lang="en-US" altLang="zh-CN" sz="1500" dirty="0">
              <a:solidFill>
                <a:srgbClr val="000000"/>
              </a:solidFill>
              <a:latin typeface="Arial" panose="020B0604020202020204" pitchFamily="34" charset="0"/>
              <a:ea typeface="微软雅黑" panose="020B0503020204020204" pitchFamily="34" charset="-122"/>
              <a:cs typeface="+mn-ea"/>
              <a:sym typeface="+mn-lt"/>
            </a:endParaRPr>
          </a:p>
          <a:p>
            <a:pPr lvl="0">
              <a:spcBef>
                <a:spcPts val="600"/>
              </a:spcBef>
            </a:pPr>
            <a:r>
              <a:rPr lang="zh-CN" altLang="zh-CN" sz="1500" b="1" dirty="0">
                <a:solidFill>
                  <a:srgbClr val="C00000"/>
                </a:solidFill>
                <a:latin typeface="Arial" panose="020B0604020202020204" pitchFamily="34" charset="0"/>
                <a:ea typeface="微软雅黑" panose="020B0503020204020204" pitchFamily="34" charset="-122"/>
                <a:cs typeface="+mn-ea"/>
                <a:sym typeface="+mn-lt"/>
              </a:rPr>
              <a:t>可识别性：</a:t>
            </a:r>
            <a:endParaRPr lang="en-US" altLang="zh-CN" sz="1500" b="1" dirty="0">
              <a:solidFill>
                <a:srgbClr val="C00000"/>
              </a:solidFill>
              <a:latin typeface="Arial" panose="020B0604020202020204" pitchFamily="34" charset="0"/>
              <a:ea typeface="微软雅黑" panose="020B0503020204020204" pitchFamily="34" charset="-122"/>
              <a:cs typeface="+mn-ea"/>
              <a:sym typeface="+mn-lt"/>
            </a:endParaRPr>
          </a:p>
          <a:p>
            <a:pPr lvl="0"/>
            <a:r>
              <a:rPr lang="zh-CN" altLang="zh-CN" sz="1500" dirty="0">
                <a:solidFill>
                  <a:srgbClr val="000000"/>
                </a:solidFill>
                <a:latin typeface="Arial" panose="020B0604020202020204" pitchFamily="34" charset="0"/>
                <a:ea typeface="微软雅黑" panose="020B0503020204020204" pitchFamily="34" charset="-122"/>
                <a:cs typeface="+mn-ea"/>
                <a:sym typeface="+mn-lt"/>
              </a:rPr>
              <a:t>能够通过在这个细分市场中目标明确的销售与宣传，高效覆盖各个独特的客户群体。</a:t>
            </a:r>
            <a:r>
              <a:rPr lang="en-US" altLang="zh-CN" sz="1500" dirty="0">
                <a:solidFill>
                  <a:srgbClr val="000000"/>
                </a:solidFill>
                <a:latin typeface="Arial" panose="020B0604020202020204" pitchFamily="34" charset="0"/>
                <a:ea typeface="微软雅黑" panose="020B0503020204020204" pitchFamily="34" charset="-122"/>
                <a:cs typeface="+mn-ea"/>
                <a:sym typeface="+mn-lt"/>
              </a:rPr>
              <a:t/>
            </a:r>
            <a:br>
              <a:rPr lang="en-US" altLang="zh-CN" sz="1500" dirty="0">
                <a:solidFill>
                  <a:srgbClr val="000000"/>
                </a:solidFill>
                <a:latin typeface="Arial" panose="020B0604020202020204" pitchFamily="34" charset="0"/>
                <a:ea typeface="微软雅黑" panose="020B0503020204020204" pitchFamily="34" charset="-122"/>
                <a:cs typeface="+mn-ea"/>
                <a:sym typeface="+mn-lt"/>
              </a:rPr>
            </a:br>
            <a:endParaRPr lang="zh-CN" altLang="en-US" sz="1500" dirty="0">
              <a:solidFill>
                <a:srgbClr val="000000"/>
              </a:solidFill>
              <a:latin typeface="Arial" panose="020B0604020202020204" pitchFamily="34" charset="0"/>
              <a:ea typeface="微软雅黑" panose="020B0503020204020204" pitchFamily="34" charset="-122"/>
              <a:cs typeface="+mn-ea"/>
              <a:sym typeface="+mn-lt"/>
            </a:endParaRPr>
          </a:p>
        </p:txBody>
      </p:sp>
      <p:sp>
        <p:nvSpPr>
          <p:cNvPr id="2" name="标题 1"/>
          <p:cNvSpPr txBox="1"/>
          <p:nvPr/>
        </p:nvSpPr>
        <p:spPr>
          <a:xfrm>
            <a:off x="476281" y="463490"/>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看机会：对市场进行细分，形成战略机会，大且可持续</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3005"/>
            <a:ext cx="12206605" cy="522605"/>
          </a:xfrm>
          <a:prstGeom prst="rect">
            <a:avLst/>
          </a:prstGeom>
        </p:spPr>
      </p:pic>
      <p:sp>
        <p:nvSpPr>
          <p:cNvPr id="4" name="标题 1"/>
          <p:cNvSpPr txBox="1"/>
          <p:nvPr/>
        </p:nvSpPr>
        <p:spPr>
          <a:xfrm>
            <a:off x="462756" y="423900"/>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SPAN图看机会：吃着碗里的</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dirty="0">
                <a:solidFill>
                  <a:srgbClr val="0070C0"/>
                </a:solidFill>
                <a:latin typeface="微软雅黑" panose="020B0503020204020204" pitchFamily="34" charset="-122"/>
                <a:ea typeface="微软雅黑" panose="020B0503020204020204" pitchFamily="34" charset="-122"/>
                <a:cs typeface="+mn-ea"/>
                <a:sym typeface="+mn-lt"/>
              </a:rPr>
              <a:t>看着锅里的</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dirty="0">
                <a:solidFill>
                  <a:srgbClr val="0070C0"/>
                </a:solidFill>
                <a:latin typeface="微软雅黑" panose="020B0503020204020204" pitchFamily="34" charset="-122"/>
                <a:ea typeface="微软雅黑" panose="020B0503020204020204" pitchFamily="34" charset="-122"/>
                <a:cs typeface="+mn-ea"/>
                <a:sym typeface="+mn-lt"/>
              </a:rPr>
              <a:t>望着田里的</a:t>
            </a:r>
          </a:p>
        </p:txBody>
      </p:sp>
      <p:grpSp>
        <p:nvGrpSpPr>
          <p:cNvPr id="33" name="组合 32"/>
          <p:cNvGrpSpPr/>
          <p:nvPr/>
        </p:nvGrpSpPr>
        <p:grpSpPr>
          <a:xfrm>
            <a:off x="1480658" y="982959"/>
            <a:ext cx="8703968" cy="4979055"/>
            <a:chOff x="553" y="1782"/>
            <a:chExt cx="14999" cy="8580"/>
          </a:xfrm>
        </p:grpSpPr>
        <p:grpSp>
          <p:nvGrpSpPr>
            <p:cNvPr id="5" name="组合 32"/>
            <p:cNvGrpSpPr/>
            <p:nvPr/>
          </p:nvGrpSpPr>
          <p:grpSpPr>
            <a:xfrm>
              <a:off x="553" y="2596"/>
              <a:ext cx="14549" cy="7766"/>
              <a:chOff x="1835777" y="1217662"/>
              <a:chExt cx="8423036" cy="4704605"/>
            </a:xfrm>
          </p:grpSpPr>
          <p:sp>
            <p:nvSpPr>
              <p:cNvPr id="6" name="Text Box 2"/>
              <p:cNvSpPr txBox="1">
                <a:spLocks noChangeArrowheads="1"/>
              </p:cNvSpPr>
              <p:nvPr/>
            </p:nvSpPr>
            <p:spPr bwMode="auto">
              <a:xfrm>
                <a:off x="2089817" y="1881689"/>
                <a:ext cx="364902" cy="2465614"/>
              </a:xfrm>
              <a:prstGeom prst="rect">
                <a:avLst/>
              </a:prstGeom>
              <a:noFill/>
              <a:ln w="9525">
                <a:noFill/>
                <a:miter lim="800000"/>
              </a:ln>
            </p:spPr>
            <p:txBody>
              <a:bodyPr vert="eaVert" lIns="91424" tIns="45712" rIns="91424" bIns="45712">
                <a:spAutoFit/>
              </a:bodyPr>
              <a:lstStyle/>
              <a:p>
                <a:pPr marL="0" marR="0" lvl="0" indent="0" algn="ctr" defTabSz="913765" eaLnBrk="0" fontAlgn="auto" latinLnBrk="0" hangingPunct="0">
                  <a:lnSpc>
                    <a:spcPct val="100000"/>
                  </a:lnSpc>
                  <a:spcBef>
                    <a:spcPct val="50000"/>
                  </a:spcBef>
                  <a:spcAft>
                    <a:spcPts val="0"/>
                  </a:spcAft>
                  <a:buClrTx/>
                  <a:buSzTx/>
                  <a:buFontTx/>
                  <a:buNone/>
                  <a:defRPr/>
                </a:pPr>
                <a:r>
                  <a:rPr kumimoji="0" lang="en-US" altLang="en-US" sz="1200" b="1"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市场吸引力</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 </a:t>
                </a:r>
                <a:r>
                  <a:rPr kumimoji="0" lang="en-US"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a:t>
                </a:r>
                <a:r>
                  <a:rPr kumimoji="0" lang="en-US" altLang="en-US" sz="1200" b="1"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利润</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 </a:t>
                </a:r>
                <a:r>
                  <a:rPr kumimoji="0" lang="en-US" altLang="en-US" sz="1200" b="1" i="0" u="none" strike="noStrike" kern="0" cap="none" spc="0" normalizeH="0" baseline="0" noProof="0" dirty="0" err="1">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增长等</a:t>
                </a:r>
                <a:r>
                  <a:rPr kumimoji="0" lang="en-US"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a:t>
                </a:r>
              </a:p>
            </p:txBody>
          </p:sp>
          <p:sp>
            <p:nvSpPr>
              <p:cNvPr id="7" name="Rectangle 3"/>
              <p:cNvSpPr>
                <a:spLocks noChangeArrowheads="1"/>
              </p:cNvSpPr>
              <p:nvPr/>
            </p:nvSpPr>
            <p:spPr bwMode="auto">
              <a:xfrm>
                <a:off x="2960753" y="1219021"/>
                <a:ext cx="3098785" cy="2042433"/>
              </a:xfrm>
              <a:prstGeom prst="rect">
                <a:avLst/>
              </a:prstGeom>
              <a:solidFill>
                <a:srgbClr val="FFFFFF"/>
              </a:solidFill>
              <a:ln w="12700">
                <a:solidFill>
                  <a:srgbClr val="8D898D"/>
                </a:solidFill>
                <a:miter lim="800000"/>
              </a:ln>
            </p:spPr>
            <p:txBody>
              <a:bodyPr lIns="91424" tIns="45712" rIns="91424" bIns="45712"/>
              <a:lstStyle/>
              <a:p>
                <a:pPr marL="0" marR="0" lvl="0" indent="0" algn="ctr" defTabSz="913765"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培育：</a:t>
                </a:r>
              </a:p>
              <a:p>
                <a:pPr marL="0" marR="0" lvl="0" indent="0" algn="ctr" defTabSz="913765"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锅里的</a:t>
                </a:r>
                <a:r>
                  <a:rPr kumimoji="0" lang="en-US" altLang="zh-CN"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a:t>
                </a: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田里的</a:t>
                </a:r>
              </a:p>
            </p:txBody>
          </p:sp>
          <p:sp>
            <p:nvSpPr>
              <p:cNvPr id="8" name="Rectangle 4"/>
              <p:cNvSpPr>
                <a:spLocks noChangeArrowheads="1"/>
              </p:cNvSpPr>
              <p:nvPr/>
            </p:nvSpPr>
            <p:spPr bwMode="auto">
              <a:xfrm>
                <a:off x="2956673" y="3261454"/>
                <a:ext cx="3098785" cy="2042432"/>
              </a:xfrm>
              <a:prstGeom prst="rect">
                <a:avLst/>
              </a:prstGeom>
              <a:solidFill>
                <a:srgbClr val="FFFFFF"/>
              </a:solidFill>
              <a:ln w="12700">
                <a:solidFill>
                  <a:srgbClr val="8D898D"/>
                </a:solidFill>
                <a:miter lim="800000"/>
              </a:ln>
            </p:spPr>
            <p:txBody>
              <a:bodyPr lIns="91424" tIns="45712" rIns="91424" bIns="45712"/>
              <a:lstStyle/>
              <a:p>
                <a:pPr marL="0" marR="0" lvl="0" indent="0" algn="ctr" defTabSz="913765"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瘦狗：</a:t>
                </a:r>
                <a:endParaRPr kumimoji="0" lang="en-US" altLang="zh-CN" sz="1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0" marR="0" lvl="0" indent="0" algn="ctr" defTabSz="913765"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退出</a:t>
                </a:r>
                <a:r>
                  <a:rPr kumimoji="0" lang="zh-CN" altLang="zh-CN" sz="1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a:t>
                </a:r>
                <a:r>
                  <a:rPr kumimoji="0" lang="zh-CN" altLang="en-US" sz="1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重新细分</a:t>
                </a:r>
              </a:p>
            </p:txBody>
          </p:sp>
          <p:sp>
            <p:nvSpPr>
              <p:cNvPr id="9" name="Rectangle 5"/>
              <p:cNvSpPr>
                <a:spLocks noChangeArrowheads="1"/>
              </p:cNvSpPr>
              <p:nvPr/>
            </p:nvSpPr>
            <p:spPr bwMode="auto">
              <a:xfrm>
                <a:off x="6055458" y="1217662"/>
                <a:ext cx="3098785" cy="2043793"/>
              </a:xfrm>
              <a:prstGeom prst="rect">
                <a:avLst/>
              </a:prstGeom>
              <a:solidFill>
                <a:srgbClr val="FFFFFF"/>
              </a:solidFill>
              <a:ln w="12700">
                <a:solidFill>
                  <a:srgbClr val="8D898D"/>
                </a:solidFill>
                <a:miter lim="800000"/>
              </a:ln>
            </p:spPr>
            <p:txBody>
              <a:bodyPr lIns="91424" tIns="45712" rIns="91424" bIns="45712"/>
              <a:lstStyle/>
              <a:p>
                <a:pPr marL="0" marR="0" lvl="0" indent="0" algn="ctr" defTabSz="913765"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明星</a:t>
                </a:r>
                <a:endParaRPr kumimoji="0" lang="en-US" altLang="zh-CN"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0" marR="0" lvl="0" indent="0" algn="ctr" defTabSz="913765"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碗里的</a:t>
                </a:r>
                <a:r>
                  <a:rPr kumimoji="0" lang="en-US" altLang="zh-CN"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a:t>
                </a: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锅里的</a:t>
                </a:r>
              </a:p>
            </p:txBody>
          </p:sp>
          <p:sp>
            <p:nvSpPr>
              <p:cNvPr id="10" name="Rectangle 6"/>
              <p:cNvSpPr>
                <a:spLocks noChangeArrowheads="1"/>
              </p:cNvSpPr>
              <p:nvPr/>
            </p:nvSpPr>
            <p:spPr bwMode="auto">
              <a:xfrm>
                <a:off x="6059538" y="3264176"/>
                <a:ext cx="3098785" cy="2041071"/>
              </a:xfrm>
              <a:prstGeom prst="rect">
                <a:avLst/>
              </a:prstGeom>
              <a:solidFill>
                <a:srgbClr val="FFFFFF"/>
              </a:solidFill>
              <a:ln w="12700">
                <a:solidFill>
                  <a:srgbClr val="8D898D"/>
                </a:solidFill>
                <a:miter lim="800000"/>
              </a:ln>
            </p:spPr>
            <p:txBody>
              <a:bodyPr lIns="91424" tIns="45712" rIns="91424" bIns="45712"/>
              <a:lstStyle/>
              <a:p>
                <a:pPr marL="0" marR="0" lvl="0" indent="0" algn="ctr" defTabSz="913765"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金牛</a:t>
                </a:r>
                <a:r>
                  <a:rPr kumimoji="0" lang="en-US" altLang="zh-CN"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
                </a:r>
                <a:br>
                  <a:rPr kumimoji="0" lang="en-US" altLang="zh-CN"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b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碗里的</a:t>
                </a:r>
              </a:p>
            </p:txBody>
          </p:sp>
          <p:sp>
            <p:nvSpPr>
              <p:cNvPr id="11" name="Text Box 7"/>
              <p:cNvSpPr txBox="1">
                <a:spLocks noChangeArrowheads="1"/>
              </p:cNvSpPr>
              <p:nvPr/>
            </p:nvSpPr>
            <p:spPr bwMode="auto">
              <a:xfrm>
                <a:off x="1835777" y="1219022"/>
                <a:ext cx="1033835" cy="286367"/>
              </a:xfrm>
              <a:prstGeom prst="rect">
                <a:avLst/>
              </a:prstGeom>
              <a:noFill/>
              <a:ln w="9525">
                <a:noFill/>
                <a:miter lim="800000"/>
              </a:ln>
            </p:spPr>
            <p:txBody>
              <a:bodyPr lIns="91424" tIns="45712" rIns="91424" bIns="45712">
                <a:spAutoFit/>
              </a:bodyPr>
              <a:lstStyle/>
              <a:p>
                <a:pPr marL="0" marR="0" lvl="0" indent="0" algn="r" defTabSz="913765" eaLnBrk="0" fontAlgn="auto" latinLnBrk="0" hangingPunct="0">
                  <a:lnSpc>
                    <a:spcPct val="100000"/>
                  </a:lnSpc>
                  <a:spcBef>
                    <a:spcPct val="50000"/>
                  </a:spcBef>
                  <a:spcAft>
                    <a:spcPts val="0"/>
                  </a:spcAft>
                  <a:buClrTx/>
                  <a:buSzTx/>
                  <a:buFontTx/>
                  <a:buNone/>
                  <a:defRPr/>
                </a:pPr>
                <a:r>
                  <a:rPr kumimoji="0" lang="en-US"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高</a:t>
                </a:r>
              </a:p>
            </p:txBody>
          </p:sp>
          <p:sp>
            <p:nvSpPr>
              <p:cNvPr id="12" name="Text Box 8"/>
              <p:cNvSpPr txBox="1">
                <a:spLocks noChangeArrowheads="1"/>
              </p:cNvSpPr>
              <p:nvPr/>
            </p:nvSpPr>
            <p:spPr bwMode="auto">
              <a:xfrm>
                <a:off x="1835777" y="5043990"/>
                <a:ext cx="1033835" cy="286367"/>
              </a:xfrm>
              <a:prstGeom prst="rect">
                <a:avLst/>
              </a:prstGeom>
              <a:noFill/>
              <a:ln w="9525">
                <a:noFill/>
                <a:miter lim="800000"/>
              </a:ln>
            </p:spPr>
            <p:txBody>
              <a:bodyPr lIns="91424" tIns="45712" rIns="91424" bIns="45712">
                <a:spAutoFit/>
              </a:bodyPr>
              <a:lstStyle/>
              <a:p>
                <a:pPr marL="0" marR="0" lvl="0" indent="0" algn="r" defTabSz="913765" eaLnBrk="0" fontAlgn="auto" latinLnBrk="0" hangingPunct="0">
                  <a:lnSpc>
                    <a:spcPct val="100000"/>
                  </a:lnSpc>
                  <a:spcBef>
                    <a:spcPct val="50000"/>
                  </a:spcBef>
                  <a:spcAft>
                    <a:spcPts val="0"/>
                  </a:spcAft>
                  <a:buClrTx/>
                  <a:buSzTx/>
                  <a:buFontTx/>
                  <a:buNone/>
                  <a:defRPr/>
                </a:pPr>
                <a:r>
                  <a:rPr kumimoji="0" lang="en-US"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低</a:t>
                </a:r>
              </a:p>
            </p:txBody>
          </p:sp>
          <p:sp>
            <p:nvSpPr>
              <p:cNvPr id="13" name="Text Box 9"/>
              <p:cNvSpPr txBox="1">
                <a:spLocks noChangeArrowheads="1"/>
              </p:cNvSpPr>
              <p:nvPr/>
            </p:nvSpPr>
            <p:spPr bwMode="auto">
              <a:xfrm>
                <a:off x="8079598" y="5359675"/>
                <a:ext cx="1033835" cy="286367"/>
              </a:xfrm>
              <a:prstGeom prst="rect">
                <a:avLst/>
              </a:prstGeom>
              <a:noFill/>
              <a:ln w="9525">
                <a:noFill/>
                <a:miter lim="800000"/>
              </a:ln>
            </p:spPr>
            <p:txBody>
              <a:bodyPr lIns="91424" tIns="45712" rIns="91424" bIns="45712">
                <a:spAutoFit/>
              </a:bodyPr>
              <a:lstStyle/>
              <a:p>
                <a:pPr marL="0" marR="0" lvl="0" indent="0" algn="r" defTabSz="913765" eaLnBrk="0" fontAlgn="auto" latinLnBrk="0" hangingPunct="0">
                  <a:lnSpc>
                    <a:spcPct val="100000"/>
                  </a:lnSpc>
                  <a:spcBef>
                    <a:spcPct val="50000"/>
                  </a:spcBef>
                  <a:spcAft>
                    <a:spcPts val="0"/>
                  </a:spcAft>
                  <a:buClrTx/>
                  <a:buSzTx/>
                  <a:buFontTx/>
                  <a:buNone/>
                  <a:defRPr/>
                </a:pPr>
                <a:r>
                  <a:rPr kumimoji="0" lang="en-US"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高</a:t>
                </a:r>
              </a:p>
            </p:txBody>
          </p:sp>
          <p:sp>
            <p:nvSpPr>
              <p:cNvPr id="14" name="Text Box 10"/>
              <p:cNvSpPr txBox="1">
                <a:spLocks noChangeArrowheads="1"/>
              </p:cNvSpPr>
              <p:nvPr/>
            </p:nvSpPr>
            <p:spPr bwMode="auto">
              <a:xfrm>
                <a:off x="2994761" y="5359675"/>
                <a:ext cx="1033835" cy="286367"/>
              </a:xfrm>
              <a:prstGeom prst="rect">
                <a:avLst/>
              </a:prstGeom>
              <a:noFill/>
              <a:ln w="9525">
                <a:noFill/>
                <a:miter lim="800000"/>
              </a:ln>
            </p:spPr>
            <p:txBody>
              <a:bodyPr lIns="91424" tIns="45712" rIns="91424" bIns="45712">
                <a:spAutoFit/>
              </a:bodyPr>
              <a:lstStyle/>
              <a:p>
                <a:pPr marL="0" marR="0" lvl="0" indent="0" defTabSz="913765" eaLnBrk="0" fontAlgn="auto" latinLnBrk="0" hangingPunct="0">
                  <a:lnSpc>
                    <a:spcPct val="100000"/>
                  </a:lnSpc>
                  <a:spcBef>
                    <a:spcPct val="50000"/>
                  </a:spcBef>
                  <a:spcAft>
                    <a:spcPts val="0"/>
                  </a:spcAft>
                  <a:buClrTx/>
                  <a:buSzTx/>
                  <a:buFontTx/>
                  <a:buNone/>
                  <a:defRPr/>
                </a:pPr>
                <a:r>
                  <a:rPr kumimoji="0" lang="en-US"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低</a:t>
                </a:r>
              </a:p>
            </p:txBody>
          </p:sp>
          <p:sp>
            <p:nvSpPr>
              <p:cNvPr id="15" name="Line 11"/>
              <p:cNvSpPr>
                <a:spLocks noChangeShapeType="1"/>
              </p:cNvSpPr>
              <p:nvPr/>
            </p:nvSpPr>
            <p:spPr bwMode="auto">
              <a:xfrm flipV="1">
                <a:off x="2634279" y="1578250"/>
                <a:ext cx="0" cy="3420836"/>
              </a:xfrm>
              <a:prstGeom prst="line">
                <a:avLst/>
              </a:prstGeom>
              <a:noFill/>
              <a:ln w="12700">
                <a:solidFill>
                  <a:srgbClr val="000000"/>
                </a:solidFill>
                <a:round/>
                <a:tailEnd type="triangle" w="med" len="med"/>
              </a:ln>
            </p:spPr>
            <p:txBody>
              <a:bodyPr wrap="none" lIns="78355" tIns="39177" rIns="78355" bIns="39177"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16" name="Line 12"/>
              <p:cNvSpPr>
                <a:spLocks noChangeShapeType="1"/>
              </p:cNvSpPr>
              <p:nvPr/>
            </p:nvSpPr>
            <p:spPr bwMode="auto">
              <a:xfrm>
                <a:off x="3489914" y="5450843"/>
                <a:ext cx="5041307" cy="0"/>
              </a:xfrm>
              <a:prstGeom prst="line">
                <a:avLst/>
              </a:prstGeom>
              <a:noFill/>
              <a:ln w="12700">
                <a:solidFill>
                  <a:srgbClr val="000000"/>
                </a:solidFill>
                <a:round/>
                <a:tailEnd type="triangle" w="med" len="med"/>
              </a:ln>
            </p:spPr>
            <p:txBody>
              <a:bodyPr wrap="none" lIns="78355" tIns="39177" rIns="78355" bIns="39177"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17" name="Oval 13"/>
              <p:cNvSpPr>
                <a:spLocks noChangeArrowheads="1"/>
              </p:cNvSpPr>
              <p:nvPr/>
            </p:nvSpPr>
            <p:spPr bwMode="auto">
              <a:xfrm>
                <a:off x="6953261" y="2664101"/>
                <a:ext cx="580852" cy="581025"/>
              </a:xfrm>
              <a:prstGeom prst="ellipse">
                <a:avLst/>
              </a:prstGeom>
              <a:solidFill>
                <a:srgbClr val="FFCC00"/>
              </a:solidFill>
              <a:ln w="12700">
                <a:solidFill>
                  <a:srgbClr val="000000"/>
                </a:solidFill>
                <a:round/>
              </a:ln>
            </p:spPr>
            <p:txBody>
              <a:bodyPr lIns="91424" tIns="45712" rIns="55426" bIns="45712" anchor="ctr"/>
              <a:lstStyle/>
              <a:p>
                <a:pPr marL="0" marR="0" lvl="0" indent="0" algn="ctr" defTabSz="913765" eaLnBrk="0" fontAlgn="auto" latinLnBrk="0" hangingPunct="0">
                  <a:lnSpc>
                    <a:spcPct val="100000"/>
                  </a:lnSpc>
                  <a:spcBef>
                    <a:spcPts val="0"/>
                  </a:spcBef>
                  <a:spcAft>
                    <a:spcPts val="0"/>
                  </a:spcAft>
                  <a:buClrTx/>
                  <a:buSzTx/>
                  <a:buFontTx/>
                  <a:buNone/>
                  <a:defRPr/>
                </a:pPr>
                <a:r>
                  <a:rPr kumimoji="0" lang="en-US" altLang="en-US" sz="1000" b="1"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无线</a:t>
                </a: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 3G</a:t>
                </a:r>
              </a:p>
            </p:txBody>
          </p:sp>
          <p:sp>
            <p:nvSpPr>
              <p:cNvPr id="18" name="Oval 14"/>
              <p:cNvSpPr>
                <a:spLocks noChangeArrowheads="1"/>
              </p:cNvSpPr>
              <p:nvPr/>
            </p:nvSpPr>
            <p:spPr bwMode="auto">
              <a:xfrm>
                <a:off x="3389251" y="1975579"/>
                <a:ext cx="371364" cy="371475"/>
              </a:xfrm>
              <a:prstGeom prst="ellipse">
                <a:avLst/>
              </a:prstGeom>
              <a:solidFill>
                <a:srgbClr val="E74A2E"/>
              </a:solidFill>
              <a:ln w="12700">
                <a:solidFill>
                  <a:srgbClr val="000000"/>
                </a:solidFill>
                <a:round/>
              </a:ln>
            </p:spPr>
            <p:txBody>
              <a:bodyPr wrap="none" lIns="91424" tIns="45712" rIns="91424" bIns="45712" anchor="ctr"/>
              <a:lstStyle/>
              <a:p>
                <a:pPr marL="0" marR="0" lvl="0" indent="0" algn="ctr" defTabSz="913765"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xTV</a:t>
                </a:r>
              </a:p>
            </p:txBody>
          </p:sp>
          <p:sp>
            <p:nvSpPr>
              <p:cNvPr id="19" name="Oval 15"/>
              <p:cNvSpPr>
                <a:spLocks noChangeArrowheads="1"/>
              </p:cNvSpPr>
              <p:nvPr/>
            </p:nvSpPr>
            <p:spPr bwMode="auto">
              <a:xfrm>
                <a:off x="9238582" y="3857447"/>
                <a:ext cx="584933" cy="585107"/>
              </a:xfrm>
              <a:prstGeom prst="ellipse">
                <a:avLst/>
              </a:prstGeom>
              <a:solidFill>
                <a:srgbClr val="E74A2E"/>
              </a:solidFill>
              <a:ln w="12700">
                <a:solidFill>
                  <a:srgbClr val="000000"/>
                </a:solidFill>
                <a:round/>
              </a:ln>
            </p:spPr>
            <p:txBody>
              <a:bodyPr wrap="none" lIns="91424" tIns="45712" rIns="91424" bIns="45712" anchor="ctr"/>
              <a:lstStyle/>
              <a:p>
                <a:pPr marL="0" marR="0" lvl="0" indent="0" algn="ctr" defTabSz="913765"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 </a:t>
                </a:r>
              </a:p>
            </p:txBody>
          </p:sp>
          <p:sp>
            <p:nvSpPr>
              <p:cNvPr id="20" name="Text Box 16"/>
              <p:cNvSpPr txBox="1">
                <a:spLocks noChangeArrowheads="1"/>
              </p:cNvSpPr>
              <p:nvPr/>
            </p:nvSpPr>
            <p:spPr bwMode="auto">
              <a:xfrm>
                <a:off x="9088947" y="2664101"/>
                <a:ext cx="972621" cy="286367"/>
              </a:xfrm>
              <a:prstGeom prst="rect">
                <a:avLst/>
              </a:prstGeom>
              <a:noFill/>
              <a:ln w="9525">
                <a:noFill/>
                <a:miter lim="800000"/>
              </a:ln>
            </p:spPr>
            <p:txBody>
              <a:bodyPr lIns="91424" tIns="45712" rIns="91424" bIns="45712">
                <a:spAutoFit/>
              </a:bodyPr>
              <a:lstStyle/>
              <a:p>
                <a:pPr marL="0" marR="0" lvl="0" indent="0" algn="ctr" defTabSz="913765"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市场空间：</a:t>
                </a:r>
              </a:p>
            </p:txBody>
          </p:sp>
          <p:sp>
            <p:nvSpPr>
              <p:cNvPr id="21" name="Oval 17"/>
              <p:cNvSpPr>
                <a:spLocks noChangeArrowheads="1"/>
              </p:cNvSpPr>
              <p:nvPr/>
            </p:nvSpPr>
            <p:spPr bwMode="auto">
              <a:xfrm>
                <a:off x="9381413" y="2994754"/>
                <a:ext cx="299268" cy="297996"/>
              </a:xfrm>
              <a:prstGeom prst="ellipse">
                <a:avLst/>
              </a:prstGeom>
              <a:solidFill>
                <a:srgbClr val="E74A2E"/>
              </a:solidFill>
              <a:ln w="12700">
                <a:solidFill>
                  <a:srgbClr val="000000"/>
                </a:solidFill>
                <a:round/>
              </a:ln>
            </p:spPr>
            <p:txBody>
              <a:bodyPr wrap="none" lIns="91424" tIns="45712" rIns="91424" bIns="45712" anchor="ctr"/>
              <a:lstStyle/>
              <a:p>
                <a:pPr marL="0" marR="0" lvl="0" indent="0" algn="ctr" defTabSz="913765" eaLnBrk="0" fontAlgn="auto" latinLnBrk="0" hangingPunct="0">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 </a:t>
                </a:r>
              </a:p>
            </p:txBody>
          </p:sp>
          <p:sp>
            <p:nvSpPr>
              <p:cNvPr id="22" name="Line 18"/>
              <p:cNvSpPr>
                <a:spLocks noChangeShapeType="1"/>
              </p:cNvSpPr>
              <p:nvPr/>
            </p:nvSpPr>
            <p:spPr bwMode="auto">
              <a:xfrm>
                <a:off x="9531047" y="3292750"/>
                <a:ext cx="0" cy="564697"/>
              </a:xfrm>
              <a:prstGeom prst="line">
                <a:avLst/>
              </a:prstGeom>
              <a:noFill/>
              <a:ln w="12700">
                <a:solidFill>
                  <a:srgbClr val="000000"/>
                </a:solidFill>
                <a:round/>
                <a:tailEnd type="triangle" w="med" len="med"/>
              </a:ln>
            </p:spPr>
            <p:txBody>
              <a:bodyPr wrap="none" lIns="78355" tIns="39177" rIns="78355" bIns="39177"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srgbClr val="000000"/>
                  </a:solidFill>
                  <a:effectLst/>
                  <a:uLnTx/>
                  <a:uFillTx/>
                  <a:latin typeface="+mn-lt"/>
                  <a:ea typeface="+mn-ea"/>
                  <a:cs typeface="+mn-ea"/>
                  <a:sym typeface="+mn-lt"/>
                </a:endParaRPr>
              </a:p>
            </p:txBody>
          </p:sp>
          <p:sp>
            <p:nvSpPr>
              <p:cNvPr id="23" name="Text Box 19"/>
              <p:cNvSpPr txBox="1">
                <a:spLocks noChangeArrowheads="1"/>
              </p:cNvSpPr>
              <p:nvPr/>
            </p:nvSpPr>
            <p:spPr bwMode="auto">
              <a:xfrm>
                <a:off x="9828955" y="3016525"/>
                <a:ext cx="429858" cy="254549"/>
              </a:xfrm>
              <a:prstGeom prst="rect">
                <a:avLst/>
              </a:prstGeom>
              <a:noFill/>
              <a:ln w="9525">
                <a:noFill/>
                <a:miter lim="800000"/>
              </a:ln>
            </p:spPr>
            <p:txBody>
              <a:bodyPr lIns="0" tIns="45712" rIns="0" bIns="45712">
                <a:spAutoFit/>
              </a:bodyPr>
              <a:lstStyle/>
              <a:p>
                <a:pPr marL="0" marR="0" lvl="0" indent="0" algn="ctr" defTabSz="913765" eaLnBrk="0" fontAlgn="auto" latinLnBrk="0" hangingPunct="0">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$1</a:t>
                </a: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亿</a:t>
                </a:r>
              </a:p>
            </p:txBody>
          </p:sp>
          <p:sp>
            <p:nvSpPr>
              <p:cNvPr id="24" name="Text Box 20"/>
              <p:cNvSpPr txBox="1">
                <a:spLocks noChangeArrowheads="1"/>
              </p:cNvSpPr>
              <p:nvPr/>
            </p:nvSpPr>
            <p:spPr bwMode="auto">
              <a:xfrm>
                <a:off x="9828955" y="4027536"/>
                <a:ext cx="429858" cy="254549"/>
              </a:xfrm>
              <a:prstGeom prst="rect">
                <a:avLst/>
              </a:prstGeom>
              <a:noFill/>
              <a:ln w="9525">
                <a:noFill/>
                <a:miter lim="800000"/>
              </a:ln>
            </p:spPr>
            <p:txBody>
              <a:bodyPr lIns="0" tIns="45712" rIns="0" bIns="45712">
                <a:spAutoFit/>
              </a:bodyPr>
              <a:lstStyle/>
              <a:p>
                <a:pPr marL="0" marR="0" lvl="0" indent="0" algn="ctr" defTabSz="913765" eaLnBrk="0" fontAlgn="auto" latinLnBrk="0" hangingPunct="0">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$5</a:t>
                </a: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亿</a:t>
                </a:r>
              </a:p>
            </p:txBody>
          </p:sp>
          <p:sp>
            <p:nvSpPr>
              <p:cNvPr id="25" name="Oval 23"/>
              <p:cNvSpPr>
                <a:spLocks noChangeArrowheads="1"/>
              </p:cNvSpPr>
              <p:nvPr/>
            </p:nvSpPr>
            <p:spPr bwMode="auto">
              <a:xfrm>
                <a:off x="6347923" y="4027536"/>
                <a:ext cx="745450" cy="634093"/>
              </a:xfrm>
              <a:prstGeom prst="ellipse">
                <a:avLst/>
              </a:prstGeom>
              <a:solidFill>
                <a:srgbClr val="8D898D"/>
              </a:solidFill>
              <a:ln w="12700">
                <a:solidFill>
                  <a:srgbClr val="000000"/>
                </a:solidFill>
                <a:round/>
              </a:ln>
            </p:spPr>
            <p:txBody>
              <a:bodyPr lIns="0" tIns="45712" rIns="19428" bIns="45712" anchor="ctr"/>
              <a:lstStyle/>
              <a:p>
                <a:pPr marL="0" marR="0" lvl="0" indent="0" algn="ctr" defTabSz="913765" eaLnBrk="0" fontAlgn="auto" latinLnBrk="0" hangingPunct="0">
                  <a:lnSpc>
                    <a:spcPct val="100000"/>
                  </a:lnSpc>
                  <a:spcBef>
                    <a:spcPts val="0"/>
                  </a:spcBef>
                  <a:spcAft>
                    <a:spcPts val="0"/>
                  </a:spcAft>
                  <a:buClrTx/>
                  <a:buSzTx/>
                  <a:buFontTx/>
                  <a:buNone/>
                  <a:defRPr/>
                </a:pPr>
                <a:r>
                  <a:rPr kumimoji="0" lang="en-US" altLang="en-US" sz="900" b="1"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网络</a:t>
                </a:r>
                <a:r>
                  <a:rPr kumimoji="0" lang="en-US" altLang="zh-CN" sz="9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-IMS</a:t>
                </a:r>
              </a:p>
            </p:txBody>
          </p:sp>
          <p:sp>
            <p:nvSpPr>
              <p:cNvPr id="26" name="Oval 24"/>
              <p:cNvSpPr>
                <a:spLocks noChangeArrowheads="1"/>
              </p:cNvSpPr>
              <p:nvPr/>
            </p:nvSpPr>
            <p:spPr bwMode="auto">
              <a:xfrm>
                <a:off x="4644816" y="3016526"/>
                <a:ext cx="387689" cy="387803"/>
              </a:xfrm>
              <a:prstGeom prst="ellipse">
                <a:avLst/>
              </a:prstGeom>
              <a:solidFill>
                <a:srgbClr val="66FF99"/>
              </a:solidFill>
              <a:ln w="12700">
                <a:solidFill>
                  <a:srgbClr val="000000"/>
                </a:solidFill>
                <a:round/>
              </a:ln>
            </p:spPr>
            <p:txBody>
              <a:bodyPr wrap="none" lIns="91424" tIns="45712" rIns="91424" bIns="45712" anchor="ctr"/>
              <a:lstStyle/>
              <a:p>
                <a:pPr marL="0" marR="0" lvl="0" indent="0" algn="ctr" defTabSz="913765"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软件</a:t>
                </a:r>
              </a:p>
            </p:txBody>
          </p:sp>
          <p:sp>
            <p:nvSpPr>
              <p:cNvPr id="27" name="Oval 26"/>
              <p:cNvSpPr>
                <a:spLocks noChangeArrowheads="1"/>
              </p:cNvSpPr>
              <p:nvPr/>
            </p:nvSpPr>
            <p:spPr bwMode="auto">
              <a:xfrm>
                <a:off x="3096784" y="2875012"/>
                <a:ext cx="197245" cy="197303"/>
              </a:xfrm>
              <a:prstGeom prst="ellipse">
                <a:avLst/>
              </a:prstGeom>
              <a:solidFill>
                <a:srgbClr val="2183D9"/>
              </a:solidFill>
              <a:ln w="12700">
                <a:solidFill>
                  <a:srgbClr val="000000"/>
                </a:solidFill>
                <a:round/>
              </a:ln>
            </p:spPr>
            <p:txBody>
              <a:bodyPr wrap="none" lIns="91424" tIns="45712" rIns="91424" bIns="45712" anchor="ctr"/>
              <a:lstStyle/>
              <a:p>
                <a:pPr marL="0" marR="0" lvl="0" indent="0" algn="ctr" defTabSz="913765" eaLnBrk="0" fontAlgn="auto" latinLnBrk="0" hangingPunct="0">
                  <a:lnSpc>
                    <a:spcPct val="100000"/>
                  </a:lnSpc>
                  <a:spcBef>
                    <a:spcPts val="0"/>
                  </a:spcBef>
                  <a:spcAft>
                    <a:spcPts val="0"/>
                  </a:spcAft>
                  <a:buClrTx/>
                  <a:buSzTx/>
                  <a:buFontTx/>
                  <a:buNone/>
                  <a:defRPr/>
                </a:pP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8" name="Rectangle 27"/>
              <p:cNvSpPr>
                <a:spLocks noChangeArrowheads="1"/>
              </p:cNvSpPr>
              <p:nvPr/>
            </p:nvSpPr>
            <p:spPr bwMode="auto">
              <a:xfrm>
                <a:off x="3208083" y="2845140"/>
                <a:ext cx="666180" cy="286367"/>
              </a:xfrm>
              <a:prstGeom prst="rect">
                <a:avLst/>
              </a:prstGeom>
              <a:noFill/>
              <a:ln w="9525">
                <a:noFill/>
                <a:miter lim="800000"/>
              </a:ln>
            </p:spPr>
            <p:txBody>
              <a:bodyPr wrap="square" lIns="91424" tIns="45712" rIns="91424" bIns="45712">
                <a:spAutoFit/>
              </a:bodyPr>
              <a:lstStyle/>
              <a:p>
                <a:pPr marL="0" marR="0" lvl="0" indent="0" algn="ctr" defTabSz="913765"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终端</a:t>
                </a:r>
              </a:p>
            </p:txBody>
          </p:sp>
          <p:sp>
            <p:nvSpPr>
              <p:cNvPr id="29" name="Oval 28"/>
              <p:cNvSpPr>
                <a:spLocks noChangeArrowheads="1"/>
              </p:cNvSpPr>
              <p:nvPr/>
            </p:nvSpPr>
            <p:spPr bwMode="auto">
              <a:xfrm>
                <a:off x="7870110" y="1685747"/>
                <a:ext cx="918208" cy="978353"/>
              </a:xfrm>
              <a:prstGeom prst="ellipse">
                <a:avLst/>
              </a:prstGeom>
              <a:solidFill>
                <a:srgbClr val="FFCC00"/>
              </a:solidFill>
              <a:ln w="12700">
                <a:solidFill>
                  <a:srgbClr val="000000"/>
                </a:solidFill>
                <a:round/>
              </a:ln>
            </p:spPr>
            <p:txBody>
              <a:bodyPr lIns="91424" tIns="45712" rIns="55426" bIns="45712" anchor="ctr"/>
              <a:lstStyle/>
              <a:p>
                <a:pPr marL="0" marR="0" lvl="0" indent="0" algn="ctr" defTabSz="913765" eaLnBrk="0" fontAlgn="auto" latinLnBrk="0" hangingPunct="0">
                  <a:lnSpc>
                    <a:spcPct val="100000"/>
                  </a:lnSpc>
                  <a:spcBef>
                    <a:spcPts val="0"/>
                  </a:spcBef>
                  <a:spcAft>
                    <a:spcPts val="0"/>
                  </a:spcAft>
                  <a:buClrTx/>
                  <a:buSzTx/>
                  <a:buFontTx/>
                  <a:buNone/>
                  <a:defRPr/>
                </a:pPr>
                <a:r>
                  <a:rPr kumimoji="0" lang="en-US" altLang="en-US" sz="1000" b="1"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无线</a:t>
                </a:r>
                <a:endParaRPr kumimoji="0" lang="en-US" altLang="en-US"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0" marR="0" lvl="0" indent="0" algn="ctr" defTabSz="913765" eaLnBrk="0" fontAlgn="auto" latinLnBrk="0" hangingPunct="0">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- 4G</a:t>
                </a:r>
              </a:p>
            </p:txBody>
          </p:sp>
          <p:sp>
            <p:nvSpPr>
              <p:cNvPr id="30" name="Oval 29"/>
              <p:cNvSpPr>
                <a:spLocks noChangeArrowheads="1"/>
              </p:cNvSpPr>
              <p:nvPr/>
            </p:nvSpPr>
            <p:spPr bwMode="auto">
              <a:xfrm>
                <a:off x="7334148" y="4586790"/>
                <a:ext cx="745450" cy="632732"/>
              </a:xfrm>
              <a:prstGeom prst="ellipse">
                <a:avLst/>
              </a:prstGeom>
              <a:solidFill>
                <a:srgbClr val="8D898D"/>
              </a:solidFill>
              <a:ln w="12700">
                <a:solidFill>
                  <a:srgbClr val="000000"/>
                </a:solidFill>
                <a:round/>
              </a:ln>
            </p:spPr>
            <p:txBody>
              <a:bodyPr lIns="0" tIns="45712" rIns="19428" bIns="45712" anchor="ctr"/>
              <a:lstStyle/>
              <a:p>
                <a:pPr marL="0" marR="0" lvl="0" indent="0" algn="ctr" defTabSz="913765" eaLnBrk="0" fontAlgn="auto" latinLnBrk="0" hangingPunct="0">
                  <a:lnSpc>
                    <a:spcPct val="100000"/>
                  </a:lnSpc>
                  <a:spcBef>
                    <a:spcPts val="0"/>
                  </a:spcBef>
                  <a:spcAft>
                    <a:spcPts val="0"/>
                  </a:spcAft>
                  <a:buClrTx/>
                  <a:buSzTx/>
                  <a:buFontTx/>
                  <a:buNone/>
                  <a:defRPr/>
                </a:pPr>
                <a:r>
                  <a:rPr kumimoji="0" lang="en-US" altLang="en-US" sz="900" b="1"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网络</a:t>
                </a:r>
                <a:r>
                  <a:rPr kumimoji="0" lang="en-US" altLang="zh-CN" sz="9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a:t>
                </a:r>
                <a:r>
                  <a:rPr kumimoji="0" lang="zh-CN" altLang="en-US" sz="9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接入</a:t>
                </a:r>
              </a:p>
            </p:txBody>
          </p:sp>
          <p:sp>
            <p:nvSpPr>
              <p:cNvPr id="31" name="Text Box 30"/>
              <p:cNvSpPr txBox="1">
                <a:spLocks noChangeArrowheads="1"/>
              </p:cNvSpPr>
              <p:nvPr/>
            </p:nvSpPr>
            <p:spPr bwMode="auto">
              <a:xfrm>
                <a:off x="3811039" y="5635900"/>
                <a:ext cx="4143404" cy="286367"/>
              </a:xfrm>
              <a:prstGeom prst="rect">
                <a:avLst/>
              </a:prstGeom>
              <a:noFill/>
              <a:ln w="9525">
                <a:noFill/>
                <a:miter lim="800000"/>
              </a:ln>
            </p:spPr>
            <p:txBody>
              <a:bodyPr wrap="square" lIns="91424" tIns="45712" rIns="91424" bIns="45712">
                <a:spAutoFit/>
              </a:bodyPr>
              <a:lstStyle/>
              <a:p>
                <a:pPr marL="0" marR="0" lvl="0" indent="0" algn="ctr" defTabSz="913765" eaLnBrk="0" fontAlgn="auto" latinLnBrk="0" hangingPunct="0">
                  <a:lnSpc>
                    <a:spcPct val="100000"/>
                  </a:lnSpc>
                  <a:spcBef>
                    <a:spcPct val="50000"/>
                  </a:spcBef>
                  <a:spcAft>
                    <a:spcPts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公司的竞争地位（</a:t>
                </a:r>
                <a:r>
                  <a:rPr kumimoji="0" lang="zh-CN" altLang="en-US" sz="1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市场份额</a:t>
                </a:r>
                <a:r>
                  <a:rPr kumimoji="0" lang="zh-CN" altLang="zh-CN" sz="1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 </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控制点</a:t>
                </a:r>
                <a:r>
                  <a:rPr kumimoji="0" lang="zh-CN"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 </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竞争优势等）</a:t>
                </a:r>
              </a:p>
            </p:txBody>
          </p:sp>
        </p:grpSp>
        <p:sp>
          <p:nvSpPr>
            <p:cNvPr id="32" name="矩形 31"/>
            <p:cNvSpPr/>
            <p:nvPr/>
          </p:nvSpPr>
          <p:spPr>
            <a:xfrm>
              <a:off x="2461" y="1782"/>
              <a:ext cx="13091" cy="1006"/>
            </a:xfrm>
            <a:prstGeom prst="rect">
              <a:avLst/>
            </a:prstGeom>
          </p:spPr>
          <p:txBody>
            <a:bodyPr wrap="square">
              <a:spAutoFit/>
            </a:bodyPr>
            <a:lstStyle/>
            <a:p>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sym typeface="+mn-lt"/>
                </a:rPr>
                <a:t>SPAN:Strategy</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lt"/>
                </a:rPr>
                <a:t> Positioning Analysis</a:t>
              </a:r>
              <a:r>
                <a:rPr lang="zh-CN" altLang="zh-CN" sz="1600" dirty="0">
                  <a:latin typeface="微软雅黑" panose="020B0503020204020204" pitchFamily="34" charset="-122"/>
                  <a:ea typeface="微软雅黑" panose="020B0503020204020204" pitchFamily="34" charset="-122"/>
                  <a:cs typeface="微软雅黑" panose="020B0503020204020204" pitchFamily="34" charset="-122"/>
                  <a:sym typeface="+mn-lt"/>
                </a:rPr>
                <a:t>战略定位分析</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市场地位</a:t>
              </a:r>
              <a:r>
                <a:rPr lang="en-US" altLang="zh-CN"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增长率</a:t>
              </a:r>
              <a:r>
                <a:rPr lang="en-US" altLang="zh-CN"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市场空间</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lt"/>
                </a:rPr>
                <a:t/>
              </a:r>
              <a:b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lt"/>
                </a:rPr>
              </a:b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sp>
        <p:nvSpPr>
          <p:cNvPr id="35" name="Rectangle 3"/>
          <p:cNvSpPr txBox="1">
            <a:spLocks noChangeArrowheads="1"/>
          </p:cNvSpPr>
          <p:nvPr/>
        </p:nvSpPr>
        <p:spPr bwMode="auto">
          <a:xfrm>
            <a:off x="1991360" y="6295544"/>
            <a:ext cx="8991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2000" b="1" dirty="0">
                <a:solidFill>
                  <a:schemeClr val="bg1"/>
                </a:solidFill>
                <a:effectLst/>
                <a:latin typeface="微软雅黑" panose="020B0503020204020204" pitchFamily="34" charset="-122"/>
                <a:ea typeface="微软雅黑" panose="020B0503020204020204" pitchFamily="34" charset="-122"/>
              </a:rPr>
              <a:t>可以按产品、区域等多种维度画</a:t>
            </a:r>
            <a:r>
              <a:rPr lang="en-US" altLang="zh-CN" sz="2000" b="1" dirty="0">
                <a:solidFill>
                  <a:schemeClr val="bg1"/>
                </a:solidFill>
                <a:effectLst/>
                <a:latin typeface="微软雅黑" panose="020B0503020204020204" pitchFamily="34" charset="-122"/>
                <a:ea typeface="微软雅黑" panose="020B0503020204020204" pitchFamily="34" charset="-122"/>
              </a:rPr>
              <a:t>SPAN</a:t>
            </a:r>
            <a:r>
              <a:rPr lang="zh-CN" altLang="en-US" sz="2000" b="1" dirty="0">
                <a:solidFill>
                  <a:schemeClr val="bg1"/>
                </a:solidFill>
                <a:effectLst/>
                <a:latin typeface="微软雅黑" panose="020B0503020204020204" pitchFamily="34" charset="-122"/>
                <a:ea typeface="微软雅黑" panose="020B0503020204020204" pitchFamily="34" charset="-122"/>
              </a:rPr>
              <a:t>图；差异大的进一步细分到可管理</a:t>
            </a:r>
            <a:endParaRPr lang="en-US" altLang="zh-CN" sz="2000" b="1" dirty="0">
              <a:solidFill>
                <a:schemeClr val="bg1"/>
              </a:solidFill>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txBox="1"/>
          <p:nvPr/>
        </p:nvSpPr>
        <p:spPr>
          <a:xfrm>
            <a:off x="515615" y="502526"/>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洞察管理：建立起信息源、IT系统及交付件管理，持续迭代</a:t>
            </a:r>
          </a:p>
        </p:txBody>
      </p:sp>
      <p:grpSp>
        <p:nvGrpSpPr>
          <p:cNvPr id="5" name="组合 4"/>
          <p:cNvGrpSpPr/>
          <p:nvPr/>
        </p:nvGrpSpPr>
        <p:grpSpPr>
          <a:xfrm>
            <a:off x="1490345" y="1350585"/>
            <a:ext cx="9702730" cy="4727636"/>
            <a:chOff x="3117" y="2012"/>
            <a:chExt cx="13273" cy="7069"/>
          </a:xfrm>
        </p:grpSpPr>
        <p:sp>
          <p:nvSpPr>
            <p:cNvPr id="3" name="TextBox 3"/>
            <p:cNvSpPr txBox="1"/>
            <p:nvPr/>
          </p:nvSpPr>
          <p:spPr>
            <a:xfrm>
              <a:off x="3678" y="5491"/>
              <a:ext cx="1882" cy="502"/>
            </a:xfrm>
            <a:prstGeom prst="rect">
              <a:avLst/>
            </a:prstGeom>
            <a:noFill/>
          </p:spPr>
          <p:txBody>
            <a:bodyPr wrap="square" lIns="121917" tIns="60958" rIns="121917" bIns="60958" rtlCol="0">
              <a:spAutoFit/>
            </a:bodyPr>
            <a:lstStyle/>
            <a:p>
              <a:pPr marL="457200" indent="-457200"/>
              <a:r>
                <a:rPr lang="en-US" altLang="zh-CN"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1.</a:t>
              </a:r>
              <a:r>
                <a:rPr lang="zh-CN" altLang="en-US"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定义与启动</a:t>
              </a:r>
            </a:p>
          </p:txBody>
        </p:sp>
        <p:sp>
          <p:nvSpPr>
            <p:cNvPr id="16" name="矩形 15"/>
            <p:cNvSpPr/>
            <p:nvPr/>
          </p:nvSpPr>
          <p:spPr>
            <a:xfrm>
              <a:off x="5719" y="4931"/>
              <a:ext cx="3546" cy="560"/>
            </a:xfrm>
            <a:prstGeom prst="rect">
              <a:avLst/>
            </a:prstGeom>
            <a:solidFill>
              <a:srgbClr val="D4EAF5"/>
            </a:solidFill>
            <a:ln>
              <a:solidFill>
                <a:srgbClr val="E9F4FA"/>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r>
                <a:rPr lang="en-US" altLang="zh-CN"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1.</a:t>
              </a:r>
              <a:r>
                <a:rPr lang="zh-CN" altLang="en-US"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确定洞察专题范围</a:t>
              </a:r>
            </a:p>
          </p:txBody>
        </p:sp>
        <p:sp>
          <p:nvSpPr>
            <p:cNvPr id="24" name="矩形 23"/>
            <p:cNvSpPr/>
            <p:nvPr/>
          </p:nvSpPr>
          <p:spPr>
            <a:xfrm>
              <a:off x="5719" y="5631"/>
              <a:ext cx="3546" cy="560"/>
            </a:xfrm>
            <a:prstGeom prst="rect">
              <a:avLst/>
            </a:prstGeom>
            <a:solidFill>
              <a:srgbClr val="D4EAF5"/>
            </a:solidFill>
            <a:ln>
              <a:solidFill>
                <a:srgbClr val="E9F4FA"/>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r>
                <a:rPr lang="en-US" altLang="zh-CN"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2.</a:t>
              </a:r>
              <a:r>
                <a:rPr lang="zh-CN" altLang="en-US"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建立团队，制定工作计划</a:t>
              </a:r>
            </a:p>
          </p:txBody>
        </p:sp>
        <p:sp>
          <p:nvSpPr>
            <p:cNvPr id="25" name="矩形 24"/>
            <p:cNvSpPr/>
            <p:nvPr/>
          </p:nvSpPr>
          <p:spPr>
            <a:xfrm>
              <a:off x="5719" y="6331"/>
              <a:ext cx="3546" cy="560"/>
            </a:xfrm>
            <a:prstGeom prst="rect">
              <a:avLst/>
            </a:prstGeom>
            <a:solidFill>
              <a:srgbClr val="D4EAF5"/>
            </a:solidFill>
            <a:ln>
              <a:solidFill>
                <a:srgbClr val="E9F4FA"/>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r>
                <a:rPr lang="en-US" altLang="zh-CN"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3.</a:t>
              </a:r>
              <a:r>
                <a:rPr lang="zh-CN" altLang="en-US"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与业务主管确认</a:t>
              </a:r>
            </a:p>
          </p:txBody>
        </p:sp>
        <p:sp>
          <p:nvSpPr>
            <p:cNvPr id="26" name="TextBox 7"/>
            <p:cNvSpPr txBox="1"/>
            <p:nvPr/>
          </p:nvSpPr>
          <p:spPr>
            <a:xfrm>
              <a:off x="3684" y="7821"/>
              <a:ext cx="1882" cy="502"/>
            </a:xfrm>
            <a:prstGeom prst="rect">
              <a:avLst/>
            </a:prstGeom>
            <a:noFill/>
          </p:spPr>
          <p:txBody>
            <a:bodyPr wrap="square" lIns="121917" tIns="60958" rIns="121917" bIns="60958" rtlCol="0">
              <a:spAutoFit/>
            </a:bodyPr>
            <a:lstStyle/>
            <a:p>
              <a:pPr marL="457200" indent="-457200"/>
              <a:r>
                <a:rPr lang="en-US" altLang="zh-CN"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2.</a:t>
              </a:r>
              <a:r>
                <a:rPr lang="zh-CN" altLang="en-US"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分析与执行</a:t>
              </a:r>
            </a:p>
          </p:txBody>
        </p:sp>
        <p:grpSp>
          <p:nvGrpSpPr>
            <p:cNvPr id="28" name="组合 27"/>
            <p:cNvGrpSpPr/>
            <p:nvPr/>
          </p:nvGrpSpPr>
          <p:grpSpPr>
            <a:xfrm>
              <a:off x="5719" y="7121"/>
              <a:ext cx="3546" cy="1960"/>
              <a:chOff x="2838451" y="5277977"/>
              <a:chExt cx="2952771" cy="1333510"/>
            </a:xfrm>
          </p:grpSpPr>
          <p:sp>
            <p:nvSpPr>
              <p:cNvPr id="32" name="矩形 31"/>
              <p:cNvSpPr/>
              <p:nvPr/>
            </p:nvSpPr>
            <p:spPr>
              <a:xfrm>
                <a:off x="2838451" y="5277977"/>
                <a:ext cx="2952771" cy="381003"/>
              </a:xfrm>
              <a:prstGeom prst="rect">
                <a:avLst/>
              </a:prstGeom>
              <a:solidFill>
                <a:srgbClr val="D4EAF5"/>
              </a:solidFill>
              <a:ln>
                <a:solidFill>
                  <a:srgbClr val="E9F4FA"/>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r>
                  <a:rPr lang="en-US" altLang="zh-CN"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4.</a:t>
                </a:r>
                <a:r>
                  <a:rPr lang="zh-CN" altLang="en-US"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完成假设</a:t>
                </a:r>
              </a:p>
            </p:txBody>
          </p:sp>
          <p:sp>
            <p:nvSpPr>
              <p:cNvPr id="34" name="矩形 33"/>
              <p:cNvSpPr/>
              <p:nvPr/>
            </p:nvSpPr>
            <p:spPr>
              <a:xfrm>
                <a:off x="2838451" y="5754231"/>
                <a:ext cx="2952771" cy="381003"/>
              </a:xfrm>
              <a:prstGeom prst="rect">
                <a:avLst/>
              </a:prstGeom>
              <a:solidFill>
                <a:srgbClr val="D4EAF5"/>
              </a:solidFill>
              <a:ln>
                <a:solidFill>
                  <a:srgbClr val="E9F4FA"/>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r>
                  <a:rPr lang="en-US" altLang="zh-CN"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5.</a:t>
                </a:r>
                <a:r>
                  <a:rPr lang="zh-CN" altLang="en-US"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收集与分析数据</a:t>
                </a:r>
              </a:p>
            </p:txBody>
          </p:sp>
          <p:sp>
            <p:nvSpPr>
              <p:cNvPr id="35" name="矩形 34"/>
              <p:cNvSpPr/>
              <p:nvPr/>
            </p:nvSpPr>
            <p:spPr>
              <a:xfrm>
                <a:off x="2838451" y="6230484"/>
                <a:ext cx="2952771" cy="381003"/>
              </a:xfrm>
              <a:prstGeom prst="rect">
                <a:avLst/>
              </a:prstGeom>
              <a:solidFill>
                <a:srgbClr val="D4EAF5"/>
              </a:solidFill>
              <a:ln>
                <a:solidFill>
                  <a:srgbClr val="E9F4FA"/>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r>
                  <a:rPr lang="en-US" altLang="zh-CN"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6.</a:t>
                </a:r>
                <a:r>
                  <a:rPr lang="zh-CN" altLang="en-US"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总结与评估完成情况</a:t>
                </a:r>
              </a:p>
            </p:txBody>
          </p:sp>
        </p:grpSp>
        <p:grpSp>
          <p:nvGrpSpPr>
            <p:cNvPr id="36" name="组合 35"/>
            <p:cNvGrpSpPr/>
            <p:nvPr/>
          </p:nvGrpSpPr>
          <p:grpSpPr>
            <a:xfrm>
              <a:off x="9527" y="5074"/>
              <a:ext cx="6339" cy="1960"/>
              <a:chOff x="1047715" y="5407036"/>
              <a:chExt cx="5619789" cy="1333510"/>
            </a:xfrm>
          </p:grpSpPr>
          <p:sp>
            <p:nvSpPr>
              <p:cNvPr id="37" name="TextBox 11"/>
              <p:cNvSpPr txBox="1"/>
              <p:nvPr/>
            </p:nvSpPr>
            <p:spPr>
              <a:xfrm>
                <a:off x="1047715" y="5788040"/>
                <a:ext cx="1668079" cy="341738"/>
              </a:xfrm>
              <a:prstGeom prst="rect">
                <a:avLst/>
              </a:prstGeom>
              <a:noFill/>
            </p:spPr>
            <p:txBody>
              <a:bodyPr wrap="square" lIns="121917" tIns="60958" rIns="121917" bIns="60958" rtlCol="0">
                <a:spAutoFit/>
              </a:bodyPr>
              <a:lstStyle/>
              <a:p>
                <a:r>
                  <a:rPr lang="en-US" altLang="zh-CN"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3.</a:t>
                </a:r>
                <a:r>
                  <a:rPr lang="zh-CN" altLang="en-US"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沟通与跟踪</a:t>
                </a:r>
              </a:p>
            </p:txBody>
          </p:sp>
          <p:sp>
            <p:nvSpPr>
              <p:cNvPr id="38" name="矩形 37"/>
              <p:cNvSpPr/>
              <p:nvPr/>
            </p:nvSpPr>
            <p:spPr>
              <a:xfrm>
                <a:off x="2762227" y="5407036"/>
                <a:ext cx="3905277" cy="381003"/>
              </a:xfrm>
              <a:prstGeom prst="rect">
                <a:avLst/>
              </a:prstGeom>
              <a:solidFill>
                <a:srgbClr val="D4EAF5"/>
              </a:solidFill>
              <a:ln>
                <a:solidFill>
                  <a:srgbClr val="E9F4FA"/>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r>
                  <a:rPr lang="en-US" altLang="zh-CN"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7.</a:t>
                </a:r>
                <a:r>
                  <a:rPr lang="zh-CN" altLang="en-US"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完成洞察结论与内部沟通计划</a:t>
                </a:r>
              </a:p>
            </p:txBody>
          </p:sp>
          <p:sp>
            <p:nvSpPr>
              <p:cNvPr id="39" name="矩形 38"/>
              <p:cNvSpPr/>
              <p:nvPr/>
            </p:nvSpPr>
            <p:spPr>
              <a:xfrm>
                <a:off x="2762227" y="5883290"/>
                <a:ext cx="3905277" cy="381003"/>
              </a:xfrm>
              <a:prstGeom prst="rect">
                <a:avLst/>
              </a:prstGeom>
              <a:solidFill>
                <a:srgbClr val="D4EAF5"/>
              </a:solidFill>
              <a:ln>
                <a:solidFill>
                  <a:srgbClr val="E9F4FA"/>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r>
                  <a:rPr lang="en-US" altLang="zh-CN"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8.</a:t>
                </a:r>
                <a:r>
                  <a:rPr lang="zh-CN" altLang="en-US"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与业务主管及相关团队研讨</a:t>
                </a:r>
              </a:p>
            </p:txBody>
          </p:sp>
          <p:sp>
            <p:nvSpPr>
              <p:cNvPr id="40" name="矩形 39"/>
              <p:cNvSpPr/>
              <p:nvPr/>
            </p:nvSpPr>
            <p:spPr>
              <a:xfrm>
                <a:off x="2762227" y="6359543"/>
                <a:ext cx="3905277" cy="381003"/>
              </a:xfrm>
              <a:prstGeom prst="rect">
                <a:avLst/>
              </a:prstGeom>
              <a:solidFill>
                <a:srgbClr val="D4EAF5"/>
              </a:solidFill>
              <a:ln>
                <a:solidFill>
                  <a:srgbClr val="E9F4FA"/>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r>
                  <a:rPr lang="en-US" altLang="zh-CN"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9.</a:t>
                </a:r>
                <a:r>
                  <a:rPr lang="zh-CN" altLang="en-US" sz="1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对洞察结论的应用</a:t>
                </a:r>
              </a:p>
            </p:txBody>
          </p:sp>
        </p:grpSp>
        <p:grpSp>
          <p:nvGrpSpPr>
            <p:cNvPr id="41" name="组合 40"/>
            <p:cNvGrpSpPr/>
            <p:nvPr/>
          </p:nvGrpSpPr>
          <p:grpSpPr>
            <a:xfrm>
              <a:off x="3117" y="2012"/>
              <a:ext cx="13273" cy="1883"/>
              <a:chOff x="508230" y="1802714"/>
              <a:chExt cx="11766022" cy="1281796"/>
            </a:xfrm>
          </p:grpSpPr>
          <p:grpSp>
            <p:nvGrpSpPr>
              <p:cNvPr id="42" name="组合 41"/>
              <p:cNvGrpSpPr/>
              <p:nvPr/>
            </p:nvGrpSpPr>
            <p:grpSpPr>
              <a:xfrm>
                <a:off x="508230" y="2091814"/>
                <a:ext cx="11103702" cy="992696"/>
                <a:chOff x="508230" y="2091814"/>
                <a:chExt cx="11103702" cy="992696"/>
              </a:xfrm>
            </p:grpSpPr>
            <p:grpSp>
              <p:nvGrpSpPr>
                <p:cNvPr id="43" name="组合 42"/>
                <p:cNvGrpSpPr/>
                <p:nvPr/>
              </p:nvGrpSpPr>
              <p:grpSpPr>
                <a:xfrm>
                  <a:off x="508230" y="2091814"/>
                  <a:ext cx="2347712" cy="644352"/>
                  <a:chOff x="331179" y="2132856"/>
                  <a:chExt cx="2347712" cy="644352"/>
                </a:xfrm>
              </p:grpSpPr>
              <p:sp>
                <p:nvSpPr>
                  <p:cNvPr id="44" name="文本框 43"/>
                  <p:cNvSpPr txBox="1"/>
                  <p:nvPr/>
                </p:nvSpPr>
                <p:spPr>
                  <a:xfrm>
                    <a:off x="331179" y="2132856"/>
                    <a:ext cx="441146" cy="468457"/>
                  </a:xfrm>
                  <a:prstGeom prst="rect">
                    <a:avLst/>
                  </a:prstGeom>
                  <a:noFill/>
                </p:spPr>
                <p:txBody>
                  <a:bodyPr wrap="square" rtlCol="0">
                    <a:spAutoFit/>
                  </a:bodyPr>
                  <a:lstStyle/>
                  <a:p>
                    <a:pPr algn="just"/>
                    <a:r>
                      <a:rPr lang="en-US" altLang="zh-CN" sz="2400" dirty="0">
                        <a:latin typeface="微软雅黑" panose="020B0503020204020204" pitchFamily="34" charset="-122"/>
                        <a:ea typeface="微软雅黑" panose="020B0503020204020204" pitchFamily="34" charset="-122"/>
                        <a:cs typeface="+mn-ea"/>
                        <a:sym typeface="+mn-lt"/>
                      </a:rPr>
                      <a:t>1</a:t>
                    </a:r>
                  </a:p>
                </p:txBody>
              </p:sp>
              <p:sp>
                <p:nvSpPr>
                  <p:cNvPr id="45" name="矩形 44"/>
                  <p:cNvSpPr/>
                  <p:nvPr/>
                </p:nvSpPr>
                <p:spPr>
                  <a:xfrm>
                    <a:off x="878398" y="2133646"/>
                    <a:ext cx="1800493" cy="643562"/>
                  </a:xfrm>
                  <a:prstGeom prst="rect">
                    <a:avLst/>
                  </a:prstGeom>
                </p:spPr>
                <p:txBody>
                  <a:bodyPr wrap="square">
                    <a:spAutoFit/>
                  </a:bodyPr>
                  <a:lstStyle/>
                  <a:p>
                    <a:pPr lvl="0" defTabSz="330200" eaLnBrk="1" fontAlgn="auto" hangingPunct="1">
                      <a:spcBef>
                        <a:spcPct val="20000"/>
                      </a:spcBef>
                      <a:spcAft>
                        <a:spcPts val="0"/>
                      </a:spcAft>
                      <a:buClr>
                        <a:srgbClr val="2183D9"/>
                      </a:buClr>
                      <a:tabLst>
                        <a:tab pos="8521700" algn="r"/>
                      </a:tabLst>
                      <a:defRPr/>
                    </a:pPr>
                    <a:r>
                      <a:rPr lang="zh-CN" altLang="en-US" sz="1600" b="1" dirty="0">
                        <a:solidFill>
                          <a:srgbClr val="C00000"/>
                        </a:solidFill>
                        <a:latin typeface="微软雅黑" panose="020B0503020204020204" pitchFamily="34" charset="-122"/>
                        <a:ea typeface="微软雅黑" panose="020B0503020204020204" pitchFamily="34" charset="-122"/>
                        <a:cs typeface="+mn-ea"/>
                        <a:sym typeface="+mn-lt"/>
                      </a:rPr>
                      <a:t>构建起信息</a:t>
                    </a:r>
                  </a:p>
                  <a:p>
                    <a:pPr lvl="0" defTabSz="330200" eaLnBrk="1" fontAlgn="auto" hangingPunct="1">
                      <a:spcBef>
                        <a:spcPct val="20000"/>
                      </a:spcBef>
                      <a:spcAft>
                        <a:spcPts val="0"/>
                      </a:spcAft>
                      <a:buClr>
                        <a:srgbClr val="2183D9"/>
                      </a:buClr>
                      <a:tabLst>
                        <a:tab pos="8521700" algn="r"/>
                      </a:tabLst>
                      <a:defRPr/>
                    </a:pPr>
                    <a:r>
                      <a:rPr lang="zh-CN" altLang="en-US" sz="1600" b="1" dirty="0">
                        <a:solidFill>
                          <a:srgbClr val="C00000"/>
                        </a:solidFill>
                        <a:latin typeface="微软雅黑" panose="020B0503020204020204" pitchFamily="34" charset="-122"/>
                        <a:ea typeface="微软雅黑" panose="020B0503020204020204" pitchFamily="34" charset="-122"/>
                        <a:cs typeface="+mn-ea"/>
                        <a:sym typeface="+mn-lt"/>
                      </a:rPr>
                      <a:t>平台</a:t>
                    </a:r>
                  </a:p>
                </p:txBody>
              </p:sp>
            </p:grpSp>
            <p:cxnSp>
              <p:nvCxnSpPr>
                <p:cNvPr id="46" name="直接连接符 45"/>
                <p:cNvCxnSpPr/>
                <p:nvPr/>
              </p:nvCxnSpPr>
              <p:spPr>
                <a:xfrm>
                  <a:off x="546579" y="3084510"/>
                  <a:ext cx="11065353"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7" name="矩形 46"/>
              <p:cNvSpPr/>
              <p:nvPr/>
            </p:nvSpPr>
            <p:spPr>
              <a:xfrm>
                <a:off x="2962014" y="1802714"/>
                <a:ext cx="9312238" cy="1008492"/>
              </a:xfrm>
              <a:prstGeom prst="rect">
                <a:avLst/>
              </a:prstGeom>
              <a:noFill/>
              <a:ln w="6350">
                <a:noFill/>
                <a:miter lim="800000"/>
              </a:ln>
            </p:spPr>
            <p:txBody>
              <a:bodyPr wrap="square" lIns="0" tIns="0" rIns="0" bIns="0" anchor="ctr">
                <a:spAutoFit/>
              </a:bodyPr>
              <a:lstStyle/>
              <a:p>
                <a:pPr marL="287020" lvl="1" indent="-285750" algn="just" defTabSz="330200">
                  <a:spcBef>
                    <a:spcPct val="20000"/>
                  </a:spcBef>
                  <a:buClr>
                    <a:srgbClr val="267FC3"/>
                  </a:buClr>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外脑</a:t>
                </a:r>
              </a:p>
              <a:p>
                <a:pPr marL="287020" lvl="1" indent="-285750" algn="just" defTabSz="330200">
                  <a:spcBef>
                    <a:spcPct val="20000"/>
                  </a:spcBef>
                  <a:buClr>
                    <a:srgbClr val="267FC3"/>
                  </a:buClr>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信息源：第三方信息、内部信息、客户第一手信息</a:t>
                </a:r>
              </a:p>
              <a:p>
                <a:pPr marL="287020" lvl="1" indent="-285750" algn="just" defTabSz="330200">
                  <a:spcBef>
                    <a:spcPct val="20000"/>
                  </a:spcBef>
                  <a:buClr>
                    <a:srgbClr val="267FC3"/>
                  </a:buClr>
                  <a:buFont typeface="Arial" panose="020B0604020202020204" pitchFamily="34" charset="0"/>
                  <a:buChar char="•"/>
                  <a:tabLst>
                    <a:tab pos="8521700" algn="r"/>
                  </a:tabLst>
                </a:pP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IT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工具及</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IT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系统（社交媒体聆听、客户满意度倾听、市场洞察信息平台、外部分析师平台）</a:t>
                </a:r>
              </a:p>
              <a:p>
                <a:pPr marL="287020" lvl="1" indent="-285750" algn="just" defTabSz="330200">
                  <a:spcBef>
                    <a:spcPct val="20000"/>
                  </a:spcBef>
                  <a:buClr>
                    <a:srgbClr val="267FC3"/>
                  </a:buClr>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预算：要重视此部分的预算投入</a:t>
                </a:r>
              </a:p>
            </p:txBody>
          </p:sp>
        </p:grpSp>
        <p:grpSp>
          <p:nvGrpSpPr>
            <p:cNvPr id="48" name="组合 47"/>
            <p:cNvGrpSpPr/>
            <p:nvPr/>
          </p:nvGrpSpPr>
          <p:grpSpPr>
            <a:xfrm>
              <a:off x="3117" y="4235"/>
              <a:ext cx="4766" cy="688"/>
              <a:chOff x="331179" y="2132856"/>
              <a:chExt cx="4225126" cy="468256"/>
            </a:xfrm>
          </p:grpSpPr>
          <p:sp>
            <p:nvSpPr>
              <p:cNvPr id="49" name="文本框 48"/>
              <p:cNvSpPr txBox="1"/>
              <p:nvPr/>
            </p:nvSpPr>
            <p:spPr>
              <a:xfrm>
                <a:off x="331179" y="2132856"/>
                <a:ext cx="441146" cy="468256"/>
              </a:xfrm>
              <a:prstGeom prst="rect">
                <a:avLst/>
              </a:prstGeom>
              <a:noFill/>
            </p:spPr>
            <p:txBody>
              <a:bodyPr wrap="square" rtlCol="0">
                <a:spAutoFit/>
              </a:bodyPr>
              <a:lstStyle/>
              <a:p>
                <a:pPr algn="just"/>
                <a:r>
                  <a:rPr lang="en-US" altLang="zh-CN" sz="2400" dirty="0">
                    <a:latin typeface="微软雅黑" panose="020B0503020204020204" pitchFamily="34" charset="-122"/>
                    <a:ea typeface="微软雅黑" panose="020B0503020204020204" pitchFamily="34" charset="-122"/>
                    <a:cs typeface="+mn-ea"/>
                    <a:sym typeface="+mn-lt"/>
                  </a:rPr>
                  <a:t>2</a:t>
                </a:r>
              </a:p>
            </p:txBody>
          </p:sp>
          <p:sp>
            <p:nvSpPr>
              <p:cNvPr id="50" name="矩形 49"/>
              <p:cNvSpPr/>
              <p:nvPr/>
            </p:nvSpPr>
            <p:spPr>
              <a:xfrm>
                <a:off x="878158" y="2206506"/>
                <a:ext cx="3678147" cy="325639"/>
              </a:xfrm>
              <a:prstGeom prst="rect">
                <a:avLst/>
              </a:prstGeom>
            </p:spPr>
            <p:txBody>
              <a:bodyPr wrap="square">
                <a:spAutoFit/>
              </a:bodyPr>
              <a:lstStyle/>
              <a:p>
                <a:pPr lvl="0" defTabSz="330200" eaLnBrk="1" fontAlgn="auto" hangingPunct="1">
                  <a:spcBef>
                    <a:spcPct val="20000"/>
                  </a:spcBef>
                  <a:spcAft>
                    <a:spcPts val="0"/>
                  </a:spcAft>
                  <a:buClr>
                    <a:srgbClr val="2183D9"/>
                  </a:buClr>
                  <a:tabLst>
                    <a:tab pos="8521700" algn="r"/>
                  </a:tabLst>
                  <a:defRPr/>
                </a:pPr>
                <a:r>
                  <a:rPr lang="zh-CN" altLang="en-US" sz="1600" b="1" dirty="0">
                    <a:solidFill>
                      <a:srgbClr val="C00000"/>
                    </a:solidFill>
                    <a:latin typeface="微软雅黑" panose="020B0503020204020204" pitchFamily="34" charset="-122"/>
                    <a:ea typeface="微软雅黑" panose="020B0503020204020204" pitchFamily="34" charset="-122"/>
                    <a:cs typeface="+mn-ea"/>
                    <a:sym typeface="+mn-lt"/>
                  </a:rPr>
                  <a:t>专题洞察的项目过程及管理</a:t>
                </a: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txBox="1"/>
          <p:nvPr/>
        </p:nvSpPr>
        <p:spPr>
          <a:xfrm>
            <a:off x="606287" y="517364"/>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BLM模型之战略意图</a:t>
            </a:r>
          </a:p>
        </p:txBody>
      </p:sp>
      <p:grpSp>
        <p:nvGrpSpPr>
          <p:cNvPr id="45" name="组合 44"/>
          <p:cNvGrpSpPr/>
          <p:nvPr/>
        </p:nvGrpSpPr>
        <p:grpSpPr>
          <a:xfrm>
            <a:off x="2030095" y="1601470"/>
            <a:ext cx="7929880" cy="4133902"/>
            <a:chOff x="739" y="2419"/>
            <a:chExt cx="17573" cy="7642"/>
          </a:xfrm>
        </p:grpSpPr>
        <p:sp>
          <p:nvSpPr>
            <p:cNvPr id="16" name="Text Box 13"/>
            <p:cNvSpPr txBox="1">
              <a:spLocks noChangeArrowheads="1"/>
            </p:cNvSpPr>
            <p:nvPr/>
          </p:nvSpPr>
          <p:spPr bwMode="auto">
            <a:xfrm>
              <a:off x="7543" y="7862"/>
              <a:ext cx="7480" cy="2199"/>
            </a:xfrm>
            <a:prstGeom prst="rect">
              <a:avLst/>
            </a:prstGeom>
            <a:noFill/>
            <a:ln w="9525">
              <a:noFill/>
              <a:miter lim="800000"/>
            </a:ln>
          </p:spPr>
          <p:txBody>
            <a:bodyPr lIns="0" tIns="0" rIns="0" bIns="0">
              <a:spAutoFit/>
            </a:bodyPr>
            <a:lstStyle/>
            <a:p>
              <a:pPr marL="287020" lvl="1" indent="-285750" algn="just" defTabSz="330200">
                <a:lnSpc>
                  <a:spcPct val="130000"/>
                </a:lnSpc>
                <a:spcBef>
                  <a:spcPct val="20000"/>
                </a:spcBef>
                <a:buClr>
                  <a:srgbClr val="267FC3"/>
                </a:buClr>
                <a:buSzPct val="80000"/>
                <a:buFont typeface="Arial" panose="020B0604020202020204" pitchFamily="34" charset="0"/>
                <a:buChar char="•"/>
                <a:tabLst>
                  <a:tab pos="8521700" algn="r"/>
                </a:tabLst>
              </a:pPr>
              <a:r>
                <a:rPr lang="zh-CN" altLang="en-US" dirty="0">
                  <a:latin typeface="微软雅黑" panose="020B0503020204020204" pitchFamily="34" charset="-122"/>
                  <a:ea typeface="微软雅黑" panose="020B0503020204020204" pitchFamily="34" charset="-122"/>
                  <a:cs typeface="+mn-ea"/>
                  <a:sym typeface="+mn-lt"/>
                </a:rPr>
                <a:t>组织机构的方向和最终目标</a:t>
              </a:r>
            </a:p>
            <a:p>
              <a:pPr marL="287020" lvl="1" indent="-285750" algn="just" defTabSz="330200">
                <a:lnSpc>
                  <a:spcPct val="130000"/>
                </a:lnSpc>
                <a:spcBef>
                  <a:spcPct val="20000"/>
                </a:spcBef>
                <a:buClr>
                  <a:srgbClr val="267FC3"/>
                </a:buClr>
                <a:buSzPct val="80000"/>
                <a:buFont typeface="Arial" panose="020B0604020202020204" pitchFamily="34" charset="0"/>
                <a:buChar char="•"/>
                <a:tabLst>
                  <a:tab pos="8521700" algn="r"/>
                </a:tabLst>
              </a:pPr>
              <a:r>
                <a:rPr lang="zh-CN" altLang="en-US" dirty="0">
                  <a:latin typeface="微软雅黑" panose="020B0503020204020204" pitchFamily="34" charset="-122"/>
                  <a:ea typeface="微软雅黑" panose="020B0503020204020204" pitchFamily="34" charset="-122"/>
                  <a:cs typeface="+mn-ea"/>
                  <a:sym typeface="+mn-lt"/>
                </a:rPr>
                <a:t>与公司的战略重点相一致</a:t>
              </a:r>
            </a:p>
            <a:p>
              <a:pPr marL="287020" lvl="1" indent="-285750" algn="just" defTabSz="330200">
                <a:lnSpc>
                  <a:spcPct val="130000"/>
                </a:lnSpc>
                <a:spcBef>
                  <a:spcPct val="20000"/>
                </a:spcBef>
                <a:buClr>
                  <a:srgbClr val="267FC3"/>
                </a:buClr>
                <a:buSzPct val="80000"/>
                <a:buFont typeface="Arial" panose="020B0604020202020204" pitchFamily="34" charset="0"/>
                <a:buChar char="•"/>
                <a:tabLst>
                  <a:tab pos="8521700" algn="r"/>
                </a:tabLst>
              </a:pPr>
              <a:r>
                <a:rPr lang="zh-CN" altLang="en-US" dirty="0">
                  <a:latin typeface="微软雅黑" panose="020B0503020204020204" pitchFamily="34" charset="-122"/>
                  <a:ea typeface="微软雅黑" panose="020B0503020204020204" pitchFamily="34" charset="-122"/>
                  <a:cs typeface="+mn-ea"/>
                  <a:sym typeface="+mn-lt"/>
                </a:rPr>
                <a:t>体现竞争优势</a:t>
              </a:r>
            </a:p>
          </p:txBody>
        </p:sp>
        <p:grpSp>
          <p:nvGrpSpPr>
            <p:cNvPr id="24" name="组合 23"/>
            <p:cNvGrpSpPr/>
            <p:nvPr/>
          </p:nvGrpSpPr>
          <p:grpSpPr>
            <a:xfrm>
              <a:off x="739" y="2739"/>
              <a:ext cx="4786" cy="1342"/>
              <a:chOff x="7887408" y="1871617"/>
              <a:chExt cx="3039090" cy="852541"/>
            </a:xfrm>
          </p:grpSpPr>
          <p:grpSp>
            <p:nvGrpSpPr>
              <p:cNvPr id="25" name="组合 24"/>
              <p:cNvGrpSpPr/>
              <p:nvPr/>
            </p:nvGrpSpPr>
            <p:grpSpPr>
              <a:xfrm>
                <a:off x="7887408" y="1871617"/>
                <a:ext cx="665740" cy="789458"/>
                <a:chOff x="7680176" y="1774557"/>
                <a:chExt cx="665740" cy="789458"/>
              </a:xfrm>
            </p:grpSpPr>
            <p:sp>
              <p:nvSpPr>
                <p:cNvPr id="26" name="文本框 25"/>
                <p:cNvSpPr txBox="1"/>
                <p:nvPr/>
              </p:nvSpPr>
              <p:spPr>
                <a:xfrm>
                  <a:off x="7680176" y="1774557"/>
                  <a:ext cx="441146" cy="757530"/>
                </a:xfrm>
                <a:prstGeom prst="rect">
                  <a:avLst/>
                </a:prstGeom>
                <a:noFill/>
              </p:spPr>
              <p:txBody>
                <a:bodyPr wrap="square" rtlCol="0">
                  <a:spAutoFit/>
                </a:bodyPr>
                <a:lstStyle/>
                <a:p>
                  <a:pPr algn="just"/>
                  <a:r>
                    <a:rPr lang="en-US" altLang="zh-CN" sz="3600" dirty="0">
                      <a:latin typeface="微软雅黑" panose="020B0503020204020204" pitchFamily="34" charset="-122"/>
                      <a:ea typeface="微软雅黑" panose="020B0503020204020204" pitchFamily="34" charset="-122"/>
                      <a:cs typeface="+mn-ea"/>
                      <a:sym typeface="+mn-lt"/>
                    </a:rPr>
                    <a:t>1</a:t>
                  </a:r>
                </a:p>
              </p:txBody>
            </p:sp>
            <p:cxnSp>
              <p:nvCxnSpPr>
                <p:cNvPr id="28" name="直接连接符 27"/>
                <p:cNvCxnSpPr/>
                <p:nvPr/>
              </p:nvCxnSpPr>
              <p:spPr>
                <a:xfrm flipH="1">
                  <a:off x="7937400" y="205013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32" name="矩形 31"/>
              <p:cNvSpPr/>
              <p:nvPr/>
            </p:nvSpPr>
            <p:spPr>
              <a:xfrm>
                <a:off x="8585778" y="2194782"/>
                <a:ext cx="2340720" cy="529376"/>
              </a:xfrm>
              <a:prstGeom prst="rect">
                <a:avLst/>
              </a:prstGeom>
            </p:spPr>
            <p:txBody>
              <a:bodyPr wrap="square">
                <a:spAutoFit/>
              </a:bodyPr>
              <a:lstStyle/>
              <a:p>
                <a:pPr lvl="0">
                  <a:lnSpc>
                    <a:spcPct val="130000"/>
                  </a:lnSpc>
                </a:pPr>
                <a:r>
                  <a:rPr lang="zh-CN" altLang="en-US" b="1" dirty="0">
                    <a:solidFill>
                      <a:srgbClr val="C00000"/>
                    </a:solidFill>
                    <a:latin typeface="微软雅黑" panose="020B0503020204020204" pitchFamily="34" charset="-122"/>
                    <a:ea typeface="微软雅黑" panose="020B0503020204020204" pitchFamily="34" charset="-122"/>
                    <a:cs typeface="+mn-ea"/>
                    <a:sym typeface="+mn-lt"/>
                  </a:rPr>
                  <a:t>愿景</a:t>
                </a:r>
                <a:endParaRPr lang="zh-CN" altLang="en-US" sz="1600" b="1" dirty="0">
                  <a:solidFill>
                    <a:srgbClr val="C00000"/>
                  </a:solidFill>
                  <a:latin typeface="微软雅黑" panose="020B0503020204020204" pitchFamily="34" charset="-122"/>
                  <a:ea typeface="微软雅黑" panose="020B0503020204020204" pitchFamily="34" charset="-122"/>
                  <a:cs typeface="+mn-ea"/>
                  <a:sym typeface="+mn-lt"/>
                </a:endParaRPr>
              </a:p>
            </p:txBody>
          </p:sp>
        </p:grpSp>
        <p:grpSp>
          <p:nvGrpSpPr>
            <p:cNvPr id="34" name="组合 33"/>
            <p:cNvGrpSpPr/>
            <p:nvPr/>
          </p:nvGrpSpPr>
          <p:grpSpPr>
            <a:xfrm>
              <a:off x="739" y="4292"/>
              <a:ext cx="4786" cy="1342"/>
              <a:chOff x="7887408" y="1871617"/>
              <a:chExt cx="3039090" cy="852541"/>
            </a:xfrm>
          </p:grpSpPr>
          <p:grpSp>
            <p:nvGrpSpPr>
              <p:cNvPr id="35" name="组合 34"/>
              <p:cNvGrpSpPr/>
              <p:nvPr/>
            </p:nvGrpSpPr>
            <p:grpSpPr>
              <a:xfrm>
                <a:off x="7887408" y="1871617"/>
                <a:ext cx="665740" cy="789458"/>
                <a:chOff x="7680176" y="1774557"/>
                <a:chExt cx="665740" cy="789458"/>
              </a:xfrm>
            </p:grpSpPr>
            <p:sp>
              <p:nvSpPr>
                <p:cNvPr id="36" name="文本框 35"/>
                <p:cNvSpPr txBox="1"/>
                <p:nvPr/>
              </p:nvSpPr>
              <p:spPr>
                <a:xfrm>
                  <a:off x="7680176" y="1774557"/>
                  <a:ext cx="441146" cy="757530"/>
                </a:xfrm>
                <a:prstGeom prst="rect">
                  <a:avLst/>
                </a:prstGeom>
                <a:noFill/>
              </p:spPr>
              <p:txBody>
                <a:bodyPr wrap="square" rtlCol="0">
                  <a:spAutoFit/>
                </a:bodyPr>
                <a:lstStyle/>
                <a:p>
                  <a:pPr algn="just"/>
                  <a:r>
                    <a:rPr lang="en-US" altLang="zh-CN" sz="3600" dirty="0">
                      <a:latin typeface="微软雅黑" panose="020B0503020204020204" pitchFamily="34" charset="-122"/>
                      <a:ea typeface="微软雅黑" panose="020B0503020204020204" pitchFamily="34" charset="-122"/>
                      <a:cs typeface="+mn-ea"/>
                      <a:sym typeface="+mn-lt"/>
                    </a:rPr>
                    <a:t>2</a:t>
                  </a:r>
                </a:p>
              </p:txBody>
            </p:sp>
            <p:cxnSp>
              <p:nvCxnSpPr>
                <p:cNvPr id="37" name="直接连接符 36"/>
                <p:cNvCxnSpPr/>
                <p:nvPr/>
              </p:nvCxnSpPr>
              <p:spPr>
                <a:xfrm flipH="1">
                  <a:off x="7937400" y="205013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38" name="矩形 37"/>
              <p:cNvSpPr/>
              <p:nvPr/>
            </p:nvSpPr>
            <p:spPr>
              <a:xfrm>
                <a:off x="8585778" y="2194782"/>
                <a:ext cx="2340720" cy="529376"/>
              </a:xfrm>
              <a:prstGeom prst="rect">
                <a:avLst/>
              </a:prstGeom>
            </p:spPr>
            <p:txBody>
              <a:bodyPr wrap="square">
                <a:spAutoFit/>
              </a:bodyPr>
              <a:lstStyle/>
              <a:p>
                <a:pPr lvl="0">
                  <a:lnSpc>
                    <a:spcPct val="130000"/>
                  </a:lnSpc>
                </a:pPr>
                <a:r>
                  <a:rPr lang="zh-CN" altLang="en-US" b="1" dirty="0">
                    <a:solidFill>
                      <a:srgbClr val="C00000"/>
                    </a:solidFill>
                    <a:latin typeface="微软雅黑" panose="020B0503020204020204" pitchFamily="34" charset="-122"/>
                    <a:ea typeface="微软雅黑" panose="020B0503020204020204" pitchFamily="34" charset="-122"/>
                    <a:cs typeface="+mn-ea"/>
                    <a:sym typeface="+mn-lt"/>
                  </a:rPr>
                  <a:t>战略目标</a:t>
                </a:r>
                <a:endParaRPr lang="zh-CN" altLang="en-US" sz="1600" b="1" dirty="0">
                  <a:solidFill>
                    <a:srgbClr val="C00000"/>
                  </a:solidFill>
                  <a:latin typeface="微软雅黑" panose="020B0503020204020204" pitchFamily="34" charset="-122"/>
                  <a:ea typeface="微软雅黑" panose="020B0503020204020204" pitchFamily="34" charset="-122"/>
                  <a:cs typeface="+mn-ea"/>
                  <a:sym typeface="+mn-lt"/>
                </a:endParaRPr>
              </a:p>
            </p:txBody>
          </p:sp>
        </p:grpSp>
        <p:grpSp>
          <p:nvGrpSpPr>
            <p:cNvPr id="39" name="组合 38"/>
            <p:cNvGrpSpPr/>
            <p:nvPr/>
          </p:nvGrpSpPr>
          <p:grpSpPr>
            <a:xfrm>
              <a:off x="739" y="5846"/>
              <a:ext cx="4786" cy="1342"/>
              <a:chOff x="7887408" y="1871617"/>
              <a:chExt cx="3039090" cy="852541"/>
            </a:xfrm>
          </p:grpSpPr>
          <p:grpSp>
            <p:nvGrpSpPr>
              <p:cNvPr id="40" name="组合 39"/>
              <p:cNvGrpSpPr/>
              <p:nvPr/>
            </p:nvGrpSpPr>
            <p:grpSpPr>
              <a:xfrm>
                <a:off x="7887408" y="1871617"/>
                <a:ext cx="665740" cy="789458"/>
                <a:chOff x="7680176" y="1774557"/>
                <a:chExt cx="665740" cy="789458"/>
              </a:xfrm>
            </p:grpSpPr>
            <p:sp>
              <p:nvSpPr>
                <p:cNvPr id="41" name="文本框 40"/>
                <p:cNvSpPr txBox="1"/>
                <p:nvPr/>
              </p:nvSpPr>
              <p:spPr>
                <a:xfrm>
                  <a:off x="7680176" y="1774557"/>
                  <a:ext cx="441146" cy="757530"/>
                </a:xfrm>
                <a:prstGeom prst="rect">
                  <a:avLst/>
                </a:prstGeom>
                <a:noFill/>
              </p:spPr>
              <p:txBody>
                <a:bodyPr wrap="square" rtlCol="0">
                  <a:spAutoFit/>
                </a:bodyPr>
                <a:lstStyle/>
                <a:p>
                  <a:pPr algn="just"/>
                  <a:r>
                    <a:rPr lang="en-US" altLang="zh-CN" sz="3600" dirty="0">
                      <a:latin typeface="微软雅黑" panose="020B0503020204020204" pitchFamily="34" charset="-122"/>
                      <a:ea typeface="微软雅黑" panose="020B0503020204020204" pitchFamily="34" charset="-122"/>
                      <a:cs typeface="+mn-ea"/>
                      <a:sym typeface="+mn-lt"/>
                    </a:rPr>
                    <a:t>3</a:t>
                  </a:r>
                </a:p>
              </p:txBody>
            </p:sp>
            <p:cxnSp>
              <p:nvCxnSpPr>
                <p:cNvPr id="42" name="直接连接符 41"/>
                <p:cNvCxnSpPr/>
                <p:nvPr/>
              </p:nvCxnSpPr>
              <p:spPr>
                <a:xfrm flipH="1">
                  <a:off x="7937400" y="205013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43" name="矩形 42"/>
              <p:cNvSpPr/>
              <p:nvPr/>
            </p:nvSpPr>
            <p:spPr>
              <a:xfrm>
                <a:off x="8585778" y="2194782"/>
                <a:ext cx="2340720" cy="529376"/>
              </a:xfrm>
              <a:prstGeom prst="rect">
                <a:avLst/>
              </a:prstGeom>
            </p:spPr>
            <p:txBody>
              <a:bodyPr wrap="square">
                <a:spAutoFit/>
              </a:bodyPr>
              <a:lstStyle/>
              <a:p>
                <a:pPr lvl="0">
                  <a:lnSpc>
                    <a:spcPct val="130000"/>
                  </a:lnSpc>
                </a:pPr>
                <a:r>
                  <a:rPr lang="zh-CN" altLang="en-US" b="1" dirty="0">
                    <a:solidFill>
                      <a:srgbClr val="C00000"/>
                    </a:solidFill>
                    <a:latin typeface="微软雅黑" panose="020B0503020204020204" pitchFamily="34" charset="-122"/>
                    <a:ea typeface="微软雅黑" panose="020B0503020204020204" pitchFamily="34" charset="-122"/>
                    <a:cs typeface="+mn-ea"/>
                    <a:sym typeface="+mn-lt"/>
                  </a:rPr>
                  <a:t>近期目标</a:t>
                </a:r>
                <a:endParaRPr lang="zh-CN" altLang="en-US" sz="1600" b="1" dirty="0">
                  <a:solidFill>
                    <a:srgbClr val="C00000"/>
                  </a:solidFill>
                  <a:latin typeface="微软雅黑" panose="020B0503020204020204" pitchFamily="34" charset="-122"/>
                  <a:ea typeface="微软雅黑" panose="020B0503020204020204" pitchFamily="34" charset="-122"/>
                  <a:cs typeface="+mn-ea"/>
                  <a:sym typeface="+mn-lt"/>
                </a:endParaRPr>
              </a:p>
            </p:txBody>
          </p:sp>
        </p:grpSp>
        <p:pic>
          <p:nvPicPr>
            <p:cNvPr id="44" name="图片 43"/>
            <p:cNvPicPr>
              <a:picLocks noChangeAspect="1"/>
            </p:cNvPicPr>
            <p:nvPr/>
          </p:nvPicPr>
          <p:blipFill>
            <a:blip r:embed="rId2" cstate="email"/>
            <a:stretch>
              <a:fillRect/>
            </a:stretch>
          </p:blipFill>
          <p:spPr>
            <a:xfrm>
              <a:off x="4481" y="2419"/>
              <a:ext cx="13831" cy="5021"/>
            </a:xfrm>
            <a:prstGeom prst="rect">
              <a:avLst/>
            </a:prstGeom>
          </p:spPr>
        </p:pic>
      </p:grpSp>
      <p:sp>
        <p:nvSpPr>
          <p:cNvPr id="3" name="文本框 2">
            <a:extLst>
              <a:ext uri="{FF2B5EF4-FFF2-40B4-BE49-F238E27FC236}">
                <a16:creationId xmlns:a16="http://schemas.microsoft.com/office/drawing/2014/main" id="{E70B6870-6D2F-82CE-6894-3B38FAEBA800}"/>
              </a:ext>
            </a:extLst>
          </p:cNvPr>
          <p:cNvSpPr txBox="1"/>
          <p:nvPr/>
        </p:nvSpPr>
        <p:spPr>
          <a:xfrm>
            <a:off x="606287" y="5954206"/>
            <a:ext cx="10952921" cy="584775"/>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华为</a:t>
            </a:r>
            <a:r>
              <a:rPr lang="en-US" altLang="zh-CN" sz="1600" dirty="0">
                <a:latin typeface="微软雅黑" panose="020B0503020204020204" pitchFamily="34" charset="-122"/>
                <a:ea typeface="微软雅黑" panose="020B0503020204020204" pitchFamily="34" charset="-122"/>
              </a:rPr>
              <a:t>BLM</a:t>
            </a:r>
            <a:r>
              <a:rPr lang="zh-CN" altLang="en-US" sz="1600" dirty="0">
                <a:latin typeface="微软雅黑" panose="020B0503020204020204" pitchFamily="34" charset="-122"/>
                <a:ea typeface="微软雅黑" panose="020B0503020204020204" pitchFamily="34" charset="-122"/>
              </a:rPr>
              <a:t>模型，即业务领先模型（</a:t>
            </a:r>
            <a:r>
              <a:rPr lang="en-US" altLang="zh-CN" sz="1600" dirty="0">
                <a:latin typeface="微软雅黑" panose="020B0503020204020204" pitchFamily="34" charset="-122"/>
                <a:ea typeface="微软雅黑" panose="020B0503020204020204" pitchFamily="34" charset="-122"/>
              </a:rPr>
              <a:t>Business Leadership Model</a:t>
            </a:r>
            <a:r>
              <a:rPr lang="zh-CN" altLang="en-US" sz="1600" dirty="0">
                <a:latin typeface="微软雅黑" panose="020B0503020204020204" pitchFamily="34" charset="-122"/>
                <a:ea typeface="微软雅黑" panose="020B0503020204020204" pitchFamily="34" charset="-122"/>
              </a:rPr>
              <a:t>），是一套完整的战略规划方法论。它起源于</a:t>
            </a:r>
            <a:r>
              <a:rPr lang="en-US" altLang="zh-CN" sz="1600" dirty="0">
                <a:latin typeface="微软雅黑" panose="020B0503020204020204" pitchFamily="34" charset="-122"/>
                <a:ea typeface="微软雅黑" panose="020B0503020204020204" pitchFamily="34" charset="-122"/>
              </a:rPr>
              <a:t>IBM</a:t>
            </a:r>
            <a:r>
              <a:rPr lang="zh-CN" altLang="en-US" sz="1600" dirty="0">
                <a:latin typeface="微软雅黑" panose="020B0503020204020204" pitchFamily="34" charset="-122"/>
                <a:ea typeface="微软雅黑" panose="020B0503020204020204" pitchFamily="34" charset="-122"/>
              </a:rPr>
              <a:t>，并在</a:t>
            </a:r>
            <a:r>
              <a:rPr lang="en-US" altLang="zh-CN" sz="1600" dirty="0">
                <a:latin typeface="微软雅黑" panose="020B0503020204020204" pitchFamily="34" charset="-122"/>
                <a:ea typeface="微软雅黑" panose="020B0503020204020204" pitchFamily="34" charset="-122"/>
              </a:rPr>
              <a:t>2006</a:t>
            </a:r>
            <a:r>
              <a:rPr lang="zh-CN" altLang="en-US" sz="1600" dirty="0">
                <a:latin typeface="微软雅黑" panose="020B0503020204020204" pitchFamily="34" charset="-122"/>
                <a:ea typeface="微软雅黑" panose="020B0503020204020204" pitchFamily="34" charset="-122"/>
              </a:rPr>
              <a:t>年被华为引入，经过多年的内化和实践，已成为华为公司中高层用于战略制定和执行的重要工具和方法平台。</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3" name="组合 32"/>
          <p:cNvGrpSpPr/>
          <p:nvPr/>
        </p:nvGrpSpPr>
        <p:grpSpPr>
          <a:xfrm>
            <a:off x="1964887" y="1854913"/>
            <a:ext cx="8397587" cy="973929"/>
            <a:chOff x="587849" y="2047768"/>
            <a:chExt cx="11196783" cy="1298572"/>
          </a:xfrm>
        </p:grpSpPr>
        <p:grpSp>
          <p:nvGrpSpPr>
            <p:cNvPr id="7" name="组合 6"/>
            <p:cNvGrpSpPr/>
            <p:nvPr/>
          </p:nvGrpSpPr>
          <p:grpSpPr>
            <a:xfrm>
              <a:off x="587849" y="2047768"/>
              <a:ext cx="10404695" cy="675640"/>
              <a:chOff x="7851865" y="1871617"/>
              <a:chExt cx="10404695" cy="675640"/>
            </a:xfrm>
          </p:grpSpPr>
          <p:sp>
            <p:nvSpPr>
              <p:cNvPr id="20" name="文本框 19"/>
              <p:cNvSpPr txBox="1"/>
              <p:nvPr/>
            </p:nvSpPr>
            <p:spPr>
              <a:xfrm>
                <a:off x="7851865" y="1871617"/>
                <a:ext cx="512233" cy="675640"/>
              </a:xfrm>
              <a:prstGeom prst="rect">
                <a:avLst/>
              </a:prstGeom>
              <a:noFill/>
            </p:spPr>
            <p:txBody>
              <a:bodyPr wrap="none" rtlCol="0">
                <a:spAutoFit/>
              </a:bodyPr>
              <a:lstStyle/>
              <a:p>
                <a:pPr algn="just"/>
                <a:r>
                  <a:rPr lang="en-US" altLang="zh-CN" sz="2700" dirty="0">
                    <a:latin typeface="微软雅黑" panose="020B0503020204020204" pitchFamily="34" charset="-122"/>
                    <a:ea typeface="微软雅黑" panose="020B0503020204020204" pitchFamily="34" charset="-122"/>
                    <a:cs typeface="+mn-ea"/>
                    <a:sym typeface="+mn-lt"/>
                  </a:rPr>
                  <a:t>1</a:t>
                </a:r>
              </a:p>
            </p:txBody>
          </p:sp>
          <p:sp>
            <p:nvSpPr>
              <p:cNvPr id="19" name="矩形 18"/>
              <p:cNvSpPr/>
              <p:nvPr/>
            </p:nvSpPr>
            <p:spPr>
              <a:xfrm>
                <a:off x="8585778" y="2015146"/>
                <a:ext cx="9670782" cy="521547"/>
              </a:xfrm>
              <a:prstGeom prst="rect">
                <a:avLst/>
              </a:prstGeom>
            </p:spPr>
            <p:txBody>
              <a:bodyPr wrap="square">
                <a:spAutoFit/>
              </a:bodyPr>
              <a:lstStyle/>
              <a:p>
                <a:pPr lvl="0">
                  <a:lnSpc>
                    <a:spcPct val="130000"/>
                  </a:lnSpc>
                </a:pPr>
                <a:r>
                  <a:rPr lang="zh-CN" altLang="en-US" sz="15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愿景： 可持续的，占优势的业务领先地位，展示了长期的，可持续的获利能力</a:t>
                </a:r>
              </a:p>
            </p:txBody>
          </p:sp>
        </p:grpSp>
        <p:sp>
          <p:nvSpPr>
            <p:cNvPr id="23" name="矩形 22"/>
            <p:cNvSpPr/>
            <p:nvPr/>
          </p:nvSpPr>
          <p:spPr>
            <a:xfrm>
              <a:off x="1359499" y="2851887"/>
              <a:ext cx="7368480" cy="494453"/>
            </a:xfrm>
            <a:prstGeom prst="rect">
              <a:avLst/>
            </a:prstGeom>
          </p:spPr>
          <p:txBody>
            <a:bodyPr wrap="square">
              <a:spAutoFit/>
            </a:bodyPr>
            <a:lstStyle/>
            <a:p>
              <a:pPr marL="1270" lvl="1" algn="just" defTabSz="330200">
                <a:lnSpc>
                  <a:spcPct val="130000"/>
                </a:lnSpc>
                <a:spcBef>
                  <a:spcPct val="20000"/>
                </a:spcBef>
                <a:buClr>
                  <a:srgbClr val="267FC3"/>
                </a:buClr>
                <a:tabLst>
                  <a:tab pos="8521700" algn="r"/>
                </a:tabLst>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纲领意义，感情契约，现实但有挑战性 ，定位</a:t>
              </a:r>
            </a:p>
          </p:txBody>
        </p:sp>
        <p:cxnSp>
          <p:nvCxnSpPr>
            <p:cNvPr id="25" name="直接连接符 24"/>
            <p:cNvCxnSpPr/>
            <p:nvPr/>
          </p:nvCxnSpPr>
          <p:spPr>
            <a:xfrm>
              <a:off x="719279" y="2777986"/>
              <a:ext cx="11065353"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32" name="组合 31"/>
          <p:cNvGrpSpPr/>
          <p:nvPr/>
        </p:nvGrpSpPr>
        <p:grpSpPr>
          <a:xfrm>
            <a:off x="1978539" y="3141940"/>
            <a:ext cx="8383935" cy="1118493"/>
            <a:chOff x="606052" y="3413993"/>
            <a:chExt cx="11178580" cy="1491324"/>
          </a:xfrm>
        </p:grpSpPr>
        <p:grpSp>
          <p:nvGrpSpPr>
            <p:cNvPr id="8" name="组合 7"/>
            <p:cNvGrpSpPr/>
            <p:nvPr/>
          </p:nvGrpSpPr>
          <p:grpSpPr>
            <a:xfrm>
              <a:off x="606052" y="3413993"/>
              <a:ext cx="10705332" cy="959354"/>
              <a:chOff x="7870068" y="1871617"/>
              <a:chExt cx="10705332" cy="959354"/>
            </a:xfrm>
          </p:grpSpPr>
          <p:sp>
            <p:nvSpPr>
              <p:cNvPr id="16" name="文本框 15"/>
              <p:cNvSpPr txBox="1"/>
              <p:nvPr/>
            </p:nvSpPr>
            <p:spPr>
              <a:xfrm>
                <a:off x="7870068" y="1871617"/>
                <a:ext cx="475827" cy="675640"/>
              </a:xfrm>
              <a:prstGeom prst="rect">
                <a:avLst/>
              </a:prstGeom>
              <a:noFill/>
            </p:spPr>
            <p:txBody>
              <a:bodyPr wrap="none" rtlCol="0">
                <a:spAutoFit/>
              </a:bodyPr>
              <a:lstStyle/>
              <a:p>
                <a:pPr algn="just"/>
                <a:r>
                  <a:rPr lang="en-US" altLang="zh-CN" sz="2700" dirty="0">
                    <a:latin typeface="微软雅黑" panose="020B0503020204020204" pitchFamily="34" charset="-122"/>
                    <a:ea typeface="微软雅黑" panose="020B0503020204020204" pitchFamily="34" charset="-122"/>
                    <a:cs typeface="+mn-ea"/>
                    <a:sym typeface="+mn-lt"/>
                  </a:rPr>
                  <a:t>2</a:t>
                </a:r>
              </a:p>
            </p:txBody>
          </p:sp>
          <p:sp>
            <p:nvSpPr>
              <p:cNvPr id="15" name="矩形 14"/>
              <p:cNvSpPr/>
              <p:nvPr/>
            </p:nvSpPr>
            <p:spPr>
              <a:xfrm>
                <a:off x="8585777" y="1882704"/>
                <a:ext cx="9989623" cy="948267"/>
              </a:xfrm>
              <a:prstGeom prst="rect">
                <a:avLst/>
              </a:prstGeom>
            </p:spPr>
            <p:txBody>
              <a:bodyPr wrap="square">
                <a:spAutoFit/>
              </a:bodyPr>
              <a:lstStyle/>
              <a:p>
                <a:pPr lvl="0">
                  <a:lnSpc>
                    <a:spcPct val="130000"/>
                  </a:lnSpc>
                </a:pPr>
                <a:r>
                  <a:rPr lang="zh-CN" altLang="en-US" sz="1500" b="1" dirty="0">
                    <a:solidFill>
                      <a:srgbClr val="C00000"/>
                    </a:solidFill>
                    <a:latin typeface="微软雅黑" panose="020B0503020204020204" pitchFamily="34" charset="-122"/>
                    <a:ea typeface="微软雅黑" panose="020B0503020204020204" pitchFamily="34" charset="-122"/>
                    <a:cs typeface="+mn-ea"/>
                    <a:sym typeface="+mn-lt"/>
                  </a:rPr>
                  <a:t>战略目标：有效的，合理的，灵活的运营模式贏得现有市场的增长机会，同时保持快速适应市场变化的能力</a:t>
                </a:r>
              </a:p>
              <a:p>
                <a:pPr lvl="0">
                  <a:lnSpc>
                    <a:spcPct val="130000"/>
                  </a:lnSpc>
                </a:pPr>
                <a:endParaRPr lang="zh-CN" altLang="en-US" sz="1500" b="1" dirty="0">
                  <a:solidFill>
                    <a:srgbClr val="C00000"/>
                  </a:solidFill>
                  <a:latin typeface="微软雅黑" panose="020B0503020204020204" pitchFamily="34" charset="-122"/>
                  <a:ea typeface="微软雅黑" panose="020B0503020204020204" pitchFamily="34" charset="-122"/>
                  <a:cs typeface="+mn-ea"/>
                  <a:sym typeface="+mn-lt"/>
                </a:endParaRPr>
              </a:p>
            </p:txBody>
          </p:sp>
        </p:grpSp>
        <p:cxnSp>
          <p:nvCxnSpPr>
            <p:cNvPr id="26" name="直接连接符 25"/>
            <p:cNvCxnSpPr/>
            <p:nvPr/>
          </p:nvCxnSpPr>
          <p:spPr>
            <a:xfrm>
              <a:off x="719279" y="4321973"/>
              <a:ext cx="11065353"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1359499" y="4410864"/>
              <a:ext cx="7368480" cy="494453"/>
            </a:xfrm>
            <a:prstGeom prst="rect">
              <a:avLst/>
            </a:prstGeom>
          </p:spPr>
          <p:txBody>
            <a:bodyPr wrap="square">
              <a:spAutoFit/>
            </a:bodyPr>
            <a:lstStyle/>
            <a:p>
              <a:pPr marL="1270" lvl="1" algn="just" defTabSz="330200">
                <a:lnSpc>
                  <a:spcPct val="130000"/>
                </a:lnSpc>
                <a:spcBef>
                  <a:spcPct val="20000"/>
                </a:spcBef>
                <a:buClr>
                  <a:srgbClr val="267FC3"/>
                </a:buClr>
                <a:tabLst>
                  <a:tab pos="8521700" algn="r"/>
                </a:tabLst>
              </a:pPr>
              <a:r>
                <a:rPr lang="zh-CN" altLang="en-US" sz="1400" dirty="0">
                  <a:latin typeface="微软雅黑" panose="020B0503020204020204" pitchFamily="34" charset="-122"/>
                  <a:ea typeface="微软雅黑" panose="020B0503020204020204" pitchFamily="34" charset="-122"/>
                  <a:cs typeface="+mn-ea"/>
                  <a:sym typeface="+mn-lt"/>
                </a:rPr>
                <a:t>产品，服务，市场，客户，技术及时机</a:t>
              </a:r>
            </a:p>
          </p:txBody>
        </p:sp>
      </p:grpSp>
      <p:grpSp>
        <p:nvGrpSpPr>
          <p:cNvPr id="31" name="组合 30"/>
          <p:cNvGrpSpPr/>
          <p:nvPr/>
        </p:nvGrpSpPr>
        <p:grpSpPr>
          <a:xfrm>
            <a:off x="1978539" y="4645286"/>
            <a:ext cx="8383935" cy="950898"/>
            <a:chOff x="606052" y="5481244"/>
            <a:chExt cx="11178580" cy="1267864"/>
          </a:xfrm>
        </p:grpSpPr>
        <p:grpSp>
          <p:nvGrpSpPr>
            <p:cNvPr id="9" name="组合 8"/>
            <p:cNvGrpSpPr/>
            <p:nvPr/>
          </p:nvGrpSpPr>
          <p:grpSpPr>
            <a:xfrm>
              <a:off x="606052" y="5481244"/>
              <a:ext cx="8084189" cy="675640"/>
              <a:chOff x="7870068" y="1871617"/>
              <a:chExt cx="8084189" cy="675640"/>
            </a:xfrm>
          </p:grpSpPr>
          <p:sp>
            <p:nvSpPr>
              <p:cNvPr id="12" name="文本框 11"/>
              <p:cNvSpPr txBox="1"/>
              <p:nvPr/>
            </p:nvSpPr>
            <p:spPr>
              <a:xfrm>
                <a:off x="7870068" y="1871617"/>
                <a:ext cx="475827" cy="675640"/>
              </a:xfrm>
              <a:prstGeom prst="rect">
                <a:avLst/>
              </a:prstGeom>
              <a:noFill/>
            </p:spPr>
            <p:txBody>
              <a:bodyPr wrap="none" rtlCol="0">
                <a:spAutoFit/>
              </a:bodyPr>
              <a:lstStyle/>
              <a:p>
                <a:pPr algn="just"/>
                <a:r>
                  <a:rPr lang="en-US" altLang="zh-CN" sz="2700" dirty="0">
                    <a:latin typeface="微软雅黑" panose="020B0503020204020204" pitchFamily="34" charset="-122"/>
                    <a:ea typeface="微软雅黑" panose="020B0503020204020204" pitchFamily="34" charset="-122"/>
                    <a:cs typeface="+mn-ea"/>
                    <a:sym typeface="+mn-lt"/>
                  </a:rPr>
                  <a:t>3</a:t>
                </a:r>
              </a:p>
            </p:txBody>
          </p:sp>
          <p:sp>
            <p:nvSpPr>
              <p:cNvPr id="11" name="矩形 10"/>
              <p:cNvSpPr/>
              <p:nvPr/>
            </p:nvSpPr>
            <p:spPr>
              <a:xfrm>
                <a:off x="8585777" y="2006755"/>
                <a:ext cx="7368480" cy="521547"/>
              </a:xfrm>
              <a:prstGeom prst="rect">
                <a:avLst/>
              </a:prstGeom>
            </p:spPr>
            <p:txBody>
              <a:bodyPr wrap="square">
                <a:spAutoFit/>
              </a:bodyPr>
              <a:lstStyle/>
              <a:p>
                <a:pPr lvl="0">
                  <a:lnSpc>
                    <a:spcPct val="130000"/>
                  </a:lnSpc>
                </a:pPr>
                <a:r>
                  <a:rPr lang="zh-CN" altLang="en-US" sz="1500" b="1" dirty="0">
                    <a:solidFill>
                      <a:srgbClr val="C00000"/>
                    </a:solidFill>
                    <a:latin typeface="微软雅黑" panose="020B0503020204020204" pitchFamily="34" charset="-122"/>
                    <a:ea typeface="微软雅黑" panose="020B0503020204020204" pitchFamily="34" charset="-122"/>
                    <a:cs typeface="+mn-ea"/>
                    <a:sym typeface="+mn-lt"/>
                  </a:rPr>
                  <a:t>近期目标：业绩可衡量的指标</a:t>
                </a:r>
              </a:p>
            </p:txBody>
          </p:sp>
        </p:grpSp>
        <p:cxnSp>
          <p:nvCxnSpPr>
            <p:cNvPr id="29" name="直接连接符 28"/>
            <p:cNvCxnSpPr/>
            <p:nvPr/>
          </p:nvCxnSpPr>
          <p:spPr>
            <a:xfrm>
              <a:off x="719279" y="6165763"/>
              <a:ext cx="11065353"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1359499" y="6254655"/>
              <a:ext cx="7368480" cy="494453"/>
            </a:xfrm>
            <a:prstGeom prst="rect">
              <a:avLst/>
            </a:prstGeom>
          </p:spPr>
          <p:txBody>
            <a:bodyPr wrap="square">
              <a:spAutoFit/>
            </a:bodyPr>
            <a:lstStyle/>
            <a:p>
              <a:pPr marL="1270" lvl="1" algn="just" defTabSz="330200">
                <a:lnSpc>
                  <a:spcPct val="130000"/>
                </a:lnSpc>
                <a:spcBef>
                  <a:spcPct val="20000"/>
                </a:spcBef>
                <a:buClr>
                  <a:srgbClr val="267FC3"/>
                </a:buClr>
                <a:tabLst>
                  <a:tab pos="8521700" algn="r"/>
                </a:tabLst>
              </a:pPr>
              <a:r>
                <a:rPr lang="zh-CN" altLang="en-US" sz="1400" dirty="0">
                  <a:latin typeface="微软雅黑" panose="020B0503020204020204" pitchFamily="34" charset="-122"/>
                  <a:ea typeface="微软雅黑" panose="020B0503020204020204" pitchFamily="34" charset="-122"/>
                  <a:cs typeface="+mn-ea"/>
                  <a:sym typeface="+mn-lt"/>
                </a:rPr>
                <a:t>利润，成长率，市场份额，客户满意度及新产品</a:t>
              </a:r>
            </a:p>
          </p:txBody>
        </p:sp>
      </p:grpSp>
      <p:sp>
        <p:nvSpPr>
          <p:cNvPr id="2" name="标题 1"/>
          <p:cNvSpPr txBox="1"/>
          <p:nvPr/>
        </p:nvSpPr>
        <p:spPr>
          <a:xfrm>
            <a:off x="673357" y="587604"/>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战略意图：机会、能力、对手、环境的综合考虑</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txBox="1"/>
          <p:nvPr/>
        </p:nvSpPr>
        <p:spPr>
          <a:xfrm>
            <a:off x="532414" y="477137"/>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effectLst/>
                <a:latin typeface="微软雅黑" panose="020B0503020204020204" pitchFamily="34" charset="-122"/>
                <a:ea typeface="微软雅黑" panose="020B0503020204020204" pitchFamily="34" charset="-122"/>
                <a:cs typeface="+mn-ea"/>
                <a:sym typeface="+mn-lt"/>
              </a:rPr>
              <a:t>战略意图确定常见</a:t>
            </a:r>
            <a:r>
              <a:rPr lang="zh-CN" altLang="en-US" dirty="0">
                <a:solidFill>
                  <a:srgbClr val="0070C0"/>
                </a:solidFill>
                <a:latin typeface="微软雅黑" panose="020B0503020204020204" pitchFamily="34" charset="-122"/>
                <a:ea typeface="微软雅黑" panose="020B0503020204020204" pitchFamily="34" charset="-122"/>
                <a:cs typeface="+mn-ea"/>
                <a:sym typeface="+mn-lt"/>
              </a:rPr>
              <a:t>问题：没有按产品领域、区域、客户群打开</a:t>
            </a:r>
            <a:endParaRPr lang="zh-CN" altLang="en-US" dirty="0">
              <a:solidFill>
                <a:srgbClr val="0070C0"/>
              </a:solidFill>
              <a:effectLst/>
              <a:latin typeface="微软雅黑" panose="020B0503020204020204" pitchFamily="34" charset="-122"/>
              <a:ea typeface="微软雅黑" panose="020B0503020204020204" pitchFamily="34" charset="-122"/>
              <a:cs typeface="+mn-ea"/>
              <a:sym typeface="+mn-lt"/>
            </a:endParaRPr>
          </a:p>
        </p:txBody>
      </p:sp>
      <p:grpSp>
        <p:nvGrpSpPr>
          <p:cNvPr id="22" name="组合 21"/>
          <p:cNvGrpSpPr/>
          <p:nvPr/>
        </p:nvGrpSpPr>
        <p:grpSpPr>
          <a:xfrm>
            <a:off x="1813560" y="1071245"/>
            <a:ext cx="9211945" cy="5078531"/>
            <a:chOff x="927" y="1613"/>
            <a:chExt cx="16820" cy="7440"/>
          </a:xfrm>
        </p:grpSpPr>
        <p:sp>
          <p:nvSpPr>
            <p:cNvPr id="3" name="矩形 2"/>
            <p:cNvSpPr/>
            <p:nvPr/>
          </p:nvSpPr>
          <p:spPr>
            <a:xfrm>
              <a:off x="1622" y="8100"/>
              <a:ext cx="9600" cy="953"/>
            </a:xfrm>
            <a:prstGeom prst="rect">
              <a:avLst/>
            </a:prstGeom>
          </p:spPr>
          <p:txBody>
            <a:bodyPr>
              <a:spAutoFit/>
            </a:bodyPr>
            <a:lstStyle/>
            <a:p>
              <a:pPr marL="287020" lvl="1" indent="-285750" algn="just" defTabSz="330200">
                <a:lnSpc>
                  <a:spcPct val="130000"/>
                </a:lnSpc>
                <a:spcBef>
                  <a:spcPts val="0"/>
                </a:spcBef>
                <a:buClr>
                  <a:srgbClr val="267FC3"/>
                </a:buClr>
                <a:buFont typeface="Arial" panose="020B0604020202020204" pitchFamily="34" charset="0"/>
                <a:buChar char="•"/>
                <a:tabLst>
                  <a:tab pos="8521700" algn="r"/>
                </a:tabLst>
              </a:pPr>
              <a:r>
                <a:rPr lang="zh-CN" altLang="en-US" sz="1400" b="1" dirty="0">
                  <a:solidFill>
                    <a:srgbClr val="C00000"/>
                  </a:solidFill>
                  <a:latin typeface="微软雅黑" panose="020B0503020204020204" pitchFamily="34" charset="-122"/>
                  <a:ea typeface="微软雅黑" panose="020B0503020204020204" pitchFamily="34" charset="-122"/>
                  <a:cs typeface="+mn-ea"/>
                  <a:sym typeface="+mn-lt"/>
                </a:rPr>
                <a:t>确定性：战略聚焦，饱和攻击</a:t>
              </a:r>
              <a:endParaRPr lang="en-US" altLang="zh-CN" sz="1400" b="1" dirty="0">
                <a:solidFill>
                  <a:srgbClr val="C00000"/>
                </a:solidFill>
                <a:latin typeface="微软雅黑" panose="020B0503020204020204" pitchFamily="34" charset="-122"/>
                <a:ea typeface="微软雅黑" panose="020B0503020204020204" pitchFamily="34" charset="-122"/>
                <a:cs typeface="+mn-ea"/>
                <a:sym typeface="+mn-lt"/>
              </a:endParaRPr>
            </a:p>
            <a:p>
              <a:pPr marL="287020" lvl="1" indent="-285750" algn="just" defTabSz="330200">
                <a:lnSpc>
                  <a:spcPct val="130000"/>
                </a:lnSpc>
                <a:spcBef>
                  <a:spcPts val="0"/>
                </a:spcBef>
                <a:buClr>
                  <a:srgbClr val="267FC3"/>
                </a:buClr>
                <a:buFont typeface="Arial" panose="020B0604020202020204" pitchFamily="34" charset="0"/>
                <a:buChar char="•"/>
                <a:tabLst>
                  <a:tab pos="8521700" algn="r"/>
                </a:tabLst>
              </a:pPr>
              <a:r>
                <a:rPr lang="zh-CN" altLang="en-US" sz="1400" b="1" dirty="0">
                  <a:solidFill>
                    <a:srgbClr val="C00000"/>
                  </a:solidFill>
                  <a:latin typeface="微软雅黑" panose="020B0503020204020204" pitchFamily="34" charset="-122"/>
                  <a:ea typeface="微软雅黑" panose="020B0503020204020204" pitchFamily="34" charset="-122"/>
                  <a:cs typeface="+mn-ea"/>
                  <a:sym typeface="+mn-lt"/>
                </a:rPr>
                <a:t>不确定性：不能等，先开一枪、再开一炮</a:t>
              </a:r>
            </a:p>
          </p:txBody>
        </p:sp>
        <p:sp>
          <p:nvSpPr>
            <p:cNvPr id="4" name="矩形 3"/>
            <p:cNvSpPr/>
            <p:nvPr/>
          </p:nvSpPr>
          <p:spPr>
            <a:xfrm>
              <a:off x="5680" y="1613"/>
              <a:ext cx="5408" cy="720"/>
            </a:xfrm>
            <a:prstGeom prst="rect">
              <a:avLst/>
            </a:prstGeom>
          </p:spPr>
          <p:txBody>
            <a:bodyPr wrap="square">
              <a:spAutoFit/>
            </a:bodyPr>
            <a:lstStyle/>
            <a:p>
              <a:pPr lvl="0" eaLnBrk="1" hangingPunct="1">
                <a:lnSpc>
                  <a:spcPct val="130000"/>
                </a:lnSpc>
                <a:spcBef>
                  <a:spcPct val="20000"/>
                </a:spcBef>
              </a:pP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未来</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5</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年业务的战略目标</a:t>
              </a:r>
            </a:p>
          </p:txBody>
        </p:sp>
        <p:sp>
          <p:nvSpPr>
            <p:cNvPr id="5" name="文本框 4"/>
            <p:cNvSpPr txBox="1"/>
            <p:nvPr/>
          </p:nvSpPr>
          <p:spPr>
            <a:xfrm>
              <a:off x="927" y="2770"/>
              <a:ext cx="695" cy="765"/>
            </a:xfrm>
            <a:prstGeom prst="rect">
              <a:avLst/>
            </a:prstGeom>
            <a:noFill/>
          </p:spPr>
          <p:txBody>
            <a:bodyPr wrap="square" rtlCol="0">
              <a:spAutoFit/>
            </a:bodyPr>
            <a:lstStyle/>
            <a:p>
              <a:pPr algn="just"/>
              <a:r>
                <a:rPr lang="en-US" altLang="zh-CN" sz="2800" dirty="0">
                  <a:latin typeface="微软雅黑" panose="020B0503020204020204" pitchFamily="34" charset="-122"/>
                  <a:ea typeface="微软雅黑" panose="020B0503020204020204" pitchFamily="34" charset="-122"/>
                  <a:cs typeface="+mn-ea"/>
                  <a:sym typeface="+mn-lt"/>
                </a:rPr>
                <a:t>1</a:t>
              </a:r>
            </a:p>
          </p:txBody>
        </p:sp>
        <p:sp>
          <p:nvSpPr>
            <p:cNvPr id="6" name="矩形 5"/>
            <p:cNvSpPr/>
            <p:nvPr/>
          </p:nvSpPr>
          <p:spPr>
            <a:xfrm>
              <a:off x="1693" y="3224"/>
              <a:ext cx="14039" cy="315"/>
            </a:xfrm>
            <a:prstGeom prst="rect">
              <a:avLst/>
            </a:prstGeom>
            <a:noFill/>
            <a:ln w="6350">
              <a:noFill/>
              <a:miter lim="800000"/>
            </a:ln>
          </p:spPr>
          <p:txBody>
            <a:bodyPr wrap="square" lIns="0" tIns="0" rIns="0" bIns="0" anchor="ctr">
              <a:spAutoFit/>
            </a:bodyPr>
            <a:lstStyle/>
            <a:p>
              <a:pPr marL="1270" lvl="1" algn="just" defTabSz="330200">
                <a:spcBef>
                  <a:spcPct val="20000"/>
                </a:spcBef>
                <a:buClr>
                  <a:srgbClr val="267FC3"/>
                </a:buClr>
                <a:tabLst>
                  <a:tab pos="8521700" algn="r"/>
                </a:tabLst>
              </a:pPr>
              <a:r>
                <a:rPr lang="zh-CN" altLang="en-US" sz="1400" b="1" dirty="0">
                  <a:latin typeface="微软雅黑" panose="020B0503020204020204" pitchFamily="34" charset="-122"/>
                  <a:ea typeface="微软雅黑" panose="020B0503020204020204" pitchFamily="34" charset="-122"/>
                  <a:cs typeface="+mn-ea"/>
                </a:rPr>
                <a:t>过大（自身能力不够，使得战略执行动作变形）</a:t>
              </a:r>
            </a:p>
          </p:txBody>
        </p:sp>
        <p:sp>
          <p:nvSpPr>
            <p:cNvPr id="7" name="文本框 6"/>
            <p:cNvSpPr txBox="1"/>
            <p:nvPr/>
          </p:nvSpPr>
          <p:spPr>
            <a:xfrm>
              <a:off x="927" y="4302"/>
              <a:ext cx="695" cy="765"/>
            </a:xfrm>
            <a:prstGeom prst="rect">
              <a:avLst/>
            </a:prstGeom>
            <a:noFill/>
          </p:spPr>
          <p:txBody>
            <a:bodyPr wrap="square" rtlCol="0">
              <a:spAutoFit/>
            </a:bodyPr>
            <a:lstStyle/>
            <a:p>
              <a:pPr algn="just"/>
              <a:r>
                <a:rPr lang="en-US" altLang="zh-CN" sz="2800">
                  <a:latin typeface="微软雅黑" panose="020B0503020204020204" pitchFamily="34" charset="-122"/>
                  <a:ea typeface="微软雅黑" panose="020B0503020204020204" pitchFamily="34" charset="-122"/>
                  <a:cs typeface="+mn-ea"/>
                  <a:sym typeface="+mn-lt"/>
                </a:rPr>
                <a:t>2</a:t>
              </a:r>
              <a:endParaRPr lang="en-US" altLang="zh-CN" sz="2800" dirty="0">
                <a:latin typeface="微软雅黑" panose="020B0503020204020204" pitchFamily="34" charset="-122"/>
                <a:ea typeface="微软雅黑" panose="020B0503020204020204" pitchFamily="34" charset="-122"/>
                <a:cs typeface="+mn-ea"/>
                <a:sym typeface="+mn-lt"/>
              </a:endParaRPr>
            </a:p>
          </p:txBody>
        </p:sp>
        <p:sp>
          <p:nvSpPr>
            <p:cNvPr id="8" name="矩形 7"/>
            <p:cNvSpPr/>
            <p:nvPr/>
          </p:nvSpPr>
          <p:spPr>
            <a:xfrm>
              <a:off x="1693" y="4545"/>
              <a:ext cx="14039" cy="315"/>
            </a:xfrm>
            <a:prstGeom prst="rect">
              <a:avLst/>
            </a:prstGeom>
            <a:noFill/>
            <a:ln w="6350">
              <a:noFill/>
              <a:miter lim="800000"/>
            </a:ln>
          </p:spPr>
          <p:txBody>
            <a:bodyPr wrap="square" lIns="0" tIns="0" rIns="0" bIns="0" anchor="ctr">
              <a:spAutoFit/>
            </a:bodyPr>
            <a:lstStyle/>
            <a:p>
              <a:pPr marL="1270" lvl="1" algn="just" defTabSz="330200">
                <a:spcBef>
                  <a:spcPct val="20000"/>
                </a:spcBef>
                <a:buClr>
                  <a:srgbClr val="267FC3"/>
                </a:buClr>
                <a:tabLst>
                  <a:tab pos="8521700" algn="r"/>
                </a:tabLst>
              </a:pPr>
              <a:r>
                <a:rPr lang="zh-CN" altLang="en-US" sz="1400" b="1" dirty="0">
                  <a:latin typeface="微软雅黑" panose="020B0503020204020204" pitchFamily="34" charset="-122"/>
                  <a:ea typeface="微软雅黑" panose="020B0503020204020204" pitchFamily="34" charset="-122"/>
                  <a:cs typeface="+mn-ea"/>
                </a:rPr>
                <a:t>过小（不敢投入，失去机会）</a:t>
              </a:r>
            </a:p>
          </p:txBody>
        </p:sp>
        <p:sp>
          <p:nvSpPr>
            <p:cNvPr id="9" name="文本框 8"/>
            <p:cNvSpPr txBox="1"/>
            <p:nvPr/>
          </p:nvSpPr>
          <p:spPr>
            <a:xfrm>
              <a:off x="927" y="5695"/>
              <a:ext cx="695" cy="765"/>
            </a:xfrm>
            <a:prstGeom prst="rect">
              <a:avLst/>
            </a:prstGeom>
            <a:noFill/>
          </p:spPr>
          <p:txBody>
            <a:bodyPr wrap="square" rtlCol="0">
              <a:spAutoFit/>
            </a:bodyPr>
            <a:lstStyle/>
            <a:p>
              <a:pPr algn="just"/>
              <a:r>
                <a:rPr lang="en-US" altLang="zh-CN" sz="2800" dirty="0">
                  <a:latin typeface="微软雅黑" panose="020B0503020204020204" pitchFamily="34" charset="-122"/>
                  <a:ea typeface="微软雅黑" panose="020B0503020204020204" pitchFamily="34" charset="-122"/>
                  <a:cs typeface="+mn-ea"/>
                  <a:sym typeface="+mn-lt"/>
                </a:rPr>
                <a:t>3</a:t>
              </a:r>
            </a:p>
          </p:txBody>
        </p:sp>
        <p:sp>
          <p:nvSpPr>
            <p:cNvPr id="10" name="矩形 9"/>
            <p:cNvSpPr/>
            <p:nvPr/>
          </p:nvSpPr>
          <p:spPr>
            <a:xfrm>
              <a:off x="1693" y="5937"/>
              <a:ext cx="16054" cy="315"/>
            </a:xfrm>
            <a:prstGeom prst="rect">
              <a:avLst/>
            </a:prstGeom>
            <a:noFill/>
            <a:ln w="6350">
              <a:noFill/>
              <a:miter lim="800000"/>
            </a:ln>
          </p:spPr>
          <p:txBody>
            <a:bodyPr wrap="square" lIns="0" tIns="0" rIns="0" bIns="0" anchor="ctr">
              <a:spAutoFit/>
            </a:bodyPr>
            <a:lstStyle/>
            <a:p>
              <a:pPr marL="1270" lvl="1" algn="just" defTabSz="330200">
                <a:spcBef>
                  <a:spcPct val="20000"/>
                </a:spcBef>
                <a:buClr>
                  <a:srgbClr val="267FC3"/>
                </a:buClr>
                <a:tabLst>
                  <a:tab pos="8521700" algn="r"/>
                </a:tabLst>
              </a:pPr>
              <a:r>
                <a:rPr lang="zh-CN" altLang="en-US" sz="1400" b="1" dirty="0">
                  <a:solidFill>
                    <a:srgbClr val="C00000"/>
                  </a:solidFill>
                  <a:latin typeface="微软雅黑" panose="020B0503020204020204" pitchFamily="34" charset="-122"/>
                  <a:ea typeface="微软雅黑" panose="020B0503020204020204" pitchFamily="34" charset="-122"/>
                  <a:cs typeface="+mn-ea"/>
                </a:rPr>
                <a:t>没有按产品领域、区域、客户群打开（未来增长点及难点业务目标低，难于完成战略转型）</a:t>
              </a:r>
            </a:p>
          </p:txBody>
        </p:sp>
        <p:sp>
          <p:nvSpPr>
            <p:cNvPr id="12" name="文本框 11"/>
            <p:cNvSpPr txBox="1"/>
            <p:nvPr/>
          </p:nvSpPr>
          <p:spPr>
            <a:xfrm>
              <a:off x="927" y="7049"/>
              <a:ext cx="695" cy="765"/>
            </a:xfrm>
            <a:prstGeom prst="rect">
              <a:avLst/>
            </a:prstGeom>
            <a:noFill/>
          </p:spPr>
          <p:txBody>
            <a:bodyPr wrap="square" rtlCol="0">
              <a:spAutoFit/>
            </a:bodyPr>
            <a:lstStyle/>
            <a:p>
              <a:pPr algn="just"/>
              <a:r>
                <a:rPr lang="en-US" altLang="zh-CN" sz="2800" dirty="0">
                  <a:latin typeface="微软雅黑" panose="020B0503020204020204" pitchFamily="34" charset="-122"/>
                  <a:ea typeface="微软雅黑" panose="020B0503020204020204" pitchFamily="34" charset="-122"/>
                  <a:cs typeface="+mn-ea"/>
                  <a:sym typeface="+mn-lt"/>
                </a:rPr>
                <a:t>4</a:t>
              </a:r>
            </a:p>
          </p:txBody>
        </p:sp>
        <p:cxnSp>
          <p:nvCxnSpPr>
            <p:cNvPr id="14" name="直接连接符 13"/>
            <p:cNvCxnSpPr/>
            <p:nvPr/>
          </p:nvCxnSpPr>
          <p:spPr>
            <a:xfrm>
              <a:off x="987" y="3881"/>
              <a:ext cx="1605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87" y="5203"/>
              <a:ext cx="1605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987" y="6595"/>
              <a:ext cx="1605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987" y="7950"/>
              <a:ext cx="1605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1693" y="7293"/>
              <a:ext cx="14039" cy="315"/>
            </a:xfrm>
            <a:prstGeom prst="rect">
              <a:avLst/>
            </a:prstGeom>
            <a:noFill/>
            <a:ln w="6350">
              <a:noFill/>
              <a:miter lim="800000"/>
            </a:ln>
          </p:spPr>
          <p:txBody>
            <a:bodyPr wrap="square" lIns="0" tIns="0" rIns="0" bIns="0" anchor="ctr">
              <a:spAutoFit/>
            </a:bodyPr>
            <a:lstStyle/>
            <a:p>
              <a:pPr marL="1270" lvl="1" algn="just" defTabSz="330200">
                <a:spcBef>
                  <a:spcPct val="20000"/>
                </a:spcBef>
                <a:buClr>
                  <a:srgbClr val="267FC3"/>
                </a:buClr>
                <a:tabLst>
                  <a:tab pos="8521700" algn="r"/>
                </a:tabLst>
              </a:pPr>
              <a:r>
                <a:rPr lang="zh-CN" altLang="en-US" sz="1400" b="1" dirty="0">
                  <a:latin typeface="微软雅黑" panose="020B0503020204020204" pitchFamily="34" charset="-122"/>
                  <a:ea typeface="微软雅黑" panose="020B0503020204020204" pitchFamily="34" charset="-122"/>
                  <a:cs typeface="+mn-ea"/>
                </a:rPr>
                <a:t>收入和投入如何安排？敢不敢投入，如何控制风险？</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3005"/>
            <a:ext cx="12206605" cy="522605"/>
          </a:xfrm>
          <a:prstGeom prst="rect">
            <a:avLst/>
          </a:prstGeom>
        </p:spPr>
      </p:pic>
      <p:sp>
        <p:nvSpPr>
          <p:cNvPr id="3" name="文本框 2"/>
          <p:cNvSpPr txBox="1"/>
          <p:nvPr/>
        </p:nvSpPr>
        <p:spPr>
          <a:xfrm>
            <a:off x="1809136" y="1748826"/>
            <a:ext cx="8377084" cy="4336893"/>
          </a:xfrm>
          <a:prstGeom prst="rect">
            <a:avLst/>
          </a:prstGeom>
          <a:noFill/>
        </p:spPr>
        <p:txBody>
          <a:bodyPr wrap="square" rtlCol="0">
            <a:spAutoFit/>
          </a:bodyPr>
          <a:lstStyle/>
          <a:p>
            <a:pPr>
              <a:lnSpc>
                <a:spcPct val="110000"/>
              </a:lnSpc>
            </a:pPr>
            <a:r>
              <a:rPr kumimoji="1" lang="zh-CN" altLang="en-US"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依托核心能力进行垂直整合，或者横向扩张，是否有可能？</a:t>
            </a:r>
            <a:endParaRPr kumimoji="1" lang="en-US" altLang="zh-CN"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pPr>
            <a:endParaRPr kumimoji="1" lang="en-US" altLang="zh-CN"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pPr>
            <a:r>
              <a:rPr kumimoji="1" lang="zh-CN" altLang="en-US"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如果当前主航道空间还很大，建议战略高度聚焦，一定做到</a:t>
            </a:r>
            <a:r>
              <a:rPr kumimoji="1" lang="en-US" altLang="zh-CN"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No1</a:t>
            </a:r>
            <a:r>
              <a:rPr kumimoji="1" lang="zh-CN" altLang="en-US"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，因为一个</a:t>
            </a:r>
            <a:r>
              <a:rPr kumimoji="1" lang="en-US" altLang="zh-CN"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No1</a:t>
            </a:r>
            <a:r>
              <a:rPr kumimoji="1" lang="zh-CN" altLang="en-US"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好过多个</a:t>
            </a:r>
            <a:r>
              <a:rPr kumimoji="1" lang="en-US" altLang="zh-CN"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No2</a:t>
            </a:r>
            <a:r>
              <a:rPr kumimoji="1" lang="zh-CN" altLang="en-US"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t>
            </a:r>
            <a:endParaRPr kumimoji="1" lang="en-US" altLang="zh-CN"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pPr>
            <a:endParaRPr kumimoji="1" lang="en-US" altLang="zh-CN"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pPr>
            <a:r>
              <a:rPr kumimoji="1"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但是，不要等到触到天花板才开始战略转移，未到之前，要提前</a:t>
            </a:r>
            <a:r>
              <a:rPr kumimoji="1"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5-10</a:t>
            </a:r>
            <a:r>
              <a:rPr kumimoji="1"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年做战略准备：锅里的</a:t>
            </a:r>
            <a:r>
              <a:rPr kumimoji="1"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kumimoji="1"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田里的</a:t>
            </a:r>
            <a:endParaRPr kumimoji="1"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pPr>
            <a:endParaRPr kumimoji="1"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10000"/>
              </a:lnSpc>
              <a:buFont typeface="Wingdings" panose="05000000000000000000" pitchFamily="2" charset="2"/>
              <a:buChar char="u"/>
            </a:pPr>
            <a:r>
              <a:rPr kumimoji="1" lang="zh-CN" altLang="en-US"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终端</a:t>
            </a:r>
            <a:endParaRPr kumimoji="1" lang="en-US" altLang="zh-CN"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10000"/>
              </a:lnSpc>
              <a:buFont typeface="Wingdings" panose="05000000000000000000" pitchFamily="2" charset="2"/>
              <a:buChar char="u"/>
            </a:pPr>
            <a:r>
              <a:rPr kumimoji="1" lang="zh-CN" altLang="en-US"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云</a:t>
            </a:r>
            <a:endParaRPr kumimoji="1" lang="en-US" altLang="zh-CN"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10000"/>
              </a:lnSpc>
              <a:buFont typeface="Wingdings" panose="05000000000000000000" pitchFamily="2" charset="2"/>
              <a:buChar char="u"/>
            </a:pPr>
            <a:r>
              <a:rPr kumimoji="1" lang="zh-CN" altLang="en-US"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企业</a:t>
            </a:r>
            <a:endParaRPr kumimoji="1" lang="en-US" altLang="zh-CN"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10000"/>
              </a:lnSpc>
              <a:buFont typeface="Wingdings" panose="05000000000000000000" pitchFamily="2" charset="2"/>
              <a:buChar char="u"/>
            </a:pPr>
            <a:r>
              <a:rPr kumimoji="1" lang="zh-CN" altLang="en-US"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车</a:t>
            </a:r>
            <a:endParaRPr kumimoji="1" lang="en-US" altLang="zh-CN"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10000"/>
              </a:lnSpc>
              <a:buFont typeface="Wingdings" panose="05000000000000000000" pitchFamily="2" charset="2"/>
              <a:buChar char="u"/>
            </a:pPr>
            <a:r>
              <a:rPr kumimoji="1" lang="en-US" altLang="zh-CN"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t>
            </a:r>
          </a:p>
          <a:p>
            <a:pPr>
              <a:lnSpc>
                <a:spcPct val="110000"/>
              </a:lnSpc>
            </a:pPr>
            <a:endParaRPr kumimoji="1" lang="en-US" altLang="zh-CN"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标题 1"/>
          <p:cNvSpPr txBox="1"/>
          <p:nvPr/>
        </p:nvSpPr>
        <p:spPr>
          <a:xfrm>
            <a:off x="751652" y="522598"/>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lnSpc>
                <a:spcPct val="150000"/>
              </a:lnSpc>
            </a:pPr>
            <a:r>
              <a:rPr lang="zh-CN" altLang="en-US" sz="2000" dirty="0">
                <a:solidFill>
                  <a:schemeClr val="tx1"/>
                </a:solidFill>
                <a:latin typeface="微软雅黑" panose="020B0503020204020204" pitchFamily="34" charset="-122"/>
                <a:ea typeface="微软雅黑" panose="020B0503020204020204" pitchFamily="34" charset="-122"/>
                <a:cs typeface="+mn-ea"/>
                <a:sym typeface="+mn-lt"/>
              </a:rPr>
              <a:t>战略规划主要问题：已有业务的延长线思维</a:t>
            </a:r>
            <a:r>
              <a:rPr lang="en-US" altLang="zh-CN" sz="20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2000" dirty="0">
                <a:solidFill>
                  <a:schemeClr val="tx1"/>
                </a:solidFill>
                <a:latin typeface="微软雅黑" panose="020B0503020204020204" pitchFamily="34" charset="-122"/>
                <a:ea typeface="微软雅黑" panose="020B0503020204020204" pitchFamily="34" charset="-122"/>
                <a:cs typeface="+mn-ea"/>
                <a:sym typeface="+mn-lt"/>
              </a:rPr>
              <a:t>战术策划</a:t>
            </a:r>
            <a:endParaRPr lang="en-US" altLang="zh-CN" sz="2000" dirty="0">
              <a:solidFill>
                <a:schemeClr val="tx1"/>
              </a:solidFill>
              <a:latin typeface="微软雅黑" panose="020B0503020204020204" pitchFamily="34" charset="-122"/>
              <a:ea typeface="微软雅黑" panose="020B0503020204020204" pitchFamily="34" charset="-122"/>
              <a:cs typeface="+mn-ea"/>
              <a:sym typeface="+mn-lt"/>
            </a:endParaRPr>
          </a:p>
          <a:p>
            <a:pPr algn="l" eaLnBrk="1" hangingPunct="1">
              <a:lnSpc>
                <a:spcPct val="150000"/>
              </a:lnSpc>
            </a:pPr>
            <a:r>
              <a:rPr lang="zh-CN" altLang="en-US" sz="2000" dirty="0">
                <a:solidFill>
                  <a:schemeClr val="tx1"/>
                </a:solidFill>
                <a:latin typeface="微软雅黑" panose="020B0503020204020204" pitchFamily="34" charset="-122"/>
                <a:ea typeface="微软雅黑" panose="020B0503020204020204" pitchFamily="34" charset="-122"/>
                <a:cs typeface="+mn-ea"/>
                <a:sym typeface="+mn-lt"/>
              </a:rPr>
              <a:t>将军，都在打过去的战争，而不是未来的战争！</a:t>
            </a:r>
          </a:p>
        </p:txBody>
      </p:sp>
      <p:sp>
        <p:nvSpPr>
          <p:cNvPr id="6" name="Rectangle 3"/>
          <p:cNvSpPr txBox="1">
            <a:spLocks noChangeArrowheads="1"/>
          </p:cNvSpPr>
          <p:nvPr/>
        </p:nvSpPr>
        <p:spPr bwMode="auto">
          <a:xfrm>
            <a:off x="1600200" y="6295439"/>
            <a:ext cx="8991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1800" b="1" dirty="0">
                <a:solidFill>
                  <a:schemeClr val="bg1"/>
                </a:solidFill>
                <a:effectLst/>
                <a:latin typeface="微软雅黑" panose="020B0503020204020204" pitchFamily="34" charset="-122"/>
                <a:ea typeface="微软雅黑" panose="020B0503020204020204" pitchFamily="34" charset="-122"/>
              </a:rPr>
              <a:t>很多百亿企业昙花一现：战略规划没有锅里的</a:t>
            </a:r>
            <a:r>
              <a:rPr lang="en-US" altLang="zh-CN" sz="1800" b="1" dirty="0">
                <a:solidFill>
                  <a:schemeClr val="bg1"/>
                </a:solidFill>
                <a:effectLst/>
                <a:latin typeface="微软雅黑" panose="020B0503020204020204" pitchFamily="34" charset="-122"/>
                <a:ea typeface="微软雅黑" panose="020B0503020204020204" pitchFamily="34" charset="-122"/>
              </a:rPr>
              <a:t>+</a:t>
            </a:r>
            <a:r>
              <a:rPr lang="zh-CN" altLang="en-US" sz="1800" b="1" dirty="0">
                <a:solidFill>
                  <a:schemeClr val="bg1"/>
                </a:solidFill>
                <a:effectLst/>
                <a:latin typeface="微软雅黑" panose="020B0503020204020204" pitchFamily="34" charset="-122"/>
                <a:ea typeface="微软雅黑" panose="020B0503020204020204" pitchFamily="34" charset="-122"/>
              </a:rPr>
              <a:t>田里的；或者组织管理没有鸟枪换炮</a:t>
            </a:r>
            <a:endParaRPr lang="en-US" altLang="zh-CN" sz="1800" b="1" dirty="0">
              <a:solidFill>
                <a:schemeClr val="bg1"/>
              </a:solidFill>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5" name="Text Box 13"/>
          <p:cNvSpPr txBox="1">
            <a:spLocks noChangeArrowheads="1"/>
          </p:cNvSpPr>
          <p:nvPr/>
        </p:nvSpPr>
        <p:spPr bwMode="auto">
          <a:xfrm>
            <a:off x="3498883" y="4292519"/>
            <a:ext cx="5439065" cy="881380"/>
          </a:xfrm>
          <a:prstGeom prst="rect">
            <a:avLst/>
          </a:prstGeom>
          <a:noFill/>
          <a:ln w="9525">
            <a:noFill/>
            <a:miter lim="800000"/>
          </a:ln>
        </p:spPr>
        <p:txBody>
          <a:bodyPr wrap="square" lIns="0" tIns="0" rIns="0" bIns="0">
            <a:spAutoFit/>
          </a:bodyPr>
          <a:lstStyle/>
          <a:p>
            <a:pPr marL="287020" lvl="1" indent="-285750" algn="just" defTabSz="330200">
              <a:lnSpc>
                <a:spcPct val="130000"/>
              </a:lnSpc>
              <a:spcBef>
                <a:spcPct val="20000"/>
              </a:spcBef>
              <a:buClr>
                <a:srgbClr val="267FC3"/>
              </a:buClr>
              <a:buSzPct val="80000"/>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mn-ea"/>
                <a:sym typeface="+mn-lt"/>
              </a:rPr>
              <a:t>进行与市场同步的探索与试验</a:t>
            </a:r>
          </a:p>
          <a:p>
            <a:pPr marL="287020" lvl="1" indent="-285750" algn="just" defTabSz="330200">
              <a:lnSpc>
                <a:spcPct val="130000"/>
              </a:lnSpc>
              <a:spcBef>
                <a:spcPct val="20000"/>
              </a:spcBef>
              <a:buClr>
                <a:srgbClr val="267FC3"/>
              </a:buClr>
              <a:buSzPct val="80000"/>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mn-ea"/>
                <a:sym typeface="+mn-lt"/>
              </a:rPr>
              <a:t>从广泛的资源中过滤想法，通过试点和深入市场的实验探索新想法，谨慎地进行投资和处理资源，以应对行业的变化</a:t>
            </a:r>
          </a:p>
        </p:txBody>
      </p:sp>
      <p:grpSp>
        <p:nvGrpSpPr>
          <p:cNvPr id="136" name="组合 135"/>
          <p:cNvGrpSpPr/>
          <p:nvPr/>
        </p:nvGrpSpPr>
        <p:grpSpPr>
          <a:xfrm>
            <a:off x="1383544" y="1711086"/>
            <a:ext cx="2292323" cy="613214"/>
            <a:chOff x="7870068" y="1871617"/>
            <a:chExt cx="3056430" cy="817619"/>
          </a:xfrm>
        </p:grpSpPr>
        <p:grpSp>
          <p:nvGrpSpPr>
            <p:cNvPr id="137" name="组合 136"/>
            <p:cNvGrpSpPr/>
            <p:nvPr/>
          </p:nvGrpSpPr>
          <p:grpSpPr>
            <a:xfrm>
              <a:off x="7870068" y="1871617"/>
              <a:ext cx="683080" cy="789458"/>
              <a:chOff x="7662836" y="1774557"/>
              <a:chExt cx="683080" cy="789458"/>
            </a:xfrm>
          </p:grpSpPr>
          <p:sp>
            <p:nvSpPr>
              <p:cNvPr id="139" name="文本框 138"/>
              <p:cNvSpPr txBox="1"/>
              <p:nvPr/>
            </p:nvSpPr>
            <p:spPr>
              <a:xfrm>
                <a:off x="7662836" y="1774557"/>
                <a:ext cx="475827" cy="675641"/>
              </a:xfrm>
              <a:prstGeom prst="rect">
                <a:avLst/>
              </a:prstGeom>
              <a:noFill/>
            </p:spPr>
            <p:txBody>
              <a:bodyPr wrap="none" rtlCol="0">
                <a:spAutoFit/>
              </a:bodyPr>
              <a:lstStyle/>
              <a:p>
                <a:pPr algn="just"/>
                <a:r>
                  <a:rPr lang="en-US" altLang="zh-CN" sz="2700" dirty="0">
                    <a:latin typeface="微软雅黑" panose="020B0503020204020204" pitchFamily="34" charset="-122"/>
                    <a:ea typeface="微软雅黑" panose="020B0503020204020204" pitchFamily="34" charset="-122"/>
                    <a:cs typeface="+mn-ea"/>
                    <a:sym typeface="+mn-lt"/>
                  </a:rPr>
                  <a:t>1</a:t>
                </a:r>
              </a:p>
            </p:txBody>
          </p:sp>
          <p:cxnSp>
            <p:nvCxnSpPr>
              <p:cNvPr id="140" name="直接连接符 139"/>
              <p:cNvCxnSpPr/>
              <p:nvPr/>
            </p:nvCxnSpPr>
            <p:spPr>
              <a:xfrm flipH="1">
                <a:off x="7937400" y="205013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38" name="矩形 137"/>
            <p:cNvSpPr/>
            <p:nvPr/>
          </p:nvSpPr>
          <p:spPr>
            <a:xfrm>
              <a:off x="8585778" y="2194782"/>
              <a:ext cx="2340720" cy="494454"/>
            </a:xfrm>
            <a:prstGeom prst="rect">
              <a:avLst/>
            </a:prstGeom>
          </p:spPr>
          <p:txBody>
            <a:bodyPr wrap="square">
              <a:spAutoFit/>
            </a:bodyPr>
            <a:lstStyle/>
            <a:p>
              <a:pPr lvl="0">
                <a:lnSpc>
                  <a:spcPct val="130000"/>
                </a:lnSpc>
              </a:pPr>
              <a:r>
                <a:rPr lang="zh-CN" altLang="en-US" sz="1400" b="1" dirty="0">
                  <a:solidFill>
                    <a:srgbClr val="C00000"/>
                  </a:solidFill>
                  <a:latin typeface="微软雅黑" panose="020B0503020204020204" pitchFamily="34" charset="-122"/>
                  <a:ea typeface="微软雅黑" panose="020B0503020204020204" pitchFamily="34" charset="-122"/>
                  <a:cs typeface="+mn-ea"/>
                  <a:sym typeface="+mn-lt"/>
                </a:rPr>
                <a:t>未来业务组合</a:t>
              </a:r>
            </a:p>
          </p:txBody>
        </p:sp>
      </p:grpSp>
      <p:grpSp>
        <p:nvGrpSpPr>
          <p:cNvPr id="141" name="组合 140"/>
          <p:cNvGrpSpPr/>
          <p:nvPr/>
        </p:nvGrpSpPr>
        <p:grpSpPr>
          <a:xfrm>
            <a:off x="1383544" y="2450963"/>
            <a:ext cx="2292323" cy="613214"/>
            <a:chOff x="7870068" y="1871617"/>
            <a:chExt cx="3056430" cy="817619"/>
          </a:xfrm>
        </p:grpSpPr>
        <p:grpSp>
          <p:nvGrpSpPr>
            <p:cNvPr id="142" name="组合 141"/>
            <p:cNvGrpSpPr/>
            <p:nvPr/>
          </p:nvGrpSpPr>
          <p:grpSpPr>
            <a:xfrm>
              <a:off x="7870068" y="1871617"/>
              <a:ext cx="683080" cy="789458"/>
              <a:chOff x="7662836" y="1774557"/>
              <a:chExt cx="683080" cy="789458"/>
            </a:xfrm>
          </p:grpSpPr>
          <p:sp>
            <p:nvSpPr>
              <p:cNvPr id="144" name="文本框 143"/>
              <p:cNvSpPr txBox="1"/>
              <p:nvPr/>
            </p:nvSpPr>
            <p:spPr>
              <a:xfrm>
                <a:off x="7662836" y="1774557"/>
                <a:ext cx="475827" cy="675641"/>
              </a:xfrm>
              <a:prstGeom prst="rect">
                <a:avLst/>
              </a:prstGeom>
              <a:noFill/>
            </p:spPr>
            <p:txBody>
              <a:bodyPr wrap="none" rtlCol="0">
                <a:spAutoFit/>
              </a:bodyPr>
              <a:lstStyle/>
              <a:p>
                <a:pPr algn="just"/>
                <a:r>
                  <a:rPr lang="en-US" altLang="zh-CN" sz="2700" dirty="0">
                    <a:latin typeface="微软雅黑" panose="020B0503020204020204" pitchFamily="34" charset="-122"/>
                    <a:ea typeface="微软雅黑" panose="020B0503020204020204" pitchFamily="34" charset="-122"/>
                    <a:cs typeface="+mn-ea"/>
                    <a:sym typeface="+mn-lt"/>
                  </a:rPr>
                  <a:t>2</a:t>
                </a:r>
              </a:p>
            </p:txBody>
          </p:sp>
          <p:cxnSp>
            <p:nvCxnSpPr>
              <p:cNvPr id="145" name="直接连接符 144"/>
              <p:cNvCxnSpPr/>
              <p:nvPr/>
            </p:nvCxnSpPr>
            <p:spPr>
              <a:xfrm flipH="1">
                <a:off x="7937400" y="205013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43" name="矩形 142"/>
            <p:cNvSpPr/>
            <p:nvPr/>
          </p:nvSpPr>
          <p:spPr>
            <a:xfrm>
              <a:off x="8585778" y="2194782"/>
              <a:ext cx="2340720" cy="494454"/>
            </a:xfrm>
            <a:prstGeom prst="rect">
              <a:avLst/>
            </a:prstGeom>
          </p:spPr>
          <p:txBody>
            <a:bodyPr wrap="square">
              <a:spAutoFit/>
            </a:bodyPr>
            <a:lstStyle/>
            <a:p>
              <a:pPr lvl="0">
                <a:lnSpc>
                  <a:spcPct val="130000"/>
                </a:lnSpc>
              </a:pPr>
              <a:r>
                <a:rPr lang="zh-CN" altLang="en-US" sz="1400" b="1" dirty="0">
                  <a:solidFill>
                    <a:srgbClr val="C00000"/>
                  </a:solidFill>
                  <a:latin typeface="微软雅黑" panose="020B0503020204020204" pitchFamily="34" charset="-122"/>
                  <a:ea typeface="微软雅黑" panose="020B0503020204020204" pitchFamily="34" charset="-122"/>
                  <a:cs typeface="+mn-ea"/>
                  <a:sym typeface="+mn-lt"/>
                </a:rPr>
                <a:t>创新模式</a:t>
              </a:r>
            </a:p>
          </p:txBody>
        </p:sp>
      </p:grpSp>
      <p:grpSp>
        <p:nvGrpSpPr>
          <p:cNvPr id="146" name="组合 145"/>
          <p:cNvGrpSpPr/>
          <p:nvPr/>
        </p:nvGrpSpPr>
        <p:grpSpPr>
          <a:xfrm>
            <a:off x="1383544" y="3190840"/>
            <a:ext cx="2292323" cy="613214"/>
            <a:chOff x="7870068" y="1871617"/>
            <a:chExt cx="3056430" cy="817619"/>
          </a:xfrm>
        </p:grpSpPr>
        <p:grpSp>
          <p:nvGrpSpPr>
            <p:cNvPr id="147" name="组合 146"/>
            <p:cNvGrpSpPr/>
            <p:nvPr/>
          </p:nvGrpSpPr>
          <p:grpSpPr>
            <a:xfrm>
              <a:off x="7870068" y="1871617"/>
              <a:ext cx="683080" cy="789458"/>
              <a:chOff x="7662836" y="1774557"/>
              <a:chExt cx="683080" cy="789458"/>
            </a:xfrm>
          </p:grpSpPr>
          <p:sp>
            <p:nvSpPr>
              <p:cNvPr id="149" name="文本框 148"/>
              <p:cNvSpPr txBox="1"/>
              <p:nvPr/>
            </p:nvSpPr>
            <p:spPr>
              <a:xfrm>
                <a:off x="7662836" y="1774557"/>
                <a:ext cx="475827" cy="675641"/>
              </a:xfrm>
              <a:prstGeom prst="rect">
                <a:avLst/>
              </a:prstGeom>
              <a:noFill/>
            </p:spPr>
            <p:txBody>
              <a:bodyPr wrap="none" rtlCol="0">
                <a:spAutoFit/>
              </a:bodyPr>
              <a:lstStyle/>
              <a:p>
                <a:pPr algn="just"/>
                <a:r>
                  <a:rPr lang="en-US" altLang="zh-CN" sz="2700" dirty="0">
                    <a:latin typeface="微软雅黑" panose="020B0503020204020204" pitchFamily="34" charset="-122"/>
                    <a:ea typeface="微软雅黑" panose="020B0503020204020204" pitchFamily="34" charset="-122"/>
                    <a:cs typeface="+mn-ea"/>
                    <a:sym typeface="+mn-lt"/>
                  </a:rPr>
                  <a:t>3</a:t>
                </a:r>
              </a:p>
            </p:txBody>
          </p:sp>
          <p:cxnSp>
            <p:nvCxnSpPr>
              <p:cNvPr id="150" name="直接连接符 149"/>
              <p:cNvCxnSpPr/>
              <p:nvPr/>
            </p:nvCxnSpPr>
            <p:spPr>
              <a:xfrm flipH="1">
                <a:off x="7937400" y="205013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48" name="矩形 147"/>
            <p:cNvSpPr/>
            <p:nvPr/>
          </p:nvSpPr>
          <p:spPr>
            <a:xfrm>
              <a:off x="8585778" y="2194782"/>
              <a:ext cx="2340720" cy="494454"/>
            </a:xfrm>
            <a:prstGeom prst="rect">
              <a:avLst/>
            </a:prstGeom>
          </p:spPr>
          <p:txBody>
            <a:bodyPr wrap="square">
              <a:spAutoFit/>
            </a:bodyPr>
            <a:lstStyle/>
            <a:p>
              <a:pPr lvl="0">
                <a:lnSpc>
                  <a:spcPct val="130000"/>
                </a:lnSpc>
              </a:pPr>
              <a:r>
                <a:rPr lang="zh-CN" altLang="en-US" sz="1400" b="1" dirty="0">
                  <a:solidFill>
                    <a:srgbClr val="C00000"/>
                  </a:solidFill>
                  <a:latin typeface="微软雅黑" panose="020B0503020204020204" pitchFamily="34" charset="-122"/>
                  <a:ea typeface="微软雅黑" panose="020B0503020204020204" pitchFamily="34" charset="-122"/>
                  <a:cs typeface="+mn-ea"/>
                  <a:sym typeface="+mn-lt"/>
                </a:rPr>
                <a:t>资源利用</a:t>
              </a:r>
            </a:p>
          </p:txBody>
        </p:sp>
      </p:grpSp>
      <p:pic>
        <p:nvPicPr>
          <p:cNvPr id="3" name="图片 2"/>
          <p:cNvPicPr>
            <a:picLocks noChangeAspect="1"/>
          </p:cNvPicPr>
          <p:nvPr/>
        </p:nvPicPr>
        <p:blipFill>
          <a:blip r:embed="rId2" cstate="email"/>
          <a:stretch>
            <a:fillRect/>
          </a:stretch>
        </p:blipFill>
        <p:spPr>
          <a:xfrm>
            <a:off x="3578225" y="1593850"/>
            <a:ext cx="5973445" cy="2500630"/>
          </a:xfrm>
          <a:prstGeom prst="rect">
            <a:avLst/>
          </a:prstGeom>
        </p:spPr>
      </p:pic>
      <p:sp>
        <p:nvSpPr>
          <p:cNvPr id="2" name="标题 1"/>
          <p:cNvSpPr txBox="1"/>
          <p:nvPr/>
        </p:nvSpPr>
        <p:spPr>
          <a:xfrm>
            <a:off x="605084" y="605318"/>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BLM模型之创新焦点：创新冒险，不创新是更大的冒险</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3005"/>
            <a:ext cx="12206605" cy="522605"/>
          </a:xfrm>
          <a:prstGeom prst="rect">
            <a:avLst/>
          </a:prstGeom>
        </p:spPr>
      </p:pic>
      <p:pic>
        <p:nvPicPr>
          <p:cNvPr id="324" name="图片 120"/>
          <p:cNvPicPr>
            <a:picLocks noChangeAspect="1"/>
          </p:cNvPicPr>
          <p:nvPr/>
        </p:nvPicPr>
        <p:blipFill>
          <a:blip r:embed="rId3" r:link="rId4" cstate="email"/>
          <a:srcRect/>
          <a:stretch>
            <a:fillRect/>
          </a:stretch>
        </p:blipFill>
        <p:spPr>
          <a:xfrm>
            <a:off x="2810741" y="1587189"/>
            <a:ext cx="5670630" cy="1928827"/>
          </a:xfrm>
          <a:prstGeom prst="rect">
            <a:avLst/>
          </a:prstGeom>
          <a:noFill/>
          <a:ln w="9525">
            <a:noFill/>
          </a:ln>
        </p:spPr>
      </p:pic>
      <p:graphicFrame>
        <p:nvGraphicFramePr>
          <p:cNvPr id="5" name="表格 4"/>
          <p:cNvGraphicFramePr/>
          <p:nvPr/>
        </p:nvGraphicFramePr>
        <p:xfrm>
          <a:off x="1655101" y="3592843"/>
          <a:ext cx="8286750" cy="167640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2428875">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428875">
                  <a:extLst>
                    <a:ext uri="{9D8B030D-6E8A-4147-A177-3AD203B41FA5}">
                      <a16:colId xmlns:a16="http://schemas.microsoft.com/office/drawing/2014/main" val="20003"/>
                    </a:ext>
                  </a:extLst>
                </a:gridCol>
              </a:tblGrid>
              <a:tr h="518160">
                <a:tc>
                  <a:txBody>
                    <a:bodyPr/>
                    <a:lstStyle/>
                    <a:p>
                      <a:pPr algn="l" fontAlgn="ctr">
                        <a:buNone/>
                      </a:pPr>
                      <a:r>
                        <a:rPr lang="zh-CN" altLang="en-US" sz="1350" b="1" dirty="0">
                          <a:solidFill>
                            <a:schemeClr val="tx1"/>
                          </a:solidFill>
                          <a:latin typeface="微软雅黑" panose="020B0503020204020204" pitchFamily="34" charset="-122"/>
                          <a:ea typeface="微软雅黑" panose="020B0503020204020204" pitchFamily="34" charset="-122"/>
                          <a:cs typeface="+mn-ea"/>
                          <a:sym typeface="+mn-lt"/>
                        </a:rPr>
                        <a:t>定义与特征</a:t>
                      </a:r>
                    </a:p>
                  </a:txBody>
                  <a:tcPr marL="121920" marR="121920" anchor="ctr">
                    <a:lnL w="12700">
                      <a:noFill/>
                      <a:prstDash val="soli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350" b="0" dirty="0">
                          <a:solidFill>
                            <a:schemeClr val="tx1"/>
                          </a:solidFill>
                          <a:latin typeface="微软雅黑" panose="020B0503020204020204" pitchFamily="34" charset="-122"/>
                          <a:ea typeface="微软雅黑" panose="020B0503020204020204" pitchFamily="34" charset="-122"/>
                          <a:cs typeface="+mn-ea"/>
                          <a:sym typeface="+mn-lt"/>
                        </a:rPr>
                        <a:t>成熟业务，收入与利润的主要来源</a:t>
                      </a:r>
                    </a:p>
                  </a:txBody>
                  <a:tcPr marL="121920" marR="1219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350" b="0" dirty="0">
                          <a:solidFill>
                            <a:schemeClr val="tx1"/>
                          </a:solidFill>
                          <a:latin typeface="微软雅黑" panose="020B0503020204020204" pitchFamily="34" charset="-122"/>
                          <a:ea typeface="微软雅黑" panose="020B0503020204020204" pitchFamily="34" charset="-122"/>
                          <a:cs typeface="+mn-ea"/>
                          <a:sym typeface="+mn-lt"/>
                        </a:rPr>
                        <a:t>增长业务，市场增长和扩张机会的来源</a:t>
                      </a:r>
                    </a:p>
                  </a:txBody>
                  <a:tcPr marL="121920" marR="1219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35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产品/业务创新的组合，未来长期增长的机会点</a:t>
                      </a:r>
                    </a:p>
                  </a:txBody>
                  <a:tcPr marL="121920" marR="121920" anchor="ctr">
                    <a:lnL w="12700" cap="flat" cmpd="sng" algn="ctr">
                      <a:solidFill>
                        <a:schemeClr val="bg1">
                          <a:lumMod val="75000"/>
                        </a:schemeClr>
                      </a:solidFill>
                      <a:prstDash val="solid"/>
                      <a:round/>
                      <a:headEnd type="none" w="med" len="med"/>
                      <a:tailEnd type="none" w="med" len="med"/>
                    </a:lnL>
                    <a:lnR w="12700">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158240">
                <a:tc>
                  <a:txBody>
                    <a:bodyPr/>
                    <a:lstStyle/>
                    <a:p>
                      <a:pPr algn="l" fontAlgn="ctr">
                        <a:buNone/>
                      </a:pPr>
                      <a:r>
                        <a:rPr lang="zh-CN" altLang="en-US" sz="1350" b="1" dirty="0">
                          <a:solidFill>
                            <a:schemeClr val="tx1"/>
                          </a:solidFill>
                          <a:latin typeface="微软雅黑" panose="020B0503020204020204" pitchFamily="34" charset="-122"/>
                          <a:ea typeface="微软雅黑" panose="020B0503020204020204" pitchFamily="34" charset="-122"/>
                          <a:cs typeface="+mn-ea"/>
                          <a:sym typeface="+mn-lt"/>
                        </a:rPr>
                        <a:t>管理重点与指标</a:t>
                      </a:r>
                    </a:p>
                    <a:p>
                      <a:pPr algn="l" fontAlgn="ctr">
                        <a:buNone/>
                      </a:pPr>
                      <a:endParaRPr lang="zh-CN" altLang="en-US" sz="1350" b="1" dirty="0">
                        <a:solidFill>
                          <a:schemeClr val="tx1"/>
                        </a:solidFill>
                        <a:latin typeface="微软雅黑" panose="020B0503020204020204" pitchFamily="34" charset="-122"/>
                        <a:ea typeface="微软雅黑" panose="020B0503020204020204" pitchFamily="34" charset="-122"/>
                        <a:cs typeface="+mn-ea"/>
                        <a:sym typeface="+mn-lt"/>
                      </a:endParaRPr>
                    </a:p>
                  </a:txBody>
                  <a:tcPr marL="121920" marR="121920" anchor="ctr">
                    <a:lnL w="12700">
                      <a:noFill/>
                      <a:prstDash val="soli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350" b="1" dirty="0">
                          <a:latin typeface="微软雅黑" panose="020B0503020204020204" pitchFamily="34" charset="-122"/>
                          <a:ea typeface="微软雅黑" panose="020B0503020204020204" pitchFamily="34" charset="-122"/>
                          <a:cs typeface="微软雅黑" panose="020B0503020204020204" pitchFamily="34" charset="-122"/>
                          <a:sym typeface="+mn-lt"/>
                        </a:rPr>
                        <a:t>近期的利润表现与现金流</a:t>
                      </a:r>
                      <a:endParaRPr lang="zh-CN" altLang="en-US" sz="135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a:buNone/>
                      </a:pPr>
                      <a:r>
                        <a:rPr lang="zh-CN" altLang="en-US" sz="1350" dirty="0">
                          <a:latin typeface="微软雅黑" panose="020B0503020204020204" pitchFamily="34" charset="-122"/>
                          <a:ea typeface="微软雅黑" panose="020B0503020204020204" pitchFamily="34" charset="-122"/>
                          <a:cs typeface="微软雅黑" panose="020B0503020204020204" pitchFamily="34" charset="-122"/>
                          <a:sym typeface="+mn-lt"/>
                        </a:rPr>
                        <a:t>-利润（收入/支出）</a:t>
                      </a:r>
                    </a:p>
                    <a:p>
                      <a:pPr>
                        <a:buNone/>
                      </a:pPr>
                      <a:r>
                        <a:rPr lang="zh-CN" altLang="en-US" sz="1350" dirty="0">
                          <a:latin typeface="微软雅黑" panose="020B0503020204020204" pitchFamily="34" charset="-122"/>
                          <a:ea typeface="微软雅黑" panose="020B0503020204020204" pitchFamily="34" charset="-122"/>
                          <a:cs typeface="微软雅黑" panose="020B0503020204020204" pitchFamily="34" charset="-122"/>
                          <a:sym typeface="+mn-lt"/>
                        </a:rPr>
                        <a:t>-ROI</a:t>
                      </a:r>
                    </a:p>
                    <a:p>
                      <a:pPr>
                        <a:buNone/>
                      </a:pPr>
                      <a:r>
                        <a:rPr lang="zh-CN" altLang="en-US" sz="1350" dirty="0">
                          <a:latin typeface="微软雅黑" panose="020B0503020204020204" pitchFamily="34" charset="-122"/>
                          <a:ea typeface="微软雅黑" panose="020B0503020204020204" pitchFamily="34" charset="-122"/>
                          <a:cs typeface="微软雅黑" panose="020B0503020204020204" pitchFamily="34" charset="-122"/>
                          <a:sym typeface="+mn-lt"/>
                        </a:rPr>
                        <a:t>-生产效率</a:t>
                      </a:r>
                    </a:p>
                  </a:txBody>
                  <a:tcPr marL="121920" marR="1219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350" b="1" dirty="0">
                          <a:latin typeface="微软雅黑" panose="020B0503020204020204" pitchFamily="34" charset="-122"/>
                          <a:ea typeface="微软雅黑" panose="020B0503020204020204" pitchFamily="34" charset="-122"/>
                          <a:cs typeface="微软雅黑" panose="020B0503020204020204" pitchFamily="34" charset="-122"/>
                          <a:sym typeface="+mn-lt"/>
                        </a:rPr>
                        <a:t>收入的増长和投资回报</a:t>
                      </a:r>
                      <a:endParaRPr lang="zh-CN" altLang="en-US" sz="135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a:buNone/>
                      </a:pPr>
                      <a:r>
                        <a:rPr lang="zh-CN" altLang="en-US" sz="1350" dirty="0">
                          <a:latin typeface="微软雅黑" panose="020B0503020204020204" pitchFamily="34" charset="-122"/>
                          <a:ea typeface="微软雅黑" panose="020B0503020204020204" pitchFamily="34" charset="-122"/>
                          <a:cs typeface="微软雅黑" panose="020B0503020204020204" pitchFamily="34" charset="-122"/>
                          <a:sym typeface="+mn-lt"/>
                        </a:rPr>
                        <a:t>-收入增长</a:t>
                      </a:r>
                    </a:p>
                    <a:p>
                      <a:pPr>
                        <a:buNone/>
                      </a:pPr>
                      <a:r>
                        <a:rPr lang="zh-CN" altLang="en-US" sz="1350" dirty="0">
                          <a:latin typeface="微软雅黑" panose="020B0503020204020204" pitchFamily="34" charset="-122"/>
                          <a:ea typeface="微软雅黑" panose="020B0503020204020204" pitchFamily="34" charset="-122"/>
                          <a:cs typeface="微软雅黑" panose="020B0503020204020204" pitchFamily="34" charset="-122"/>
                          <a:sym typeface="+mn-lt"/>
                        </a:rPr>
                        <a:t>-新客户/关键客户获取</a:t>
                      </a:r>
                    </a:p>
                    <a:p>
                      <a:pPr>
                        <a:buNone/>
                      </a:pPr>
                      <a:r>
                        <a:rPr lang="zh-CN" altLang="en-US" sz="1350" dirty="0">
                          <a:latin typeface="微软雅黑" panose="020B0503020204020204" pitchFamily="34" charset="-122"/>
                          <a:ea typeface="微软雅黑" panose="020B0503020204020204" pitchFamily="34" charset="-122"/>
                          <a:cs typeface="微软雅黑" panose="020B0503020204020204" pitchFamily="34" charset="-122"/>
                          <a:sym typeface="+mn-lt"/>
                        </a:rPr>
                        <a:t>-市场份额增长</a:t>
                      </a:r>
                    </a:p>
                    <a:p>
                      <a:pPr>
                        <a:buNone/>
                      </a:pPr>
                      <a:r>
                        <a:rPr lang="zh-CN" altLang="en-US" sz="1350" dirty="0">
                          <a:latin typeface="微软雅黑" panose="020B0503020204020204" pitchFamily="34" charset="-122"/>
                          <a:ea typeface="微软雅黑" panose="020B0503020204020204" pitchFamily="34" charset="-122"/>
                          <a:cs typeface="微软雅黑" panose="020B0503020204020204" pitchFamily="34" charset="-122"/>
                          <a:sym typeface="+mn-lt"/>
                        </a:rPr>
                        <a:t>-预期收益，净现值</a:t>
                      </a:r>
                    </a:p>
                  </a:txBody>
                  <a:tcPr marL="121920" marR="1219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350" b="1" dirty="0">
                          <a:latin typeface="微软雅黑" panose="020B0503020204020204" pitchFamily="34" charset="-122"/>
                          <a:ea typeface="微软雅黑" panose="020B0503020204020204" pitchFamily="34" charset="-122"/>
                          <a:cs typeface="微软雅黑" panose="020B0503020204020204" pitchFamily="34" charset="-122"/>
                          <a:sym typeface="+mn-lt"/>
                        </a:rPr>
                        <a:t>回报的多少和成功的可能性</a:t>
                      </a:r>
                      <a:endParaRPr lang="zh-CN" altLang="en-US" sz="135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a:buNone/>
                      </a:pPr>
                      <a:r>
                        <a:rPr lang="zh-CN" altLang="en-US" sz="1350" dirty="0">
                          <a:latin typeface="微软雅黑" panose="020B0503020204020204" pitchFamily="34" charset="-122"/>
                          <a:ea typeface="微软雅黑" panose="020B0503020204020204" pitchFamily="34" charset="-122"/>
                          <a:cs typeface="微软雅黑" panose="020B0503020204020204" pitchFamily="34" charset="-122"/>
                          <a:sym typeface="+mn-lt"/>
                        </a:rPr>
                        <a:t>-顶目进展关键里程碑</a:t>
                      </a:r>
                    </a:p>
                    <a:p>
                      <a:pPr>
                        <a:buNone/>
                      </a:pPr>
                      <a:r>
                        <a:rPr lang="zh-CN" altLang="en-US" sz="1350" dirty="0">
                          <a:latin typeface="微软雅黑" panose="020B0503020204020204" pitchFamily="34" charset="-122"/>
                          <a:ea typeface="微软雅黑" panose="020B0503020204020204" pitchFamily="34" charset="-122"/>
                          <a:cs typeface="微软雅黑" panose="020B0503020204020204" pitchFamily="34" charset="-122"/>
                          <a:sym typeface="+mn-lt"/>
                        </a:rPr>
                        <a:t>-机会点的数量和回报评估</a:t>
                      </a:r>
                    </a:p>
                    <a:p>
                      <a:pPr>
                        <a:buNone/>
                      </a:pPr>
                      <a:r>
                        <a:rPr lang="zh-CN" altLang="en-US" sz="1350" dirty="0">
                          <a:latin typeface="微软雅黑" panose="020B0503020204020204" pitchFamily="34" charset="-122"/>
                          <a:ea typeface="微软雅黑" panose="020B0503020204020204" pitchFamily="34" charset="-122"/>
                          <a:cs typeface="微软雅黑" panose="020B0503020204020204" pitchFamily="34" charset="-122"/>
                          <a:sym typeface="+mn-lt"/>
                        </a:rPr>
                        <a:t>-从创意到商用的成功概率</a:t>
                      </a:r>
                    </a:p>
                  </a:txBody>
                  <a:tcPr marL="121920" marR="121920">
                    <a:lnL w="12700" cap="flat" cmpd="sng" algn="ctr">
                      <a:solidFill>
                        <a:schemeClr val="bg1">
                          <a:lumMod val="75000"/>
                        </a:schemeClr>
                      </a:solidFill>
                      <a:prstDash val="solid"/>
                      <a:round/>
                      <a:headEnd type="none" w="med" len="med"/>
                      <a:tailEnd type="none" w="med" len="med"/>
                    </a:lnL>
                    <a:lnR w="12700">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6" name="TextBox 5"/>
          <p:cNvSpPr txBox="1"/>
          <p:nvPr/>
        </p:nvSpPr>
        <p:spPr>
          <a:xfrm>
            <a:off x="2951308" y="5363223"/>
            <a:ext cx="5325110" cy="297815"/>
          </a:xfrm>
          <a:prstGeom prst="rect">
            <a:avLst/>
          </a:prstGeom>
          <a:noFill/>
        </p:spPr>
        <p:txBody>
          <a:bodyPr wrap="none" lIns="91437" tIns="45718" rIns="91437" bIns="45718" rtlCol="0">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13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mn-lt"/>
              </a:rPr>
              <a:t>一定要建立起差异化的管理模式（研发、市场）：投入、考核、激励</a:t>
            </a:r>
          </a:p>
        </p:txBody>
      </p:sp>
      <p:sp>
        <p:nvSpPr>
          <p:cNvPr id="7" name="TextBox 6"/>
          <p:cNvSpPr txBox="1"/>
          <p:nvPr/>
        </p:nvSpPr>
        <p:spPr>
          <a:xfrm>
            <a:off x="3651777" y="2029988"/>
            <a:ext cx="695960" cy="297815"/>
          </a:xfrm>
          <a:prstGeom prst="rect">
            <a:avLst/>
          </a:prstGeom>
          <a:noFill/>
        </p:spPr>
        <p:txBody>
          <a:bodyPr wrap="none" lIns="91437" tIns="45718" rIns="91437" bIns="45718" rtlCol="0">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13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mn-lt"/>
              </a:rPr>
              <a:t>碗里的</a:t>
            </a:r>
          </a:p>
        </p:txBody>
      </p:sp>
      <p:sp>
        <p:nvSpPr>
          <p:cNvPr id="8" name="TextBox 7"/>
          <p:cNvSpPr txBox="1"/>
          <p:nvPr/>
        </p:nvSpPr>
        <p:spPr>
          <a:xfrm>
            <a:off x="5090863" y="1719769"/>
            <a:ext cx="695960" cy="297815"/>
          </a:xfrm>
          <a:prstGeom prst="rect">
            <a:avLst/>
          </a:prstGeom>
          <a:noFill/>
        </p:spPr>
        <p:txBody>
          <a:bodyPr wrap="none" lIns="91437" tIns="45718" rIns="91437" bIns="45718" rtlCol="0">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13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mn-lt"/>
              </a:rPr>
              <a:t>锅里的</a:t>
            </a:r>
          </a:p>
        </p:txBody>
      </p:sp>
      <p:sp>
        <p:nvSpPr>
          <p:cNvPr id="9" name="TextBox 8"/>
          <p:cNvSpPr txBox="1"/>
          <p:nvPr/>
        </p:nvSpPr>
        <p:spPr>
          <a:xfrm>
            <a:off x="6591161" y="1342605"/>
            <a:ext cx="695960" cy="297815"/>
          </a:xfrm>
          <a:prstGeom prst="rect">
            <a:avLst/>
          </a:prstGeom>
          <a:noFill/>
        </p:spPr>
        <p:txBody>
          <a:bodyPr wrap="none" lIns="91437" tIns="45718" rIns="91437" bIns="45718" rtlCol="0">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13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mn-lt"/>
              </a:rPr>
              <a:t>田里的</a:t>
            </a:r>
          </a:p>
        </p:txBody>
      </p:sp>
      <p:sp>
        <p:nvSpPr>
          <p:cNvPr id="2" name="标题 1"/>
          <p:cNvSpPr txBox="1"/>
          <p:nvPr/>
        </p:nvSpPr>
        <p:spPr>
          <a:xfrm>
            <a:off x="587719" y="428816"/>
            <a:ext cx="8581272" cy="624649"/>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rgbClr val="0070C0"/>
                </a:solidFill>
                <a:effectLst/>
                <a:uLnTx/>
                <a:uFillTx/>
                <a:latin typeface="Arial" panose="020B0604020202020204" pitchFamily="34" charset="0"/>
                <a:ea typeface="微软雅黑" panose="020B0503020204020204" pitchFamily="34" charset="-122"/>
                <a:cs typeface="+mn-ea"/>
                <a:sym typeface="+mn-lt"/>
              </a:rPr>
              <a:t>业务组合策略：碗里的，锅里的，田里的都要创新，重点不同</a:t>
            </a:r>
            <a:endParaRPr kumimoji="0" lang="en-US" altLang="zh-CN" sz="2000" b="1" i="0" u="none" strike="noStrike" kern="1200" cap="none" spc="0" normalizeH="0" baseline="0" noProof="0" dirty="0">
              <a:ln>
                <a:noFill/>
              </a:ln>
              <a:solidFill>
                <a:srgbClr val="0070C0"/>
              </a:solidFill>
              <a:effectLst/>
              <a:uLnTx/>
              <a:uFillTx/>
              <a:latin typeface="Arial" panose="020B0604020202020204" pitchFamily="34" charset="0"/>
              <a:ea typeface="微软雅黑" panose="020B0503020204020204" pitchFamily="34" charset="-122"/>
              <a:cs typeface="+mn-ea"/>
              <a:sym typeface="+mn-lt"/>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rgbClr val="0070C0"/>
                </a:solidFill>
                <a:effectLst/>
                <a:uLnTx/>
                <a:uFillTx/>
                <a:latin typeface="Arial" panose="020B0604020202020204" pitchFamily="34" charset="0"/>
                <a:ea typeface="微软雅黑" panose="020B0503020204020204" pitchFamily="34" charset="-122"/>
                <a:cs typeface="+mn-ea"/>
                <a:sym typeface="+mn-lt"/>
              </a:rPr>
              <a:t>分别是商业模式、产品竞争力、标准专利。案例：</a:t>
            </a:r>
            <a:r>
              <a:rPr kumimoji="0" lang="en-US" altLang="zh-CN" sz="2000" b="1" i="0" u="none" strike="noStrike" kern="1200" cap="none" spc="0" normalizeH="0" baseline="0" noProof="0" dirty="0">
                <a:ln>
                  <a:noFill/>
                </a:ln>
                <a:solidFill>
                  <a:srgbClr val="0070C0"/>
                </a:solidFill>
                <a:effectLst/>
                <a:uLnTx/>
                <a:uFillTx/>
                <a:latin typeface="Arial" panose="020B0604020202020204" pitchFamily="34" charset="0"/>
                <a:ea typeface="微软雅黑" panose="020B0503020204020204" pitchFamily="34" charset="-122"/>
                <a:cs typeface="+mn-ea"/>
                <a:sym typeface="+mn-lt"/>
              </a:rPr>
              <a:t>UMTS</a:t>
            </a:r>
            <a:endParaRPr kumimoji="0" lang="zh-CN" altLang="en-US" sz="2000" b="1" i="0" u="none" strike="noStrike" kern="1200" cap="none" spc="0" normalizeH="0" baseline="0" noProof="0" dirty="0">
              <a:ln>
                <a:noFill/>
              </a:ln>
              <a:solidFill>
                <a:srgbClr val="0070C0"/>
              </a:solidFill>
              <a:effectLst/>
              <a:uLnTx/>
              <a:uFillTx/>
              <a:latin typeface="Arial" panose="020B0604020202020204" pitchFamily="34" charset="0"/>
              <a:ea typeface="微软雅黑" panose="020B0503020204020204" pitchFamily="34" charset="-122"/>
              <a:cs typeface="+mn-ea"/>
              <a:sym typeface="+mn-lt"/>
            </a:endParaRPr>
          </a:p>
        </p:txBody>
      </p:sp>
      <p:sp>
        <p:nvSpPr>
          <p:cNvPr id="11" name="Rectangle 3"/>
          <p:cNvSpPr txBox="1">
            <a:spLocks noChangeArrowheads="1"/>
          </p:cNvSpPr>
          <p:nvPr/>
        </p:nvSpPr>
        <p:spPr bwMode="auto">
          <a:xfrm>
            <a:off x="1671320" y="6296074"/>
            <a:ext cx="8991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en-US" altLang="zh-CN" sz="1800" b="1" dirty="0">
                <a:solidFill>
                  <a:schemeClr val="bg1"/>
                </a:solidFill>
                <a:effectLst/>
                <a:latin typeface="微软雅黑" panose="020B0503020204020204" pitchFamily="34" charset="-122"/>
                <a:ea typeface="微软雅黑" panose="020B0503020204020204" pitchFamily="34" charset="-122"/>
              </a:rPr>
              <a:t>1</a:t>
            </a:r>
            <a:r>
              <a:rPr lang="zh-CN" altLang="en-US" sz="1800" b="1" dirty="0">
                <a:solidFill>
                  <a:schemeClr val="bg1"/>
                </a:solidFill>
                <a:effectLst/>
                <a:latin typeface="微软雅黑" panose="020B0503020204020204" pitchFamily="34" charset="-122"/>
                <a:ea typeface="微软雅黑" panose="020B0503020204020204" pitchFamily="34" charset="-122"/>
              </a:rPr>
              <a:t>、量大、高增长的锅里业务饱和攻击；</a:t>
            </a:r>
            <a:r>
              <a:rPr lang="en-US" altLang="zh-CN" sz="1800" b="1" dirty="0">
                <a:solidFill>
                  <a:schemeClr val="bg1"/>
                </a:solidFill>
                <a:effectLst/>
                <a:latin typeface="微软雅黑" panose="020B0503020204020204" pitchFamily="34" charset="-122"/>
                <a:ea typeface="微软雅黑" panose="020B0503020204020204" pitchFamily="34" charset="-122"/>
              </a:rPr>
              <a:t>2</a:t>
            </a:r>
            <a:r>
              <a:rPr lang="zh-CN" altLang="en-US" sz="1800" b="1" dirty="0">
                <a:solidFill>
                  <a:schemeClr val="bg1"/>
                </a:solidFill>
                <a:effectLst/>
                <a:latin typeface="微软雅黑" panose="020B0503020204020204" pitchFamily="34" charset="-122"/>
                <a:ea typeface="微软雅黑" panose="020B0503020204020204" pitchFamily="34" charset="-122"/>
              </a:rPr>
              <a:t>、碗里：饥饿性配置；</a:t>
            </a:r>
            <a:r>
              <a:rPr lang="en-US" altLang="zh-CN" sz="1800" b="1" dirty="0">
                <a:solidFill>
                  <a:schemeClr val="bg1"/>
                </a:solidFill>
                <a:effectLst/>
                <a:latin typeface="微软雅黑" panose="020B0503020204020204" pitchFamily="34" charset="-122"/>
                <a:ea typeface="微软雅黑" panose="020B0503020204020204" pitchFamily="34" charset="-122"/>
              </a:rPr>
              <a:t>3</a:t>
            </a:r>
            <a:r>
              <a:rPr lang="zh-CN" altLang="en-US" sz="1800" b="1" dirty="0">
                <a:solidFill>
                  <a:schemeClr val="bg1"/>
                </a:solidFill>
                <a:effectLst/>
                <a:latin typeface="微软雅黑" panose="020B0503020204020204" pitchFamily="34" charset="-122"/>
                <a:ea typeface="微软雅黑" panose="020B0503020204020204" pitchFamily="34" charset="-122"/>
              </a:rPr>
              <a:t>、田里：枪</a:t>
            </a:r>
            <a:r>
              <a:rPr lang="en-US" altLang="zh-CN" sz="1800" b="1" dirty="0">
                <a:solidFill>
                  <a:schemeClr val="bg1"/>
                </a:solidFill>
                <a:effectLst/>
                <a:latin typeface="微软雅黑" panose="020B0503020204020204" pitchFamily="34" charset="-122"/>
                <a:ea typeface="微软雅黑" panose="020B0503020204020204" pitchFamily="34" charset="-122"/>
              </a:rPr>
              <a:t>+</a:t>
            </a:r>
            <a:r>
              <a:rPr lang="zh-CN" altLang="en-US" sz="1800" b="1" dirty="0">
                <a:solidFill>
                  <a:schemeClr val="bg1"/>
                </a:solidFill>
                <a:effectLst/>
                <a:latin typeface="微软雅黑" panose="020B0503020204020204" pitchFamily="34" charset="-122"/>
                <a:ea typeface="微软雅黑" panose="020B0503020204020204" pitchFamily="34" charset="-122"/>
              </a:rPr>
              <a:t>炮</a:t>
            </a:r>
            <a:endParaRPr lang="en-US" altLang="zh-CN" sz="1800" b="1" dirty="0">
              <a:solidFill>
                <a:schemeClr val="bg1"/>
              </a:solidFill>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 name="矩形 26"/>
          <p:cNvSpPr/>
          <p:nvPr/>
        </p:nvSpPr>
        <p:spPr>
          <a:xfrm>
            <a:off x="-17780" y="5241290"/>
            <a:ext cx="12200255" cy="162623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3" name="标题 1"/>
          <p:cNvSpPr txBox="1"/>
          <p:nvPr/>
        </p:nvSpPr>
        <p:spPr>
          <a:xfrm>
            <a:off x="541778" y="469582"/>
            <a:ext cx="9195435" cy="34353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创新方向：</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1</a:t>
            </a:r>
            <a:r>
              <a:rPr lang="zh-CN" altLang="en-US" dirty="0">
                <a:solidFill>
                  <a:srgbClr val="0070C0"/>
                </a:solidFill>
                <a:latin typeface="微软雅黑" panose="020B0503020204020204" pitchFamily="34" charset="-122"/>
                <a:ea typeface="微软雅黑" panose="020B0503020204020204" pitchFamily="34" charset="-122"/>
                <a:cs typeface="+mn-ea"/>
                <a:sym typeface="+mn-lt"/>
              </a:rPr>
              <a:t>、对准客户需求；</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2</a:t>
            </a:r>
            <a:r>
              <a:rPr lang="zh-CN" altLang="en-US" dirty="0">
                <a:solidFill>
                  <a:srgbClr val="0070C0"/>
                </a:solidFill>
                <a:latin typeface="微软雅黑" panose="020B0503020204020204" pitchFamily="34" charset="-122"/>
                <a:ea typeface="微软雅黑" panose="020B0503020204020204" pitchFamily="34" charset="-122"/>
                <a:cs typeface="+mn-ea"/>
                <a:sym typeface="+mn-lt"/>
              </a:rPr>
              <a:t>、依托现有优势：鲜花长在牛粪上</a:t>
            </a:r>
          </a:p>
        </p:txBody>
      </p:sp>
      <p:sp>
        <p:nvSpPr>
          <p:cNvPr id="28" name="文本框 27"/>
          <p:cNvSpPr txBox="1"/>
          <p:nvPr/>
        </p:nvSpPr>
        <p:spPr>
          <a:xfrm>
            <a:off x="2094865" y="1414145"/>
            <a:ext cx="457835" cy="3481070"/>
          </a:xfrm>
          <a:prstGeom prst="rect">
            <a:avLst/>
          </a:prstGeom>
          <a:solidFill>
            <a:srgbClr val="D4EAF5"/>
          </a:solidFill>
        </p:spPr>
        <p:txBody>
          <a:bodyPr vert="eaVert" wrap="square" lIns="121917" tIns="60958" rIns="121917" bIns="60958" rtlCol="0">
            <a:spAutoFit/>
          </a:bodyPr>
          <a:lstStyle/>
          <a:p>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sym typeface="+mn-lt"/>
              </a:rPr>
              <a:t>  关注成长               关注成本</a:t>
            </a:r>
          </a:p>
        </p:txBody>
      </p:sp>
      <p:sp>
        <p:nvSpPr>
          <p:cNvPr id="29" name="文本框 28"/>
          <p:cNvSpPr txBox="1"/>
          <p:nvPr/>
        </p:nvSpPr>
        <p:spPr>
          <a:xfrm>
            <a:off x="2723515" y="1452245"/>
            <a:ext cx="3291840" cy="1838325"/>
          </a:xfrm>
          <a:prstGeom prst="rect">
            <a:avLst/>
          </a:prstGeom>
          <a:noFill/>
        </p:spPr>
        <p:txBody>
          <a:bodyPr wrap="square" lIns="121917" tIns="60958" rIns="121917" bIns="60958" rtlCol="0">
            <a:spAutoFit/>
          </a:bodyPr>
          <a:lstStyle/>
          <a:p>
            <a:pPr marL="287020" lvl="1" indent="-285750" algn="l"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产品、服务和市场创新	</a:t>
            </a:r>
          </a:p>
          <a:p>
            <a:pPr marL="287020" lvl="1" indent="-285750" algn="l"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应用于聚焦客户和进入	</a:t>
            </a:r>
            <a:endPar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indent="-285750" algn="l"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市场领域</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lt"/>
              </a:rPr>
              <a:t>	</a:t>
            </a:r>
          </a:p>
        </p:txBody>
      </p:sp>
      <p:sp>
        <p:nvSpPr>
          <p:cNvPr id="30" name="文本框 29"/>
          <p:cNvSpPr txBox="1"/>
          <p:nvPr/>
        </p:nvSpPr>
        <p:spPr>
          <a:xfrm>
            <a:off x="6424930" y="1454150"/>
            <a:ext cx="3789680" cy="958850"/>
          </a:xfrm>
          <a:prstGeom prst="rect">
            <a:avLst/>
          </a:prstGeom>
          <a:noFill/>
        </p:spPr>
        <p:txBody>
          <a:bodyPr wrap="square" lIns="121917" tIns="60958" rIns="121917" bIns="60958" rtlCol="0">
            <a:spAutoFit/>
          </a:bodyPr>
          <a:lstStyle/>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mn-ea"/>
                <a:sym typeface="+mn-lt"/>
              </a:rPr>
              <a:t>发展和发行创新产品和服务</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mn-ea"/>
                <a:sym typeface="+mn-lt"/>
              </a:rPr>
              <a:t>进入新市场，寻找新客户</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mn-ea"/>
                <a:sym typeface="+mn-lt"/>
              </a:rPr>
              <a:t>推行新的渠道和交付路径</a:t>
            </a:r>
          </a:p>
        </p:txBody>
      </p:sp>
      <p:cxnSp>
        <p:nvCxnSpPr>
          <p:cNvPr id="31" name="直接连接符 30"/>
          <p:cNvCxnSpPr/>
          <p:nvPr/>
        </p:nvCxnSpPr>
        <p:spPr>
          <a:xfrm>
            <a:off x="2799080" y="2512060"/>
            <a:ext cx="6497320" cy="571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2799080" y="3648710"/>
            <a:ext cx="6497320" cy="4826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2723515" y="2948940"/>
            <a:ext cx="3291840" cy="1558290"/>
          </a:xfrm>
          <a:prstGeom prst="rect">
            <a:avLst/>
          </a:prstGeom>
          <a:noFill/>
        </p:spPr>
        <p:txBody>
          <a:bodyPr wrap="square" lIns="121917" tIns="60958" rIns="121917" bIns="60958" rtlCol="0">
            <a:spAutoFit/>
          </a:bodyPr>
          <a:lstStyle/>
          <a:p>
            <a:pPr marL="287020" lvl="1" indent="-285750" algn="l"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业务模式创新</a:t>
            </a:r>
          </a:p>
          <a:p>
            <a:pPr marL="287020" lvl="1" indent="-285750" algn="l" defTabSz="330200">
              <a:lnSpc>
                <a:spcPct val="130000"/>
              </a:lnSpc>
              <a:spcBef>
                <a:spcPts val="0"/>
              </a:spcBef>
              <a:buClr>
                <a:srgbClr val="267FC3"/>
              </a:buClr>
              <a:buSzPct val="80000"/>
              <a:buFont typeface="Arial" panose="020B0604020202020204" pitchFamily="34" charset="0"/>
              <a:buChar char="•"/>
              <a:tabLst>
                <a:tab pos="8521700" algn="r"/>
              </a:tabLst>
            </a:pP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1270" lvl="1" algn="l" defTabSz="330200">
              <a:lnSpc>
                <a:spcPct val="130000"/>
              </a:lnSpc>
              <a:spcBef>
                <a:spcPts val="0"/>
              </a:spcBef>
              <a:buClr>
                <a:srgbClr val="267FC3"/>
              </a:buClr>
              <a:buSzPct val="80000"/>
              <a:buFont typeface="Arial" panose="020B0604020202020204" pitchFamily="34" charset="0"/>
              <a:tabLst>
                <a:tab pos="8521700" algn="r"/>
              </a:tabLst>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	</a:t>
            </a:r>
          </a:p>
          <a:p>
            <a:pPr marL="287020" lvl="1" indent="-285750" algn="l"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创新用于重建和企业扩张</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lt"/>
              </a:rPr>
              <a:t>	</a:t>
            </a:r>
          </a:p>
        </p:txBody>
      </p:sp>
      <p:sp>
        <p:nvSpPr>
          <p:cNvPr id="34" name="文本框 33"/>
          <p:cNvSpPr txBox="1"/>
          <p:nvPr/>
        </p:nvSpPr>
        <p:spPr>
          <a:xfrm>
            <a:off x="6424930" y="2639060"/>
            <a:ext cx="3789680" cy="958850"/>
          </a:xfrm>
          <a:prstGeom prst="rect">
            <a:avLst/>
          </a:prstGeom>
          <a:noFill/>
        </p:spPr>
        <p:txBody>
          <a:bodyPr wrap="square" lIns="121917" tIns="60958" rIns="121917" bIns="60958" rtlCol="0">
            <a:spAutoFit/>
          </a:bodyPr>
          <a:lstStyle/>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mn-ea"/>
                <a:sym typeface="+mn-lt"/>
              </a:rPr>
              <a:t>发展业务运营的新方式</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mn-ea"/>
                <a:sym typeface="+mn-lt"/>
              </a:rPr>
              <a:t>建立伙伴系快速响应市场</a:t>
            </a:r>
            <a:endParaRPr lang="en-US" altLang="zh-CN" sz="1400" dirty="0">
              <a:latin typeface="微软雅黑" panose="020B0503020204020204" pitchFamily="34" charset="-122"/>
              <a:ea typeface="微软雅黑" panose="020B0503020204020204" pitchFamily="34" charset="-122"/>
              <a:cs typeface="+mn-ea"/>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mn-ea"/>
                <a:sym typeface="+mn-lt"/>
              </a:rPr>
              <a:t>提升业务灵活性</a:t>
            </a:r>
          </a:p>
        </p:txBody>
      </p:sp>
      <p:sp>
        <p:nvSpPr>
          <p:cNvPr id="35" name="文本框 34"/>
          <p:cNvSpPr txBox="1"/>
          <p:nvPr/>
        </p:nvSpPr>
        <p:spPr>
          <a:xfrm>
            <a:off x="2723515" y="4080510"/>
            <a:ext cx="3702050" cy="958850"/>
          </a:xfrm>
          <a:prstGeom prst="rect">
            <a:avLst/>
          </a:prstGeom>
          <a:noFill/>
        </p:spPr>
        <p:txBody>
          <a:bodyPr wrap="square" lIns="121917" tIns="60958" rIns="121917" bIns="60958" rtlCol="0">
            <a:spAutoFit/>
          </a:bodyPr>
          <a:lstStyle/>
          <a:p>
            <a:pPr marL="287020" lvl="1" indent="-285750" algn="l"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运营创新</a:t>
            </a:r>
          </a:p>
          <a:p>
            <a:pPr marL="287020" lvl="1" indent="-285750" algn="l"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创新以改善核心职能领域的效能和效率	</a:t>
            </a:r>
          </a:p>
        </p:txBody>
      </p:sp>
      <p:sp>
        <p:nvSpPr>
          <p:cNvPr id="36" name="文本框 35"/>
          <p:cNvSpPr txBox="1"/>
          <p:nvPr/>
        </p:nvSpPr>
        <p:spPr>
          <a:xfrm>
            <a:off x="6424930" y="3864610"/>
            <a:ext cx="3941445" cy="958850"/>
          </a:xfrm>
          <a:prstGeom prst="rect">
            <a:avLst/>
          </a:prstGeom>
          <a:noFill/>
        </p:spPr>
        <p:txBody>
          <a:bodyPr wrap="square" lIns="121917" tIns="60958" rIns="121917" bIns="60958" rtlCol="0">
            <a:spAutoFit/>
          </a:bodyPr>
          <a:lstStyle/>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发展的最佳成本结构 </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优化流程以改进生产力</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核心职能再造（改组）以提高效率</a:t>
            </a:r>
          </a:p>
        </p:txBody>
      </p:sp>
      <p:sp>
        <p:nvSpPr>
          <p:cNvPr id="37" name="TextBox 20"/>
          <p:cNvSpPr txBox="1"/>
          <p:nvPr/>
        </p:nvSpPr>
        <p:spPr>
          <a:xfrm>
            <a:off x="1745615" y="5380990"/>
            <a:ext cx="8978900" cy="972185"/>
          </a:xfrm>
          <a:prstGeom prst="rect">
            <a:avLst/>
          </a:prstGeom>
          <a:noFill/>
        </p:spPr>
        <p:txBody>
          <a:bodyPr wrap="square" lIns="121917" tIns="60958" rIns="121917" bIns="60958" rtlCol="0">
            <a:spAutoFit/>
          </a:bodyPr>
          <a:lstStyle/>
          <a:p>
            <a:pPr marL="243205" indent="-243205">
              <a:spcBef>
                <a:spcPts val="800"/>
              </a:spcBef>
              <a:buFont typeface="Arial" panose="020B0604020202020204" pitchFamily="34" charset="0"/>
              <a:buChar char="•"/>
            </a:pPr>
            <a:r>
              <a:rPr lang="zh-CN" altLang="en-US"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创新是常态：</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不创新反而是最大的风险，</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rPr>
              <a:t>me too</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没有出路（人无我有</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快</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，人有我优</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不断学习、</a:t>
            </a:r>
            <a:r>
              <a:rPr lang="zh-CN" altLang="en-US"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自我批判</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a:t>
            </a:r>
            <a:endPar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43205" indent="-243205">
              <a:spcBef>
                <a:spcPts val="800"/>
              </a:spcBef>
              <a:buFont typeface="Arial" panose="020B0604020202020204" pitchFamily="34" charset="0"/>
              <a:buChar char="•"/>
            </a:pPr>
            <a:r>
              <a:rPr lang="zh-CN" altLang="en-US"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反对盲目创新，创新要对准客户需求：</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到客户现场、应用场景、工程创新、</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rPr>
              <a:t>TCO</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降低</a:t>
            </a:r>
          </a:p>
          <a:p>
            <a:pPr marL="243205" indent="-243205">
              <a:spcBef>
                <a:spcPts val="800"/>
              </a:spcBef>
              <a:buFont typeface="Arial" panose="020B0604020202020204" pitchFamily="34" charset="0"/>
              <a:buChar char="•"/>
            </a:pPr>
            <a:r>
              <a:rPr lang="zh-CN" altLang="en-US"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鲜花长在牛粪上：</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利用现有的资源和切入点（客户关系、客户需求理解、销售存量等）</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3" cstate="print"/>
          <a:stretch>
            <a:fillRect/>
          </a:stretch>
        </p:blipFill>
        <p:spPr>
          <a:xfrm>
            <a:off x="-7620" y="6263005"/>
            <a:ext cx="12206605" cy="522605"/>
          </a:xfrm>
          <a:prstGeom prst="rect">
            <a:avLst/>
          </a:prstGeom>
        </p:spPr>
      </p:pic>
      <p:graphicFrame>
        <p:nvGraphicFramePr>
          <p:cNvPr id="3" name="表格 2"/>
          <p:cNvGraphicFramePr/>
          <p:nvPr/>
        </p:nvGraphicFramePr>
        <p:xfrm>
          <a:off x="1865737" y="1518939"/>
          <a:ext cx="8562340" cy="3817620"/>
        </p:xfrm>
        <a:graphic>
          <a:graphicData uri="http://schemas.openxmlformats.org/drawingml/2006/table">
            <a:tbl>
              <a:tblPr firstRow="1" bandRow="1">
                <a:tableStyleId>{5C22544A-7EE6-4342-B048-85BDC9FD1C3A}</a:tableStyleId>
              </a:tblPr>
              <a:tblGrid>
                <a:gridCol w="1896110">
                  <a:extLst>
                    <a:ext uri="{9D8B030D-6E8A-4147-A177-3AD203B41FA5}">
                      <a16:colId xmlns:a16="http://schemas.microsoft.com/office/drawing/2014/main" val="20000"/>
                    </a:ext>
                  </a:extLst>
                </a:gridCol>
                <a:gridCol w="6666230">
                  <a:extLst>
                    <a:ext uri="{9D8B030D-6E8A-4147-A177-3AD203B41FA5}">
                      <a16:colId xmlns:a16="http://schemas.microsoft.com/office/drawing/2014/main" val="20001"/>
                    </a:ext>
                  </a:extLst>
                </a:gridCol>
              </a:tblGrid>
              <a:tr h="636270">
                <a:tc>
                  <a:txBody>
                    <a:bodyPr/>
                    <a:lstStyle/>
                    <a:p>
                      <a:pPr marL="0" indent="0" algn="ctr" defTabSz="914400" eaLnBrk="1" fontAlgn="base" latinLnBrk="0" hangingPunct="1">
                        <a:lnSpc>
                          <a:spcPct val="100000"/>
                        </a:lnSpc>
                        <a:spcBef>
                          <a:spcPct val="0"/>
                        </a:spcBef>
                        <a:spcAft>
                          <a:spcPct val="0"/>
                        </a:spcAft>
                        <a:buNone/>
                      </a:pPr>
                      <a:r>
                        <a:rPr lang="zh-CN" altLang="en-US" sz="1350" b="1" i="0" u="none" kern="1200" baseline="0" dirty="0">
                          <a:solidFill>
                            <a:srgbClr val="FCC78C"/>
                          </a:solidFill>
                          <a:latin typeface="微软雅黑" panose="020B0503020204020204" pitchFamily="34" charset="-122"/>
                          <a:ea typeface="微软雅黑" panose="020B0503020204020204" pitchFamily="34" charset="-122"/>
                          <a:cs typeface="微软雅黑" panose="020B0503020204020204" pitchFamily="34" charset="-122"/>
                          <a:sym typeface="+mn-lt"/>
                        </a:rPr>
                        <a:t>产品</a:t>
                      </a:r>
                      <a:r>
                        <a:rPr lang="en-US" altLang="zh-CN" sz="1350" b="1" i="0" u="none" kern="1200" baseline="0" dirty="0">
                          <a:solidFill>
                            <a:srgbClr val="FCC78C"/>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350" b="1" i="0" u="none" kern="1200" baseline="0" dirty="0">
                          <a:solidFill>
                            <a:srgbClr val="FCC78C"/>
                          </a:solidFill>
                          <a:latin typeface="微软雅黑" panose="020B0503020204020204" pitchFamily="34" charset="-122"/>
                          <a:ea typeface="微软雅黑" panose="020B0503020204020204" pitchFamily="34" charset="-122"/>
                          <a:cs typeface="微软雅黑" panose="020B0503020204020204" pitchFamily="34" charset="-122"/>
                          <a:sym typeface="+mn-lt"/>
                        </a:rPr>
                        <a:t>技术创新</a:t>
                      </a:r>
                    </a:p>
                  </a:txBody>
                  <a:tcPr marL="121920" marR="121920" anchor="ctr">
                    <a:lnL w="12700" cmpd="sng">
                      <a:noFill/>
                      <a:prstDash val="solid"/>
                    </a:lnL>
                    <a:lnR w="12700" cap="flat" cmpd="sng" algn="ctr">
                      <a:solidFill>
                        <a:schemeClr val="bg1">
                          <a:lumMod val="75000"/>
                        </a:schemeClr>
                      </a:solidFill>
                      <a:prstDash val="solid"/>
                      <a:round/>
                      <a:headEnd type="none" w="med" len="med"/>
                      <a:tailEnd type="none" w="med" len="med"/>
                    </a:lnR>
                    <a:lnT w="12700" cmpd="sng">
                      <a:noFill/>
                      <a:prstDash val="soli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239DC4"/>
                    </a:solidFill>
                  </a:tcPr>
                </a:tc>
                <a:tc>
                  <a:txBody>
                    <a:bodyPr/>
                    <a:lstStyle/>
                    <a:p>
                      <a:pPr>
                        <a:buNone/>
                      </a:pPr>
                      <a:endParaRPr lang="zh-CN" altLang="en-US" sz="1800" dirty="0">
                        <a:latin typeface="微软雅黑" panose="020B0503020204020204" pitchFamily="34" charset="-122"/>
                        <a:ea typeface="微软雅黑" panose="020B0503020204020204" pitchFamily="34" charset="-122"/>
                        <a:cs typeface="+mn-ea"/>
                        <a:sym typeface="+mn-lt"/>
                      </a:endParaRPr>
                    </a:p>
                  </a:txBody>
                  <a:tcPr marL="121920" marR="121920">
                    <a:lnL w="12700" cap="flat" cmpd="sng" algn="ctr">
                      <a:solidFill>
                        <a:schemeClr val="bg1">
                          <a:lumMod val="75000"/>
                        </a:schemeClr>
                      </a:solidFill>
                      <a:prstDash val="solid"/>
                      <a:round/>
                      <a:headEnd type="none" w="med" len="med"/>
                      <a:tailEnd type="none" w="med" len="med"/>
                    </a:lnL>
                    <a:lnR w="12700" cmpd="sng">
                      <a:noFill/>
                      <a:prstDash val="solid"/>
                    </a:lnR>
                    <a:lnT w="12700" cmpd="sng">
                      <a:noFill/>
                      <a:prstDash val="soli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636270">
                <a:tc>
                  <a:txBody>
                    <a:bodyPr/>
                    <a:lstStyle/>
                    <a:p>
                      <a:pPr algn="ctr">
                        <a:buNone/>
                      </a:pPr>
                      <a:r>
                        <a:rPr lang="zh-CN" altLang="en-US" sz="1350" b="0" dirty="0">
                          <a:solidFill>
                            <a:schemeClr val="bg1"/>
                          </a:solidFill>
                          <a:latin typeface="微软雅黑" panose="020B0503020204020204" pitchFamily="34" charset="-122"/>
                          <a:ea typeface="微软雅黑" panose="020B0503020204020204" pitchFamily="34" charset="-122"/>
                          <a:cs typeface="+mn-ea"/>
                          <a:sym typeface="+mn-lt"/>
                        </a:rPr>
                        <a:t>服务创新</a:t>
                      </a:r>
                    </a:p>
                  </a:txBody>
                  <a:tcPr marL="121920" marR="121920" anchor="ctr">
                    <a:lnL w="12700" cmpd="sng">
                      <a:noFill/>
                      <a:prstDash val="soli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239DC4"/>
                    </a:solidFill>
                  </a:tcPr>
                </a:tc>
                <a:tc>
                  <a:txBody>
                    <a:bodyPr/>
                    <a:lstStyle/>
                    <a:p>
                      <a:pPr>
                        <a:buNone/>
                      </a:pPr>
                      <a:endParaRPr lang="zh-CN" altLang="en-US" sz="1800" dirty="0">
                        <a:latin typeface="微软雅黑" panose="020B0503020204020204" pitchFamily="34" charset="-122"/>
                        <a:ea typeface="微软雅黑" panose="020B0503020204020204" pitchFamily="34" charset="-122"/>
                        <a:cs typeface="+mn-ea"/>
                        <a:sym typeface="+mn-lt"/>
                      </a:endParaRPr>
                    </a:p>
                  </a:txBody>
                  <a:tcPr marL="121920" marR="121920">
                    <a:lnL w="12700" cap="flat" cmpd="sng" algn="ctr">
                      <a:solidFill>
                        <a:schemeClr val="bg1">
                          <a:lumMod val="75000"/>
                        </a:schemeClr>
                      </a:solidFill>
                      <a:prstDash val="solid"/>
                      <a:round/>
                      <a:headEnd type="none" w="med" len="med"/>
                      <a:tailEnd type="none" w="med" len="me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636270">
                <a:tc>
                  <a:txBody>
                    <a:bodyPr/>
                    <a:lstStyle/>
                    <a:p>
                      <a:pPr algn="ctr">
                        <a:buNone/>
                      </a:pPr>
                      <a:r>
                        <a:rPr lang="zh-CN" altLang="en-US" sz="1350" b="0" dirty="0">
                          <a:solidFill>
                            <a:schemeClr val="bg1"/>
                          </a:solidFill>
                          <a:latin typeface="微软雅黑" panose="020B0503020204020204" pitchFamily="34" charset="-122"/>
                          <a:ea typeface="微软雅黑" panose="020B0503020204020204" pitchFamily="34" charset="-122"/>
                          <a:cs typeface="+mn-ea"/>
                          <a:sym typeface="+mn-lt"/>
                        </a:rPr>
                        <a:t>业务流程创新</a:t>
                      </a:r>
                    </a:p>
                  </a:txBody>
                  <a:tcPr marL="121920" marR="121920" anchor="ctr">
                    <a:lnL w="12700" cmpd="sng">
                      <a:noFill/>
                      <a:prstDash val="soli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239DC4"/>
                    </a:solidFill>
                  </a:tcPr>
                </a:tc>
                <a:tc>
                  <a:txBody>
                    <a:bodyPr/>
                    <a:lstStyle/>
                    <a:p>
                      <a:pPr>
                        <a:buNone/>
                      </a:pPr>
                      <a:endParaRPr lang="zh-CN" altLang="en-US" sz="1800">
                        <a:latin typeface="微软雅黑" panose="020B0503020204020204" pitchFamily="34" charset="-122"/>
                        <a:ea typeface="微软雅黑" panose="020B0503020204020204" pitchFamily="34" charset="-122"/>
                        <a:cs typeface="+mn-ea"/>
                        <a:sym typeface="+mn-lt"/>
                      </a:endParaRPr>
                    </a:p>
                  </a:txBody>
                  <a:tcPr marL="121920" marR="121920">
                    <a:lnL w="12700" cap="flat" cmpd="sng" algn="ctr">
                      <a:solidFill>
                        <a:schemeClr val="bg1">
                          <a:lumMod val="75000"/>
                        </a:schemeClr>
                      </a:solidFill>
                      <a:prstDash val="solid"/>
                      <a:round/>
                      <a:headEnd type="none" w="med" len="med"/>
                      <a:tailEnd type="none" w="med" len="me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636270">
                <a:tc>
                  <a:txBody>
                    <a:bodyPr/>
                    <a:lstStyle/>
                    <a:p>
                      <a:pPr algn="ctr">
                        <a:buNone/>
                      </a:pPr>
                      <a:r>
                        <a:rPr lang="zh-CN" altLang="en-US" sz="1350" b="1" dirty="0">
                          <a:solidFill>
                            <a:srgbClr val="FCC78C"/>
                          </a:solidFill>
                          <a:latin typeface="微软雅黑" panose="020B0503020204020204" pitchFamily="34" charset="-122"/>
                          <a:ea typeface="微软雅黑" panose="020B0503020204020204" pitchFamily="34" charset="-122"/>
                          <a:cs typeface="+mn-ea"/>
                          <a:sym typeface="+mn-lt"/>
                        </a:rPr>
                        <a:t>业务模式创新</a:t>
                      </a:r>
                    </a:p>
                  </a:txBody>
                  <a:tcPr marL="121920" marR="121920" anchor="ctr">
                    <a:lnL w="12700" cmpd="sng">
                      <a:noFill/>
                      <a:prstDash val="soli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239DC4"/>
                    </a:solidFill>
                  </a:tcPr>
                </a:tc>
                <a:tc>
                  <a:txBody>
                    <a:bodyPr/>
                    <a:lstStyle/>
                    <a:p>
                      <a:pPr>
                        <a:buNone/>
                      </a:pPr>
                      <a:endParaRPr lang="zh-CN" altLang="en-US" sz="1800" dirty="0">
                        <a:latin typeface="微软雅黑" panose="020B0503020204020204" pitchFamily="34" charset="-122"/>
                        <a:ea typeface="微软雅黑" panose="020B0503020204020204" pitchFamily="34" charset="-122"/>
                        <a:cs typeface="+mn-ea"/>
                        <a:sym typeface="+mn-lt"/>
                      </a:endParaRPr>
                    </a:p>
                  </a:txBody>
                  <a:tcPr marL="121920" marR="121920">
                    <a:lnL w="12700" cap="flat" cmpd="sng" algn="ctr">
                      <a:solidFill>
                        <a:schemeClr val="bg1">
                          <a:lumMod val="75000"/>
                        </a:schemeClr>
                      </a:solidFill>
                      <a:prstDash val="solid"/>
                      <a:round/>
                      <a:headEnd type="none" w="med" len="med"/>
                      <a:tailEnd type="none" w="med" len="me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636270">
                <a:tc>
                  <a:txBody>
                    <a:bodyPr/>
                    <a:lstStyle/>
                    <a:p>
                      <a:pPr algn="ctr">
                        <a:buNone/>
                      </a:pPr>
                      <a:r>
                        <a:rPr lang="zh-CN" altLang="en-US" sz="1350" b="0" dirty="0">
                          <a:solidFill>
                            <a:schemeClr val="bg1"/>
                          </a:solidFill>
                          <a:latin typeface="微软雅黑" panose="020B0503020204020204" pitchFamily="34" charset="-122"/>
                          <a:ea typeface="微软雅黑" panose="020B0503020204020204" pitchFamily="34" charset="-122"/>
                          <a:cs typeface="+mn-ea"/>
                          <a:sym typeface="+mn-lt"/>
                        </a:rPr>
                        <a:t>文化和管理创新</a:t>
                      </a:r>
                    </a:p>
                    <a:p>
                      <a:pPr algn="ctr">
                        <a:buNone/>
                      </a:pPr>
                      <a:endParaRPr lang="zh-CN" altLang="en-US" sz="1350" b="0" dirty="0">
                        <a:solidFill>
                          <a:schemeClr val="bg1"/>
                        </a:solidFill>
                        <a:latin typeface="微软雅黑" panose="020B0503020204020204" pitchFamily="34" charset="-122"/>
                        <a:ea typeface="微软雅黑" panose="020B0503020204020204" pitchFamily="34" charset="-122"/>
                        <a:cs typeface="+mn-ea"/>
                        <a:sym typeface="+mn-lt"/>
                      </a:endParaRPr>
                    </a:p>
                  </a:txBody>
                  <a:tcPr marL="121920" marR="121920" anchor="ctr">
                    <a:lnL w="12700" cmpd="sng">
                      <a:noFill/>
                      <a:prstDash val="soli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239DC4"/>
                    </a:solidFill>
                  </a:tcPr>
                </a:tc>
                <a:tc>
                  <a:txBody>
                    <a:bodyPr/>
                    <a:lstStyle/>
                    <a:p>
                      <a:pPr>
                        <a:buNone/>
                      </a:pPr>
                      <a:endParaRPr lang="zh-CN" altLang="en-US" sz="1800" dirty="0">
                        <a:latin typeface="微软雅黑" panose="020B0503020204020204" pitchFamily="34" charset="-122"/>
                        <a:ea typeface="微软雅黑" panose="020B0503020204020204" pitchFamily="34" charset="-122"/>
                        <a:cs typeface="+mn-ea"/>
                        <a:sym typeface="+mn-lt"/>
                      </a:endParaRPr>
                    </a:p>
                  </a:txBody>
                  <a:tcPr marL="121920" marR="121920">
                    <a:lnL w="12700" cap="flat" cmpd="sng" algn="ctr">
                      <a:solidFill>
                        <a:schemeClr val="bg1">
                          <a:lumMod val="75000"/>
                        </a:schemeClr>
                      </a:solidFill>
                      <a:prstDash val="solid"/>
                      <a:round/>
                      <a:headEnd type="none" w="med" len="med"/>
                      <a:tailEnd type="none" w="med" len="med"/>
                    </a:lnL>
                    <a:lnR w="12700" cmpd="sng">
                      <a:noFill/>
                      <a:prstDash val="soli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636270">
                <a:tc>
                  <a:txBody>
                    <a:bodyPr/>
                    <a:lstStyle/>
                    <a:p>
                      <a:pPr algn="ctr">
                        <a:buNone/>
                      </a:pPr>
                      <a:r>
                        <a:rPr lang="zh-CN" altLang="en-US" sz="1350" b="0" dirty="0">
                          <a:solidFill>
                            <a:schemeClr val="bg1"/>
                          </a:solidFill>
                          <a:latin typeface="微软雅黑" panose="020B0503020204020204" pitchFamily="34" charset="-122"/>
                          <a:ea typeface="微软雅黑" panose="020B0503020204020204" pitchFamily="34" charset="-122"/>
                          <a:cs typeface="+mn-ea"/>
                          <a:sym typeface="+mn-lt"/>
                        </a:rPr>
                        <a:t>政策和社区创新</a:t>
                      </a:r>
                    </a:p>
                  </a:txBody>
                  <a:tcPr marL="121920" marR="121920" anchor="ctr">
                    <a:lnL w="12700" cmpd="sng">
                      <a:noFill/>
                      <a:prstDash val="soli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239DC4"/>
                    </a:solidFill>
                  </a:tcPr>
                </a:tc>
                <a:tc>
                  <a:txBody>
                    <a:bodyPr/>
                    <a:lstStyle/>
                    <a:p>
                      <a:pPr>
                        <a:buNone/>
                      </a:pPr>
                      <a:endParaRPr lang="zh-CN" altLang="en-US" sz="1800" dirty="0">
                        <a:latin typeface="微软雅黑" panose="020B0503020204020204" pitchFamily="34" charset="-122"/>
                        <a:ea typeface="微软雅黑" panose="020B0503020204020204" pitchFamily="34" charset="-122"/>
                        <a:cs typeface="+mn-ea"/>
                        <a:sym typeface="+mn-lt"/>
                      </a:endParaRPr>
                    </a:p>
                  </a:txBody>
                  <a:tcPr marL="121920" marR="121920">
                    <a:lnL w="12700" cap="flat" cmpd="sng" algn="ctr">
                      <a:solidFill>
                        <a:schemeClr val="bg1">
                          <a:lumMod val="75000"/>
                        </a:schemeClr>
                      </a:solidFill>
                      <a:prstDash val="solid"/>
                      <a:round/>
                      <a:headEnd type="none" w="med" len="med"/>
                      <a:tailEnd type="none" w="med" len="med"/>
                    </a:lnL>
                    <a:lnR w="12700" cmpd="sng">
                      <a:noFill/>
                      <a:prstDash val="solid"/>
                    </a:lnR>
                    <a:lnT w="12700" cap="flat" cmpd="sng" algn="ctr">
                      <a:solidFill>
                        <a:schemeClr val="bg1">
                          <a:lumMod val="75000"/>
                        </a:schemeClr>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pic>
        <p:nvPicPr>
          <p:cNvPr id="20" name="图片 19"/>
          <p:cNvPicPr>
            <a:picLocks noChangeAspect="1"/>
          </p:cNvPicPr>
          <p:nvPr/>
        </p:nvPicPr>
        <p:blipFill>
          <a:blip r:embed="rId4" cstate="email"/>
          <a:stretch>
            <a:fillRect/>
          </a:stretch>
        </p:blipFill>
        <p:spPr>
          <a:xfrm>
            <a:off x="8317688" y="1557086"/>
            <a:ext cx="999909" cy="559949"/>
          </a:xfrm>
          <a:prstGeom prst="rect">
            <a:avLst/>
          </a:prstGeom>
        </p:spPr>
      </p:pic>
      <p:pic>
        <p:nvPicPr>
          <p:cNvPr id="2" name="图片 1"/>
          <p:cNvPicPr>
            <a:picLocks noChangeAspect="1"/>
          </p:cNvPicPr>
          <p:nvPr/>
        </p:nvPicPr>
        <p:blipFill>
          <a:blip r:embed="rId5" cstate="email"/>
          <a:stretch>
            <a:fillRect/>
          </a:stretch>
        </p:blipFill>
        <p:spPr>
          <a:xfrm>
            <a:off x="5371834" y="1528464"/>
            <a:ext cx="740228" cy="617197"/>
          </a:xfrm>
          <a:prstGeom prst="rect">
            <a:avLst/>
          </a:prstGeom>
        </p:spPr>
      </p:pic>
      <p:pic>
        <p:nvPicPr>
          <p:cNvPr id="4" name="图片 3"/>
          <p:cNvPicPr>
            <a:picLocks noChangeAspect="1"/>
          </p:cNvPicPr>
          <p:nvPr/>
        </p:nvPicPr>
        <p:blipFill rotWithShape="1">
          <a:blip r:embed="rId6" cstate="email"/>
          <a:srcRect/>
          <a:stretch>
            <a:fillRect/>
          </a:stretch>
        </p:blipFill>
        <p:spPr>
          <a:xfrm>
            <a:off x="7443977" y="3544899"/>
            <a:ext cx="1289491" cy="440764"/>
          </a:xfrm>
          <a:prstGeom prst="rect">
            <a:avLst/>
          </a:prstGeom>
        </p:spPr>
      </p:pic>
      <p:pic>
        <p:nvPicPr>
          <p:cNvPr id="9" name="图片 8"/>
          <p:cNvPicPr>
            <a:picLocks noChangeAspect="1"/>
          </p:cNvPicPr>
          <p:nvPr/>
        </p:nvPicPr>
        <p:blipFill>
          <a:blip r:embed="rId7" cstate="email"/>
          <a:stretch>
            <a:fillRect/>
          </a:stretch>
        </p:blipFill>
        <p:spPr>
          <a:xfrm>
            <a:off x="5371834" y="3488009"/>
            <a:ext cx="541218" cy="483531"/>
          </a:xfrm>
          <a:prstGeom prst="rect">
            <a:avLst/>
          </a:prstGeom>
        </p:spPr>
      </p:pic>
      <p:pic>
        <p:nvPicPr>
          <p:cNvPr id="10" name="图片 9"/>
          <p:cNvPicPr>
            <a:picLocks noChangeAspect="1"/>
          </p:cNvPicPr>
          <p:nvPr/>
        </p:nvPicPr>
        <p:blipFill>
          <a:blip r:embed="rId8" cstate="email"/>
          <a:stretch>
            <a:fillRect/>
          </a:stretch>
        </p:blipFill>
        <p:spPr>
          <a:xfrm>
            <a:off x="6496668" y="3455188"/>
            <a:ext cx="930719" cy="581699"/>
          </a:xfrm>
          <a:prstGeom prst="rect">
            <a:avLst/>
          </a:prstGeom>
        </p:spPr>
      </p:pic>
      <p:pic>
        <p:nvPicPr>
          <p:cNvPr id="11" name="图片 10"/>
          <p:cNvPicPr>
            <a:picLocks noChangeAspect="1"/>
          </p:cNvPicPr>
          <p:nvPr/>
        </p:nvPicPr>
        <p:blipFill>
          <a:blip r:embed="rId9" cstate="email"/>
          <a:stretch>
            <a:fillRect/>
          </a:stretch>
        </p:blipFill>
        <p:spPr>
          <a:xfrm>
            <a:off x="4032135" y="2846717"/>
            <a:ext cx="885095" cy="458315"/>
          </a:xfrm>
          <a:prstGeom prst="rect">
            <a:avLst/>
          </a:prstGeom>
        </p:spPr>
      </p:pic>
      <p:pic>
        <p:nvPicPr>
          <p:cNvPr id="12" name="图片 11"/>
          <p:cNvPicPr>
            <a:picLocks noChangeAspect="1"/>
          </p:cNvPicPr>
          <p:nvPr/>
        </p:nvPicPr>
        <p:blipFill>
          <a:blip r:embed="rId10" cstate="email"/>
          <a:stretch>
            <a:fillRect/>
          </a:stretch>
        </p:blipFill>
        <p:spPr>
          <a:xfrm>
            <a:off x="5371834" y="2867500"/>
            <a:ext cx="541218" cy="496295"/>
          </a:xfrm>
          <a:prstGeom prst="rect">
            <a:avLst/>
          </a:prstGeom>
        </p:spPr>
      </p:pic>
      <p:pic>
        <p:nvPicPr>
          <p:cNvPr id="13" name="图片 12"/>
          <p:cNvPicPr>
            <a:picLocks noChangeAspect="1"/>
          </p:cNvPicPr>
          <p:nvPr/>
        </p:nvPicPr>
        <p:blipFill>
          <a:blip r:embed="rId11" cstate="email"/>
          <a:stretch>
            <a:fillRect/>
          </a:stretch>
        </p:blipFill>
        <p:spPr>
          <a:xfrm>
            <a:off x="4032134" y="2214528"/>
            <a:ext cx="886337" cy="517797"/>
          </a:xfrm>
          <a:prstGeom prst="rect">
            <a:avLst/>
          </a:prstGeom>
        </p:spPr>
      </p:pic>
      <p:pic>
        <p:nvPicPr>
          <p:cNvPr id="18" name="图片 17"/>
          <p:cNvPicPr>
            <a:picLocks noChangeAspect="1"/>
          </p:cNvPicPr>
          <p:nvPr/>
        </p:nvPicPr>
        <p:blipFill>
          <a:blip r:embed="rId12" cstate="email"/>
          <a:stretch>
            <a:fillRect/>
          </a:stretch>
        </p:blipFill>
        <p:spPr>
          <a:xfrm>
            <a:off x="7698352" y="1557087"/>
            <a:ext cx="464639" cy="559949"/>
          </a:xfrm>
          <a:prstGeom prst="rect">
            <a:avLst/>
          </a:prstGeom>
        </p:spPr>
      </p:pic>
      <p:pic>
        <p:nvPicPr>
          <p:cNvPr id="21" name="图片 20"/>
          <p:cNvPicPr>
            <a:picLocks noChangeAspect="1"/>
          </p:cNvPicPr>
          <p:nvPr/>
        </p:nvPicPr>
        <p:blipFill>
          <a:blip r:embed="rId13" cstate="email"/>
          <a:stretch>
            <a:fillRect/>
          </a:stretch>
        </p:blipFill>
        <p:spPr>
          <a:xfrm>
            <a:off x="4032134" y="3457101"/>
            <a:ext cx="844040" cy="568883"/>
          </a:xfrm>
          <a:prstGeom prst="rect">
            <a:avLst/>
          </a:prstGeom>
        </p:spPr>
      </p:pic>
      <p:pic>
        <p:nvPicPr>
          <p:cNvPr id="22" name="图片 21"/>
          <p:cNvPicPr>
            <a:picLocks noChangeAspect="1"/>
          </p:cNvPicPr>
          <p:nvPr/>
        </p:nvPicPr>
        <p:blipFill>
          <a:blip r:embed="rId14" cstate="email"/>
          <a:stretch>
            <a:fillRect/>
          </a:stretch>
        </p:blipFill>
        <p:spPr>
          <a:xfrm>
            <a:off x="4032134" y="4100536"/>
            <a:ext cx="1162050" cy="581025"/>
          </a:xfrm>
          <a:prstGeom prst="rect">
            <a:avLst/>
          </a:prstGeom>
        </p:spPr>
      </p:pic>
      <p:pic>
        <p:nvPicPr>
          <p:cNvPr id="23" name="图片 22"/>
          <p:cNvPicPr>
            <a:picLocks noChangeAspect="1"/>
          </p:cNvPicPr>
          <p:nvPr/>
        </p:nvPicPr>
        <p:blipFill>
          <a:blip r:embed="rId15" cstate="email"/>
          <a:stretch>
            <a:fillRect/>
          </a:stretch>
        </p:blipFill>
        <p:spPr>
          <a:xfrm>
            <a:off x="4032134" y="4724642"/>
            <a:ext cx="723659" cy="570021"/>
          </a:xfrm>
          <a:prstGeom prst="rect">
            <a:avLst/>
          </a:prstGeom>
        </p:spPr>
      </p:pic>
      <p:pic>
        <p:nvPicPr>
          <p:cNvPr id="24" name="图片 23"/>
          <p:cNvPicPr>
            <a:picLocks noChangeAspect="1"/>
          </p:cNvPicPr>
          <p:nvPr/>
        </p:nvPicPr>
        <p:blipFill rotWithShape="1">
          <a:blip r:embed="rId16" cstate="email"/>
          <a:srcRect/>
          <a:stretch>
            <a:fillRect/>
          </a:stretch>
        </p:blipFill>
        <p:spPr>
          <a:xfrm>
            <a:off x="5371834" y="4796499"/>
            <a:ext cx="578828" cy="644705"/>
          </a:xfrm>
          <a:prstGeom prst="rect">
            <a:avLst/>
          </a:prstGeom>
        </p:spPr>
      </p:pic>
      <p:pic>
        <p:nvPicPr>
          <p:cNvPr id="5" name="图片 4"/>
          <p:cNvPicPr>
            <a:picLocks noChangeAspect="1"/>
          </p:cNvPicPr>
          <p:nvPr/>
        </p:nvPicPr>
        <p:blipFill>
          <a:blip r:embed="rId17" cstate="email"/>
          <a:stretch>
            <a:fillRect/>
          </a:stretch>
        </p:blipFill>
        <p:spPr>
          <a:xfrm>
            <a:off x="5371834" y="2181910"/>
            <a:ext cx="953702" cy="576836"/>
          </a:xfrm>
          <a:prstGeom prst="rect">
            <a:avLst/>
          </a:prstGeom>
        </p:spPr>
      </p:pic>
      <p:pic>
        <p:nvPicPr>
          <p:cNvPr id="19" name="图片 18"/>
          <p:cNvPicPr>
            <a:picLocks noChangeAspect="1"/>
          </p:cNvPicPr>
          <p:nvPr/>
        </p:nvPicPr>
        <p:blipFill>
          <a:blip r:embed="rId18" cstate="email"/>
          <a:stretch>
            <a:fillRect/>
          </a:stretch>
        </p:blipFill>
        <p:spPr>
          <a:xfrm>
            <a:off x="6496668" y="2798277"/>
            <a:ext cx="603110" cy="603110"/>
          </a:xfrm>
          <a:prstGeom prst="rect">
            <a:avLst/>
          </a:prstGeom>
        </p:spPr>
      </p:pic>
      <p:pic>
        <p:nvPicPr>
          <p:cNvPr id="6" name="图片 5"/>
          <p:cNvPicPr>
            <a:picLocks noChangeAspect="1"/>
          </p:cNvPicPr>
          <p:nvPr/>
        </p:nvPicPr>
        <p:blipFill>
          <a:blip r:embed="rId19" cstate="email"/>
          <a:stretch>
            <a:fillRect/>
          </a:stretch>
        </p:blipFill>
        <p:spPr>
          <a:xfrm>
            <a:off x="9371603" y="1610145"/>
            <a:ext cx="986338" cy="493169"/>
          </a:xfrm>
          <a:prstGeom prst="rect">
            <a:avLst/>
          </a:prstGeom>
          <a:ln>
            <a:noFill/>
          </a:ln>
        </p:spPr>
      </p:pic>
      <p:pic>
        <p:nvPicPr>
          <p:cNvPr id="7" name="图片 6"/>
          <p:cNvPicPr>
            <a:picLocks noChangeAspect="1"/>
          </p:cNvPicPr>
          <p:nvPr/>
        </p:nvPicPr>
        <p:blipFill>
          <a:blip r:embed="rId20" cstate="email"/>
          <a:stretch>
            <a:fillRect/>
          </a:stretch>
        </p:blipFill>
        <p:spPr>
          <a:xfrm>
            <a:off x="6496668" y="2212892"/>
            <a:ext cx="811513" cy="563788"/>
          </a:xfrm>
          <a:prstGeom prst="rect">
            <a:avLst/>
          </a:prstGeom>
        </p:spPr>
      </p:pic>
      <p:pic>
        <p:nvPicPr>
          <p:cNvPr id="15" name="图片 14"/>
          <p:cNvPicPr>
            <a:picLocks noChangeAspect="1"/>
          </p:cNvPicPr>
          <p:nvPr/>
        </p:nvPicPr>
        <p:blipFill>
          <a:blip r:embed="rId21" cstate="email"/>
          <a:stretch>
            <a:fillRect/>
          </a:stretch>
        </p:blipFill>
        <p:spPr>
          <a:xfrm>
            <a:off x="5371834" y="4212715"/>
            <a:ext cx="557470" cy="475772"/>
          </a:xfrm>
          <a:prstGeom prst="rect">
            <a:avLst/>
          </a:prstGeom>
        </p:spPr>
      </p:pic>
      <p:pic>
        <p:nvPicPr>
          <p:cNvPr id="16" name="图片 15"/>
          <p:cNvPicPr>
            <a:picLocks noChangeAspect="1"/>
          </p:cNvPicPr>
          <p:nvPr/>
        </p:nvPicPr>
        <p:blipFill>
          <a:blip r:embed="rId22" cstate="email"/>
          <a:stretch>
            <a:fillRect/>
          </a:stretch>
        </p:blipFill>
        <p:spPr>
          <a:xfrm>
            <a:off x="6496668" y="4717663"/>
            <a:ext cx="796429" cy="593702"/>
          </a:xfrm>
          <a:prstGeom prst="rect">
            <a:avLst/>
          </a:prstGeom>
        </p:spPr>
      </p:pic>
      <p:pic>
        <p:nvPicPr>
          <p:cNvPr id="17" name="图片 16"/>
          <p:cNvPicPr>
            <a:picLocks noChangeAspect="1"/>
          </p:cNvPicPr>
          <p:nvPr/>
        </p:nvPicPr>
        <p:blipFill>
          <a:blip r:embed="rId23" cstate="email"/>
          <a:stretch>
            <a:fillRect/>
          </a:stretch>
        </p:blipFill>
        <p:spPr>
          <a:xfrm>
            <a:off x="7698352" y="4750720"/>
            <a:ext cx="755149" cy="566361"/>
          </a:xfrm>
          <a:prstGeom prst="rect">
            <a:avLst/>
          </a:prstGeom>
        </p:spPr>
      </p:pic>
      <p:pic>
        <p:nvPicPr>
          <p:cNvPr id="25" name="图片 24"/>
          <p:cNvPicPr>
            <a:picLocks noChangeAspect="1"/>
          </p:cNvPicPr>
          <p:nvPr/>
        </p:nvPicPr>
        <p:blipFill>
          <a:blip r:embed="rId24" cstate="email"/>
          <a:stretch>
            <a:fillRect/>
          </a:stretch>
        </p:blipFill>
        <p:spPr>
          <a:xfrm>
            <a:off x="6496668" y="4158709"/>
            <a:ext cx="908195" cy="393844"/>
          </a:xfrm>
          <a:prstGeom prst="rect">
            <a:avLst/>
          </a:prstGeom>
        </p:spPr>
      </p:pic>
      <p:pic>
        <p:nvPicPr>
          <p:cNvPr id="27" name="图片 26"/>
          <p:cNvPicPr>
            <a:picLocks noChangeAspect="1"/>
          </p:cNvPicPr>
          <p:nvPr/>
        </p:nvPicPr>
        <p:blipFill>
          <a:blip r:embed="rId25" cstate="email"/>
          <a:stretch>
            <a:fillRect/>
          </a:stretch>
        </p:blipFill>
        <p:spPr>
          <a:xfrm>
            <a:off x="4032134" y="1588643"/>
            <a:ext cx="885096" cy="496834"/>
          </a:xfrm>
          <a:prstGeom prst="rect">
            <a:avLst/>
          </a:prstGeom>
        </p:spPr>
      </p:pic>
      <p:pic>
        <p:nvPicPr>
          <p:cNvPr id="28" name="图片 27"/>
          <p:cNvPicPr>
            <a:picLocks noChangeAspect="1"/>
          </p:cNvPicPr>
          <p:nvPr/>
        </p:nvPicPr>
        <p:blipFill>
          <a:blip r:embed="rId26" cstate="email"/>
          <a:stretch>
            <a:fillRect/>
          </a:stretch>
        </p:blipFill>
        <p:spPr>
          <a:xfrm>
            <a:off x="7698352" y="2293885"/>
            <a:ext cx="480946" cy="432048"/>
          </a:xfrm>
          <a:prstGeom prst="rect">
            <a:avLst/>
          </a:prstGeom>
        </p:spPr>
      </p:pic>
      <p:pic>
        <p:nvPicPr>
          <p:cNvPr id="29" name="图片 28"/>
          <p:cNvPicPr>
            <a:picLocks noChangeAspect="1"/>
          </p:cNvPicPr>
          <p:nvPr/>
        </p:nvPicPr>
        <p:blipFill>
          <a:blip r:embed="rId27" cstate="email"/>
          <a:stretch>
            <a:fillRect/>
          </a:stretch>
        </p:blipFill>
        <p:spPr>
          <a:xfrm>
            <a:off x="8317688" y="4796499"/>
            <a:ext cx="661146" cy="440764"/>
          </a:xfrm>
          <a:prstGeom prst="rect">
            <a:avLst/>
          </a:prstGeom>
        </p:spPr>
      </p:pic>
      <p:pic>
        <p:nvPicPr>
          <p:cNvPr id="30" name="图片 29"/>
          <p:cNvPicPr>
            <a:picLocks noChangeAspect="1"/>
          </p:cNvPicPr>
          <p:nvPr/>
        </p:nvPicPr>
        <p:blipFill rotWithShape="1">
          <a:blip r:embed="rId28" cstate="email"/>
          <a:srcRect/>
          <a:stretch>
            <a:fillRect/>
          </a:stretch>
        </p:blipFill>
        <p:spPr>
          <a:xfrm>
            <a:off x="9213179" y="4841789"/>
            <a:ext cx="487160" cy="440764"/>
          </a:xfrm>
          <a:prstGeom prst="rect">
            <a:avLst/>
          </a:prstGeom>
        </p:spPr>
      </p:pic>
      <p:pic>
        <p:nvPicPr>
          <p:cNvPr id="31" name="图片 30"/>
          <p:cNvPicPr>
            <a:picLocks noChangeAspect="1"/>
          </p:cNvPicPr>
          <p:nvPr/>
        </p:nvPicPr>
        <p:blipFill rotWithShape="1">
          <a:blip r:embed="rId29" cstate="email"/>
          <a:srcRect/>
          <a:stretch>
            <a:fillRect/>
          </a:stretch>
        </p:blipFill>
        <p:spPr>
          <a:xfrm>
            <a:off x="7698352" y="2842296"/>
            <a:ext cx="560519" cy="515071"/>
          </a:xfrm>
          <a:prstGeom prst="rect">
            <a:avLst/>
          </a:prstGeom>
        </p:spPr>
      </p:pic>
      <p:pic>
        <p:nvPicPr>
          <p:cNvPr id="23552" name="图片 23551"/>
          <p:cNvPicPr>
            <a:picLocks noChangeAspect="1"/>
          </p:cNvPicPr>
          <p:nvPr/>
        </p:nvPicPr>
        <p:blipFill>
          <a:blip r:embed="rId30" cstate="email"/>
          <a:stretch>
            <a:fillRect/>
          </a:stretch>
        </p:blipFill>
        <p:spPr>
          <a:xfrm>
            <a:off x="8504293" y="2441503"/>
            <a:ext cx="693410" cy="252401"/>
          </a:xfrm>
          <a:prstGeom prst="rect">
            <a:avLst/>
          </a:prstGeom>
        </p:spPr>
      </p:pic>
      <p:pic>
        <p:nvPicPr>
          <p:cNvPr id="33" name="图片 32"/>
          <p:cNvPicPr>
            <a:picLocks noChangeAspect="1"/>
          </p:cNvPicPr>
          <p:nvPr/>
        </p:nvPicPr>
        <p:blipFill>
          <a:blip r:embed="rId31" cstate="print">
            <a:extLst>
              <a:ext uri="{28A0092B-C50C-407E-A947-70E740481C1C}">
                <a14:useLocalDpi xmlns:a14="http://schemas.microsoft.com/office/drawing/2010/main" val="0"/>
              </a:ext>
            </a:extLst>
          </a:blip>
          <a:stretch>
            <a:fillRect/>
          </a:stretch>
        </p:blipFill>
        <p:spPr>
          <a:xfrm>
            <a:off x="6649458" y="1572016"/>
            <a:ext cx="507899" cy="496725"/>
          </a:xfrm>
          <a:prstGeom prst="rect">
            <a:avLst/>
          </a:prstGeom>
        </p:spPr>
      </p:pic>
      <p:sp>
        <p:nvSpPr>
          <p:cNvPr id="8" name="标题 1"/>
          <p:cNvSpPr txBox="1"/>
          <p:nvPr/>
        </p:nvSpPr>
        <p:spPr>
          <a:xfrm>
            <a:off x="631907" y="572660"/>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创新领域：技术</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dirty="0">
                <a:solidFill>
                  <a:srgbClr val="0070C0"/>
                </a:solidFill>
                <a:latin typeface="微软雅黑" panose="020B0503020204020204" pitchFamily="34" charset="-122"/>
                <a:ea typeface="微软雅黑" panose="020B0503020204020204" pitchFamily="34" charset="-122"/>
                <a:cs typeface="+mn-ea"/>
                <a:sym typeface="+mn-lt"/>
              </a:rPr>
              <a:t>产品</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dirty="0">
                <a:solidFill>
                  <a:srgbClr val="0070C0"/>
                </a:solidFill>
                <a:latin typeface="微软雅黑" panose="020B0503020204020204" pitchFamily="34" charset="-122"/>
                <a:ea typeface="微软雅黑" panose="020B0503020204020204" pitchFamily="34" charset="-122"/>
                <a:cs typeface="+mn-ea"/>
                <a:sym typeface="+mn-lt"/>
              </a:rPr>
              <a:t>服务</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dirty="0">
                <a:solidFill>
                  <a:srgbClr val="0070C0"/>
                </a:solidFill>
                <a:latin typeface="微软雅黑" panose="020B0503020204020204" pitchFamily="34" charset="-122"/>
                <a:ea typeface="微软雅黑" panose="020B0503020204020204" pitchFamily="34" charset="-122"/>
                <a:cs typeface="+mn-ea"/>
                <a:sym typeface="+mn-lt"/>
              </a:rPr>
              <a:t>商业模式</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dirty="0">
                <a:solidFill>
                  <a:srgbClr val="0070C0"/>
                </a:solidFill>
                <a:latin typeface="微软雅黑" panose="020B0503020204020204" pitchFamily="34" charset="-122"/>
                <a:ea typeface="微软雅黑" panose="020B0503020204020204" pitchFamily="34" charset="-122"/>
                <a:cs typeface="+mn-ea"/>
                <a:sym typeface="+mn-lt"/>
              </a:rPr>
              <a:t>管理变革</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dirty="0">
                <a:solidFill>
                  <a:srgbClr val="0070C0"/>
                </a:solidFill>
                <a:latin typeface="微软雅黑" panose="020B0503020204020204" pitchFamily="34" charset="-122"/>
                <a:ea typeface="微软雅黑" panose="020B0503020204020204" pitchFamily="34" charset="-122"/>
                <a:cs typeface="+mn-ea"/>
                <a:sym typeface="+mn-lt"/>
              </a:rPr>
              <a:t>生态</a:t>
            </a:r>
          </a:p>
        </p:txBody>
      </p:sp>
      <p:sp>
        <p:nvSpPr>
          <p:cNvPr id="34" name="Rectangle 3"/>
          <p:cNvSpPr txBox="1">
            <a:spLocks noChangeArrowheads="1"/>
          </p:cNvSpPr>
          <p:nvPr/>
        </p:nvSpPr>
        <p:spPr bwMode="auto">
          <a:xfrm>
            <a:off x="1651000" y="6328459"/>
            <a:ext cx="8991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1800" b="1" dirty="0">
                <a:solidFill>
                  <a:schemeClr val="bg1"/>
                </a:solidFill>
                <a:effectLst/>
                <a:latin typeface="微软雅黑" panose="020B0503020204020204" pitchFamily="34" charset="-122"/>
                <a:ea typeface="微软雅黑" panose="020B0503020204020204" pitchFamily="34" charset="-122"/>
              </a:rPr>
              <a:t>最能构筑长期竞争力和门槛的是核心技术创新，其它都容易被模仿</a:t>
            </a:r>
          </a:p>
        </p:txBody>
      </p:sp>
      <p:sp>
        <p:nvSpPr>
          <p:cNvPr id="14" name="矩形 13"/>
          <p:cNvSpPr/>
          <p:nvPr/>
        </p:nvSpPr>
        <p:spPr>
          <a:xfrm>
            <a:off x="3865002" y="1521913"/>
            <a:ext cx="6469552" cy="612000"/>
          </a:xfrm>
          <a:prstGeom prst="rect">
            <a:avLst/>
          </a:prstGeom>
          <a:solidFill>
            <a:schemeClr val="bg1"/>
          </a:solidFill>
          <a:ln w="9525">
            <a:noFill/>
            <a:miter lim="800000"/>
          </a:ln>
        </p:spPr>
        <p:txBody>
          <a:bodyPr lIns="66289" tIns="0" rIns="0" bIns="0" rtlCol="0" anchor="ctr"/>
          <a:lstStyle/>
          <a:p>
            <a:pPr marL="160655" defTabSz="821055" fontAlgn="t">
              <a:spcBef>
                <a:spcPct val="5000"/>
              </a:spcBef>
            </a:pPr>
            <a:r>
              <a:rPr lang="zh-CN" altLang="en-US" sz="1635" b="1" dirty="0" smtClean="0">
                <a:solidFill>
                  <a:srgbClr val="C00000"/>
                </a:solidFill>
                <a:latin typeface="微软雅黑" panose="020B0503020204020204" pitchFamily="34" charset="-122"/>
                <a:ea typeface="微软雅黑" panose="020B0503020204020204" pitchFamily="34" charset="-122"/>
              </a:rPr>
              <a:t>特斯拉            苹果        华为          凯迪拉克       大疆    </a:t>
            </a:r>
            <a:endParaRPr lang="zh-CN" altLang="en-US" sz="1635" b="1" dirty="0">
              <a:solidFill>
                <a:srgbClr val="C00000"/>
              </a:solidFill>
              <a:latin typeface="微软雅黑" panose="020B0503020204020204" pitchFamily="34" charset="-122"/>
              <a:ea typeface="微软雅黑" panose="020B0503020204020204" pitchFamily="34" charset="-122"/>
            </a:endParaRPr>
          </a:p>
        </p:txBody>
      </p:sp>
      <p:sp>
        <p:nvSpPr>
          <p:cNvPr id="35" name="矩形 34"/>
          <p:cNvSpPr/>
          <p:nvPr/>
        </p:nvSpPr>
        <p:spPr>
          <a:xfrm>
            <a:off x="3804271" y="3439026"/>
            <a:ext cx="6469552" cy="612000"/>
          </a:xfrm>
          <a:prstGeom prst="rect">
            <a:avLst/>
          </a:prstGeom>
          <a:solidFill>
            <a:schemeClr val="bg1"/>
          </a:solidFill>
          <a:ln w="9525">
            <a:noFill/>
            <a:miter lim="800000"/>
          </a:ln>
        </p:spPr>
        <p:txBody>
          <a:bodyPr lIns="66289" tIns="0" rIns="0" bIns="0" rtlCol="0" anchor="ctr"/>
          <a:lstStyle/>
          <a:p>
            <a:pPr marL="160655" defTabSz="821055" fontAlgn="t">
              <a:spcBef>
                <a:spcPct val="5000"/>
              </a:spcBef>
            </a:pPr>
            <a:r>
              <a:rPr lang="zh-CN" altLang="en-US" sz="1635" b="1" dirty="0" smtClean="0">
                <a:solidFill>
                  <a:srgbClr val="C00000"/>
                </a:solidFill>
                <a:latin typeface="微软雅黑" panose="020B0503020204020204" pitchFamily="34" charset="-122"/>
                <a:ea typeface="微软雅黑" panose="020B0503020204020204" pitchFamily="34" charset="-122"/>
              </a:rPr>
              <a:t>摩拜单车            百度             阿里巴巴             谷歌</a:t>
            </a:r>
            <a:endParaRPr lang="zh-CN" altLang="en-US" sz="1635" b="1" dirty="0">
              <a:solidFill>
                <a:srgbClr val="C00000"/>
              </a:solidFill>
              <a:latin typeface="微软雅黑" panose="020B0503020204020204" pitchFamily="34" charset="-122"/>
              <a:ea typeface="微软雅黑" panose="020B0503020204020204" pitchFamily="34" charset="-122"/>
            </a:endParaRPr>
          </a:p>
        </p:txBody>
      </p:sp>
      <p:sp>
        <p:nvSpPr>
          <p:cNvPr id="36" name="矩形 35"/>
          <p:cNvSpPr/>
          <p:nvPr/>
        </p:nvSpPr>
        <p:spPr>
          <a:xfrm>
            <a:off x="3804271" y="2156179"/>
            <a:ext cx="6469552" cy="612000"/>
          </a:xfrm>
          <a:prstGeom prst="rect">
            <a:avLst/>
          </a:prstGeom>
          <a:solidFill>
            <a:schemeClr val="bg1"/>
          </a:solidFill>
          <a:ln w="9525">
            <a:noFill/>
            <a:miter lim="800000"/>
          </a:ln>
        </p:spPr>
        <p:txBody>
          <a:bodyPr lIns="66289" tIns="0" rIns="0" bIns="0" rtlCol="0" anchor="ctr"/>
          <a:lstStyle/>
          <a:p>
            <a:pPr marL="160655" defTabSz="821055" fontAlgn="t">
              <a:spcBef>
                <a:spcPct val="5000"/>
              </a:spcBef>
            </a:pPr>
            <a:r>
              <a:rPr lang="zh-CN" altLang="en-US" sz="1635" b="1" dirty="0" smtClean="0">
                <a:solidFill>
                  <a:schemeClr val="tx1">
                    <a:lumMod val="75000"/>
                    <a:lumOff val="25000"/>
                  </a:schemeClr>
                </a:solidFill>
                <a:latin typeface="微软雅黑" panose="020B0503020204020204" pitchFamily="34" charset="-122"/>
                <a:ea typeface="微软雅黑" panose="020B0503020204020204" pitchFamily="34" charset="-122"/>
              </a:rPr>
              <a:t>星巴克            淘宝          最多跑</a:t>
            </a:r>
            <a:r>
              <a:rPr lang="en-US" altLang="zh-CN" sz="1635" b="1" dirty="0" smtClean="0">
                <a:solidFill>
                  <a:schemeClr val="tx1">
                    <a:lumMod val="75000"/>
                    <a:lumOff val="25000"/>
                  </a:schemeClr>
                </a:solidFill>
                <a:latin typeface="微软雅黑" panose="020B0503020204020204" pitchFamily="34" charset="-122"/>
                <a:ea typeface="微软雅黑" panose="020B0503020204020204" pitchFamily="34" charset="-122"/>
              </a:rPr>
              <a:t>1</a:t>
            </a:r>
            <a:r>
              <a:rPr lang="zh-CN" altLang="en-US" sz="1635" b="1" dirty="0" smtClean="0">
                <a:solidFill>
                  <a:schemeClr val="tx1">
                    <a:lumMod val="75000"/>
                    <a:lumOff val="25000"/>
                  </a:schemeClr>
                </a:solidFill>
                <a:latin typeface="微软雅黑" panose="020B0503020204020204" pitchFamily="34" charset="-122"/>
                <a:ea typeface="微软雅黑" panose="020B0503020204020204" pitchFamily="34" charset="-122"/>
              </a:rPr>
              <a:t>次         携程      亚马逊    </a:t>
            </a:r>
            <a:endParaRPr lang="zh-CN" altLang="en-US" sz="1635"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7" name="矩形 36"/>
          <p:cNvSpPr/>
          <p:nvPr/>
        </p:nvSpPr>
        <p:spPr>
          <a:xfrm>
            <a:off x="3804271" y="2796191"/>
            <a:ext cx="6469552" cy="612000"/>
          </a:xfrm>
          <a:prstGeom prst="rect">
            <a:avLst/>
          </a:prstGeom>
          <a:solidFill>
            <a:schemeClr val="bg1"/>
          </a:solidFill>
          <a:ln w="9525">
            <a:noFill/>
            <a:miter lim="800000"/>
          </a:ln>
        </p:spPr>
        <p:txBody>
          <a:bodyPr lIns="66289" tIns="0" rIns="0" bIns="0" rtlCol="0" anchor="ctr"/>
          <a:lstStyle/>
          <a:p>
            <a:pPr marL="160655" defTabSz="821055" fontAlgn="t">
              <a:spcBef>
                <a:spcPct val="5000"/>
              </a:spcBef>
            </a:pPr>
            <a:r>
              <a:rPr lang="en-US" altLang="zh-CN" sz="1635" b="1" dirty="0" smtClean="0">
                <a:solidFill>
                  <a:schemeClr val="tx1">
                    <a:lumMod val="75000"/>
                    <a:lumOff val="25000"/>
                  </a:schemeClr>
                </a:solidFill>
                <a:latin typeface="微软雅黑" panose="020B0503020204020204" pitchFamily="34" charset="-122"/>
                <a:ea typeface="微软雅黑" panose="020B0503020204020204" pitchFamily="34" charset="-122"/>
              </a:rPr>
              <a:t>IBM</a:t>
            </a:r>
            <a:r>
              <a:rPr lang="zh-CN" altLang="en-US" sz="1635" b="1" dirty="0" smtClean="0">
                <a:solidFill>
                  <a:schemeClr val="tx1">
                    <a:lumMod val="75000"/>
                    <a:lumOff val="25000"/>
                  </a:schemeClr>
                </a:solidFill>
                <a:latin typeface="微软雅黑" panose="020B0503020204020204" pitchFamily="34" charset="-122"/>
                <a:ea typeface="微软雅黑" panose="020B0503020204020204" pitchFamily="34" charset="-122"/>
              </a:rPr>
              <a:t>            通用电气          华为           支付宝    </a:t>
            </a:r>
            <a:endParaRPr lang="zh-CN" altLang="en-US" sz="1635"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8" name="矩形 37"/>
          <p:cNvSpPr/>
          <p:nvPr/>
        </p:nvSpPr>
        <p:spPr>
          <a:xfrm>
            <a:off x="3804271" y="4074056"/>
            <a:ext cx="6469552" cy="612000"/>
          </a:xfrm>
          <a:prstGeom prst="rect">
            <a:avLst/>
          </a:prstGeom>
          <a:solidFill>
            <a:schemeClr val="bg1"/>
          </a:solidFill>
          <a:ln w="9525">
            <a:noFill/>
            <a:miter lim="800000"/>
          </a:ln>
        </p:spPr>
        <p:txBody>
          <a:bodyPr lIns="66289" tIns="0" rIns="0" bIns="0" rtlCol="0" anchor="ctr"/>
          <a:lstStyle/>
          <a:p>
            <a:pPr marL="160655" defTabSz="821055" fontAlgn="t">
              <a:spcBef>
                <a:spcPct val="5000"/>
              </a:spcBef>
            </a:pPr>
            <a:r>
              <a:rPr lang="zh-CN" altLang="en-US" sz="1635" b="1" dirty="0" smtClean="0">
                <a:solidFill>
                  <a:schemeClr val="tx1">
                    <a:lumMod val="75000"/>
                    <a:lumOff val="25000"/>
                  </a:schemeClr>
                </a:solidFill>
                <a:latin typeface="微软雅黑" panose="020B0503020204020204" pitchFamily="34" charset="-122"/>
                <a:ea typeface="微软雅黑" panose="020B0503020204020204" pitchFamily="34" charset="-122"/>
              </a:rPr>
              <a:t>迪斯尼            麦当劳         宜家    </a:t>
            </a:r>
            <a:endParaRPr lang="zh-CN" altLang="en-US" sz="1635"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9" name="矩形 38"/>
          <p:cNvSpPr/>
          <p:nvPr/>
        </p:nvSpPr>
        <p:spPr>
          <a:xfrm>
            <a:off x="3819492" y="4701397"/>
            <a:ext cx="6469552" cy="612000"/>
          </a:xfrm>
          <a:prstGeom prst="rect">
            <a:avLst/>
          </a:prstGeom>
          <a:solidFill>
            <a:schemeClr val="bg1"/>
          </a:solidFill>
          <a:ln w="9525">
            <a:noFill/>
            <a:miter lim="800000"/>
          </a:ln>
        </p:spPr>
        <p:txBody>
          <a:bodyPr lIns="66289" tIns="0" rIns="0" bIns="0" rtlCol="0" anchor="ctr"/>
          <a:lstStyle/>
          <a:p>
            <a:pPr marL="160655" defTabSz="821055" fontAlgn="t">
              <a:spcBef>
                <a:spcPct val="5000"/>
              </a:spcBef>
            </a:pPr>
            <a:r>
              <a:rPr lang="zh-CN" altLang="en-US" sz="1635" b="1" dirty="0" smtClean="0">
                <a:solidFill>
                  <a:schemeClr val="tx1">
                    <a:lumMod val="75000"/>
                    <a:lumOff val="25000"/>
                  </a:schemeClr>
                </a:solidFill>
                <a:latin typeface="微软雅黑" panose="020B0503020204020204" pitchFamily="34" charset="-122"/>
                <a:ea typeface="微软雅黑" panose="020B0503020204020204" pitchFamily="34" charset="-122"/>
              </a:rPr>
              <a:t>腾讯社区         微信         领英          今日头条          脸书    </a:t>
            </a:r>
            <a:endParaRPr lang="zh-CN" altLang="en-US" sz="1635"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组合 1"/>
          <p:cNvGrpSpPr/>
          <p:nvPr/>
        </p:nvGrpSpPr>
        <p:grpSpPr>
          <a:xfrm>
            <a:off x="1979295" y="2711797"/>
            <a:ext cx="7363457" cy="2997927"/>
            <a:chOff x="4091" y="4630"/>
            <a:chExt cx="11758" cy="4787"/>
          </a:xfrm>
        </p:grpSpPr>
        <p:sp>
          <p:nvSpPr>
            <p:cNvPr id="6" name="Line 4"/>
            <p:cNvSpPr>
              <a:spLocks noChangeShapeType="1"/>
            </p:cNvSpPr>
            <p:nvPr/>
          </p:nvSpPr>
          <p:spPr bwMode="gray">
            <a:xfrm flipH="1">
              <a:off x="4172" y="9117"/>
              <a:ext cx="2331" cy="2"/>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sz="900">
                <a:latin typeface="+mn-lt"/>
                <a:ea typeface="+mn-ea"/>
                <a:cs typeface="+mn-ea"/>
                <a:sym typeface="+mn-lt"/>
              </a:endParaRPr>
            </a:p>
          </p:txBody>
        </p:sp>
        <p:sp>
          <p:nvSpPr>
            <p:cNvPr id="7" name="Line 5"/>
            <p:cNvSpPr>
              <a:spLocks noChangeShapeType="1"/>
            </p:cNvSpPr>
            <p:nvPr/>
          </p:nvSpPr>
          <p:spPr bwMode="gray">
            <a:xfrm flipH="1">
              <a:off x="4091" y="8067"/>
              <a:ext cx="3433"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sz="900">
                <a:latin typeface="+mn-lt"/>
                <a:ea typeface="+mn-ea"/>
                <a:cs typeface="+mn-ea"/>
                <a:sym typeface="+mn-lt"/>
              </a:endParaRPr>
            </a:p>
          </p:txBody>
        </p:sp>
        <p:sp>
          <p:nvSpPr>
            <p:cNvPr id="8" name="Line 6"/>
            <p:cNvSpPr>
              <a:spLocks noChangeShapeType="1"/>
            </p:cNvSpPr>
            <p:nvPr/>
          </p:nvSpPr>
          <p:spPr bwMode="gray">
            <a:xfrm flipH="1">
              <a:off x="4091" y="6999"/>
              <a:ext cx="4721"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sz="900">
                <a:latin typeface="+mn-lt"/>
                <a:ea typeface="+mn-ea"/>
                <a:cs typeface="+mn-ea"/>
                <a:sym typeface="+mn-lt"/>
              </a:endParaRPr>
            </a:p>
          </p:txBody>
        </p:sp>
        <p:sp>
          <p:nvSpPr>
            <p:cNvPr id="9" name="Line 7"/>
            <p:cNvSpPr>
              <a:spLocks noChangeShapeType="1"/>
            </p:cNvSpPr>
            <p:nvPr/>
          </p:nvSpPr>
          <p:spPr bwMode="gray">
            <a:xfrm flipH="1">
              <a:off x="4091" y="5933"/>
              <a:ext cx="5865"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sz="900">
                <a:latin typeface="+mn-lt"/>
                <a:ea typeface="+mn-ea"/>
                <a:cs typeface="+mn-ea"/>
                <a:sym typeface="+mn-lt"/>
              </a:endParaRPr>
            </a:p>
          </p:txBody>
        </p:sp>
        <p:sp>
          <p:nvSpPr>
            <p:cNvPr id="10" name="Line 8"/>
            <p:cNvSpPr>
              <a:spLocks noChangeShapeType="1"/>
            </p:cNvSpPr>
            <p:nvPr/>
          </p:nvSpPr>
          <p:spPr bwMode="gray">
            <a:xfrm flipH="1" flipV="1">
              <a:off x="4091" y="4851"/>
              <a:ext cx="7088"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sz="900">
                <a:latin typeface="+mn-lt"/>
                <a:ea typeface="+mn-ea"/>
                <a:cs typeface="+mn-ea"/>
                <a:sym typeface="+mn-lt"/>
              </a:endParaRPr>
            </a:p>
          </p:txBody>
        </p:sp>
        <p:sp>
          <p:nvSpPr>
            <p:cNvPr id="11" name="Line 9"/>
            <p:cNvSpPr>
              <a:spLocks noChangeShapeType="1"/>
            </p:cNvSpPr>
            <p:nvPr/>
          </p:nvSpPr>
          <p:spPr bwMode="gray">
            <a:xfrm>
              <a:off x="4305" y="4841"/>
              <a:ext cx="0" cy="1122"/>
            </a:xfrm>
            <a:prstGeom prst="line">
              <a:avLst/>
            </a:prstGeom>
            <a:noFill/>
            <a:ln w="9525">
              <a:solidFill>
                <a:schemeClr val="bg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sz="900">
                <a:latin typeface="+mn-lt"/>
                <a:ea typeface="+mn-ea"/>
                <a:cs typeface="+mn-ea"/>
                <a:sym typeface="+mn-lt"/>
              </a:endParaRPr>
            </a:p>
          </p:txBody>
        </p:sp>
        <p:sp>
          <p:nvSpPr>
            <p:cNvPr id="12" name="Line 10"/>
            <p:cNvSpPr>
              <a:spLocks noChangeShapeType="1"/>
            </p:cNvSpPr>
            <p:nvPr/>
          </p:nvSpPr>
          <p:spPr bwMode="gray">
            <a:xfrm>
              <a:off x="4305" y="5963"/>
              <a:ext cx="0" cy="1051"/>
            </a:xfrm>
            <a:prstGeom prst="line">
              <a:avLst/>
            </a:prstGeom>
            <a:noFill/>
            <a:ln w="9525">
              <a:solidFill>
                <a:schemeClr val="bg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sz="900">
                <a:latin typeface="+mn-lt"/>
                <a:ea typeface="+mn-ea"/>
                <a:cs typeface="+mn-ea"/>
                <a:sym typeface="+mn-lt"/>
              </a:endParaRPr>
            </a:p>
          </p:txBody>
        </p:sp>
        <p:sp>
          <p:nvSpPr>
            <p:cNvPr id="13" name="Line 11"/>
            <p:cNvSpPr>
              <a:spLocks noChangeShapeType="1"/>
            </p:cNvSpPr>
            <p:nvPr/>
          </p:nvSpPr>
          <p:spPr bwMode="gray">
            <a:xfrm>
              <a:off x="4305" y="7014"/>
              <a:ext cx="0" cy="1049"/>
            </a:xfrm>
            <a:prstGeom prst="line">
              <a:avLst/>
            </a:prstGeom>
            <a:noFill/>
            <a:ln w="9525">
              <a:solidFill>
                <a:schemeClr val="bg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sz="900">
                <a:latin typeface="+mn-lt"/>
                <a:ea typeface="+mn-ea"/>
                <a:cs typeface="+mn-ea"/>
                <a:sym typeface="+mn-lt"/>
              </a:endParaRPr>
            </a:p>
          </p:txBody>
        </p:sp>
        <p:sp>
          <p:nvSpPr>
            <p:cNvPr id="14" name="Line 12"/>
            <p:cNvSpPr>
              <a:spLocks noChangeShapeType="1"/>
            </p:cNvSpPr>
            <p:nvPr/>
          </p:nvSpPr>
          <p:spPr bwMode="gray">
            <a:xfrm>
              <a:off x="4305" y="8067"/>
              <a:ext cx="0" cy="1049"/>
            </a:xfrm>
            <a:prstGeom prst="line">
              <a:avLst/>
            </a:prstGeom>
            <a:noFill/>
            <a:ln w="9525">
              <a:solidFill>
                <a:schemeClr val="bg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sz="900">
                <a:latin typeface="+mn-lt"/>
                <a:ea typeface="+mn-ea"/>
                <a:cs typeface="+mn-ea"/>
                <a:sym typeface="+mn-lt"/>
              </a:endParaRPr>
            </a:p>
          </p:txBody>
        </p:sp>
        <p:sp>
          <p:nvSpPr>
            <p:cNvPr id="15" name="Text Box 13"/>
            <p:cNvSpPr txBox="1">
              <a:spLocks noChangeArrowheads="1"/>
            </p:cNvSpPr>
            <p:nvPr/>
          </p:nvSpPr>
          <p:spPr bwMode="gray">
            <a:xfrm>
              <a:off x="4328" y="4837"/>
              <a:ext cx="3721"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2540" tIns="31270" rIns="62540" bIns="31270">
              <a:spAutoFit/>
            </a:bodyPr>
            <a:lstStyle>
              <a:lvl1pPr defTabSz="835025">
                <a:defRPr>
                  <a:solidFill>
                    <a:schemeClr val="tx1"/>
                  </a:solidFill>
                  <a:latin typeface="Arial" panose="020B0604020202020204" pitchFamily="34" charset="0"/>
                  <a:ea typeface="宋体" panose="02010600030101010101" pitchFamily="2" charset="-122"/>
                </a:defRPr>
              </a:lvl1pPr>
              <a:lvl2pPr marL="417830" defTabSz="835025">
                <a:defRPr>
                  <a:solidFill>
                    <a:schemeClr val="tx1"/>
                  </a:solidFill>
                  <a:latin typeface="Arial" panose="020B0604020202020204" pitchFamily="34" charset="0"/>
                  <a:ea typeface="宋体" panose="02010600030101010101" pitchFamily="2" charset="-122"/>
                </a:defRPr>
              </a:lvl2pPr>
              <a:lvl3pPr marL="835025" defTabSz="835025">
                <a:defRPr>
                  <a:solidFill>
                    <a:schemeClr val="tx1"/>
                  </a:solidFill>
                  <a:latin typeface="Arial" panose="020B0604020202020204" pitchFamily="34" charset="0"/>
                  <a:ea typeface="宋体" panose="02010600030101010101" pitchFamily="2" charset="-122"/>
                </a:defRPr>
              </a:lvl3pPr>
              <a:lvl4pPr marL="1250950" defTabSz="835025">
                <a:defRPr>
                  <a:solidFill>
                    <a:schemeClr val="tx1"/>
                  </a:solidFill>
                  <a:latin typeface="Arial" panose="020B0604020202020204" pitchFamily="34" charset="0"/>
                  <a:ea typeface="宋体" panose="02010600030101010101" pitchFamily="2" charset="-122"/>
                </a:defRPr>
              </a:lvl4pPr>
              <a:lvl5pPr marL="1668780" defTabSz="835025">
                <a:defRPr>
                  <a:solidFill>
                    <a:schemeClr val="tx1"/>
                  </a:solidFill>
                  <a:latin typeface="Arial" panose="020B0604020202020204" pitchFamily="34" charset="0"/>
                  <a:ea typeface="宋体" panose="02010600030101010101" pitchFamily="2" charset="-122"/>
                </a:defRPr>
              </a:lvl5pPr>
              <a:lvl6pPr marL="21259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831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403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975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lang="zh-CN" altLang="en-US" sz="1000" dirty="0">
                  <a:latin typeface="微软雅黑" panose="020B0503020204020204" pitchFamily="34" charset="-122"/>
                  <a:ea typeface="微软雅黑" panose="020B0503020204020204" pitchFamily="34" charset="-122"/>
                  <a:cs typeface="+mn-ea"/>
                  <a:sym typeface="+mn-lt"/>
                </a:rPr>
                <a:t>。。。</a:t>
              </a:r>
            </a:p>
          </p:txBody>
        </p:sp>
        <p:sp>
          <p:nvSpPr>
            <p:cNvPr id="16" name="Text Box 14"/>
            <p:cNvSpPr txBox="1">
              <a:spLocks noChangeArrowheads="1"/>
            </p:cNvSpPr>
            <p:nvPr/>
          </p:nvSpPr>
          <p:spPr bwMode="gray">
            <a:xfrm>
              <a:off x="4318" y="6092"/>
              <a:ext cx="1735"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2540" tIns="31270" rIns="62540" bIns="31270">
              <a:spAutoFit/>
            </a:bodyPr>
            <a:lstStyle>
              <a:lvl1pPr defTabSz="835025">
                <a:defRPr>
                  <a:solidFill>
                    <a:schemeClr val="tx1"/>
                  </a:solidFill>
                  <a:latin typeface="Arial" panose="020B0604020202020204" pitchFamily="34" charset="0"/>
                  <a:ea typeface="宋体" panose="02010600030101010101" pitchFamily="2" charset="-122"/>
                </a:defRPr>
              </a:lvl1pPr>
              <a:lvl2pPr marL="417830" defTabSz="835025">
                <a:defRPr>
                  <a:solidFill>
                    <a:schemeClr val="tx1"/>
                  </a:solidFill>
                  <a:latin typeface="Arial" panose="020B0604020202020204" pitchFamily="34" charset="0"/>
                  <a:ea typeface="宋体" panose="02010600030101010101" pitchFamily="2" charset="-122"/>
                </a:defRPr>
              </a:lvl2pPr>
              <a:lvl3pPr marL="835025" defTabSz="835025">
                <a:defRPr>
                  <a:solidFill>
                    <a:schemeClr val="tx1"/>
                  </a:solidFill>
                  <a:latin typeface="Arial" panose="020B0604020202020204" pitchFamily="34" charset="0"/>
                  <a:ea typeface="宋体" panose="02010600030101010101" pitchFamily="2" charset="-122"/>
                </a:defRPr>
              </a:lvl3pPr>
              <a:lvl4pPr marL="1250950" defTabSz="835025">
                <a:defRPr>
                  <a:solidFill>
                    <a:schemeClr val="tx1"/>
                  </a:solidFill>
                  <a:latin typeface="Arial" panose="020B0604020202020204" pitchFamily="34" charset="0"/>
                  <a:ea typeface="宋体" panose="02010600030101010101" pitchFamily="2" charset="-122"/>
                </a:defRPr>
              </a:lvl4pPr>
              <a:lvl5pPr marL="1668780" defTabSz="835025">
                <a:defRPr>
                  <a:solidFill>
                    <a:schemeClr val="tx1"/>
                  </a:solidFill>
                  <a:latin typeface="Arial" panose="020B0604020202020204" pitchFamily="34" charset="0"/>
                  <a:ea typeface="宋体" panose="02010600030101010101" pitchFamily="2" charset="-122"/>
                </a:defRPr>
              </a:lvl5pPr>
              <a:lvl6pPr marL="21259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831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403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975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lang="zh-CN" altLang="en-US" sz="1000" dirty="0">
                  <a:latin typeface="微软雅黑" panose="020B0503020204020204" pitchFamily="34" charset="-122"/>
                  <a:ea typeface="微软雅黑" panose="020B0503020204020204" pitchFamily="34" charset="-122"/>
                  <a:cs typeface="+mn-ea"/>
                  <a:sym typeface="+mn-lt"/>
                </a:rPr>
                <a:t>。。。</a:t>
              </a:r>
            </a:p>
          </p:txBody>
        </p:sp>
        <p:sp>
          <p:nvSpPr>
            <p:cNvPr id="17" name="Text Box 15"/>
            <p:cNvSpPr txBox="1">
              <a:spLocks noChangeArrowheads="1"/>
            </p:cNvSpPr>
            <p:nvPr/>
          </p:nvSpPr>
          <p:spPr bwMode="gray">
            <a:xfrm>
              <a:off x="4280" y="7286"/>
              <a:ext cx="1942"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2540" tIns="31270" rIns="62540" bIns="31270">
              <a:spAutoFit/>
            </a:bodyPr>
            <a:lstStyle>
              <a:lvl1pPr defTabSz="835025">
                <a:defRPr>
                  <a:solidFill>
                    <a:schemeClr val="tx1"/>
                  </a:solidFill>
                  <a:latin typeface="Arial" panose="020B0604020202020204" pitchFamily="34" charset="0"/>
                  <a:ea typeface="宋体" panose="02010600030101010101" pitchFamily="2" charset="-122"/>
                </a:defRPr>
              </a:lvl1pPr>
              <a:lvl2pPr marL="417830" defTabSz="835025">
                <a:defRPr>
                  <a:solidFill>
                    <a:schemeClr val="tx1"/>
                  </a:solidFill>
                  <a:latin typeface="Arial" panose="020B0604020202020204" pitchFamily="34" charset="0"/>
                  <a:ea typeface="宋体" panose="02010600030101010101" pitchFamily="2" charset="-122"/>
                </a:defRPr>
              </a:lvl2pPr>
              <a:lvl3pPr marL="835025" defTabSz="835025">
                <a:defRPr>
                  <a:solidFill>
                    <a:schemeClr val="tx1"/>
                  </a:solidFill>
                  <a:latin typeface="Arial" panose="020B0604020202020204" pitchFamily="34" charset="0"/>
                  <a:ea typeface="宋体" panose="02010600030101010101" pitchFamily="2" charset="-122"/>
                </a:defRPr>
              </a:lvl3pPr>
              <a:lvl4pPr marL="1250950" defTabSz="835025">
                <a:defRPr>
                  <a:solidFill>
                    <a:schemeClr val="tx1"/>
                  </a:solidFill>
                  <a:latin typeface="Arial" panose="020B0604020202020204" pitchFamily="34" charset="0"/>
                  <a:ea typeface="宋体" panose="02010600030101010101" pitchFamily="2" charset="-122"/>
                </a:defRPr>
              </a:lvl4pPr>
              <a:lvl5pPr marL="1668780" defTabSz="835025">
                <a:defRPr>
                  <a:solidFill>
                    <a:schemeClr val="tx1"/>
                  </a:solidFill>
                  <a:latin typeface="Arial" panose="020B0604020202020204" pitchFamily="34" charset="0"/>
                  <a:ea typeface="宋体" panose="02010600030101010101" pitchFamily="2" charset="-122"/>
                </a:defRPr>
              </a:lvl5pPr>
              <a:lvl6pPr marL="21259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831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403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975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lang="zh-CN" altLang="en-US" sz="1000" dirty="0">
                  <a:latin typeface="微软雅黑" panose="020B0503020204020204" pitchFamily="34" charset="-122"/>
                  <a:ea typeface="微软雅黑" panose="020B0503020204020204" pitchFamily="34" charset="-122"/>
                  <a:cs typeface="+mn-ea"/>
                  <a:sym typeface="+mn-lt"/>
                </a:rPr>
                <a:t>。。。</a:t>
              </a:r>
            </a:p>
          </p:txBody>
        </p:sp>
        <p:sp>
          <p:nvSpPr>
            <p:cNvPr id="18" name="Text Box 16"/>
            <p:cNvSpPr txBox="1">
              <a:spLocks noChangeArrowheads="1"/>
            </p:cNvSpPr>
            <p:nvPr/>
          </p:nvSpPr>
          <p:spPr bwMode="gray">
            <a:xfrm>
              <a:off x="4326" y="8472"/>
              <a:ext cx="1312"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2540" tIns="31270" rIns="62540" bIns="31270">
              <a:spAutoFit/>
            </a:bodyPr>
            <a:lstStyle>
              <a:lvl1pPr defTabSz="835025">
                <a:defRPr>
                  <a:solidFill>
                    <a:schemeClr val="tx1"/>
                  </a:solidFill>
                  <a:latin typeface="Arial" panose="020B0604020202020204" pitchFamily="34" charset="0"/>
                  <a:ea typeface="宋体" panose="02010600030101010101" pitchFamily="2" charset="-122"/>
                </a:defRPr>
              </a:lvl1pPr>
              <a:lvl2pPr marL="417830" defTabSz="835025">
                <a:defRPr>
                  <a:solidFill>
                    <a:schemeClr val="tx1"/>
                  </a:solidFill>
                  <a:latin typeface="Arial" panose="020B0604020202020204" pitchFamily="34" charset="0"/>
                  <a:ea typeface="宋体" panose="02010600030101010101" pitchFamily="2" charset="-122"/>
                </a:defRPr>
              </a:lvl2pPr>
              <a:lvl3pPr marL="835025" defTabSz="835025">
                <a:defRPr>
                  <a:solidFill>
                    <a:schemeClr val="tx1"/>
                  </a:solidFill>
                  <a:latin typeface="Arial" panose="020B0604020202020204" pitchFamily="34" charset="0"/>
                  <a:ea typeface="宋体" panose="02010600030101010101" pitchFamily="2" charset="-122"/>
                </a:defRPr>
              </a:lvl3pPr>
              <a:lvl4pPr marL="1250950" defTabSz="835025">
                <a:defRPr>
                  <a:solidFill>
                    <a:schemeClr val="tx1"/>
                  </a:solidFill>
                  <a:latin typeface="Arial" panose="020B0604020202020204" pitchFamily="34" charset="0"/>
                  <a:ea typeface="宋体" panose="02010600030101010101" pitchFamily="2" charset="-122"/>
                </a:defRPr>
              </a:lvl4pPr>
              <a:lvl5pPr marL="1668780" defTabSz="835025">
                <a:defRPr>
                  <a:solidFill>
                    <a:schemeClr val="tx1"/>
                  </a:solidFill>
                  <a:latin typeface="Arial" panose="020B0604020202020204" pitchFamily="34" charset="0"/>
                  <a:ea typeface="宋体" panose="02010600030101010101" pitchFamily="2" charset="-122"/>
                </a:defRPr>
              </a:lvl5pPr>
              <a:lvl6pPr marL="21259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831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403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975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lang="zh-CN" altLang="en-US" sz="1000" dirty="0">
                  <a:latin typeface="微软雅黑" panose="020B0503020204020204" pitchFamily="34" charset="-122"/>
                  <a:ea typeface="微软雅黑" panose="020B0503020204020204" pitchFamily="34" charset="-122"/>
                  <a:cs typeface="+mn-ea"/>
                  <a:sym typeface="+mn-lt"/>
                </a:rPr>
                <a:t>。。。</a:t>
              </a:r>
            </a:p>
          </p:txBody>
        </p:sp>
        <p:grpSp>
          <p:nvGrpSpPr>
            <p:cNvPr id="19" name="Group 17"/>
            <p:cNvGrpSpPr/>
            <p:nvPr/>
          </p:nvGrpSpPr>
          <p:grpSpPr bwMode="auto">
            <a:xfrm>
              <a:off x="6460" y="4856"/>
              <a:ext cx="8202" cy="4296"/>
              <a:chOff x="1514" y="1446"/>
              <a:chExt cx="3670" cy="2106"/>
            </a:xfrm>
          </p:grpSpPr>
          <p:sp>
            <p:nvSpPr>
              <p:cNvPr id="20" name="Freeform 18"/>
              <p:cNvSpPr/>
              <p:nvPr/>
            </p:nvSpPr>
            <p:spPr bwMode="gray">
              <a:xfrm>
                <a:off x="4817" y="1446"/>
                <a:ext cx="363" cy="533"/>
              </a:xfrm>
              <a:custGeom>
                <a:avLst/>
                <a:gdLst>
                  <a:gd name="T0" fmla="*/ 308 w 308"/>
                  <a:gd name="T1" fmla="*/ 120 h 444"/>
                  <a:gd name="T2" fmla="*/ 0 w 308"/>
                  <a:gd name="T3" fmla="*/ 444 h 444"/>
                  <a:gd name="T4" fmla="*/ 0 w 308"/>
                  <a:gd name="T5" fmla="*/ 286 h 444"/>
                  <a:gd name="T6" fmla="*/ 308 w 308"/>
                  <a:gd name="T7" fmla="*/ 0 h 444"/>
                  <a:gd name="T8" fmla="*/ 308 w 308"/>
                  <a:gd name="T9" fmla="*/ 120 h 444"/>
                </a:gdLst>
                <a:ahLst/>
                <a:cxnLst>
                  <a:cxn ang="0">
                    <a:pos x="T0" y="T1"/>
                  </a:cxn>
                  <a:cxn ang="0">
                    <a:pos x="T2" y="T3"/>
                  </a:cxn>
                  <a:cxn ang="0">
                    <a:pos x="T4" y="T5"/>
                  </a:cxn>
                  <a:cxn ang="0">
                    <a:pos x="T6" y="T7"/>
                  </a:cxn>
                  <a:cxn ang="0">
                    <a:pos x="T8" y="T9"/>
                  </a:cxn>
                </a:cxnLst>
                <a:rect l="0" t="0" r="r" b="b"/>
                <a:pathLst>
                  <a:path w="308" h="444">
                    <a:moveTo>
                      <a:pt x="308" y="120"/>
                    </a:moveTo>
                    <a:lnTo>
                      <a:pt x="0" y="444"/>
                    </a:lnTo>
                    <a:lnTo>
                      <a:pt x="0" y="286"/>
                    </a:lnTo>
                    <a:lnTo>
                      <a:pt x="308" y="0"/>
                    </a:lnTo>
                    <a:lnTo>
                      <a:pt x="308" y="120"/>
                    </a:lnTo>
                    <a:close/>
                  </a:path>
                </a:pathLst>
              </a:custGeom>
              <a:solidFill>
                <a:srgbClr val="3366FF"/>
              </a:solidFill>
              <a:ln>
                <a:noFill/>
              </a:ln>
              <a:effectLst/>
              <a:extLst>
                <a:ext uri="{91240B29-F687-4F45-9708-019B960494DF}">
                  <a14:hiddenLine xmlns:a14="http://schemas.microsoft.com/office/drawing/2010/main" w="0">
                    <a:solidFill>
                      <a:srgbClr val="808080"/>
                    </a:solidFill>
                    <a:prstDash val="solid"/>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200">
                  <a:latin typeface="微软雅黑" panose="020B0503020204020204" pitchFamily="34" charset="-122"/>
                  <a:ea typeface="微软雅黑" panose="020B0503020204020204" pitchFamily="34" charset="-122"/>
                  <a:cs typeface="+mn-ea"/>
                  <a:sym typeface="+mn-lt"/>
                </a:endParaRPr>
              </a:p>
            </p:txBody>
          </p:sp>
          <p:sp>
            <p:nvSpPr>
              <p:cNvPr id="21" name="Freeform 19"/>
              <p:cNvSpPr/>
              <p:nvPr/>
            </p:nvSpPr>
            <p:spPr bwMode="gray">
              <a:xfrm>
                <a:off x="3078" y="1446"/>
                <a:ext cx="2106" cy="341"/>
              </a:xfrm>
              <a:custGeom>
                <a:avLst/>
                <a:gdLst>
                  <a:gd name="T0" fmla="*/ 1478 w 1786"/>
                  <a:gd name="T1" fmla="*/ 284 h 284"/>
                  <a:gd name="T2" fmla="*/ 0 w 1786"/>
                  <a:gd name="T3" fmla="*/ 284 h 284"/>
                  <a:gd name="T4" fmla="*/ 446 w 1786"/>
                  <a:gd name="T5" fmla="*/ 0 h 284"/>
                  <a:gd name="T6" fmla="*/ 1786 w 1786"/>
                  <a:gd name="T7" fmla="*/ 0 h 284"/>
                  <a:gd name="T8" fmla="*/ 1478 w 1786"/>
                  <a:gd name="T9" fmla="*/ 284 h 284"/>
                </a:gdLst>
                <a:ahLst/>
                <a:cxnLst>
                  <a:cxn ang="0">
                    <a:pos x="T0" y="T1"/>
                  </a:cxn>
                  <a:cxn ang="0">
                    <a:pos x="T2" y="T3"/>
                  </a:cxn>
                  <a:cxn ang="0">
                    <a:pos x="T4" y="T5"/>
                  </a:cxn>
                  <a:cxn ang="0">
                    <a:pos x="T6" y="T7"/>
                  </a:cxn>
                  <a:cxn ang="0">
                    <a:pos x="T8" y="T9"/>
                  </a:cxn>
                </a:cxnLst>
                <a:rect l="0" t="0" r="r" b="b"/>
                <a:pathLst>
                  <a:path w="1786" h="284">
                    <a:moveTo>
                      <a:pt x="1478" y="284"/>
                    </a:moveTo>
                    <a:lnTo>
                      <a:pt x="0" y="284"/>
                    </a:lnTo>
                    <a:lnTo>
                      <a:pt x="446" y="0"/>
                    </a:lnTo>
                    <a:lnTo>
                      <a:pt x="1786" y="0"/>
                    </a:lnTo>
                    <a:lnTo>
                      <a:pt x="1478" y="284"/>
                    </a:lnTo>
                    <a:close/>
                  </a:path>
                </a:pathLst>
              </a:custGeom>
              <a:gradFill rotWithShape="1">
                <a:gsLst>
                  <a:gs pos="0">
                    <a:srgbClr val="3366FF"/>
                  </a:gs>
                  <a:gs pos="50000">
                    <a:srgbClr val="3366FF">
                      <a:gamma/>
                      <a:shade val="46275"/>
                      <a:invGamma/>
                    </a:srgbClr>
                  </a:gs>
                  <a:gs pos="100000">
                    <a:srgbClr val="3366FF"/>
                  </a:gs>
                </a:gsLst>
                <a:lin ang="5400000" scaled="1"/>
              </a:gradFill>
              <a:ln>
                <a:noFill/>
              </a:ln>
              <a:effectLst/>
              <a:extLst>
                <a:ext uri="{91240B29-F687-4F45-9708-019B960494DF}">
                  <a14:hiddenLine xmlns:a14="http://schemas.microsoft.com/office/drawing/2010/main" w="0">
                    <a:solidFill>
                      <a:srgbClr val="80808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200">
                  <a:latin typeface="微软雅黑" panose="020B0503020204020204" pitchFamily="34" charset="-122"/>
                  <a:ea typeface="微软雅黑" panose="020B0503020204020204" pitchFamily="34" charset="-122"/>
                  <a:cs typeface="+mn-ea"/>
                  <a:sym typeface="+mn-lt"/>
                </a:endParaRPr>
              </a:p>
            </p:txBody>
          </p:sp>
          <p:sp>
            <p:nvSpPr>
              <p:cNvPr id="22" name="Freeform 20"/>
              <p:cNvSpPr/>
              <p:nvPr/>
            </p:nvSpPr>
            <p:spPr bwMode="gray">
              <a:xfrm>
                <a:off x="4452" y="1970"/>
                <a:ext cx="363" cy="530"/>
              </a:xfrm>
              <a:custGeom>
                <a:avLst/>
                <a:gdLst>
                  <a:gd name="T0" fmla="*/ 308 w 308"/>
                  <a:gd name="T1" fmla="*/ 120 h 442"/>
                  <a:gd name="T2" fmla="*/ 0 w 308"/>
                  <a:gd name="T3" fmla="*/ 442 h 442"/>
                  <a:gd name="T4" fmla="*/ 0 w 308"/>
                  <a:gd name="T5" fmla="*/ 286 h 442"/>
                  <a:gd name="T6" fmla="*/ 308 w 308"/>
                  <a:gd name="T7" fmla="*/ 0 h 442"/>
                  <a:gd name="T8" fmla="*/ 308 w 308"/>
                  <a:gd name="T9" fmla="*/ 120 h 442"/>
                </a:gdLst>
                <a:ahLst/>
                <a:cxnLst>
                  <a:cxn ang="0">
                    <a:pos x="T0" y="T1"/>
                  </a:cxn>
                  <a:cxn ang="0">
                    <a:pos x="T2" y="T3"/>
                  </a:cxn>
                  <a:cxn ang="0">
                    <a:pos x="T4" y="T5"/>
                  </a:cxn>
                  <a:cxn ang="0">
                    <a:pos x="T6" y="T7"/>
                  </a:cxn>
                  <a:cxn ang="0">
                    <a:pos x="T8" y="T9"/>
                  </a:cxn>
                </a:cxnLst>
                <a:rect l="0" t="0" r="r" b="b"/>
                <a:pathLst>
                  <a:path w="308" h="442">
                    <a:moveTo>
                      <a:pt x="308" y="120"/>
                    </a:moveTo>
                    <a:lnTo>
                      <a:pt x="0" y="442"/>
                    </a:lnTo>
                    <a:lnTo>
                      <a:pt x="0" y="286"/>
                    </a:lnTo>
                    <a:lnTo>
                      <a:pt x="308" y="0"/>
                    </a:lnTo>
                    <a:lnTo>
                      <a:pt x="308" y="120"/>
                    </a:lnTo>
                    <a:close/>
                  </a:path>
                </a:pathLst>
              </a:custGeom>
              <a:gradFill rotWithShape="1">
                <a:gsLst>
                  <a:gs pos="0">
                    <a:schemeClr val="folHlink">
                      <a:gamma/>
                      <a:shade val="72549"/>
                      <a:invGamma/>
                    </a:schemeClr>
                  </a:gs>
                  <a:gs pos="50000">
                    <a:schemeClr val="folHlink"/>
                  </a:gs>
                  <a:gs pos="100000">
                    <a:schemeClr val="folHlink">
                      <a:gamma/>
                      <a:shade val="72549"/>
                      <a:invGamma/>
                    </a:schemeClr>
                  </a:gs>
                </a:gsLst>
                <a:lin ang="27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微软雅黑" panose="020B0503020204020204" pitchFamily="34" charset="-122"/>
                  <a:ea typeface="微软雅黑" panose="020B0503020204020204" pitchFamily="34" charset="-122"/>
                  <a:cs typeface="+mn-ea"/>
                  <a:sym typeface="+mn-lt"/>
                </a:endParaRPr>
              </a:p>
            </p:txBody>
          </p:sp>
          <p:sp>
            <p:nvSpPr>
              <p:cNvPr id="23" name="Freeform 21"/>
              <p:cNvSpPr/>
              <p:nvPr/>
            </p:nvSpPr>
            <p:spPr bwMode="gray">
              <a:xfrm>
                <a:off x="2555" y="1970"/>
                <a:ext cx="2264" cy="340"/>
              </a:xfrm>
              <a:custGeom>
                <a:avLst/>
                <a:gdLst>
                  <a:gd name="T0" fmla="*/ 1612 w 1920"/>
                  <a:gd name="T1" fmla="*/ 284 h 284"/>
                  <a:gd name="T2" fmla="*/ 0 w 1920"/>
                  <a:gd name="T3" fmla="*/ 284 h 284"/>
                  <a:gd name="T4" fmla="*/ 446 w 1920"/>
                  <a:gd name="T5" fmla="*/ 0 h 284"/>
                  <a:gd name="T6" fmla="*/ 1920 w 1920"/>
                  <a:gd name="T7" fmla="*/ 0 h 284"/>
                  <a:gd name="T8" fmla="*/ 1612 w 1920"/>
                  <a:gd name="T9" fmla="*/ 284 h 284"/>
                </a:gdLst>
                <a:ahLst/>
                <a:cxnLst>
                  <a:cxn ang="0">
                    <a:pos x="T0" y="T1"/>
                  </a:cxn>
                  <a:cxn ang="0">
                    <a:pos x="T2" y="T3"/>
                  </a:cxn>
                  <a:cxn ang="0">
                    <a:pos x="T4" y="T5"/>
                  </a:cxn>
                  <a:cxn ang="0">
                    <a:pos x="T6" y="T7"/>
                  </a:cxn>
                  <a:cxn ang="0">
                    <a:pos x="T8" y="T9"/>
                  </a:cxn>
                </a:cxnLst>
                <a:rect l="0" t="0" r="r" b="b"/>
                <a:pathLst>
                  <a:path w="1920" h="284">
                    <a:moveTo>
                      <a:pt x="1612" y="284"/>
                    </a:moveTo>
                    <a:lnTo>
                      <a:pt x="0" y="284"/>
                    </a:lnTo>
                    <a:lnTo>
                      <a:pt x="446" y="0"/>
                    </a:lnTo>
                    <a:lnTo>
                      <a:pt x="1920" y="0"/>
                    </a:lnTo>
                    <a:lnTo>
                      <a:pt x="1612" y="284"/>
                    </a:lnTo>
                    <a:close/>
                  </a:path>
                </a:pathLst>
              </a:custGeom>
              <a:gradFill rotWithShape="1">
                <a:gsLst>
                  <a:gs pos="0">
                    <a:schemeClr val="folHlink"/>
                  </a:gs>
                  <a:gs pos="50000">
                    <a:schemeClr val="folHlink">
                      <a:gamma/>
                      <a:shade val="72549"/>
                      <a:invGamma/>
                    </a:schemeClr>
                  </a:gs>
                  <a:gs pos="100000">
                    <a:schemeClr val="folHlink"/>
                  </a:gs>
                </a:gsLst>
                <a:lin ang="5400000" scaled="1"/>
              </a:gradFill>
              <a:ln>
                <a:noFill/>
              </a:ln>
              <a:effectLst/>
              <a:extLst>
                <a:ext uri="{91240B29-F687-4F45-9708-019B960494DF}">
                  <a14:hiddenLine xmlns:a14="http://schemas.microsoft.com/office/drawing/2010/main" w="9525">
                    <a:solidFill>
                      <a:schemeClr val="tx1"/>
                    </a:solidFill>
                    <a:prstDash val="solid"/>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微软雅黑" panose="020B0503020204020204" pitchFamily="34" charset="-122"/>
                  <a:ea typeface="微软雅黑" panose="020B0503020204020204" pitchFamily="34" charset="-122"/>
                  <a:cs typeface="+mn-ea"/>
                  <a:sym typeface="+mn-lt"/>
                </a:endParaRPr>
              </a:p>
            </p:txBody>
          </p:sp>
          <p:sp>
            <p:nvSpPr>
              <p:cNvPr id="24" name="Freeform 22"/>
              <p:cNvSpPr/>
              <p:nvPr/>
            </p:nvSpPr>
            <p:spPr bwMode="gray">
              <a:xfrm>
                <a:off x="4086" y="2494"/>
                <a:ext cx="361" cy="532"/>
              </a:xfrm>
              <a:custGeom>
                <a:avLst/>
                <a:gdLst>
                  <a:gd name="T0" fmla="*/ 306 w 306"/>
                  <a:gd name="T1" fmla="*/ 122 h 444"/>
                  <a:gd name="T2" fmla="*/ 0 w 306"/>
                  <a:gd name="T3" fmla="*/ 444 h 444"/>
                  <a:gd name="T4" fmla="*/ 0 w 306"/>
                  <a:gd name="T5" fmla="*/ 286 h 444"/>
                  <a:gd name="T6" fmla="*/ 306 w 306"/>
                  <a:gd name="T7" fmla="*/ 0 h 444"/>
                  <a:gd name="T8" fmla="*/ 306 w 306"/>
                  <a:gd name="T9" fmla="*/ 122 h 444"/>
                </a:gdLst>
                <a:ahLst/>
                <a:cxnLst>
                  <a:cxn ang="0">
                    <a:pos x="T0" y="T1"/>
                  </a:cxn>
                  <a:cxn ang="0">
                    <a:pos x="T2" y="T3"/>
                  </a:cxn>
                  <a:cxn ang="0">
                    <a:pos x="T4" y="T5"/>
                  </a:cxn>
                  <a:cxn ang="0">
                    <a:pos x="T6" y="T7"/>
                  </a:cxn>
                  <a:cxn ang="0">
                    <a:pos x="T8" y="T9"/>
                  </a:cxn>
                </a:cxnLst>
                <a:rect l="0" t="0" r="r" b="b"/>
                <a:pathLst>
                  <a:path w="306" h="444">
                    <a:moveTo>
                      <a:pt x="306" y="122"/>
                    </a:moveTo>
                    <a:lnTo>
                      <a:pt x="0" y="444"/>
                    </a:lnTo>
                    <a:lnTo>
                      <a:pt x="0" y="286"/>
                    </a:lnTo>
                    <a:lnTo>
                      <a:pt x="306" y="0"/>
                    </a:lnTo>
                    <a:lnTo>
                      <a:pt x="306" y="122"/>
                    </a:lnTo>
                    <a:close/>
                  </a:path>
                </a:pathLst>
              </a:custGeom>
              <a:solidFill>
                <a:schemeClr val="hlink"/>
              </a:solidFill>
              <a:ln>
                <a:noFill/>
              </a:ln>
              <a:effectLst/>
              <a:extLst>
                <a:ext uri="{91240B29-F687-4F45-9708-019B960494DF}">
                  <a14:hiddenLine xmlns:a14="http://schemas.microsoft.com/office/drawing/2010/main" w="0">
                    <a:solidFill>
                      <a:srgbClr val="80808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200">
                  <a:latin typeface="微软雅黑" panose="020B0503020204020204" pitchFamily="34" charset="-122"/>
                  <a:ea typeface="微软雅黑" panose="020B0503020204020204" pitchFamily="34" charset="-122"/>
                  <a:cs typeface="+mn-ea"/>
                  <a:sym typeface="+mn-lt"/>
                </a:endParaRPr>
              </a:p>
            </p:txBody>
          </p:sp>
          <p:sp>
            <p:nvSpPr>
              <p:cNvPr id="25" name="Freeform 23"/>
              <p:cNvSpPr/>
              <p:nvPr/>
            </p:nvSpPr>
            <p:spPr bwMode="gray">
              <a:xfrm>
                <a:off x="3722" y="3019"/>
                <a:ext cx="364" cy="533"/>
              </a:xfrm>
              <a:custGeom>
                <a:avLst/>
                <a:gdLst>
                  <a:gd name="T0" fmla="*/ 308 w 308"/>
                  <a:gd name="T1" fmla="*/ 122 h 444"/>
                  <a:gd name="T2" fmla="*/ 0 w 308"/>
                  <a:gd name="T3" fmla="*/ 444 h 444"/>
                  <a:gd name="T4" fmla="*/ 0 w 308"/>
                  <a:gd name="T5" fmla="*/ 286 h 444"/>
                  <a:gd name="T6" fmla="*/ 308 w 308"/>
                  <a:gd name="T7" fmla="*/ 0 h 444"/>
                  <a:gd name="T8" fmla="*/ 308 w 308"/>
                  <a:gd name="T9" fmla="*/ 122 h 444"/>
                </a:gdLst>
                <a:ahLst/>
                <a:cxnLst>
                  <a:cxn ang="0">
                    <a:pos x="T0" y="T1"/>
                  </a:cxn>
                  <a:cxn ang="0">
                    <a:pos x="T2" y="T3"/>
                  </a:cxn>
                  <a:cxn ang="0">
                    <a:pos x="T4" y="T5"/>
                  </a:cxn>
                  <a:cxn ang="0">
                    <a:pos x="T6" y="T7"/>
                  </a:cxn>
                  <a:cxn ang="0">
                    <a:pos x="T8" y="T9"/>
                  </a:cxn>
                </a:cxnLst>
                <a:rect l="0" t="0" r="r" b="b"/>
                <a:pathLst>
                  <a:path w="308" h="444">
                    <a:moveTo>
                      <a:pt x="308" y="122"/>
                    </a:moveTo>
                    <a:lnTo>
                      <a:pt x="0" y="444"/>
                    </a:lnTo>
                    <a:lnTo>
                      <a:pt x="0" y="286"/>
                    </a:lnTo>
                    <a:lnTo>
                      <a:pt x="308" y="0"/>
                    </a:lnTo>
                    <a:lnTo>
                      <a:pt x="308" y="122"/>
                    </a:lnTo>
                    <a:close/>
                  </a:path>
                </a:pathLst>
              </a:custGeom>
              <a:gradFill rotWithShape="1">
                <a:gsLst>
                  <a:gs pos="0">
                    <a:schemeClr val="bg2">
                      <a:gamma/>
                      <a:shade val="33333"/>
                      <a:invGamma/>
                    </a:schemeClr>
                  </a:gs>
                  <a:gs pos="50000">
                    <a:schemeClr val="bg2"/>
                  </a:gs>
                  <a:gs pos="100000">
                    <a:schemeClr val="bg2">
                      <a:gamma/>
                      <a:shade val="33333"/>
                      <a:invGamma/>
                    </a:schemeClr>
                  </a:gs>
                </a:gsLst>
                <a:lin ang="2700000" scaled="1"/>
              </a:gradFill>
              <a:ln>
                <a:noFill/>
              </a:ln>
              <a:extLst>
                <a:ext uri="{91240B29-F687-4F45-9708-019B960494DF}">
                  <a14:hiddenLine xmlns:a14="http://schemas.microsoft.com/office/drawing/2010/main" w="0">
                    <a:solidFill>
                      <a:srgbClr val="D1D1D1"/>
                    </a:solidFill>
                    <a:prstDash val="solid"/>
                    <a:round/>
                  </a14:hiddenLine>
                </a:ext>
              </a:extLst>
            </p:spPr>
            <p:txBody>
              <a:bodyPr/>
              <a:lstStyle/>
              <a:p>
                <a:endParaRPr lang="zh-CN" altLang="en-US" sz="1200">
                  <a:latin typeface="微软雅黑" panose="020B0503020204020204" pitchFamily="34" charset="-122"/>
                  <a:ea typeface="微软雅黑" panose="020B0503020204020204" pitchFamily="34" charset="-122"/>
                  <a:cs typeface="+mn-ea"/>
                  <a:sym typeface="+mn-lt"/>
                </a:endParaRPr>
              </a:p>
            </p:txBody>
          </p:sp>
          <p:sp>
            <p:nvSpPr>
              <p:cNvPr id="26" name="Freeform 24"/>
              <p:cNvSpPr/>
              <p:nvPr/>
            </p:nvSpPr>
            <p:spPr bwMode="gray">
              <a:xfrm>
                <a:off x="1515" y="3022"/>
                <a:ext cx="2571" cy="340"/>
              </a:xfrm>
              <a:custGeom>
                <a:avLst/>
                <a:gdLst>
                  <a:gd name="T0" fmla="*/ 1872 w 2180"/>
                  <a:gd name="T1" fmla="*/ 284 h 284"/>
                  <a:gd name="T2" fmla="*/ 0 w 2180"/>
                  <a:gd name="T3" fmla="*/ 284 h 284"/>
                  <a:gd name="T4" fmla="*/ 446 w 2180"/>
                  <a:gd name="T5" fmla="*/ 0 h 284"/>
                  <a:gd name="T6" fmla="*/ 2180 w 2180"/>
                  <a:gd name="T7" fmla="*/ 0 h 284"/>
                  <a:gd name="T8" fmla="*/ 1872 w 2180"/>
                  <a:gd name="T9" fmla="*/ 284 h 284"/>
                </a:gdLst>
                <a:ahLst/>
                <a:cxnLst>
                  <a:cxn ang="0">
                    <a:pos x="T0" y="T1"/>
                  </a:cxn>
                  <a:cxn ang="0">
                    <a:pos x="T2" y="T3"/>
                  </a:cxn>
                  <a:cxn ang="0">
                    <a:pos x="T4" y="T5"/>
                  </a:cxn>
                  <a:cxn ang="0">
                    <a:pos x="T6" y="T7"/>
                  </a:cxn>
                  <a:cxn ang="0">
                    <a:pos x="T8" y="T9"/>
                  </a:cxn>
                </a:cxnLst>
                <a:rect l="0" t="0" r="r" b="b"/>
                <a:pathLst>
                  <a:path w="2180" h="284">
                    <a:moveTo>
                      <a:pt x="1872" y="284"/>
                    </a:moveTo>
                    <a:lnTo>
                      <a:pt x="0" y="284"/>
                    </a:lnTo>
                    <a:lnTo>
                      <a:pt x="446" y="0"/>
                    </a:lnTo>
                    <a:lnTo>
                      <a:pt x="2180" y="0"/>
                    </a:lnTo>
                    <a:lnTo>
                      <a:pt x="1872" y="284"/>
                    </a:lnTo>
                    <a:close/>
                  </a:path>
                </a:pathLst>
              </a:custGeom>
              <a:gradFill rotWithShape="1">
                <a:gsLst>
                  <a:gs pos="0">
                    <a:schemeClr val="bg2">
                      <a:gamma/>
                      <a:tint val="73725"/>
                      <a:invGamma/>
                    </a:schemeClr>
                  </a:gs>
                  <a:gs pos="100000">
                    <a:schemeClr val="bg2"/>
                  </a:gs>
                </a:gsLst>
                <a:lin ang="5400000" scaled="1"/>
              </a:gradFill>
              <a:ln>
                <a:noFill/>
              </a:ln>
              <a:extLst>
                <a:ext uri="{91240B29-F687-4F45-9708-019B960494DF}">
                  <a14:hiddenLine xmlns:a14="http://schemas.microsoft.com/office/drawing/2010/main" w="0">
                    <a:solidFill>
                      <a:srgbClr val="808080"/>
                    </a:solidFill>
                    <a:prstDash val="solid"/>
                    <a:round/>
                  </a14:hiddenLine>
                </a:ext>
              </a:extLst>
            </p:spPr>
            <p:txBody>
              <a:bodyPr/>
              <a:lstStyle/>
              <a:p>
                <a:endParaRPr lang="zh-CN" altLang="en-US" sz="1200">
                  <a:latin typeface="微软雅黑" panose="020B0503020204020204" pitchFamily="34" charset="-122"/>
                  <a:ea typeface="微软雅黑" panose="020B0503020204020204" pitchFamily="34" charset="-122"/>
                  <a:cs typeface="+mn-ea"/>
                  <a:sym typeface="+mn-lt"/>
                </a:endParaRPr>
              </a:p>
            </p:txBody>
          </p:sp>
          <p:sp>
            <p:nvSpPr>
              <p:cNvPr id="27" name="Freeform 25"/>
              <p:cNvSpPr/>
              <p:nvPr/>
            </p:nvSpPr>
            <p:spPr bwMode="gray">
              <a:xfrm>
                <a:off x="1888" y="1543"/>
                <a:ext cx="1158" cy="1715"/>
              </a:xfrm>
              <a:custGeom>
                <a:avLst/>
                <a:gdLst>
                  <a:gd name="T0" fmla="*/ 12 w 1824"/>
                  <a:gd name="T1" fmla="*/ 2464 h 2648"/>
                  <a:gd name="T2" fmla="*/ 56 w 1824"/>
                  <a:gd name="T3" fmla="*/ 2120 h 2648"/>
                  <a:gd name="T4" fmla="*/ 124 w 1824"/>
                  <a:gd name="T5" fmla="*/ 1808 h 2648"/>
                  <a:gd name="T6" fmla="*/ 212 w 1824"/>
                  <a:gd name="T7" fmla="*/ 1524 h 2648"/>
                  <a:gd name="T8" fmla="*/ 316 w 1824"/>
                  <a:gd name="T9" fmla="*/ 1270 h 2648"/>
                  <a:gd name="T10" fmla="*/ 430 w 1824"/>
                  <a:gd name="T11" fmla="*/ 1044 h 2648"/>
                  <a:gd name="T12" fmla="*/ 550 w 1824"/>
                  <a:gd name="T13" fmla="*/ 846 h 2648"/>
                  <a:gd name="T14" fmla="*/ 672 w 1824"/>
                  <a:gd name="T15" fmla="*/ 674 h 2648"/>
                  <a:gd name="T16" fmla="*/ 792 w 1824"/>
                  <a:gd name="T17" fmla="*/ 528 h 2648"/>
                  <a:gd name="T18" fmla="*/ 906 w 1824"/>
                  <a:gd name="T19" fmla="*/ 408 h 2648"/>
                  <a:gd name="T20" fmla="*/ 1010 w 1824"/>
                  <a:gd name="T21" fmla="*/ 310 h 2648"/>
                  <a:gd name="T22" fmla="*/ 1096 w 1824"/>
                  <a:gd name="T23" fmla="*/ 236 h 2648"/>
                  <a:gd name="T24" fmla="*/ 1164 w 1824"/>
                  <a:gd name="T25" fmla="*/ 184 h 2648"/>
                  <a:gd name="T26" fmla="*/ 1208 w 1824"/>
                  <a:gd name="T27" fmla="*/ 154 h 2648"/>
                  <a:gd name="T28" fmla="*/ 1224 w 1824"/>
                  <a:gd name="T29" fmla="*/ 144 h 2648"/>
                  <a:gd name="T30" fmla="*/ 1728 w 1824"/>
                  <a:gd name="T31" fmla="*/ 56 h 2648"/>
                  <a:gd name="T32" fmla="*/ 1568 w 1824"/>
                  <a:gd name="T33" fmla="*/ 328 h 2648"/>
                  <a:gd name="T34" fmla="*/ 1554 w 1824"/>
                  <a:gd name="T35" fmla="*/ 332 h 2648"/>
                  <a:gd name="T36" fmla="*/ 1514 w 1824"/>
                  <a:gd name="T37" fmla="*/ 346 h 2648"/>
                  <a:gd name="T38" fmla="*/ 1452 w 1824"/>
                  <a:gd name="T39" fmla="*/ 370 h 2648"/>
                  <a:gd name="T40" fmla="*/ 1370 w 1824"/>
                  <a:gd name="T41" fmla="*/ 410 h 2648"/>
                  <a:gd name="T42" fmla="*/ 1270 w 1824"/>
                  <a:gd name="T43" fmla="*/ 466 h 2648"/>
                  <a:gd name="T44" fmla="*/ 1158 w 1824"/>
                  <a:gd name="T45" fmla="*/ 540 h 2648"/>
                  <a:gd name="T46" fmla="*/ 1034 w 1824"/>
                  <a:gd name="T47" fmla="*/ 636 h 2648"/>
                  <a:gd name="T48" fmla="*/ 904 w 1824"/>
                  <a:gd name="T49" fmla="*/ 756 h 2648"/>
                  <a:gd name="T50" fmla="*/ 770 w 1824"/>
                  <a:gd name="T51" fmla="*/ 900 h 2648"/>
                  <a:gd name="T52" fmla="*/ 632 w 1824"/>
                  <a:gd name="T53" fmla="*/ 1076 h 2648"/>
                  <a:gd name="T54" fmla="*/ 498 w 1824"/>
                  <a:gd name="T55" fmla="*/ 1280 h 2648"/>
                  <a:gd name="T56" fmla="*/ 370 w 1824"/>
                  <a:gd name="T57" fmla="*/ 1518 h 2648"/>
                  <a:gd name="T58" fmla="*/ 248 w 1824"/>
                  <a:gd name="T59" fmla="*/ 1792 h 2648"/>
                  <a:gd name="T60" fmla="*/ 138 w 1824"/>
                  <a:gd name="T61" fmla="*/ 2104 h 2648"/>
                  <a:gd name="T62" fmla="*/ 42 w 1824"/>
                  <a:gd name="T63" fmla="*/ 2456 h 2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24" h="2648">
                    <a:moveTo>
                      <a:pt x="0" y="2648"/>
                    </a:moveTo>
                    <a:lnTo>
                      <a:pt x="12" y="2464"/>
                    </a:lnTo>
                    <a:lnTo>
                      <a:pt x="32" y="2288"/>
                    </a:lnTo>
                    <a:lnTo>
                      <a:pt x="56" y="2120"/>
                    </a:lnTo>
                    <a:lnTo>
                      <a:pt x="88" y="1960"/>
                    </a:lnTo>
                    <a:lnTo>
                      <a:pt x="124" y="1808"/>
                    </a:lnTo>
                    <a:lnTo>
                      <a:pt x="166" y="1662"/>
                    </a:lnTo>
                    <a:lnTo>
                      <a:pt x="212" y="1524"/>
                    </a:lnTo>
                    <a:lnTo>
                      <a:pt x="262" y="1394"/>
                    </a:lnTo>
                    <a:lnTo>
                      <a:pt x="316" y="1270"/>
                    </a:lnTo>
                    <a:lnTo>
                      <a:pt x="372" y="1154"/>
                    </a:lnTo>
                    <a:lnTo>
                      <a:pt x="430" y="1044"/>
                    </a:lnTo>
                    <a:lnTo>
                      <a:pt x="490" y="942"/>
                    </a:lnTo>
                    <a:lnTo>
                      <a:pt x="550" y="846"/>
                    </a:lnTo>
                    <a:lnTo>
                      <a:pt x="612" y="758"/>
                    </a:lnTo>
                    <a:lnTo>
                      <a:pt x="672" y="674"/>
                    </a:lnTo>
                    <a:lnTo>
                      <a:pt x="734" y="598"/>
                    </a:lnTo>
                    <a:lnTo>
                      <a:pt x="792" y="528"/>
                    </a:lnTo>
                    <a:lnTo>
                      <a:pt x="850" y="464"/>
                    </a:lnTo>
                    <a:lnTo>
                      <a:pt x="906" y="408"/>
                    </a:lnTo>
                    <a:lnTo>
                      <a:pt x="960" y="356"/>
                    </a:lnTo>
                    <a:lnTo>
                      <a:pt x="1010" y="310"/>
                    </a:lnTo>
                    <a:lnTo>
                      <a:pt x="1056" y="270"/>
                    </a:lnTo>
                    <a:lnTo>
                      <a:pt x="1096" y="236"/>
                    </a:lnTo>
                    <a:lnTo>
                      <a:pt x="1134" y="208"/>
                    </a:lnTo>
                    <a:lnTo>
                      <a:pt x="1164" y="184"/>
                    </a:lnTo>
                    <a:lnTo>
                      <a:pt x="1190" y="166"/>
                    </a:lnTo>
                    <a:lnTo>
                      <a:pt x="1208" y="154"/>
                    </a:lnTo>
                    <a:lnTo>
                      <a:pt x="1220" y="146"/>
                    </a:lnTo>
                    <a:lnTo>
                      <a:pt x="1224" y="144"/>
                    </a:lnTo>
                    <a:lnTo>
                      <a:pt x="848" y="0"/>
                    </a:lnTo>
                    <a:lnTo>
                      <a:pt x="1728" y="56"/>
                    </a:lnTo>
                    <a:lnTo>
                      <a:pt x="1824" y="480"/>
                    </a:lnTo>
                    <a:lnTo>
                      <a:pt x="1568" y="328"/>
                    </a:lnTo>
                    <a:lnTo>
                      <a:pt x="1564" y="328"/>
                    </a:lnTo>
                    <a:lnTo>
                      <a:pt x="1554" y="332"/>
                    </a:lnTo>
                    <a:lnTo>
                      <a:pt x="1538" y="338"/>
                    </a:lnTo>
                    <a:lnTo>
                      <a:pt x="1514" y="346"/>
                    </a:lnTo>
                    <a:lnTo>
                      <a:pt x="1486" y="356"/>
                    </a:lnTo>
                    <a:lnTo>
                      <a:pt x="1452" y="370"/>
                    </a:lnTo>
                    <a:lnTo>
                      <a:pt x="1412" y="388"/>
                    </a:lnTo>
                    <a:lnTo>
                      <a:pt x="1370" y="410"/>
                    </a:lnTo>
                    <a:lnTo>
                      <a:pt x="1322" y="436"/>
                    </a:lnTo>
                    <a:lnTo>
                      <a:pt x="1270" y="466"/>
                    </a:lnTo>
                    <a:lnTo>
                      <a:pt x="1216" y="500"/>
                    </a:lnTo>
                    <a:lnTo>
                      <a:pt x="1158" y="540"/>
                    </a:lnTo>
                    <a:lnTo>
                      <a:pt x="1098" y="584"/>
                    </a:lnTo>
                    <a:lnTo>
                      <a:pt x="1034" y="636"/>
                    </a:lnTo>
                    <a:lnTo>
                      <a:pt x="970" y="692"/>
                    </a:lnTo>
                    <a:lnTo>
                      <a:pt x="904" y="756"/>
                    </a:lnTo>
                    <a:lnTo>
                      <a:pt x="836" y="824"/>
                    </a:lnTo>
                    <a:lnTo>
                      <a:pt x="770" y="900"/>
                    </a:lnTo>
                    <a:lnTo>
                      <a:pt x="700" y="984"/>
                    </a:lnTo>
                    <a:lnTo>
                      <a:pt x="632" y="1076"/>
                    </a:lnTo>
                    <a:lnTo>
                      <a:pt x="566" y="1174"/>
                    </a:lnTo>
                    <a:lnTo>
                      <a:pt x="498" y="1280"/>
                    </a:lnTo>
                    <a:lnTo>
                      <a:pt x="434" y="1394"/>
                    </a:lnTo>
                    <a:lnTo>
                      <a:pt x="370" y="1518"/>
                    </a:lnTo>
                    <a:lnTo>
                      <a:pt x="308" y="1650"/>
                    </a:lnTo>
                    <a:lnTo>
                      <a:pt x="248" y="1792"/>
                    </a:lnTo>
                    <a:lnTo>
                      <a:pt x="192" y="1944"/>
                    </a:lnTo>
                    <a:lnTo>
                      <a:pt x="138" y="2104"/>
                    </a:lnTo>
                    <a:lnTo>
                      <a:pt x="88" y="2274"/>
                    </a:lnTo>
                    <a:lnTo>
                      <a:pt x="42" y="2456"/>
                    </a:lnTo>
                    <a:lnTo>
                      <a:pt x="0" y="2648"/>
                    </a:lnTo>
                    <a:close/>
                  </a:path>
                </a:pathLst>
              </a:custGeom>
              <a:gradFill rotWithShape="1">
                <a:gsLst>
                  <a:gs pos="0">
                    <a:srgbClr val="D11364"/>
                  </a:gs>
                  <a:gs pos="100000">
                    <a:srgbClr val="D11364">
                      <a:gamma/>
                      <a:shade val="46275"/>
                      <a:invGamma/>
                    </a:srgbClr>
                  </a:gs>
                </a:gsLst>
                <a:lin ang="5400000" scaled="1"/>
              </a:gradFill>
              <a:ln>
                <a:noFill/>
              </a:ln>
              <a:extLst>
                <a:ext uri="{91240B29-F687-4F45-9708-019B960494DF}">
                  <a14:hiddenLine xmlns:a14="http://schemas.microsoft.com/office/drawing/2010/main" w="0">
                    <a:solidFill>
                      <a:srgbClr val="FACD69"/>
                    </a:solidFill>
                    <a:prstDash val="solid"/>
                    <a:round/>
                  </a14:hiddenLine>
                </a:ext>
              </a:extLst>
            </p:spPr>
            <p:txBody>
              <a:bodyPr/>
              <a:lstStyle/>
              <a:p>
                <a:endParaRPr lang="zh-CN" altLang="en-US" sz="1200">
                  <a:latin typeface="微软雅黑" panose="020B0503020204020204" pitchFamily="34" charset="-122"/>
                  <a:ea typeface="微软雅黑" panose="020B0503020204020204" pitchFamily="34" charset="-122"/>
                  <a:cs typeface="+mn-ea"/>
                  <a:sym typeface="+mn-lt"/>
                </a:endParaRPr>
              </a:p>
            </p:txBody>
          </p:sp>
          <p:sp>
            <p:nvSpPr>
              <p:cNvPr id="28" name="Rectangle 26"/>
              <p:cNvSpPr>
                <a:spLocks noChangeArrowheads="1"/>
              </p:cNvSpPr>
              <p:nvPr/>
            </p:nvSpPr>
            <p:spPr bwMode="gray">
              <a:xfrm>
                <a:off x="3082" y="1787"/>
                <a:ext cx="1743" cy="192"/>
              </a:xfrm>
              <a:prstGeom prst="rect">
                <a:avLst/>
              </a:prstGeom>
              <a:solidFill>
                <a:srgbClr val="3366FF"/>
              </a:solidFill>
              <a:ln>
                <a:noFill/>
              </a:ln>
              <a:effectLst/>
              <a:extLst>
                <a:ext uri="{91240B29-F687-4F45-9708-019B960494DF}">
                  <a14:hiddenLine xmlns:a14="http://schemas.microsoft.com/office/drawing/2010/main" w="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2540" tIns="31270" rIns="62540" bIns="31270"/>
              <a:lstStyle>
                <a:lvl1pPr defTabSz="835025">
                  <a:defRPr>
                    <a:solidFill>
                      <a:schemeClr val="tx1"/>
                    </a:solidFill>
                    <a:latin typeface="Arial" panose="020B0604020202020204" pitchFamily="34" charset="0"/>
                    <a:ea typeface="宋体" panose="02010600030101010101" pitchFamily="2" charset="-122"/>
                  </a:defRPr>
                </a:lvl1pPr>
                <a:lvl2pPr marL="417830" defTabSz="835025">
                  <a:defRPr>
                    <a:solidFill>
                      <a:schemeClr val="tx1"/>
                    </a:solidFill>
                    <a:latin typeface="Arial" panose="020B0604020202020204" pitchFamily="34" charset="0"/>
                    <a:ea typeface="宋体" panose="02010600030101010101" pitchFamily="2" charset="-122"/>
                  </a:defRPr>
                </a:lvl2pPr>
                <a:lvl3pPr marL="835025" defTabSz="835025">
                  <a:defRPr>
                    <a:solidFill>
                      <a:schemeClr val="tx1"/>
                    </a:solidFill>
                    <a:latin typeface="Arial" panose="020B0604020202020204" pitchFamily="34" charset="0"/>
                    <a:ea typeface="宋体" panose="02010600030101010101" pitchFamily="2" charset="-122"/>
                  </a:defRPr>
                </a:lvl3pPr>
                <a:lvl4pPr marL="1250950" defTabSz="835025">
                  <a:defRPr>
                    <a:solidFill>
                      <a:schemeClr val="tx1"/>
                    </a:solidFill>
                    <a:latin typeface="Arial" panose="020B0604020202020204" pitchFamily="34" charset="0"/>
                    <a:ea typeface="宋体" panose="02010600030101010101" pitchFamily="2" charset="-122"/>
                  </a:defRPr>
                </a:lvl4pPr>
                <a:lvl5pPr marL="1668780" defTabSz="835025">
                  <a:defRPr>
                    <a:solidFill>
                      <a:schemeClr val="tx1"/>
                    </a:solidFill>
                    <a:latin typeface="Arial" panose="020B0604020202020204" pitchFamily="34" charset="0"/>
                    <a:ea typeface="宋体" panose="02010600030101010101" pitchFamily="2" charset="-122"/>
                  </a:defRPr>
                </a:lvl5pPr>
                <a:lvl6pPr marL="21259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831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403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975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lang="en-US" altLang="zh-CN" sz="1000" b="1">
                    <a:solidFill>
                      <a:srgbClr val="FFFFFF"/>
                    </a:solidFill>
                    <a:latin typeface="微软雅黑" panose="020B0503020204020204" pitchFamily="34" charset="-122"/>
                    <a:ea typeface="微软雅黑" panose="020B0503020204020204" pitchFamily="34" charset="-122"/>
                    <a:cs typeface="+mn-ea"/>
                    <a:sym typeface="+mn-lt"/>
                  </a:rPr>
                  <a:t>V4</a:t>
                </a:r>
              </a:p>
            </p:txBody>
          </p:sp>
          <p:sp>
            <p:nvSpPr>
              <p:cNvPr id="29" name="Rectangle 27"/>
              <p:cNvSpPr>
                <a:spLocks noChangeArrowheads="1"/>
              </p:cNvSpPr>
              <p:nvPr/>
            </p:nvSpPr>
            <p:spPr bwMode="gray">
              <a:xfrm>
                <a:off x="2556" y="2310"/>
                <a:ext cx="1900" cy="188"/>
              </a:xfrm>
              <a:prstGeom prst="rect">
                <a:avLst/>
              </a:prstGeom>
              <a:gradFill rotWithShape="1">
                <a:gsLst>
                  <a:gs pos="0">
                    <a:schemeClr val="folHlink">
                      <a:gamma/>
                      <a:shade val="72549"/>
                      <a:invGamma/>
                    </a:schemeClr>
                  </a:gs>
                  <a:gs pos="50000">
                    <a:schemeClr val="folHlink"/>
                  </a:gs>
                  <a:gs pos="100000">
                    <a:schemeClr val="folHlink">
                      <a:gamma/>
                      <a:shade val="72549"/>
                      <a:invGamma/>
                    </a:schemeClr>
                  </a:gs>
                </a:gsLst>
                <a:lin ang="27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2540" tIns="31270" rIns="62540" bIns="31270" anchor="ctr"/>
              <a:lstStyle>
                <a:lvl1pPr defTabSz="835025">
                  <a:defRPr>
                    <a:solidFill>
                      <a:schemeClr val="tx1"/>
                    </a:solidFill>
                    <a:latin typeface="Arial" panose="020B0604020202020204" pitchFamily="34" charset="0"/>
                    <a:ea typeface="宋体" panose="02010600030101010101" pitchFamily="2" charset="-122"/>
                  </a:defRPr>
                </a:lvl1pPr>
                <a:lvl2pPr marL="417830" defTabSz="835025">
                  <a:defRPr>
                    <a:solidFill>
                      <a:schemeClr val="tx1"/>
                    </a:solidFill>
                    <a:latin typeface="Arial" panose="020B0604020202020204" pitchFamily="34" charset="0"/>
                    <a:ea typeface="宋体" panose="02010600030101010101" pitchFamily="2" charset="-122"/>
                  </a:defRPr>
                </a:lvl2pPr>
                <a:lvl3pPr marL="835025" defTabSz="835025">
                  <a:defRPr>
                    <a:solidFill>
                      <a:schemeClr val="tx1"/>
                    </a:solidFill>
                    <a:latin typeface="Arial" panose="020B0604020202020204" pitchFamily="34" charset="0"/>
                    <a:ea typeface="宋体" panose="02010600030101010101" pitchFamily="2" charset="-122"/>
                  </a:defRPr>
                </a:lvl3pPr>
                <a:lvl4pPr marL="1250950" defTabSz="835025">
                  <a:defRPr>
                    <a:solidFill>
                      <a:schemeClr val="tx1"/>
                    </a:solidFill>
                    <a:latin typeface="Arial" panose="020B0604020202020204" pitchFamily="34" charset="0"/>
                    <a:ea typeface="宋体" panose="02010600030101010101" pitchFamily="2" charset="-122"/>
                  </a:defRPr>
                </a:lvl4pPr>
                <a:lvl5pPr marL="1668780" defTabSz="835025">
                  <a:defRPr>
                    <a:solidFill>
                      <a:schemeClr val="tx1"/>
                    </a:solidFill>
                    <a:latin typeface="Arial" panose="020B0604020202020204" pitchFamily="34" charset="0"/>
                    <a:ea typeface="宋体" panose="02010600030101010101" pitchFamily="2" charset="-122"/>
                  </a:defRPr>
                </a:lvl5pPr>
                <a:lvl6pPr marL="21259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831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403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975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lang="en-US" altLang="zh-CN" sz="1000" b="1">
                    <a:solidFill>
                      <a:srgbClr val="FFFFFF"/>
                    </a:solidFill>
                    <a:latin typeface="微软雅黑" panose="020B0503020204020204" pitchFamily="34" charset="-122"/>
                    <a:ea typeface="微软雅黑" panose="020B0503020204020204" pitchFamily="34" charset="-122"/>
                    <a:cs typeface="+mn-ea"/>
                    <a:sym typeface="+mn-lt"/>
                  </a:rPr>
                  <a:t>V3</a:t>
                </a:r>
              </a:p>
            </p:txBody>
          </p:sp>
          <p:sp>
            <p:nvSpPr>
              <p:cNvPr id="30" name="Freeform 28"/>
              <p:cNvSpPr/>
              <p:nvPr/>
            </p:nvSpPr>
            <p:spPr bwMode="gray">
              <a:xfrm>
                <a:off x="2036" y="2494"/>
                <a:ext cx="2415" cy="343"/>
              </a:xfrm>
              <a:custGeom>
                <a:avLst/>
                <a:gdLst>
                  <a:gd name="T0" fmla="*/ 1742 w 2048"/>
                  <a:gd name="T1" fmla="*/ 286 h 286"/>
                  <a:gd name="T2" fmla="*/ 0 w 2048"/>
                  <a:gd name="T3" fmla="*/ 286 h 286"/>
                  <a:gd name="T4" fmla="*/ 446 w 2048"/>
                  <a:gd name="T5" fmla="*/ 0 h 286"/>
                  <a:gd name="T6" fmla="*/ 2048 w 2048"/>
                  <a:gd name="T7" fmla="*/ 0 h 286"/>
                  <a:gd name="T8" fmla="*/ 1742 w 2048"/>
                  <a:gd name="T9" fmla="*/ 286 h 286"/>
                </a:gdLst>
                <a:ahLst/>
                <a:cxnLst>
                  <a:cxn ang="0">
                    <a:pos x="T0" y="T1"/>
                  </a:cxn>
                  <a:cxn ang="0">
                    <a:pos x="T2" y="T3"/>
                  </a:cxn>
                  <a:cxn ang="0">
                    <a:pos x="T4" y="T5"/>
                  </a:cxn>
                  <a:cxn ang="0">
                    <a:pos x="T6" y="T7"/>
                  </a:cxn>
                  <a:cxn ang="0">
                    <a:pos x="T8" y="T9"/>
                  </a:cxn>
                </a:cxnLst>
                <a:rect l="0" t="0" r="r" b="b"/>
                <a:pathLst>
                  <a:path w="2048" h="286">
                    <a:moveTo>
                      <a:pt x="1742" y="286"/>
                    </a:moveTo>
                    <a:lnTo>
                      <a:pt x="0" y="286"/>
                    </a:lnTo>
                    <a:lnTo>
                      <a:pt x="446" y="0"/>
                    </a:lnTo>
                    <a:lnTo>
                      <a:pt x="2048" y="0"/>
                    </a:lnTo>
                    <a:lnTo>
                      <a:pt x="1742" y="286"/>
                    </a:lnTo>
                    <a:close/>
                  </a:path>
                </a:pathLst>
              </a:custGeom>
              <a:gradFill rotWithShape="1">
                <a:gsLst>
                  <a:gs pos="0">
                    <a:schemeClr val="hlink"/>
                  </a:gs>
                  <a:gs pos="100000">
                    <a:schemeClr val="hlink">
                      <a:gamma/>
                      <a:shade val="46275"/>
                      <a:invGamma/>
                    </a:schemeClr>
                  </a:gs>
                </a:gsLst>
                <a:lin ang="5400000" scaled="1"/>
              </a:gradFill>
              <a:ln>
                <a:noFill/>
              </a:ln>
              <a:effectLst/>
              <a:extLst>
                <a:ext uri="{91240B29-F687-4F45-9708-019B960494DF}">
                  <a14:hiddenLine xmlns:a14="http://schemas.microsoft.com/office/drawing/2010/main" w="0">
                    <a:solidFill>
                      <a:srgbClr val="808080"/>
                    </a:solidFill>
                    <a:prstDash val="solid"/>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200">
                  <a:latin typeface="微软雅黑" panose="020B0503020204020204" pitchFamily="34" charset="-122"/>
                  <a:ea typeface="微软雅黑" panose="020B0503020204020204" pitchFamily="34" charset="-122"/>
                  <a:cs typeface="+mn-ea"/>
                  <a:sym typeface="+mn-lt"/>
                </a:endParaRPr>
              </a:p>
            </p:txBody>
          </p:sp>
          <p:sp>
            <p:nvSpPr>
              <p:cNvPr id="31" name="Rectangle 29"/>
              <p:cNvSpPr>
                <a:spLocks noChangeArrowheads="1"/>
              </p:cNvSpPr>
              <p:nvPr/>
            </p:nvSpPr>
            <p:spPr bwMode="gray">
              <a:xfrm>
                <a:off x="2038" y="2836"/>
                <a:ext cx="2056" cy="188"/>
              </a:xfrm>
              <a:prstGeom prst="rect">
                <a:avLst/>
              </a:prstGeom>
              <a:solidFill>
                <a:schemeClr val="hlink"/>
              </a:solidFill>
              <a:ln>
                <a:noFill/>
              </a:ln>
              <a:effectLst/>
              <a:extLst>
                <a:ext uri="{91240B29-F687-4F45-9708-019B960494DF}">
                  <a14:hiddenLine xmlns:a14="http://schemas.microsoft.com/office/drawing/2010/main" w="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2540" tIns="31270" rIns="62540" bIns="31270"/>
              <a:lstStyle>
                <a:lvl1pPr defTabSz="835025">
                  <a:defRPr>
                    <a:solidFill>
                      <a:schemeClr val="tx1"/>
                    </a:solidFill>
                    <a:latin typeface="Arial" panose="020B0604020202020204" pitchFamily="34" charset="0"/>
                    <a:ea typeface="宋体" panose="02010600030101010101" pitchFamily="2" charset="-122"/>
                  </a:defRPr>
                </a:lvl1pPr>
                <a:lvl2pPr marL="417830" defTabSz="835025">
                  <a:defRPr>
                    <a:solidFill>
                      <a:schemeClr val="tx1"/>
                    </a:solidFill>
                    <a:latin typeface="Arial" panose="020B0604020202020204" pitchFamily="34" charset="0"/>
                    <a:ea typeface="宋体" panose="02010600030101010101" pitchFamily="2" charset="-122"/>
                  </a:defRPr>
                </a:lvl2pPr>
                <a:lvl3pPr marL="835025" defTabSz="835025">
                  <a:defRPr>
                    <a:solidFill>
                      <a:schemeClr val="tx1"/>
                    </a:solidFill>
                    <a:latin typeface="Arial" panose="020B0604020202020204" pitchFamily="34" charset="0"/>
                    <a:ea typeface="宋体" panose="02010600030101010101" pitchFamily="2" charset="-122"/>
                  </a:defRPr>
                </a:lvl3pPr>
                <a:lvl4pPr marL="1250950" defTabSz="835025">
                  <a:defRPr>
                    <a:solidFill>
                      <a:schemeClr val="tx1"/>
                    </a:solidFill>
                    <a:latin typeface="Arial" panose="020B0604020202020204" pitchFamily="34" charset="0"/>
                    <a:ea typeface="宋体" panose="02010600030101010101" pitchFamily="2" charset="-122"/>
                  </a:defRPr>
                </a:lvl4pPr>
                <a:lvl5pPr marL="1668780" defTabSz="835025">
                  <a:defRPr>
                    <a:solidFill>
                      <a:schemeClr val="tx1"/>
                    </a:solidFill>
                    <a:latin typeface="Arial" panose="020B0604020202020204" pitchFamily="34" charset="0"/>
                    <a:ea typeface="宋体" panose="02010600030101010101" pitchFamily="2" charset="-122"/>
                  </a:defRPr>
                </a:lvl5pPr>
                <a:lvl6pPr marL="21259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831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403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975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lang="en-US" altLang="zh-CN" sz="1000" b="1">
                    <a:solidFill>
                      <a:srgbClr val="FFFFFF"/>
                    </a:solidFill>
                    <a:latin typeface="微软雅黑" panose="020B0503020204020204" pitchFamily="34" charset="-122"/>
                    <a:ea typeface="微软雅黑" panose="020B0503020204020204" pitchFamily="34" charset="-122"/>
                    <a:cs typeface="+mn-ea"/>
                    <a:sym typeface="+mn-lt"/>
                  </a:rPr>
                  <a:t>V2</a:t>
                </a:r>
              </a:p>
            </p:txBody>
          </p:sp>
          <p:sp>
            <p:nvSpPr>
              <p:cNvPr id="32" name="Rectangle 30"/>
              <p:cNvSpPr>
                <a:spLocks noChangeArrowheads="1"/>
              </p:cNvSpPr>
              <p:nvPr/>
            </p:nvSpPr>
            <p:spPr bwMode="gray">
              <a:xfrm>
                <a:off x="1514" y="3363"/>
                <a:ext cx="2213" cy="187"/>
              </a:xfrm>
              <a:prstGeom prst="rect">
                <a:avLst/>
              </a:prstGeom>
              <a:gradFill rotWithShape="1">
                <a:gsLst>
                  <a:gs pos="0">
                    <a:schemeClr val="bg2">
                      <a:gamma/>
                      <a:shade val="72549"/>
                      <a:invGamma/>
                    </a:schemeClr>
                  </a:gs>
                  <a:gs pos="50000">
                    <a:schemeClr val="bg2"/>
                  </a:gs>
                  <a:gs pos="100000">
                    <a:schemeClr val="bg2">
                      <a:gamma/>
                      <a:shade val="72549"/>
                      <a:invGamma/>
                    </a:schemeClr>
                  </a:gs>
                </a:gsLst>
                <a:lin ang="27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2540" tIns="31270" rIns="62540" bIns="31270" anchor="ctr"/>
              <a:lstStyle>
                <a:lvl1pPr defTabSz="835025">
                  <a:defRPr>
                    <a:solidFill>
                      <a:schemeClr val="tx1"/>
                    </a:solidFill>
                    <a:latin typeface="Arial" panose="020B0604020202020204" pitchFamily="34" charset="0"/>
                    <a:ea typeface="宋体" panose="02010600030101010101" pitchFamily="2" charset="-122"/>
                  </a:defRPr>
                </a:lvl1pPr>
                <a:lvl2pPr marL="417830" defTabSz="835025">
                  <a:defRPr>
                    <a:solidFill>
                      <a:schemeClr val="tx1"/>
                    </a:solidFill>
                    <a:latin typeface="Arial" panose="020B0604020202020204" pitchFamily="34" charset="0"/>
                    <a:ea typeface="宋体" panose="02010600030101010101" pitchFamily="2" charset="-122"/>
                  </a:defRPr>
                </a:lvl2pPr>
                <a:lvl3pPr marL="835025" defTabSz="835025">
                  <a:defRPr>
                    <a:solidFill>
                      <a:schemeClr val="tx1"/>
                    </a:solidFill>
                    <a:latin typeface="Arial" panose="020B0604020202020204" pitchFamily="34" charset="0"/>
                    <a:ea typeface="宋体" panose="02010600030101010101" pitchFamily="2" charset="-122"/>
                  </a:defRPr>
                </a:lvl3pPr>
                <a:lvl4pPr marL="1250950" defTabSz="835025">
                  <a:defRPr>
                    <a:solidFill>
                      <a:schemeClr val="tx1"/>
                    </a:solidFill>
                    <a:latin typeface="Arial" panose="020B0604020202020204" pitchFamily="34" charset="0"/>
                    <a:ea typeface="宋体" panose="02010600030101010101" pitchFamily="2" charset="-122"/>
                  </a:defRPr>
                </a:lvl4pPr>
                <a:lvl5pPr marL="1668780" defTabSz="835025">
                  <a:defRPr>
                    <a:solidFill>
                      <a:schemeClr val="tx1"/>
                    </a:solidFill>
                    <a:latin typeface="Arial" panose="020B0604020202020204" pitchFamily="34" charset="0"/>
                    <a:ea typeface="宋体" panose="02010600030101010101" pitchFamily="2" charset="-122"/>
                  </a:defRPr>
                </a:lvl5pPr>
                <a:lvl6pPr marL="21259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831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403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975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V1</a:t>
                </a:r>
              </a:p>
            </p:txBody>
          </p:sp>
        </p:grpSp>
        <p:pic>
          <p:nvPicPr>
            <p:cNvPr id="33" name="Picture 31" descr="bts3806-w"/>
            <p:cNvPicPr>
              <a:picLocks noChangeAspect="1" noChangeArrowheads="1"/>
            </p:cNvPicPr>
            <p:nvPr/>
          </p:nvPicPr>
          <p:blipFill>
            <a:blip r:embed="rId4" cstate="print"/>
            <a:srcRect/>
            <a:stretch>
              <a:fillRect/>
            </a:stretch>
          </p:blipFill>
          <p:spPr bwMode="auto">
            <a:xfrm>
              <a:off x="8132" y="7958"/>
              <a:ext cx="611" cy="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4" name="Object 32"/>
            <p:cNvGraphicFramePr>
              <a:graphicFrameLocks noChangeAspect="1"/>
            </p:cNvGraphicFramePr>
            <p:nvPr/>
          </p:nvGraphicFramePr>
          <p:xfrm>
            <a:off x="9989" y="8050"/>
            <a:ext cx="419" cy="426"/>
          </p:xfrm>
          <a:graphic>
            <a:graphicData uri="http://schemas.openxmlformats.org/presentationml/2006/ole">
              <mc:AlternateContent xmlns:mc="http://schemas.openxmlformats.org/markup-compatibility/2006">
                <mc:Choice xmlns:v="urn:schemas-microsoft-com:vml" Requires="v">
                  <p:oleObj spid="_x0000_s1030" name="文档" r:id="rId5" imgW="3786626" imgH="5578962" progId="">
                    <p:embed/>
                  </p:oleObj>
                </mc:Choice>
                <mc:Fallback>
                  <p:oleObj name="文档" r:id="rId5" imgW="3786626" imgH="5578962" progId="">
                    <p:embed/>
                    <p:pic>
                      <p:nvPicPr>
                        <p:cNvPr id="0" name="Object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89" y="8050"/>
                          <a:ext cx="419"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oleObj>
                </mc:Fallback>
              </mc:AlternateContent>
            </a:graphicData>
          </a:graphic>
        </p:graphicFrame>
        <p:sp>
          <p:nvSpPr>
            <p:cNvPr id="35" name="Text Box 33"/>
            <p:cNvSpPr txBox="1">
              <a:spLocks noChangeArrowheads="1"/>
            </p:cNvSpPr>
            <p:nvPr/>
          </p:nvSpPr>
          <p:spPr bwMode="auto">
            <a:xfrm>
              <a:off x="8049" y="8643"/>
              <a:ext cx="1063" cy="25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2521" tIns="31262" rIns="62521" bIns="31262">
              <a:spAutoFit/>
            </a:bodyPr>
            <a:lstStyle>
              <a:lvl1pPr defTabSz="835025">
                <a:defRPr>
                  <a:solidFill>
                    <a:schemeClr val="tx1"/>
                  </a:solidFill>
                  <a:latin typeface="Arial" panose="020B0604020202020204" pitchFamily="34" charset="0"/>
                  <a:ea typeface="宋体" panose="02010600030101010101" pitchFamily="2" charset="-122"/>
                </a:defRPr>
              </a:lvl1pPr>
              <a:lvl2pPr marL="417830" defTabSz="835025">
                <a:defRPr>
                  <a:solidFill>
                    <a:schemeClr val="tx1"/>
                  </a:solidFill>
                  <a:latin typeface="Arial" panose="020B0604020202020204" pitchFamily="34" charset="0"/>
                  <a:ea typeface="宋体" panose="02010600030101010101" pitchFamily="2" charset="-122"/>
                </a:defRPr>
              </a:lvl2pPr>
              <a:lvl3pPr marL="835025" defTabSz="835025">
                <a:defRPr>
                  <a:solidFill>
                    <a:schemeClr val="tx1"/>
                  </a:solidFill>
                  <a:latin typeface="Arial" panose="020B0604020202020204" pitchFamily="34" charset="0"/>
                  <a:ea typeface="宋体" panose="02010600030101010101" pitchFamily="2" charset="-122"/>
                </a:defRPr>
              </a:lvl3pPr>
              <a:lvl4pPr marL="1250950" defTabSz="835025">
                <a:defRPr>
                  <a:solidFill>
                    <a:schemeClr val="tx1"/>
                  </a:solidFill>
                  <a:latin typeface="Arial" panose="020B0604020202020204" pitchFamily="34" charset="0"/>
                  <a:ea typeface="宋体" panose="02010600030101010101" pitchFamily="2" charset="-122"/>
                </a:defRPr>
              </a:lvl4pPr>
              <a:lvl5pPr marL="1668780" defTabSz="835025">
                <a:defRPr>
                  <a:solidFill>
                    <a:schemeClr val="tx1"/>
                  </a:solidFill>
                  <a:latin typeface="Arial" panose="020B0604020202020204" pitchFamily="34" charset="0"/>
                  <a:ea typeface="宋体" panose="02010600030101010101" pitchFamily="2" charset="-122"/>
                </a:defRPr>
              </a:lvl5pPr>
              <a:lvl6pPr marL="21259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831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403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975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630" b="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BTS3612</a:t>
              </a:r>
            </a:p>
          </p:txBody>
        </p:sp>
        <p:sp>
          <p:nvSpPr>
            <p:cNvPr id="36" name="Text Box 34"/>
            <p:cNvSpPr txBox="1">
              <a:spLocks noChangeArrowheads="1"/>
            </p:cNvSpPr>
            <p:nvPr/>
          </p:nvSpPr>
          <p:spPr bwMode="auto">
            <a:xfrm>
              <a:off x="9855" y="8527"/>
              <a:ext cx="994" cy="262"/>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8505" tIns="34252" rIns="68505" bIns="34252">
              <a:spAutoFit/>
            </a:bodyPr>
            <a:lstStyle/>
            <a:p>
              <a:r>
                <a:rPr lang="en-US" altLang="zh-CN" sz="630" b="1">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BTS3601C</a:t>
              </a:r>
            </a:p>
          </p:txBody>
        </p:sp>
        <p:sp>
          <p:nvSpPr>
            <p:cNvPr id="37" name="Freeform 35"/>
            <p:cNvSpPr/>
            <p:nvPr/>
          </p:nvSpPr>
          <p:spPr bwMode="auto">
            <a:xfrm>
              <a:off x="11411" y="4878"/>
              <a:ext cx="51" cy="332"/>
            </a:xfrm>
            <a:custGeom>
              <a:avLst/>
              <a:gdLst>
                <a:gd name="T0" fmla="*/ 143 w 203"/>
                <a:gd name="T1" fmla="*/ 0 h 1089"/>
                <a:gd name="T2" fmla="*/ 7 w 203"/>
                <a:gd name="T3" fmla="*/ 272 h 1089"/>
                <a:gd name="T4" fmla="*/ 188 w 203"/>
                <a:gd name="T5" fmla="*/ 635 h 1089"/>
                <a:gd name="T6" fmla="*/ 98 w 203"/>
                <a:gd name="T7" fmla="*/ 998 h 1089"/>
                <a:gd name="T8" fmla="*/ 52 w 203"/>
                <a:gd name="T9" fmla="*/ 1089 h 1089"/>
              </a:gdLst>
              <a:ahLst/>
              <a:cxnLst>
                <a:cxn ang="0">
                  <a:pos x="T0" y="T1"/>
                </a:cxn>
                <a:cxn ang="0">
                  <a:pos x="T2" y="T3"/>
                </a:cxn>
                <a:cxn ang="0">
                  <a:pos x="T4" y="T5"/>
                </a:cxn>
                <a:cxn ang="0">
                  <a:pos x="T6" y="T7"/>
                </a:cxn>
                <a:cxn ang="0">
                  <a:pos x="T8" y="T9"/>
                </a:cxn>
              </a:cxnLst>
              <a:rect l="0" t="0" r="r" b="b"/>
              <a:pathLst>
                <a:path w="203" h="1089">
                  <a:moveTo>
                    <a:pt x="143" y="0"/>
                  </a:moveTo>
                  <a:cubicBezTo>
                    <a:pt x="71" y="83"/>
                    <a:pt x="0" y="166"/>
                    <a:pt x="7" y="272"/>
                  </a:cubicBezTo>
                  <a:cubicBezTo>
                    <a:pt x="14" y="378"/>
                    <a:pt x="173" y="514"/>
                    <a:pt x="188" y="635"/>
                  </a:cubicBezTo>
                  <a:cubicBezTo>
                    <a:pt x="203" y="756"/>
                    <a:pt x="121" y="922"/>
                    <a:pt x="98" y="998"/>
                  </a:cubicBezTo>
                  <a:cubicBezTo>
                    <a:pt x="75" y="1074"/>
                    <a:pt x="90" y="1074"/>
                    <a:pt x="52" y="1089"/>
                  </a:cubicBezTo>
                </a:path>
              </a:pathLst>
            </a:custGeom>
            <a:noFill/>
            <a:ln w="25400">
              <a:solidFill>
                <a:srgbClr val="FFCC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anose="020B0503020204020204" pitchFamily="34" charset="-122"/>
                <a:ea typeface="微软雅黑" panose="020B0503020204020204" pitchFamily="34" charset="-122"/>
                <a:cs typeface="+mn-ea"/>
                <a:sym typeface="+mn-lt"/>
              </a:endParaRPr>
            </a:p>
          </p:txBody>
        </p:sp>
        <p:pic>
          <p:nvPicPr>
            <p:cNvPr id="38" name="Picture 36" descr="004"/>
            <p:cNvPicPr>
              <a:picLocks noChangeAspect="1" noChangeArrowheads="1"/>
            </p:cNvPicPr>
            <p:nvPr/>
          </p:nvPicPr>
          <p:blipFill>
            <a:blip r:embed="rId7" cstate="email">
              <a:clrChange>
                <a:clrFrom>
                  <a:srgbClr val="FFFFFF"/>
                </a:clrFrom>
                <a:clrTo>
                  <a:srgbClr val="FFFFFF">
                    <a:alpha val="0"/>
                  </a:srgbClr>
                </a:clrTo>
              </a:clrChange>
            </a:blip>
            <a:srcRect/>
            <a:stretch>
              <a:fillRect/>
            </a:stretch>
          </p:blipFill>
          <p:spPr bwMode="auto">
            <a:xfrm>
              <a:off x="11365" y="5023"/>
              <a:ext cx="147" cy="87"/>
            </a:xfrm>
            <a:prstGeom prst="rect">
              <a:avLst/>
            </a:prstGeom>
            <a:noFill/>
            <a:extLst>
              <a:ext uri="{909E8E84-426E-40DD-AFC4-6F175D3DCCD1}">
                <a14:hiddenFill xmlns:a14="http://schemas.microsoft.com/office/drawing/2010/main">
                  <a:solidFill>
                    <a:srgbClr val="FFFFFF"/>
                  </a:solidFill>
                </a14:hiddenFill>
              </a:ext>
            </a:extLst>
          </p:spPr>
        </p:pic>
        <p:sp>
          <p:nvSpPr>
            <p:cNvPr id="40" name="Text Box 38"/>
            <p:cNvSpPr txBox="1">
              <a:spLocks noChangeArrowheads="1"/>
            </p:cNvSpPr>
            <p:nvPr/>
          </p:nvSpPr>
          <p:spPr bwMode="auto">
            <a:xfrm>
              <a:off x="12416" y="5173"/>
              <a:ext cx="758" cy="25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2521" tIns="31262" rIns="62521" bIns="31262">
              <a:spAutoFit/>
            </a:bodyPr>
            <a:lstStyle>
              <a:lvl1pPr defTabSz="835025">
                <a:defRPr>
                  <a:solidFill>
                    <a:schemeClr val="tx1"/>
                  </a:solidFill>
                  <a:latin typeface="Arial" panose="020B0604020202020204" pitchFamily="34" charset="0"/>
                  <a:ea typeface="宋体" panose="02010600030101010101" pitchFamily="2" charset="-122"/>
                </a:defRPr>
              </a:lvl1pPr>
              <a:lvl2pPr marL="417830" defTabSz="835025">
                <a:defRPr>
                  <a:solidFill>
                    <a:schemeClr val="tx1"/>
                  </a:solidFill>
                  <a:latin typeface="Arial" panose="020B0604020202020204" pitchFamily="34" charset="0"/>
                  <a:ea typeface="宋体" panose="02010600030101010101" pitchFamily="2" charset="-122"/>
                </a:defRPr>
              </a:lvl2pPr>
              <a:lvl3pPr marL="835025" defTabSz="835025">
                <a:defRPr>
                  <a:solidFill>
                    <a:schemeClr val="tx1"/>
                  </a:solidFill>
                  <a:latin typeface="Arial" panose="020B0604020202020204" pitchFamily="34" charset="0"/>
                  <a:ea typeface="宋体" panose="02010600030101010101" pitchFamily="2" charset="-122"/>
                </a:defRPr>
              </a:lvl3pPr>
              <a:lvl4pPr marL="1250950" defTabSz="835025">
                <a:defRPr>
                  <a:solidFill>
                    <a:schemeClr val="tx1"/>
                  </a:solidFill>
                  <a:latin typeface="Arial" panose="020B0604020202020204" pitchFamily="34" charset="0"/>
                  <a:ea typeface="宋体" panose="02010600030101010101" pitchFamily="2" charset="-122"/>
                </a:defRPr>
              </a:lvl4pPr>
              <a:lvl5pPr marL="1668780" defTabSz="835025">
                <a:defRPr>
                  <a:solidFill>
                    <a:schemeClr val="tx1"/>
                  </a:solidFill>
                  <a:latin typeface="Arial" panose="020B0604020202020204" pitchFamily="34" charset="0"/>
                  <a:ea typeface="宋体" panose="02010600030101010101" pitchFamily="2" charset="-122"/>
                </a:defRPr>
              </a:lvl5pPr>
              <a:lvl6pPr marL="21259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831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403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975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630" b="1">
                  <a:solidFill>
                    <a:schemeClr val="bg1"/>
                  </a:solidFill>
                  <a:latin typeface="微软雅黑" panose="020B0503020204020204" pitchFamily="34" charset="-122"/>
                  <a:ea typeface="微软雅黑" panose="020B0503020204020204" pitchFamily="34" charset="-122"/>
                  <a:cs typeface="+mn-ea"/>
                  <a:sym typeface="+mn-lt"/>
                </a:rPr>
                <a:t>Indoor</a:t>
              </a:r>
            </a:p>
          </p:txBody>
        </p:sp>
        <p:sp>
          <p:nvSpPr>
            <p:cNvPr id="41" name="Text Box 39"/>
            <p:cNvSpPr txBox="1">
              <a:spLocks noChangeArrowheads="1"/>
            </p:cNvSpPr>
            <p:nvPr/>
          </p:nvSpPr>
          <p:spPr bwMode="auto">
            <a:xfrm>
              <a:off x="13288" y="5135"/>
              <a:ext cx="1177" cy="25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2521" tIns="31262" rIns="62521" bIns="31262">
              <a:spAutoFit/>
            </a:bodyPr>
            <a:lstStyle>
              <a:lvl1pPr defTabSz="835025">
                <a:defRPr>
                  <a:solidFill>
                    <a:schemeClr val="tx1"/>
                  </a:solidFill>
                  <a:latin typeface="Arial" panose="020B0604020202020204" pitchFamily="34" charset="0"/>
                  <a:ea typeface="宋体" panose="02010600030101010101" pitchFamily="2" charset="-122"/>
                </a:defRPr>
              </a:lvl1pPr>
              <a:lvl2pPr marL="417830" defTabSz="835025">
                <a:defRPr>
                  <a:solidFill>
                    <a:schemeClr val="tx1"/>
                  </a:solidFill>
                  <a:latin typeface="Arial" panose="020B0604020202020204" pitchFamily="34" charset="0"/>
                  <a:ea typeface="宋体" panose="02010600030101010101" pitchFamily="2" charset="-122"/>
                </a:defRPr>
              </a:lvl2pPr>
              <a:lvl3pPr marL="835025" defTabSz="835025">
                <a:defRPr>
                  <a:solidFill>
                    <a:schemeClr val="tx1"/>
                  </a:solidFill>
                  <a:latin typeface="Arial" panose="020B0604020202020204" pitchFamily="34" charset="0"/>
                  <a:ea typeface="宋体" panose="02010600030101010101" pitchFamily="2" charset="-122"/>
                </a:defRPr>
              </a:lvl3pPr>
              <a:lvl4pPr marL="1250950" defTabSz="835025">
                <a:defRPr>
                  <a:solidFill>
                    <a:schemeClr val="tx1"/>
                  </a:solidFill>
                  <a:latin typeface="Arial" panose="020B0604020202020204" pitchFamily="34" charset="0"/>
                  <a:ea typeface="宋体" panose="02010600030101010101" pitchFamily="2" charset="-122"/>
                </a:defRPr>
              </a:lvl4pPr>
              <a:lvl5pPr marL="1668780" defTabSz="835025">
                <a:defRPr>
                  <a:solidFill>
                    <a:schemeClr val="tx1"/>
                  </a:solidFill>
                  <a:latin typeface="Arial" panose="020B0604020202020204" pitchFamily="34" charset="0"/>
                  <a:ea typeface="宋体" panose="02010600030101010101" pitchFamily="2" charset="-122"/>
                </a:defRPr>
              </a:lvl5pPr>
              <a:lvl6pPr marL="21259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831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403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975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630" b="1">
                  <a:solidFill>
                    <a:schemeClr val="bg1"/>
                  </a:solidFill>
                  <a:latin typeface="微软雅黑" panose="020B0503020204020204" pitchFamily="34" charset="-122"/>
                  <a:ea typeface="微软雅黑" panose="020B0503020204020204" pitchFamily="34" charset="-122"/>
                  <a:cs typeface="+mn-ea"/>
                  <a:sym typeface="+mn-lt"/>
                </a:rPr>
                <a:t>Outdoor</a:t>
              </a:r>
            </a:p>
          </p:txBody>
        </p:sp>
        <p:sp>
          <p:nvSpPr>
            <p:cNvPr id="42" name="Text Box 40"/>
            <p:cNvSpPr txBox="1">
              <a:spLocks noChangeArrowheads="1"/>
            </p:cNvSpPr>
            <p:nvPr/>
          </p:nvSpPr>
          <p:spPr bwMode="auto">
            <a:xfrm>
              <a:off x="11131" y="5349"/>
              <a:ext cx="432" cy="25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2521" tIns="31262" rIns="62521" bIns="31262">
              <a:spAutoFit/>
            </a:bodyPr>
            <a:lstStyle>
              <a:lvl1pPr defTabSz="835025">
                <a:defRPr>
                  <a:solidFill>
                    <a:schemeClr val="tx1"/>
                  </a:solidFill>
                  <a:latin typeface="Arial" panose="020B0604020202020204" pitchFamily="34" charset="0"/>
                  <a:ea typeface="宋体" panose="02010600030101010101" pitchFamily="2" charset="-122"/>
                </a:defRPr>
              </a:lvl1pPr>
              <a:lvl2pPr marL="417830" defTabSz="835025">
                <a:defRPr>
                  <a:solidFill>
                    <a:schemeClr val="tx1"/>
                  </a:solidFill>
                  <a:latin typeface="Arial" panose="020B0604020202020204" pitchFamily="34" charset="0"/>
                  <a:ea typeface="宋体" panose="02010600030101010101" pitchFamily="2" charset="-122"/>
                </a:defRPr>
              </a:lvl2pPr>
              <a:lvl3pPr marL="835025" defTabSz="835025">
                <a:defRPr>
                  <a:solidFill>
                    <a:schemeClr val="tx1"/>
                  </a:solidFill>
                  <a:latin typeface="Arial" panose="020B0604020202020204" pitchFamily="34" charset="0"/>
                  <a:ea typeface="宋体" panose="02010600030101010101" pitchFamily="2" charset="-122"/>
                </a:defRPr>
              </a:lvl3pPr>
              <a:lvl4pPr marL="1250950" defTabSz="835025">
                <a:defRPr>
                  <a:solidFill>
                    <a:schemeClr val="tx1"/>
                  </a:solidFill>
                  <a:latin typeface="Arial" panose="020B0604020202020204" pitchFamily="34" charset="0"/>
                  <a:ea typeface="宋体" panose="02010600030101010101" pitchFamily="2" charset="-122"/>
                </a:defRPr>
              </a:lvl4pPr>
              <a:lvl5pPr marL="1668780" defTabSz="835025">
                <a:defRPr>
                  <a:solidFill>
                    <a:schemeClr val="tx1"/>
                  </a:solidFill>
                  <a:latin typeface="Arial" panose="020B0604020202020204" pitchFamily="34" charset="0"/>
                  <a:ea typeface="宋体" panose="02010600030101010101" pitchFamily="2" charset="-122"/>
                </a:defRPr>
              </a:lvl5pPr>
              <a:lvl6pPr marL="21259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831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403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975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630" b="1">
                  <a:solidFill>
                    <a:schemeClr val="bg1"/>
                  </a:solidFill>
                  <a:latin typeface="微软雅黑" panose="020B0503020204020204" pitchFamily="34" charset="-122"/>
                  <a:ea typeface="微软雅黑" panose="020B0503020204020204" pitchFamily="34" charset="-122"/>
                  <a:cs typeface="+mn-ea"/>
                  <a:sym typeface="+mn-lt"/>
                </a:rPr>
                <a:t>BBU</a:t>
              </a:r>
            </a:p>
          </p:txBody>
        </p:sp>
        <p:pic>
          <p:nvPicPr>
            <p:cNvPr id="43" name="Picture 41"/>
            <p:cNvPicPr>
              <a:picLocks noChangeAspect="1" noChangeArrowheads="1"/>
            </p:cNvPicPr>
            <p:nvPr/>
          </p:nvPicPr>
          <p:blipFill>
            <a:blip r:embed="rId8" cstate="email"/>
            <a:srcRect/>
            <a:stretch>
              <a:fillRect/>
            </a:stretch>
          </p:blipFill>
          <p:spPr bwMode="auto">
            <a:xfrm rot="236066">
              <a:off x="11699" y="4630"/>
              <a:ext cx="182" cy="502"/>
            </a:xfrm>
            <a:prstGeom prst="rect">
              <a:avLst/>
            </a:prstGeom>
            <a:noFill/>
            <a:extLst>
              <a:ext uri="{909E8E84-426E-40DD-AFC4-6F175D3DCCD1}">
                <a14:hiddenFill xmlns:a14="http://schemas.microsoft.com/office/drawing/2010/main">
                  <a:solidFill>
                    <a:srgbClr val="FFFFFF"/>
                  </a:solidFill>
                </a14:hiddenFill>
              </a:ext>
            </a:extLst>
          </p:spPr>
        </p:pic>
        <p:sp>
          <p:nvSpPr>
            <p:cNvPr id="44" name="Text Box 42"/>
            <p:cNvSpPr txBox="1">
              <a:spLocks noChangeArrowheads="1"/>
            </p:cNvSpPr>
            <p:nvPr/>
          </p:nvSpPr>
          <p:spPr bwMode="auto">
            <a:xfrm>
              <a:off x="10802" y="4914"/>
              <a:ext cx="608" cy="25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2521" tIns="31262" rIns="62521" bIns="31262">
              <a:spAutoFit/>
            </a:bodyPr>
            <a:lstStyle>
              <a:lvl1pPr defTabSz="835025">
                <a:defRPr>
                  <a:solidFill>
                    <a:schemeClr val="tx1"/>
                  </a:solidFill>
                  <a:latin typeface="Arial" panose="020B0604020202020204" pitchFamily="34" charset="0"/>
                  <a:ea typeface="宋体" panose="02010600030101010101" pitchFamily="2" charset="-122"/>
                </a:defRPr>
              </a:lvl1pPr>
              <a:lvl2pPr marL="417830" defTabSz="835025">
                <a:defRPr>
                  <a:solidFill>
                    <a:schemeClr val="tx1"/>
                  </a:solidFill>
                  <a:latin typeface="Arial" panose="020B0604020202020204" pitchFamily="34" charset="0"/>
                  <a:ea typeface="宋体" panose="02010600030101010101" pitchFamily="2" charset="-122"/>
                </a:defRPr>
              </a:lvl2pPr>
              <a:lvl3pPr marL="835025" defTabSz="835025">
                <a:defRPr>
                  <a:solidFill>
                    <a:schemeClr val="tx1"/>
                  </a:solidFill>
                  <a:latin typeface="Arial" panose="020B0604020202020204" pitchFamily="34" charset="0"/>
                  <a:ea typeface="宋体" panose="02010600030101010101" pitchFamily="2" charset="-122"/>
                </a:defRPr>
              </a:lvl3pPr>
              <a:lvl4pPr marL="1250950" defTabSz="835025">
                <a:defRPr>
                  <a:solidFill>
                    <a:schemeClr val="tx1"/>
                  </a:solidFill>
                  <a:latin typeface="Arial" panose="020B0604020202020204" pitchFamily="34" charset="0"/>
                  <a:ea typeface="宋体" panose="02010600030101010101" pitchFamily="2" charset="-122"/>
                </a:defRPr>
              </a:lvl4pPr>
              <a:lvl5pPr marL="1668780" defTabSz="835025">
                <a:defRPr>
                  <a:solidFill>
                    <a:schemeClr val="tx1"/>
                  </a:solidFill>
                  <a:latin typeface="Arial" panose="020B0604020202020204" pitchFamily="34" charset="0"/>
                  <a:ea typeface="宋体" panose="02010600030101010101" pitchFamily="2" charset="-122"/>
                </a:defRPr>
              </a:lvl5pPr>
              <a:lvl6pPr marL="21259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831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403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975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630" b="1">
                  <a:solidFill>
                    <a:schemeClr val="bg1"/>
                  </a:solidFill>
                  <a:latin typeface="微软雅黑" panose="020B0503020204020204" pitchFamily="34" charset="-122"/>
                  <a:ea typeface="微软雅黑" panose="020B0503020204020204" pitchFamily="34" charset="-122"/>
                  <a:cs typeface="+mn-ea"/>
                  <a:sym typeface="+mn-lt"/>
                </a:rPr>
                <a:t>RRU</a:t>
              </a:r>
            </a:p>
          </p:txBody>
        </p:sp>
        <p:sp>
          <p:nvSpPr>
            <p:cNvPr id="46" name="Line 44"/>
            <p:cNvSpPr>
              <a:spLocks noChangeShapeType="1"/>
            </p:cNvSpPr>
            <p:nvPr/>
          </p:nvSpPr>
          <p:spPr bwMode="auto">
            <a:xfrm flipV="1">
              <a:off x="12005" y="5155"/>
              <a:ext cx="381" cy="117"/>
            </a:xfrm>
            <a:prstGeom prst="line">
              <a:avLst/>
            </a:prstGeom>
            <a:noFill/>
            <a:ln w="38100">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a:latin typeface="+mn-lt"/>
                <a:ea typeface="+mn-ea"/>
                <a:cs typeface="+mn-ea"/>
                <a:sym typeface="+mn-lt"/>
              </a:endParaRPr>
            </a:p>
          </p:txBody>
        </p:sp>
        <p:sp>
          <p:nvSpPr>
            <p:cNvPr id="47" name="Line 45"/>
            <p:cNvSpPr>
              <a:spLocks noChangeShapeType="1"/>
            </p:cNvSpPr>
            <p:nvPr/>
          </p:nvSpPr>
          <p:spPr bwMode="auto">
            <a:xfrm flipV="1">
              <a:off x="11881" y="4911"/>
              <a:ext cx="318" cy="3"/>
            </a:xfrm>
            <a:prstGeom prst="line">
              <a:avLst/>
            </a:prstGeom>
            <a:noFill/>
            <a:ln w="38100">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a:latin typeface="+mn-lt"/>
                <a:ea typeface="+mn-ea"/>
                <a:cs typeface="+mn-ea"/>
                <a:sym typeface="+mn-lt"/>
              </a:endParaRPr>
            </a:p>
          </p:txBody>
        </p:sp>
        <p:sp>
          <p:nvSpPr>
            <p:cNvPr id="48" name="Text Box 46"/>
            <p:cNvSpPr txBox="1">
              <a:spLocks noChangeArrowheads="1"/>
            </p:cNvSpPr>
            <p:nvPr/>
          </p:nvSpPr>
          <p:spPr bwMode="auto">
            <a:xfrm>
              <a:off x="11760" y="4932"/>
              <a:ext cx="655" cy="25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2521" tIns="31262" rIns="62521" bIns="31262">
              <a:spAutoFit/>
            </a:bodyPr>
            <a:lstStyle>
              <a:lvl1pPr defTabSz="835025">
                <a:defRPr>
                  <a:solidFill>
                    <a:schemeClr val="tx1"/>
                  </a:solidFill>
                  <a:latin typeface="Arial" panose="020B0604020202020204" pitchFamily="34" charset="0"/>
                  <a:ea typeface="宋体" panose="02010600030101010101" pitchFamily="2" charset="-122"/>
                </a:defRPr>
              </a:lvl1pPr>
              <a:lvl2pPr marL="417830" defTabSz="835025">
                <a:defRPr>
                  <a:solidFill>
                    <a:schemeClr val="tx1"/>
                  </a:solidFill>
                  <a:latin typeface="Arial" panose="020B0604020202020204" pitchFamily="34" charset="0"/>
                  <a:ea typeface="宋体" panose="02010600030101010101" pitchFamily="2" charset="-122"/>
                </a:defRPr>
              </a:lvl2pPr>
              <a:lvl3pPr marL="835025" defTabSz="835025">
                <a:defRPr>
                  <a:solidFill>
                    <a:schemeClr val="tx1"/>
                  </a:solidFill>
                  <a:latin typeface="Arial" panose="020B0604020202020204" pitchFamily="34" charset="0"/>
                  <a:ea typeface="宋体" panose="02010600030101010101" pitchFamily="2" charset="-122"/>
                </a:defRPr>
              </a:lvl3pPr>
              <a:lvl4pPr marL="1250950" defTabSz="835025">
                <a:defRPr>
                  <a:solidFill>
                    <a:schemeClr val="tx1"/>
                  </a:solidFill>
                  <a:latin typeface="Arial" panose="020B0604020202020204" pitchFamily="34" charset="0"/>
                  <a:ea typeface="宋体" panose="02010600030101010101" pitchFamily="2" charset="-122"/>
                </a:defRPr>
              </a:lvl4pPr>
              <a:lvl5pPr marL="1668780" defTabSz="835025">
                <a:defRPr>
                  <a:solidFill>
                    <a:schemeClr val="tx1"/>
                  </a:solidFill>
                  <a:latin typeface="Arial" panose="020B0604020202020204" pitchFamily="34" charset="0"/>
                  <a:ea typeface="宋体" panose="02010600030101010101" pitchFamily="2" charset="-122"/>
                </a:defRPr>
              </a:lvl5pPr>
              <a:lvl6pPr marL="21259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831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403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975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630" b="1">
                  <a:solidFill>
                    <a:schemeClr val="bg1"/>
                  </a:solidFill>
                  <a:latin typeface="微软雅黑" panose="020B0503020204020204" pitchFamily="34" charset="-122"/>
                  <a:ea typeface="微软雅黑" panose="020B0503020204020204" pitchFamily="34" charset="-122"/>
                  <a:cs typeface="+mn-ea"/>
                  <a:sym typeface="+mn-lt"/>
                </a:rPr>
                <a:t>MRFU</a:t>
              </a:r>
            </a:p>
          </p:txBody>
        </p:sp>
        <p:sp>
          <p:nvSpPr>
            <p:cNvPr id="50" name="Rectangle 48"/>
            <p:cNvSpPr>
              <a:spLocks noChangeArrowheads="1"/>
            </p:cNvSpPr>
            <p:nvPr/>
          </p:nvSpPr>
          <p:spPr bwMode="auto">
            <a:xfrm>
              <a:off x="13787" y="7074"/>
              <a:ext cx="2062" cy="2343"/>
            </a:xfrm>
            <a:prstGeom prst="rect">
              <a:avLst/>
            </a:prstGeom>
            <a:solidFill>
              <a:srgbClr val="C0C0C0">
                <a:alpha val="60001"/>
              </a:srgbClr>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8505" tIns="34252" rIns="68505" bIns="34252">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lt"/>
                </a:rPr>
                <a:t>高性能</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lt"/>
                </a:rPr>
                <a:t>高可靠性</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lt"/>
                </a:rPr>
                <a:t>低投资成本</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lt"/>
                </a:rPr>
                <a:t>低运营成本</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lt"/>
                </a:rPr>
                <a:t>快速开局</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lt"/>
                </a:rPr>
                <a:t>平滑演进</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lt"/>
                </a:rPr>
                <a:t>低功耗</a:t>
              </a:r>
            </a:p>
          </p:txBody>
        </p:sp>
        <p:pic>
          <p:nvPicPr>
            <p:cNvPr id="51" name="Picture 49" descr="guang2"/>
            <p:cNvPicPr>
              <a:picLocks noChangeAspect="1" noChangeArrowheads="1"/>
            </p:cNvPicPr>
            <p:nvPr/>
          </p:nvPicPr>
          <p:blipFill>
            <a:blip r:embed="rId9" cstate="email"/>
            <a:srcRect/>
            <a:stretch>
              <a:fillRect/>
            </a:stretch>
          </p:blipFill>
          <p:spPr bwMode="auto">
            <a:xfrm>
              <a:off x="9954" y="5199"/>
              <a:ext cx="1574"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 name="Picture 50"/>
            <p:cNvPicPr>
              <a:picLocks noChangeAspect="1" noChangeArrowheads="1"/>
            </p:cNvPicPr>
            <p:nvPr/>
          </p:nvPicPr>
          <p:blipFill>
            <a:blip r:embed="rId10" cstate="print"/>
            <a:srcRect/>
            <a:stretch>
              <a:fillRect/>
            </a:stretch>
          </p:blipFill>
          <p:spPr bwMode="auto">
            <a:xfrm>
              <a:off x="12502" y="5950"/>
              <a:ext cx="586" cy="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 name="Picture 51" descr="sBTS3606V31-idea1600"/>
            <p:cNvPicPr>
              <a:picLocks noChangeAspect="1" noChangeArrowheads="1"/>
            </p:cNvPicPr>
            <p:nvPr/>
          </p:nvPicPr>
          <p:blipFill>
            <a:blip r:embed="rId11" cstate="email">
              <a:clrChange>
                <a:clrFrom>
                  <a:srgbClr val="FDFDFD"/>
                </a:clrFrom>
                <a:clrTo>
                  <a:srgbClr val="FDFDFD">
                    <a:alpha val="0"/>
                  </a:srgbClr>
                </a:clrTo>
              </a:clrChange>
            </a:blip>
            <a:srcRect/>
            <a:stretch>
              <a:fillRect/>
            </a:stretch>
          </p:blipFill>
          <p:spPr bwMode="auto">
            <a:xfrm>
              <a:off x="9908" y="5806"/>
              <a:ext cx="791" cy="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4" name="Object 52"/>
            <p:cNvGraphicFramePr>
              <a:graphicFrameLocks noChangeAspect="1"/>
            </p:cNvGraphicFramePr>
            <p:nvPr/>
          </p:nvGraphicFramePr>
          <p:xfrm>
            <a:off x="11312" y="5990"/>
            <a:ext cx="465" cy="502"/>
          </p:xfrm>
          <a:graphic>
            <a:graphicData uri="http://schemas.openxmlformats.org/presentationml/2006/ole">
              <mc:AlternateContent xmlns:mc="http://schemas.openxmlformats.org/markup-compatibility/2006">
                <mc:Choice xmlns:v="urn:schemas-microsoft-com:vml" Requires="v">
                  <p:oleObj spid="_x0000_s1031" name="文档" r:id="rId12" imgW="3786626" imgH="5578962" progId="">
                    <p:embed/>
                  </p:oleObj>
                </mc:Choice>
                <mc:Fallback>
                  <p:oleObj name="文档" r:id="rId12" imgW="3786626" imgH="5578962" progId="">
                    <p:embed/>
                    <p:pic>
                      <p:nvPicPr>
                        <p:cNvPr id="0" name="Object 5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312" y="5990"/>
                          <a:ext cx="465"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oleObj>
                </mc:Fallback>
              </mc:AlternateContent>
            </a:graphicData>
          </a:graphic>
        </p:graphicFrame>
        <p:sp>
          <p:nvSpPr>
            <p:cNvPr id="55" name="Text Box 53"/>
            <p:cNvSpPr txBox="1">
              <a:spLocks noChangeArrowheads="1"/>
            </p:cNvSpPr>
            <p:nvPr/>
          </p:nvSpPr>
          <p:spPr bwMode="auto">
            <a:xfrm>
              <a:off x="9878" y="6640"/>
              <a:ext cx="918" cy="25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2521" tIns="31262" rIns="62521" bIns="31262">
              <a:spAutoFit/>
            </a:bodyPr>
            <a:lstStyle>
              <a:lvl1pPr defTabSz="835025">
                <a:defRPr>
                  <a:solidFill>
                    <a:schemeClr val="tx1"/>
                  </a:solidFill>
                  <a:latin typeface="Arial" panose="020B0604020202020204" pitchFamily="34" charset="0"/>
                  <a:ea typeface="宋体" panose="02010600030101010101" pitchFamily="2" charset="-122"/>
                </a:defRPr>
              </a:lvl1pPr>
              <a:lvl2pPr marL="417830" defTabSz="835025">
                <a:defRPr>
                  <a:solidFill>
                    <a:schemeClr val="tx1"/>
                  </a:solidFill>
                  <a:latin typeface="Arial" panose="020B0604020202020204" pitchFamily="34" charset="0"/>
                  <a:ea typeface="宋体" panose="02010600030101010101" pitchFamily="2" charset="-122"/>
                </a:defRPr>
              </a:lvl2pPr>
              <a:lvl3pPr marL="835025" defTabSz="835025">
                <a:defRPr>
                  <a:solidFill>
                    <a:schemeClr val="tx1"/>
                  </a:solidFill>
                  <a:latin typeface="Arial" panose="020B0604020202020204" pitchFamily="34" charset="0"/>
                  <a:ea typeface="宋体" panose="02010600030101010101" pitchFamily="2" charset="-122"/>
                </a:defRPr>
              </a:lvl3pPr>
              <a:lvl4pPr marL="1250950" defTabSz="835025">
                <a:defRPr>
                  <a:solidFill>
                    <a:schemeClr val="tx1"/>
                  </a:solidFill>
                  <a:latin typeface="Arial" panose="020B0604020202020204" pitchFamily="34" charset="0"/>
                  <a:ea typeface="宋体" panose="02010600030101010101" pitchFamily="2" charset="-122"/>
                </a:defRPr>
              </a:lvl4pPr>
              <a:lvl5pPr marL="1668780" defTabSz="835025">
                <a:defRPr>
                  <a:solidFill>
                    <a:schemeClr val="tx1"/>
                  </a:solidFill>
                  <a:latin typeface="Arial" panose="020B0604020202020204" pitchFamily="34" charset="0"/>
                  <a:ea typeface="宋体" panose="02010600030101010101" pitchFamily="2" charset="-122"/>
                </a:defRPr>
              </a:lvl5pPr>
              <a:lvl6pPr marL="21259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831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403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975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630" b="1">
                  <a:solidFill>
                    <a:schemeClr val="bg1"/>
                  </a:solidFill>
                  <a:latin typeface="微软雅黑" panose="020B0503020204020204" pitchFamily="34" charset="-122"/>
                  <a:ea typeface="微软雅黑" panose="020B0503020204020204" pitchFamily="34" charset="-122"/>
                  <a:cs typeface="+mn-ea"/>
                  <a:sym typeface="+mn-lt"/>
                </a:rPr>
                <a:t>BTS3606E</a:t>
              </a:r>
            </a:p>
          </p:txBody>
        </p:sp>
        <p:sp>
          <p:nvSpPr>
            <p:cNvPr id="56" name="Text Box 54"/>
            <p:cNvSpPr txBox="1">
              <a:spLocks noChangeArrowheads="1"/>
            </p:cNvSpPr>
            <p:nvPr/>
          </p:nvSpPr>
          <p:spPr bwMode="auto">
            <a:xfrm>
              <a:off x="12222" y="6498"/>
              <a:ext cx="866" cy="25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2521" tIns="31262" rIns="62521" bIns="31262">
              <a:spAutoFit/>
            </a:bodyPr>
            <a:lstStyle>
              <a:lvl1pPr defTabSz="835025">
                <a:defRPr>
                  <a:solidFill>
                    <a:schemeClr val="tx1"/>
                  </a:solidFill>
                  <a:latin typeface="Arial" panose="020B0604020202020204" pitchFamily="34" charset="0"/>
                  <a:ea typeface="宋体" panose="02010600030101010101" pitchFamily="2" charset="-122"/>
                </a:defRPr>
              </a:lvl1pPr>
              <a:lvl2pPr marL="417830" defTabSz="835025">
                <a:defRPr>
                  <a:solidFill>
                    <a:schemeClr val="tx1"/>
                  </a:solidFill>
                  <a:latin typeface="Arial" panose="020B0604020202020204" pitchFamily="34" charset="0"/>
                  <a:ea typeface="宋体" panose="02010600030101010101" pitchFamily="2" charset="-122"/>
                </a:defRPr>
              </a:lvl2pPr>
              <a:lvl3pPr marL="835025" defTabSz="835025">
                <a:defRPr>
                  <a:solidFill>
                    <a:schemeClr val="tx1"/>
                  </a:solidFill>
                  <a:latin typeface="Arial" panose="020B0604020202020204" pitchFamily="34" charset="0"/>
                  <a:ea typeface="宋体" panose="02010600030101010101" pitchFamily="2" charset="-122"/>
                </a:defRPr>
              </a:lvl3pPr>
              <a:lvl4pPr marL="1250950" defTabSz="835025">
                <a:defRPr>
                  <a:solidFill>
                    <a:schemeClr val="tx1"/>
                  </a:solidFill>
                  <a:latin typeface="Arial" panose="020B0604020202020204" pitchFamily="34" charset="0"/>
                  <a:ea typeface="宋体" panose="02010600030101010101" pitchFamily="2" charset="-122"/>
                </a:defRPr>
              </a:lvl4pPr>
              <a:lvl5pPr marL="1668780" defTabSz="835025">
                <a:defRPr>
                  <a:solidFill>
                    <a:schemeClr val="tx1"/>
                  </a:solidFill>
                  <a:latin typeface="Arial" panose="020B0604020202020204" pitchFamily="34" charset="0"/>
                  <a:ea typeface="宋体" panose="02010600030101010101" pitchFamily="2" charset="-122"/>
                </a:defRPr>
              </a:lvl5pPr>
              <a:lvl6pPr marL="21259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831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403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975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630" b="1">
                  <a:solidFill>
                    <a:schemeClr val="bg1"/>
                  </a:solidFill>
                  <a:latin typeface="微软雅黑" panose="020B0503020204020204" pitchFamily="34" charset="-122"/>
                  <a:ea typeface="微软雅黑" panose="020B0503020204020204" pitchFamily="34" charset="-122"/>
                  <a:cs typeface="+mn-ea"/>
                  <a:sym typeface="+mn-lt"/>
                </a:rPr>
                <a:t>BTS3606C</a:t>
              </a:r>
            </a:p>
          </p:txBody>
        </p:sp>
        <p:sp>
          <p:nvSpPr>
            <p:cNvPr id="57" name="Text Box 55"/>
            <p:cNvSpPr txBox="1">
              <a:spLocks noChangeArrowheads="1"/>
            </p:cNvSpPr>
            <p:nvPr/>
          </p:nvSpPr>
          <p:spPr bwMode="auto">
            <a:xfrm>
              <a:off x="11106" y="6577"/>
              <a:ext cx="1006" cy="25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2521" tIns="31262" rIns="62521" bIns="31262">
              <a:spAutoFit/>
            </a:bodyPr>
            <a:lstStyle>
              <a:lvl1pPr defTabSz="835025">
                <a:defRPr>
                  <a:solidFill>
                    <a:schemeClr val="tx1"/>
                  </a:solidFill>
                  <a:latin typeface="Arial" panose="020B0604020202020204" pitchFamily="34" charset="0"/>
                  <a:ea typeface="宋体" panose="02010600030101010101" pitchFamily="2" charset="-122"/>
                </a:defRPr>
              </a:lvl1pPr>
              <a:lvl2pPr marL="417830" defTabSz="835025">
                <a:defRPr>
                  <a:solidFill>
                    <a:schemeClr val="tx1"/>
                  </a:solidFill>
                  <a:latin typeface="Arial" panose="020B0604020202020204" pitchFamily="34" charset="0"/>
                  <a:ea typeface="宋体" panose="02010600030101010101" pitchFamily="2" charset="-122"/>
                </a:defRPr>
              </a:lvl2pPr>
              <a:lvl3pPr marL="835025" defTabSz="835025">
                <a:defRPr>
                  <a:solidFill>
                    <a:schemeClr val="tx1"/>
                  </a:solidFill>
                  <a:latin typeface="Arial" panose="020B0604020202020204" pitchFamily="34" charset="0"/>
                  <a:ea typeface="宋体" panose="02010600030101010101" pitchFamily="2" charset="-122"/>
                </a:defRPr>
              </a:lvl3pPr>
              <a:lvl4pPr marL="1250950" defTabSz="835025">
                <a:defRPr>
                  <a:solidFill>
                    <a:schemeClr val="tx1"/>
                  </a:solidFill>
                  <a:latin typeface="Arial" panose="020B0604020202020204" pitchFamily="34" charset="0"/>
                  <a:ea typeface="宋体" panose="02010600030101010101" pitchFamily="2" charset="-122"/>
                </a:defRPr>
              </a:lvl4pPr>
              <a:lvl5pPr marL="1668780" defTabSz="835025">
                <a:defRPr>
                  <a:solidFill>
                    <a:schemeClr val="tx1"/>
                  </a:solidFill>
                  <a:latin typeface="Arial" panose="020B0604020202020204" pitchFamily="34" charset="0"/>
                  <a:ea typeface="宋体" panose="02010600030101010101" pitchFamily="2" charset="-122"/>
                </a:defRPr>
              </a:lvl5pPr>
              <a:lvl6pPr marL="21259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831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403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97580" defTabSz="8350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630" b="1">
                  <a:solidFill>
                    <a:schemeClr val="bg1"/>
                  </a:solidFill>
                  <a:latin typeface="微软雅黑" panose="020B0503020204020204" pitchFamily="34" charset="-122"/>
                  <a:ea typeface="微软雅黑" panose="020B0503020204020204" pitchFamily="34" charset="-122"/>
                  <a:cs typeface="+mn-ea"/>
                  <a:sym typeface="+mn-lt"/>
                </a:rPr>
                <a:t>ODU3601CE</a:t>
              </a:r>
            </a:p>
          </p:txBody>
        </p:sp>
        <p:pic>
          <p:nvPicPr>
            <p:cNvPr id="58" name="Picture 56" descr="sBTS3606V31-idea1600"/>
            <p:cNvPicPr>
              <a:picLocks noChangeAspect="1" noChangeArrowheads="1"/>
            </p:cNvPicPr>
            <p:nvPr/>
          </p:nvPicPr>
          <p:blipFill>
            <a:blip r:embed="rId14" cstate="email">
              <a:clrChange>
                <a:clrFrom>
                  <a:srgbClr val="FDFDFD"/>
                </a:clrFrom>
                <a:clrTo>
                  <a:srgbClr val="FDFDFD">
                    <a:alpha val="0"/>
                  </a:srgbClr>
                </a:clrTo>
              </a:clrChange>
            </a:blip>
            <a:srcRect/>
            <a:stretch>
              <a:fillRect/>
            </a:stretch>
          </p:blipFill>
          <p:spPr bwMode="auto">
            <a:xfrm>
              <a:off x="9635" y="6940"/>
              <a:ext cx="710" cy="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 name="Rectangle 57"/>
            <p:cNvSpPr>
              <a:spLocks noChangeArrowheads="1"/>
            </p:cNvSpPr>
            <p:nvPr/>
          </p:nvSpPr>
          <p:spPr bwMode="auto">
            <a:xfrm>
              <a:off x="10419" y="7284"/>
              <a:ext cx="894"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DDDD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2540" tIns="31270" rIns="62540" bIns="31270">
              <a:spAutoFit/>
            </a:bodyPr>
            <a:lstStyle>
              <a:lvl1pPr defTabSz="784225">
                <a:defRPr>
                  <a:solidFill>
                    <a:schemeClr val="tx1"/>
                  </a:solidFill>
                  <a:latin typeface="Arial" panose="020B0604020202020204" pitchFamily="34" charset="0"/>
                  <a:ea typeface="宋体" panose="02010600030101010101" pitchFamily="2" charset="-122"/>
                </a:defRPr>
              </a:lvl1pPr>
              <a:lvl2pPr marL="417830" defTabSz="784225">
                <a:defRPr>
                  <a:solidFill>
                    <a:schemeClr val="tx1"/>
                  </a:solidFill>
                  <a:latin typeface="Arial" panose="020B0604020202020204" pitchFamily="34" charset="0"/>
                  <a:ea typeface="宋体" panose="02010600030101010101" pitchFamily="2" charset="-122"/>
                </a:defRPr>
              </a:lvl2pPr>
              <a:lvl3pPr marL="835025" defTabSz="784225">
                <a:defRPr>
                  <a:solidFill>
                    <a:schemeClr val="tx1"/>
                  </a:solidFill>
                  <a:latin typeface="Arial" panose="020B0604020202020204" pitchFamily="34" charset="0"/>
                  <a:ea typeface="宋体" panose="02010600030101010101" pitchFamily="2" charset="-122"/>
                </a:defRPr>
              </a:lvl3pPr>
              <a:lvl4pPr marL="1250950" defTabSz="784225">
                <a:defRPr>
                  <a:solidFill>
                    <a:schemeClr val="tx1"/>
                  </a:solidFill>
                  <a:latin typeface="Arial" panose="020B0604020202020204" pitchFamily="34" charset="0"/>
                  <a:ea typeface="宋体" panose="02010600030101010101" pitchFamily="2" charset="-122"/>
                </a:defRPr>
              </a:lvl4pPr>
              <a:lvl5pPr marL="1668780" defTabSz="784225">
                <a:defRPr>
                  <a:solidFill>
                    <a:schemeClr val="tx1"/>
                  </a:solidFill>
                  <a:latin typeface="Arial" panose="020B0604020202020204" pitchFamily="34" charset="0"/>
                  <a:ea typeface="宋体" panose="02010600030101010101" pitchFamily="2" charset="-122"/>
                </a:defRPr>
              </a:lvl5pPr>
              <a:lvl6pPr marL="2125980" defTabSz="7842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83180" defTabSz="7842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40380" defTabSz="7842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97580" defTabSz="7842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630" b="1">
                  <a:solidFill>
                    <a:schemeClr val="bg1"/>
                  </a:solidFill>
                  <a:latin typeface="微软雅黑" panose="020B0503020204020204" pitchFamily="34" charset="-122"/>
                  <a:ea typeface="微软雅黑" panose="020B0503020204020204" pitchFamily="34" charset="-122"/>
                  <a:cs typeface="+mn-ea"/>
                  <a:sym typeface="+mn-lt"/>
                </a:rPr>
                <a:t>BTS3606</a:t>
              </a:r>
            </a:p>
          </p:txBody>
        </p:sp>
        <p:sp>
          <p:nvSpPr>
            <p:cNvPr id="62" name="上箭头 61"/>
            <p:cNvSpPr/>
            <p:nvPr/>
          </p:nvSpPr>
          <p:spPr>
            <a:xfrm>
              <a:off x="14254" y="5567"/>
              <a:ext cx="388" cy="123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grpSp>
      <p:sp>
        <p:nvSpPr>
          <p:cNvPr id="63" name="文本框 62"/>
          <p:cNvSpPr txBox="1"/>
          <p:nvPr/>
        </p:nvSpPr>
        <p:spPr>
          <a:xfrm>
            <a:off x="1781674" y="1304083"/>
            <a:ext cx="8071705" cy="1209675"/>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sym typeface="+mn-lt"/>
              </a:rPr>
              <a:t>客户痛点：</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制式多，站塔不足，施工难度大，扩容困难</a:t>
            </a:r>
            <a:endPar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5750" indent="-285750">
              <a:lnSpc>
                <a:spcPct val="130000"/>
              </a:lnSpc>
              <a:buFont typeface="Arial" panose="020B0604020202020204" pitchFamily="34" charset="0"/>
              <a:buChar char="•"/>
            </a:pP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sym typeface="+mn-lt"/>
              </a:rPr>
              <a:t>解决方案：</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光纤射频拉远，</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rPr>
              <a:t>RRU</a:t>
            </a:r>
          </a:p>
          <a:p>
            <a:pPr marL="285750" indent="-285750">
              <a:lnSpc>
                <a:spcPct val="130000"/>
              </a:lnSpc>
              <a:buFont typeface="Arial" panose="020B0604020202020204" pitchFamily="34" charset="0"/>
              <a:buChar char="•"/>
            </a:pP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sym typeface="+mn-lt"/>
              </a:rPr>
              <a:t>客户价值回报：</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多制式混合降成本，光纤拉远信噪比提升通信质量，光纤施工便捷，站塔复用，解决室内覆盖容易</a:t>
            </a:r>
          </a:p>
        </p:txBody>
      </p:sp>
      <p:sp>
        <p:nvSpPr>
          <p:cNvPr id="3" name="标题 1"/>
          <p:cNvSpPr txBox="1"/>
          <p:nvPr/>
        </p:nvSpPr>
        <p:spPr>
          <a:xfrm>
            <a:off x="720897" y="461018"/>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sz="2000" dirty="0">
                <a:solidFill>
                  <a:srgbClr val="0070C0"/>
                </a:solidFill>
                <a:latin typeface="微软雅黑" panose="020B0503020204020204" pitchFamily="34" charset="-122"/>
                <a:ea typeface="微软雅黑" panose="020B0503020204020204" pitchFamily="34" charset="-122"/>
                <a:cs typeface="+mn-ea"/>
                <a:sym typeface="+mn-lt"/>
              </a:rPr>
              <a:t>创新焦点：下一代技术，如同</a:t>
            </a:r>
            <a:r>
              <a:rPr lang="en-US" altLang="zh-CN" sz="2000" dirty="0">
                <a:solidFill>
                  <a:srgbClr val="0070C0"/>
                </a:solidFill>
                <a:latin typeface="微软雅黑" panose="020B0503020204020204" pitchFamily="34" charset="-122"/>
                <a:ea typeface="微软雅黑" panose="020B0503020204020204" pitchFamily="34" charset="-122"/>
                <a:cs typeface="+mn-ea"/>
                <a:sym typeface="+mn-lt"/>
              </a:rPr>
              <a:t>iPhone</a:t>
            </a:r>
            <a:r>
              <a:rPr lang="zh-CN" altLang="en-US" sz="2000" dirty="0">
                <a:solidFill>
                  <a:srgbClr val="0070C0"/>
                </a:solidFill>
                <a:latin typeface="微软雅黑" panose="020B0503020204020204" pitchFamily="34" charset="-122"/>
                <a:ea typeface="微软雅黑" panose="020B0503020204020204" pitchFamily="34" charset="-122"/>
                <a:cs typeface="+mn-ea"/>
                <a:sym typeface="+mn-lt"/>
              </a:rPr>
              <a:t>打诺基亚功能手机</a:t>
            </a:r>
            <a:r>
              <a:rPr lang="en-US" altLang="zh-CN" sz="2000"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sz="2000" dirty="0">
                <a:solidFill>
                  <a:srgbClr val="0070C0"/>
                </a:solidFill>
                <a:latin typeface="微软雅黑" panose="020B0503020204020204" pitchFamily="34" charset="-122"/>
                <a:ea typeface="微软雅黑" panose="020B0503020204020204" pitchFamily="34" charset="-122"/>
                <a:cs typeface="+mn-ea"/>
                <a:sym typeface="+mn-lt"/>
              </a:rPr>
              <a:t>照相机</a:t>
            </a:r>
            <a:endParaRPr lang="en-US" altLang="zh-CN" sz="2000" dirty="0">
              <a:solidFill>
                <a:srgbClr val="0070C0"/>
              </a:solidFill>
              <a:latin typeface="微软雅黑" panose="020B0503020204020204" pitchFamily="34" charset="-122"/>
              <a:ea typeface="微软雅黑" panose="020B0503020204020204" pitchFamily="34" charset="-122"/>
              <a:cs typeface="+mn-ea"/>
              <a:sym typeface="+mn-lt"/>
            </a:endParaRPr>
          </a:p>
          <a:p>
            <a:pPr algn="l" eaLnBrk="1" hangingPunct="1"/>
            <a:r>
              <a:rPr lang="zh-CN" altLang="en-US" sz="2000" dirty="0">
                <a:solidFill>
                  <a:srgbClr val="0070C0"/>
                </a:solidFill>
                <a:latin typeface="微软雅黑" panose="020B0503020204020204" pitchFamily="34" charset="-122"/>
                <a:ea typeface="微软雅黑" panose="020B0503020204020204" pitchFamily="34" charset="-122"/>
                <a:cs typeface="+mn-ea"/>
                <a:sym typeface="+mn-lt"/>
              </a:rPr>
              <a:t>“圣无线”：分布式打一体化、</a:t>
            </a:r>
            <a:r>
              <a:rPr lang="en-US" altLang="zh-CN" sz="2000" dirty="0">
                <a:solidFill>
                  <a:srgbClr val="0070C0"/>
                </a:solidFill>
                <a:latin typeface="微软雅黑" panose="020B0503020204020204" pitchFamily="34" charset="-122"/>
                <a:ea typeface="微软雅黑" panose="020B0503020204020204" pitchFamily="34" charset="-122"/>
                <a:cs typeface="+mn-ea"/>
                <a:sym typeface="+mn-lt"/>
              </a:rPr>
              <a:t>SRAN</a:t>
            </a:r>
            <a:r>
              <a:rPr lang="zh-CN" altLang="en-US" sz="2000" dirty="0">
                <a:solidFill>
                  <a:srgbClr val="0070C0"/>
                </a:solidFill>
                <a:latin typeface="微软雅黑" panose="020B0503020204020204" pitchFamily="34" charset="-122"/>
                <a:ea typeface="微软雅黑" panose="020B0503020204020204" pitchFamily="34" charset="-122"/>
                <a:cs typeface="+mn-ea"/>
                <a:sym typeface="+mn-lt"/>
              </a:rPr>
              <a:t>打单制式、</a:t>
            </a:r>
            <a:r>
              <a:rPr lang="en-US" altLang="zh-CN" sz="2000" dirty="0">
                <a:solidFill>
                  <a:srgbClr val="0070C0"/>
                </a:solidFill>
                <a:latin typeface="微软雅黑" panose="020B0503020204020204" pitchFamily="34" charset="-122"/>
                <a:ea typeface="微软雅黑" panose="020B0503020204020204" pitchFamily="34" charset="-122"/>
                <a:cs typeface="+mn-ea"/>
                <a:sym typeface="+mn-lt"/>
              </a:rPr>
              <a:t>3G</a:t>
            </a:r>
            <a:r>
              <a:rPr lang="zh-CN" altLang="en-US" sz="2000" dirty="0">
                <a:solidFill>
                  <a:srgbClr val="0070C0"/>
                </a:solidFill>
                <a:latin typeface="微软雅黑" panose="020B0503020204020204" pitchFamily="34" charset="-122"/>
                <a:ea typeface="微软雅黑" panose="020B0503020204020204" pitchFamily="34" charset="-122"/>
                <a:cs typeface="+mn-ea"/>
                <a:sym typeface="+mn-lt"/>
              </a:rPr>
              <a:t>技术</a:t>
            </a:r>
            <a:r>
              <a:rPr lang="en-US" altLang="zh-CN" sz="2000" dirty="0">
                <a:solidFill>
                  <a:srgbClr val="0070C0"/>
                </a:solidFill>
                <a:latin typeface="微软雅黑" panose="020B0503020204020204" pitchFamily="34" charset="-122"/>
                <a:ea typeface="微软雅黑" panose="020B0503020204020204" pitchFamily="34" charset="-122"/>
                <a:cs typeface="+mn-ea"/>
                <a:sym typeface="+mn-lt"/>
              </a:rPr>
              <a:t>2G</a:t>
            </a:r>
            <a:r>
              <a:rPr lang="zh-CN" altLang="en-US" sz="2000" dirty="0">
                <a:solidFill>
                  <a:srgbClr val="0070C0"/>
                </a:solidFill>
                <a:latin typeface="微软雅黑" panose="020B0503020204020204" pitchFamily="34" charset="-122"/>
                <a:ea typeface="微软雅黑" panose="020B0503020204020204" pitchFamily="34" charset="-122"/>
                <a:cs typeface="+mn-ea"/>
                <a:sym typeface="+mn-lt"/>
              </a:rPr>
              <a:t>化</a:t>
            </a:r>
            <a:r>
              <a:rPr lang="en-US" altLang="zh-CN" sz="2000" dirty="0">
                <a:solidFill>
                  <a:srgbClr val="0070C0"/>
                </a:solidFill>
                <a:latin typeface="微软雅黑" panose="020B0503020204020204" pitchFamily="34" charset="-122"/>
                <a:ea typeface="微软雅黑" panose="020B0503020204020204" pitchFamily="34" charset="-122"/>
                <a:cs typeface="+mn-ea"/>
                <a:sym typeface="+mn-lt"/>
              </a:rPr>
              <a:t>..</a:t>
            </a:r>
            <a:endParaRPr lang="zh-CN" altLang="en-US" sz="2000" dirty="0">
              <a:solidFill>
                <a:srgbClr val="0070C0"/>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ext Box 13"/>
          <p:cNvSpPr txBox="1">
            <a:spLocks noChangeArrowheads="1"/>
          </p:cNvSpPr>
          <p:nvPr/>
        </p:nvSpPr>
        <p:spPr bwMode="auto">
          <a:xfrm>
            <a:off x="4438015" y="4071620"/>
            <a:ext cx="5662295" cy="845185"/>
          </a:xfrm>
          <a:prstGeom prst="rect">
            <a:avLst/>
          </a:prstGeom>
          <a:noFill/>
          <a:ln w="9525">
            <a:noFill/>
            <a:miter lim="800000"/>
          </a:ln>
        </p:spPr>
        <p:txBody>
          <a:bodyPr wrap="square" lIns="0" tIns="0" rIns="0" bIns="0">
            <a:spAutoFit/>
          </a:bodyPr>
          <a:lstStyle/>
          <a:p>
            <a:pPr marL="287020" lvl="1" indent="-285750" algn="just" defTabSz="330200">
              <a:lnSpc>
                <a:spcPct val="130000"/>
              </a:lnSpc>
              <a:spcBef>
                <a:spcPct val="20000"/>
              </a:spcBef>
              <a:buClr>
                <a:srgbClr val="267FC3"/>
              </a:buClr>
              <a:buSzPct val="80000"/>
              <a:buFont typeface="Arial" panose="020B0604020202020204" pitchFamily="34" charset="0"/>
              <a:buChar char="•"/>
              <a:tabLst>
                <a:tab pos="8521700" algn="r"/>
              </a:tabLst>
            </a:pPr>
            <a:r>
              <a:rPr lang="zh-CN" altLang="en-US" sz="1275" dirty="0">
                <a:latin typeface="微软雅黑" panose="020B0503020204020204" pitchFamily="34" charset="-122"/>
                <a:ea typeface="微软雅黑" panose="020B0503020204020204" pitchFamily="34" charset="-122"/>
                <a:cs typeface="+mn-ea"/>
                <a:sym typeface="+mn-lt"/>
              </a:rPr>
              <a:t>细分市场，做好排序和竞合策略设计</a:t>
            </a:r>
            <a:endParaRPr lang="en-US" altLang="zh-CN" sz="1275" dirty="0">
              <a:latin typeface="微软雅黑" panose="020B0503020204020204" pitchFamily="34" charset="-122"/>
              <a:ea typeface="微软雅黑" panose="020B0503020204020204" pitchFamily="34" charset="-122"/>
              <a:cs typeface="+mn-ea"/>
              <a:sym typeface="+mn-lt"/>
            </a:endParaRPr>
          </a:p>
          <a:p>
            <a:pPr marL="287020" lvl="1" indent="-285750" algn="just" defTabSz="330200">
              <a:lnSpc>
                <a:spcPct val="130000"/>
              </a:lnSpc>
              <a:spcBef>
                <a:spcPct val="20000"/>
              </a:spcBef>
              <a:buClr>
                <a:srgbClr val="267FC3"/>
              </a:buClr>
              <a:buSzPct val="80000"/>
              <a:buFont typeface="Arial" panose="020B0604020202020204" pitchFamily="34" charset="0"/>
              <a:buChar char="•"/>
              <a:tabLst>
                <a:tab pos="8521700" algn="r"/>
              </a:tabLst>
            </a:pPr>
            <a:r>
              <a:rPr lang="zh-CN" altLang="en-US" sz="1275" dirty="0">
                <a:latin typeface="微软雅黑" panose="020B0503020204020204" pitchFamily="34" charset="-122"/>
                <a:ea typeface="微软雅黑" panose="020B0503020204020204" pitchFamily="34" charset="-122"/>
                <a:cs typeface="+mn-ea"/>
                <a:sym typeface="+mn-lt"/>
              </a:rPr>
              <a:t>以对外部的深入理解为基础，着眼于更好的利用内部能力和持续改进与变革</a:t>
            </a:r>
          </a:p>
          <a:p>
            <a:pPr marL="287020" lvl="1" indent="-285750" algn="just" defTabSz="330200">
              <a:lnSpc>
                <a:spcPct val="130000"/>
              </a:lnSpc>
              <a:spcBef>
                <a:spcPct val="20000"/>
              </a:spcBef>
              <a:buClr>
                <a:srgbClr val="267FC3"/>
              </a:buClr>
              <a:buSzPct val="80000"/>
              <a:buFont typeface="Arial" panose="020B0604020202020204" pitchFamily="34" charset="0"/>
              <a:buChar char="•"/>
              <a:tabLst>
                <a:tab pos="8521700" algn="r"/>
              </a:tabLst>
            </a:pPr>
            <a:r>
              <a:rPr lang="zh-CN" altLang="en-US" sz="1275" dirty="0">
                <a:latin typeface="微软雅黑" panose="020B0503020204020204" pitchFamily="34" charset="-122"/>
                <a:ea typeface="微软雅黑" panose="020B0503020204020204" pitchFamily="34" charset="-122"/>
                <a:cs typeface="+mn-ea"/>
                <a:sym typeface="+mn-lt"/>
              </a:rPr>
              <a:t>探索可替代的业务设计</a:t>
            </a:r>
          </a:p>
        </p:txBody>
      </p:sp>
      <p:grpSp>
        <p:nvGrpSpPr>
          <p:cNvPr id="51" name="组合 50"/>
          <p:cNvGrpSpPr/>
          <p:nvPr/>
        </p:nvGrpSpPr>
        <p:grpSpPr>
          <a:xfrm>
            <a:off x="1592853" y="1854139"/>
            <a:ext cx="2292323" cy="613214"/>
            <a:chOff x="7870068" y="1871617"/>
            <a:chExt cx="3056430" cy="817619"/>
          </a:xfrm>
        </p:grpSpPr>
        <p:grpSp>
          <p:nvGrpSpPr>
            <p:cNvPr id="52" name="组合 51"/>
            <p:cNvGrpSpPr/>
            <p:nvPr/>
          </p:nvGrpSpPr>
          <p:grpSpPr>
            <a:xfrm>
              <a:off x="7870068" y="1871617"/>
              <a:ext cx="683080" cy="789458"/>
              <a:chOff x="7662836" y="1774557"/>
              <a:chExt cx="683080" cy="789458"/>
            </a:xfrm>
          </p:grpSpPr>
          <p:sp>
            <p:nvSpPr>
              <p:cNvPr id="54" name="文本框 53"/>
              <p:cNvSpPr txBox="1"/>
              <p:nvPr/>
            </p:nvSpPr>
            <p:spPr>
              <a:xfrm>
                <a:off x="7662836" y="1774557"/>
                <a:ext cx="475827" cy="675641"/>
              </a:xfrm>
              <a:prstGeom prst="rect">
                <a:avLst/>
              </a:prstGeom>
              <a:noFill/>
            </p:spPr>
            <p:txBody>
              <a:bodyPr wrap="none" rtlCol="0">
                <a:spAutoFit/>
              </a:bodyPr>
              <a:lstStyle/>
              <a:p>
                <a:pPr algn="just"/>
                <a:r>
                  <a:rPr lang="en-US" altLang="zh-CN" sz="2700" dirty="0">
                    <a:latin typeface="微软雅黑" panose="020B0503020204020204" pitchFamily="34" charset="-122"/>
                    <a:ea typeface="微软雅黑" panose="020B0503020204020204" pitchFamily="34" charset="-122"/>
                    <a:cs typeface="+mn-ea"/>
                    <a:sym typeface="+mn-lt"/>
                  </a:rPr>
                  <a:t>1</a:t>
                </a:r>
              </a:p>
            </p:txBody>
          </p:sp>
          <p:cxnSp>
            <p:nvCxnSpPr>
              <p:cNvPr id="55" name="直接连接符 54"/>
              <p:cNvCxnSpPr/>
              <p:nvPr/>
            </p:nvCxnSpPr>
            <p:spPr>
              <a:xfrm flipH="1">
                <a:off x="7937400" y="205013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53" name="矩形 52"/>
            <p:cNvSpPr/>
            <p:nvPr/>
          </p:nvSpPr>
          <p:spPr>
            <a:xfrm>
              <a:off x="8585778" y="2194782"/>
              <a:ext cx="2340720" cy="494454"/>
            </a:xfrm>
            <a:prstGeom prst="rect">
              <a:avLst/>
            </a:prstGeom>
          </p:spPr>
          <p:txBody>
            <a:bodyPr wrap="square">
              <a:spAutoFit/>
            </a:bodyPr>
            <a:lstStyle/>
            <a:p>
              <a:pPr lvl="0">
                <a:lnSpc>
                  <a:spcPct val="130000"/>
                </a:lnSpc>
              </a:pPr>
              <a:r>
                <a:rPr lang="zh-CN" altLang="en-US" sz="1400" b="1" dirty="0">
                  <a:solidFill>
                    <a:srgbClr val="C00000"/>
                  </a:solidFill>
                  <a:latin typeface="微软雅黑" panose="020B0503020204020204" pitchFamily="34" charset="-122"/>
                  <a:ea typeface="微软雅黑" panose="020B0503020204020204" pitchFamily="34" charset="-122"/>
                  <a:cs typeface="+mn-ea"/>
                  <a:sym typeface="+mn-lt"/>
                </a:rPr>
                <a:t>客户选择</a:t>
              </a:r>
            </a:p>
          </p:txBody>
        </p:sp>
      </p:grpSp>
      <p:grpSp>
        <p:nvGrpSpPr>
          <p:cNvPr id="56" name="组合 55"/>
          <p:cNvGrpSpPr/>
          <p:nvPr/>
        </p:nvGrpSpPr>
        <p:grpSpPr>
          <a:xfrm>
            <a:off x="3073571" y="1844783"/>
            <a:ext cx="2292323" cy="613214"/>
            <a:chOff x="7870068" y="1871617"/>
            <a:chExt cx="3056430" cy="817619"/>
          </a:xfrm>
        </p:grpSpPr>
        <p:grpSp>
          <p:nvGrpSpPr>
            <p:cNvPr id="57" name="组合 56"/>
            <p:cNvGrpSpPr/>
            <p:nvPr/>
          </p:nvGrpSpPr>
          <p:grpSpPr>
            <a:xfrm>
              <a:off x="7870068" y="1871617"/>
              <a:ext cx="683080" cy="789458"/>
              <a:chOff x="7662836" y="1774557"/>
              <a:chExt cx="683080" cy="789458"/>
            </a:xfrm>
          </p:grpSpPr>
          <p:sp>
            <p:nvSpPr>
              <p:cNvPr id="59" name="文本框 58"/>
              <p:cNvSpPr txBox="1"/>
              <p:nvPr/>
            </p:nvSpPr>
            <p:spPr>
              <a:xfrm>
                <a:off x="7662836" y="1774557"/>
                <a:ext cx="475827" cy="675641"/>
              </a:xfrm>
              <a:prstGeom prst="rect">
                <a:avLst/>
              </a:prstGeom>
              <a:noFill/>
            </p:spPr>
            <p:txBody>
              <a:bodyPr wrap="none" rtlCol="0">
                <a:spAutoFit/>
              </a:bodyPr>
              <a:lstStyle/>
              <a:p>
                <a:pPr algn="just"/>
                <a:r>
                  <a:rPr lang="en-US" altLang="zh-CN" sz="2700" dirty="0">
                    <a:latin typeface="微软雅黑" panose="020B0503020204020204" pitchFamily="34" charset="-122"/>
                    <a:ea typeface="微软雅黑" panose="020B0503020204020204" pitchFamily="34" charset="-122"/>
                    <a:cs typeface="+mn-ea"/>
                    <a:sym typeface="+mn-lt"/>
                  </a:rPr>
                  <a:t>2</a:t>
                </a:r>
              </a:p>
            </p:txBody>
          </p:sp>
          <p:cxnSp>
            <p:nvCxnSpPr>
              <p:cNvPr id="60" name="直接连接符 59"/>
              <p:cNvCxnSpPr/>
              <p:nvPr/>
            </p:nvCxnSpPr>
            <p:spPr>
              <a:xfrm flipH="1">
                <a:off x="7937400" y="205013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58" name="矩形 57"/>
            <p:cNvSpPr/>
            <p:nvPr/>
          </p:nvSpPr>
          <p:spPr>
            <a:xfrm>
              <a:off x="8585778" y="2194782"/>
              <a:ext cx="2340720" cy="494454"/>
            </a:xfrm>
            <a:prstGeom prst="rect">
              <a:avLst/>
            </a:prstGeom>
          </p:spPr>
          <p:txBody>
            <a:bodyPr wrap="square">
              <a:spAutoFit/>
            </a:bodyPr>
            <a:lstStyle/>
            <a:p>
              <a:pPr lvl="0">
                <a:lnSpc>
                  <a:spcPct val="130000"/>
                </a:lnSpc>
              </a:pPr>
              <a:r>
                <a:rPr lang="zh-CN" altLang="en-US" sz="1400" b="1" dirty="0">
                  <a:solidFill>
                    <a:srgbClr val="C00000"/>
                  </a:solidFill>
                  <a:latin typeface="微软雅黑" panose="020B0503020204020204" pitchFamily="34" charset="-122"/>
                  <a:ea typeface="微软雅黑" panose="020B0503020204020204" pitchFamily="34" charset="-122"/>
                  <a:cs typeface="+mn-ea"/>
                  <a:sym typeface="+mn-lt"/>
                </a:rPr>
                <a:t>价值主张</a:t>
              </a:r>
            </a:p>
          </p:txBody>
        </p:sp>
      </p:grpSp>
      <p:grpSp>
        <p:nvGrpSpPr>
          <p:cNvPr id="61" name="组合 60"/>
          <p:cNvGrpSpPr/>
          <p:nvPr/>
        </p:nvGrpSpPr>
        <p:grpSpPr>
          <a:xfrm>
            <a:off x="1592853" y="2546911"/>
            <a:ext cx="2292323" cy="613214"/>
            <a:chOff x="7870068" y="1871617"/>
            <a:chExt cx="3056430" cy="817619"/>
          </a:xfrm>
        </p:grpSpPr>
        <p:grpSp>
          <p:nvGrpSpPr>
            <p:cNvPr id="62" name="组合 61"/>
            <p:cNvGrpSpPr/>
            <p:nvPr/>
          </p:nvGrpSpPr>
          <p:grpSpPr>
            <a:xfrm>
              <a:off x="7870068" y="1871617"/>
              <a:ext cx="683080" cy="789458"/>
              <a:chOff x="7662836" y="1774557"/>
              <a:chExt cx="683080" cy="789458"/>
            </a:xfrm>
          </p:grpSpPr>
          <p:sp>
            <p:nvSpPr>
              <p:cNvPr id="64" name="文本框 63"/>
              <p:cNvSpPr txBox="1"/>
              <p:nvPr/>
            </p:nvSpPr>
            <p:spPr>
              <a:xfrm>
                <a:off x="7662836" y="1774557"/>
                <a:ext cx="475827" cy="675641"/>
              </a:xfrm>
              <a:prstGeom prst="rect">
                <a:avLst/>
              </a:prstGeom>
              <a:noFill/>
            </p:spPr>
            <p:txBody>
              <a:bodyPr wrap="none" rtlCol="0">
                <a:spAutoFit/>
              </a:bodyPr>
              <a:lstStyle/>
              <a:p>
                <a:pPr algn="just"/>
                <a:r>
                  <a:rPr lang="en-US" altLang="zh-CN" sz="2700" dirty="0">
                    <a:latin typeface="微软雅黑" panose="020B0503020204020204" pitchFamily="34" charset="-122"/>
                    <a:ea typeface="微软雅黑" panose="020B0503020204020204" pitchFamily="34" charset="-122"/>
                    <a:cs typeface="+mn-ea"/>
                    <a:sym typeface="+mn-lt"/>
                  </a:rPr>
                  <a:t>3</a:t>
                </a:r>
              </a:p>
            </p:txBody>
          </p:sp>
          <p:cxnSp>
            <p:nvCxnSpPr>
              <p:cNvPr id="65" name="直接连接符 64"/>
              <p:cNvCxnSpPr/>
              <p:nvPr/>
            </p:nvCxnSpPr>
            <p:spPr>
              <a:xfrm flipH="1">
                <a:off x="7937400" y="205013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63" name="矩形 62"/>
            <p:cNvSpPr/>
            <p:nvPr/>
          </p:nvSpPr>
          <p:spPr>
            <a:xfrm>
              <a:off x="8585778" y="2194782"/>
              <a:ext cx="2340720" cy="494454"/>
            </a:xfrm>
            <a:prstGeom prst="rect">
              <a:avLst/>
            </a:prstGeom>
          </p:spPr>
          <p:txBody>
            <a:bodyPr wrap="square">
              <a:spAutoFit/>
            </a:bodyPr>
            <a:lstStyle/>
            <a:p>
              <a:pPr lvl="0">
                <a:lnSpc>
                  <a:spcPct val="130000"/>
                </a:lnSpc>
              </a:pPr>
              <a:r>
                <a:rPr lang="zh-CN" altLang="en-US" sz="1400" b="1" dirty="0">
                  <a:solidFill>
                    <a:srgbClr val="C00000"/>
                  </a:solidFill>
                  <a:latin typeface="微软雅黑" panose="020B0503020204020204" pitchFamily="34" charset="-122"/>
                  <a:ea typeface="微软雅黑" panose="020B0503020204020204" pitchFamily="34" charset="-122"/>
                  <a:cs typeface="+mn-ea"/>
                  <a:sym typeface="+mn-lt"/>
                </a:rPr>
                <a:t>价值获得</a:t>
              </a:r>
            </a:p>
          </p:txBody>
        </p:sp>
      </p:grpSp>
      <p:grpSp>
        <p:nvGrpSpPr>
          <p:cNvPr id="66" name="组合 65"/>
          <p:cNvGrpSpPr/>
          <p:nvPr/>
        </p:nvGrpSpPr>
        <p:grpSpPr>
          <a:xfrm>
            <a:off x="3073571" y="2546911"/>
            <a:ext cx="2292323" cy="613214"/>
            <a:chOff x="7870068" y="1871617"/>
            <a:chExt cx="3056430" cy="817619"/>
          </a:xfrm>
        </p:grpSpPr>
        <p:grpSp>
          <p:nvGrpSpPr>
            <p:cNvPr id="67" name="组合 66"/>
            <p:cNvGrpSpPr/>
            <p:nvPr/>
          </p:nvGrpSpPr>
          <p:grpSpPr>
            <a:xfrm>
              <a:off x="7870068" y="1871617"/>
              <a:ext cx="683080" cy="789458"/>
              <a:chOff x="7662836" y="1774557"/>
              <a:chExt cx="683080" cy="789458"/>
            </a:xfrm>
          </p:grpSpPr>
          <p:sp>
            <p:nvSpPr>
              <p:cNvPr id="69" name="文本框 68"/>
              <p:cNvSpPr txBox="1"/>
              <p:nvPr/>
            </p:nvSpPr>
            <p:spPr>
              <a:xfrm>
                <a:off x="7662836" y="1774557"/>
                <a:ext cx="475827" cy="675641"/>
              </a:xfrm>
              <a:prstGeom prst="rect">
                <a:avLst/>
              </a:prstGeom>
              <a:noFill/>
            </p:spPr>
            <p:txBody>
              <a:bodyPr wrap="none" rtlCol="0">
                <a:spAutoFit/>
              </a:bodyPr>
              <a:lstStyle/>
              <a:p>
                <a:pPr algn="just"/>
                <a:r>
                  <a:rPr lang="en-US" altLang="zh-CN" sz="2700" dirty="0">
                    <a:latin typeface="微软雅黑" panose="020B0503020204020204" pitchFamily="34" charset="-122"/>
                    <a:ea typeface="微软雅黑" panose="020B0503020204020204" pitchFamily="34" charset="-122"/>
                    <a:cs typeface="+mn-ea"/>
                    <a:sym typeface="+mn-lt"/>
                  </a:rPr>
                  <a:t>4</a:t>
                </a:r>
              </a:p>
            </p:txBody>
          </p:sp>
          <p:cxnSp>
            <p:nvCxnSpPr>
              <p:cNvPr id="70" name="直接连接符 69"/>
              <p:cNvCxnSpPr/>
              <p:nvPr/>
            </p:nvCxnSpPr>
            <p:spPr>
              <a:xfrm flipH="1">
                <a:off x="7937400" y="205013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68" name="矩形 67"/>
            <p:cNvSpPr/>
            <p:nvPr/>
          </p:nvSpPr>
          <p:spPr>
            <a:xfrm>
              <a:off x="8585778" y="2194782"/>
              <a:ext cx="2340720" cy="494454"/>
            </a:xfrm>
            <a:prstGeom prst="rect">
              <a:avLst/>
            </a:prstGeom>
          </p:spPr>
          <p:txBody>
            <a:bodyPr wrap="square">
              <a:spAutoFit/>
            </a:bodyPr>
            <a:lstStyle/>
            <a:p>
              <a:pPr lvl="0">
                <a:lnSpc>
                  <a:spcPct val="130000"/>
                </a:lnSpc>
              </a:pPr>
              <a:r>
                <a:rPr lang="zh-CN" altLang="en-US" sz="1400" b="1" dirty="0">
                  <a:solidFill>
                    <a:srgbClr val="C00000"/>
                  </a:solidFill>
                  <a:latin typeface="微软雅黑" panose="020B0503020204020204" pitchFamily="34" charset="-122"/>
                  <a:ea typeface="微软雅黑" panose="020B0503020204020204" pitchFamily="34" charset="-122"/>
                  <a:cs typeface="+mn-ea"/>
                  <a:sym typeface="+mn-lt"/>
                </a:rPr>
                <a:t>活动范围</a:t>
              </a:r>
            </a:p>
          </p:txBody>
        </p:sp>
      </p:grpSp>
      <p:grpSp>
        <p:nvGrpSpPr>
          <p:cNvPr id="71" name="组合 70"/>
          <p:cNvGrpSpPr/>
          <p:nvPr/>
        </p:nvGrpSpPr>
        <p:grpSpPr>
          <a:xfrm>
            <a:off x="1592853" y="3290541"/>
            <a:ext cx="2292323" cy="613214"/>
            <a:chOff x="7870068" y="1871617"/>
            <a:chExt cx="3056430" cy="817619"/>
          </a:xfrm>
        </p:grpSpPr>
        <p:grpSp>
          <p:nvGrpSpPr>
            <p:cNvPr id="72" name="组合 71"/>
            <p:cNvGrpSpPr/>
            <p:nvPr/>
          </p:nvGrpSpPr>
          <p:grpSpPr>
            <a:xfrm>
              <a:off x="7870068" y="1871617"/>
              <a:ext cx="683080" cy="789458"/>
              <a:chOff x="7662836" y="1774557"/>
              <a:chExt cx="683080" cy="789458"/>
            </a:xfrm>
          </p:grpSpPr>
          <p:sp>
            <p:nvSpPr>
              <p:cNvPr id="74" name="文本框 73"/>
              <p:cNvSpPr txBox="1"/>
              <p:nvPr/>
            </p:nvSpPr>
            <p:spPr>
              <a:xfrm>
                <a:off x="7662836" y="1774557"/>
                <a:ext cx="475827" cy="675641"/>
              </a:xfrm>
              <a:prstGeom prst="rect">
                <a:avLst/>
              </a:prstGeom>
              <a:noFill/>
            </p:spPr>
            <p:txBody>
              <a:bodyPr wrap="none" rtlCol="0">
                <a:spAutoFit/>
              </a:bodyPr>
              <a:lstStyle/>
              <a:p>
                <a:pPr algn="just"/>
                <a:r>
                  <a:rPr lang="en-US" altLang="zh-CN" sz="2700" dirty="0">
                    <a:latin typeface="微软雅黑" panose="020B0503020204020204" pitchFamily="34" charset="-122"/>
                    <a:ea typeface="微软雅黑" panose="020B0503020204020204" pitchFamily="34" charset="-122"/>
                    <a:cs typeface="+mn-ea"/>
                    <a:sym typeface="+mn-lt"/>
                  </a:rPr>
                  <a:t>5</a:t>
                </a:r>
              </a:p>
            </p:txBody>
          </p:sp>
          <p:cxnSp>
            <p:nvCxnSpPr>
              <p:cNvPr id="75" name="直接连接符 74"/>
              <p:cNvCxnSpPr/>
              <p:nvPr/>
            </p:nvCxnSpPr>
            <p:spPr>
              <a:xfrm flipH="1">
                <a:off x="7937400" y="205013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73" name="矩形 72"/>
            <p:cNvSpPr/>
            <p:nvPr/>
          </p:nvSpPr>
          <p:spPr>
            <a:xfrm>
              <a:off x="8585778" y="2194782"/>
              <a:ext cx="2340720" cy="494454"/>
            </a:xfrm>
            <a:prstGeom prst="rect">
              <a:avLst/>
            </a:prstGeom>
          </p:spPr>
          <p:txBody>
            <a:bodyPr wrap="square">
              <a:spAutoFit/>
            </a:bodyPr>
            <a:lstStyle/>
            <a:p>
              <a:pPr lvl="0">
                <a:lnSpc>
                  <a:spcPct val="130000"/>
                </a:lnSpc>
              </a:pPr>
              <a:r>
                <a:rPr lang="zh-CN" altLang="en-US" sz="1400" b="1" dirty="0">
                  <a:solidFill>
                    <a:srgbClr val="C00000"/>
                  </a:solidFill>
                  <a:latin typeface="微软雅黑" panose="020B0503020204020204" pitchFamily="34" charset="-122"/>
                  <a:ea typeface="微软雅黑" panose="020B0503020204020204" pitchFamily="34" charset="-122"/>
                  <a:cs typeface="+mn-ea"/>
                  <a:sym typeface="+mn-lt"/>
                </a:rPr>
                <a:t>战略控制点</a:t>
              </a:r>
            </a:p>
          </p:txBody>
        </p:sp>
      </p:grpSp>
      <p:grpSp>
        <p:nvGrpSpPr>
          <p:cNvPr id="76" name="组合 75"/>
          <p:cNvGrpSpPr/>
          <p:nvPr/>
        </p:nvGrpSpPr>
        <p:grpSpPr>
          <a:xfrm>
            <a:off x="3073571" y="3290541"/>
            <a:ext cx="2292323" cy="613214"/>
            <a:chOff x="7870068" y="1871617"/>
            <a:chExt cx="3056430" cy="817619"/>
          </a:xfrm>
        </p:grpSpPr>
        <p:grpSp>
          <p:nvGrpSpPr>
            <p:cNvPr id="77" name="组合 76"/>
            <p:cNvGrpSpPr/>
            <p:nvPr/>
          </p:nvGrpSpPr>
          <p:grpSpPr>
            <a:xfrm>
              <a:off x="7870068" y="1871617"/>
              <a:ext cx="683080" cy="789458"/>
              <a:chOff x="7662836" y="1774557"/>
              <a:chExt cx="683080" cy="789458"/>
            </a:xfrm>
          </p:grpSpPr>
          <p:sp>
            <p:nvSpPr>
              <p:cNvPr id="79" name="文本框 78"/>
              <p:cNvSpPr txBox="1"/>
              <p:nvPr/>
            </p:nvSpPr>
            <p:spPr>
              <a:xfrm>
                <a:off x="7662836" y="1774557"/>
                <a:ext cx="475827" cy="675641"/>
              </a:xfrm>
              <a:prstGeom prst="rect">
                <a:avLst/>
              </a:prstGeom>
              <a:noFill/>
            </p:spPr>
            <p:txBody>
              <a:bodyPr wrap="none" rtlCol="0">
                <a:spAutoFit/>
              </a:bodyPr>
              <a:lstStyle/>
              <a:p>
                <a:pPr algn="just"/>
                <a:r>
                  <a:rPr lang="en-US" altLang="zh-CN" sz="2700" dirty="0">
                    <a:latin typeface="微软雅黑" panose="020B0503020204020204" pitchFamily="34" charset="-122"/>
                    <a:ea typeface="微软雅黑" panose="020B0503020204020204" pitchFamily="34" charset="-122"/>
                    <a:cs typeface="+mn-ea"/>
                    <a:sym typeface="+mn-lt"/>
                  </a:rPr>
                  <a:t>6</a:t>
                </a:r>
              </a:p>
            </p:txBody>
          </p:sp>
          <p:cxnSp>
            <p:nvCxnSpPr>
              <p:cNvPr id="80" name="直接连接符 79"/>
              <p:cNvCxnSpPr/>
              <p:nvPr/>
            </p:nvCxnSpPr>
            <p:spPr>
              <a:xfrm flipH="1">
                <a:off x="7937400" y="205013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78" name="矩形 77"/>
            <p:cNvSpPr/>
            <p:nvPr/>
          </p:nvSpPr>
          <p:spPr>
            <a:xfrm>
              <a:off x="8585778" y="2194782"/>
              <a:ext cx="2340720" cy="494454"/>
            </a:xfrm>
            <a:prstGeom prst="rect">
              <a:avLst/>
            </a:prstGeom>
          </p:spPr>
          <p:txBody>
            <a:bodyPr wrap="square">
              <a:spAutoFit/>
            </a:bodyPr>
            <a:lstStyle/>
            <a:p>
              <a:pPr lvl="0">
                <a:lnSpc>
                  <a:spcPct val="130000"/>
                </a:lnSpc>
              </a:pPr>
              <a:r>
                <a:rPr lang="zh-CN" altLang="en-US" sz="1400" b="1" dirty="0">
                  <a:solidFill>
                    <a:srgbClr val="C00000"/>
                  </a:solidFill>
                  <a:latin typeface="微软雅黑" panose="020B0503020204020204" pitchFamily="34" charset="-122"/>
                  <a:ea typeface="微软雅黑" panose="020B0503020204020204" pitchFamily="34" charset="-122"/>
                  <a:cs typeface="+mn-ea"/>
                  <a:sym typeface="+mn-lt"/>
                </a:rPr>
                <a:t>风险管理</a:t>
              </a:r>
            </a:p>
          </p:txBody>
        </p:sp>
      </p:grpSp>
      <p:pic>
        <p:nvPicPr>
          <p:cNvPr id="2" name="图片 1"/>
          <p:cNvPicPr>
            <a:picLocks noChangeAspect="1"/>
          </p:cNvPicPr>
          <p:nvPr/>
        </p:nvPicPr>
        <p:blipFill>
          <a:blip r:embed="rId2" cstate="email"/>
          <a:stretch>
            <a:fillRect/>
          </a:stretch>
        </p:blipFill>
        <p:spPr>
          <a:xfrm>
            <a:off x="4568126" y="1875401"/>
            <a:ext cx="5547743" cy="2058496"/>
          </a:xfrm>
          <a:prstGeom prst="rect">
            <a:avLst/>
          </a:prstGeom>
        </p:spPr>
      </p:pic>
      <p:sp>
        <p:nvSpPr>
          <p:cNvPr id="3" name="标题 1"/>
          <p:cNvSpPr txBox="1"/>
          <p:nvPr/>
        </p:nvSpPr>
        <p:spPr>
          <a:xfrm>
            <a:off x="728233" y="625270"/>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BLM模型之业务设计：核心是战略控制点</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nvGraphicFramePr>
        <p:xfrm>
          <a:off x="1782445" y="1454785"/>
          <a:ext cx="8747760" cy="4724400"/>
        </p:xfrm>
        <a:graphic>
          <a:graphicData uri="http://schemas.openxmlformats.org/drawingml/2006/table">
            <a:tbl>
              <a:tblPr firstRow="1" bandRow="1">
                <a:tableStyleId>{BC89EF96-8CEA-46FF-86C4-4CE0E7609802}</a:tableStyleId>
              </a:tblPr>
              <a:tblGrid>
                <a:gridCol w="1176020">
                  <a:extLst>
                    <a:ext uri="{9D8B030D-6E8A-4147-A177-3AD203B41FA5}">
                      <a16:colId xmlns:a16="http://schemas.microsoft.com/office/drawing/2014/main" val="20000"/>
                    </a:ext>
                  </a:extLst>
                </a:gridCol>
                <a:gridCol w="7571740">
                  <a:extLst>
                    <a:ext uri="{9D8B030D-6E8A-4147-A177-3AD203B41FA5}">
                      <a16:colId xmlns:a16="http://schemas.microsoft.com/office/drawing/2014/main" val="20001"/>
                    </a:ext>
                  </a:extLst>
                </a:gridCol>
              </a:tblGrid>
              <a:tr h="1081405">
                <a:tc>
                  <a:txBody>
                    <a:bodyPr/>
                    <a:lstStyle/>
                    <a:p>
                      <a:pPr algn="ctr">
                        <a:lnSpc>
                          <a:spcPct val="110000"/>
                        </a:lnSpc>
                        <a:spcBef>
                          <a:spcPts val="0"/>
                        </a:spcBef>
                        <a:spcAft>
                          <a:spcPts val="0"/>
                        </a:spcAft>
                      </a:pPr>
                      <a:r>
                        <a:rPr lang="zh-CN" altLang="en-US" sz="1400" b="1" dirty="0">
                          <a:latin typeface="微软雅黑" panose="020B0503020204020204" pitchFamily="34" charset="-122"/>
                          <a:ea typeface="微软雅黑" panose="020B0503020204020204" pitchFamily="34" charset="-122"/>
                          <a:cs typeface="+mn-ea"/>
                          <a:sym typeface="+mn-lt"/>
                        </a:rPr>
                        <a:t>客户选择</a:t>
                      </a:r>
                    </a:p>
                  </a:txBody>
                  <a:tcPr marL="68580" marR="68580" marT="34290" marB="34290" anchor="ctr">
                    <a:lnL w="12700" cmpd="sng">
                      <a:noFill/>
                    </a:lnL>
                    <a:lnR w="12700" cap="flat" cmpd="sng" algn="ctr">
                      <a:solidFill>
                        <a:schemeClr val="bg1">
                          <a:lumMod val="75000"/>
                        </a:schemeClr>
                      </a:solidFill>
                      <a:prstDash val="solid"/>
                      <a:round/>
                      <a:headEnd type="none" w="med" len="med"/>
                      <a:tailEnd type="none" w="med" len="med"/>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lvl="0" indent="0" algn="l" defTabSz="914400" rtl="0" eaLnBrk="1" fontAlgn="auto" latinLnBrk="0" hangingPunct="1">
                        <a:lnSpc>
                          <a:spcPct val="130000"/>
                        </a:lnSpc>
                        <a:spcBef>
                          <a:spcPts val="0"/>
                        </a:spcBef>
                        <a:spcAft>
                          <a:spcPts val="0"/>
                        </a:spcAft>
                        <a:buClr>
                          <a:schemeClr val="tx2"/>
                        </a:buClr>
                        <a:buSzPct val="110000"/>
                        <a:buFont typeface="Wingdings" panose="05000000000000000000" pitchFamily="2" charset="2"/>
                        <a:buNone/>
                        <a:defRPr/>
                      </a:pP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谁是你的客户？ 谁不是？在该细分市场下，客户有哪些特定的需求？  </a:t>
                      </a:r>
                      <a:r>
                        <a:rPr lang="zh-CN" altLang="en-US"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案例：荣耀；保时捷</a:t>
                      </a:r>
                      <a:endParaRPr lang="en-US" altLang="zh-CN"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396875" indent="-342900" algn="l" eaLnBrk="1" hangingPunct="1">
                        <a:lnSpc>
                          <a:spcPct val="130000"/>
                        </a:lnSpc>
                        <a:spcBef>
                          <a:spcPts val="0"/>
                        </a:spcBef>
                        <a:spcAft>
                          <a:spcPts val="0"/>
                        </a:spcAft>
                        <a:buClr>
                          <a:schemeClr val="tx2"/>
                        </a:buClr>
                        <a:buSzPct val="110000"/>
                        <a:buFont typeface="Wingdings" panose="05000000000000000000" pitchFamily="2" charset="2"/>
                        <a:buAutoNum type="arabicPeriod"/>
                      </a:pPr>
                      <a:r>
                        <a:rPr lang="zh-CN" altLang="en-US"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客户选择非常重要，决定了以后的所有投入：</a:t>
                      </a:r>
                      <a:r>
                        <a:rPr lang="zh-CN" altLang="en-US"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华为是能力有限的公司</a:t>
                      </a:r>
                    </a:p>
                    <a:p>
                      <a:pPr marL="396875" indent="-342900" algn="l" eaLnBrk="1" hangingPunct="1">
                        <a:lnSpc>
                          <a:spcPct val="130000"/>
                        </a:lnSpc>
                        <a:spcBef>
                          <a:spcPts val="0"/>
                        </a:spcBef>
                        <a:spcAft>
                          <a:spcPts val="0"/>
                        </a:spcAft>
                        <a:buClr>
                          <a:schemeClr val="tx2"/>
                        </a:buClr>
                        <a:buSzPct val="110000"/>
                        <a:buFont typeface="Wingdings" panose="05000000000000000000" pitchFamily="2" charset="2"/>
                        <a:buAutoNum type="arabicPeriod"/>
                      </a:pPr>
                      <a:r>
                        <a:rPr lang="zh-CN" altLang="en-US"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客户选择是战略性的，也有阶段性的战术考虑：考虑自身能力及长远</a:t>
                      </a:r>
                    </a:p>
                    <a:p>
                      <a:pPr marL="396875" indent="-342900" algn="l" eaLnBrk="1" hangingPunct="1">
                        <a:lnSpc>
                          <a:spcPct val="130000"/>
                        </a:lnSpc>
                        <a:spcBef>
                          <a:spcPts val="0"/>
                        </a:spcBef>
                        <a:spcAft>
                          <a:spcPts val="0"/>
                        </a:spcAft>
                        <a:buClr>
                          <a:schemeClr val="tx2"/>
                        </a:buClr>
                        <a:buSzPct val="110000"/>
                        <a:buFont typeface="Wingdings" panose="05000000000000000000" pitchFamily="2" charset="2"/>
                        <a:buAutoNum type="arabicPeriod"/>
                      </a:pPr>
                      <a:r>
                        <a:rPr lang="zh-CN" altLang="en-US"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优质资源向优质客户倾斜：客户分类和内部各流程环节的投入对齐</a:t>
                      </a:r>
                    </a:p>
                  </a:txBody>
                  <a:tcPr marL="68580" marR="68580" marT="34290" marB="34290">
                    <a:lnL w="12700" cap="flat" cmpd="sng" algn="ctr">
                      <a:solidFill>
                        <a:schemeClr val="bg1">
                          <a:lumMod val="75000"/>
                        </a:schemeClr>
                      </a:solidFill>
                      <a:prstDash val="solid"/>
                      <a:round/>
                      <a:headEnd type="none" w="med" len="med"/>
                      <a:tailEnd type="none" w="med" len="med"/>
                    </a:lnL>
                    <a:lnR w="12700" cmpd="sng">
                      <a:noFill/>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829945">
                <a:tc>
                  <a:txBody>
                    <a:bodyPr/>
                    <a:lstStyle/>
                    <a:p>
                      <a:pPr algn="ctr">
                        <a:lnSpc>
                          <a:spcPct val="110000"/>
                        </a:lnSpc>
                        <a:spcBef>
                          <a:spcPts val="0"/>
                        </a:spcBef>
                        <a:spcAft>
                          <a:spcPts val="0"/>
                        </a:spcAft>
                      </a:pPr>
                      <a:r>
                        <a:rPr lang="zh-CN" altLang="en-US" sz="1400" b="1" dirty="0">
                          <a:latin typeface="微软雅黑" panose="020B0503020204020204" pitchFamily="34" charset="-122"/>
                          <a:ea typeface="微软雅黑" panose="020B0503020204020204" pitchFamily="34" charset="-122"/>
                          <a:cs typeface="+mn-ea"/>
                          <a:sym typeface="+mn-lt"/>
                        </a:rPr>
                        <a:t>价值主张</a:t>
                      </a:r>
                    </a:p>
                  </a:txBody>
                  <a:tcPr marL="68580" marR="68580" marT="34290" marB="3429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marR="0" indent="0" algn="l" defTabSz="914400" rtl="0" eaLnBrk="1" fontAlgn="auto" latinLnBrk="0" hangingPunct="1">
                        <a:lnSpc>
                          <a:spcPct val="130000"/>
                        </a:lnSpc>
                        <a:spcBef>
                          <a:spcPts val="0"/>
                        </a:spcBef>
                        <a:spcAft>
                          <a:spcPts val="0"/>
                        </a:spcAft>
                        <a:buClr>
                          <a:schemeClr val="tx2"/>
                        </a:buClr>
                        <a:buSzPct val="110000"/>
                        <a:buFont typeface="Wingdings" panose="05000000000000000000" pitchFamily="2" charset="2"/>
                        <a:buNone/>
                        <a:defRPr/>
                      </a:pP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客户为什么选择我？</a:t>
                      </a:r>
                      <a:r>
                        <a:rPr lang="zh-CN" altLang="en-US" sz="1200" b="1" kern="12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是公司的产品</a:t>
                      </a:r>
                      <a:r>
                        <a:rPr lang="en-US" altLang="zh-CN" sz="1200" b="1" kern="12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200" b="1" kern="12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服务，相比竞争对手，给客户带来的独特价值 </a:t>
                      </a:r>
                      <a:r>
                        <a:rPr lang="zh-CN" altLang="en-US" sz="12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案例：京东，质优，到货快</a:t>
                      </a:r>
                      <a:endParaRPr lang="en-US" altLang="zh-CN" sz="1200" b="1" kern="12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396875" indent="-342900" algn="l" eaLnBrk="1" hangingPunct="1">
                        <a:lnSpc>
                          <a:spcPct val="130000"/>
                        </a:lnSpc>
                        <a:spcBef>
                          <a:spcPts val="0"/>
                        </a:spcBef>
                        <a:spcAft>
                          <a:spcPts val="0"/>
                        </a:spcAft>
                        <a:buClr>
                          <a:schemeClr val="tx2"/>
                        </a:buClr>
                        <a:buSzPct val="110000"/>
                        <a:buFont typeface="Wingdings" panose="05000000000000000000" pitchFamily="2" charset="2"/>
                        <a:buAutoNum type="arabicPeriod"/>
                      </a:pPr>
                      <a:r>
                        <a:rPr lang="zh-CN" altLang="en-US"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客户需求是否吻合？我们的</a:t>
                      </a:r>
                      <a:r>
                        <a:rPr lang="zh-CN" altLang="en-US"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产品和服务是否以客户的最终需求为导向（早期，保姆式优质服务）</a:t>
                      </a:r>
                    </a:p>
                    <a:p>
                      <a:pPr marL="396875" indent="-342900" algn="l" eaLnBrk="1" hangingPunct="1">
                        <a:lnSpc>
                          <a:spcPct val="130000"/>
                        </a:lnSpc>
                        <a:spcBef>
                          <a:spcPts val="0"/>
                        </a:spcBef>
                        <a:spcAft>
                          <a:spcPts val="0"/>
                        </a:spcAft>
                        <a:buClr>
                          <a:schemeClr val="tx2"/>
                        </a:buClr>
                        <a:buSzPct val="110000"/>
                        <a:buFont typeface="Wingdings" panose="05000000000000000000" pitchFamily="2" charset="2"/>
                        <a:buAutoNum type="arabicPeriod"/>
                      </a:pPr>
                      <a:r>
                        <a:rPr lang="zh-CN" altLang="en-US"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独特性和影响力：客户是否真正认可我们的产品和服务，是否能帮助客户实现增值和收益</a:t>
                      </a:r>
                    </a:p>
                  </a:txBody>
                  <a:tcPr marL="68580" marR="68580" marT="34290" marB="34290">
                    <a:lnL w="12700" cap="flat" cmpd="sng" algn="ctr">
                      <a:solidFill>
                        <a:schemeClr val="bg1">
                          <a:lumMod val="75000"/>
                        </a:schemeClr>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77215">
                <a:tc>
                  <a:txBody>
                    <a:bodyPr/>
                    <a:lstStyle/>
                    <a:p>
                      <a:pPr algn="ctr">
                        <a:lnSpc>
                          <a:spcPct val="110000"/>
                        </a:lnSpc>
                        <a:spcBef>
                          <a:spcPts val="0"/>
                        </a:spcBef>
                        <a:spcAft>
                          <a:spcPts val="0"/>
                        </a:spcAft>
                      </a:pPr>
                      <a:r>
                        <a:rPr lang="zh-CN" altLang="en-US" sz="1400" b="1" dirty="0">
                          <a:latin typeface="微软雅黑" panose="020B0503020204020204" pitchFamily="34" charset="-122"/>
                          <a:ea typeface="微软雅黑" panose="020B0503020204020204" pitchFamily="34" charset="-122"/>
                          <a:cs typeface="+mn-ea"/>
                          <a:sym typeface="+mn-lt"/>
                        </a:rPr>
                        <a:t>价值获取</a:t>
                      </a:r>
                    </a:p>
                  </a:txBody>
                  <a:tcPr marL="68580" marR="68580" marT="34290" marB="3429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indent="0" algn="l" eaLnBrk="1" hangingPunct="1">
                        <a:lnSpc>
                          <a:spcPct val="130000"/>
                        </a:lnSpc>
                        <a:spcBef>
                          <a:spcPts val="0"/>
                        </a:spcBef>
                        <a:spcAft>
                          <a:spcPts val="0"/>
                        </a:spcAft>
                        <a:buClr>
                          <a:schemeClr val="tx2"/>
                        </a:buClr>
                        <a:buSzPct val="110000"/>
                        <a:buFont typeface="Wingdings" panose="05000000000000000000" pitchFamily="2" charset="2"/>
                        <a:buNone/>
                      </a:pP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如何把产品卖出去？如何赚钱？有其他赢利模式吗？ </a:t>
                      </a:r>
                      <a:r>
                        <a:rPr lang="zh-CN" altLang="en-US"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案例：低门槛</a:t>
                      </a:r>
                      <a:r>
                        <a:rPr lang="en-US" altLang="zh-CN"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存量经营模式</a:t>
                      </a:r>
                      <a:endParaRPr lang="en-US" altLang="zh-CN"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396875" marR="0" lvl="0" indent="-342900" algn="l" defTabSz="914400" rtl="0" eaLnBrk="1" fontAlgn="auto" latinLnBrk="0" hangingPunct="1">
                        <a:lnSpc>
                          <a:spcPct val="130000"/>
                        </a:lnSpc>
                        <a:spcBef>
                          <a:spcPts val="0"/>
                        </a:spcBef>
                        <a:spcAft>
                          <a:spcPts val="0"/>
                        </a:spcAft>
                        <a:buClr>
                          <a:schemeClr val="tx2"/>
                        </a:buClr>
                        <a:buSzPct val="110000"/>
                        <a:buFont typeface="Wingdings" panose="05000000000000000000" pitchFamily="2" charset="2"/>
                        <a:buAutoNum type="arabicPeriod"/>
                        <a:defRPr/>
                      </a:pPr>
                      <a:r>
                        <a:rPr lang="zh-CN" altLang="en-US" sz="1200" b="0" dirty="0">
                          <a:latin typeface="微软雅黑" panose="020B0503020204020204" pitchFamily="34" charset="-122"/>
                          <a:ea typeface="微软雅黑" panose="020B0503020204020204" pitchFamily="34" charset="-122"/>
                          <a:cs typeface="微软雅黑" panose="020B0503020204020204" pitchFamily="34" charset="-122"/>
                          <a:sym typeface="+mn-lt"/>
                        </a:rPr>
                        <a:t>如何计算我们的收入、利润和市场份额？我们依靠什么吸引客户并获取利润？</a:t>
                      </a:r>
                    </a:p>
                  </a:txBody>
                  <a:tcPr marL="68580" marR="68580" marT="34290" marB="34290">
                    <a:lnL w="12700" cap="flat" cmpd="sng" algn="ctr">
                      <a:solidFill>
                        <a:schemeClr val="bg1">
                          <a:lumMod val="75000"/>
                        </a:schemeClr>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77215">
                <a:tc>
                  <a:txBody>
                    <a:bodyPr/>
                    <a:lstStyle/>
                    <a:p>
                      <a:pPr algn="ctr">
                        <a:lnSpc>
                          <a:spcPct val="110000"/>
                        </a:lnSpc>
                        <a:spcBef>
                          <a:spcPts val="0"/>
                        </a:spcBef>
                        <a:spcAft>
                          <a:spcPts val="0"/>
                        </a:spcAft>
                      </a:pPr>
                      <a:r>
                        <a:rPr lang="zh-CN" altLang="en-US" sz="1400" b="1" dirty="0">
                          <a:latin typeface="微软雅黑" panose="020B0503020204020204" pitchFamily="34" charset="-122"/>
                          <a:ea typeface="微软雅黑" panose="020B0503020204020204" pitchFamily="34" charset="-122"/>
                          <a:cs typeface="+mn-ea"/>
                          <a:sym typeface="+mn-lt"/>
                        </a:rPr>
                        <a:t>活动范围</a:t>
                      </a:r>
                    </a:p>
                  </a:txBody>
                  <a:tcPr marL="68580" marR="68580" marT="34290" marB="3429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indent="0" algn="l" eaLnBrk="1" hangingPunct="1">
                        <a:lnSpc>
                          <a:spcPct val="130000"/>
                        </a:lnSpc>
                        <a:spcBef>
                          <a:spcPts val="0"/>
                        </a:spcBef>
                        <a:spcAft>
                          <a:spcPts val="0"/>
                        </a:spcAft>
                        <a:buClr>
                          <a:schemeClr val="tx2"/>
                        </a:buClr>
                        <a:buSzPct val="110000"/>
                        <a:buFont typeface="Wingdings" panose="05000000000000000000" pitchFamily="2" charset="2"/>
                        <a:buNone/>
                      </a:pPr>
                      <a:r>
                        <a:rPr lang="zh-CN" altLang="en-US" sz="1200" b="0" dirty="0">
                          <a:latin typeface="微软雅黑" panose="020B0503020204020204" pitchFamily="34" charset="-122"/>
                          <a:ea typeface="微软雅黑" panose="020B0503020204020204" pitchFamily="34" charset="-122"/>
                          <a:cs typeface="微软雅黑" panose="020B0503020204020204" pitchFamily="34" charset="-122"/>
                          <a:sym typeface="+mn-lt"/>
                        </a:rPr>
                        <a:t>经营活动中</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我们的角色和范围，做什么，不做什么</a:t>
                      </a:r>
                      <a:r>
                        <a:rPr lang="zh-CN" altLang="en-US"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  案例：只做核心控制点，设计部分，其余外包，高度聚焦</a:t>
                      </a:r>
                      <a:endParaRPr lang="zh-CN" altLang="en-US" sz="12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396875" marR="0" indent="-342900" algn="l" defTabSz="914400" rtl="0" eaLnBrk="1" fontAlgn="auto" latinLnBrk="0" hangingPunct="1">
                        <a:lnSpc>
                          <a:spcPct val="130000"/>
                        </a:lnSpc>
                        <a:spcBef>
                          <a:spcPts val="0"/>
                        </a:spcBef>
                        <a:spcAft>
                          <a:spcPts val="0"/>
                        </a:spcAft>
                        <a:buClr>
                          <a:schemeClr val="tx2"/>
                        </a:buClr>
                        <a:buSzPct val="110000"/>
                        <a:buFont typeface="Wingdings" panose="05000000000000000000" pitchFamily="2" charset="2"/>
                        <a:buAutoNum type="arabicPeriod"/>
                        <a:defRPr/>
                      </a:pPr>
                      <a:r>
                        <a:rPr lang="zh-CN" altLang="en-US" sz="1200" b="0" dirty="0">
                          <a:latin typeface="微软雅黑" panose="020B0503020204020204" pitchFamily="34" charset="-122"/>
                          <a:ea typeface="微软雅黑" panose="020B0503020204020204" pitchFamily="34" charset="-122"/>
                          <a:cs typeface="微软雅黑" panose="020B0503020204020204" pitchFamily="34" charset="-122"/>
                          <a:sym typeface="+mn-lt"/>
                        </a:rPr>
                        <a:t>在价值链中位置及合作伙伴的关系协作，哪些外包</a:t>
                      </a:r>
                      <a:r>
                        <a:rPr lang="en-US" altLang="zh-CN" sz="1200" b="0" dirty="0">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200" b="0" dirty="0">
                          <a:latin typeface="微软雅黑" panose="020B0503020204020204" pitchFamily="34" charset="-122"/>
                          <a:ea typeface="微软雅黑" panose="020B0503020204020204" pitchFamily="34" charset="-122"/>
                          <a:cs typeface="微软雅黑" panose="020B0503020204020204" pitchFamily="34" charset="-122"/>
                          <a:sym typeface="+mn-lt"/>
                        </a:rPr>
                        <a:t>外购？ 产品、价格、渠道、推销</a:t>
                      </a:r>
                    </a:p>
                  </a:txBody>
                  <a:tcPr marL="68580" marR="68580" marT="34290" marB="34290">
                    <a:lnL w="12700" cap="flat" cmpd="sng" algn="ctr">
                      <a:solidFill>
                        <a:schemeClr val="bg1">
                          <a:lumMod val="75000"/>
                        </a:schemeClr>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829310">
                <a:tc>
                  <a:txBody>
                    <a:bodyPr/>
                    <a:lstStyle/>
                    <a:p>
                      <a:pPr algn="ctr">
                        <a:lnSpc>
                          <a:spcPct val="110000"/>
                        </a:lnSpc>
                        <a:spcBef>
                          <a:spcPts val="0"/>
                        </a:spcBef>
                        <a:spcAft>
                          <a:spcPts val="0"/>
                        </a:spcAft>
                      </a:pPr>
                      <a:r>
                        <a:rPr lang="zh-CN" altLang="en-US" sz="1400" b="1" dirty="0">
                          <a:solidFill>
                            <a:srgbClr val="0070C0"/>
                          </a:solidFill>
                          <a:latin typeface="微软雅黑" panose="020B0503020204020204" pitchFamily="34" charset="-122"/>
                          <a:ea typeface="微软雅黑" panose="020B0503020204020204" pitchFamily="34" charset="-122"/>
                          <a:cs typeface="+mn-ea"/>
                          <a:sym typeface="+mn-lt"/>
                        </a:rPr>
                        <a:t>战略控制</a:t>
                      </a:r>
                    </a:p>
                  </a:txBody>
                  <a:tcPr marL="68580" marR="68580" marT="34290" marB="3429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3975" indent="0" algn="l" eaLnBrk="1" hangingPunct="1">
                        <a:lnSpc>
                          <a:spcPct val="130000"/>
                        </a:lnSpc>
                        <a:spcBef>
                          <a:spcPts val="0"/>
                        </a:spcBef>
                        <a:spcAft>
                          <a:spcPts val="0"/>
                        </a:spcAft>
                        <a:buClr>
                          <a:schemeClr val="tx2"/>
                        </a:buClr>
                        <a:buSzPct val="110000"/>
                        <a:buFont typeface="Wingdings" panose="05000000000000000000" pitchFamily="2" charset="2"/>
                        <a:buNone/>
                      </a:pP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怎样保证自己在价值链中持续有存在价值？ 核心竞争力和战略性控制点是什么？</a:t>
                      </a:r>
                      <a:r>
                        <a:rPr lang="zh-CN" altLang="en-US"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后面详细展开</a:t>
                      </a:r>
                      <a:endParaRPr lang="en-US" altLang="zh-CN"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396875" indent="-342900" algn="l" eaLnBrk="1" hangingPunct="1">
                        <a:lnSpc>
                          <a:spcPct val="130000"/>
                        </a:lnSpc>
                        <a:spcBef>
                          <a:spcPts val="0"/>
                        </a:spcBef>
                        <a:spcAft>
                          <a:spcPts val="0"/>
                        </a:spcAft>
                        <a:buClr>
                          <a:schemeClr val="tx2"/>
                        </a:buClr>
                        <a:buSzPct val="110000"/>
                        <a:buFont typeface="Wingdings" panose="05000000000000000000" pitchFamily="2" charset="2"/>
                        <a:buAutoNum type="arabicPeriod"/>
                      </a:pPr>
                      <a:r>
                        <a:rPr lang="zh-CN" altLang="en-US" sz="1200" b="0" dirty="0">
                          <a:latin typeface="微软雅黑" panose="020B0503020204020204" pitchFamily="34" charset="-122"/>
                          <a:ea typeface="微软雅黑" panose="020B0503020204020204" pitchFamily="34" charset="-122"/>
                          <a:cs typeface="微软雅黑" panose="020B0503020204020204" pitchFamily="34" charset="-122"/>
                          <a:sym typeface="+mn-lt"/>
                        </a:rPr>
                        <a:t>是否踩准客户需求的转移趋势？ 如何保护利润 ？ 持续创新，快速响应，有效控制成本，专利</a:t>
                      </a:r>
                      <a:r>
                        <a:rPr lang="en-US" altLang="zh-CN" sz="1200" b="0" dirty="0">
                          <a:latin typeface="微软雅黑" panose="020B0503020204020204" pitchFamily="34" charset="-122"/>
                          <a:ea typeface="微软雅黑" panose="020B0503020204020204" pitchFamily="34" charset="-122"/>
                          <a:cs typeface="微软雅黑" panose="020B0503020204020204" pitchFamily="34" charset="-122"/>
                          <a:sym typeface="+mn-lt"/>
                        </a:rPr>
                        <a:t>……</a:t>
                      </a:r>
                    </a:p>
                    <a:p>
                      <a:pPr marL="396875" indent="-342900" algn="l" eaLnBrk="1" hangingPunct="1">
                        <a:lnSpc>
                          <a:spcPct val="130000"/>
                        </a:lnSpc>
                        <a:spcBef>
                          <a:spcPts val="0"/>
                        </a:spcBef>
                        <a:spcAft>
                          <a:spcPts val="0"/>
                        </a:spcAft>
                        <a:buClr>
                          <a:schemeClr val="tx2"/>
                        </a:buClr>
                        <a:buSzPct val="110000"/>
                        <a:buFont typeface="Wingdings" panose="05000000000000000000" pitchFamily="2" charset="2"/>
                        <a:buAutoNum type="arabicPeriod"/>
                      </a:pPr>
                      <a:r>
                        <a:rPr lang="zh-CN" altLang="en-US" sz="1200" b="0" dirty="0">
                          <a:latin typeface="微软雅黑" panose="020B0503020204020204" pitchFamily="34" charset="-122"/>
                          <a:ea typeface="微软雅黑" panose="020B0503020204020204" pitchFamily="34" charset="-122"/>
                          <a:cs typeface="微软雅黑" panose="020B0503020204020204" pitchFamily="34" charset="-122"/>
                          <a:sym typeface="+mn-lt"/>
                        </a:rPr>
                        <a:t>客户对我们的认可度如何？</a:t>
                      </a:r>
                    </a:p>
                  </a:txBody>
                  <a:tcPr marL="68580" marR="68580" marT="34290" marB="34290">
                    <a:lnL w="12700" cap="flat" cmpd="sng" algn="ctr">
                      <a:solidFill>
                        <a:schemeClr val="bg1">
                          <a:lumMod val="75000"/>
                        </a:schemeClr>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829310">
                <a:tc>
                  <a:txBody>
                    <a:bodyPr/>
                    <a:lstStyle/>
                    <a:p>
                      <a:pPr algn="ctr">
                        <a:lnSpc>
                          <a:spcPct val="110000"/>
                        </a:lnSpc>
                        <a:spcBef>
                          <a:spcPts val="0"/>
                        </a:spcBef>
                        <a:spcAft>
                          <a:spcPts val="0"/>
                        </a:spcAft>
                      </a:pPr>
                      <a:r>
                        <a:rPr lang="zh-CN" altLang="en-US" sz="1400" b="1" dirty="0">
                          <a:latin typeface="微软雅黑" panose="020B0503020204020204" pitchFamily="34" charset="-122"/>
                          <a:ea typeface="微软雅黑" panose="020B0503020204020204" pitchFamily="34" charset="-122"/>
                          <a:cs typeface="+mn-ea"/>
                          <a:sym typeface="+mn-lt"/>
                        </a:rPr>
                        <a:t>风险管理</a:t>
                      </a:r>
                    </a:p>
                  </a:txBody>
                  <a:tcPr marL="68580" marR="68580" marT="34290" marB="3429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53975" indent="0" algn="l" eaLnBrk="1" hangingPunct="1">
                        <a:lnSpc>
                          <a:spcPct val="130000"/>
                        </a:lnSpc>
                        <a:spcBef>
                          <a:spcPts val="0"/>
                        </a:spcBef>
                        <a:spcAft>
                          <a:spcPts val="0"/>
                        </a:spcAft>
                        <a:buClr>
                          <a:schemeClr val="tx2"/>
                        </a:buClr>
                        <a:buSzPct val="110000"/>
                        <a:buFont typeface="Wingdings" panose="05000000000000000000" pitchFamily="2" charset="2"/>
                        <a:buNone/>
                      </a:pP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有哪些潜在的风险？ 如何管理和应对？</a:t>
                      </a:r>
                      <a:r>
                        <a:rPr lang="zh-CN" altLang="en-US"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案例：化风险为机会，后面展开</a:t>
                      </a:r>
                      <a:endParaRPr lang="en-US" altLang="zh-CN" sz="12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396875" indent="-342900" algn="l" eaLnBrk="1" hangingPunct="1">
                        <a:lnSpc>
                          <a:spcPct val="130000"/>
                        </a:lnSpc>
                        <a:spcBef>
                          <a:spcPts val="0"/>
                        </a:spcBef>
                        <a:spcAft>
                          <a:spcPts val="0"/>
                        </a:spcAft>
                        <a:buClr>
                          <a:schemeClr val="tx2"/>
                        </a:buClr>
                        <a:buSzPct val="110000"/>
                        <a:buFont typeface="Wingdings" panose="05000000000000000000" pitchFamily="2" charset="2"/>
                        <a:buAutoNum type="arabicPeriod"/>
                      </a:pPr>
                      <a:r>
                        <a:rPr lang="zh-CN" altLang="en-US" sz="1200" b="0" dirty="0">
                          <a:latin typeface="微软雅黑" panose="020B0503020204020204" pitchFamily="34" charset="-122"/>
                          <a:ea typeface="微软雅黑" panose="020B0503020204020204" pitchFamily="34" charset="-122"/>
                          <a:cs typeface="微软雅黑" panose="020B0503020204020204" pitchFamily="34" charset="-122"/>
                          <a:sym typeface="+mn-lt"/>
                        </a:rPr>
                        <a:t>不确定性和潜在风险：政策、市场、客户、对手、技术、其他干系人</a:t>
                      </a:r>
                      <a:endParaRPr lang="en-US" altLang="zh-CN" sz="1200" b="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396875" indent="-342900" algn="l" eaLnBrk="1" hangingPunct="1">
                        <a:lnSpc>
                          <a:spcPct val="130000"/>
                        </a:lnSpc>
                        <a:spcBef>
                          <a:spcPts val="0"/>
                        </a:spcBef>
                        <a:spcAft>
                          <a:spcPts val="0"/>
                        </a:spcAft>
                        <a:buClr>
                          <a:schemeClr val="tx2"/>
                        </a:buClr>
                        <a:buSzPct val="110000"/>
                        <a:buFont typeface="Wingdings" panose="05000000000000000000" pitchFamily="2" charset="2"/>
                        <a:buAutoNum type="arabicPeriod"/>
                      </a:pPr>
                      <a:r>
                        <a:rPr lang="zh-CN" altLang="en-US" sz="1200" b="0" dirty="0">
                          <a:latin typeface="微软雅黑" panose="020B0503020204020204" pitchFamily="34" charset="-122"/>
                          <a:ea typeface="微软雅黑" panose="020B0503020204020204" pitchFamily="34" charset="-122"/>
                          <a:cs typeface="微软雅黑" panose="020B0503020204020204" pitchFamily="34" charset="-122"/>
                          <a:sym typeface="+mn-lt"/>
                        </a:rPr>
                        <a:t>全面视角：外部、内部</a:t>
                      </a:r>
                    </a:p>
                  </a:txBody>
                  <a:tcPr marL="68580" marR="68580" marT="34290" marB="34290">
                    <a:lnL w="12700" cap="flat" cmpd="sng" algn="ctr">
                      <a:solidFill>
                        <a:schemeClr val="bg1">
                          <a:lumMod val="75000"/>
                        </a:schemeClr>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2" name="标题 1"/>
          <p:cNvSpPr txBox="1"/>
          <p:nvPr/>
        </p:nvSpPr>
        <p:spPr>
          <a:xfrm>
            <a:off x="558574" y="507047"/>
            <a:ext cx="9044305" cy="34353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业务设计关键</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6</a:t>
            </a:r>
            <a:r>
              <a:rPr lang="zh-CN" altLang="en-US" dirty="0">
                <a:solidFill>
                  <a:srgbClr val="0070C0"/>
                </a:solidFill>
                <a:latin typeface="微软雅黑" panose="020B0503020204020204" pitchFamily="34" charset="-122"/>
                <a:ea typeface="微软雅黑" panose="020B0503020204020204" pitchFamily="34" charset="-122"/>
                <a:cs typeface="+mn-ea"/>
                <a:sym typeface="+mn-lt"/>
              </a:rPr>
              <a:t>要素：基业长青，持续有效增长来自战略控制点</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3005"/>
            <a:ext cx="12206605" cy="522605"/>
          </a:xfrm>
          <a:prstGeom prst="rect">
            <a:avLst/>
          </a:prstGeom>
        </p:spPr>
      </p:pic>
      <p:sp>
        <p:nvSpPr>
          <p:cNvPr id="73" name="Rounded Rectangle 4"/>
          <p:cNvSpPr/>
          <p:nvPr/>
        </p:nvSpPr>
        <p:spPr>
          <a:xfrm>
            <a:off x="2202656" y="1337991"/>
            <a:ext cx="3577114" cy="4439633"/>
          </a:xfrm>
          <a:prstGeom prst="roundRect">
            <a:avLst>
              <a:gd name="adj" fmla="val 0"/>
            </a:avLst>
          </a:prstGeom>
          <a:noFill/>
          <a:ln w="3175" cap="flat" cmpd="sng" algn="ctr">
            <a:solidFill>
              <a:schemeClr val="bg1">
                <a:lumMod val="85000"/>
              </a:schemeClr>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en-US" sz="135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74" name="Rounded Rectangle 6"/>
          <p:cNvSpPr/>
          <p:nvPr/>
        </p:nvSpPr>
        <p:spPr>
          <a:xfrm>
            <a:off x="2365375" y="2105660"/>
            <a:ext cx="369570" cy="224790"/>
          </a:xfrm>
          <a:prstGeom prst="roundRect">
            <a:avLst>
              <a:gd name="adj" fmla="val 9722"/>
            </a:avLst>
          </a:prstGeom>
          <a:solidFill>
            <a:srgbClr val="C00000"/>
          </a:solidFill>
          <a:ln w="3175" cap="flat" cmpd="sng" algn="ctr">
            <a:noFill/>
            <a:prstDash val="solid"/>
            <a:miter lim="800000"/>
          </a:ln>
          <a:effectLst/>
        </p:spPr>
        <p:txBody>
          <a:bodyPr anchor="ct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r>
              <a:rPr kumimoji="0" lang="en-US" sz="9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10</a:t>
            </a:r>
          </a:p>
        </p:txBody>
      </p:sp>
      <p:sp>
        <p:nvSpPr>
          <p:cNvPr id="75" name="Rounded Rectangle 7"/>
          <p:cNvSpPr/>
          <p:nvPr/>
        </p:nvSpPr>
        <p:spPr>
          <a:xfrm>
            <a:off x="2365375" y="2482215"/>
            <a:ext cx="368935" cy="233680"/>
          </a:xfrm>
          <a:prstGeom prst="roundRect">
            <a:avLst>
              <a:gd name="adj" fmla="val 9722"/>
            </a:avLst>
          </a:prstGeom>
          <a:solidFill>
            <a:srgbClr val="C00000"/>
          </a:solidFill>
          <a:ln w="3175" cap="flat" cmpd="sng" algn="ctr">
            <a:noFill/>
            <a:prstDash val="solid"/>
            <a:miter lim="800000"/>
          </a:ln>
          <a:effectLst/>
        </p:spPr>
        <p:txBody>
          <a:bodyPr anchor="ctr"/>
          <a:lstStyle/>
          <a:p>
            <a:pPr algn="ctr" eaLnBrk="1" fontAlgn="auto" hangingPunct="1">
              <a:spcBef>
                <a:spcPts val="0"/>
              </a:spcBef>
              <a:spcAft>
                <a:spcPts val="0"/>
              </a:spcAft>
            </a:pPr>
            <a:r>
              <a:rPr lang="en-US" sz="900" kern="0" dirty="0">
                <a:solidFill>
                  <a:schemeClr val="bg1"/>
                </a:solidFill>
                <a:latin typeface="微软雅黑" panose="020B0503020204020204" pitchFamily="34" charset="-122"/>
                <a:ea typeface="微软雅黑" panose="020B0503020204020204" pitchFamily="34" charset="-122"/>
                <a:cs typeface="+mn-ea"/>
                <a:sym typeface="+mn-lt"/>
              </a:rPr>
              <a:t>9</a:t>
            </a:r>
          </a:p>
        </p:txBody>
      </p:sp>
      <p:sp>
        <p:nvSpPr>
          <p:cNvPr id="142" name="Rounded Rectangle 8"/>
          <p:cNvSpPr/>
          <p:nvPr/>
        </p:nvSpPr>
        <p:spPr>
          <a:xfrm>
            <a:off x="2365375" y="2858135"/>
            <a:ext cx="344170" cy="214630"/>
          </a:xfrm>
          <a:prstGeom prst="roundRect">
            <a:avLst>
              <a:gd name="adj" fmla="val 9722"/>
            </a:avLst>
          </a:prstGeom>
          <a:solidFill>
            <a:srgbClr val="C00000"/>
          </a:solidFill>
          <a:ln w="3175" cap="flat" cmpd="sng" algn="ctr">
            <a:noFill/>
            <a:prstDash val="solid"/>
            <a:miter lim="800000"/>
          </a:ln>
          <a:effectLst/>
        </p:spPr>
        <p:txBody>
          <a:bodyPr anchor="ctr"/>
          <a:lstStyle/>
          <a:p>
            <a:pPr algn="ctr" eaLnBrk="1" fontAlgn="auto" hangingPunct="1">
              <a:spcBef>
                <a:spcPts val="0"/>
              </a:spcBef>
              <a:spcAft>
                <a:spcPts val="0"/>
              </a:spcAft>
            </a:pPr>
            <a:r>
              <a:rPr lang="en-US" sz="900" kern="0" dirty="0">
                <a:solidFill>
                  <a:schemeClr val="bg1"/>
                </a:solidFill>
                <a:latin typeface="微软雅黑" panose="020B0503020204020204" pitchFamily="34" charset="-122"/>
                <a:ea typeface="微软雅黑" panose="020B0503020204020204" pitchFamily="34" charset="-122"/>
                <a:cs typeface="+mn-ea"/>
                <a:sym typeface="+mn-lt"/>
              </a:rPr>
              <a:t>8</a:t>
            </a:r>
          </a:p>
        </p:txBody>
      </p:sp>
      <p:sp>
        <p:nvSpPr>
          <p:cNvPr id="143" name="Rounded Rectangle 9"/>
          <p:cNvSpPr/>
          <p:nvPr/>
        </p:nvSpPr>
        <p:spPr>
          <a:xfrm>
            <a:off x="2365375" y="3234690"/>
            <a:ext cx="344170" cy="214630"/>
          </a:xfrm>
          <a:prstGeom prst="roundRect">
            <a:avLst>
              <a:gd name="adj" fmla="val 9722"/>
            </a:avLst>
          </a:prstGeom>
          <a:solidFill>
            <a:srgbClr val="C00000"/>
          </a:solidFill>
          <a:ln w="3175" cap="flat" cmpd="sng" algn="ctr">
            <a:noFill/>
            <a:prstDash val="solid"/>
            <a:miter lim="800000"/>
          </a:ln>
          <a:effectLst/>
        </p:spPr>
        <p:txBody>
          <a:bodyPr anchor="ctr"/>
          <a:lstStyle/>
          <a:p>
            <a:pPr algn="ctr" eaLnBrk="1" fontAlgn="auto" hangingPunct="1">
              <a:spcBef>
                <a:spcPts val="0"/>
              </a:spcBef>
              <a:spcAft>
                <a:spcPts val="0"/>
              </a:spcAft>
            </a:pPr>
            <a:r>
              <a:rPr lang="en-US" sz="900" kern="0" dirty="0">
                <a:solidFill>
                  <a:schemeClr val="bg1"/>
                </a:solidFill>
                <a:latin typeface="微软雅黑" panose="020B0503020204020204" pitchFamily="34" charset="-122"/>
                <a:ea typeface="微软雅黑" panose="020B0503020204020204" pitchFamily="34" charset="-122"/>
                <a:cs typeface="+mn-ea"/>
                <a:sym typeface="+mn-lt"/>
              </a:rPr>
              <a:t>7</a:t>
            </a:r>
          </a:p>
        </p:txBody>
      </p:sp>
      <p:sp>
        <p:nvSpPr>
          <p:cNvPr id="144" name="Rounded Rectangle 10"/>
          <p:cNvSpPr/>
          <p:nvPr/>
        </p:nvSpPr>
        <p:spPr>
          <a:xfrm>
            <a:off x="2365375" y="3610610"/>
            <a:ext cx="344170" cy="214630"/>
          </a:xfrm>
          <a:prstGeom prst="roundRect">
            <a:avLst>
              <a:gd name="adj" fmla="val 9722"/>
            </a:avLst>
          </a:prstGeom>
          <a:solidFill>
            <a:srgbClr val="C00000"/>
          </a:solidFill>
          <a:ln w="3175" cap="flat" cmpd="sng" algn="ctr">
            <a:noFill/>
            <a:prstDash val="solid"/>
            <a:miter lim="800000"/>
          </a:ln>
          <a:effectLst/>
        </p:spPr>
        <p:txBody>
          <a:bodyPr anchor="ctr"/>
          <a:lstStyle/>
          <a:p>
            <a:pPr algn="ctr" eaLnBrk="1" fontAlgn="auto" hangingPunct="1">
              <a:spcBef>
                <a:spcPts val="0"/>
              </a:spcBef>
              <a:spcAft>
                <a:spcPts val="0"/>
              </a:spcAft>
            </a:pPr>
            <a:r>
              <a:rPr lang="en-US" sz="900" kern="0" dirty="0">
                <a:solidFill>
                  <a:schemeClr val="bg1"/>
                </a:solidFill>
                <a:latin typeface="微软雅黑" panose="020B0503020204020204" pitchFamily="34" charset="-122"/>
                <a:ea typeface="微软雅黑" panose="020B0503020204020204" pitchFamily="34" charset="-122"/>
                <a:cs typeface="+mn-ea"/>
                <a:sym typeface="+mn-lt"/>
              </a:rPr>
              <a:t>6</a:t>
            </a:r>
          </a:p>
        </p:txBody>
      </p:sp>
      <p:sp>
        <p:nvSpPr>
          <p:cNvPr id="145" name="Rounded Rectangle 11"/>
          <p:cNvSpPr/>
          <p:nvPr/>
        </p:nvSpPr>
        <p:spPr>
          <a:xfrm>
            <a:off x="2365375" y="3987165"/>
            <a:ext cx="344170" cy="214630"/>
          </a:xfrm>
          <a:prstGeom prst="roundRect">
            <a:avLst>
              <a:gd name="adj" fmla="val 9722"/>
            </a:avLst>
          </a:prstGeom>
          <a:solidFill>
            <a:srgbClr val="C00000"/>
          </a:solidFill>
          <a:ln w="3175" cap="flat" cmpd="sng" algn="ctr">
            <a:noFill/>
            <a:prstDash val="solid"/>
            <a:miter lim="800000"/>
          </a:ln>
          <a:effectLst/>
        </p:spPr>
        <p:txBody>
          <a:bodyPr anchor="ctr"/>
          <a:lstStyle/>
          <a:p>
            <a:pPr algn="ctr" eaLnBrk="1" fontAlgn="auto" hangingPunct="1">
              <a:spcBef>
                <a:spcPts val="0"/>
              </a:spcBef>
              <a:spcAft>
                <a:spcPts val="0"/>
              </a:spcAft>
            </a:pPr>
            <a:r>
              <a:rPr lang="en-US" sz="900" kern="0" dirty="0">
                <a:solidFill>
                  <a:schemeClr val="bg1"/>
                </a:solidFill>
                <a:latin typeface="微软雅黑" panose="020B0503020204020204" pitchFamily="34" charset="-122"/>
                <a:ea typeface="微软雅黑" panose="020B0503020204020204" pitchFamily="34" charset="-122"/>
                <a:cs typeface="+mn-ea"/>
                <a:sym typeface="+mn-lt"/>
              </a:rPr>
              <a:t>5</a:t>
            </a:r>
          </a:p>
        </p:txBody>
      </p:sp>
      <p:sp>
        <p:nvSpPr>
          <p:cNvPr id="146" name="Rounded Rectangle 12"/>
          <p:cNvSpPr/>
          <p:nvPr/>
        </p:nvSpPr>
        <p:spPr>
          <a:xfrm>
            <a:off x="2365375" y="4363085"/>
            <a:ext cx="344170" cy="214630"/>
          </a:xfrm>
          <a:prstGeom prst="roundRect">
            <a:avLst>
              <a:gd name="adj" fmla="val 9722"/>
            </a:avLst>
          </a:prstGeom>
          <a:solidFill>
            <a:srgbClr val="C00000"/>
          </a:solidFill>
          <a:ln w="3175" cap="flat" cmpd="sng" algn="ctr">
            <a:noFill/>
            <a:prstDash val="solid"/>
            <a:miter lim="800000"/>
          </a:ln>
          <a:effectLst/>
        </p:spPr>
        <p:txBody>
          <a:bodyPr anchor="ctr"/>
          <a:lstStyle/>
          <a:p>
            <a:pPr algn="ctr" eaLnBrk="1" fontAlgn="auto" hangingPunct="1">
              <a:spcBef>
                <a:spcPts val="0"/>
              </a:spcBef>
              <a:spcAft>
                <a:spcPts val="0"/>
              </a:spcAft>
            </a:pPr>
            <a:r>
              <a:rPr lang="en-US" sz="900" kern="0" dirty="0">
                <a:solidFill>
                  <a:schemeClr val="bg1"/>
                </a:solidFill>
                <a:latin typeface="微软雅黑" panose="020B0503020204020204" pitchFamily="34" charset="-122"/>
                <a:ea typeface="微软雅黑" panose="020B0503020204020204" pitchFamily="34" charset="-122"/>
                <a:cs typeface="+mn-ea"/>
                <a:sym typeface="+mn-lt"/>
              </a:rPr>
              <a:t>4</a:t>
            </a:r>
          </a:p>
        </p:txBody>
      </p:sp>
      <p:sp>
        <p:nvSpPr>
          <p:cNvPr id="147" name="Rounded Rectangle 13"/>
          <p:cNvSpPr/>
          <p:nvPr/>
        </p:nvSpPr>
        <p:spPr>
          <a:xfrm>
            <a:off x="2365375" y="4739640"/>
            <a:ext cx="344170" cy="214630"/>
          </a:xfrm>
          <a:prstGeom prst="roundRect">
            <a:avLst>
              <a:gd name="adj" fmla="val 9722"/>
            </a:avLst>
          </a:prstGeom>
          <a:solidFill>
            <a:srgbClr val="C00000"/>
          </a:solidFill>
          <a:ln w="3175" cap="flat" cmpd="sng" algn="ctr">
            <a:noFill/>
            <a:prstDash val="solid"/>
            <a:miter lim="800000"/>
          </a:ln>
          <a:effectLst/>
        </p:spPr>
        <p:txBody>
          <a:bodyPr anchor="ctr"/>
          <a:lstStyle/>
          <a:p>
            <a:pPr algn="ctr" eaLnBrk="1" fontAlgn="auto" hangingPunct="1">
              <a:spcBef>
                <a:spcPts val="0"/>
              </a:spcBef>
              <a:spcAft>
                <a:spcPts val="0"/>
              </a:spcAft>
            </a:pPr>
            <a:r>
              <a:rPr lang="en-US" sz="900" kern="0" dirty="0">
                <a:solidFill>
                  <a:schemeClr val="bg1"/>
                </a:solidFill>
                <a:latin typeface="微软雅黑" panose="020B0503020204020204" pitchFamily="34" charset="-122"/>
                <a:ea typeface="微软雅黑" panose="020B0503020204020204" pitchFamily="34" charset="-122"/>
                <a:cs typeface="+mn-ea"/>
                <a:sym typeface="+mn-lt"/>
              </a:rPr>
              <a:t>3</a:t>
            </a:r>
          </a:p>
        </p:txBody>
      </p:sp>
      <p:sp>
        <p:nvSpPr>
          <p:cNvPr id="148" name="Rounded Rectangle 14"/>
          <p:cNvSpPr/>
          <p:nvPr/>
        </p:nvSpPr>
        <p:spPr>
          <a:xfrm>
            <a:off x="2365375" y="5114290"/>
            <a:ext cx="344170" cy="216535"/>
          </a:xfrm>
          <a:prstGeom prst="roundRect">
            <a:avLst>
              <a:gd name="adj" fmla="val 9722"/>
            </a:avLst>
          </a:prstGeom>
          <a:solidFill>
            <a:srgbClr val="C00000"/>
          </a:solidFill>
          <a:ln w="3175" cap="flat" cmpd="sng" algn="ctr">
            <a:noFill/>
            <a:prstDash val="solid"/>
            <a:miter lim="800000"/>
          </a:ln>
          <a:effectLst/>
        </p:spPr>
        <p:txBody>
          <a:bodyPr anchor="ctr"/>
          <a:lstStyle/>
          <a:p>
            <a:pPr algn="ctr" eaLnBrk="1" fontAlgn="auto" hangingPunct="1">
              <a:spcBef>
                <a:spcPts val="0"/>
              </a:spcBef>
              <a:spcAft>
                <a:spcPts val="0"/>
              </a:spcAft>
            </a:pPr>
            <a:r>
              <a:rPr lang="en-US" sz="900" kern="0" dirty="0">
                <a:solidFill>
                  <a:schemeClr val="bg1"/>
                </a:solidFill>
                <a:latin typeface="微软雅黑" panose="020B0503020204020204" pitchFamily="34" charset="-122"/>
                <a:ea typeface="微软雅黑" panose="020B0503020204020204" pitchFamily="34" charset="-122"/>
                <a:cs typeface="+mn-ea"/>
                <a:sym typeface="+mn-lt"/>
              </a:rPr>
              <a:t>2</a:t>
            </a:r>
          </a:p>
        </p:txBody>
      </p:sp>
      <p:sp>
        <p:nvSpPr>
          <p:cNvPr id="149" name="Rounded Rectangle 15"/>
          <p:cNvSpPr/>
          <p:nvPr/>
        </p:nvSpPr>
        <p:spPr>
          <a:xfrm>
            <a:off x="2365375" y="5490845"/>
            <a:ext cx="344170" cy="216535"/>
          </a:xfrm>
          <a:prstGeom prst="roundRect">
            <a:avLst>
              <a:gd name="adj" fmla="val 9722"/>
            </a:avLst>
          </a:prstGeom>
          <a:solidFill>
            <a:srgbClr val="C00000"/>
          </a:solidFill>
          <a:ln w="3175" cap="flat" cmpd="sng" algn="ctr">
            <a:noFill/>
            <a:prstDash val="solid"/>
            <a:miter lim="800000"/>
          </a:ln>
          <a:effectLst/>
        </p:spPr>
        <p:txBody>
          <a:bodyPr anchor="ctr"/>
          <a:lstStyle/>
          <a:p>
            <a:pPr algn="ctr" eaLnBrk="1" fontAlgn="auto" hangingPunct="1">
              <a:spcBef>
                <a:spcPts val="0"/>
              </a:spcBef>
              <a:spcAft>
                <a:spcPts val="0"/>
              </a:spcAft>
            </a:pPr>
            <a:r>
              <a:rPr lang="en-US" sz="900" kern="0" dirty="0">
                <a:solidFill>
                  <a:schemeClr val="bg1"/>
                </a:solidFill>
                <a:latin typeface="微软雅黑" panose="020B0503020204020204" pitchFamily="34" charset="-122"/>
                <a:ea typeface="微软雅黑" panose="020B0503020204020204" pitchFamily="34" charset="-122"/>
                <a:cs typeface="+mn-ea"/>
                <a:sym typeface="+mn-lt"/>
              </a:rPr>
              <a:t>1</a:t>
            </a:r>
          </a:p>
        </p:txBody>
      </p:sp>
      <p:cxnSp>
        <p:nvCxnSpPr>
          <p:cNvPr id="150" name="Straight Connector 30"/>
          <p:cNvCxnSpPr/>
          <p:nvPr/>
        </p:nvCxnSpPr>
        <p:spPr bwMode="auto">
          <a:xfrm>
            <a:off x="2365382" y="2392678"/>
            <a:ext cx="3298825" cy="0"/>
          </a:xfrm>
          <a:prstGeom prst="line">
            <a:avLst/>
          </a:prstGeom>
          <a:solidFill>
            <a:srgbClr val="529DD7"/>
          </a:solidFill>
          <a:ln w="12700" cap="flat" cmpd="sng" algn="ctr">
            <a:noFill/>
            <a:prstDash val="solid"/>
            <a:miter lim="800000"/>
          </a:ln>
          <a:effectLst/>
        </p:spPr>
      </p:cxnSp>
      <p:cxnSp>
        <p:nvCxnSpPr>
          <p:cNvPr id="151" name="Straight Connector 20"/>
          <p:cNvCxnSpPr/>
          <p:nvPr/>
        </p:nvCxnSpPr>
        <p:spPr bwMode="auto">
          <a:xfrm>
            <a:off x="2365382" y="5401387"/>
            <a:ext cx="3298825" cy="0"/>
          </a:xfrm>
          <a:prstGeom prst="line">
            <a:avLst/>
          </a:prstGeom>
          <a:noFill/>
          <a:ln w="3175" cap="flat" cmpd="sng" algn="ctr">
            <a:solidFill>
              <a:srgbClr val="267FC3"/>
            </a:solidFill>
            <a:prstDash val="dash"/>
            <a:miter lim="800000"/>
          </a:ln>
          <a:effectLst/>
        </p:spPr>
      </p:cxnSp>
      <p:cxnSp>
        <p:nvCxnSpPr>
          <p:cNvPr id="152" name="Straight Connector 21"/>
          <p:cNvCxnSpPr/>
          <p:nvPr/>
        </p:nvCxnSpPr>
        <p:spPr bwMode="auto">
          <a:xfrm>
            <a:off x="2365382" y="5025149"/>
            <a:ext cx="3298825" cy="0"/>
          </a:xfrm>
          <a:prstGeom prst="line">
            <a:avLst/>
          </a:prstGeom>
          <a:noFill/>
          <a:ln w="3175" cap="flat" cmpd="sng" algn="ctr">
            <a:solidFill>
              <a:srgbClr val="267FC3"/>
            </a:solidFill>
            <a:prstDash val="dash"/>
            <a:miter lim="800000"/>
          </a:ln>
          <a:effectLst/>
        </p:spPr>
      </p:cxnSp>
      <p:cxnSp>
        <p:nvCxnSpPr>
          <p:cNvPr id="154" name="Straight Connector 25"/>
          <p:cNvCxnSpPr/>
          <p:nvPr/>
        </p:nvCxnSpPr>
        <p:spPr bwMode="auto">
          <a:xfrm>
            <a:off x="2365382" y="4272674"/>
            <a:ext cx="3298825" cy="0"/>
          </a:xfrm>
          <a:prstGeom prst="line">
            <a:avLst/>
          </a:prstGeom>
          <a:noFill/>
          <a:ln w="3175" cap="flat" cmpd="sng" algn="ctr">
            <a:solidFill>
              <a:srgbClr val="267FC3"/>
            </a:solidFill>
            <a:prstDash val="dash"/>
            <a:miter lim="800000"/>
          </a:ln>
          <a:effectLst/>
        </p:spPr>
      </p:cxnSp>
      <p:cxnSp>
        <p:nvCxnSpPr>
          <p:cNvPr id="155" name="Straight Connector 26"/>
          <p:cNvCxnSpPr/>
          <p:nvPr/>
        </p:nvCxnSpPr>
        <p:spPr bwMode="auto">
          <a:xfrm>
            <a:off x="2365382" y="3896437"/>
            <a:ext cx="3298825" cy="0"/>
          </a:xfrm>
          <a:prstGeom prst="line">
            <a:avLst/>
          </a:prstGeom>
          <a:noFill/>
          <a:ln w="3175" cap="flat" cmpd="sng" algn="ctr">
            <a:solidFill>
              <a:srgbClr val="267FC3"/>
            </a:solidFill>
            <a:prstDash val="dash"/>
            <a:miter lim="800000"/>
          </a:ln>
          <a:effectLst/>
        </p:spPr>
      </p:cxnSp>
      <p:cxnSp>
        <p:nvCxnSpPr>
          <p:cNvPr id="156" name="Straight Connector 27"/>
          <p:cNvCxnSpPr/>
          <p:nvPr/>
        </p:nvCxnSpPr>
        <p:spPr bwMode="auto">
          <a:xfrm>
            <a:off x="2365382" y="3520199"/>
            <a:ext cx="3298825" cy="0"/>
          </a:xfrm>
          <a:prstGeom prst="line">
            <a:avLst/>
          </a:prstGeom>
          <a:noFill/>
          <a:ln w="3175" cap="flat" cmpd="sng" algn="ctr">
            <a:solidFill>
              <a:srgbClr val="267FC3"/>
            </a:solidFill>
            <a:prstDash val="dash"/>
            <a:miter lim="800000"/>
          </a:ln>
          <a:effectLst/>
        </p:spPr>
      </p:cxnSp>
      <p:cxnSp>
        <p:nvCxnSpPr>
          <p:cNvPr id="157" name="Straight Connector 28"/>
          <p:cNvCxnSpPr/>
          <p:nvPr/>
        </p:nvCxnSpPr>
        <p:spPr bwMode="auto">
          <a:xfrm>
            <a:off x="2365382" y="3143962"/>
            <a:ext cx="3298825" cy="0"/>
          </a:xfrm>
          <a:prstGeom prst="line">
            <a:avLst/>
          </a:prstGeom>
          <a:noFill/>
          <a:ln w="3175" cap="flat" cmpd="sng" algn="ctr">
            <a:solidFill>
              <a:srgbClr val="267FC3"/>
            </a:solidFill>
            <a:prstDash val="dash"/>
            <a:miter lim="800000"/>
          </a:ln>
          <a:effectLst/>
        </p:spPr>
      </p:cxnSp>
      <p:cxnSp>
        <p:nvCxnSpPr>
          <p:cNvPr id="159" name="Straight Connector 32"/>
          <p:cNvCxnSpPr/>
          <p:nvPr/>
        </p:nvCxnSpPr>
        <p:spPr bwMode="auto">
          <a:xfrm>
            <a:off x="2365382" y="2768915"/>
            <a:ext cx="3298825" cy="0"/>
          </a:xfrm>
          <a:prstGeom prst="line">
            <a:avLst/>
          </a:prstGeom>
          <a:noFill/>
          <a:ln w="3175" cap="flat" cmpd="sng" algn="ctr">
            <a:solidFill>
              <a:srgbClr val="267FC3"/>
            </a:solidFill>
            <a:prstDash val="dash"/>
            <a:miter lim="800000"/>
          </a:ln>
          <a:effectLst/>
        </p:spPr>
      </p:cxnSp>
      <p:sp>
        <p:nvSpPr>
          <p:cNvPr id="161" name="Rectangle 29"/>
          <p:cNvSpPr>
            <a:spLocks noChangeArrowheads="1"/>
          </p:cNvSpPr>
          <p:nvPr/>
        </p:nvSpPr>
        <p:spPr bwMode="auto">
          <a:xfrm>
            <a:off x="3275020" y="2329576"/>
            <a:ext cx="3070225" cy="241697"/>
          </a:xfrm>
          <a:prstGeom prst="rect">
            <a:avLst/>
          </a:prstGeom>
          <a:noFill/>
          <a:effectLst/>
        </p:spPr>
        <p:txBody>
          <a:bodyPr anchor="ctr"/>
          <a:lstStyle/>
          <a:p>
            <a:pPr algn="ctr" defTabSz="457200">
              <a:spcBef>
                <a:spcPct val="50000"/>
              </a:spcBef>
              <a:buFont typeface="Arial" panose="020B0604020202020204" pitchFamily="34" charset="0"/>
              <a:buNone/>
              <a:defRPr/>
            </a:pPr>
            <a:endParaRPr lang="zh-CN" altLang="en-US" sz="1275" b="1" dirty="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170" name="TextBox 58"/>
          <p:cNvSpPr txBox="1">
            <a:spLocks noChangeArrowheads="1"/>
          </p:cNvSpPr>
          <p:nvPr/>
        </p:nvSpPr>
        <p:spPr bwMode="auto">
          <a:xfrm>
            <a:off x="2805920" y="5451393"/>
            <a:ext cx="2289956" cy="275590"/>
          </a:xfrm>
          <a:prstGeom prst="rect">
            <a:avLst/>
          </a:prstGeom>
          <a:noFill/>
          <a:ln w="9525">
            <a:noFill/>
            <a:miter lim="800000"/>
          </a:ln>
        </p:spPr>
        <p:txBody>
          <a:bodyPr wrap="square">
            <a:spAutoFit/>
          </a:bodyPr>
          <a:lstStyle/>
          <a:p>
            <a:r>
              <a:rPr lang="zh-CN" altLang="en-US" sz="1200" dirty="0">
                <a:solidFill>
                  <a:srgbClr val="0A0B0B"/>
                </a:solidFill>
                <a:latin typeface="微软雅黑" panose="020B0503020204020204" pitchFamily="34" charset="-122"/>
                <a:ea typeface="微软雅黑" panose="020B0503020204020204" pitchFamily="34" charset="-122"/>
                <a:cs typeface="+mn-ea"/>
                <a:sym typeface="+mn-lt"/>
              </a:rPr>
              <a:t>商品</a:t>
            </a:r>
          </a:p>
        </p:txBody>
      </p:sp>
      <p:sp>
        <p:nvSpPr>
          <p:cNvPr id="171" name="矩形 49"/>
          <p:cNvSpPr>
            <a:spLocks noChangeArrowheads="1"/>
          </p:cNvSpPr>
          <p:nvPr/>
        </p:nvSpPr>
        <p:spPr bwMode="auto">
          <a:xfrm>
            <a:off x="2805920" y="2016133"/>
            <a:ext cx="1177290" cy="447040"/>
          </a:xfrm>
          <a:prstGeom prst="rect">
            <a:avLst/>
          </a:prstGeom>
          <a:noFill/>
          <a:ln w="9525">
            <a:noFill/>
            <a:miter lim="800000"/>
          </a:ln>
        </p:spPr>
        <p:txBody>
          <a:bodyPr wrap="none">
            <a:spAutoFit/>
          </a:bodyPr>
          <a:lstStyle/>
          <a:p>
            <a:pPr>
              <a:lnSpc>
                <a:spcPct val="193000"/>
              </a:lnSpc>
            </a:pPr>
            <a:r>
              <a:rPr lang="zh-CN" altLang="en-US"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拥有标准</a:t>
            </a:r>
            <a:r>
              <a:rPr lang="en-US" altLang="zh-CN"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专利</a:t>
            </a:r>
          </a:p>
        </p:txBody>
      </p:sp>
      <p:sp>
        <p:nvSpPr>
          <p:cNvPr id="172" name="矩形 50"/>
          <p:cNvSpPr>
            <a:spLocks noChangeArrowheads="1"/>
          </p:cNvSpPr>
          <p:nvPr/>
        </p:nvSpPr>
        <p:spPr bwMode="auto">
          <a:xfrm>
            <a:off x="2805920" y="2372121"/>
            <a:ext cx="1407160" cy="447040"/>
          </a:xfrm>
          <a:prstGeom prst="rect">
            <a:avLst/>
          </a:prstGeom>
          <a:noFill/>
          <a:ln w="9525">
            <a:noFill/>
            <a:miter lim="800000"/>
          </a:ln>
        </p:spPr>
        <p:txBody>
          <a:bodyPr wrap="none">
            <a:spAutoFit/>
          </a:bodyPr>
          <a:lstStyle/>
          <a:p>
            <a:pPr>
              <a:lnSpc>
                <a:spcPct val="193000"/>
              </a:lnSpc>
            </a:pPr>
            <a:r>
              <a:rPr lang="zh-CN" altLang="en-US" sz="1200" b="1" dirty="0">
                <a:solidFill>
                  <a:srgbClr val="0070C0"/>
                </a:solidFill>
                <a:latin typeface="微软雅黑" panose="020B0503020204020204" pitchFamily="34" charset="-122"/>
                <a:ea typeface="微软雅黑" panose="020B0503020204020204" pitchFamily="34" charset="-122"/>
                <a:cs typeface="+mn-ea"/>
                <a:sym typeface="+mn-lt"/>
              </a:rPr>
              <a:t>价值链粘性和控制</a:t>
            </a:r>
          </a:p>
        </p:txBody>
      </p:sp>
      <p:sp>
        <p:nvSpPr>
          <p:cNvPr id="173" name="矩形 51"/>
          <p:cNvSpPr>
            <a:spLocks noChangeArrowheads="1"/>
          </p:cNvSpPr>
          <p:nvPr/>
        </p:nvSpPr>
        <p:spPr bwMode="auto">
          <a:xfrm>
            <a:off x="2805920" y="2738843"/>
            <a:ext cx="1101090" cy="447040"/>
          </a:xfrm>
          <a:prstGeom prst="rect">
            <a:avLst/>
          </a:prstGeom>
          <a:noFill/>
          <a:ln w="9525">
            <a:noFill/>
            <a:miter lim="800000"/>
          </a:ln>
        </p:spPr>
        <p:txBody>
          <a:bodyPr wrap="none">
            <a:spAutoFit/>
          </a:bodyPr>
          <a:lstStyle/>
          <a:p>
            <a:pPr>
              <a:lnSpc>
                <a:spcPct val="193000"/>
              </a:lnSpc>
            </a:pPr>
            <a:r>
              <a:rPr lang="zh-CN" altLang="en-US" sz="1200" b="1" dirty="0">
                <a:solidFill>
                  <a:srgbClr val="0070C0"/>
                </a:solidFill>
                <a:latin typeface="微软雅黑" panose="020B0503020204020204" pitchFamily="34" charset="-122"/>
                <a:ea typeface="微软雅黑" panose="020B0503020204020204" pitchFamily="34" charset="-122"/>
                <a:cs typeface="+mn-ea"/>
                <a:sym typeface="+mn-lt"/>
              </a:rPr>
              <a:t>客户协同粘性</a:t>
            </a:r>
          </a:p>
        </p:txBody>
      </p:sp>
      <p:sp>
        <p:nvSpPr>
          <p:cNvPr id="174" name="矩形 52"/>
          <p:cNvSpPr>
            <a:spLocks noChangeArrowheads="1"/>
          </p:cNvSpPr>
          <p:nvPr/>
        </p:nvSpPr>
        <p:spPr bwMode="auto">
          <a:xfrm>
            <a:off x="2805920" y="3081761"/>
            <a:ext cx="1109662" cy="447040"/>
          </a:xfrm>
          <a:prstGeom prst="rect">
            <a:avLst/>
          </a:prstGeom>
          <a:noFill/>
          <a:ln w="9525">
            <a:noFill/>
            <a:miter lim="800000"/>
          </a:ln>
        </p:spPr>
        <p:txBody>
          <a:bodyPr anchor="ctr">
            <a:spAutoFit/>
          </a:bodyPr>
          <a:lstStyle/>
          <a:p>
            <a:pPr>
              <a:lnSpc>
                <a:spcPct val="193000"/>
              </a:lnSpc>
            </a:pPr>
            <a:r>
              <a:rPr lang="zh-CN" altLang="en-US" sz="1200" b="1" dirty="0">
                <a:solidFill>
                  <a:srgbClr val="0070C0"/>
                </a:solidFill>
                <a:latin typeface="微软雅黑" panose="020B0503020204020204" pitchFamily="34" charset="-122"/>
                <a:ea typeface="微软雅黑" panose="020B0503020204020204" pitchFamily="34" charset="-122"/>
                <a:cs typeface="+mn-ea"/>
                <a:sym typeface="+mn-lt"/>
              </a:rPr>
              <a:t>客户粘性</a:t>
            </a:r>
          </a:p>
        </p:txBody>
      </p:sp>
      <p:sp>
        <p:nvSpPr>
          <p:cNvPr id="175" name="TextBox 19"/>
          <p:cNvSpPr txBox="1">
            <a:spLocks noChangeArrowheads="1"/>
          </p:cNvSpPr>
          <p:nvPr/>
        </p:nvSpPr>
        <p:spPr bwMode="auto">
          <a:xfrm>
            <a:off x="2805920" y="3598780"/>
            <a:ext cx="1008062" cy="275590"/>
          </a:xfrm>
          <a:prstGeom prst="rect">
            <a:avLst/>
          </a:prstGeom>
          <a:noFill/>
          <a:ln w="9525">
            <a:noFill/>
            <a:miter lim="800000"/>
          </a:ln>
        </p:spPr>
        <p:txBody>
          <a:bodyPr>
            <a:spAutoFit/>
          </a:bodyPr>
          <a:lstStyle/>
          <a:p>
            <a:r>
              <a:rPr lang="zh-CN" altLang="en-US" sz="1200" b="1" dirty="0">
                <a:solidFill>
                  <a:srgbClr val="0070C0"/>
                </a:solidFill>
                <a:latin typeface="微软雅黑" panose="020B0503020204020204" pitchFamily="34" charset="-122"/>
                <a:ea typeface="微软雅黑" panose="020B0503020204020204" pitchFamily="34" charset="-122"/>
                <a:cs typeface="+mn-ea"/>
                <a:sym typeface="+mn-lt"/>
              </a:rPr>
              <a:t>品牌粘性</a:t>
            </a:r>
          </a:p>
        </p:txBody>
      </p:sp>
      <p:sp>
        <p:nvSpPr>
          <p:cNvPr id="176" name="TextBox 60"/>
          <p:cNvSpPr txBox="1">
            <a:spLocks noChangeArrowheads="1"/>
          </p:cNvSpPr>
          <p:nvPr/>
        </p:nvSpPr>
        <p:spPr bwMode="auto">
          <a:xfrm>
            <a:off x="2805920" y="3976208"/>
            <a:ext cx="2940513" cy="275590"/>
          </a:xfrm>
          <a:prstGeom prst="rect">
            <a:avLst/>
          </a:prstGeom>
          <a:noFill/>
          <a:ln w="9525">
            <a:noFill/>
            <a:miter lim="800000"/>
          </a:ln>
        </p:spPr>
        <p:txBody>
          <a:bodyPr wrap="square">
            <a:spAutoFit/>
          </a:bodyPr>
          <a:lstStyle/>
          <a:p>
            <a:r>
              <a:rPr lang="zh-CN" altLang="en-US"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技术领先（</a:t>
            </a:r>
            <a:r>
              <a:rPr lang="en-US" altLang="zh-CN"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ICT</a:t>
            </a:r>
            <a:r>
              <a:rPr lang="zh-CN" altLang="en-US"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，芯片</a:t>
            </a:r>
            <a:r>
              <a:rPr lang="en-US" altLang="zh-CN"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操作系统）</a:t>
            </a:r>
          </a:p>
        </p:txBody>
      </p:sp>
      <p:sp>
        <p:nvSpPr>
          <p:cNvPr id="177" name="矩形 22"/>
          <p:cNvSpPr>
            <a:spLocks noChangeArrowheads="1"/>
          </p:cNvSpPr>
          <p:nvPr/>
        </p:nvSpPr>
        <p:spPr bwMode="auto">
          <a:xfrm>
            <a:off x="2805920" y="4348874"/>
            <a:ext cx="2493466" cy="275590"/>
          </a:xfrm>
          <a:prstGeom prst="rect">
            <a:avLst/>
          </a:prstGeom>
          <a:noFill/>
          <a:ln w="9525">
            <a:noFill/>
            <a:miter lim="800000"/>
          </a:ln>
        </p:spPr>
        <p:txBody>
          <a:bodyPr wrap="square">
            <a:spAutoFit/>
          </a:bodyPr>
          <a:lstStyle/>
          <a:p>
            <a:r>
              <a:rPr lang="zh-CN" altLang="en-US" sz="1200" b="1" dirty="0">
                <a:solidFill>
                  <a:srgbClr val="0070C0"/>
                </a:solidFill>
                <a:latin typeface="微软雅黑" panose="020B0503020204020204" pitchFamily="34" charset="-122"/>
                <a:ea typeface="微软雅黑" panose="020B0503020204020204" pitchFamily="34" charset="-122"/>
                <a:cs typeface="+mn-ea"/>
                <a:sym typeface="+mn-lt"/>
              </a:rPr>
              <a:t>品质领先</a:t>
            </a:r>
          </a:p>
        </p:txBody>
      </p:sp>
      <p:sp>
        <p:nvSpPr>
          <p:cNvPr id="178" name="Title 1"/>
          <p:cNvSpPr txBox="1"/>
          <p:nvPr/>
        </p:nvSpPr>
        <p:spPr bwMode="auto">
          <a:xfrm>
            <a:off x="6002180" y="999680"/>
            <a:ext cx="3987165" cy="248841"/>
          </a:xfrm>
          <a:prstGeom prst="rect">
            <a:avLst/>
          </a:prstGeom>
          <a:solidFill>
            <a:srgbClr val="D4EAF5"/>
          </a:solidFill>
          <a:ln w="12700" cap="flat" cmpd="sng" algn="ctr">
            <a:noFill/>
            <a:prstDash val="solid"/>
            <a:miter lim="800000"/>
          </a:ln>
          <a:effectLst/>
        </p:spPr>
        <p:txBody>
          <a:bodyPr anchor="ctr"/>
          <a:lstStyle/>
          <a:p>
            <a:pPr marL="0" marR="0" lvl="0" indent="0" algn="ctr" defTabSz="457200" eaLnBrk="1" fontAlgn="auto" latinLnBrk="0" hangingPunct="1">
              <a:lnSpc>
                <a:spcPct val="106000"/>
              </a:lnSpc>
              <a:spcBef>
                <a:spcPts val="0"/>
              </a:spcBef>
              <a:spcAft>
                <a:spcPts val="0"/>
              </a:spcAft>
              <a:buClrTx/>
              <a:buSzTx/>
              <a:buFont typeface="Arial" panose="020B0604020202020204" pitchFamily="34" charset="0"/>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例子</a:t>
            </a:r>
          </a:p>
        </p:txBody>
      </p:sp>
      <p:sp>
        <p:nvSpPr>
          <p:cNvPr id="179" name="Text Box 8"/>
          <p:cNvSpPr txBox="1">
            <a:spLocks noChangeArrowheads="1"/>
          </p:cNvSpPr>
          <p:nvPr/>
        </p:nvSpPr>
        <p:spPr bwMode="auto">
          <a:xfrm>
            <a:off x="2805920" y="5077537"/>
            <a:ext cx="2098674" cy="275590"/>
          </a:xfrm>
          <a:prstGeom prst="rect">
            <a:avLst/>
          </a:prstGeom>
          <a:noFill/>
          <a:ln w="9525">
            <a:noFill/>
            <a:miter lim="800000"/>
          </a:ln>
        </p:spPr>
        <p:txBody>
          <a:bodyPr>
            <a:spAutoFit/>
          </a:bodyPr>
          <a:lstStyle/>
          <a:p>
            <a:r>
              <a:rPr lang="zh-CN" altLang="en-US" sz="1200" dirty="0">
                <a:solidFill>
                  <a:srgbClr val="0A0B0B"/>
                </a:solidFill>
                <a:latin typeface="微软雅黑" panose="020B0503020204020204" pitchFamily="34" charset="-122"/>
                <a:ea typeface="微软雅黑" panose="020B0503020204020204" pitchFamily="34" charset="-122"/>
                <a:cs typeface="+mn-ea"/>
                <a:sym typeface="+mn-lt"/>
              </a:rPr>
              <a:t>具有平均成本</a:t>
            </a:r>
          </a:p>
        </p:txBody>
      </p:sp>
      <p:sp>
        <p:nvSpPr>
          <p:cNvPr id="180" name="矩形 22"/>
          <p:cNvSpPr>
            <a:spLocks noChangeArrowheads="1"/>
          </p:cNvSpPr>
          <p:nvPr/>
        </p:nvSpPr>
        <p:spPr bwMode="auto">
          <a:xfrm>
            <a:off x="2805920" y="4720349"/>
            <a:ext cx="2198687" cy="275590"/>
          </a:xfrm>
          <a:prstGeom prst="rect">
            <a:avLst/>
          </a:prstGeom>
          <a:noFill/>
          <a:ln w="9525">
            <a:noFill/>
            <a:miter lim="800000"/>
          </a:ln>
        </p:spPr>
        <p:txBody>
          <a:bodyPr>
            <a:spAutoFit/>
          </a:bodyPr>
          <a:lstStyle/>
          <a:p>
            <a:r>
              <a:rPr lang="zh-CN" altLang="en-US"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规模和</a:t>
            </a:r>
            <a:r>
              <a:rPr lang="ko-KR" altLang="en-US"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20% </a:t>
            </a:r>
            <a:r>
              <a:rPr lang="zh-CN" altLang="en-US"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成本优势</a:t>
            </a:r>
          </a:p>
        </p:txBody>
      </p:sp>
      <p:sp>
        <p:nvSpPr>
          <p:cNvPr id="181" name="Title 1"/>
          <p:cNvSpPr txBox="1"/>
          <p:nvPr/>
        </p:nvSpPr>
        <p:spPr bwMode="auto">
          <a:xfrm>
            <a:off x="2191667" y="1001442"/>
            <a:ext cx="3588104" cy="248841"/>
          </a:xfrm>
          <a:prstGeom prst="rect">
            <a:avLst/>
          </a:prstGeom>
          <a:solidFill>
            <a:srgbClr val="D4EAF5"/>
          </a:solidFill>
          <a:ln w="12700" cap="flat" cmpd="sng" algn="ctr">
            <a:noFill/>
            <a:prstDash val="solid"/>
            <a:miter lim="800000"/>
          </a:ln>
          <a:effectLst/>
        </p:spPr>
        <p:txBody>
          <a:bodyPr anchor="ctr"/>
          <a:lstStyle/>
          <a:p>
            <a:pPr marL="0" marR="0" lvl="0" indent="0" algn="ctr" defTabSz="457200" eaLnBrk="1" fontAlgn="auto" latinLnBrk="0" hangingPunct="1">
              <a:lnSpc>
                <a:spcPct val="100000"/>
              </a:lnSpc>
              <a:spcBef>
                <a:spcPct val="50000"/>
              </a:spcBef>
              <a:spcAft>
                <a:spcPts val="0"/>
              </a:spcAft>
              <a:buClrTx/>
              <a:buSzTx/>
              <a:buFont typeface="Arial" panose="020B0604020202020204" pitchFamily="34" charset="0"/>
              <a:buNone/>
              <a:defRPr/>
            </a:pP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战略控制 </a:t>
            </a:r>
            <a:r>
              <a:rPr kumimoji="0" lang="zh-CN" altLang="zh-CN"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 </a:t>
            </a:r>
            <a:r>
              <a:rPr kumimoji="0" lang="zh-CN" altLang="en-US" sz="1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战略控制系数</a:t>
            </a:r>
          </a:p>
        </p:txBody>
      </p:sp>
      <p:cxnSp>
        <p:nvCxnSpPr>
          <p:cNvPr id="182" name="Straight Connector 32"/>
          <p:cNvCxnSpPr/>
          <p:nvPr/>
        </p:nvCxnSpPr>
        <p:spPr bwMode="auto">
          <a:xfrm>
            <a:off x="2403482" y="2392678"/>
            <a:ext cx="3298825" cy="0"/>
          </a:xfrm>
          <a:prstGeom prst="line">
            <a:avLst/>
          </a:prstGeom>
          <a:noFill/>
          <a:ln w="3175" cap="flat" cmpd="sng" algn="ctr">
            <a:solidFill>
              <a:srgbClr val="267FC3"/>
            </a:solidFill>
            <a:prstDash val="dash"/>
            <a:miter lim="800000"/>
          </a:ln>
          <a:effectLst/>
        </p:spPr>
      </p:cxnSp>
      <p:sp>
        <p:nvSpPr>
          <p:cNvPr id="183" name="Rounded Rectangle 5"/>
          <p:cNvSpPr/>
          <p:nvPr/>
        </p:nvSpPr>
        <p:spPr>
          <a:xfrm>
            <a:off x="6002179" y="1337991"/>
            <a:ext cx="3977640" cy="4439633"/>
          </a:xfrm>
          <a:prstGeom prst="roundRect">
            <a:avLst>
              <a:gd name="adj" fmla="val 0"/>
            </a:avLst>
          </a:prstGeom>
          <a:noFill/>
          <a:ln w="3175" cap="flat" cmpd="sng" algn="ctr">
            <a:solidFill>
              <a:schemeClr val="bg1">
                <a:lumMod val="85000"/>
              </a:schemeClr>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en-US" sz="135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cxnSp>
        <p:nvCxnSpPr>
          <p:cNvPr id="184" name="Straight Connector 36"/>
          <p:cNvCxnSpPr/>
          <p:nvPr/>
        </p:nvCxnSpPr>
        <p:spPr bwMode="auto">
          <a:xfrm>
            <a:off x="6125528" y="5384718"/>
            <a:ext cx="3475196" cy="0"/>
          </a:xfrm>
          <a:prstGeom prst="line">
            <a:avLst/>
          </a:prstGeom>
          <a:noFill/>
          <a:ln w="3175" cap="flat" cmpd="sng" algn="ctr">
            <a:solidFill>
              <a:srgbClr val="267FC3"/>
            </a:solidFill>
            <a:prstDash val="dash"/>
            <a:miter lim="800000"/>
          </a:ln>
          <a:effectLst/>
        </p:spPr>
      </p:cxnSp>
      <p:cxnSp>
        <p:nvCxnSpPr>
          <p:cNvPr id="185" name="Straight Connector 37"/>
          <p:cNvCxnSpPr/>
          <p:nvPr/>
        </p:nvCxnSpPr>
        <p:spPr bwMode="auto">
          <a:xfrm>
            <a:off x="6125528" y="5008480"/>
            <a:ext cx="3475196" cy="0"/>
          </a:xfrm>
          <a:prstGeom prst="line">
            <a:avLst/>
          </a:prstGeom>
          <a:noFill/>
          <a:ln w="3175" cap="flat" cmpd="sng" algn="ctr">
            <a:solidFill>
              <a:srgbClr val="267FC3"/>
            </a:solidFill>
            <a:prstDash val="dash"/>
            <a:miter lim="800000"/>
          </a:ln>
          <a:effectLst/>
        </p:spPr>
      </p:cxnSp>
      <p:cxnSp>
        <p:nvCxnSpPr>
          <p:cNvPr id="186" name="Straight Connector 38"/>
          <p:cNvCxnSpPr/>
          <p:nvPr/>
        </p:nvCxnSpPr>
        <p:spPr bwMode="auto">
          <a:xfrm>
            <a:off x="6125528" y="4632243"/>
            <a:ext cx="3475196" cy="0"/>
          </a:xfrm>
          <a:prstGeom prst="line">
            <a:avLst/>
          </a:prstGeom>
          <a:noFill/>
          <a:ln w="3175" cap="flat" cmpd="sng" algn="ctr">
            <a:solidFill>
              <a:srgbClr val="267FC3"/>
            </a:solidFill>
            <a:prstDash val="dash"/>
            <a:miter lim="800000"/>
          </a:ln>
          <a:effectLst/>
        </p:spPr>
      </p:cxnSp>
      <p:cxnSp>
        <p:nvCxnSpPr>
          <p:cNvPr id="187" name="Straight Connector 39"/>
          <p:cNvCxnSpPr/>
          <p:nvPr/>
        </p:nvCxnSpPr>
        <p:spPr bwMode="auto">
          <a:xfrm>
            <a:off x="6125528" y="4256005"/>
            <a:ext cx="3475196" cy="0"/>
          </a:xfrm>
          <a:prstGeom prst="line">
            <a:avLst/>
          </a:prstGeom>
          <a:noFill/>
          <a:ln w="3175" cap="flat" cmpd="sng" algn="ctr">
            <a:solidFill>
              <a:srgbClr val="267FC3"/>
            </a:solidFill>
            <a:prstDash val="dash"/>
            <a:miter lim="800000"/>
          </a:ln>
          <a:effectLst/>
        </p:spPr>
      </p:cxnSp>
      <p:cxnSp>
        <p:nvCxnSpPr>
          <p:cNvPr id="188" name="Straight Connector 40"/>
          <p:cNvCxnSpPr/>
          <p:nvPr/>
        </p:nvCxnSpPr>
        <p:spPr bwMode="auto">
          <a:xfrm>
            <a:off x="6125528" y="3881197"/>
            <a:ext cx="3475196" cy="0"/>
          </a:xfrm>
          <a:prstGeom prst="line">
            <a:avLst/>
          </a:prstGeom>
          <a:noFill/>
          <a:ln w="3175" cap="flat" cmpd="sng" algn="ctr">
            <a:solidFill>
              <a:srgbClr val="267FC3"/>
            </a:solidFill>
            <a:prstDash val="dash"/>
            <a:miter lim="800000"/>
          </a:ln>
          <a:effectLst/>
        </p:spPr>
      </p:cxnSp>
      <p:cxnSp>
        <p:nvCxnSpPr>
          <p:cNvPr id="189" name="Straight Connector 41"/>
          <p:cNvCxnSpPr/>
          <p:nvPr/>
        </p:nvCxnSpPr>
        <p:spPr bwMode="auto">
          <a:xfrm>
            <a:off x="6125528" y="3504959"/>
            <a:ext cx="3475196" cy="0"/>
          </a:xfrm>
          <a:prstGeom prst="line">
            <a:avLst/>
          </a:prstGeom>
          <a:noFill/>
          <a:ln w="3175" cap="flat" cmpd="sng" algn="ctr">
            <a:solidFill>
              <a:srgbClr val="267FC3"/>
            </a:solidFill>
            <a:prstDash val="dash"/>
            <a:miter lim="800000"/>
          </a:ln>
          <a:effectLst/>
        </p:spPr>
      </p:cxnSp>
      <p:cxnSp>
        <p:nvCxnSpPr>
          <p:cNvPr id="190" name="Straight Connector 42"/>
          <p:cNvCxnSpPr/>
          <p:nvPr/>
        </p:nvCxnSpPr>
        <p:spPr bwMode="auto">
          <a:xfrm>
            <a:off x="6125528" y="3128722"/>
            <a:ext cx="3475196" cy="0"/>
          </a:xfrm>
          <a:prstGeom prst="line">
            <a:avLst/>
          </a:prstGeom>
          <a:noFill/>
          <a:ln w="3175" cap="flat" cmpd="sng" algn="ctr">
            <a:solidFill>
              <a:srgbClr val="267FC3"/>
            </a:solidFill>
            <a:prstDash val="dash"/>
            <a:miter lim="800000"/>
          </a:ln>
          <a:effectLst/>
        </p:spPr>
      </p:cxnSp>
      <p:cxnSp>
        <p:nvCxnSpPr>
          <p:cNvPr id="191" name="Straight Connector 43"/>
          <p:cNvCxnSpPr/>
          <p:nvPr/>
        </p:nvCxnSpPr>
        <p:spPr bwMode="auto">
          <a:xfrm>
            <a:off x="6125528" y="2376247"/>
            <a:ext cx="3475196" cy="0"/>
          </a:xfrm>
          <a:prstGeom prst="line">
            <a:avLst/>
          </a:prstGeom>
          <a:noFill/>
          <a:ln w="3175" cap="flat" cmpd="sng" algn="ctr">
            <a:solidFill>
              <a:srgbClr val="267FC3"/>
            </a:solidFill>
            <a:prstDash val="dash"/>
            <a:miter lim="800000"/>
          </a:ln>
          <a:effectLst/>
        </p:spPr>
      </p:cxnSp>
      <p:cxnSp>
        <p:nvCxnSpPr>
          <p:cNvPr id="192" name="Straight Connector 45"/>
          <p:cNvCxnSpPr/>
          <p:nvPr/>
        </p:nvCxnSpPr>
        <p:spPr bwMode="auto">
          <a:xfrm>
            <a:off x="6125528" y="2752484"/>
            <a:ext cx="3475196" cy="0"/>
          </a:xfrm>
          <a:prstGeom prst="line">
            <a:avLst/>
          </a:prstGeom>
          <a:noFill/>
          <a:ln w="3175" cap="flat" cmpd="sng" algn="ctr">
            <a:solidFill>
              <a:srgbClr val="267FC3"/>
            </a:solidFill>
            <a:prstDash val="dash"/>
            <a:miter lim="800000"/>
          </a:ln>
          <a:effectLst/>
        </p:spPr>
      </p:cxnSp>
      <p:sp>
        <p:nvSpPr>
          <p:cNvPr id="193" name="Text Box 13"/>
          <p:cNvSpPr txBox="1">
            <a:spLocks noChangeArrowheads="1"/>
          </p:cNvSpPr>
          <p:nvPr/>
        </p:nvSpPr>
        <p:spPr bwMode="auto">
          <a:xfrm>
            <a:off x="6138077" y="2096223"/>
            <a:ext cx="1375410" cy="264160"/>
          </a:xfrm>
          <a:prstGeom prst="rect">
            <a:avLst/>
          </a:prstGeom>
          <a:noFill/>
          <a:ln w="9525">
            <a:noFill/>
            <a:miter lim="800000"/>
          </a:ln>
        </p:spPr>
        <p:txBody>
          <a:bodyPr wrap="none" lIns="80019" tIns="40009" rIns="80019" bIns="40009">
            <a:spAutoFit/>
          </a:bodyPr>
          <a:lstStyle/>
          <a:p>
            <a:pPr defTabSz="1066800" eaLnBrk="0" hangingPunct="0"/>
            <a:r>
              <a:rPr lang="zh-CN" altLang="en-US" sz="1200" dirty="0">
                <a:solidFill>
                  <a:srgbClr val="0A0B0B"/>
                </a:solidFill>
                <a:latin typeface="微软雅黑" panose="020B0503020204020204" pitchFamily="34" charset="-122"/>
                <a:ea typeface="微软雅黑" panose="020B0503020204020204" pitchFamily="34" charset="-122"/>
                <a:cs typeface="微软雅黑" panose="020B0503020204020204" pitchFamily="34" charset="-122"/>
                <a:sym typeface="+mn-lt"/>
              </a:rPr>
              <a:t>高通，</a:t>
            </a:r>
            <a:r>
              <a:rPr lang="en-US" altLang="zh-CN" sz="1200" dirty="0">
                <a:solidFill>
                  <a:srgbClr val="0A0B0B"/>
                </a:solidFill>
                <a:latin typeface="微软雅黑" panose="020B0503020204020204" pitchFamily="34" charset="-122"/>
                <a:ea typeface="微软雅黑" panose="020B0503020204020204" pitchFamily="34" charset="-122"/>
                <a:cs typeface="微软雅黑" panose="020B0503020204020204" pitchFamily="34" charset="-122"/>
                <a:sym typeface="+mn-lt"/>
              </a:rPr>
              <a:t>ARM</a:t>
            </a:r>
            <a:r>
              <a:rPr lang="zh-CN" altLang="en-US" sz="1200" dirty="0">
                <a:solidFill>
                  <a:srgbClr val="0A0B0B"/>
                </a:solidFill>
                <a:latin typeface="微软雅黑" panose="020B0503020204020204" pitchFamily="34" charset="-122"/>
                <a:ea typeface="微软雅黑" panose="020B0503020204020204" pitchFamily="34" charset="-122"/>
                <a:cs typeface="微软雅黑" panose="020B0503020204020204" pitchFamily="34" charset="-122"/>
                <a:sym typeface="+mn-lt"/>
              </a:rPr>
              <a:t>，华为</a:t>
            </a:r>
            <a:endParaRPr lang="zh-CN" altLang="zh-CN" sz="1050" dirty="0">
              <a:solidFill>
                <a:srgbClr val="0A0B0B"/>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194" name="Text Box 14"/>
          <p:cNvSpPr txBox="1">
            <a:spLocks noChangeArrowheads="1"/>
          </p:cNvSpPr>
          <p:nvPr/>
        </p:nvSpPr>
        <p:spPr bwMode="auto">
          <a:xfrm>
            <a:off x="6147594" y="2452210"/>
            <a:ext cx="1379220" cy="264160"/>
          </a:xfrm>
          <a:prstGeom prst="rect">
            <a:avLst/>
          </a:prstGeom>
          <a:noFill/>
          <a:ln w="9525">
            <a:noFill/>
            <a:miter lim="800000"/>
          </a:ln>
        </p:spPr>
        <p:txBody>
          <a:bodyPr wrap="none" lIns="80019" tIns="40009" rIns="80019" bIns="40009">
            <a:spAutoFit/>
          </a:bodyPr>
          <a:lstStyle/>
          <a:p>
            <a:pPr defTabSz="1066800" eaLnBrk="0" hangingPunct="0"/>
            <a:r>
              <a:rPr lang="zh-CN" altLang="en-US" sz="1200" dirty="0">
                <a:solidFill>
                  <a:srgbClr val="0A0B0B"/>
                </a:solidFill>
                <a:latin typeface="微软雅黑" panose="020B0503020204020204" pitchFamily="34" charset="-122"/>
                <a:ea typeface="微软雅黑" panose="020B0503020204020204" pitchFamily="34" charset="-122"/>
                <a:cs typeface="+mn-ea"/>
                <a:sym typeface="+mn-lt"/>
              </a:rPr>
              <a:t>苹果，微软、谷歌</a:t>
            </a:r>
          </a:p>
        </p:txBody>
      </p:sp>
      <p:sp>
        <p:nvSpPr>
          <p:cNvPr id="195" name="Text Box 15"/>
          <p:cNvSpPr txBox="1">
            <a:spLocks noChangeArrowheads="1"/>
          </p:cNvSpPr>
          <p:nvPr/>
        </p:nvSpPr>
        <p:spPr bwMode="auto">
          <a:xfrm>
            <a:off x="6147601" y="2818932"/>
            <a:ext cx="2498090" cy="264160"/>
          </a:xfrm>
          <a:prstGeom prst="rect">
            <a:avLst/>
          </a:prstGeom>
          <a:noFill/>
          <a:ln w="9525">
            <a:noFill/>
            <a:miter lim="800000"/>
          </a:ln>
        </p:spPr>
        <p:txBody>
          <a:bodyPr wrap="none" lIns="80019" tIns="40009" rIns="80019" bIns="40009">
            <a:spAutoFit/>
          </a:bodyPr>
          <a:lstStyle/>
          <a:p>
            <a:pPr defTabSz="1066800" eaLnBrk="0" hangingPunct="0"/>
            <a:r>
              <a:rPr lang="zh-CN" altLang="en-US" sz="1200" dirty="0">
                <a:solidFill>
                  <a:srgbClr val="0A0B0B"/>
                </a:solidFill>
                <a:latin typeface="微软雅黑" panose="020B0503020204020204" pitchFamily="34" charset="-122"/>
                <a:ea typeface="微软雅黑" panose="020B0503020204020204" pitchFamily="34" charset="-122"/>
                <a:cs typeface="微软雅黑" panose="020B0503020204020204" pitchFamily="34" charset="-122"/>
                <a:sym typeface="+mn-lt"/>
              </a:rPr>
              <a:t>腾讯（</a:t>
            </a:r>
            <a:r>
              <a:rPr lang="en-US" altLang="zh-CN" sz="1200" dirty="0">
                <a:solidFill>
                  <a:srgbClr val="0A0B0B"/>
                </a:solidFill>
                <a:latin typeface="微软雅黑" panose="020B0503020204020204" pitchFamily="34" charset="-122"/>
                <a:ea typeface="微软雅黑" panose="020B0503020204020204" pitchFamily="34" charset="-122"/>
                <a:cs typeface="微软雅黑" panose="020B0503020204020204" pitchFamily="34" charset="-122"/>
                <a:sym typeface="+mn-lt"/>
              </a:rPr>
              <a:t>QQ</a:t>
            </a:r>
            <a:r>
              <a:rPr lang="zh-CN" altLang="en-US" sz="1200" dirty="0">
                <a:solidFill>
                  <a:srgbClr val="0A0B0B"/>
                </a:solidFill>
                <a:latin typeface="微软雅黑" panose="020B0503020204020204" pitchFamily="34" charset="-122"/>
                <a:ea typeface="微软雅黑" panose="020B0503020204020204" pitchFamily="34" charset="-122"/>
                <a:cs typeface="微软雅黑" panose="020B0503020204020204" pitchFamily="34" charset="-122"/>
                <a:sym typeface="+mn-lt"/>
              </a:rPr>
              <a:t>、微信）、亚马逊、华为</a:t>
            </a:r>
            <a:endParaRPr lang="zh-CN" altLang="zh-CN" sz="1200" dirty="0">
              <a:solidFill>
                <a:srgbClr val="0A0B0B"/>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196" name="Text Box 16"/>
          <p:cNvSpPr txBox="1">
            <a:spLocks noChangeArrowheads="1"/>
          </p:cNvSpPr>
          <p:nvPr/>
        </p:nvSpPr>
        <p:spPr bwMode="auto">
          <a:xfrm>
            <a:off x="6153952" y="3953591"/>
            <a:ext cx="1887220" cy="264160"/>
          </a:xfrm>
          <a:prstGeom prst="rect">
            <a:avLst/>
          </a:prstGeom>
          <a:noFill/>
          <a:ln w="9525">
            <a:noFill/>
            <a:miter lim="800000"/>
          </a:ln>
        </p:spPr>
        <p:txBody>
          <a:bodyPr wrap="none" lIns="80019" tIns="40009" rIns="80019" bIns="40009">
            <a:spAutoFit/>
          </a:bodyPr>
          <a:lstStyle/>
          <a:p>
            <a:pPr defTabSz="1066800" eaLnBrk="0" hangingPunct="0"/>
            <a:r>
              <a:rPr lang="zh-CN" altLang="en-US" sz="1200" dirty="0">
                <a:solidFill>
                  <a:srgbClr val="0A0B0B"/>
                </a:solidFill>
                <a:latin typeface="微软雅黑" panose="020B0503020204020204" pitchFamily="34" charset="-122"/>
                <a:ea typeface="微软雅黑" panose="020B0503020204020204" pitchFamily="34" charset="-122"/>
                <a:cs typeface="微软雅黑" panose="020B0503020204020204" pitchFamily="34" charset="-122"/>
                <a:sym typeface="+mn-lt"/>
              </a:rPr>
              <a:t>谷歌、</a:t>
            </a:r>
            <a:r>
              <a:rPr lang="en-US" altLang="zh-CN" sz="1200" dirty="0">
                <a:solidFill>
                  <a:srgbClr val="0A0B0B"/>
                </a:solidFill>
                <a:latin typeface="微软雅黑" panose="020B0503020204020204" pitchFamily="34" charset="-122"/>
                <a:ea typeface="微软雅黑" panose="020B0503020204020204" pitchFamily="34" charset="-122"/>
                <a:cs typeface="微软雅黑" panose="020B0503020204020204" pitchFamily="34" charset="-122"/>
                <a:sym typeface="+mn-lt"/>
              </a:rPr>
              <a:t>Intel</a:t>
            </a:r>
            <a:r>
              <a:rPr lang="zh-CN" altLang="en-US" sz="1200" dirty="0">
                <a:solidFill>
                  <a:srgbClr val="0A0B0B"/>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en-US" altLang="zh-CN" sz="1200" dirty="0">
                <a:solidFill>
                  <a:srgbClr val="0A0B0B"/>
                </a:solidFill>
                <a:latin typeface="微软雅黑" panose="020B0503020204020204" pitchFamily="34" charset="-122"/>
                <a:ea typeface="微软雅黑" panose="020B0503020204020204" pitchFamily="34" charset="-122"/>
                <a:cs typeface="微软雅黑" panose="020B0503020204020204" pitchFamily="34" charset="-122"/>
                <a:sym typeface="+mn-lt"/>
              </a:rPr>
              <a:t>FAB</a:t>
            </a:r>
            <a:r>
              <a:rPr lang="zh-CN" altLang="en-US" sz="1200" dirty="0">
                <a:solidFill>
                  <a:srgbClr val="0A0B0B"/>
                </a:solidFill>
                <a:latin typeface="微软雅黑" panose="020B0503020204020204" pitchFamily="34" charset="-122"/>
                <a:ea typeface="微软雅黑" panose="020B0503020204020204" pitchFamily="34" charset="-122"/>
                <a:cs typeface="微软雅黑" panose="020B0503020204020204" pitchFamily="34" charset="-122"/>
                <a:sym typeface="+mn-lt"/>
              </a:rPr>
              <a:t>）、华为</a:t>
            </a:r>
            <a:endParaRPr lang="zh-CN" altLang="zh-CN" sz="1200" dirty="0">
              <a:solidFill>
                <a:srgbClr val="0A0B0B"/>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197" name="Text Box 17"/>
          <p:cNvSpPr txBox="1">
            <a:spLocks noChangeArrowheads="1"/>
          </p:cNvSpPr>
          <p:nvPr/>
        </p:nvSpPr>
        <p:spPr bwMode="auto">
          <a:xfrm>
            <a:off x="6147594" y="4322692"/>
            <a:ext cx="1379220" cy="264160"/>
          </a:xfrm>
          <a:prstGeom prst="rect">
            <a:avLst/>
          </a:prstGeom>
          <a:noFill/>
          <a:ln w="9525">
            <a:noFill/>
            <a:miter lim="800000"/>
          </a:ln>
        </p:spPr>
        <p:txBody>
          <a:bodyPr wrap="none" lIns="80019" tIns="40009" rIns="80019" bIns="40009">
            <a:spAutoFit/>
          </a:bodyPr>
          <a:lstStyle/>
          <a:p>
            <a:pPr defTabSz="1066800"/>
            <a:r>
              <a:rPr lang="zh-CN" altLang="en-US" sz="1200" dirty="0">
                <a:solidFill>
                  <a:srgbClr val="0A0B0B"/>
                </a:solidFill>
                <a:latin typeface="微软雅黑" panose="020B0503020204020204" pitchFamily="34" charset="-122"/>
                <a:ea typeface="微软雅黑" panose="020B0503020204020204" pitchFamily="34" charset="-122"/>
                <a:cs typeface="+mn-ea"/>
                <a:sym typeface="+mn-lt"/>
              </a:rPr>
              <a:t>大金、格力、华为</a:t>
            </a:r>
          </a:p>
        </p:txBody>
      </p:sp>
      <p:sp>
        <p:nvSpPr>
          <p:cNvPr id="198" name="Text Box 18"/>
          <p:cNvSpPr txBox="1">
            <a:spLocks noChangeArrowheads="1"/>
          </p:cNvSpPr>
          <p:nvPr/>
        </p:nvSpPr>
        <p:spPr bwMode="auto">
          <a:xfrm>
            <a:off x="6179351" y="5064451"/>
            <a:ext cx="922020" cy="264160"/>
          </a:xfrm>
          <a:prstGeom prst="rect">
            <a:avLst/>
          </a:prstGeom>
          <a:noFill/>
          <a:ln w="9525">
            <a:noFill/>
            <a:miter lim="800000"/>
          </a:ln>
        </p:spPr>
        <p:txBody>
          <a:bodyPr wrap="none" lIns="80019" tIns="40009" rIns="80019" bIns="40009">
            <a:spAutoFit/>
          </a:bodyPr>
          <a:lstStyle/>
          <a:p>
            <a:pPr defTabSz="1066800"/>
            <a:r>
              <a:rPr lang="zh-CN" altLang="zh-CN" sz="1200" dirty="0">
                <a:solidFill>
                  <a:srgbClr val="0A0B0B"/>
                </a:solidFill>
                <a:latin typeface="微软雅黑" panose="020B0503020204020204" pitchFamily="34" charset="-122"/>
                <a:ea typeface="微软雅黑" panose="020B0503020204020204" pitchFamily="34" charset="-122"/>
                <a:cs typeface="+mn-ea"/>
                <a:sym typeface="+mn-lt"/>
              </a:rPr>
              <a:t>无数</a:t>
            </a:r>
            <a:r>
              <a:rPr lang="zh-CN" altLang="en-US" sz="1200" dirty="0">
                <a:solidFill>
                  <a:srgbClr val="0A0B0B"/>
                </a:solidFill>
                <a:latin typeface="微软雅黑" panose="020B0503020204020204" pitchFamily="34" charset="-122"/>
                <a:ea typeface="微软雅黑" panose="020B0503020204020204" pitchFamily="34" charset="-122"/>
                <a:cs typeface="+mn-ea"/>
                <a:sym typeface="+mn-lt"/>
              </a:rPr>
              <a:t>、华为</a:t>
            </a:r>
            <a:endParaRPr lang="zh-CN" altLang="zh-CN" sz="1200" dirty="0">
              <a:solidFill>
                <a:srgbClr val="0A0B0B"/>
              </a:solidFill>
              <a:latin typeface="微软雅黑" panose="020B0503020204020204" pitchFamily="34" charset="-122"/>
              <a:ea typeface="微软雅黑" panose="020B0503020204020204" pitchFamily="34" charset="-122"/>
              <a:cs typeface="+mn-ea"/>
              <a:sym typeface="+mn-lt"/>
            </a:endParaRPr>
          </a:p>
        </p:txBody>
      </p:sp>
      <p:sp>
        <p:nvSpPr>
          <p:cNvPr id="199" name="Text Box 19"/>
          <p:cNvSpPr txBox="1">
            <a:spLocks noChangeArrowheads="1"/>
          </p:cNvSpPr>
          <p:nvPr/>
        </p:nvSpPr>
        <p:spPr bwMode="auto">
          <a:xfrm>
            <a:off x="6153944" y="3586879"/>
            <a:ext cx="922020" cy="264160"/>
          </a:xfrm>
          <a:prstGeom prst="rect">
            <a:avLst/>
          </a:prstGeom>
          <a:noFill/>
          <a:ln w="9525">
            <a:noFill/>
            <a:miter lim="800000"/>
          </a:ln>
        </p:spPr>
        <p:txBody>
          <a:bodyPr wrap="none" lIns="80019" tIns="40009" rIns="80019" bIns="40009">
            <a:spAutoFit/>
          </a:bodyPr>
          <a:lstStyle/>
          <a:p>
            <a:pPr defTabSz="1066800" eaLnBrk="0" hangingPunct="0"/>
            <a:r>
              <a:rPr lang="zh-CN" altLang="en-US" sz="1200" dirty="0">
                <a:solidFill>
                  <a:srgbClr val="0A0B0B"/>
                </a:solidFill>
                <a:latin typeface="微软雅黑" panose="020B0503020204020204" pitchFamily="34" charset="-122"/>
                <a:ea typeface="微软雅黑" panose="020B0503020204020204" pitchFamily="34" charset="-122"/>
                <a:cs typeface="+mn-ea"/>
                <a:sym typeface="+mn-lt"/>
              </a:rPr>
              <a:t>苹果</a:t>
            </a:r>
            <a:r>
              <a:rPr lang="zh-CN" altLang="zh-CN" sz="1200" dirty="0">
                <a:solidFill>
                  <a:srgbClr val="0A0B0B"/>
                </a:solidFill>
                <a:latin typeface="微软雅黑" panose="020B0503020204020204" pitchFamily="34" charset="-122"/>
                <a:ea typeface="微软雅黑" panose="020B0503020204020204" pitchFamily="34" charset="-122"/>
                <a:cs typeface="+mn-ea"/>
                <a:sym typeface="+mn-lt"/>
              </a:rPr>
              <a:t>、华为</a:t>
            </a:r>
          </a:p>
        </p:txBody>
      </p:sp>
      <p:sp>
        <p:nvSpPr>
          <p:cNvPr id="200" name="Text Box 20"/>
          <p:cNvSpPr txBox="1">
            <a:spLocks noChangeArrowheads="1"/>
          </p:cNvSpPr>
          <p:nvPr/>
        </p:nvSpPr>
        <p:spPr bwMode="auto">
          <a:xfrm>
            <a:off x="6147594" y="3236842"/>
            <a:ext cx="1016000" cy="264160"/>
          </a:xfrm>
          <a:prstGeom prst="rect">
            <a:avLst/>
          </a:prstGeom>
          <a:noFill/>
          <a:ln w="9525">
            <a:noFill/>
            <a:miter lim="800000"/>
          </a:ln>
        </p:spPr>
        <p:txBody>
          <a:bodyPr wrap="none" lIns="80019" tIns="40009" rIns="80019" bIns="40009">
            <a:spAutoFit/>
          </a:bodyPr>
          <a:lstStyle/>
          <a:p>
            <a:pPr defTabSz="1066800" eaLnBrk="0" hangingPunct="0"/>
            <a:r>
              <a:rPr lang="en-US" altLang="zh-CN" sz="1200" dirty="0">
                <a:solidFill>
                  <a:srgbClr val="0A0B0B"/>
                </a:solidFill>
                <a:latin typeface="微软雅黑" panose="020B0503020204020204" pitchFamily="34" charset="-122"/>
                <a:ea typeface="微软雅黑" panose="020B0503020204020204" pitchFamily="34" charset="-122"/>
                <a:cs typeface="微软雅黑" panose="020B0503020204020204" pitchFamily="34" charset="-122"/>
                <a:sym typeface="+mn-lt"/>
              </a:rPr>
              <a:t>Oracle</a:t>
            </a:r>
            <a:r>
              <a:rPr lang="zh-CN" altLang="en-US" sz="1200" dirty="0">
                <a:solidFill>
                  <a:srgbClr val="0A0B0B"/>
                </a:solidFill>
                <a:latin typeface="微软雅黑" panose="020B0503020204020204" pitchFamily="34" charset="-122"/>
                <a:ea typeface="微软雅黑" panose="020B0503020204020204" pitchFamily="34" charset="-122"/>
                <a:cs typeface="微软雅黑" panose="020B0503020204020204" pitchFamily="34" charset="-122"/>
                <a:sym typeface="+mn-lt"/>
              </a:rPr>
              <a:t>、华为</a:t>
            </a:r>
          </a:p>
        </p:txBody>
      </p:sp>
      <p:sp>
        <p:nvSpPr>
          <p:cNvPr id="201" name="Text Box 17"/>
          <p:cNvSpPr txBox="1">
            <a:spLocks noChangeArrowheads="1"/>
          </p:cNvSpPr>
          <p:nvPr/>
        </p:nvSpPr>
        <p:spPr bwMode="auto">
          <a:xfrm>
            <a:off x="6166652" y="4716789"/>
            <a:ext cx="1074420" cy="264160"/>
          </a:xfrm>
          <a:prstGeom prst="rect">
            <a:avLst/>
          </a:prstGeom>
          <a:noFill/>
          <a:ln w="9525">
            <a:noFill/>
            <a:miter lim="800000"/>
          </a:ln>
        </p:spPr>
        <p:txBody>
          <a:bodyPr wrap="none" lIns="80019" tIns="40009" rIns="80019" bIns="40009">
            <a:spAutoFit/>
          </a:bodyPr>
          <a:lstStyle/>
          <a:p>
            <a:pPr defTabSz="1066800"/>
            <a:r>
              <a:rPr lang="zh-CN" altLang="en-US" sz="1200" dirty="0">
                <a:solidFill>
                  <a:srgbClr val="0A0B0B"/>
                </a:solidFill>
                <a:latin typeface="微软雅黑" panose="020B0503020204020204" pitchFamily="34" charset="-122"/>
                <a:ea typeface="微软雅黑" panose="020B0503020204020204" pitchFamily="34" charset="-122"/>
                <a:cs typeface="+mn-ea"/>
                <a:sym typeface="+mn-lt"/>
              </a:rPr>
              <a:t>富士康、华为</a:t>
            </a:r>
          </a:p>
        </p:txBody>
      </p:sp>
      <p:sp>
        <p:nvSpPr>
          <p:cNvPr id="202" name="Text Box 18"/>
          <p:cNvSpPr txBox="1">
            <a:spLocks noChangeArrowheads="1"/>
          </p:cNvSpPr>
          <p:nvPr/>
        </p:nvSpPr>
        <p:spPr bwMode="auto">
          <a:xfrm>
            <a:off x="6174589" y="5481169"/>
            <a:ext cx="922020" cy="264160"/>
          </a:xfrm>
          <a:prstGeom prst="rect">
            <a:avLst/>
          </a:prstGeom>
          <a:noFill/>
          <a:ln w="9525">
            <a:noFill/>
            <a:miter lim="800000"/>
          </a:ln>
        </p:spPr>
        <p:txBody>
          <a:bodyPr wrap="none" lIns="80019" tIns="40009" rIns="80019" bIns="40009">
            <a:spAutoFit/>
          </a:bodyPr>
          <a:lstStyle/>
          <a:p>
            <a:pPr defTabSz="1066800"/>
            <a:r>
              <a:rPr lang="zh-CN" altLang="zh-CN" sz="1200" dirty="0">
                <a:solidFill>
                  <a:srgbClr val="0A0B0B"/>
                </a:solidFill>
                <a:latin typeface="微软雅黑" panose="020B0503020204020204" pitchFamily="34" charset="-122"/>
                <a:ea typeface="微软雅黑" panose="020B0503020204020204" pitchFamily="34" charset="-122"/>
                <a:cs typeface="+mn-ea"/>
                <a:sym typeface="+mn-lt"/>
              </a:rPr>
              <a:t>无数</a:t>
            </a:r>
            <a:r>
              <a:rPr lang="zh-CN" altLang="en-US" sz="1200" dirty="0">
                <a:solidFill>
                  <a:srgbClr val="0A0B0B"/>
                </a:solidFill>
                <a:latin typeface="微软雅黑" panose="020B0503020204020204" pitchFamily="34" charset="-122"/>
                <a:ea typeface="微软雅黑" panose="020B0503020204020204" pitchFamily="34" charset="-122"/>
                <a:cs typeface="+mn-ea"/>
                <a:sym typeface="+mn-lt"/>
              </a:rPr>
              <a:t>、华为</a:t>
            </a:r>
            <a:endParaRPr lang="zh-CN" altLang="zh-CN" sz="1200" dirty="0">
              <a:solidFill>
                <a:srgbClr val="0A0B0B"/>
              </a:solidFill>
              <a:latin typeface="微软雅黑" panose="020B0503020204020204" pitchFamily="34" charset="-122"/>
              <a:ea typeface="微软雅黑" panose="020B0503020204020204" pitchFamily="34" charset="-122"/>
              <a:cs typeface="+mn-ea"/>
              <a:sym typeface="+mn-lt"/>
            </a:endParaRPr>
          </a:p>
        </p:txBody>
      </p:sp>
      <p:cxnSp>
        <p:nvCxnSpPr>
          <p:cNvPr id="3" name="Straight Connector 25"/>
          <p:cNvCxnSpPr/>
          <p:nvPr/>
        </p:nvCxnSpPr>
        <p:spPr bwMode="auto">
          <a:xfrm>
            <a:off x="2365382" y="4632243"/>
            <a:ext cx="3298825" cy="0"/>
          </a:xfrm>
          <a:prstGeom prst="line">
            <a:avLst/>
          </a:prstGeom>
          <a:noFill/>
          <a:ln w="3175" cap="flat" cmpd="sng" algn="ctr">
            <a:solidFill>
              <a:srgbClr val="267FC3"/>
            </a:solidFill>
            <a:prstDash val="dash"/>
            <a:miter lim="800000"/>
          </a:ln>
          <a:effectLst/>
        </p:spPr>
      </p:cxnSp>
      <p:sp>
        <p:nvSpPr>
          <p:cNvPr id="2" name="标题 1"/>
          <p:cNvSpPr txBox="1"/>
          <p:nvPr/>
        </p:nvSpPr>
        <p:spPr>
          <a:xfrm>
            <a:off x="434194" y="350183"/>
            <a:ext cx="8940800" cy="34353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en-US" altLang="zh-CN"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dirty="0">
                <a:solidFill>
                  <a:srgbClr val="0070C0"/>
                </a:solidFill>
                <a:latin typeface="微软雅黑" panose="020B0503020204020204" pitchFamily="34" charset="-122"/>
                <a:ea typeface="微软雅黑" panose="020B0503020204020204" pitchFamily="34" charset="-122"/>
                <a:cs typeface="+mn-ea"/>
                <a:sym typeface="+mn-lt"/>
              </a:rPr>
              <a:t>战略中最关键的一页</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dirty="0">
                <a:solidFill>
                  <a:srgbClr val="0070C0"/>
                </a:solidFill>
                <a:latin typeface="微软雅黑" panose="020B0503020204020204" pitchFamily="34" charset="-122"/>
                <a:ea typeface="微软雅黑" panose="020B0503020204020204" pitchFamily="34" charset="-122"/>
                <a:cs typeface="+mn-ea"/>
                <a:sym typeface="+mn-lt"/>
              </a:rPr>
              <a:t>业务设计—性价比是最低的战略控制点</a:t>
            </a:r>
          </a:p>
        </p:txBody>
      </p:sp>
      <p:sp>
        <p:nvSpPr>
          <p:cNvPr id="58" name="Rectangle 3"/>
          <p:cNvSpPr txBox="1">
            <a:spLocks noChangeArrowheads="1"/>
          </p:cNvSpPr>
          <p:nvPr/>
        </p:nvSpPr>
        <p:spPr bwMode="auto">
          <a:xfrm>
            <a:off x="1524000" y="6296074"/>
            <a:ext cx="8991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1800" b="1" dirty="0">
                <a:solidFill>
                  <a:schemeClr val="bg1"/>
                </a:solidFill>
                <a:effectLst/>
                <a:latin typeface="微软雅黑" panose="020B0503020204020204" pitchFamily="34" charset="-122"/>
                <a:ea typeface="微软雅黑" panose="020B0503020204020204" pitchFamily="34" charset="-122"/>
              </a:rPr>
              <a:t>创业必然从老少边穷缝隙市场起步，但</a:t>
            </a:r>
            <a:r>
              <a:rPr lang="zh-CN" altLang="en-US" sz="1800" b="1" dirty="0">
                <a:solidFill>
                  <a:srgbClr val="FCC78C"/>
                </a:solidFill>
                <a:effectLst/>
                <a:latin typeface="微软雅黑" panose="020B0503020204020204" pitchFamily="34" charset="-122"/>
                <a:ea typeface="微软雅黑" panose="020B0503020204020204" pitchFamily="34" charset="-122"/>
              </a:rPr>
              <a:t>心中要有阳春白雪：战略制高点</a:t>
            </a:r>
            <a:r>
              <a:rPr lang="en-US" altLang="zh-CN" sz="1800" b="1" dirty="0">
                <a:solidFill>
                  <a:srgbClr val="FCC78C"/>
                </a:solidFill>
                <a:effectLst/>
                <a:latin typeface="微软雅黑" panose="020B0503020204020204" pitchFamily="34" charset="-122"/>
                <a:ea typeface="微软雅黑" panose="020B0503020204020204" pitchFamily="34" charset="-122"/>
              </a:rPr>
              <a:t>+</a:t>
            </a:r>
            <a:r>
              <a:rPr lang="zh-CN" altLang="en-US" sz="1800" b="1" dirty="0">
                <a:solidFill>
                  <a:srgbClr val="FCC78C"/>
                </a:solidFill>
                <a:effectLst/>
                <a:latin typeface="微软雅黑" panose="020B0503020204020204" pitchFamily="34" charset="-122"/>
                <a:ea typeface="微软雅黑" panose="020B0503020204020204" pitchFamily="34" charset="-122"/>
              </a:rPr>
              <a:t>战略控制点！</a:t>
            </a:r>
          </a:p>
        </p:txBody>
      </p:sp>
      <p:sp>
        <p:nvSpPr>
          <p:cNvPr id="59" name="Rounded Rectangle 6"/>
          <p:cNvSpPr/>
          <p:nvPr/>
        </p:nvSpPr>
        <p:spPr>
          <a:xfrm>
            <a:off x="2372995" y="1722755"/>
            <a:ext cx="362585" cy="194945"/>
          </a:xfrm>
          <a:prstGeom prst="roundRect">
            <a:avLst>
              <a:gd name="adj" fmla="val 9722"/>
            </a:avLst>
          </a:prstGeom>
          <a:solidFill>
            <a:srgbClr val="C00000"/>
          </a:solidFill>
          <a:ln w="3175" cap="flat" cmpd="sng" algn="ctr">
            <a:noFill/>
            <a:prstDash val="solid"/>
            <a:miter lim="800000"/>
          </a:ln>
          <a:effectLst/>
        </p:spPr>
        <p:txBody>
          <a:bodyPr anchor="ct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r>
              <a:rPr kumimoji="0" lang="en-US" sz="9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11</a:t>
            </a:r>
          </a:p>
        </p:txBody>
      </p:sp>
      <p:cxnSp>
        <p:nvCxnSpPr>
          <p:cNvPr id="60" name="Straight Connector 30"/>
          <p:cNvCxnSpPr/>
          <p:nvPr/>
        </p:nvCxnSpPr>
        <p:spPr bwMode="auto">
          <a:xfrm>
            <a:off x="2372819" y="2009820"/>
            <a:ext cx="3298825" cy="0"/>
          </a:xfrm>
          <a:prstGeom prst="line">
            <a:avLst/>
          </a:prstGeom>
          <a:solidFill>
            <a:srgbClr val="529DD7"/>
          </a:solidFill>
          <a:ln w="12700" cap="flat" cmpd="sng" algn="ctr">
            <a:noFill/>
            <a:prstDash val="solid"/>
            <a:miter lim="800000"/>
          </a:ln>
          <a:effectLst/>
        </p:spPr>
      </p:cxnSp>
      <p:sp>
        <p:nvSpPr>
          <p:cNvPr id="61" name="矩形 49"/>
          <p:cNvSpPr>
            <a:spLocks noChangeArrowheads="1"/>
          </p:cNvSpPr>
          <p:nvPr/>
        </p:nvSpPr>
        <p:spPr bwMode="auto">
          <a:xfrm>
            <a:off x="2813357" y="1633275"/>
            <a:ext cx="1868170" cy="447040"/>
          </a:xfrm>
          <a:prstGeom prst="rect">
            <a:avLst/>
          </a:prstGeom>
          <a:noFill/>
          <a:ln w="9525">
            <a:noFill/>
            <a:miter lim="800000"/>
          </a:ln>
        </p:spPr>
        <p:txBody>
          <a:bodyPr wrap="none">
            <a:spAutoFit/>
          </a:bodyPr>
          <a:lstStyle/>
          <a:p>
            <a:pPr>
              <a:lnSpc>
                <a:spcPct val="193000"/>
              </a:lnSpc>
            </a:pPr>
            <a:r>
              <a:rPr lang="zh-CN" altLang="en-US"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拥有先进管理：领先</a:t>
            </a:r>
            <a:r>
              <a:rPr lang="en-US" altLang="zh-CN"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10</a:t>
            </a:r>
            <a:r>
              <a:rPr lang="zh-CN" altLang="en-US"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年</a:t>
            </a:r>
          </a:p>
        </p:txBody>
      </p:sp>
      <p:cxnSp>
        <p:nvCxnSpPr>
          <p:cNvPr id="62" name="Straight Connector 32"/>
          <p:cNvCxnSpPr/>
          <p:nvPr/>
        </p:nvCxnSpPr>
        <p:spPr bwMode="auto">
          <a:xfrm>
            <a:off x="2372819" y="2009820"/>
            <a:ext cx="3298825" cy="0"/>
          </a:xfrm>
          <a:prstGeom prst="line">
            <a:avLst/>
          </a:prstGeom>
          <a:noFill/>
          <a:ln w="3175" cap="flat" cmpd="sng" algn="ctr">
            <a:solidFill>
              <a:srgbClr val="267FC3"/>
            </a:solidFill>
            <a:prstDash val="dash"/>
            <a:miter lim="800000"/>
          </a:ln>
          <a:effectLst/>
        </p:spPr>
      </p:cxnSp>
      <p:cxnSp>
        <p:nvCxnSpPr>
          <p:cNvPr id="63" name="Straight Connector 43"/>
          <p:cNvCxnSpPr/>
          <p:nvPr/>
        </p:nvCxnSpPr>
        <p:spPr bwMode="auto">
          <a:xfrm>
            <a:off x="6132965" y="1993389"/>
            <a:ext cx="3475196" cy="0"/>
          </a:xfrm>
          <a:prstGeom prst="line">
            <a:avLst/>
          </a:prstGeom>
          <a:noFill/>
          <a:ln w="3175" cap="flat" cmpd="sng" algn="ctr">
            <a:solidFill>
              <a:srgbClr val="267FC3"/>
            </a:solidFill>
            <a:prstDash val="dash"/>
            <a:miter lim="800000"/>
          </a:ln>
          <a:effectLst/>
        </p:spPr>
      </p:cxnSp>
      <p:sp>
        <p:nvSpPr>
          <p:cNvPr id="64" name="Text Box 13"/>
          <p:cNvSpPr txBox="1">
            <a:spLocks noChangeArrowheads="1"/>
          </p:cNvSpPr>
          <p:nvPr/>
        </p:nvSpPr>
        <p:spPr bwMode="auto">
          <a:xfrm>
            <a:off x="6145514" y="1713365"/>
            <a:ext cx="1836420" cy="264160"/>
          </a:xfrm>
          <a:prstGeom prst="rect">
            <a:avLst/>
          </a:prstGeom>
          <a:noFill/>
          <a:ln w="9525">
            <a:noFill/>
            <a:miter lim="800000"/>
          </a:ln>
        </p:spPr>
        <p:txBody>
          <a:bodyPr wrap="none" lIns="80019" tIns="40009" rIns="80019" bIns="40009">
            <a:spAutoFit/>
          </a:bodyPr>
          <a:lstStyle/>
          <a:p>
            <a:pPr defTabSz="1066800" eaLnBrk="0" hangingPunct="0"/>
            <a:r>
              <a:rPr lang="zh-CN" altLang="en-US" sz="1200" dirty="0">
                <a:solidFill>
                  <a:srgbClr val="0A0B0B"/>
                </a:solidFill>
                <a:latin typeface="微软雅黑" panose="020B0503020204020204" pitchFamily="34" charset="-122"/>
                <a:ea typeface="微软雅黑" panose="020B0503020204020204" pitchFamily="34" charset="-122"/>
                <a:cs typeface="+mn-ea"/>
                <a:sym typeface="+mn-lt"/>
              </a:rPr>
              <a:t>难度比技术领先大很多！</a:t>
            </a:r>
          </a:p>
        </p:txBody>
      </p:sp>
      <p:sp>
        <p:nvSpPr>
          <p:cNvPr id="65" name="Rounded Rectangle 6"/>
          <p:cNvSpPr/>
          <p:nvPr/>
        </p:nvSpPr>
        <p:spPr>
          <a:xfrm>
            <a:off x="2379980" y="1373505"/>
            <a:ext cx="355600" cy="260350"/>
          </a:xfrm>
          <a:prstGeom prst="roundRect">
            <a:avLst>
              <a:gd name="adj" fmla="val 9722"/>
            </a:avLst>
          </a:prstGeom>
          <a:solidFill>
            <a:srgbClr val="C00000"/>
          </a:solidFill>
          <a:ln w="3175" cap="flat" cmpd="sng" algn="ctr">
            <a:noFill/>
            <a:prstDash val="solid"/>
            <a:miter lim="800000"/>
          </a:ln>
          <a:effectLst/>
        </p:spPr>
        <p:txBody>
          <a:bodyPr anchor="ct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r>
              <a:rPr kumimoji="0" lang="en-US" sz="9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12</a:t>
            </a:r>
          </a:p>
        </p:txBody>
      </p:sp>
      <p:cxnSp>
        <p:nvCxnSpPr>
          <p:cNvPr id="66" name="Straight Connector 30"/>
          <p:cNvCxnSpPr/>
          <p:nvPr/>
        </p:nvCxnSpPr>
        <p:spPr bwMode="auto">
          <a:xfrm>
            <a:off x="2380256" y="1660414"/>
            <a:ext cx="3298825" cy="0"/>
          </a:xfrm>
          <a:prstGeom prst="line">
            <a:avLst/>
          </a:prstGeom>
          <a:solidFill>
            <a:srgbClr val="529DD7"/>
          </a:solidFill>
          <a:ln w="12700" cap="flat" cmpd="sng" algn="ctr">
            <a:noFill/>
            <a:prstDash val="solid"/>
            <a:miter lim="800000"/>
          </a:ln>
          <a:effectLst/>
        </p:spPr>
      </p:cxnSp>
      <p:sp>
        <p:nvSpPr>
          <p:cNvPr id="67" name="矩形 49"/>
          <p:cNvSpPr>
            <a:spLocks noChangeArrowheads="1"/>
          </p:cNvSpPr>
          <p:nvPr/>
        </p:nvSpPr>
        <p:spPr bwMode="auto">
          <a:xfrm>
            <a:off x="2820794" y="1283869"/>
            <a:ext cx="2631440" cy="447040"/>
          </a:xfrm>
          <a:prstGeom prst="rect">
            <a:avLst/>
          </a:prstGeom>
          <a:noFill/>
          <a:ln w="9525">
            <a:noFill/>
            <a:miter lim="800000"/>
          </a:ln>
        </p:spPr>
        <p:txBody>
          <a:bodyPr wrap="none">
            <a:spAutoFit/>
          </a:bodyPr>
          <a:lstStyle/>
          <a:p>
            <a:pPr>
              <a:lnSpc>
                <a:spcPct val="193000"/>
              </a:lnSpc>
            </a:pPr>
            <a:r>
              <a:rPr lang="zh-CN" altLang="en-US" sz="1200" b="1" dirty="0">
                <a:solidFill>
                  <a:srgbClr val="0070C0"/>
                </a:solidFill>
                <a:latin typeface="微软雅黑" panose="020B0503020204020204" pitchFamily="34" charset="-122"/>
                <a:ea typeface="微软雅黑" panose="020B0503020204020204" pitchFamily="34" charset="-122"/>
                <a:cs typeface="+mn-ea"/>
                <a:sym typeface="+mn-lt"/>
              </a:rPr>
              <a:t>拥有强大组织活力：下一代激励机制</a:t>
            </a:r>
          </a:p>
        </p:txBody>
      </p:sp>
      <p:cxnSp>
        <p:nvCxnSpPr>
          <p:cNvPr id="68" name="Straight Connector 32"/>
          <p:cNvCxnSpPr/>
          <p:nvPr/>
        </p:nvCxnSpPr>
        <p:spPr bwMode="auto">
          <a:xfrm>
            <a:off x="2380256" y="1660414"/>
            <a:ext cx="3298825" cy="0"/>
          </a:xfrm>
          <a:prstGeom prst="line">
            <a:avLst/>
          </a:prstGeom>
          <a:noFill/>
          <a:ln w="3175" cap="flat" cmpd="sng" algn="ctr">
            <a:solidFill>
              <a:srgbClr val="267FC3"/>
            </a:solidFill>
            <a:prstDash val="dash"/>
            <a:miter lim="800000"/>
          </a:ln>
          <a:effectLst/>
        </p:spPr>
      </p:cxnSp>
      <p:cxnSp>
        <p:nvCxnSpPr>
          <p:cNvPr id="69" name="Straight Connector 43"/>
          <p:cNvCxnSpPr/>
          <p:nvPr/>
        </p:nvCxnSpPr>
        <p:spPr bwMode="auto">
          <a:xfrm>
            <a:off x="6140402" y="1643983"/>
            <a:ext cx="3475196" cy="0"/>
          </a:xfrm>
          <a:prstGeom prst="line">
            <a:avLst/>
          </a:prstGeom>
          <a:noFill/>
          <a:ln w="3175" cap="flat" cmpd="sng" algn="ctr">
            <a:solidFill>
              <a:srgbClr val="267FC3"/>
            </a:solidFill>
            <a:prstDash val="dash"/>
            <a:miter lim="800000"/>
          </a:ln>
          <a:effectLst/>
        </p:spPr>
      </p:cxnSp>
      <p:sp>
        <p:nvSpPr>
          <p:cNvPr id="70" name="Text Box 13"/>
          <p:cNvSpPr txBox="1">
            <a:spLocks noChangeArrowheads="1"/>
          </p:cNvSpPr>
          <p:nvPr/>
        </p:nvSpPr>
        <p:spPr bwMode="auto">
          <a:xfrm>
            <a:off x="6152951" y="1363959"/>
            <a:ext cx="1626870" cy="402590"/>
          </a:xfrm>
          <a:prstGeom prst="rect">
            <a:avLst/>
          </a:prstGeom>
          <a:noFill/>
          <a:ln w="9525">
            <a:noFill/>
            <a:miter lim="800000"/>
          </a:ln>
        </p:spPr>
        <p:txBody>
          <a:bodyPr wrap="none" lIns="80019" tIns="40009" rIns="80019" bIns="40009">
            <a:spAutoFit/>
          </a:bodyPr>
          <a:lstStyle/>
          <a:p>
            <a:pPr defTabSz="1066800"/>
            <a:r>
              <a:rPr lang="zh-CN" altLang="en-US" sz="1050" dirty="0">
                <a:solidFill>
                  <a:srgbClr val="0A0B0B"/>
                </a:solidFill>
                <a:latin typeface="微软雅黑" panose="020B0503020204020204" pitchFamily="34" charset="-122"/>
                <a:ea typeface="微软雅黑" panose="020B0503020204020204" pitchFamily="34" charset="-122"/>
                <a:cs typeface="+mn-ea"/>
                <a:sym typeface="+mn-lt"/>
              </a:rPr>
              <a:t>难度比技术领先大很多！</a:t>
            </a:r>
            <a:endParaRPr lang="zh-CN" altLang="zh-CN" sz="900" dirty="0">
              <a:solidFill>
                <a:srgbClr val="0A0B0B"/>
              </a:solidFill>
              <a:latin typeface="微软雅黑" panose="020B0503020204020204" pitchFamily="34" charset="-122"/>
              <a:ea typeface="微软雅黑" panose="020B0503020204020204" pitchFamily="34" charset="-122"/>
              <a:cs typeface="+mn-ea"/>
              <a:sym typeface="+mn-lt"/>
            </a:endParaRPr>
          </a:p>
          <a:p>
            <a:pPr defTabSz="1066800" eaLnBrk="0" hangingPunct="0"/>
            <a:endParaRPr lang="zh-CN" altLang="zh-CN" sz="1050" dirty="0">
              <a:solidFill>
                <a:srgbClr val="0A0B0B"/>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3005"/>
            <a:ext cx="12206605" cy="522605"/>
          </a:xfrm>
          <a:prstGeom prst="rect">
            <a:avLst/>
          </a:prstGeom>
        </p:spPr>
      </p:pic>
      <p:graphicFrame>
        <p:nvGraphicFramePr>
          <p:cNvPr id="4" name="内容占位符 3"/>
          <p:cNvGraphicFramePr>
            <a:graphicFrameLocks noGrp="1"/>
          </p:cNvGraphicFramePr>
          <p:nvPr>
            <p:ph idx="4294967295"/>
            <p:extLst>
              <p:ext uri="{D42A27DB-BD31-4B8C-83A1-F6EECF244321}">
                <p14:modId xmlns:p14="http://schemas.microsoft.com/office/powerpoint/2010/main" val="1315763782"/>
              </p:ext>
            </p:extLst>
          </p:nvPr>
        </p:nvGraphicFramePr>
        <p:xfrm>
          <a:off x="1101213" y="1491124"/>
          <a:ext cx="9055100" cy="4459605"/>
        </p:xfrm>
        <a:graphic>
          <a:graphicData uri="http://schemas.openxmlformats.org/drawingml/2006/table">
            <a:tbl>
              <a:tblPr firstRow="1" bandRow="1">
                <a:tableStyleId>{5C22544A-7EE6-4342-B048-85BDC9FD1C3A}</a:tableStyleId>
              </a:tblPr>
              <a:tblGrid>
                <a:gridCol w="1811020">
                  <a:extLst>
                    <a:ext uri="{9D8B030D-6E8A-4147-A177-3AD203B41FA5}">
                      <a16:colId xmlns:a16="http://schemas.microsoft.com/office/drawing/2014/main" val="20000"/>
                    </a:ext>
                  </a:extLst>
                </a:gridCol>
                <a:gridCol w="1811020">
                  <a:extLst>
                    <a:ext uri="{9D8B030D-6E8A-4147-A177-3AD203B41FA5}">
                      <a16:colId xmlns:a16="http://schemas.microsoft.com/office/drawing/2014/main" val="20001"/>
                    </a:ext>
                  </a:extLst>
                </a:gridCol>
                <a:gridCol w="1811020">
                  <a:extLst>
                    <a:ext uri="{9D8B030D-6E8A-4147-A177-3AD203B41FA5}">
                      <a16:colId xmlns:a16="http://schemas.microsoft.com/office/drawing/2014/main" val="20002"/>
                    </a:ext>
                  </a:extLst>
                </a:gridCol>
                <a:gridCol w="1811020">
                  <a:extLst>
                    <a:ext uri="{9D8B030D-6E8A-4147-A177-3AD203B41FA5}">
                      <a16:colId xmlns:a16="http://schemas.microsoft.com/office/drawing/2014/main" val="20003"/>
                    </a:ext>
                  </a:extLst>
                </a:gridCol>
                <a:gridCol w="1811020">
                  <a:extLst>
                    <a:ext uri="{9D8B030D-6E8A-4147-A177-3AD203B41FA5}">
                      <a16:colId xmlns:a16="http://schemas.microsoft.com/office/drawing/2014/main" val="20004"/>
                    </a:ext>
                  </a:extLst>
                </a:gridCol>
              </a:tblGrid>
              <a:tr h="544830">
                <a:tc>
                  <a:txBody>
                    <a:bodyPr/>
                    <a:lstStyle/>
                    <a:p>
                      <a:pPr algn="ctr">
                        <a:buNone/>
                      </a:pPr>
                      <a:r>
                        <a:rPr lang="zh-CN" altLang="en-US" sz="1350" dirty="0">
                          <a:solidFill>
                            <a:schemeClr val="bg1"/>
                          </a:solidFill>
                          <a:latin typeface="微软雅黑" panose="020B0503020204020204" pitchFamily="34" charset="-122"/>
                          <a:ea typeface="微软雅黑" panose="020B0503020204020204" pitchFamily="34" charset="-122"/>
                        </a:rPr>
                        <a:t>规避</a:t>
                      </a:r>
                    </a:p>
                  </a:txBody>
                  <a:tcPr marL="68580" marR="68580" marT="34290" marB="34290" anchor="ctr">
                    <a:lnL w="12700" cmpd="sng">
                      <a:noFill/>
                    </a:lnL>
                    <a:lnR w="12700" cap="flat" cmpd="sng" algn="ctr">
                      <a:solidFill>
                        <a:schemeClr val="bg1">
                          <a:lumMod val="75000"/>
                        </a:schemeClr>
                      </a:solidFill>
                      <a:prstDash val="solid"/>
                      <a:round/>
                      <a:headEnd type="none" w="med" len="med"/>
                      <a:tailEnd type="none" w="med" len="med"/>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buNone/>
                      </a:pPr>
                      <a:r>
                        <a:rPr lang="zh-CN" altLang="en-US" sz="1350" dirty="0">
                          <a:solidFill>
                            <a:schemeClr val="bg1"/>
                          </a:solidFill>
                          <a:latin typeface="微软雅黑" panose="020B0503020204020204" pitchFamily="34" charset="-122"/>
                          <a:ea typeface="微软雅黑" panose="020B0503020204020204" pitchFamily="34" charset="-122"/>
                        </a:rPr>
                        <a:t>承受</a:t>
                      </a:r>
                    </a:p>
                  </a:txBody>
                  <a:tcPr marL="68580" marR="68580" marT="34290" marB="3429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buNone/>
                      </a:pPr>
                      <a:r>
                        <a:rPr lang="zh-CN" altLang="en-US" sz="2800" dirty="0">
                          <a:solidFill>
                            <a:srgbClr val="FCC78C"/>
                          </a:solidFill>
                          <a:latin typeface="微软雅黑" panose="020B0503020204020204" pitchFamily="34" charset="-122"/>
                          <a:ea typeface="微软雅黑" panose="020B0503020204020204" pitchFamily="34" charset="-122"/>
                        </a:rPr>
                        <a:t>利用</a:t>
                      </a:r>
                    </a:p>
                  </a:txBody>
                  <a:tcPr marL="68580" marR="68580" marT="34290" marB="3429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buNone/>
                      </a:pPr>
                      <a:r>
                        <a:rPr lang="zh-CN" altLang="en-US" sz="1350" dirty="0">
                          <a:solidFill>
                            <a:schemeClr val="bg1"/>
                          </a:solidFill>
                          <a:latin typeface="微软雅黑" panose="020B0503020204020204" pitchFamily="34" charset="-122"/>
                          <a:ea typeface="微软雅黑" panose="020B0503020204020204" pitchFamily="34" charset="-122"/>
                        </a:rPr>
                        <a:t>减小</a:t>
                      </a:r>
                    </a:p>
                  </a:txBody>
                  <a:tcPr marL="68580" marR="68580" marT="34290" marB="3429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buNone/>
                      </a:pPr>
                      <a:r>
                        <a:rPr lang="zh-CN" altLang="en-US" sz="1350" dirty="0">
                          <a:solidFill>
                            <a:schemeClr val="bg1"/>
                          </a:solidFill>
                          <a:latin typeface="微软雅黑" panose="020B0503020204020204" pitchFamily="34" charset="-122"/>
                          <a:ea typeface="微软雅黑" panose="020B0503020204020204" pitchFamily="34" charset="-122"/>
                        </a:rPr>
                        <a:t>分担</a:t>
                      </a:r>
                    </a:p>
                  </a:txBody>
                  <a:tcPr marL="68580" marR="68580" marT="34290" marB="34290" anchor="ctr">
                    <a:lnL w="12700" cap="flat" cmpd="sng" algn="ctr">
                      <a:solidFill>
                        <a:schemeClr val="bg1">
                          <a:lumMod val="75000"/>
                        </a:schemeClr>
                      </a:solidFill>
                      <a:prstDash val="solid"/>
                      <a:round/>
                      <a:headEnd type="none" w="med" len="med"/>
                      <a:tailEnd type="none" w="med" len="med"/>
                    </a:lnL>
                    <a:lnR w="12700" cmpd="sng">
                      <a:noFill/>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0"/>
                  </a:ext>
                </a:extLst>
              </a:tr>
              <a:tr h="1840230">
                <a:tc>
                  <a:txBody>
                    <a:bodyPr/>
                    <a:lstStyle/>
                    <a:p>
                      <a:pPr>
                        <a:lnSpc>
                          <a:spcPct val="130000"/>
                        </a:lnSpc>
                        <a:buNone/>
                      </a:pPr>
                      <a:r>
                        <a:rPr lang="zh-CN" altLang="en-US" sz="1200" dirty="0">
                          <a:latin typeface="微软雅黑" panose="020B0503020204020204" pitchFamily="34" charset="-122"/>
                          <a:ea typeface="微软雅黑" panose="020B0503020204020204" pitchFamily="34" charset="-122"/>
                        </a:rPr>
                        <a:t>如：严格管制业务组合中风险显著高于其他部分的业务</a:t>
                      </a:r>
                    </a:p>
                  </a:txBody>
                  <a:tcPr marL="68580" marR="68580" marT="34290" marB="34290">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30000"/>
                        </a:lnSpc>
                        <a:buNone/>
                      </a:pPr>
                      <a:r>
                        <a:rPr lang="zh-CN" altLang="en-US" sz="1200" dirty="0">
                          <a:latin typeface="微软雅黑" panose="020B0503020204020204" pitchFamily="34" charset="-122"/>
                          <a:ea typeface="微软雅黑" panose="020B0503020204020204" pitchFamily="34" charset="-122"/>
                        </a:rPr>
                        <a:t>如：重新对产品和服务定价，包括以恶均衡价格（增加和减少），使之能对风险部分进行补偿</a:t>
                      </a:r>
                    </a:p>
                  </a:txBody>
                  <a:tcPr marL="68580" marR="68580" marT="34290" marB="3429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30000"/>
                        </a:lnSpc>
                        <a:buNone/>
                      </a:pPr>
                      <a:r>
                        <a:rPr lang="zh-CN" altLang="en-US" sz="1200">
                          <a:latin typeface="微软雅黑" panose="020B0503020204020204" pitchFamily="34" charset="-122"/>
                          <a:ea typeface="微软雅黑" panose="020B0503020204020204" pitchFamily="34" charset="-122"/>
                        </a:rPr>
                        <a:t>如：设计新的产品和服务，以新的视角评估管理风险</a:t>
                      </a:r>
                    </a:p>
                  </a:txBody>
                  <a:tcPr marL="68580" marR="68580" marT="34290" marB="3429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30000"/>
                        </a:lnSpc>
                        <a:buNone/>
                      </a:pPr>
                      <a:r>
                        <a:rPr lang="zh-CN" altLang="en-US" sz="1200">
                          <a:latin typeface="微软雅黑" panose="020B0503020204020204" pitchFamily="34" charset="-122"/>
                          <a:ea typeface="微软雅黑" panose="020B0503020204020204" pitchFamily="34" charset="-122"/>
                        </a:rPr>
                        <a:t>如：通过内部管控减少无谓的冒险，动用危机管理机制减低风险发生时的冲击</a:t>
                      </a:r>
                    </a:p>
                  </a:txBody>
                  <a:tcPr marL="68580" marR="68580" marT="34290" marB="3429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30000"/>
                        </a:lnSpc>
                        <a:buNone/>
                      </a:pPr>
                      <a:r>
                        <a:rPr lang="zh-CN" altLang="en-US" sz="1200">
                          <a:latin typeface="微软雅黑" panose="020B0503020204020204" pitchFamily="34" charset="-122"/>
                          <a:ea typeface="微软雅黑" panose="020B0503020204020204" pitchFamily="34" charset="-122"/>
                        </a:rPr>
                        <a:t>如：让财经部门介入寻求比如保险等将风险控制在一定范围</a:t>
                      </a:r>
                    </a:p>
                  </a:txBody>
                  <a:tcPr marL="68580" marR="68580" marT="34290" marB="34290">
                    <a:lnL w="12700" cap="flat" cmpd="sng" algn="ctr">
                      <a:solidFill>
                        <a:schemeClr val="bg1">
                          <a:lumMod val="75000"/>
                        </a:schemeClr>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582420">
                <a:tc>
                  <a:txBody>
                    <a:bodyPr/>
                    <a:lstStyle/>
                    <a:p>
                      <a:pPr>
                        <a:lnSpc>
                          <a:spcPct val="130000"/>
                        </a:lnSpc>
                        <a:buNone/>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如：聚焦业务发展和市场扩张目标，避免追逐和目标不一致的</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机会</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a:t>
                      </a:r>
                    </a:p>
                  </a:txBody>
                  <a:tcPr marL="68580" marR="68580" marT="34290" marB="34290">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30000"/>
                        </a:lnSpc>
                        <a:buNone/>
                      </a:pPr>
                      <a:r>
                        <a:rPr lang="zh-CN" altLang="en-US" sz="1200">
                          <a:latin typeface="微软雅黑" panose="020B0503020204020204" pitchFamily="34" charset="-122"/>
                          <a:ea typeface="微软雅黑" panose="020B0503020204020204" pitchFamily="34" charset="-122"/>
                        </a:rPr>
                        <a:t>如：把风险分散到一个可管理业务组合的一个组成部分去</a:t>
                      </a:r>
                    </a:p>
                  </a:txBody>
                  <a:tcPr marL="68580" marR="68580" marT="34290" marB="3429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30000"/>
                        </a:lnSpc>
                        <a:buNone/>
                      </a:pPr>
                      <a:r>
                        <a:rPr lang="zh-CN" altLang="en-US" sz="1200" dirty="0">
                          <a:latin typeface="微软雅黑" panose="020B0503020204020204" pitchFamily="34" charset="-122"/>
                          <a:ea typeface="微软雅黑" panose="020B0503020204020204" pitchFamily="34" charset="-122"/>
                        </a:rPr>
                        <a:t>如：配置专业人员和流程管理，以深入了解分析风险利用机会</a:t>
                      </a:r>
                    </a:p>
                  </a:txBody>
                  <a:tcPr marL="68580" marR="68580" marT="34290" marB="3429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30000"/>
                        </a:lnSpc>
                        <a:buNone/>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如：限制在小范围测试战略、产品和服务，通过有限制条件的</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Top-down</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评估结果</a:t>
                      </a:r>
                    </a:p>
                  </a:txBody>
                  <a:tcPr marL="68580" marR="68580" marT="34290" marB="3429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30000"/>
                        </a:lnSpc>
                        <a:buNone/>
                      </a:pPr>
                      <a:r>
                        <a:rPr lang="zh-CN" altLang="en-US" sz="1200" dirty="0">
                          <a:latin typeface="微软雅黑" panose="020B0503020204020204" pitchFamily="34" charset="-122"/>
                          <a:ea typeface="微软雅黑" panose="020B0503020204020204" pitchFamily="34" charset="-122"/>
                        </a:rPr>
                        <a:t>如：评估哪些是有相对优势的商业流程，外包缺乏竞争力的业务以转移风险</a:t>
                      </a:r>
                    </a:p>
                  </a:txBody>
                  <a:tcPr marL="68580" marR="68580" marT="34290" marB="34290">
                    <a:lnL w="12700" cap="flat" cmpd="sng" algn="ctr">
                      <a:solidFill>
                        <a:schemeClr val="bg1">
                          <a:lumMod val="75000"/>
                        </a:schemeClr>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92125">
                <a:tc>
                  <a:txBody>
                    <a:bodyPr/>
                    <a:lstStyle/>
                    <a:p>
                      <a:pPr>
                        <a:lnSpc>
                          <a:spcPct val="130000"/>
                        </a:lnSpc>
                        <a:buNone/>
                      </a:pPr>
                      <a:r>
                        <a:rPr lang="en-US" altLang="zh-CN" sz="1350">
                          <a:latin typeface="微软雅黑" panose="020B0503020204020204" pitchFamily="34" charset="-122"/>
                          <a:ea typeface="微软雅黑" panose="020B0503020204020204" pitchFamily="34" charset="-122"/>
                        </a:rPr>
                        <a:t>...</a:t>
                      </a:r>
                    </a:p>
                  </a:txBody>
                  <a:tcPr marL="68580" marR="68580" marT="34290" marB="34290">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nSpc>
                          <a:spcPct val="130000"/>
                        </a:lnSpc>
                        <a:buNone/>
                      </a:pPr>
                      <a:r>
                        <a:rPr lang="en-US" altLang="zh-CN" sz="1350">
                          <a:latin typeface="微软雅黑" panose="020B0503020204020204" pitchFamily="34" charset="-122"/>
                          <a:ea typeface="微软雅黑" panose="020B0503020204020204" pitchFamily="34" charset="-122"/>
                        </a:rPr>
                        <a:t>...</a:t>
                      </a:r>
                    </a:p>
                  </a:txBody>
                  <a:tcPr marL="68580" marR="68580" marT="34290" marB="3429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nSpc>
                          <a:spcPct val="130000"/>
                        </a:lnSpc>
                        <a:buNone/>
                      </a:pPr>
                      <a:r>
                        <a:rPr lang="en-US" altLang="zh-CN" sz="1350">
                          <a:latin typeface="微软雅黑" panose="020B0503020204020204" pitchFamily="34" charset="-122"/>
                          <a:ea typeface="微软雅黑" panose="020B0503020204020204" pitchFamily="34" charset="-122"/>
                        </a:rPr>
                        <a:t>...</a:t>
                      </a:r>
                    </a:p>
                  </a:txBody>
                  <a:tcPr marL="68580" marR="68580" marT="34290" marB="3429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nSpc>
                          <a:spcPct val="130000"/>
                        </a:lnSpc>
                        <a:buNone/>
                      </a:pPr>
                      <a:r>
                        <a:rPr lang="en-US" altLang="zh-CN" sz="1350" dirty="0">
                          <a:latin typeface="微软雅黑" panose="020B0503020204020204" pitchFamily="34" charset="-122"/>
                          <a:ea typeface="微软雅黑" panose="020B0503020204020204" pitchFamily="34" charset="-122"/>
                        </a:rPr>
                        <a:t>...</a:t>
                      </a:r>
                    </a:p>
                  </a:txBody>
                  <a:tcPr marL="68580" marR="68580" marT="34290" marB="3429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nSpc>
                          <a:spcPct val="130000"/>
                        </a:lnSpc>
                        <a:buNone/>
                      </a:pPr>
                      <a:r>
                        <a:rPr lang="en-US" altLang="zh-CN" sz="1350" dirty="0">
                          <a:latin typeface="微软雅黑" panose="020B0503020204020204" pitchFamily="34" charset="-122"/>
                          <a:ea typeface="微软雅黑" panose="020B0503020204020204" pitchFamily="34" charset="-122"/>
                        </a:rPr>
                        <a:t>...</a:t>
                      </a:r>
                    </a:p>
                  </a:txBody>
                  <a:tcPr marL="68580" marR="68580" marT="34290" marB="34290">
                    <a:lnL w="12700" cap="flat" cmpd="sng" algn="ctr">
                      <a:solidFill>
                        <a:schemeClr val="bg1">
                          <a:lumMod val="75000"/>
                        </a:schemeClr>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17" name="标题 1"/>
          <p:cNvSpPr txBox="1"/>
          <p:nvPr/>
        </p:nvSpPr>
        <p:spPr>
          <a:xfrm>
            <a:off x="628035" y="563676"/>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风险应对策略：化为危机，弯道超车！</a:t>
            </a:r>
          </a:p>
        </p:txBody>
      </p:sp>
      <p:sp>
        <p:nvSpPr>
          <p:cNvPr id="6" name="Rectangle 3"/>
          <p:cNvSpPr txBox="1">
            <a:spLocks noChangeArrowheads="1"/>
          </p:cNvSpPr>
          <p:nvPr/>
        </p:nvSpPr>
        <p:spPr bwMode="auto">
          <a:xfrm>
            <a:off x="1599565" y="6356399"/>
            <a:ext cx="8991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1600" b="1" dirty="0">
                <a:solidFill>
                  <a:schemeClr val="bg1"/>
                </a:solidFill>
                <a:effectLst/>
                <a:latin typeface="微软雅黑" panose="020B0503020204020204" pitchFamily="34" charset="-122"/>
                <a:ea typeface="微软雅黑" panose="020B0503020204020204" pitchFamily="34" charset="-122"/>
              </a:rPr>
              <a:t>风险管理：可以倒退，不能崩溃。</a:t>
            </a:r>
            <a:r>
              <a:rPr lang="en-US" altLang="zh-CN" sz="1600" b="1" dirty="0">
                <a:solidFill>
                  <a:schemeClr val="bg1"/>
                </a:solidFill>
                <a:effectLst/>
                <a:latin typeface="微软雅黑" panose="020B0503020204020204" pitchFamily="34" charset="-122"/>
                <a:ea typeface="微软雅黑" panose="020B0503020204020204" pitchFamily="34" charset="-122"/>
              </a:rPr>
              <a:t>ZTE</a:t>
            </a:r>
            <a:r>
              <a:rPr lang="zh-CN" altLang="en-US" sz="1600" b="1" dirty="0">
                <a:solidFill>
                  <a:schemeClr val="bg1"/>
                </a:solidFill>
                <a:effectLst/>
                <a:latin typeface="微软雅黑" panose="020B0503020204020204" pitchFamily="34" charset="-122"/>
                <a:ea typeface="微软雅黑" panose="020B0503020204020204" pitchFamily="34" charset="-122"/>
              </a:rPr>
              <a:t>、网络安全</a:t>
            </a:r>
            <a:r>
              <a:rPr lang="en-US" altLang="zh-CN" sz="1600" b="1" dirty="0">
                <a:solidFill>
                  <a:schemeClr val="bg1"/>
                </a:solidFill>
                <a:effectLst/>
                <a:latin typeface="微软雅黑" panose="020B0503020204020204" pitchFamily="34" charset="-122"/>
                <a:ea typeface="微软雅黑" panose="020B0503020204020204" pitchFamily="34" charset="-122"/>
              </a:rPr>
              <a:t>…</a:t>
            </a:r>
            <a:r>
              <a:rPr lang="zh-CN" altLang="en-US" sz="1600" b="1" dirty="0">
                <a:solidFill>
                  <a:schemeClr val="bg1"/>
                </a:solidFill>
                <a:effectLst/>
                <a:latin typeface="微软雅黑" panose="020B0503020204020204" pitchFamily="34" charset="-122"/>
                <a:ea typeface="微软雅黑" panose="020B0503020204020204" pitchFamily="34" charset="-122"/>
              </a:rPr>
              <a:t>金融危机、经济危机、贸易战都必然发生</a:t>
            </a:r>
            <a:endParaRPr lang="en-US" altLang="zh-CN" sz="1600" b="1" dirty="0">
              <a:solidFill>
                <a:schemeClr val="bg1"/>
              </a:solidFill>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8" name="组合 17"/>
          <p:cNvGrpSpPr/>
          <p:nvPr/>
        </p:nvGrpSpPr>
        <p:grpSpPr>
          <a:xfrm>
            <a:off x="998220" y="1351280"/>
            <a:ext cx="10243185" cy="4931446"/>
            <a:chOff x="1572" y="2128"/>
            <a:chExt cx="13661" cy="6577"/>
          </a:xfrm>
        </p:grpSpPr>
        <p:sp>
          <p:nvSpPr>
            <p:cNvPr id="3" name="文本框 2"/>
            <p:cNvSpPr txBox="1"/>
            <p:nvPr/>
          </p:nvSpPr>
          <p:spPr>
            <a:xfrm>
              <a:off x="4209" y="2128"/>
              <a:ext cx="10155" cy="2006"/>
            </a:xfrm>
            <a:prstGeom prst="rect">
              <a:avLst/>
            </a:prstGeom>
            <a:noFill/>
          </p:spPr>
          <p:txBody>
            <a:bodyPr wrap="square" lIns="91437" tIns="45718" rIns="91437" bIns="45718" rtlCol="0">
              <a:spAutoFit/>
            </a:bodyPr>
            <a:lstStyle/>
            <a:p>
              <a:r>
                <a:rPr lang="zh-CN" altLang="en-US" sz="1400" b="1" dirty="0">
                  <a:solidFill>
                    <a:srgbClr val="C00000"/>
                  </a:solidFill>
                  <a:latin typeface="微软雅黑" panose="020B0503020204020204" pitchFamily="34" charset="-122"/>
                  <a:ea typeface="微软雅黑" panose="020B0503020204020204" pitchFamily="34" charset="-122"/>
                  <a:cs typeface="+mn-ea"/>
                  <a:sym typeface="+mn-lt"/>
                </a:rPr>
                <a:t>对市场的洞察力</a:t>
              </a:r>
              <a:endParaRPr lang="zh-CN" altLang="en-US" sz="1400" b="1" dirty="0">
                <a:latin typeface="微软雅黑" panose="020B0503020204020204" pitchFamily="34" charset="-122"/>
                <a:ea typeface="微软雅黑" panose="020B0503020204020204" pitchFamily="34" charset="-122"/>
                <a:cs typeface="+mn-ea"/>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defRPr/>
              </a:pPr>
              <a:r>
                <a:rPr lang="zh-CN" altLang="en-US" sz="1200" dirty="0">
                  <a:latin typeface="微软雅黑" panose="020B0503020204020204" pitchFamily="34" charset="-122"/>
                  <a:ea typeface="微软雅黑" panose="020B0503020204020204" pitchFamily="34" charset="-122"/>
                  <a:cs typeface="+mn-ea"/>
                  <a:sym typeface="+mn-lt"/>
                </a:rPr>
                <a:t>这个业务设计所依赖的客户角度和经济上的假设是什么？</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defRPr/>
              </a:pPr>
              <a:r>
                <a:rPr lang="zh-CN" altLang="en-US" sz="1200" dirty="0">
                  <a:latin typeface="微软雅黑" panose="020B0503020204020204" pitchFamily="34" charset="-122"/>
                  <a:ea typeface="微软雅黑" panose="020B0503020204020204" pitchFamily="34" charset="-122"/>
                  <a:cs typeface="+mn-ea"/>
                  <a:sym typeface="+mn-lt"/>
                </a:rPr>
                <a:t>这些假设还成立吗？什么可能使他们改变？</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defRPr/>
              </a:pPr>
              <a:r>
                <a:rPr lang="zh-CN" altLang="en-US" sz="1200" dirty="0">
                  <a:latin typeface="微软雅黑" panose="020B0503020204020204" pitchFamily="34" charset="-122"/>
                  <a:ea typeface="微软雅黑" panose="020B0503020204020204" pitchFamily="34" charset="-122"/>
                  <a:cs typeface="+mn-ea"/>
                  <a:sym typeface="+mn-lt"/>
                </a:rPr>
                <a:t>客户最优先考虑的是什么？它们又是怎样在改变？</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defRPr/>
              </a:pPr>
              <a:r>
                <a:rPr lang="zh-CN" altLang="en-US" sz="1200" dirty="0">
                  <a:latin typeface="微软雅黑" panose="020B0503020204020204" pitchFamily="34" charset="-122"/>
                  <a:ea typeface="微软雅黑" panose="020B0503020204020204" pitchFamily="34" charset="-122"/>
                  <a:cs typeface="+mn-ea"/>
                  <a:sym typeface="+mn-lt"/>
                </a:rPr>
                <a:t>正在发生的技术转变是什么？它们对公司业务的影响是什么？</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defRPr/>
              </a:pPr>
              <a:r>
                <a:rPr lang="zh-CN" altLang="en-US" sz="1200" dirty="0">
                  <a:latin typeface="微软雅黑" panose="020B0503020204020204" pitchFamily="34" charset="-122"/>
                  <a:ea typeface="微软雅黑" panose="020B0503020204020204" pitchFamily="34" charset="-122"/>
                  <a:cs typeface="+mn-ea"/>
                  <a:sym typeface="+mn-lt"/>
                </a:rPr>
                <a:t>是什么将你和你竞争对手的业务设计区分开来？</a:t>
              </a:r>
            </a:p>
          </p:txBody>
        </p:sp>
        <p:sp>
          <p:nvSpPr>
            <p:cNvPr id="4" name="文本框 3"/>
            <p:cNvSpPr txBox="1"/>
            <p:nvPr/>
          </p:nvSpPr>
          <p:spPr>
            <a:xfrm>
              <a:off x="1572" y="5105"/>
              <a:ext cx="2813" cy="1047"/>
            </a:xfrm>
            <a:prstGeom prst="rect">
              <a:avLst/>
            </a:prstGeom>
            <a:noFill/>
          </p:spPr>
          <p:txBody>
            <a:bodyPr wrap="square" lIns="91437" tIns="45718" rIns="91437" bIns="45718" rtlCol="0">
              <a:spAutoFit/>
            </a:bodyPr>
            <a:lstStyle/>
            <a:p>
              <a:r>
                <a:rPr lang="zh-CN" altLang="en-US" sz="1400" b="1" dirty="0">
                  <a:solidFill>
                    <a:srgbClr val="C00000"/>
                  </a:solidFill>
                  <a:latin typeface="微软雅黑" panose="020B0503020204020204" pitchFamily="34" charset="-122"/>
                  <a:ea typeface="微软雅黑" panose="020B0503020204020204" pitchFamily="34" charset="-122"/>
                  <a:cs typeface="+mn-ea"/>
                  <a:sym typeface="+mn-lt"/>
                </a:rPr>
                <a:t>战略意图</a:t>
              </a:r>
            </a:p>
            <a:p>
              <a:pPr marL="1270" lvl="1" algn="just" defTabSz="330200">
                <a:lnSpc>
                  <a:spcPct val="130000"/>
                </a:lnSpc>
                <a:spcBef>
                  <a:spcPts val="0"/>
                </a:spcBef>
                <a:buClr>
                  <a:srgbClr val="267FC3"/>
                </a:buClr>
                <a:buSzPct val="80000"/>
                <a:tabLst>
                  <a:tab pos="8521700" algn="r"/>
                </a:tabLst>
                <a:defRPr/>
              </a:pPr>
              <a:r>
                <a:rPr lang="zh-CN" altLang="en-US" sz="1200" dirty="0">
                  <a:latin typeface="微软雅黑" panose="020B0503020204020204" pitchFamily="34" charset="-122"/>
                  <a:ea typeface="微软雅黑" panose="020B0503020204020204" pitchFamily="34" charset="-122"/>
                  <a:cs typeface="+mn-ea"/>
                  <a:sym typeface="+mn-lt"/>
                </a:rPr>
                <a:t>这个业务设计是否提升了公司的战略重点？</a:t>
              </a:r>
            </a:p>
          </p:txBody>
        </p:sp>
        <p:sp>
          <p:nvSpPr>
            <p:cNvPr id="5" name="文本框 4"/>
            <p:cNvSpPr txBox="1"/>
            <p:nvPr/>
          </p:nvSpPr>
          <p:spPr>
            <a:xfrm>
              <a:off x="11603" y="4896"/>
              <a:ext cx="3038" cy="2006"/>
            </a:xfrm>
            <a:prstGeom prst="rect">
              <a:avLst/>
            </a:prstGeom>
            <a:noFill/>
          </p:spPr>
          <p:txBody>
            <a:bodyPr wrap="square" lIns="91437" tIns="45718" rIns="91437" bIns="45718" rtlCol="0">
              <a:spAutoFit/>
            </a:bodyPr>
            <a:lstStyle/>
            <a:p>
              <a:r>
                <a:rPr lang="zh-CN" altLang="en-US"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对能力的要求</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我们是否建立在现有能力上？ </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能否获得所要的新能力？</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defRP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我们有能力管理潜在的风险吗？</a:t>
              </a:r>
            </a:p>
          </p:txBody>
        </p:sp>
        <p:sp>
          <p:nvSpPr>
            <p:cNvPr id="7" name="文本框 6"/>
            <p:cNvSpPr txBox="1"/>
            <p:nvPr/>
          </p:nvSpPr>
          <p:spPr>
            <a:xfrm>
              <a:off x="4437" y="7338"/>
              <a:ext cx="10796" cy="1367"/>
            </a:xfrm>
            <a:prstGeom prst="rect">
              <a:avLst/>
            </a:prstGeom>
            <a:noFill/>
          </p:spPr>
          <p:txBody>
            <a:bodyPr wrap="square" lIns="91437" tIns="45718" rIns="91437" bIns="45718" rtlCol="0">
              <a:spAutoFit/>
            </a:bodyPr>
            <a:lstStyle/>
            <a:p>
              <a:r>
                <a:rPr lang="zh-CN" altLang="en-US" sz="1400" b="1" dirty="0">
                  <a:solidFill>
                    <a:srgbClr val="C00000"/>
                  </a:solidFill>
                  <a:latin typeface="微软雅黑" panose="020B0503020204020204" pitchFamily="34" charset="-122"/>
                  <a:ea typeface="微软雅黑" panose="020B0503020204020204" pitchFamily="34" charset="-122"/>
                  <a:cs typeface="+mn-ea"/>
                  <a:sym typeface="+mn-lt"/>
                </a:rPr>
                <a:t>创新焦点</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defRPr/>
              </a:pPr>
              <a:r>
                <a:rPr lang="zh-CN" altLang="en-US" sz="1200" dirty="0">
                  <a:latin typeface="微软雅黑" panose="020B0503020204020204" pitchFamily="34" charset="-122"/>
                  <a:ea typeface="微软雅黑" panose="020B0503020204020204" pitchFamily="34" charset="-122"/>
                  <a:cs typeface="+mn-ea"/>
                  <a:sym typeface="+mn-lt"/>
                </a:rPr>
                <a:t>新的业务设计能否抓住新的价值来源？这种价值来源是可持续的吗？</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defRPr/>
              </a:pPr>
              <a:r>
                <a:rPr lang="zh-CN" altLang="en-US" sz="1200" dirty="0">
                  <a:latin typeface="微软雅黑" panose="020B0503020204020204" pitchFamily="34" charset="-122"/>
                  <a:ea typeface="微软雅黑" panose="020B0503020204020204" pitchFamily="34" charset="-122"/>
                  <a:cs typeface="+mn-ea"/>
                  <a:sym typeface="+mn-lt"/>
                </a:rPr>
                <a:t>客户战略重点的变化对你的业务设计会有怎么的影响？有什么可替代的设计可以满足下一轮的客户重点？</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defRPr/>
              </a:pPr>
              <a:r>
                <a:rPr lang="zh-CN" altLang="en-US" sz="1200" dirty="0">
                  <a:latin typeface="微软雅黑" panose="020B0503020204020204" pitchFamily="34" charset="-122"/>
                  <a:ea typeface="微软雅黑" panose="020B0503020204020204" pitchFamily="34" charset="-122"/>
                  <a:cs typeface="+mn-ea"/>
                  <a:sym typeface="+mn-lt"/>
                </a:rPr>
                <a:t>创新对于客户以及公司的成功是否至关重要？</a:t>
              </a:r>
            </a:p>
          </p:txBody>
        </p:sp>
        <p:grpSp>
          <p:nvGrpSpPr>
            <p:cNvPr id="6" name="组合 5"/>
            <p:cNvGrpSpPr/>
            <p:nvPr/>
          </p:nvGrpSpPr>
          <p:grpSpPr>
            <a:xfrm>
              <a:off x="4802" y="4531"/>
              <a:ext cx="6608" cy="2608"/>
              <a:chOff x="3524232" y="3248025"/>
              <a:chExt cx="5594574" cy="2208107"/>
            </a:xfrm>
          </p:grpSpPr>
          <p:grpSp>
            <p:nvGrpSpPr>
              <p:cNvPr id="2" name="组合 1"/>
              <p:cNvGrpSpPr/>
              <p:nvPr/>
            </p:nvGrpSpPr>
            <p:grpSpPr>
              <a:xfrm>
                <a:off x="3524232" y="3248025"/>
                <a:ext cx="5334037" cy="2208107"/>
                <a:chOff x="3524232" y="3248025"/>
                <a:chExt cx="5334037" cy="2208107"/>
              </a:xfrm>
            </p:grpSpPr>
            <p:sp>
              <p:nvSpPr>
                <p:cNvPr id="8" name="矩形 7"/>
                <p:cNvSpPr/>
                <p:nvPr/>
              </p:nvSpPr>
              <p:spPr>
                <a:xfrm>
                  <a:off x="3524232" y="3248025"/>
                  <a:ext cx="5334037" cy="2208107"/>
                </a:xfrm>
                <a:prstGeom prst="rect">
                  <a:avLst/>
                </a:prstGeom>
                <a:solidFill>
                  <a:srgbClr val="E9F4FA"/>
                </a:solidFill>
                <a:ln>
                  <a:no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rtlCol="0" anchor="ctr"/>
                <a:lstStyle/>
                <a:p>
                  <a:pPr algn="ctr"/>
                  <a:endParaRPr lang="zh-CN" altLang="en-US" sz="200">
                    <a:latin typeface="微软雅黑" panose="020B0503020204020204" pitchFamily="34" charset="-122"/>
                    <a:ea typeface="微软雅黑" panose="020B0503020204020204" pitchFamily="34" charset="-122"/>
                    <a:cs typeface="+mn-ea"/>
                    <a:sym typeface="+mn-lt"/>
                  </a:endParaRPr>
                </a:p>
              </p:txBody>
            </p:sp>
            <p:cxnSp>
              <p:nvCxnSpPr>
                <p:cNvPr id="9" name="直接连接符 8"/>
                <p:cNvCxnSpPr/>
                <p:nvPr/>
              </p:nvCxnSpPr>
              <p:spPr>
                <a:xfrm>
                  <a:off x="6089650" y="3248237"/>
                  <a:ext cx="0" cy="2207895"/>
                </a:xfrm>
                <a:prstGeom prst="line">
                  <a:avLst/>
                </a:prstGeom>
                <a:ln>
                  <a:solidFill>
                    <a:srgbClr val="C00000"/>
                  </a:solidFill>
                </a:ln>
                <a:effectLst/>
              </p:spPr>
              <p:style>
                <a:lnRef idx="2">
                  <a:schemeClr val="dk1"/>
                </a:lnRef>
                <a:fillRef idx="0">
                  <a:schemeClr val="dk1"/>
                </a:fillRef>
                <a:effectRef idx="1">
                  <a:schemeClr val="dk1"/>
                </a:effectRef>
                <a:fontRef idx="minor">
                  <a:schemeClr val="tx1"/>
                </a:fontRef>
              </p:style>
            </p:cxnSp>
            <p:sp>
              <p:nvSpPr>
                <p:cNvPr id="10" name="文本框 9"/>
                <p:cNvSpPr txBox="1"/>
                <p:nvPr/>
              </p:nvSpPr>
              <p:spPr>
                <a:xfrm>
                  <a:off x="3872909" y="3306495"/>
                  <a:ext cx="2106689" cy="2094456"/>
                </a:xfrm>
                <a:prstGeom prst="rect">
                  <a:avLst/>
                </a:prstGeom>
                <a:noFill/>
              </p:spPr>
              <p:txBody>
                <a:bodyPr wrap="square" lIns="91437" tIns="45718" rIns="91437" bIns="45718" rtlCol="0">
                  <a:spAutoFit/>
                </a:bodyPr>
                <a:lstStyle/>
                <a:p>
                  <a:r>
                    <a:rPr lang="zh-CN" alt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现有业务设计</a:t>
                  </a:r>
                  <a:endParaRPr lang="zh-CN" altLang="en-US" sz="16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nSpc>
                      <a:spcPct val="13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客户选择</a:t>
                  </a:r>
                </a:p>
                <a:p>
                  <a:pPr>
                    <a:lnSpc>
                      <a:spcPct val="13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-价值主张</a:t>
                  </a:r>
                </a:p>
                <a:p>
                  <a:pPr>
                    <a:lnSpc>
                      <a:spcPct val="13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-价值获取</a:t>
                  </a:r>
                </a:p>
                <a:p>
                  <a:pPr>
                    <a:lnSpc>
                      <a:spcPct val="13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-活动范围</a:t>
                  </a:r>
                </a:p>
                <a:p>
                  <a:pPr>
                    <a:lnSpc>
                      <a:spcPct val="13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-战略控制</a:t>
                  </a:r>
                </a:p>
                <a:p>
                  <a:pPr>
                    <a:lnSpc>
                      <a:spcPct val="13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-风险管理</a:t>
                  </a:r>
                </a:p>
              </p:txBody>
            </p:sp>
          </p:grpSp>
          <p:sp>
            <p:nvSpPr>
              <p:cNvPr id="11" name="文本框 10"/>
              <p:cNvSpPr txBox="1"/>
              <p:nvPr/>
            </p:nvSpPr>
            <p:spPr>
              <a:xfrm>
                <a:off x="6514459" y="3360149"/>
                <a:ext cx="2604347" cy="2004109"/>
              </a:xfrm>
              <a:prstGeom prst="rect">
                <a:avLst/>
              </a:prstGeom>
              <a:noFill/>
            </p:spPr>
            <p:txBody>
              <a:bodyPr wrap="square" lIns="91437" tIns="45718" rIns="91437" bIns="45718" rtlCol="0">
                <a:spAutoFit/>
              </a:bodyPr>
              <a:lstStyle/>
              <a:p>
                <a:r>
                  <a:rPr lang="zh-CN" alt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期望的业务设计</a:t>
                </a:r>
              </a:p>
              <a:p>
                <a:pPr>
                  <a:lnSpc>
                    <a:spcPct val="130000"/>
                  </a:lnSpc>
                </a:pPr>
                <a:r>
                  <a:rPr lang="zh-CN" altLang="en-US" sz="12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rPr>
                  <a:t>-客户选择</a:t>
                </a:r>
              </a:p>
              <a:p>
                <a:pPr>
                  <a:lnSpc>
                    <a:spcPct val="130000"/>
                  </a:lnSpc>
                </a:pPr>
                <a:r>
                  <a:rPr lang="zh-CN" altLang="en-US" sz="12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rPr>
                  <a:t>-价值主张 </a:t>
                </a:r>
              </a:p>
              <a:p>
                <a:pPr>
                  <a:lnSpc>
                    <a:spcPct val="130000"/>
                  </a:lnSpc>
                </a:pPr>
                <a:r>
                  <a:rPr lang="zh-CN" altLang="en-US" sz="12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rPr>
                  <a:t>-价值获取 </a:t>
                </a:r>
              </a:p>
              <a:p>
                <a:pPr>
                  <a:lnSpc>
                    <a:spcPct val="130000"/>
                  </a:lnSpc>
                </a:pPr>
                <a:r>
                  <a:rPr lang="zh-CN" altLang="en-US" sz="12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rPr>
                  <a:t>-活动范围 </a:t>
                </a:r>
              </a:p>
              <a:p>
                <a:pPr>
                  <a:lnSpc>
                    <a:spcPct val="130000"/>
                  </a:lnSpc>
                </a:pPr>
                <a:r>
                  <a:rPr lang="zh-CN" altLang="en-US" sz="12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rPr>
                  <a:t>-战略控制 </a:t>
                </a:r>
              </a:p>
              <a:p>
                <a:pPr>
                  <a:lnSpc>
                    <a:spcPct val="130000"/>
                  </a:lnSpc>
                </a:pPr>
                <a:r>
                  <a:rPr lang="zh-CN" altLang="en-US" sz="12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rPr>
                  <a:t>-风险管理</a:t>
                </a:r>
              </a:p>
            </p:txBody>
          </p:sp>
        </p:grpSp>
        <p:sp>
          <p:nvSpPr>
            <p:cNvPr id="12" name="等腰三角形 11"/>
            <p:cNvSpPr/>
            <p:nvPr/>
          </p:nvSpPr>
          <p:spPr>
            <a:xfrm>
              <a:off x="7585" y="7291"/>
              <a:ext cx="464" cy="277"/>
            </a:xfrm>
            <a:prstGeom prs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rtlCol="0" anchor="ctr"/>
            <a:lstStyle/>
            <a:p>
              <a:pPr algn="ctr"/>
              <a:endParaRPr lang="zh-CN" altLang="en-US" sz="200">
                <a:latin typeface="微软雅黑" panose="020B0503020204020204" pitchFamily="34" charset="-122"/>
                <a:ea typeface="微软雅黑" panose="020B0503020204020204" pitchFamily="34" charset="-122"/>
                <a:cs typeface="+mn-ea"/>
                <a:sym typeface="+mn-lt"/>
              </a:endParaRPr>
            </a:p>
          </p:txBody>
        </p:sp>
        <p:sp>
          <p:nvSpPr>
            <p:cNvPr id="13" name="等腰三角形 12"/>
            <p:cNvSpPr/>
            <p:nvPr/>
          </p:nvSpPr>
          <p:spPr>
            <a:xfrm rot="10800000">
              <a:off x="7600" y="4172"/>
              <a:ext cx="464" cy="277"/>
            </a:xfrm>
            <a:prstGeom prs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rtlCol="0" anchor="ctr"/>
            <a:lstStyle/>
            <a:p>
              <a:pPr algn="ctr"/>
              <a:endParaRPr lang="zh-CN" altLang="en-US" sz="200">
                <a:latin typeface="微软雅黑" panose="020B0503020204020204" pitchFamily="34" charset="-122"/>
                <a:ea typeface="微软雅黑" panose="020B0503020204020204" pitchFamily="34" charset="-122"/>
                <a:cs typeface="+mn-ea"/>
                <a:sym typeface="+mn-lt"/>
              </a:endParaRPr>
            </a:p>
          </p:txBody>
        </p:sp>
        <p:sp>
          <p:nvSpPr>
            <p:cNvPr id="14" name="等腰三角形 13"/>
            <p:cNvSpPr/>
            <p:nvPr/>
          </p:nvSpPr>
          <p:spPr>
            <a:xfrm rot="16200000">
              <a:off x="11015" y="5651"/>
              <a:ext cx="348" cy="369"/>
            </a:xfrm>
            <a:prstGeom prs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rtlCol="0" anchor="ctr"/>
            <a:lstStyle/>
            <a:p>
              <a:pPr algn="ctr"/>
              <a:endParaRPr lang="zh-CN" altLang="en-US" sz="200">
                <a:latin typeface="微软雅黑" panose="020B0503020204020204" pitchFamily="34" charset="-122"/>
                <a:ea typeface="微软雅黑" panose="020B0503020204020204" pitchFamily="34" charset="-122"/>
                <a:cs typeface="+mn-ea"/>
                <a:sym typeface="+mn-lt"/>
              </a:endParaRPr>
            </a:p>
          </p:txBody>
        </p:sp>
        <p:sp>
          <p:nvSpPr>
            <p:cNvPr id="15" name="等腰三角形 14"/>
            <p:cNvSpPr/>
            <p:nvPr/>
          </p:nvSpPr>
          <p:spPr>
            <a:xfrm rot="5400000">
              <a:off x="4555" y="5566"/>
              <a:ext cx="348" cy="369"/>
            </a:xfrm>
            <a:prstGeom prs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rtlCol="0" anchor="ctr"/>
            <a:lstStyle/>
            <a:p>
              <a:pPr algn="ctr"/>
              <a:endParaRPr lang="zh-CN" altLang="en-US" sz="200">
                <a:latin typeface="微软雅黑" panose="020B0503020204020204" pitchFamily="34" charset="-122"/>
                <a:ea typeface="微软雅黑" panose="020B0503020204020204" pitchFamily="34" charset="-122"/>
                <a:cs typeface="+mn-ea"/>
                <a:sym typeface="+mn-lt"/>
              </a:endParaRPr>
            </a:p>
          </p:txBody>
        </p:sp>
      </p:grpSp>
      <p:sp>
        <p:nvSpPr>
          <p:cNvPr id="17" name="标题 1"/>
          <p:cNvSpPr txBox="1"/>
          <p:nvPr/>
        </p:nvSpPr>
        <p:spPr>
          <a:xfrm>
            <a:off x="793784" y="585742"/>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业务设计是</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SP</a:t>
            </a:r>
            <a:r>
              <a:rPr lang="zh-CN" altLang="en-US" dirty="0">
                <a:solidFill>
                  <a:srgbClr val="0070C0"/>
                </a:solidFill>
                <a:latin typeface="微软雅黑" panose="020B0503020204020204" pitchFamily="34" charset="-122"/>
                <a:ea typeface="微软雅黑" panose="020B0503020204020204" pitchFamily="34" charset="-122"/>
                <a:cs typeface="+mn-ea"/>
                <a:sym typeface="+mn-lt"/>
              </a:rPr>
              <a:t>落脚点：战略意图</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dirty="0">
                <a:solidFill>
                  <a:srgbClr val="0070C0"/>
                </a:solidFill>
                <a:latin typeface="微软雅黑" panose="020B0503020204020204" pitchFamily="34" charset="-122"/>
                <a:ea typeface="微软雅黑" panose="020B0503020204020204" pitchFamily="34" charset="-122"/>
                <a:cs typeface="+mn-ea"/>
                <a:sym typeface="+mn-lt"/>
              </a:rPr>
              <a:t>展开控制点</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dirty="0">
                <a:solidFill>
                  <a:srgbClr val="0070C0"/>
                </a:solidFill>
                <a:latin typeface="微软雅黑" panose="020B0503020204020204" pitchFamily="34" charset="-122"/>
                <a:ea typeface="微软雅黑" panose="020B0503020204020204" pitchFamily="34" charset="-122"/>
                <a:cs typeface="+mn-ea"/>
                <a:sym typeface="+mn-lt"/>
              </a:rPr>
              <a:t>重点工作</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 name="组合 5"/>
          <p:cNvGrpSpPr/>
          <p:nvPr/>
        </p:nvGrpSpPr>
        <p:grpSpPr>
          <a:xfrm>
            <a:off x="1270" y="1429385"/>
            <a:ext cx="12187555" cy="4764140"/>
            <a:chOff x="2353" y="2251"/>
            <a:chExt cx="14446" cy="6720"/>
          </a:xfrm>
        </p:grpSpPr>
        <p:sp>
          <p:nvSpPr>
            <p:cNvPr id="5" name="矩形 4"/>
            <p:cNvSpPr/>
            <p:nvPr/>
          </p:nvSpPr>
          <p:spPr>
            <a:xfrm>
              <a:off x="2353" y="8497"/>
              <a:ext cx="14446" cy="474"/>
            </a:xfrm>
            <a:prstGeom prst="rect">
              <a:avLst/>
            </a:prstGeom>
            <a:solidFill>
              <a:srgbClr val="0070C0"/>
            </a:solidFill>
          </p:spPr>
          <p:txBody>
            <a:bodyPr wrap="square" lIns="91437" tIns="45718" rIns="91437" bIns="45718">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cs typeface="+mn-ea"/>
                  <a:sym typeface="+mn-lt"/>
                </a:rPr>
                <a:t>以后所有的新产品领域都复制了早期的成功模式，并解决了富二代创业问题</a:t>
              </a:r>
            </a:p>
          </p:txBody>
        </p:sp>
        <p:sp>
          <p:nvSpPr>
            <p:cNvPr id="8" name="矩形 7"/>
            <p:cNvSpPr/>
            <p:nvPr/>
          </p:nvSpPr>
          <p:spPr>
            <a:xfrm>
              <a:off x="3391" y="2251"/>
              <a:ext cx="10395" cy="5933"/>
            </a:xfrm>
            <a:prstGeom prst="rect">
              <a:avLst/>
            </a:prstGeom>
          </p:spPr>
          <p:txBody>
            <a:bodyPr wrap="square">
              <a:spAutoFit/>
            </a:bodyPr>
            <a:lstStyle/>
            <a:p>
              <a:pPr lvl="0" eaLnBrk="1" hangingPunct="1">
                <a:lnSpc>
                  <a:spcPct val="130000"/>
                </a:lnSpc>
                <a:spcBef>
                  <a:spcPts val="0"/>
                </a:spcBef>
              </a:pPr>
              <a:r>
                <a:rPr lang="zh-CN" altLang="en-US" sz="1400" b="1" dirty="0">
                  <a:solidFill>
                    <a:srgbClr val="C00000"/>
                  </a:solidFill>
                  <a:latin typeface="Arial" panose="020B0604020202020204" pitchFamily="34" charset="0"/>
                  <a:ea typeface="微软雅黑" panose="020B0503020204020204" pitchFamily="34" charset="-122"/>
                  <a:cs typeface="+mn-ea"/>
                  <a:sym typeface="+mn-lt"/>
                </a:rPr>
                <a:t>市场洞察： </a:t>
              </a:r>
              <a:endParaRPr lang="en-US" altLang="zh-CN" sz="1400" b="1" dirty="0">
                <a:solidFill>
                  <a:srgbClr val="C00000"/>
                </a:solidFill>
                <a:latin typeface="Arial" panose="020B0604020202020204" pitchFamily="34" charset="0"/>
                <a:ea typeface="微软雅黑" panose="020B0503020204020204" pitchFamily="34" charset="-122"/>
                <a:cs typeface="+mn-ea"/>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电信市场需求巨大，家里装一步电话要</a:t>
              </a:r>
              <a:r>
                <a:rPr lang="en-US" altLang="zh-CN" sz="1200" dirty="0">
                  <a:solidFill>
                    <a:srgbClr val="000000"/>
                  </a:solidFill>
                  <a:latin typeface="微软雅黑" panose="020B0503020204020204" pitchFamily="34" charset="-122"/>
                  <a:ea typeface="微软雅黑" panose="020B0503020204020204" pitchFamily="34" charset="-122"/>
                  <a:cs typeface="+mn-ea"/>
                  <a:sym typeface="+mn-lt"/>
                </a:rPr>
                <a:t>3000</a:t>
              </a: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多元。</a:t>
              </a:r>
              <a:endParaRPr lang="en-US" altLang="zh-CN" sz="1200" dirty="0">
                <a:solidFill>
                  <a:srgbClr val="000000"/>
                </a:solidFill>
                <a:latin typeface="微软雅黑" panose="020B0503020204020204" pitchFamily="34" charset="-122"/>
                <a:ea typeface="微软雅黑" panose="020B0503020204020204" pitchFamily="34" charset="-122"/>
                <a:cs typeface="+mn-ea"/>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国内没有研发能力，七国八制。自身：什么都不行（产品、品牌、质量、客户关系）</a:t>
              </a:r>
              <a:endParaRPr lang="en-US" altLang="zh-CN" sz="1200" dirty="0">
                <a:solidFill>
                  <a:srgbClr val="000000"/>
                </a:solidFill>
                <a:latin typeface="微软雅黑" panose="020B0503020204020204" pitchFamily="34" charset="-122"/>
                <a:ea typeface="微软雅黑" panose="020B0503020204020204" pitchFamily="34" charset="-122"/>
                <a:cs typeface="+mn-ea"/>
                <a:sym typeface="+mn-lt"/>
              </a:endParaRPr>
            </a:p>
            <a:p>
              <a:pPr lvl="0" eaLnBrk="1" hangingPunct="1">
                <a:lnSpc>
                  <a:spcPct val="130000"/>
                </a:lnSpc>
                <a:spcBef>
                  <a:spcPts val="0"/>
                </a:spcBef>
              </a:pPr>
              <a:r>
                <a:rPr lang="zh-CN" altLang="en-US" sz="1400" b="1" dirty="0">
                  <a:solidFill>
                    <a:srgbClr val="C00000"/>
                  </a:solidFill>
                  <a:latin typeface="Arial" panose="020B0604020202020204" pitchFamily="34" charset="0"/>
                  <a:ea typeface="微软雅黑" panose="020B0503020204020204" pitchFamily="34" charset="-122"/>
                  <a:cs typeface="+mn-ea"/>
                  <a:sym typeface="+mn-lt"/>
                </a:rPr>
                <a:t>战略意图：</a:t>
              </a:r>
              <a:r>
                <a:rPr lang="zh-CN" altLang="en-US" sz="1200" dirty="0">
                  <a:solidFill>
                    <a:srgbClr val="000000"/>
                  </a:solidFill>
                  <a:latin typeface="Arial" panose="020B0604020202020204" pitchFamily="34" charset="0"/>
                  <a:ea typeface="微软雅黑" panose="020B0503020204020204" pitchFamily="34" charset="-122"/>
                  <a:cs typeface="+mn-ea"/>
                  <a:sym typeface="+mn-lt"/>
                </a:rPr>
                <a:t>三分天下</a:t>
              </a:r>
              <a:endParaRPr lang="en-US" altLang="zh-CN" sz="1200" dirty="0">
                <a:solidFill>
                  <a:srgbClr val="000000"/>
                </a:solidFill>
                <a:latin typeface="Arial" panose="020B0604020202020204" pitchFamily="34" charset="0"/>
                <a:ea typeface="微软雅黑" panose="020B0503020204020204" pitchFamily="34" charset="-122"/>
                <a:cs typeface="+mn-ea"/>
                <a:sym typeface="+mn-lt"/>
              </a:endParaRPr>
            </a:p>
            <a:p>
              <a:pPr lvl="0" eaLnBrk="1" hangingPunct="1">
                <a:lnSpc>
                  <a:spcPct val="130000"/>
                </a:lnSpc>
                <a:spcBef>
                  <a:spcPts val="0"/>
                </a:spcBef>
              </a:pPr>
              <a:r>
                <a:rPr lang="zh-CN" altLang="en-US" sz="1400" b="1" dirty="0">
                  <a:solidFill>
                    <a:srgbClr val="C00000"/>
                  </a:solidFill>
                  <a:latin typeface="Arial" panose="020B0604020202020204" pitchFamily="34" charset="0"/>
                  <a:ea typeface="微软雅黑" panose="020B0503020204020204" pitchFamily="34" charset="-122"/>
                  <a:cs typeface="+mn-ea"/>
                  <a:sym typeface="+mn-lt"/>
                </a:rPr>
                <a:t>客户选择：</a:t>
              </a:r>
              <a:endParaRPr lang="en-US" altLang="zh-CN" sz="1400" b="1" dirty="0">
                <a:solidFill>
                  <a:srgbClr val="C00000"/>
                </a:solidFill>
                <a:latin typeface="Arial" panose="020B0604020202020204" pitchFamily="34" charset="0"/>
                <a:ea typeface="微软雅黑" panose="020B0503020204020204" pitchFamily="34" charset="-122"/>
                <a:cs typeface="+mn-ea"/>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农村，县局。（差异化，避开竞争，选择与自身能力匹配的客户）</a:t>
              </a:r>
              <a:endParaRPr lang="en-US" altLang="zh-CN" sz="1200" dirty="0">
                <a:solidFill>
                  <a:srgbClr val="000000"/>
                </a:solidFill>
                <a:latin typeface="微软雅黑" panose="020B0503020204020204" pitchFamily="34" charset="-122"/>
                <a:ea typeface="微软雅黑" panose="020B0503020204020204" pitchFamily="34" charset="-122"/>
                <a:cs typeface="+mn-ea"/>
                <a:sym typeface="+mn-lt"/>
              </a:endParaRPr>
            </a:p>
            <a:p>
              <a:pPr lvl="0" eaLnBrk="1" hangingPunct="1">
                <a:lnSpc>
                  <a:spcPct val="130000"/>
                </a:lnSpc>
                <a:spcBef>
                  <a:spcPts val="0"/>
                </a:spcBef>
              </a:pPr>
              <a:r>
                <a:rPr lang="zh-CN" altLang="en-US" sz="1400" b="1" dirty="0">
                  <a:solidFill>
                    <a:srgbClr val="C00000"/>
                  </a:solidFill>
                  <a:latin typeface="Arial" panose="020B0604020202020204" pitchFamily="34" charset="0"/>
                  <a:ea typeface="微软雅黑" panose="020B0503020204020204" pitchFamily="34" charset="-122"/>
                  <a:cs typeface="+mn-ea"/>
                  <a:sym typeface="+mn-lt"/>
                </a:rPr>
                <a:t>价值主张：</a:t>
              </a:r>
              <a:endParaRPr lang="en-US" altLang="zh-CN" sz="1400" b="1" dirty="0">
                <a:solidFill>
                  <a:srgbClr val="C00000"/>
                </a:solidFill>
                <a:latin typeface="Arial" panose="020B0604020202020204" pitchFamily="34" charset="0"/>
                <a:ea typeface="微软雅黑" panose="020B0503020204020204" pitchFamily="34" charset="-122"/>
                <a:cs typeface="+mn-ea"/>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适合农网的产品特性：电压不稳定、防打雷</a:t>
              </a:r>
              <a:endParaRPr lang="en-US" altLang="zh-CN" sz="1200" dirty="0">
                <a:solidFill>
                  <a:srgbClr val="000000"/>
                </a:solidFill>
                <a:latin typeface="微软雅黑" panose="020B0503020204020204" pitchFamily="34" charset="-122"/>
                <a:ea typeface="微软雅黑" panose="020B0503020204020204" pitchFamily="34" charset="-122"/>
                <a:cs typeface="+mn-ea"/>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服务：态度、反应快、好、免费</a:t>
              </a:r>
              <a:endParaRPr lang="en-US" altLang="zh-CN" sz="1200" dirty="0">
                <a:solidFill>
                  <a:srgbClr val="000000"/>
                </a:solidFill>
                <a:latin typeface="微软雅黑" panose="020B0503020204020204" pitchFamily="34" charset="-122"/>
                <a:ea typeface="微软雅黑" panose="020B0503020204020204" pitchFamily="34" charset="-122"/>
                <a:cs typeface="+mn-ea"/>
                <a:sym typeface="+mn-lt"/>
              </a:endParaRPr>
            </a:p>
            <a:p>
              <a:pPr lvl="0" eaLnBrk="1" hangingPunct="1">
                <a:lnSpc>
                  <a:spcPct val="130000"/>
                </a:lnSpc>
                <a:spcBef>
                  <a:spcPts val="0"/>
                </a:spcBef>
              </a:pPr>
              <a:r>
                <a:rPr lang="zh-CN" altLang="en-US" sz="1400" b="1" dirty="0">
                  <a:solidFill>
                    <a:srgbClr val="C00000"/>
                  </a:solidFill>
                  <a:latin typeface="Arial" panose="020B0604020202020204" pitchFamily="34" charset="0"/>
                  <a:ea typeface="微软雅黑" panose="020B0503020204020204" pitchFamily="34" charset="-122"/>
                  <a:cs typeface="+mn-ea"/>
                  <a:sym typeface="+mn-lt"/>
                </a:rPr>
                <a:t>价值获取：</a:t>
              </a:r>
              <a:endParaRPr lang="en-US" altLang="zh-CN" sz="1400" b="1" dirty="0">
                <a:solidFill>
                  <a:srgbClr val="C00000"/>
                </a:solidFill>
                <a:latin typeface="Arial" panose="020B0604020202020204" pitchFamily="34" charset="0"/>
                <a:ea typeface="微软雅黑" panose="020B0503020204020204" pitchFamily="34" charset="-122"/>
                <a:cs typeface="+mn-ea"/>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客户关系、硬件设备</a:t>
              </a:r>
              <a:endParaRPr lang="en-US" altLang="zh-CN" sz="1200" dirty="0">
                <a:solidFill>
                  <a:srgbClr val="000000"/>
                </a:solidFill>
                <a:latin typeface="微软雅黑" panose="020B0503020204020204" pitchFamily="34" charset="-122"/>
                <a:ea typeface="微软雅黑" panose="020B0503020204020204" pitchFamily="34" charset="-122"/>
                <a:cs typeface="+mn-ea"/>
                <a:sym typeface="+mn-lt"/>
              </a:endParaRPr>
            </a:p>
            <a:p>
              <a:pPr lvl="0" eaLnBrk="1" hangingPunct="1">
                <a:lnSpc>
                  <a:spcPct val="130000"/>
                </a:lnSpc>
                <a:spcBef>
                  <a:spcPts val="0"/>
                </a:spcBef>
              </a:pPr>
              <a:r>
                <a:rPr lang="zh-CN" altLang="en-US" sz="1400" b="1" dirty="0">
                  <a:solidFill>
                    <a:srgbClr val="C00000"/>
                  </a:solidFill>
                  <a:latin typeface="Arial" panose="020B0604020202020204" pitchFamily="34" charset="0"/>
                  <a:ea typeface="微软雅黑" panose="020B0503020204020204" pitchFamily="34" charset="-122"/>
                  <a:cs typeface="+mn-ea"/>
                  <a:sym typeface="+mn-lt"/>
                </a:rPr>
                <a:t>战略控制点：</a:t>
              </a:r>
              <a:endParaRPr lang="en-US" altLang="zh-CN" sz="1400" b="1" dirty="0">
                <a:solidFill>
                  <a:srgbClr val="C00000"/>
                </a:solidFill>
                <a:latin typeface="Arial" panose="020B0604020202020204" pitchFamily="34" charset="0"/>
                <a:ea typeface="微软雅黑" panose="020B0503020204020204" pitchFamily="34" charset="-122"/>
                <a:cs typeface="+mn-ea"/>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FF"/>
                  </a:solidFill>
                  <a:latin typeface="微软雅黑" panose="020B0503020204020204" pitchFamily="34" charset="-122"/>
                  <a:ea typeface="微软雅黑" panose="020B0503020204020204" pitchFamily="34" charset="-122"/>
                  <a:cs typeface="+mn-ea"/>
                  <a:sym typeface="+mn-lt"/>
                </a:rPr>
                <a:t>贴近客户的服务网络</a:t>
              </a:r>
              <a:endParaRPr lang="en-US" altLang="zh-CN" sz="1200" dirty="0">
                <a:solidFill>
                  <a:srgbClr val="0000FF"/>
                </a:solidFill>
                <a:latin typeface="微软雅黑" panose="020B0503020204020204" pitchFamily="34" charset="-122"/>
                <a:ea typeface="微软雅黑" panose="020B0503020204020204" pitchFamily="34" charset="-122"/>
                <a:cs typeface="+mn-ea"/>
                <a:sym typeface="+mn-lt"/>
              </a:endParaRPr>
            </a:p>
            <a:p>
              <a:pPr lvl="0" eaLnBrk="1" hangingPunct="1">
                <a:lnSpc>
                  <a:spcPct val="130000"/>
                </a:lnSpc>
                <a:spcBef>
                  <a:spcPts val="0"/>
                </a:spcBef>
              </a:pPr>
              <a:r>
                <a:rPr lang="zh-CN" altLang="en-US" sz="1400" b="1" dirty="0">
                  <a:solidFill>
                    <a:srgbClr val="C00000"/>
                  </a:solidFill>
                  <a:latin typeface="Arial" panose="020B0604020202020204" pitchFamily="34" charset="0"/>
                  <a:ea typeface="微软雅黑" panose="020B0503020204020204" pitchFamily="34" charset="-122"/>
                  <a:cs typeface="+mn-ea"/>
                  <a:sym typeface="+mn-lt"/>
                </a:rPr>
                <a:t>战略执行：</a:t>
              </a:r>
              <a:endParaRPr lang="en-US" altLang="zh-CN" sz="1400" b="1" dirty="0">
                <a:solidFill>
                  <a:srgbClr val="C00000"/>
                </a:solidFill>
                <a:latin typeface="Arial" panose="020B0604020202020204" pitchFamily="34" charset="0"/>
                <a:ea typeface="微软雅黑" panose="020B0503020204020204" pitchFamily="34" charset="-122"/>
                <a:cs typeface="+mn-ea"/>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创始人的奋力牵引及创业文化：垫子文化；胜则举杯相庆、败则拼死相救；以客户为中心</a:t>
              </a:r>
              <a:endParaRPr lang="en-US" altLang="zh-CN" sz="1200" dirty="0">
                <a:solidFill>
                  <a:srgbClr val="000000"/>
                </a:solidFill>
                <a:latin typeface="微软雅黑" panose="020B0503020204020204" pitchFamily="34" charset="-122"/>
                <a:ea typeface="微软雅黑" panose="020B0503020204020204" pitchFamily="34" charset="-122"/>
                <a:cs typeface="+mn-ea"/>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机会牵引人才，人才牵引产品，产品牵引客户，客户牵引机会</a:t>
              </a:r>
            </a:p>
          </p:txBody>
        </p:sp>
        <p:grpSp>
          <p:nvGrpSpPr>
            <p:cNvPr id="11" name="组合 10"/>
            <p:cNvGrpSpPr/>
            <p:nvPr/>
          </p:nvGrpSpPr>
          <p:grpSpPr>
            <a:xfrm>
              <a:off x="12047" y="4159"/>
              <a:ext cx="4252" cy="2370"/>
              <a:chOff x="8167558" y="2933648"/>
              <a:chExt cx="3600400" cy="2006378"/>
            </a:xfrm>
          </p:grpSpPr>
          <p:sp>
            <p:nvSpPr>
              <p:cNvPr id="4" name="TextBox 3"/>
              <p:cNvSpPr txBox="1"/>
              <p:nvPr/>
            </p:nvSpPr>
            <p:spPr>
              <a:xfrm>
                <a:off x="8167558" y="2933648"/>
                <a:ext cx="3600400" cy="393585"/>
              </a:xfrm>
              <a:prstGeom prst="rect">
                <a:avLst/>
              </a:prstGeom>
              <a:solidFill>
                <a:srgbClr val="0070C0"/>
              </a:solidFill>
              <a:ln>
                <a:noFill/>
              </a:ln>
            </p:spPr>
            <p:txBody>
              <a:bodyPr wrap="square" lIns="91437" tIns="45718" rIns="91437" bIns="45718" rtlCol="0">
                <a:spAutoFit/>
              </a:bodyPr>
              <a:lstStyle/>
              <a:p>
                <a:pPr eaLnBrk="1" hangingPunct="1">
                  <a:lnSpc>
                    <a:spcPct val="130000"/>
                  </a:lnSpc>
                  <a:spcBef>
                    <a:spcPts val="0"/>
                  </a:spcBef>
                </a:pPr>
                <a:r>
                  <a:rPr lang="zh-CN" altLang="en-US" sz="1200" b="1" dirty="0">
                    <a:solidFill>
                      <a:schemeClr val="bg1"/>
                    </a:solidFill>
                    <a:latin typeface="Arial" panose="020B0604020202020204" pitchFamily="34" charset="0"/>
                    <a:ea typeface="微软雅黑" panose="020B0503020204020204" pitchFamily="34" charset="-122"/>
                    <a:cs typeface="+mn-ea"/>
                    <a:sym typeface="+mn-lt"/>
                  </a:rPr>
                  <a:t>公司内的富二代创业现象：</a:t>
                </a:r>
              </a:p>
            </p:txBody>
          </p:sp>
          <p:sp>
            <p:nvSpPr>
              <p:cNvPr id="10" name="矩形 9"/>
              <p:cNvSpPr/>
              <p:nvPr/>
            </p:nvSpPr>
            <p:spPr>
              <a:xfrm>
                <a:off x="8167558" y="3399055"/>
                <a:ext cx="3600400" cy="1540971"/>
              </a:xfrm>
              <a:prstGeom prst="rect">
                <a:avLst/>
              </a:prstGeom>
              <a:solidFill>
                <a:srgbClr val="D4EAF5"/>
              </a:solidFill>
            </p:spPr>
            <p:txBody>
              <a:bodyPr wrap="square">
                <a:spAutoFit/>
              </a:bodyPr>
              <a:lstStyle/>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latin typeface="微软雅黑" panose="020B0503020204020204" pitchFamily="34" charset="-122"/>
                    <a:ea typeface="微软雅黑" panose="020B0503020204020204" pitchFamily="34" charset="-122"/>
                    <a:cs typeface="+mn-ea"/>
                    <a:sym typeface="+mn-lt"/>
                  </a:rPr>
                  <a:t>想当然能复制成功</a:t>
                </a:r>
                <a:endParaRPr lang="en-US" altLang="zh-CN" sz="1200" dirty="0">
                  <a:latin typeface="微软雅黑" panose="020B0503020204020204" pitchFamily="34" charset="-122"/>
                  <a:ea typeface="微软雅黑" panose="020B0503020204020204" pitchFamily="34" charset="-122"/>
                  <a:cs typeface="+mn-ea"/>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latin typeface="微软雅黑" panose="020B0503020204020204" pitchFamily="34" charset="-122"/>
                    <a:ea typeface="微软雅黑" panose="020B0503020204020204" pitchFamily="34" charset="-122"/>
                    <a:cs typeface="+mn-ea"/>
                    <a:sym typeface="+mn-lt"/>
                  </a:rPr>
                  <a:t>考核急功近利</a:t>
                </a:r>
                <a:endParaRPr lang="en-US" altLang="zh-CN" sz="1200" dirty="0">
                  <a:latin typeface="微软雅黑" panose="020B0503020204020204" pitchFamily="34" charset="-122"/>
                  <a:ea typeface="微软雅黑" panose="020B0503020204020204" pitchFamily="34" charset="-122"/>
                  <a:cs typeface="+mn-ea"/>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latin typeface="微软雅黑" panose="020B0503020204020204" pitchFamily="34" charset="-122"/>
                    <a:ea typeface="微软雅黑" panose="020B0503020204020204" pitchFamily="34" charset="-122"/>
                    <a:cs typeface="+mn-ea"/>
                    <a:sym typeface="+mn-lt"/>
                  </a:rPr>
                  <a:t>没人愿意去，预算难到位</a:t>
                </a:r>
                <a:endParaRPr lang="en-US" altLang="zh-CN" sz="1200" dirty="0">
                  <a:latin typeface="微软雅黑" panose="020B0503020204020204" pitchFamily="34" charset="-122"/>
                  <a:ea typeface="微软雅黑" panose="020B0503020204020204" pitchFamily="34" charset="-122"/>
                  <a:cs typeface="+mn-ea"/>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latin typeface="微软雅黑" panose="020B0503020204020204" pitchFamily="34" charset="-122"/>
                    <a:ea typeface="微软雅黑" panose="020B0503020204020204" pitchFamily="34" charset="-122"/>
                    <a:cs typeface="+mn-ea"/>
                    <a:sym typeface="+mn-lt"/>
                  </a:rPr>
                  <a:t>想要高待遇</a:t>
                </a:r>
                <a:endParaRPr lang="en-US" altLang="zh-CN" sz="1200" dirty="0">
                  <a:latin typeface="微软雅黑" panose="020B0503020204020204" pitchFamily="34" charset="-122"/>
                  <a:ea typeface="微软雅黑" panose="020B0503020204020204" pitchFamily="34" charset="-122"/>
                  <a:cs typeface="+mn-ea"/>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latin typeface="微软雅黑" panose="020B0503020204020204" pitchFamily="34" charset="-122"/>
                    <a:ea typeface="微软雅黑" panose="020B0503020204020204" pitchFamily="34" charset="-122"/>
                    <a:cs typeface="+mn-ea"/>
                    <a:sym typeface="+mn-lt"/>
                  </a:rPr>
                  <a:t>不创新</a:t>
                </a:r>
                <a:endParaRPr lang="en-US" altLang="zh-CN" sz="1200" dirty="0">
                  <a:latin typeface="微软雅黑" panose="020B0503020204020204" pitchFamily="34" charset="-122"/>
                  <a:ea typeface="微软雅黑" panose="020B0503020204020204" pitchFamily="34" charset="-122"/>
                  <a:cs typeface="+mn-ea"/>
                  <a:sym typeface="+mn-lt"/>
                </a:endParaRPr>
              </a:p>
            </p:txBody>
          </p:sp>
        </p:grpSp>
      </p:grpSp>
      <p:sp>
        <p:nvSpPr>
          <p:cNvPr id="2" name="标题 1"/>
          <p:cNvSpPr txBox="1"/>
          <p:nvPr/>
        </p:nvSpPr>
        <p:spPr>
          <a:xfrm>
            <a:off x="498814" y="581250"/>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2060"/>
                </a:solidFill>
                <a:latin typeface="微软雅黑" panose="020B0503020204020204" pitchFamily="34" charset="-122"/>
                <a:ea typeface="微软雅黑" panose="020B0503020204020204" pitchFamily="34" charset="-122"/>
                <a:cs typeface="+mn-ea"/>
                <a:sym typeface="+mn-lt"/>
              </a:rPr>
              <a:t>案例1：华为起步期的战略（1988—95年）</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服务为王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组合 3"/>
          <p:cNvGrpSpPr/>
          <p:nvPr/>
        </p:nvGrpSpPr>
        <p:grpSpPr>
          <a:xfrm>
            <a:off x="3810" y="1430655"/>
            <a:ext cx="12200890" cy="4740492"/>
            <a:chOff x="2401" y="2253"/>
            <a:chExt cx="14409" cy="6727"/>
          </a:xfrm>
        </p:grpSpPr>
        <p:sp>
          <p:nvSpPr>
            <p:cNvPr id="9" name="矩形 8"/>
            <p:cNvSpPr/>
            <p:nvPr/>
          </p:nvSpPr>
          <p:spPr>
            <a:xfrm>
              <a:off x="3562" y="2253"/>
              <a:ext cx="10395" cy="5969"/>
            </a:xfrm>
            <a:prstGeom prst="rect">
              <a:avLst/>
            </a:prstGeom>
          </p:spPr>
          <p:txBody>
            <a:bodyPr wrap="square">
              <a:spAutoFit/>
            </a:bodyPr>
            <a:lstStyle/>
            <a:p>
              <a:pPr lvl="0" eaLnBrk="1" hangingPunct="1">
                <a:lnSpc>
                  <a:spcPct val="130000"/>
                </a:lnSpc>
                <a:spcBef>
                  <a:spcPts val="0"/>
                </a:spcBef>
              </a:pPr>
              <a:r>
                <a:rPr lang="zh-CN" altLang="en-US"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市场洞察： </a:t>
              </a:r>
              <a:endParaRPr lang="en-US" altLang="zh-CN"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移动电话开始普及，爆发式增长。</a:t>
              </a:r>
              <a:r>
                <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3G</a:t>
              </a: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是全球行业重新洗牌的战略机会。</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自身：在固网领域已经奠定了格局，如何成为全球无线设备的主流供应商？</a:t>
              </a:r>
            </a:p>
            <a:p>
              <a:pPr lvl="0" eaLnBrk="1" hangingPunct="1">
                <a:lnSpc>
                  <a:spcPct val="130000"/>
                </a:lnSpc>
                <a:spcBef>
                  <a:spcPts val="0"/>
                </a:spcBef>
              </a:pPr>
              <a:r>
                <a:rPr lang="zh-CN" altLang="en-US"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战略意图：</a:t>
              </a: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全球行业领导者</a:t>
              </a:r>
              <a:endPar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lvl="0" eaLnBrk="1" hangingPunct="1">
                <a:lnSpc>
                  <a:spcPct val="130000"/>
                </a:lnSpc>
                <a:spcBef>
                  <a:spcPts val="0"/>
                </a:spcBef>
              </a:pPr>
              <a:r>
                <a:rPr lang="zh-CN" altLang="en-US"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客户选择：</a:t>
              </a:r>
              <a:endParaRPr lang="en-US" altLang="zh-CN"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海外：</a:t>
              </a:r>
              <a:r>
                <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HK/</a:t>
              </a: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中东突破；大</a:t>
              </a:r>
              <a:r>
                <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T</a:t>
              </a: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（持久战）</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国内：继续在</a:t>
              </a:r>
              <a:r>
                <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GSM</a:t>
              </a: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上想办法，不放弃（边际网）</a:t>
              </a:r>
            </a:p>
            <a:p>
              <a:pPr lvl="0" eaLnBrk="1" hangingPunct="1">
                <a:lnSpc>
                  <a:spcPct val="130000"/>
                </a:lnSpc>
                <a:spcBef>
                  <a:spcPts val="0"/>
                </a:spcBef>
              </a:pPr>
              <a:r>
                <a:rPr lang="zh-CN" altLang="en-US"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价值主张：</a:t>
              </a:r>
              <a:endParaRPr lang="en-US" altLang="zh-CN"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创新的分布式基站：解决客户机房空间不够的问题</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TK</a:t>
              </a: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解决方案：从产品到土建工程</a:t>
              </a:r>
            </a:p>
            <a:p>
              <a:pPr lvl="0" eaLnBrk="1" hangingPunct="1">
                <a:lnSpc>
                  <a:spcPct val="130000"/>
                </a:lnSpc>
                <a:spcBef>
                  <a:spcPts val="0"/>
                </a:spcBef>
              </a:pPr>
              <a:r>
                <a:rPr lang="zh-CN" altLang="en-US"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价值获取：</a:t>
              </a:r>
              <a:endParaRPr lang="en-US" altLang="zh-CN"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跑马圈地，先亏再赚</a:t>
              </a:r>
            </a:p>
            <a:p>
              <a:pPr lvl="0" eaLnBrk="1" hangingPunct="1">
                <a:lnSpc>
                  <a:spcPct val="130000"/>
                </a:lnSpc>
                <a:spcBef>
                  <a:spcPts val="0"/>
                </a:spcBef>
              </a:pPr>
              <a:r>
                <a:rPr lang="zh-CN" altLang="en-US"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战略控制点：</a:t>
              </a:r>
              <a:endParaRPr lang="en-US" altLang="zh-CN"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rPr>
                <a:t>技术创新，工程能力，低成本优势，质量好，快速响应客户需求</a:t>
              </a:r>
              <a:endParaRPr lang="en-US" altLang="zh-CN" sz="12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lvl="0" eaLnBrk="1" hangingPunct="1">
                <a:lnSpc>
                  <a:spcPct val="130000"/>
                </a:lnSpc>
                <a:spcBef>
                  <a:spcPts val="0"/>
                </a:spcBef>
              </a:pPr>
              <a:r>
                <a:rPr lang="zh-CN" altLang="en-US"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战略执行：</a:t>
              </a:r>
              <a:endParaRPr lang="en-US" altLang="zh-CN"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lt"/>
                </a:rPr>
                <a:t>研发大量输出干部；争第一的文化</a:t>
              </a:r>
            </a:p>
          </p:txBody>
        </p:sp>
        <p:sp>
          <p:nvSpPr>
            <p:cNvPr id="8" name="矩形 7"/>
            <p:cNvSpPr/>
            <p:nvPr/>
          </p:nvSpPr>
          <p:spPr>
            <a:xfrm>
              <a:off x="2401" y="8503"/>
              <a:ext cx="14409" cy="477"/>
            </a:xfrm>
            <a:prstGeom prst="rect">
              <a:avLst/>
            </a:prstGeom>
            <a:solidFill>
              <a:srgbClr val="0070C0"/>
            </a:solidFill>
          </p:spPr>
          <p:txBody>
            <a:bodyPr wrap="square" lIns="91437" tIns="45718" rIns="91437" bIns="45718">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lt"/>
                </a:rPr>
                <a:t>华为移动产业逐步超越了</a:t>
              </a:r>
              <a:r>
                <a:rPr lang="en-US" altLang="zh-CN" sz="1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lt"/>
                </a:rPr>
                <a:t>Moto</a:t>
              </a:r>
              <a:r>
                <a:rPr lang="zh-CN" altLang="en-US" sz="1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lt"/>
                </a:rPr>
                <a:t>、北电、诺基亚、阿尔卡特等，目前全球</a:t>
              </a:r>
              <a:r>
                <a:rPr lang="en-US" altLang="zh-CN" sz="1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lt"/>
                </a:rPr>
                <a:t>NO1</a:t>
              </a:r>
            </a:p>
          </p:txBody>
        </p:sp>
        <p:grpSp>
          <p:nvGrpSpPr>
            <p:cNvPr id="10" name="组合 9"/>
            <p:cNvGrpSpPr/>
            <p:nvPr/>
          </p:nvGrpSpPr>
          <p:grpSpPr>
            <a:xfrm>
              <a:off x="11934" y="3976"/>
              <a:ext cx="4252" cy="2494"/>
              <a:chOff x="8167558" y="2837975"/>
              <a:chExt cx="3600400" cy="2111351"/>
            </a:xfrm>
          </p:grpSpPr>
          <p:sp>
            <p:nvSpPr>
              <p:cNvPr id="11" name="TextBox 3"/>
              <p:cNvSpPr txBox="1"/>
              <p:nvPr/>
            </p:nvSpPr>
            <p:spPr>
              <a:xfrm>
                <a:off x="8167558" y="2837975"/>
                <a:ext cx="3600400" cy="395960"/>
              </a:xfrm>
              <a:prstGeom prst="rect">
                <a:avLst/>
              </a:prstGeom>
              <a:solidFill>
                <a:srgbClr val="0070C0"/>
              </a:solidFill>
              <a:ln>
                <a:noFill/>
              </a:ln>
            </p:spPr>
            <p:txBody>
              <a:bodyPr wrap="square" lIns="91437" tIns="45718" rIns="91437" bIns="45718" rtlCol="0">
                <a:spAutoFit/>
              </a:bodyPr>
              <a:lstStyle/>
              <a:p>
                <a:pPr eaLnBrk="1" hangingPunct="1">
                  <a:lnSpc>
                    <a:spcPct val="130000"/>
                  </a:lnSpc>
                  <a:spcBef>
                    <a:spcPts val="0"/>
                  </a:spcBef>
                </a:pPr>
                <a:r>
                  <a:rPr lang="zh-CN" altLang="en-US" sz="1200" b="1" dirty="0">
                    <a:solidFill>
                      <a:schemeClr val="bg1"/>
                    </a:solidFill>
                    <a:latin typeface="微软雅黑" panose="020B0503020204020204" pitchFamily="34" charset="-122"/>
                    <a:ea typeface="微软雅黑" panose="020B0503020204020204" pitchFamily="34" charset="-122"/>
                    <a:cs typeface="+mn-ea"/>
                    <a:sym typeface="+mn-lt"/>
                  </a:rPr>
                  <a:t>需克服困难</a:t>
                </a:r>
              </a:p>
            </p:txBody>
          </p:sp>
          <p:sp>
            <p:nvSpPr>
              <p:cNvPr id="12" name="矩形 11"/>
              <p:cNvSpPr/>
              <p:nvPr/>
            </p:nvSpPr>
            <p:spPr>
              <a:xfrm>
                <a:off x="8167558" y="3399055"/>
                <a:ext cx="3600400" cy="1550271"/>
              </a:xfrm>
              <a:prstGeom prst="rect">
                <a:avLst/>
              </a:prstGeom>
              <a:solidFill>
                <a:srgbClr val="D4EAF5"/>
              </a:solidFill>
            </p:spPr>
            <p:txBody>
              <a:bodyPr wrap="square">
                <a:spAutoFit/>
              </a:bodyPr>
              <a:lstStyle/>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latin typeface="微软雅黑" panose="020B0503020204020204" pitchFamily="34" charset="-122"/>
                    <a:ea typeface="微软雅黑" panose="020B0503020204020204" pitchFamily="34" charset="-122"/>
                    <a:cs typeface="+mn-ea"/>
                    <a:sym typeface="+mn-lt"/>
                  </a:rPr>
                  <a:t>战略坚持</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latin typeface="微软雅黑" panose="020B0503020204020204" pitchFamily="34" charset="-122"/>
                    <a:ea typeface="微软雅黑" panose="020B0503020204020204" pitchFamily="34" charset="-122"/>
                    <a:cs typeface="+mn-ea"/>
                    <a:sym typeface="+mn-lt"/>
                  </a:rPr>
                  <a:t>鼓舞信心</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latin typeface="微软雅黑" panose="020B0503020204020204" pitchFamily="34" charset="-122"/>
                    <a:ea typeface="微软雅黑" panose="020B0503020204020204" pitchFamily="34" charset="-122"/>
                    <a:cs typeface="+mn-ea"/>
                    <a:sym typeface="+mn-lt"/>
                  </a:rPr>
                  <a:t>敢于胜利</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latin typeface="微软雅黑" panose="020B0503020204020204" pitchFamily="34" charset="-122"/>
                    <a:ea typeface="微软雅黑" panose="020B0503020204020204" pitchFamily="34" charset="-122"/>
                    <a:cs typeface="+mn-ea"/>
                    <a:sym typeface="+mn-lt"/>
                  </a:rPr>
                  <a:t>战略制高点的不断进攻</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latin typeface="微软雅黑" panose="020B0503020204020204" pitchFamily="34" charset="-122"/>
                    <a:ea typeface="微软雅黑" panose="020B0503020204020204" pitchFamily="34" charset="-122"/>
                    <a:cs typeface="+mn-ea"/>
                    <a:sym typeface="+mn-lt"/>
                  </a:rPr>
                  <a:t>跟随对手，怕冒风险</a:t>
                </a:r>
              </a:p>
            </p:txBody>
          </p:sp>
        </p:grpSp>
      </p:grpSp>
      <p:sp>
        <p:nvSpPr>
          <p:cNvPr id="2" name="标题 1"/>
          <p:cNvSpPr txBox="1"/>
          <p:nvPr/>
        </p:nvSpPr>
        <p:spPr>
          <a:xfrm>
            <a:off x="522698" y="515055"/>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2060"/>
                </a:solidFill>
                <a:latin typeface="微软雅黑" panose="020B0503020204020204" pitchFamily="34" charset="-122"/>
                <a:ea typeface="微软雅黑" panose="020B0503020204020204" pitchFamily="34" charset="-122"/>
                <a:cs typeface="+mn-ea"/>
                <a:sym typeface="+mn-lt"/>
              </a:rPr>
              <a:t>案例2：华为发展期战略复盘（199</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4</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-200</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9</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年）</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技术为王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3005"/>
            <a:ext cx="12206605" cy="522605"/>
          </a:xfrm>
          <a:prstGeom prst="rect">
            <a:avLst/>
          </a:prstGeom>
        </p:spPr>
      </p:pic>
      <p:grpSp>
        <p:nvGrpSpPr>
          <p:cNvPr id="4" name="组合 3"/>
          <p:cNvGrpSpPr/>
          <p:nvPr/>
        </p:nvGrpSpPr>
        <p:grpSpPr>
          <a:xfrm>
            <a:off x="-6985" y="1057659"/>
            <a:ext cx="12218881" cy="4900665"/>
            <a:chOff x="2400" y="1906"/>
            <a:chExt cx="14439" cy="7687"/>
          </a:xfrm>
        </p:grpSpPr>
        <p:sp>
          <p:nvSpPr>
            <p:cNvPr id="8" name="矩形 7"/>
            <p:cNvSpPr/>
            <p:nvPr/>
          </p:nvSpPr>
          <p:spPr>
            <a:xfrm>
              <a:off x="3562" y="1906"/>
              <a:ext cx="13010" cy="6974"/>
            </a:xfrm>
            <a:prstGeom prst="rect">
              <a:avLst/>
            </a:prstGeom>
          </p:spPr>
          <p:txBody>
            <a:bodyPr wrap="square">
              <a:spAutoFit/>
            </a:bodyPr>
            <a:lstStyle/>
            <a:p>
              <a:pPr lvl="0" eaLnBrk="1" hangingPunct="1">
                <a:lnSpc>
                  <a:spcPct val="130000"/>
                </a:lnSpc>
                <a:spcBef>
                  <a:spcPts val="0"/>
                </a:spcBef>
              </a:pPr>
              <a:r>
                <a:rPr lang="zh-CN" altLang="en-US" sz="1400" b="1" dirty="0">
                  <a:solidFill>
                    <a:srgbClr val="C00000"/>
                  </a:solidFill>
                  <a:latin typeface="Arial" panose="020B0604020202020204" pitchFamily="34" charset="0"/>
                  <a:ea typeface="微软雅黑" panose="020B0503020204020204" pitchFamily="34" charset="-122"/>
                  <a:cs typeface="+mn-ea"/>
                  <a:sym typeface="+mn-lt"/>
                </a:rPr>
                <a:t>市场洞察： </a:t>
              </a:r>
              <a:endParaRPr lang="en-US" altLang="zh-CN" sz="1400" b="1" dirty="0">
                <a:solidFill>
                  <a:srgbClr val="C00000"/>
                </a:solidFill>
                <a:latin typeface="Arial" panose="020B0604020202020204" pitchFamily="34" charset="0"/>
                <a:ea typeface="微软雅黑" panose="020B0503020204020204" pitchFamily="34" charset="-122"/>
                <a:cs typeface="+mn-ea"/>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电信市场渗透率基本饱和，市场增长有限</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行业价值向终端、软件转移，商业模式向云服务的方式转移</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自身：传统电信市场份额已经第一。硬件能力领先</a:t>
              </a:r>
            </a:p>
            <a:p>
              <a:pPr lvl="0" eaLnBrk="1" hangingPunct="1">
                <a:lnSpc>
                  <a:spcPct val="130000"/>
                </a:lnSpc>
                <a:spcBef>
                  <a:spcPts val="0"/>
                </a:spcBef>
              </a:pPr>
              <a:r>
                <a:rPr lang="zh-CN" altLang="en-US" sz="1400" b="1" dirty="0">
                  <a:solidFill>
                    <a:srgbClr val="C00000"/>
                  </a:solidFill>
                  <a:latin typeface="Arial" panose="020B0604020202020204" pitchFamily="34" charset="0"/>
                  <a:ea typeface="微软雅黑" panose="020B0503020204020204" pitchFamily="34" charset="-122"/>
                  <a:cs typeface="+mn-ea"/>
                  <a:sym typeface="+mn-lt"/>
                </a:rPr>
                <a:t>战略意图（新愿景）：</a:t>
              </a:r>
              <a:r>
                <a:rPr lang="zh-CN" altLang="en-US" sz="1200" dirty="0">
                  <a:solidFill>
                    <a:srgbClr val="000000"/>
                  </a:solidFill>
                  <a:latin typeface="Arial" panose="020B0604020202020204" pitchFamily="34" charset="0"/>
                  <a:ea typeface="微软雅黑" panose="020B0503020204020204" pitchFamily="34" charset="-122"/>
                  <a:cs typeface="+mn-ea"/>
                  <a:sym typeface="+mn-lt"/>
                </a:rPr>
                <a:t>使能数字化，构筑万物互联的智能世界</a:t>
              </a:r>
              <a:endParaRPr lang="en-US" altLang="zh-CN" sz="1200" dirty="0">
                <a:solidFill>
                  <a:srgbClr val="000000"/>
                </a:solidFill>
                <a:latin typeface="Arial" panose="020B0604020202020204" pitchFamily="34" charset="0"/>
                <a:ea typeface="微软雅黑" panose="020B0503020204020204" pitchFamily="34" charset="-122"/>
                <a:cs typeface="+mn-ea"/>
                <a:sym typeface="+mn-lt"/>
              </a:endParaRPr>
            </a:p>
            <a:p>
              <a:pPr lvl="0" eaLnBrk="1" hangingPunct="1">
                <a:lnSpc>
                  <a:spcPct val="130000"/>
                </a:lnSpc>
                <a:spcBef>
                  <a:spcPts val="0"/>
                </a:spcBef>
              </a:pPr>
              <a:r>
                <a:rPr lang="zh-CN" altLang="en-US" sz="1400" b="1" dirty="0">
                  <a:solidFill>
                    <a:srgbClr val="C00000"/>
                  </a:solidFill>
                  <a:latin typeface="Arial" panose="020B0604020202020204" pitchFamily="34" charset="0"/>
                  <a:ea typeface="微软雅黑" panose="020B0503020204020204" pitchFamily="34" charset="-122"/>
                  <a:cs typeface="+mn-ea"/>
                  <a:sym typeface="+mn-lt"/>
                </a:rPr>
                <a:t>客户选择：</a:t>
              </a:r>
              <a:endParaRPr lang="en-US" altLang="zh-CN" sz="1400" b="1" dirty="0">
                <a:solidFill>
                  <a:srgbClr val="C00000"/>
                </a:solidFill>
                <a:latin typeface="Arial" panose="020B0604020202020204" pitchFamily="34" charset="0"/>
                <a:ea typeface="微软雅黑" panose="020B0503020204020204" pitchFamily="34" charset="-122"/>
                <a:cs typeface="+mn-ea"/>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电信运营商、行业</a:t>
              </a:r>
              <a:r>
                <a:rPr lang="en-US" altLang="zh-CN" sz="1200" dirty="0">
                  <a:solidFill>
                    <a:srgbClr val="000000"/>
                  </a:solidFill>
                  <a:latin typeface="微软雅黑" panose="020B0503020204020204" pitchFamily="34" charset="-122"/>
                  <a:ea typeface="微软雅黑" panose="020B0503020204020204" pitchFamily="34" charset="-122"/>
                  <a:cs typeface="+mn-ea"/>
                  <a:sym typeface="+mn-lt"/>
                </a:rPr>
                <a:t>/</a:t>
              </a: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企业、消费者（</a:t>
              </a:r>
              <a:r>
                <a:rPr lang="en-US" altLang="zh-CN" sz="1200" dirty="0">
                  <a:solidFill>
                    <a:srgbClr val="000000"/>
                  </a:solidFill>
                  <a:latin typeface="微软雅黑" panose="020B0503020204020204" pitchFamily="34" charset="-122"/>
                  <a:ea typeface="微软雅黑" panose="020B0503020204020204" pitchFamily="34" charset="-122"/>
                  <a:cs typeface="+mn-ea"/>
                  <a:sym typeface="+mn-lt"/>
                </a:rPr>
                <a:t>ICT</a:t>
              </a: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领域</a:t>
              </a:r>
              <a:r>
                <a:rPr lang="en-US" altLang="zh-CN" sz="1200" dirty="0">
                  <a:solidFill>
                    <a:srgbClr val="000000"/>
                  </a:solidFill>
                  <a:latin typeface="微软雅黑" panose="020B0503020204020204" pitchFamily="34" charset="-122"/>
                  <a:ea typeface="微软雅黑" panose="020B0503020204020204" pitchFamily="34" charset="-122"/>
                  <a:cs typeface="+mn-ea"/>
                  <a:sym typeface="+mn-lt"/>
                </a:rPr>
                <a:t>/</a:t>
              </a: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数学</a:t>
              </a:r>
              <a:r>
                <a:rPr lang="en-US" altLang="zh-CN" sz="1200" dirty="0">
                  <a:solidFill>
                    <a:srgbClr val="000000"/>
                  </a:solidFill>
                  <a:latin typeface="微软雅黑" panose="020B0503020204020204" pitchFamily="34" charset="-122"/>
                  <a:ea typeface="微软雅黑" panose="020B0503020204020204" pitchFamily="34" charset="-122"/>
                  <a:cs typeface="+mn-ea"/>
                  <a:sym typeface="+mn-lt"/>
                </a:rPr>
                <a:t>/</a:t>
              </a: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逻辑，不进物理</a:t>
              </a:r>
              <a:r>
                <a:rPr lang="en-US" altLang="zh-CN" sz="1200" dirty="0">
                  <a:solidFill>
                    <a:srgbClr val="000000"/>
                  </a:solidFill>
                  <a:latin typeface="微软雅黑" panose="020B0503020204020204" pitchFamily="34" charset="-122"/>
                  <a:ea typeface="微软雅黑" panose="020B0503020204020204" pitchFamily="34" charset="-122"/>
                  <a:cs typeface="+mn-ea"/>
                  <a:sym typeface="+mn-lt"/>
                </a:rPr>
                <a:t>/</a:t>
              </a: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化学）</a:t>
              </a:r>
            </a:p>
            <a:p>
              <a:pPr lvl="0" eaLnBrk="1" hangingPunct="1">
                <a:lnSpc>
                  <a:spcPct val="130000"/>
                </a:lnSpc>
                <a:spcBef>
                  <a:spcPts val="0"/>
                </a:spcBef>
              </a:pPr>
              <a:r>
                <a:rPr lang="zh-CN" altLang="en-US" sz="1400" b="1" dirty="0">
                  <a:solidFill>
                    <a:srgbClr val="C00000"/>
                  </a:solidFill>
                  <a:latin typeface="Arial" panose="020B0604020202020204" pitchFamily="34" charset="0"/>
                  <a:ea typeface="微软雅黑" panose="020B0503020204020204" pitchFamily="34" charset="-122"/>
                  <a:cs typeface="+mn-ea"/>
                  <a:sym typeface="+mn-lt"/>
                </a:rPr>
                <a:t>价值主张：</a:t>
              </a:r>
              <a:endParaRPr lang="en-US" altLang="zh-CN" sz="1400" b="1" dirty="0">
                <a:solidFill>
                  <a:srgbClr val="C00000"/>
                </a:solidFill>
                <a:latin typeface="Arial" panose="020B0604020202020204" pitchFamily="34" charset="0"/>
                <a:ea typeface="微软雅黑" panose="020B0503020204020204" pitchFamily="34" charset="-122"/>
                <a:cs typeface="+mn-ea"/>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老产业：创新、扩大产业空间</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新产业：为行业及客户提供创新的价值</a:t>
              </a:r>
            </a:p>
            <a:p>
              <a:pPr lvl="0" eaLnBrk="1" hangingPunct="1">
                <a:lnSpc>
                  <a:spcPct val="130000"/>
                </a:lnSpc>
                <a:spcBef>
                  <a:spcPts val="0"/>
                </a:spcBef>
              </a:pPr>
              <a:r>
                <a:rPr lang="zh-CN" altLang="en-US" sz="1400" b="1" dirty="0">
                  <a:solidFill>
                    <a:srgbClr val="C00000"/>
                  </a:solidFill>
                  <a:latin typeface="Arial" panose="020B0604020202020204" pitchFamily="34" charset="0"/>
                  <a:ea typeface="微软雅黑" panose="020B0503020204020204" pitchFamily="34" charset="-122"/>
                  <a:cs typeface="+mn-ea"/>
                  <a:sym typeface="+mn-lt"/>
                </a:rPr>
                <a:t>价值获取：</a:t>
              </a:r>
              <a:endParaRPr lang="en-US" altLang="zh-CN" sz="1400" b="1" dirty="0">
                <a:solidFill>
                  <a:srgbClr val="C00000"/>
                </a:solidFill>
                <a:latin typeface="Arial" panose="020B0604020202020204" pitchFamily="34" charset="0"/>
                <a:ea typeface="微软雅黑" panose="020B0503020204020204" pitchFamily="34" charset="-122"/>
                <a:cs typeface="+mn-ea"/>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老产业：精细化运营</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终端</a:t>
              </a:r>
              <a:r>
                <a:rPr lang="en-US" altLang="zh-CN" sz="1200" dirty="0">
                  <a:solidFill>
                    <a:srgbClr val="000000"/>
                  </a:solidFill>
                  <a:latin typeface="微软雅黑" panose="020B0503020204020204" pitchFamily="34" charset="-122"/>
                  <a:ea typeface="微软雅黑" panose="020B0503020204020204" pitchFamily="34" charset="-122"/>
                  <a:cs typeface="+mn-ea"/>
                  <a:sym typeface="+mn-lt"/>
                </a:rPr>
                <a:t>/</a:t>
              </a: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企业网</a:t>
              </a:r>
              <a:r>
                <a:rPr lang="en-US" altLang="zh-CN" sz="1200" dirty="0">
                  <a:solidFill>
                    <a:srgbClr val="000000"/>
                  </a:solidFill>
                  <a:latin typeface="微软雅黑" panose="020B0503020204020204" pitchFamily="34" charset="-122"/>
                  <a:ea typeface="微软雅黑" panose="020B0503020204020204" pitchFamily="34" charset="-122"/>
                  <a:cs typeface="+mn-ea"/>
                  <a:sym typeface="+mn-lt"/>
                </a:rPr>
                <a:t>/</a:t>
              </a: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云：控制节奏、稳扎稳打；不急功近利；紧盯对手、快速学习并微创新</a:t>
              </a:r>
            </a:p>
            <a:p>
              <a:pPr lvl="0" eaLnBrk="1" hangingPunct="1">
                <a:lnSpc>
                  <a:spcPct val="130000"/>
                </a:lnSpc>
                <a:spcBef>
                  <a:spcPts val="0"/>
                </a:spcBef>
              </a:pPr>
              <a:r>
                <a:rPr lang="zh-CN" altLang="en-US" sz="1400" b="1" dirty="0">
                  <a:solidFill>
                    <a:srgbClr val="C00000"/>
                  </a:solidFill>
                  <a:latin typeface="Arial" panose="020B0604020202020204" pitchFamily="34" charset="0"/>
                  <a:ea typeface="微软雅黑" panose="020B0503020204020204" pitchFamily="34" charset="-122"/>
                  <a:cs typeface="+mn-ea"/>
                  <a:sym typeface="+mn-lt"/>
                </a:rPr>
                <a:t>战略控制点：</a:t>
              </a:r>
              <a:endParaRPr lang="en-US" altLang="zh-CN" sz="1400" b="1" dirty="0">
                <a:solidFill>
                  <a:srgbClr val="C00000"/>
                </a:solidFill>
                <a:latin typeface="Arial" panose="020B0604020202020204" pitchFamily="34" charset="0"/>
                <a:ea typeface="微软雅黑" panose="020B0503020204020204" pitchFamily="34" charset="-122"/>
                <a:cs typeface="+mn-ea"/>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b="1" dirty="0">
                  <a:solidFill>
                    <a:srgbClr val="0000FF"/>
                  </a:solidFill>
                  <a:latin typeface="微软雅黑" panose="020B0503020204020204" pitchFamily="34" charset="-122"/>
                  <a:ea typeface="微软雅黑" panose="020B0503020204020204" pitchFamily="34" charset="-122"/>
                  <a:cs typeface="+mn-ea"/>
                  <a:sym typeface="+mn-lt"/>
                </a:rPr>
                <a:t>客户关系</a:t>
              </a:r>
              <a:r>
                <a:rPr lang="en-US" altLang="zh-CN" sz="1200" b="1" dirty="0">
                  <a:solidFill>
                    <a:srgbClr val="0000FF"/>
                  </a:solidFill>
                  <a:latin typeface="微软雅黑" panose="020B0503020204020204" pitchFamily="34" charset="-122"/>
                  <a:ea typeface="微软雅黑" panose="020B0503020204020204" pitchFamily="34" charset="-122"/>
                  <a:cs typeface="+mn-ea"/>
                  <a:sym typeface="+mn-lt"/>
                </a:rPr>
                <a:t>/</a:t>
              </a:r>
              <a:r>
                <a:rPr lang="zh-CN" altLang="en-US" sz="1200" b="1" dirty="0">
                  <a:solidFill>
                    <a:srgbClr val="0000FF"/>
                  </a:solidFill>
                  <a:latin typeface="微软雅黑" panose="020B0503020204020204" pitchFamily="34" charset="-122"/>
                  <a:ea typeface="微软雅黑" panose="020B0503020204020204" pitchFamily="34" charset="-122"/>
                  <a:cs typeface="+mn-ea"/>
                  <a:sym typeface="+mn-lt"/>
                </a:rPr>
                <a:t>客户理解；基于自身平台积累的技术创新，不断构筑新的战略控制点：专利、芯片、操作系统、数据库</a:t>
              </a:r>
              <a:r>
                <a:rPr lang="en-US" altLang="zh-CN" sz="1200" b="1" dirty="0">
                  <a:solidFill>
                    <a:srgbClr val="0000FF"/>
                  </a:solidFill>
                  <a:latin typeface="微软雅黑" panose="020B0503020204020204" pitchFamily="34" charset="-122"/>
                  <a:ea typeface="微软雅黑" panose="020B0503020204020204" pitchFamily="34" charset="-122"/>
                  <a:cs typeface="+mn-ea"/>
                  <a:sym typeface="+mn-lt"/>
                </a:rPr>
                <a:t>…</a:t>
              </a:r>
            </a:p>
            <a:p>
              <a:pPr lvl="0" eaLnBrk="1" hangingPunct="1">
                <a:lnSpc>
                  <a:spcPct val="130000"/>
                </a:lnSpc>
                <a:spcBef>
                  <a:spcPts val="0"/>
                </a:spcBef>
              </a:pPr>
              <a:r>
                <a:rPr lang="zh-CN" altLang="en-US" sz="1400" b="1" dirty="0">
                  <a:solidFill>
                    <a:srgbClr val="C00000"/>
                  </a:solidFill>
                  <a:latin typeface="Arial" panose="020B0604020202020204" pitchFamily="34" charset="0"/>
                  <a:ea typeface="微软雅黑" panose="020B0503020204020204" pitchFamily="34" charset="-122"/>
                  <a:cs typeface="+mn-ea"/>
                  <a:sym typeface="+mn-lt"/>
                </a:rPr>
                <a:t>战略执行：</a:t>
              </a:r>
              <a:endParaRPr lang="en-US" altLang="zh-CN" sz="1400" b="1" dirty="0">
                <a:solidFill>
                  <a:srgbClr val="C00000"/>
                </a:solidFill>
                <a:latin typeface="Arial" panose="020B0604020202020204" pitchFamily="34" charset="0"/>
                <a:ea typeface="微软雅黑" panose="020B0503020204020204" pitchFamily="34" charset="-122"/>
                <a:cs typeface="+mn-ea"/>
                <a:sym typeface="+mn-lt"/>
              </a:endParaRP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从老产业转人到新产业</a:t>
              </a:r>
              <a:r>
                <a:rPr lang="en-US" altLang="zh-CN" sz="1200" dirty="0">
                  <a:solidFill>
                    <a:srgbClr val="000000"/>
                  </a:solidFill>
                  <a:latin typeface="微软雅黑" panose="020B0503020204020204" pitchFamily="34" charset="-122"/>
                  <a:ea typeface="微软雅黑" panose="020B0503020204020204" pitchFamily="34" charset="-122"/>
                  <a:cs typeface="+mn-ea"/>
                  <a:sym typeface="+mn-lt"/>
                </a:rPr>
                <a:t>+</a:t>
              </a: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行业招聘明白人</a:t>
              </a:r>
              <a:r>
                <a:rPr lang="en-US" altLang="zh-CN" sz="1200" dirty="0">
                  <a:solidFill>
                    <a:srgbClr val="000000"/>
                  </a:solidFill>
                  <a:latin typeface="微软雅黑" panose="020B0503020204020204" pitchFamily="34" charset="-122"/>
                  <a:ea typeface="微软雅黑" panose="020B0503020204020204" pitchFamily="34" charset="-122"/>
                  <a:cs typeface="+mn-ea"/>
                  <a:sym typeface="+mn-lt"/>
                </a:rPr>
                <a:t>+</a:t>
              </a: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新人，</a:t>
              </a:r>
              <a:r>
                <a:rPr lang="en-US" altLang="zh-CN" sz="1200" dirty="0">
                  <a:solidFill>
                    <a:srgbClr val="000000"/>
                  </a:solidFill>
                  <a:latin typeface="微软雅黑" panose="020B0503020204020204" pitchFamily="34" charset="-122"/>
                  <a:ea typeface="微软雅黑" panose="020B0503020204020204" pitchFamily="34" charset="-122"/>
                  <a:cs typeface="+mn-ea"/>
                  <a:sym typeface="+mn-lt"/>
                </a:rPr>
                <a:t>TUP</a:t>
              </a:r>
              <a:r>
                <a:rPr lang="zh-CN" altLang="en-US" sz="1200" dirty="0">
                  <a:solidFill>
                    <a:srgbClr val="000000"/>
                  </a:solidFill>
                  <a:latin typeface="微软雅黑" panose="020B0503020204020204" pitchFamily="34" charset="-122"/>
                  <a:ea typeface="微软雅黑" panose="020B0503020204020204" pitchFamily="34" charset="-122"/>
                  <a:cs typeface="+mn-ea"/>
                  <a:sym typeface="+mn-lt"/>
                </a:rPr>
                <a:t>和退休政策</a:t>
              </a:r>
            </a:p>
          </p:txBody>
        </p:sp>
        <p:sp>
          <p:nvSpPr>
            <p:cNvPr id="9" name="矩形 8"/>
            <p:cNvSpPr/>
            <p:nvPr/>
          </p:nvSpPr>
          <p:spPr>
            <a:xfrm>
              <a:off x="2400" y="9066"/>
              <a:ext cx="14439" cy="527"/>
            </a:xfrm>
            <a:prstGeom prst="rect">
              <a:avLst/>
            </a:prstGeom>
            <a:solidFill>
              <a:srgbClr val="0070C0"/>
            </a:solidFill>
          </p:spPr>
          <p:txBody>
            <a:bodyPr wrap="square" lIns="91437" tIns="45718" rIns="91437" bIns="45718">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cs typeface="+mn-ea"/>
                  <a:sym typeface="+mn-lt"/>
                </a:rPr>
                <a:t>核心能力已经构建很高的门槛，未来以战略驱动（已可以控制未来走向），同时保持强大的组织活力</a:t>
              </a:r>
            </a:p>
          </p:txBody>
        </p:sp>
        <p:grpSp>
          <p:nvGrpSpPr>
            <p:cNvPr id="10" name="组合 9"/>
            <p:cNvGrpSpPr/>
            <p:nvPr/>
          </p:nvGrpSpPr>
          <p:grpSpPr>
            <a:xfrm>
              <a:off x="12066" y="3247"/>
              <a:ext cx="4252" cy="2310"/>
              <a:chOff x="8167558" y="2837975"/>
              <a:chExt cx="3600400" cy="1955917"/>
            </a:xfrm>
          </p:grpSpPr>
          <p:sp>
            <p:nvSpPr>
              <p:cNvPr id="11" name="TextBox 3"/>
              <p:cNvSpPr txBox="1"/>
              <p:nvPr/>
            </p:nvSpPr>
            <p:spPr>
              <a:xfrm>
                <a:off x="8167558" y="2837975"/>
                <a:ext cx="3600400" cy="437679"/>
              </a:xfrm>
              <a:prstGeom prst="rect">
                <a:avLst/>
              </a:prstGeom>
              <a:solidFill>
                <a:srgbClr val="0070C0"/>
              </a:solidFill>
              <a:ln>
                <a:noFill/>
              </a:ln>
            </p:spPr>
            <p:txBody>
              <a:bodyPr wrap="square" lIns="91437" tIns="45718" rIns="91437" bIns="45718" rtlCol="0">
                <a:spAutoFit/>
              </a:bodyPr>
              <a:lstStyle/>
              <a:p>
                <a:pPr eaLnBrk="1" hangingPunct="1">
                  <a:lnSpc>
                    <a:spcPct val="130000"/>
                  </a:lnSpc>
                  <a:spcBef>
                    <a:spcPts val="0"/>
                  </a:spcBef>
                </a:pPr>
                <a:r>
                  <a:rPr lang="zh-CN" altLang="en-US" sz="1200" b="1" dirty="0">
                    <a:solidFill>
                      <a:schemeClr val="bg1"/>
                    </a:solidFill>
                    <a:latin typeface="Arial" panose="020B0604020202020204" pitchFamily="34" charset="0"/>
                    <a:ea typeface="微软雅黑" panose="020B0503020204020204" pitchFamily="34" charset="-122"/>
                    <a:cs typeface="+mn-ea"/>
                    <a:sym typeface="+mn-lt"/>
                  </a:rPr>
                  <a:t>需克服困难</a:t>
                </a:r>
              </a:p>
            </p:txBody>
          </p:sp>
          <p:sp>
            <p:nvSpPr>
              <p:cNvPr id="12" name="矩形 11"/>
              <p:cNvSpPr/>
              <p:nvPr/>
            </p:nvSpPr>
            <p:spPr>
              <a:xfrm>
                <a:off x="8167558" y="3399055"/>
                <a:ext cx="3600400" cy="1394837"/>
              </a:xfrm>
              <a:prstGeom prst="rect">
                <a:avLst/>
              </a:prstGeom>
              <a:solidFill>
                <a:srgbClr val="D4EAF5"/>
              </a:solidFill>
            </p:spPr>
            <p:txBody>
              <a:bodyPr wrap="square">
                <a:spAutoFit/>
              </a:bodyPr>
              <a:lstStyle/>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latin typeface="微软雅黑" panose="020B0503020204020204" pitchFamily="34" charset="-122"/>
                    <a:ea typeface="微软雅黑" panose="020B0503020204020204" pitchFamily="34" charset="-122"/>
                    <a:cs typeface="+mn-ea"/>
                    <a:sym typeface="+mn-lt"/>
                  </a:rPr>
                  <a:t>老产业要守住。创新</a:t>
                </a:r>
                <a:r>
                  <a:rPr lang="en-US" altLang="zh-CN" sz="1200" dirty="0">
                    <a:latin typeface="微软雅黑" panose="020B0503020204020204" pitchFamily="34" charset="-122"/>
                    <a:ea typeface="微软雅黑" panose="020B0503020204020204" pitchFamily="34" charset="-122"/>
                    <a:cs typeface="+mn-ea"/>
                    <a:sym typeface="+mn-lt"/>
                  </a:rPr>
                  <a:t>+</a:t>
                </a:r>
                <a:r>
                  <a:rPr lang="zh-CN" altLang="en-US" sz="1200" dirty="0">
                    <a:latin typeface="微软雅黑" panose="020B0503020204020204" pitchFamily="34" charset="-122"/>
                    <a:ea typeface="微软雅黑" panose="020B0503020204020204" pitchFamily="34" charset="-122"/>
                    <a:cs typeface="+mn-ea"/>
                    <a:sym typeface="+mn-lt"/>
                  </a:rPr>
                  <a:t>运营管理</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latin typeface="微软雅黑" panose="020B0503020204020204" pitchFamily="34" charset="-122"/>
                    <a:ea typeface="微软雅黑" panose="020B0503020204020204" pitchFamily="34" charset="-122"/>
                    <a:cs typeface="+mn-ea"/>
                    <a:sym typeface="+mn-lt"/>
                  </a:rPr>
                  <a:t>新产业：敢于投入</a:t>
                </a:r>
                <a:r>
                  <a:rPr lang="en-US" altLang="zh-CN" sz="1200" dirty="0">
                    <a:latin typeface="微软雅黑" panose="020B0503020204020204" pitchFamily="34" charset="-122"/>
                    <a:ea typeface="微软雅黑" panose="020B0503020204020204" pitchFamily="34" charset="-122"/>
                    <a:cs typeface="+mn-ea"/>
                    <a:sym typeface="+mn-lt"/>
                  </a:rPr>
                  <a:t>+</a:t>
                </a:r>
                <a:r>
                  <a:rPr lang="zh-CN" altLang="en-US" sz="1200" dirty="0">
                    <a:latin typeface="微软雅黑" panose="020B0503020204020204" pitchFamily="34" charset="-122"/>
                    <a:ea typeface="微软雅黑" panose="020B0503020204020204" pitchFamily="34" charset="-122"/>
                    <a:cs typeface="+mn-ea"/>
                    <a:sym typeface="+mn-lt"/>
                  </a:rPr>
                  <a:t>实事求是</a:t>
                </a:r>
                <a:r>
                  <a:rPr lang="en-US" altLang="zh-CN" sz="1200" dirty="0">
                    <a:latin typeface="微软雅黑" panose="020B0503020204020204" pitchFamily="34" charset="-122"/>
                    <a:ea typeface="微软雅黑" panose="020B0503020204020204" pitchFamily="34" charset="-122"/>
                    <a:cs typeface="+mn-ea"/>
                    <a:sym typeface="+mn-lt"/>
                  </a:rPr>
                  <a:t>+</a:t>
                </a:r>
                <a:r>
                  <a:rPr lang="zh-CN" altLang="en-US" sz="1200" dirty="0">
                    <a:latin typeface="微软雅黑" panose="020B0503020204020204" pitchFamily="34" charset="-122"/>
                    <a:ea typeface="微软雅黑" panose="020B0503020204020204" pitchFamily="34" charset="-122"/>
                    <a:cs typeface="+mn-ea"/>
                    <a:sym typeface="+mn-lt"/>
                  </a:rPr>
                  <a:t>控制节奏</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latin typeface="微软雅黑" panose="020B0503020204020204" pitchFamily="34" charset="-122"/>
                    <a:ea typeface="微软雅黑" panose="020B0503020204020204" pitchFamily="34" charset="-122"/>
                    <a:cs typeface="+mn-ea"/>
                    <a:sym typeface="+mn-lt"/>
                  </a:rPr>
                  <a:t>从老产业转移资源到新产业</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pPr>
                <a:r>
                  <a:rPr lang="zh-CN" altLang="en-US" sz="1200" dirty="0">
                    <a:latin typeface="微软雅黑" panose="020B0503020204020204" pitchFamily="34" charset="-122"/>
                    <a:ea typeface="微软雅黑" panose="020B0503020204020204" pitchFamily="34" charset="-122"/>
                    <a:cs typeface="+mn-ea"/>
                    <a:sym typeface="+mn-lt"/>
                  </a:rPr>
                  <a:t>管理平台：放权</a:t>
                </a:r>
              </a:p>
            </p:txBody>
          </p:sp>
        </p:grpSp>
      </p:grpSp>
      <p:sp>
        <p:nvSpPr>
          <p:cNvPr id="2" name="标题 1"/>
          <p:cNvSpPr txBox="1"/>
          <p:nvPr/>
        </p:nvSpPr>
        <p:spPr>
          <a:xfrm>
            <a:off x="540160" y="482977"/>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2060"/>
                </a:solidFill>
                <a:latin typeface="微软雅黑" panose="020B0503020204020204" pitchFamily="34" charset="-122"/>
                <a:ea typeface="微软雅黑" panose="020B0503020204020204" pitchFamily="34" charset="-122"/>
                <a:cs typeface="+mn-ea"/>
                <a:sym typeface="+mn-lt"/>
              </a:rPr>
              <a:t>案例3：华为新时期的战略复盘（2011年-目前）</a:t>
            </a:r>
            <a:r>
              <a:rPr lang="en-US" altLang="zh-CN" dirty="0">
                <a:solidFill>
                  <a:srgbClr val="002060"/>
                </a:solidFill>
                <a:latin typeface="微软雅黑" panose="020B0503020204020204" pitchFamily="34" charset="-122"/>
                <a:ea typeface="微软雅黑" panose="020B0503020204020204" pitchFamily="34" charset="-122"/>
                <a:cs typeface="+mn-ea"/>
                <a:sym typeface="+mn-lt"/>
              </a:rPr>
              <a:t>-</a:t>
            </a:r>
            <a:r>
              <a:rPr lang="zh-CN" altLang="en-US" dirty="0">
                <a:solidFill>
                  <a:srgbClr val="002060"/>
                </a:solidFill>
                <a:latin typeface="微软雅黑" panose="020B0503020204020204" pitchFamily="34" charset="-122"/>
                <a:ea typeface="微软雅黑" panose="020B0503020204020204" pitchFamily="34" charset="-122"/>
                <a:cs typeface="+mn-ea"/>
                <a:sym typeface="+mn-lt"/>
              </a:rPr>
              <a:t>战略为王</a:t>
            </a:r>
          </a:p>
        </p:txBody>
      </p:sp>
      <p:sp>
        <p:nvSpPr>
          <p:cNvPr id="14" name="Rectangle 3"/>
          <p:cNvSpPr txBox="1">
            <a:spLocks noChangeArrowheads="1"/>
          </p:cNvSpPr>
          <p:nvPr/>
        </p:nvSpPr>
        <p:spPr bwMode="auto">
          <a:xfrm>
            <a:off x="1750695" y="6295439"/>
            <a:ext cx="8991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2000" b="1" dirty="0">
                <a:solidFill>
                  <a:schemeClr val="bg1"/>
                </a:solidFill>
                <a:effectLst/>
                <a:latin typeface="微软雅黑" panose="020B0503020204020204" pitchFamily="34" charset="-122"/>
                <a:ea typeface="微软雅黑" panose="020B0503020204020204" pitchFamily="34" charset="-122"/>
              </a:rPr>
              <a:t>未来，不是靠洞察和预测，而是创造！</a:t>
            </a:r>
            <a:r>
              <a:rPr lang="en-US" altLang="zh-CN" sz="2000" b="1" dirty="0">
                <a:solidFill>
                  <a:schemeClr val="bg1"/>
                </a:solidFill>
                <a:effectLst/>
                <a:latin typeface="微软雅黑" panose="020B0503020204020204" pitchFamily="34" charset="-122"/>
                <a:ea typeface="微软雅黑" panose="020B0503020204020204" pitchFamily="34" charset="-122"/>
              </a:rPr>
              <a:t>5G-6G-…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组合 3"/>
          <p:cNvGrpSpPr/>
          <p:nvPr/>
        </p:nvGrpSpPr>
        <p:grpSpPr>
          <a:xfrm>
            <a:off x="1532255" y="1590040"/>
            <a:ext cx="7722870" cy="3786505"/>
            <a:chOff x="2889" y="2638"/>
            <a:chExt cx="11068" cy="5214"/>
          </a:xfrm>
        </p:grpSpPr>
        <p:pic>
          <p:nvPicPr>
            <p:cNvPr id="2" name="图片 1"/>
            <p:cNvPicPr>
              <a:picLocks noChangeAspect="1"/>
            </p:cNvPicPr>
            <p:nvPr/>
          </p:nvPicPr>
          <p:blipFill>
            <a:blip r:embed="rId4" cstate="email"/>
            <a:stretch>
              <a:fillRect/>
            </a:stretch>
          </p:blipFill>
          <p:spPr>
            <a:xfrm>
              <a:off x="4141" y="2638"/>
              <a:ext cx="9816" cy="3229"/>
            </a:xfrm>
            <a:prstGeom prst="rect">
              <a:avLst/>
            </a:prstGeom>
          </p:spPr>
        </p:pic>
        <p:grpSp>
          <p:nvGrpSpPr>
            <p:cNvPr id="143" name="组合 142"/>
            <p:cNvGrpSpPr/>
            <p:nvPr/>
          </p:nvGrpSpPr>
          <p:grpSpPr>
            <a:xfrm>
              <a:off x="2889" y="6016"/>
              <a:ext cx="6516" cy="932"/>
              <a:chOff x="1182116" y="1703247"/>
              <a:chExt cx="5516485" cy="789458"/>
            </a:xfrm>
          </p:grpSpPr>
          <p:grpSp>
            <p:nvGrpSpPr>
              <p:cNvPr id="144" name="组合 143"/>
              <p:cNvGrpSpPr/>
              <p:nvPr/>
            </p:nvGrpSpPr>
            <p:grpSpPr>
              <a:xfrm>
                <a:off x="1182116" y="1703247"/>
                <a:ext cx="683080" cy="789458"/>
                <a:chOff x="325596" y="1703247"/>
                <a:chExt cx="683080" cy="789458"/>
              </a:xfrm>
            </p:grpSpPr>
            <p:sp>
              <p:nvSpPr>
                <p:cNvPr id="146" name="文本框 145"/>
                <p:cNvSpPr txBox="1"/>
                <p:nvPr/>
              </p:nvSpPr>
              <p:spPr>
                <a:xfrm>
                  <a:off x="325596" y="1703247"/>
                  <a:ext cx="475827" cy="608525"/>
                </a:xfrm>
                <a:prstGeom prst="rect">
                  <a:avLst/>
                </a:prstGeom>
                <a:noFill/>
              </p:spPr>
              <p:txBody>
                <a:bodyPr wrap="square" rtlCol="0">
                  <a:spAutoFit/>
                </a:bodyPr>
                <a:lstStyle/>
                <a:p>
                  <a:pPr algn="just"/>
                  <a:r>
                    <a:rPr lang="en-US" altLang="zh-CN" sz="2800" b="1" dirty="0">
                      <a:latin typeface="+mn-lt"/>
                      <a:ea typeface="+mn-ea"/>
                      <a:cs typeface="+mn-ea"/>
                      <a:sym typeface="+mn-lt"/>
                    </a:rPr>
                    <a:t>1</a:t>
                  </a:r>
                </a:p>
              </p:txBody>
            </p:sp>
            <p:cxnSp>
              <p:nvCxnSpPr>
                <p:cNvPr id="147" name="直接连接符 146"/>
                <p:cNvCxnSpPr/>
                <p:nvPr/>
              </p:nvCxnSpPr>
              <p:spPr>
                <a:xfrm flipH="1">
                  <a:off x="600160" y="197882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45" name="矩形 144"/>
              <p:cNvSpPr/>
              <p:nvPr/>
            </p:nvSpPr>
            <p:spPr>
              <a:xfrm>
                <a:off x="1890299" y="1890421"/>
                <a:ext cx="4808302" cy="432334"/>
              </a:xfrm>
              <a:prstGeom prst="rect">
                <a:avLst/>
              </a:prstGeom>
            </p:spPr>
            <p:txBody>
              <a:bodyPr wrap="square">
                <a:spAutoFit/>
              </a:bodyPr>
              <a:lstStyle/>
              <a:p>
                <a:pPr lvl="0" eaLnBrk="1" fontAlgn="auto" hangingPunct="1">
                  <a:lnSpc>
                    <a:spcPct val="130000"/>
                  </a:lnSpc>
                  <a:spcBef>
                    <a:spcPts val="0"/>
                  </a:spcBef>
                  <a:spcAft>
                    <a:spcPts val="0"/>
                  </a:spcAft>
                  <a:defRPr/>
                </a:pPr>
                <a:r>
                  <a:rPr lang="zh-CN" altLang="en-US" sz="1400" b="1" dirty="0">
                    <a:solidFill>
                      <a:srgbClr val="000000"/>
                    </a:solidFill>
                    <a:latin typeface="Arial" panose="020B0604020202020204" pitchFamily="34" charset="0"/>
                    <a:ea typeface="微软雅黑" panose="020B0503020204020204" pitchFamily="34" charset="-122"/>
                    <a:cs typeface="+mn-ea"/>
                    <a:sym typeface="+mn-lt"/>
                  </a:rPr>
                  <a:t>支持业务设计、尤其是价值定位的实现</a:t>
                </a:r>
              </a:p>
            </p:txBody>
          </p:sp>
        </p:grpSp>
        <p:grpSp>
          <p:nvGrpSpPr>
            <p:cNvPr id="148" name="组合 147"/>
            <p:cNvGrpSpPr/>
            <p:nvPr/>
          </p:nvGrpSpPr>
          <p:grpSpPr>
            <a:xfrm>
              <a:off x="2889" y="6920"/>
              <a:ext cx="6516" cy="932"/>
              <a:chOff x="1182116" y="1703247"/>
              <a:chExt cx="5516485" cy="789458"/>
            </a:xfrm>
          </p:grpSpPr>
          <p:grpSp>
            <p:nvGrpSpPr>
              <p:cNvPr id="149" name="组合 148"/>
              <p:cNvGrpSpPr/>
              <p:nvPr/>
            </p:nvGrpSpPr>
            <p:grpSpPr>
              <a:xfrm>
                <a:off x="1182116" y="1703247"/>
                <a:ext cx="683080" cy="789458"/>
                <a:chOff x="325596" y="1703247"/>
                <a:chExt cx="683080" cy="789458"/>
              </a:xfrm>
            </p:grpSpPr>
            <p:sp>
              <p:nvSpPr>
                <p:cNvPr id="151" name="文本框 150"/>
                <p:cNvSpPr txBox="1"/>
                <p:nvPr/>
              </p:nvSpPr>
              <p:spPr>
                <a:xfrm>
                  <a:off x="325596" y="1703247"/>
                  <a:ext cx="475827" cy="608525"/>
                </a:xfrm>
                <a:prstGeom prst="rect">
                  <a:avLst/>
                </a:prstGeom>
                <a:noFill/>
              </p:spPr>
              <p:txBody>
                <a:bodyPr wrap="square" rtlCol="0">
                  <a:spAutoFit/>
                </a:bodyPr>
                <a:lstStyle/>
                <a:p>
                  <a:pPr algn="just"/>
                  <a:r>
                    <a:rPr lang="en-US" altLang="zh-CN" sz="2800" b="1" dirty="0">
                      <a:latin typeface="+mn-lt"/>
                      <a:ea typeface="+mn-ea"/>
                      <a:cs typeface="+mn-ea"/>
                      <a:sym typeface="+mn-lt"/>
                    </a:rPr>
                    <a:t>2</a:t>
                  </a:r>
                </a:p>
              </p:txBody>
            </p:sp>
            <p:cxnSp>
              <p:nvCxnSpPr>
                <p:cNvPr id="152" name="直接连接符 151"/>
                <p:cNvCxnSpPr/>
                <p:nvPr/>
              </p:nvCxnSpPr>
              <p:spPr>
                <a:xfrm flipH="1">
                  <a:off x="600160" y="197882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50" name="矩形 149"/>
              <p:cNvSpPr/>
              <p:nvPr/>
            </p:nvSpPr>
            <p:spPr>
              <a:xfrm>
                <a:off x="1890299" y="1890421"/>
                <a:ext cx="4808302" cy="432334"/>
              </a:xfrm>
              <a:prstGeom prst="rect">
                <a:avLst/>
              </a:prstGeom>
            </p:spPr>
            <p:txBody>
              <a:bodyPr wrap="square">
                <a:spAutoFit/>
              </a:bodyPr>
              <a:lstStyle/>
              <a:p>
                <a:pPr lvl="0" eaLnBrk="1" fontAlgn="auto" hangingPunct="1">
                  <a:lnSpc>
                    <a:spcPct val="130000"/>
                  </a:lnSpc>
                  <a:spcBef>
                    <a:spcPts val="0"/>
                  </a:spcBef>
                  <a:spcAft>
                    <a:spcPts val="0"/>
                  </a:spcAft>
                  <a:defRPr/>
                </a:pPr>
                <a:r>
                  <a:rPr lang="zh-CN" altLang="en-US" sz="1400" b="1" dirty="0">
                    <a:solidFill>
                      <a:srgbClr val="000000"/>
                    </a:solidFill>
                    <a:latin typeface="Arial" panose="020B0604020202020204" pitchFamily="34" charset="0"/>
                    <a:ea typeface="微软雅黑" panose="020B0503020204020204" pitchFamily="34" charset="-122"/>
                    <a:cs typeface="+mn-ea"/>
                    <a:sym typeface="+mn-lt"/>
                  </a:rPr>
                  <a:t>可将关键运作流程的设计与落实包括在内</a:t>
                </a:r>
              </a:p>
            </p:txBody>
          </p:sp>
        </p:grpSp>
      </p:grpSp>
      <p:grpSp>
        <p:nvGrpSpPr>
          <p:cNvPr id="153" name="组合 152"/>
          <p:cNvGrpSpPr/>
          <p:nvPr/>
        </p:nvGrpSpPr>
        <p:grpSpPr>
          <a:xfrm>
            <a:off x="6449060" y="4007485"/>
            <a:ext cx="4545965" cy="676910"/>
            <a:chOff x="1182116" y="1703247"/>
            <a:chExt cx="5516485" cy="789458"/>
          </a:xfrm>
        </p:grpSpPr>
        <p:grpSp>
          <p:nvGrpSpPr>
            <p:cNvPr id="154" name="组合 153"/>
            <p:cNvGrpSpPr/>
            <p:nvPr/>
          </p:nvGrpSpPr>
          <p:grpSpPr>
            <a:xfrm>
              <a:off x="1182116" y="1703247"/>
              <a:ext cx="683080" cy="789458"/>
              <a:chOff x="325596" y="1703247"/>
              <a:chExt cx="683080" cy="789458"/>
            </a:xfrm>
          </p:grpSpPr>
          <p:sp>
            <p:nvSpPr>
              <p:cNvPr id="156" name="文本框 155"/>
              <p:cNvSpPr txBox="1"/>
              <p:nvPr/>
            </p:nvSpPr>
            <p:spPr>
              <a:xfrm>
                <a:off x="325596" y="1703247"/>
                <a:ext cx="475827" cy="608525"/>
              </a:xfrm>
              <a:prstGeom prst="rect">
                <a:avLst/>
              </a:prstGeom>
              <a:noFill/>
            </p:spPr>
            <p:txBody>
              <a:bodyPr wrap="square" rtlCol="0">
                <a:spAutoFit/>
              </a:bodyPr>
              <a:lstStyle/>
              <a:p>
                <a:pPr algn="just"/>
                <a:r>
                  <a:rPr lang="en-US" altLang="zh-CN" sz="2800" b="1" dirty="0">
                    <a:latin typeface="+mn-lt"/>
                    <a:ea typeface="+mn-ea"/>
                    <a:cs typeface="+mn-ea"/>
                    <a:sym typeface="+mn-lt"/>
                  </a:rPr>
                  <a:t>3</a:t>
                </a:r>
              </a:p>
            </p:txBody>
          </p:sp>
          <p:cxnSp>
            <p:nvCxnSpPr>
              <p:cNvPr id="157" name="直接连接符 156"/>
              <p:cNvCxnSpPr/>
              <p:nvPr/>
            </p:nvCxnSpPr>
            <p:spPr>
              <a:xfrm flipH="1">
                <a:off x="600160" y="197882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55" name="矩形 154"/>
            <p:cNvSpPr/>
            <p:nvPr/>
          </p:nvSpPr>
          <p:spPr>
            <a:xfrm>
              <a:off x="1890299" y="1890421"/>
              <a:ext cx="4808302" cy="432334"/>
            </a:xfrm>
            <a:prstGeom prst="rect">
              <a:avLst/>
            </a:prstGeom>
          </p:spPr>
          <p:txBody>
            <a:bodyPr wrap="square">
              <a:spAutoFit/>
            </a:bodyPr>
            <a:lstStyle/>
            <a:p>
              <a:pPr lvl="0" eaLnBrk="1" fontAlgn="auto" hangingPunct="1">
                <a:lnSpc>
                  <a:spcPct val="130000"/>
                </a:lnSpc>
                <a:spcBef>
                  <a:spcPts val="0"/>
                </a:spcBef>
                <a:spcAft>
                  <a:spcPts val="0"/>
                </a:spcAft>
                <a:defRPr/>
              </a:pPr>
              <a:r>
                <a:rPr lang="zh-CN" altLang="en-US" sz="1400" b="1" dirty="0">
                  <a:solidFill>
                    <a:srgbClr val="000000"/>
                  </a:solidFill>
                  <a:latin typeface="Arial" panose="020B0604020202020204" pitchFamily="34" charset="0"/>
                  <a:ea typeface="微软雅黑" panose="020B0503020204020204" pitchFamily="34" charset="-122"/>
                  <a:cs typeface="+mn-ea"/>
                  <a:sym typeface="+mn-lt"/>
                </a:rPr>
                <a:t>是连接战略与执行的轴心点</a:t>
              </a:r>
            </a:p>
          </p:txBody>
        </p:sp>
      </p:grpSp>
      <p:grpSp>
        <p:nvGrpSpPr>
          <p:cNvPr id="158" name="组合 157"/>
          <p:cNvGrpSpPr/>
          <p:nvPr/>
        </p:nvGrpSpPr>
        <p:grpSpPr>
          <a:xfrm>
            <a:off x="6449060" y="4718685"/>
            <a:ext cx="4545965" cy="676910"/>
            <a:chOff x="1182116" y="1703247"/>
            <a:chExt cx="5516485" cy="789458"/>
          </a:xfrm>
        </p:grpSpPr>
        <p:grpSp>
          <p:nvGrpSpPr>
            <p:cNvPr id="159" name="组合 158"/>
            <p:cNvGrpSpPr/>
            <p:nvPr/>
          </p:nvGrpSpPr>
          <p:grpSpPr>
            <a:xfrm>
              <a:off x="1182116" y="1703247"/>
              <a:ext cx="683080" cy="789458"/>
              <a:chOff x="325596" y="1703247"/>
              <a:chExt cx="683080" cy="789458"/>
            </a:xfrm>
          </p:grpSpPr>
          <p:sp>
            <p:nvSpPr>
              <p:cNvPr id="161" name="文本框 160"/>
              <p:cNvSpPr txBox="1"/>
              <p:nvPr/>
            </p:nvSpPr>
            <p:spPr>
              <a:xfrm>
                <a:off x="325596" y="1703247"/>
                <a:ext cx="475827" cy="608525"/>
              </a:xfrm>
              <a:prstGeom prst="rect">
                <a:avLst/>
              </a:prstGeom>
              <a:noFill/>
            </p:spPr>
            <p:txBody>
              <a:bodyPr wrap="square" rtlCol="0">
                <a:spAutoFit/>
              </a:bodyPr>
              <a:lstStyle/>
              <a:p>
                <a:pPr algn="just"/>
                <a:r>
                  <a:rPr lang="en-US" altLang="zh-CN" sz="2800" b="1" dirty="0">
                    <a:latin typeface="+mn-lt"/>
                    <a:ea typeface="+mn-ea"/>
                    <a:cs typeface="+mn-ea"/>
                    <a:sym typeface="+mn-lt"/>
                  </a:rPr>
                  <a:t>4</a:t>
                </a:r>
              </a:p>
            </p:txBody>
          </p:sp>
          <p:cxnSp>
            <p:nvCxnSpPr>
              <p:cNvPr id="162" name="直接连接符 161"/>
              <p:cNvCxnSpPr/>
              <p:nvPr/>
            </p:nvCxnSpPr>
            <p:spPr>
              <a:xfrm flipH="1">
                <a:off x="600160" y="197882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60" name="矩形 159"/>
            <p:cNvSpPr/>
            <p:nvPr/>
          </p:nvSpPr>
          <p:spPr>
            <a:xfrm>
              <a:off x="1890299" y="1890421"/>
              <a:ext cx="4808302" cy="432334"/>
            </a:xfrm>
            <a:prstGeom prst="rect">
              <a:avLst/>
            </a:prstGeom>
          </p:spPr>
          <p:txBody>
            <a:bodyPr wrap="square">
              <a:spAutoFit/>
            </a:bodyPr>
            <a:lstStyle/>
            <a:p>
              <a:pPr lvl="0" eaLnBrk="1" fontAlgn="auto" hangingPunct="1">
                <a:lnSpc>
                  <a:spcPct val="130000"/>
                </a:lnSpc>
                <a:spcBef>
                  <a:spcPts val="0"/>
                </a:spcBef>
                <a:spcAft>
                  <a:spcPts val="0"/>
                </a:spcAft>
                <a:defRPr/>
              </a:pPr>
              <a:r>
                <a:rPr lang="zh-CN" altLang="en-US" sz="1400" b="1" dirty="0">
                  <a:solidFill>
                    <a:srgbClr val="000000"/>
                  </a:solidFill>
                  <a:latin typeface="Arial" panose="020B0604020202020204" pitchFamily="34" charset="0"/>
                  <a:ea typeface="微软雅黑" panose="020B0503020204020204" pitchFamily="34" charset="-122"/>
                  <a:cs typeface="+mn-ea"/>
                  <a:sym typeface="+mn-lt"/>
                </a:rPr>
                <a:t>是执行的其他部分的基础</a:t>
              </a:r>
            </a:p>
          </p:txBody>
        </p:sp>
      </p:grpSp>
      <p:sp>
        <p:nvSpPr>
          <p:cNvPr id="17" name="标题 1"/>
          <p:cNvSpPr txBox="1"/>
          <p:nvPr/>
        </p:nvSpPr>
        <p:spPr>
          <a:xfrm>
            <a:off x="673853" y="493062"/>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BLM模型之关键任务及依赖关系</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3005"/>
            <a:ext cx="12206605" cy="522605"/>
          </a:xfrm>
          <a:prstGeom prst="rect">
            <a:avLst/>
          </a:prstGeom>
        </p:spPr>
      </p:pic>
      <p:sp>
        <p:nvSpPr>
          <p:cNvPr id="17" name="标题 1"/>
          <p:cNvSpPr txBox="1"/>
          <p:nvPr/>
        </p:nvSpPr>
        <p:spPr>
          <a:xfrm>
            <a:off x="556954" y="560679"/>
            <a:ext cx="8451861" cy="37656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业务设计</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to</a:t>
            </a:r>
            <a:r>
              <a:rPr lang="zh-CN" altLang="en-US" dirty="0">
                <a:solidFill>
                  <a:srgbClr val="0070C0"/>
                </a:solidFill>
                <a:latin typeface="微软雅黑" panose="020B0503020204020204" pitchFamily="34" charset="-122"/>
                <a:ea typeface="微软雅黑" panose="020B0503020204020204" pitchFamily="34" charset="-122"/>
                <a:cs typeface="+mn-ea"/>
                <a:sym typeface="+mn-lt"/>
              </a:rPr>
              <a:t>关键任务（KSF，主要矛盾、需要大力投资的）</a:t>
            </a:r>
          </a:p>
        </p:txBody>
      </p:sp>
      <p:sp>
        <p:nvSpPr>
          <p:cNvPr id="2" name="圆角矩形 1"/>
          <p:cNvSpPr/>
          <p:nvPr/>
        </p:nvSpPr>
        <p:spPr>
          <a:xfrm>
            <a:off x="1720850" y="3373120"/>
            <a:ext cx="8631555" cy="247269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marL="287020" lvl="1" indent="-285750" algn="just" defTabSz="330200">
              <a:lnSpc>
                <a:spcPct val="140000"/>
              </a:lnSpc>
              <a:spcBef>
                <a:spcPts val="0"/>
              </a:spcBef>
              <a:buClr>
                <a:srgbClr val="267FC3"/>
              </a:buClr>
              <a:buSzPct val="80000"/>
              <a:buFont typeface="Arial" panose="020B0604020202020204" pitchFamily="34" charset="0"/>
              <a:buChar char="•"/>
              <a:tabLst>
                <a:tab pos="8521700" algn="r"/>
              </a:tabLst>
            </a:pPr>
            <a:r>
              <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支持业务设计、尤其是价值主张的实现，是执行的其它部分的基础</a:t>
            </a:r>
          </a:p>
          <a:p>
            <a:pPr marL="287020" lvl="1" indent="-285750" algn="just" defTabSz="330200">
              <a:lnSpc>
                <a:spcPct val="140000"/>
              </a:lnSpc>
              <a:spcBef>
                <a:spcPts val="0"/>
              </a:spcBef>
              <a:buClr>
                <a:srgbClr val="267FC3"/>
              </a:buClr>
              <a:buSzPct val="80000"/>
              <a:buFont typeface="Arial" panose="020B0604020202020204" pitchFamily="34" charset="0"/>
              <a:buChar char="•"/>
              <a:tabLst>
                <a:tab pos="8521700" algn="r"/>
              </a:tabLst>
            </a:pPr>
            <a:r>
              <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主要是指持续性的战略举措(ongoing activity)，包括业务增长举措和能力建设举措</a:t>
            </a:r>
          </a:p>
          <a:p>
            <a:pPr marL="287020" lvl="1" indent="-285750" algn="just" defTabSz="330200">
              <a:lnSpc>
                <a:spcPct val="140000"/>
              </a:lnSpc>
              <a:spcBef>
                <a:spcPts val="0"/>
              </a:spcBef>
              <a:buClr>
                <a:srgbClr val="267FC3"/>
              </a:buClr>
              <a:buSzPct val="80000"/>
              <a:buFont typeface="Arial" panose="020B0604020202020204" pitchFamily="34" charset="0"/>
              <a:buChar char="•"/>
              <a:tabLst>
                <a:tab pos="8521700" algn="r"/>
              </a:tabLst>
            </a:pPr>
            <a:r>
              <a:rPr lang="zh-CN" altLang="en-US" sz="1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可以从以下几个方而思考：客户管理；产品营销；产品开发；交付；服务；风险管理和能力建设（含重要运营流程的变革与优化）</a:t>
            </a:r>
            <a:endParaRPr lang="zh-CN" altLang="en-US" sz="14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7020" lvl="1" indent="-285750" algn="just" defTabSz="330200">
              <a:lnSpc>
                <a:spcPct val="140000"/>
              </a:lnSpc>
              <a:spcBef>
                <a:spcPts val="0"/>
              </a:spcBef>
              <a:buClr>
                <a:srgbClr val="267FC3"/>
              </a:buClr>
              <a:buSzPct val="80000"/>
              <a:buFont typeface="Arial" panose="020B0604020202020204" pitchFamily="34" charset="0"/>
              <a:buChar char="•"/>
              <a:tabLst>
                <a:tab pos="8521700" algn="r"/>
              </a:tabLst>
            </a:pPr>
            <a:r>
              <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年度性的、可按季度跟踪衡量并识别出这些关键任务之间的相互依赖关系，譬如资源、设施等</a:t>
            </a:r>
          </a:p>
        </p:txBody>
      </p:sp>
      <p:cxnSp>
        <p:nvCxnSpPr>
          <p:cNvPr id="3" name="直接连接符 2"/>
          <p:cNvCxnSpPr/>
          <p:nvPr/>
        </p:nvCxnSpPr>
        <p:spPr>
          <a:xfrm flipV="1">
            <a:off x="1505585" y="3738245"/>
            <a:ext cx="9156700" cy="952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1826895" y="1228725"/>
            <a:ext cx="8331200" cy="2232096"/>
            <a:chOff x="561038" y="1415605"/>
            <a:chExt cx="9284082" cy="2487529"/>
          </a:xfrm>
        </p:grpSpPr>
        <p:sp>
          <p:nvSpPr>
            <p:cNvPr id="6" name="TextBox 36"/>
            <p:cNvSpPr txBox="1"/>
            <p:nvPr/>
          </p:nvSpPr>
          <p:spPr>
            <a:xfrm>
              <a:off x="561038" y="1702118"/>
              <a:ext cx="1914525" cy="375771"/>
            </a:xfrm>
            <a:prstGeom prst="rect">
              <a:avLst/>
            </a:prstGeom>
            <a:noFill/>
            <a:ln>
              <a:solidFill>
                <a:schemeClr val="accent1"/>
              </a:solidFill>
            </a:ln>
          </p:spPr>
          <p:txBody>
            <a:bodyPr wrap="square" rtlCol="0">
              <a:spAutoFit/>
            </a:bodyPr>
            <a:lstStyle/>
            <a:p>
              <a:r>
                <a:rPr lang="zh-CN" altLang="en-US" sz="1600" dirty="0">
                  <a:latin typeface="微软雅黑" panose="020B0503020204020204" pitchFamily="34" charset="-122"/>
                  <a:ea typeface="微软雅黑" panose="020B0503020204020204" pitchFamily="34" charset="-122"/>
                  <a:cs typeface="+mn-ea"/>
                  <a:sym typeface="+mn-lt"/>
                </a:rPr>
                <a:t>战略意图</a:t>
              </a:r>
            </a:p>
          </p:txBody>
        </p:sp>
        <p:sp>
          <p:nvSpPr>
            <p:cNvPr id="7" name="TextBox 37"/>
            <p:cNvSpPr txBox="1"/>
            <p:nvPr/>
          </p:nvSpPr>
          <p:spPr>
            <a:xfrm>
              <a:off x="561038" y="2323624"/>
              <a:ext cx="1914525" cy="375771"/>
            </a:xfrm>
            <a:prstGeom prst="rect">
              <a:avLst/>
            </a:prstGeom>
            <a:noFill/>
            <a:ln>
              <a:solidFill>
                <a:schemeClr val="accent1"/>
              </a:solidFill>
            </a:ln>
          </p:spPr>
          <p:txBody>
            <a:bodyPr wrap="square" rtlCol="0">
              <a:spAutoFit/>
            </a:bodyPr>
            <a:lstStyle/>
            <a:p>
              <a:r>
                <a:rPr lang="zh-CN" altLang="en-US" sz="1600" dirty="0">
                  <a:latin typeface="微软雅黑" panose="020B0503020204020204" pitchFamily="34" charset="-122"/>
                  <a:ea typeface="微软雅黑" panose="020B0503020204020204" pitchFamily="34" charset="-122"/>
                  <a:cs typeface="+mn-ea"/>
                  <a:sym typeface="+mn-lt"/>
                </a:rPr>
                <a:t>业务设计</a:t>
              </a:r>
            </a:p>
          </p:txBody>
        </p:sp>
        <p:sp>
          <p:nvSpPr>
            <p:cNvPr id="8" name="TextBox 38"/>
            <p:cNvSpPr txBox="1"/>
            <p:nvPr/>
          </p:nvSpPr>
          <p:spPr>
            <a:xfrm>
              <a:off x="561038" y="2945130"/>
              <a:ext cx="1914525" cy="375771"/>
            </a:xfrm>
            <a:prstGeom prst="rect">
              <a:avLst/>
            </a:prstGeom>
            <a:noFill/>
            <a:ln>
              <a:solidFill>
                <a:schemeClr val="accent1"/>
              </a:solidFill>
            </a:ln>
          </p:spPr>
          <p:txBody>
            <a:bodyPr wrap="square" rtlCol="0">
              <a:spAutoFit/>
            </a:bodyPr>
            <a:lstStyle/>
            <a:p>
              <a:r>
                <a:rPr lang="zh-CN" altLang="en-US" sz="1600" dirty="0">
                  <a:latin typeface="微软雅黑" panose="020B0503020204020204" pitchFamily="34" charset="-122"/>
                  <a:ea typeface="微软雅黑" panose="020B0503020204020204" pitchFamily="34" charset="-122"/>
                  <a:cs typeface="+mn-ea"/>
                  <a:sym typeface="+mn-lt"/>
                </a:rPr>
                <a:t>差距（根因）</a:t>
              </a:r>
            </a:p>
          </p:txBody>
        </p:sp>
        <p:sp>
          <p:nvSpPr>
            <p:cNvPr id="9" name="TextBox 39"/>
            <p:cNvSpPr txBox="1"/>
            <p:nvPr/>
          </p:nvSpPr>
          <p:spPr>
            <a:xfrm>
              <a:off x="3787723" y="2351362"/>
              <a:ext cx="2312987" cy="375771"/>
            </a:xfrm>
            <a:prstGeom prst="rect">
              <a:avLst/>
            </a:prstGeom>
            <a:solidFill>
              <a:schemeClr val="accent1"/>
            </a:solidFill>
            <a:ln>
              <a:solidFill>
                <a:schemeClr val="accent1"/>
              </a:solidFill>
            </a:ln>
          </p:spPr>
          <p:txBody>
            <a:bodyPr wrap="square" rtlCol="0">
              <a:spAutoFit/>
            </a:bodyPr>
            <a:lstStyle/>
            <a:p>
              <a:r>
                <a:rPr lang="zh-CN" altLang="en-US" sz="1600" dirty="0">
                  <a:solidFill>
                    <a:schemeClr val="bg1"/>
                  </a:solidFill>
                  <a:latin typeface="微软雅黑" panose="020B0503020204020204" pitchFamily="34" charset="-122"/>
                  <a:ea typeface="微软雅黑" panose="020B0503020204020204" pitchFamily="34" charset="-122"/>
                  <a:cs typeface="+mn-ea"/>
                  <a:sym typeface="+mn-lt"/>
                </a:rPr>
                <a:t>关键任务与依赖关系</a:t>
              </a:r>
            </a:p>
          </p:txBody>
        </p:sp>
        <p:sp>
          <p:nvSpPr>
            <p:cNvPr id="10" name="TextBox 42"/>
            <p:cNvSpPr txBox="1"/>
            <p:nvPr/>
          </p:nvSpPr>
          <p:spPr>
            <a:xfrm>
              <a:off x="3750797" y="3252788"/>
              <a:ext cx="2501154" cy="650346"/>
            </a:xfrm>
            <a:prstGeom prst="rect">
              <a:avLst/>
            </a:prstGeom>
            <a:noFill/>
            <a:ln>
              <a:solidFill>
                <a:schemeClr val="accent1"/>
              </a:solidFill>
            </a:ln>
          </p:spPr>
          <p:txBody>
            <a:bodyPr wrap="square" rtlCol="0">
              <a:spAutoFit/>
            </a:bodyPr>
            <a:lstStyle/>
            <a:p>
              <a:pPr algn="ctr"/>
              <a:r>
                <a:rPr lang="zh-CN" altLang="en-US" sz="1600">
                  <a:latin typeface="微软雅黑" panose="020B0503020204020204" pitchFamily="34" charset="-122"/>
                  <a:ea typeface="微软雅黑" panose="020B0503020204020204" pitchFamily="34" charset="-122"/>
                  <a:cs typeface="+mn-ea"/>
                  <a:sym typeface="+mn-lt"/>
                </a:rPr>
                <a:t>所需要的</a:t>
              </a:r>
              <a:r>
                <a:rPr lang="zh-CN" altLang="en-US" sz="1600" dirty="0">
                  <a:latin typeface="微软雅黑" panose="020B0503020204020204" pitchFamily="34" charset="-122"/>
                  <a:ea typeface="微软雅黑" panose="020B0503020204020204" pitchFamily="34" charset="-122"/>
                  <a:cs typeface="+mn-ea"/>
                  <a:sym typeface="+mn-lt"/>
                </a:rPr>
                <a:t>组织、人才、文化氛围</a:t>
              </a:r>
            </a:p>
          </p:txBody>
        </p:sp>
        <p:sp>
          <p:nvSpPr>
            <p:cNvPr id="11" name="TextBox 43"/>
            <p:cNvSpPr txBox="1"/>
            <p:nvPr/>
          </p:nvSpPr>
          <p:spPr>
            <a:xfrm>
              <a:off x="7757120" y="1754675"/>
              <a:ext cx="2088000" cy="375771"/>
            </a:xfrm>
            <a:prstGeom prst="rect">
              <a:avLst/>
            </a:prstGeom>
            <a:noFill/>
            <a:ln>
              <a:solidFill>
                <a:schemeClr val="accent1"/>
              </a:solidFill>
            </a:ln>
          </p:spPr>
          <p:txBody>
            <a:bodyPr wrap="square" rtlCol="0">
              <a:spAutoFit/>
            </a:bodyPr>
            <a:lstStyle/>
            <a:p>
              <a:r>
                <a:rPr lang="zh-CN" altLang="en-US"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新战略机会：</a:t>
              </a:r>
              <a:r>
                <a:rPr lang="en-US" altLang="zh-CN"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XX</a:t>
              </a:r>
              <a:endParaRPr lang="zh-CN" altLang="en-US"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13" name="TextBox 44"/>
            <p:cNvSpPr txBox="1"/>
            <p:nvPr/>
          </p:nvSpPr>
          <p:spPr>
            <a:xfrm>
              <a:off x="7757120" y="2162520"/>
              <a:ext cx="2088000" cy="375771"/>
            </a:xfrm>
            <a:prstGeom prst="rect">
              <a:avLst/>
            </a:prstGeom>
            <a:noFill/>
            <a:ln>
              <a:solidFill>
                <a:schemeClr val="accent1"/>
              </a:solidFill>
            </a:ln>
          </p:spPr>
          <p:txBody>
            <a:bodyPr wrap="square" rtlCol="0">
              <a:spAutoFit/>
            </a:bodyPr>
            <a:lstStyle/>
            <a:p>
              <a:r>
                <a:rPr lang="zh-CN" altLang="en-US" sz="1600" b="1" dirty="0">
                  <a:solidFill>
                    <a:srgbClr val="0070C0"/>
                  </a:solidFill>
                  <a:latin typeface="微软雅黑" panose="020B0503020204020204" pitchFamily="34" charset="-122"/>
                  <a:ea typeface="微软雅黑" panose="020B0503020204020204" pitchFamily="34" charset="-122"/>
                  <a:cs typeface="+mn-ea"/>
                  <a:sym typeface="+mn-lt"/>
                </a:rPr>
                <a:t>规模增长</a:t>
              </a:r>
            </a:p>
          </p:txBody>
        </p:sp>
        <p:sp>
          <p:nvSpPr>
            <p:cNvPr id="14" name="TextBox 45"/>
            <p:cNvSpPr txBox="1"/>
            <p:nvPr/>
          </p:nvSpPr>
          <p:spPr>
            <a:xfrm>
              <a:off x="7757119" y="2570367"/>
              <a:ext cx="2087999" cy="375771"/>
            </a:xfrm>
            <a:prstGeom prst="rect">
              <a:avLst/>
            </a:prstGeom>
            <a:noFill/>
            <a:ln>
              <a:solidFill>
                <a:schemeClr val="accent1"/>
              </a:solidFill>
            </a:ln>
          </p:spPr>
          <p:txBody>
            <a:bodyPr wrap="square" rtlCol="0">
              <a:spAutoFit/>
            </a:bodyPr>
            <a:lstStyle/>
            <a:p>
              <a:r>
                <a:rPr lang="zh-CN" altLang="en-US" sz="1600" b="1" dirty="0">
                  <a:solidFill>
                    <a:srgbClr val="0070C0"/>
                  </a:solidFill>
                  <a:latin typeface="微软雅黑" panose="020B0503020204020204" pitchFamily="34" charset="-122"/>
                  <a:ea typeface="微软雅黑" panose="020B0503020204020204" pitchFamily="34" charset="-122"/>
                  <a:cs typeface="+mn-ea"/>
                  <a:sym typeface="+mn-lt"/>
                </a:rPr>
                <a:t>客满改善</a:t>
              </a:r>
            </a:p>
          </p:txBody>
        </p:sp>
        <p:sp>
          <p:nvSpPr>
            <p:cNvPr id="16" name="TextBox 46"/>
            <p:cNvSpPr txBox="1"/>
            <p:nvPr/>
          </p:nvSpPr>
          <p:spPr>
            <a:xfrm>
              <a:off x="7757119" y="2978212"/>
              <a:ext cx="2087989" cy="375771"/>
            </a:xfrm>
            <a:prstGeom prst="rect">
              <a:avLst/>
            </a:prstGeom>
            <a:noFill/>
            <a:ln>
              <a:solidFill>
                <a:schemeClr val="accent1"/>
              </a:solidFill>
            </a:ln>
          </p:spPr>
          <p:txBody>
            <a:bodyPr wrap="square" rtlCol="0">
              <a:spAutoFit/>
            </a:bodyPr>
            <a:lstStyle/>
            <a:p>
              <a:r>
                <a:rPr lang="zh-CN" altLang="en-US" sz="1600" b="1" dirty="0">
                  <a:solidFill>
                    <a:srgbClr val="0070C0"/>
                  </a:solidFill>
                  <a:latin typeface="微软雅黑" panose="020B0503020204020204" pitchFamily="34" charset="-122"/>
                  <a:ea typeface="微软雅黑" panose="020B0503020204020204" pitchFamily="34" charset="-122"/>
                  <a:cs typeface="+mn-ea"/>
                  <a:sym typeface="+mn-lt"/>
                </a:rPr>
                <a:t>管理改进</a:t>
              </a:r>
            </a:p>
          </p:txBody>
        </p:sp>
        <p:cxnSp>
          <p:nvCxnSpPr>
            <p:cNvPr id="18" name="肘形连接符 17"/>
            <p:cNvCxnSpPr>
              <a:stCxn id="6" idx="3"/>
              <a:endCxn id="8" idx="3"/>
            </p:cNvCxnSpPr>
            <p:nvPr/>
          </p:nvCxnSpPr>
          <p:spPr>
            <a:xfrm>
              <a:off x="2475880" y="1890450"/>
              <a:ext cx="3538" cy="1242663"/>
            </a:xfrm>
            <a:prstGeom prst="bentConnector3">
              <a:avLst>
                <a:gd name="adj1" fmla="val 750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2475565" y="2508292"/>
              <a:ext cx="1307449" cy="0"/>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曲线连接符 19"/>
            <p:cNvCxnSpPr>
              <a:stCxn id="11" idx="1"/>
              <a:endCxn id="16" idx="1"/>
            </p:cNvCxnSpPr>
            <p:nvPr/>
          </p:nvCxnSpPr>
          <p:spPr>
            <a:xfrm rot="10800000" flipV="1">
              <a:off x="7756909" y="1942817"/>
              <a:ext cx="3538" cy="1223556"/>
            </a:xfrm>
            <a:prstGeom prst="curvedConnector3">
              <a:avLst>
                <a:gd name="adj1" fmla="val 7600000"/>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TextBox 101"/>
            <p:cNvSpPr txBox="1"/>
            <p:nvPr/>
          </p:nvSpPr>
          <p:spPr>
            <a:xfrm>
              <a:off x="7680176" y="1415605"/>
              <a:ext cx="1261884" cy="307128"/>
            </a:xfrm>
            <a:prstGeom prst="rect">
              <a:avLst/>
            </a:prstGeom>
            <a:noFill/>
          </p:spPr>
          <p:txBody>
            <a:bodyPr wrap="square" rtlCol="0">
              <a:spAutoFit/>
            </a:bodyPr>
            <a:lstStyle/>
            <a:p>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关键任务列表</a:t>
              </a:r>
            </a:p>
          </p:txBody>
        </p:sp>
        <p:cxnSp>
          <p:nvCxnSpPr>
            <p:cNvPr id="23" name="直接连接符 22"/>
            <p:cNvCxnSpPr/>
            <p:nvPr/>
          </p:nvCxnSpPr>
          <p:spPr>
            <a:xfrm flipV="1">
              <a:off x="4944216" y="2720694"/>
              <a:ext cx="0" cy="481945"/>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6118175" y="2508292"/>
              <a:ext cx="1307449" cy="0"/>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5" name="Rectangle 3"/>
          <p:cNvSpPr txBox="1">
            <a:spLocks noChangeArrowheads="1"/>
          </p:cNvSpPr>
          <p:nvPr/>
        </p:nvSpPr>
        <p:spPr bwMode="auto">
          <a:xfrm>
            <a:off x="1588135" y="6298614"/>
            <a:ext cx="8991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2000" b="1" dirty="0">
                <a:solidFill>
                  <a:schemeClr val="bg1"/>
                </a:solidFill>
                <a:effectLst/>
                <a:latin typeface="微软雅黑" panose="020B0503020204020204" pitchFamily="34" charset="-122"/>
                <a:ea typeface="微软雅黑" panose="020B0503020204020204" pitchFamily="34" charset="-122"/>
              </a:rPr>
              <a:t>进攻是最好的防御，</a:t>
            </a:r>
            <a:r>
              <a:rPr lang="zh-CN" altLang="en-US" sz="2000" b="1" dirty="0">
                <a:solidFill>
                  <a:srgbClr val="FCC78C"/>
                </a:solidFill>
                <a:effectLst/>
                <a:latin typeface="微软雅黑" panose="020B0503020204020204" pitchFamily="34" charset="-122"/>
                <a:ea typeface="微软雅黑" panose="020B0503020204020204" pitchFamily="34" charset="-122"/>
              </a:rPr>
              <a:t>战略要优先考虑的新业务</a:t>
            </a:r>
            <a:r>
              <a:rPr lang="zh-CN" altLang="en-US" sz="2000" b="1" dirty="0">
                <a:solidFill>
                  <a:schemeClr val="bg1"/>
                </a:solidFill>
                <a:effectLst/>
                <a:latin typeface="微软雅黑" panose="020B0503020204020204" pitchFamily="34" charset="-122"/>
                <a:ea typeface="微软雅黑" panose="020B0503020204020204" pitchFamily="34" charset="-122"/>
              </a:rPr>
              <a:t>；也包括</a:t>
            </a:r>
            <a:r>
              <a:rPr lang="zh-CN" altLang="en-US" sz="2000" b="1" dirty="0">
                <a:solidFill>
                  <a:srgbClr val="FCC78C"/>
                </a:solidFill>
                <a:effectLst/>
                <a:latin typeface="微软雅黑" panose="020B0503020204020204" pitchFamily="34" charset="-122"/>
                <a:ea typeface="微软雅黑" panose="020B0503020204020204" pitchFamily="34" charset="-122"/>
              </a:rPr>
              <a:t>金融危机时反向操作</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56322" name="Group 2"/>
          <p:cNvGraphicFramePr>
            <a:graphicFrameLocks noGrp="1"/>
          </p:cNvGraphicFramePr>
          <p:nvPr>
            <p:ph type="tbl" idx="4294967295"/>
            <p:extLst>
              <p:ext uri="{D42A27DB-BD31-4B8C-83A1-F6EECF244321}">
                <p14:modId xmlns:p14="http://schemas.microsoft.com/office/powerpoint/2010/main" val="4075475152"/>
              </p:ext>
            </p:extLst>
          </p:nvPr>
        </p:nvGraphicFramePr>
        <p:xfrm>
          <a:off x="943896" y="1413439"/>
          <a:ext cx="9768840" cy="4664710"/>
        </p:xfrm>
        <a:graphic>
          <a:graphicData uri="http://schemas.openxmlformats.org/drawingml/2006/table">
            <a:tbl>
              <a:tblPr/>
              <a:tblGrid>
                <a:gridCol w="7646670">
                  <a:extLst>
                    <a:ext uri="{9D8B030D-6E8A-4147-A177-3AD203B41FA5}">
                      <a16:colId xmlns:a16="http://schemas.microsoft.com/office/drawing/2014/main" val="20000"/>
                    </a:ext>
                  </a:extLst>
                </a:gridCol>
                <a:gridCol w="2122170">
                  <a:extLst>
                    <a:ext uri="{9D8B030D-6E8A-4147-A177-3AD203B41FA5}">
                      <a16:colId xmlns:a16="http://schemas.microsoft.com/office/drawing/2014/main" val="20001"/>
                    </a:ext>
                  </a:extLst>
                </a:gridCol>
              </a:tblGrid>
              <a:tr h="638810">
                <a:tc>
                  <a:txBody>
                    <a:bodyPr/>
                    <a:lstStyle/>
                    <a:p>
                      <a:pPr marL="0" marR="0" lvl="0" indent="0" algn="ctr" defTabSz="914400" rtl="0" eaLnBrk="1" fontAlgn="base" latinLnBrk="0" hangingPunct="1">
                        <a:lnSpc>
                          <a:spcPct val="104000"/>
                        </a:lnSpc>
                        <a:spcBef>
                          <a:spcPct val="20000"/>
                        </a:spcBef>
                        <a:spcAft>
                          <a:spcPct val="0"/>
                        </a:spcAft>
                        <a:buClr>
                          <a:schemeClr val="accent1"/>
                        </a:buClr>
                        <a:buSzTx/>
                        <a:buFont typeface="Wingdings" panose="05000000000000000000" pitchFamily="2" charset="2"/>
                        <a:buNone/>
                      </a:pPr>
                      <a:r>
                        <a:rPr kumimoji="0" lang="zh-CN" altLang="en-US" sz="16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关键任务</a:t>
                      </a:r>
                    </a:p>
                  </a:txBody>
                  <a:tcPr marL="51429" marR="51429" marT="25715" marB="25715" anchor="ctr" horzOverflow="overflow">
                    <a:lnL w="6350" cap="flat" cmpd="sng" algn="ctr">
                      <a:no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6350" cap="flat" cmpd="sng" algn="ctr">
                      <a:noFill/>
                      <a:prstDash val="sysDash"/>
                      <a:round/>
                      <a:headEnd type="none" w="med" len="med"/>
                      <a:tailEnd type="none" w="med" len="med"/>
                    </a:lnT>
                    <a:lnB w="12700" cap="flat" cmpd="sng" algn="ctr">
                      <a:solidFill>
                        <a:schemeClr val="bg1">
                          <a:lumMod val="75000"/>
                        </a:schemeClr>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4000"/>
                        </a:lnSpc>
                        <a:spcBef>
                          <a:spcPct val="20000"/>
                        </a:spcBef>
                        <a:spcAft>
                          <a:spcPct val="0"/>
                        </a:spcAft>
                        <a:buClr>
                          <a:schemeClr val="accent1"/>
                        </a:buClr>
                        <a:buSzTx/>
                        <a:buFont typeface="Wingdings" panose="05000000000000000000" pitchFamily="2" charset="2"/>
                        <a:buNone/>
                      </a:pPr>
                      <a:r>
                        <a:rPr kumimoji="0" lang="zh-CN" altLang="en-US" sz="1600" b="1"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rPr>
                        <a:t>负责人</a:t>
                      </a:r>
                    </a:p>
                  </a:txBody>
                  <a:tcPr marL="51429" marR="51429" marT="25715" marB="25715" anchor="ctr" horzOverflow="overflow">
                    <a:lnL w="12700" cap="flat" cmpd="sng" algn="ctr">
                      <a:solidFill>
                        <a:schemeClr val="bg1">
                          <a:lumMod val="75000"/>
                        </a:schemeClr>
                      </a:solidFill>
                      <a:prstDash val="solid"/>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12700" cap="flat" cmpd="sng" algn="ctr">
                      <a:solidFill>
                        <a:schemeClr val="bg1">
                          <a:lumMod val="75000"/>
                        </a:schemeClr>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676275">
                <a:tc>
                  <a:txBody>
                    <a:bodyPr/>
                    <a:lstStyle/>
                    <a:p>
                      <a:pPr marL="0" marR="0" lvl="0" indent="0" algn="l" defTabSz="914400" rtl="0" eaLnBrk="1" fontAlgn="base" latinLnBrk="0" hangingPunct="1">
                        <a:lnSpc>
                          <a:spcPct val="104000"/>
                        </a:lnSpc>
                        <a:spcBef>
                          <a:spcPct val="20000"/>
                        </a:spcBef>
                        <a:spcAft>
                          <a:spcPct val="0"/>
                        </a:spcAft>
                        <a:buClr>
                          <a:schemeClr val="accent1"/>
                        </a:buClr>
                        <a:buSzTx/>
                        <a:buFont typeface="Wingdings" panose="05000000000000000000" pitchFamily="2" charset="2"/>
                        <a:buNone/>
                      </a:pPr>
                      <a:r>
                        <a:rPr kumimoji="0" lang="zh-CN"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关键任务</a:t>
                      </a:r>
                      <a:r>
                        <a:rPr kumimoji="0" lang="en-AU"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1</a:t>
                      </a:r>
                      <a:r>
                        <a:rPr kumimoji="0" lang="zh-CN"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 ：</a:t>
                      </a:r>
                      <a:r>
                        <a:rPr kumimoji="0" lang="zh-CN" altLang="en-US" sz="1400" b="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终端领域继续战略突破，销售突破</a:t>
                      </a:r>
                      <a:r>
                        <a:rPr kumimoji="0" lang="en-US" altLang="zh-CN" sz="1400" b="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XXX</a:t>
                      </a:r>
                      <a:r>
                        <a:rPr kumimoji="0" lang="zh-CN" altLang="en-US" sz="1400" b="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亿美元</a:t>
                      </a:r>
                    </a:p>
                  </a:txBody>
                  <a:tcPr marL="51429" marR="51429" marT="25715" marB="25715" anchor="ctr" horzOverflow="overflow">
                    <a:lnL w="6350" cap="flat" cmpd="sng" algn="ctr">
                      <a:no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4000"/>
                        </a:lnSpc>
                        <a:spcBef>
                          <a:spcPct val="20000"/>
                        </a:spcBef>
                        <a:spcAft>
                          <a:spcPct val="0"/>
                        </a:spcAft>
                        <a:buClr>
                          <a:schemeClr val="accent1"/>
                        </a:buClr>
                        <a:buSzTx/>
                        <a:buFont typeface="Wingdings" panose="05000000000000000000" pitchFamily="2" charset="2"/>
                        <a:buNone/>
                      </a:pPr>
                      <a:r>
                        <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余承东</a:t>
                      </a:r>
                    </a:p>
                  </a:txBody>
                  <a:tcPr marL="51429" marR="51429" marT="25715" marB="25715" anchor="ctr" horzOverflow="overflow">
                    <a:lnL w="12700" cap="flat" cmpd="sng" algn="ctr">
                      <a:solidFill>
                        <a:schemeClr val="bg1">
                          <a:lumMod val="75000"/>
                        </a:schemeClr>
                      </a:solidFill>
                      <a:prstDash val="solid"/>
                      <a:round/>
                      <a:headEnd type="none" w="med" len="med"/>
                      <a:tailEnd type="none" w="med" len="med"/>
                    </a:lnL>
                    <a:lnR w="6350" cap="flat" cmpd="sng" algn="ctr">
                      <a:no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77545">
                <a:tc>
                  <a:txBody>
                    <a:bodyPr/>
                    <a:lstStyle/>
                    <a:p>
                      <a:pPr marL="0" marR="0" lvl="0" indent="0" algn="l" defTabSz="914400" rtl="0" eaLnBrk="1" fontAlgn="base" latinLnBrk="0" hangingPunct="1">
                        <a:lnSpc>
                          <a:spcPct val="104000"/>
                        </a:lnSpc>
                        <a:spcBef>
                          <a:spcPct val="20000"/>
                        </a:spcBef>
                        <a:spcAft>
                          <a:spcPct val="0"/>
                        </a:spcAft>
                        <a:buClr>
                          <a:schemeClr val="accent1"/>
                        </a:buClr>
                        <a:buSzTx/>
                        <a:buFont typeface="Wingdings" panose="05000000000000000000" pitchFamily="2" charset="2"/>
                        <a:buNone/>
                      </a:pPr>
                      <a:r>
                        <a:rPr kumimoji="0" lang="zh-CN"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关键任务</a:t>
                      </a:r>
                      <a:r>
                        <a:rPr kumimoji="0" lang="en-AU"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2</a:t>
                      </a:r>
                      <a:r>
                        <a:rPr kumimoji="0" lang="zh-CN"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a:t>
                      </a:r>
                      <a:r>
                        <a:rPr kumimoji="0" lang="zh-CN" altLang="en-US" sz="1400" b="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解决劳资分配关系，落实</a:t>
                      </a:r>
                      <a:r>
                        <a:rPr kumimoji="0" lang="en-US" altLang="zh-CN" sz="1400" b="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3:1</a:t>
                      </a:r>
                    </a:p>
                  </a:txBody>
                  <a:tcPr marL="51429" marR="51429" marT="25715" marB="25715" anchor="ctr" horzOverflow="overflow">
                    <a:lnL w="6350" cap="flat" cmpd="sng" algn="ctr">
                      <a:no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4000"/>
                        </a:lnSpc>
                        <a:spcBef>
                          <a:spcPct val="20000"/>
                        </a:spcBef>
                        <a:spcAft>
                          <a:spcPct val="0"/>
                        </a:spcAft>
                        <a:buClr>
                          <a:schemeClr val="accent1"/>
                        </a:buClr>
                        <a:buSzTx/>
                        <a:buFont typeface="Wingdings" panose="05000000000000000000" pitchFamily="2" charset="2"/>
                        <a:buNone/>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胡厚崑</a:t>
                      </a:r>
                    </a:p>
                  </a:txBody>
                  <a:tcPr marL="51429" marR="51429" marT="25715" marB="25715" anchor="ctr" horzOverflow="overflow">
                    <a:lnL w="12700" cap="flat" cmpd="sng" algn="ctr">
                      <a:solidFill>
                        <a:schemeClr val="bg1">
                          <a:lumMod val="75000"/>
                        </a:schemeClr>
                      </a:solidFill>
                      <a:prstDash val="solid"/>
                      <a:round/>
                      <a:headEnd type="none" w="med" len="med"/>
                      <a:tailEnd type="none" w="med" len="med"/>
                    </a:lnL>
                    <a:lnR w="6350" cap="flat" cmpd="sng" algn="ctr">
                      <a:no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79450">
                <a:tc>
                  <a:txBody>
                    <a:bodyPr/>
                    <a:lstStyle/>
                    <a:p>
                      <a:pPr marL="0" marR="0" lvl="0" indent="0" algn="l" defTabSz="914400" rtl="0" eaLnBrk="1" fontAlgn="base" latinLnBrk="0" hangingPunct="1">
                        <a:lnSpc>
                          <a:spcPct val="104000"/>
                        </a:lnSpc>
                        <a:spcBef>
                          <a:spcPct val="20000"/>
                        </a:spcBef>
                        <a:spcAft>
                          <a:spcPct val="0"/>
                        </a:spcAft>
                        <a:buClr>
                          <a:schemeClr val="accent1"/>
                        </a:buClr>
                        <a:buSzTx/>
                        <a:buFont typeface="Wingdings" panose="05000000000000000000" pitchFamily="2" charset="2"/>
                        <a:buNone/>
                      </a:pPr>
                      <a:r>
                        <a:rPr kumimoji="0" lang="zh-CN"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关键任务</a:t>
                      </a:r>
                      <a:r>
                        <a:rPr kumimoji="0" lang="en-AU"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3</a:t>
                      </a:r>
                      <a:r>
                        <a:rPr kumimoji="0" lang="zh-CN"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a:t>
                      </a:r>
                      <a:r>
                        <a:rPr kumimoji="0" lang="zh-CN" altLang="en-US" sz="1400" b="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建立适应领先者的人才结构</a:t>
                      </a:r>
                    </a:p>
                  </a:txBody>
                  <a:tcPr marL="51429" marR="51429" marT="25715" marB="25715" anchor="ctr" horzOverflow="overflow">
                    <a:lnL w="6350" cap="flat" cmpd="sng" algn="ctr">
                      <a:no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4000"/>
                        </a:lnSpc>
                        <a:spcBef>
                          <a:spcPct val="20000"/>
                        </a:spcBef>
                        <a:spcAft>
                          <a:spcPct val="0"/>
                        </a:spcAft>
                        <a:buClr>
                          <a:schemeClr val="accent1"/>
                        </a:buClr>
                        <a:buSzTx/>
                        <a:buFont typeface="Wingdings" panose="05000000000000000000" pitchFamily="2" charset="2"/>
                        <a:buNone/>
                      </a:pPr>
                      <a:r>
                        <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胡厚</a:t>
                      </a:r>
                      <a:r>
                        <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mn-ea"/>
                        </a:rPr>
                        <a:t>崑</a:t>
                      </a:r>
                    </a:p>
                  </a:txBody>
                  <a:tcPr marL="51429" marR="51429" marT="25715" marB="25715" anchor="ctr" horzOverflow="overflow">
                    <a:lnL w="12700" cap="flat" cmpd="sng" algn="ctr">
                      <a:solidFill>
                        <a:schemeClr val="bg1">
                          <a:lumMod val="75000"/>
                        </a:schemeClr>
                      </a:solidFill>
                      <a:prstDash val="solid"/>
                      <a:round/>
                      <a:headEnd type="none" w="med" len="med"/>
                      <a:tailEnd type="none" w="med" len="med"/>
                    </a:lnL>
                    <a:lnR w="6350" cap="flat" cmpd="sng" algn="ctr">
                      <a:no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77545">
                <a:tc>
                  <a:txBody>
                    <a:bodyPr/>
                    <a:lstStyle/>
                    <a:p>
                      <a:pPr marL="0" marR="0" lvl="0" indent="0" algn="l" defTabSz="914400" rtl="0" eaLnBrk="1" fontAlgn="base" latinLnBrk="0" hangingPunct="1">
                        <a:lnSpc>
                          <a:spcPct val="104000"/>
                        </a:lnSpc>
                        <a:spcBef>
                          <a:spcPct val="20000"/>
                        </a:spcBef>
                        <a:spcAft>
                          <a:spcPct val="0"/>
                        </a:spcAft>
                        <a:buClr>
                          <a:schemeClr val="accent1"/>
                        </a:buClr>
                        <a:buSzTx/>
                        <a:buFont typeface="Wingdings" panose="05000000000000000000" pitchFamily="2" charset="2"/>
                        <a:buNone/>
                      </a:pPr>
                      <a:r>
                        <a:rPr kumimoji="0" lang="zh-CN"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关键任务</a:t>
                      </a:r>
                      <a:r>
                        <a:rPr kumimoji="0" lang="en-AU"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4</a:t>
                      </a:r>
                      <a:r>
                        <a:rPr kumimoji="0" lang="zh-CN"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a:t>
                      </a:r>
                      <a:r>
                        <a:rPr kumimoji="0" lang="zh-CN" altLang="en-US" sz="1400" b="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建立项目型组织，落实让听得见炮声的人决策</a:t>
                      </a:r>
                    </a:p>
                  </a:txBody>
                  <a:tcPr marL="51429" marR="51429" marT="25715" marB="25715" anchor="ctr" horzOverflow="overflow">
                    <a:lnL w="6350" cap="flat" cmpd="sng" algn="ctr">
                      <a:no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4000"/>
                        </a:lnSpc>
                        <a:spcBef>
                          <a:spcPct val="20000"/>
                        </a:spcBef>
                        <a:spcAft>
                          <a:spcPct val="0"/>
                        </a:spcAft>
                        <a:buClr>
                          <a:schemeClr val="accent1"/>
                        </a:buClr>
                        <a:buSzTx/>
                        <a:buFont typeface="Wingdings" panose="05000000000000000000" pitchFamily="2" charset="2"/>
                        <a:buNone/>
                      </a:pPr>
                      <a:r>
                        <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郭   平</a:t>
                      </a:r>
                    </a:p>
                  </a:txBody>
                  <a:tcPr marL="51429" marR="51429" marT="25715" marB="25715" anchor="ctr" horzOverflow="overflow">
                    <a:lnL w="12700" cap="flat" cmpd="sng" algn="ctr">
                      <a:solidFill>
                        <a:schemeClr val="bg1">
                          <a:lumMod val="75000"/>
                        </a:schemeClr>
                      </a:solidFill>
                      <a:prstDash val="solid"/>
                      <a:round/>
                      <a:headEnd type="none" w="med" len="med"/>
                      <a:tailEnd type="none" w="med" len="med"/>
                    </a:lnL>
                    <a:lnR w="6350" cap="flat" cmpd="sng" algn="ctr">
                      <a:no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38810">
                <a:tc>
                  <a:txBody>
                    <a:bodyPr/>
                    <a:lstStyle/>
                    <a:p>
                      <a:pPr marL="0" marR="0" lvl="0" indent="0" algn="l" defTabSz="914400" rtl="0" eaLnBrk="1" fontAlgn="base" latinLnBrk="0" hangingPunct="1">
                        <a:lnSpc>
                          <a:spcPct val="104000"/>
                        </a:lnSpc>
                        <a:spcBef>
                          <a:spcPct val="20000"/>
                        </a:spcBef>
                        <a:spcAft>
                          <a:spcPct val="0"/>
                        </a:spcAft>
                        <a:buClr>
                          <a:schemeClr val="accent1"/>
                        </a:buClr>
                        <a:buSzTx/>
                        <a:buFont typeface="Wingdings" panose="05000000000000000000" pitchFamily="2" charset="2"/>
                        <a:buNone/>
                      </a:pPr>
                      <a:r>
                        <a:rPr kumimoji="0" lang="zh-CN"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关键任务</a:t>
                      </a:r>
                      <a:r>
                        <a:rPr kumimoji="0" lang="en-US" altLang="zh-CN"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5</a:t>
                      </a:r>
                      <a:r>
                        <a:rPr kumimoji="0" lang="zh-CN"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sym typeface="+mn-ea"/>
                        </a:rPr>
                        <a:t>：</a:t>
                      </a:r>
                      <a:r>
                        <a:rPr kumimoji="0" lang="zh-CN" altLang="en-US" sz="1400" b="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继续加大前沿研发的战略投入，避免颠覆创新的冲击</a:t>
                      </a:r>
                    </a:p>
                  </a:txBody>
                  <a:tcPr marL="51429" marR="51429" marT="25715" marB="25715" anchor="ctr" horzOverflow="overflow">
                    <a:lnL w="6350" cap="flat" cmpd="sng" algn="ctr">
                      <a:no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4000"/>
                        </a:lnSpc>
                        <a:spcBef>
                          <a:spcPct val="20000"/>
                        </a:spcBef>
                        <a:spcAft>
                          <a:spcPct val="0"/>
                        </a:spcAft>
                        <a:buClr>
                          <a:schemeClr val="accent1"/>
                        </a:buClr>
                        <a:buSzTx/>
                        <a:buFont typeface="Wingdings" panose="05000000000000000000" pitchFamily="2" charset="2"/>
                        <a:buNone/>
                      </a:pPr>
                      <a:r>
                        <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徐直军</a:t>
                      </a:r>
                    </a:p>
                  </a:txBody>
                  <a:tcPr marL="51429" marR="51429" marT="25715" marB="25715" anchor="ctr" horzOverflow="overflow">
                    <a:lnL w="12700" cap="flat" cmpd="sng" algn="ctr">
                      <a:solidFill>
                        <a:schemeClr val="bg1">
                          <a:lumMod val="75000"/>
                        </a:schemeClr>
                      </a:solidFill>
                      <a:prstDash val="solid"/>
                      <a:round/>
                      <a:headEnd type="none" w="med" len="med"/>
                      <a:tailEnd type="none" w="med" len="med"/>
                    </a:lnL>
                    <a:lnR w="6350" cap="flat" cmpd="sng" algn="ctr">
                      <a:no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76275">
                <a:tc>
                  <a:txBody>
                    <a:bodyPr/>
                    <a:lstStyle/>
                    <a:p>
                      <a:pPr marL="0" marR="0" lvl="0" indent="0" algn="l" defTabSz="914400" rtl="0" eaLnBrk="1" fontAlgn="base" latinLnBrk="0" hangingPunct="1">
                        <a:lnSpc>
                          <a:spcPct val="104000"/>
                        </a:lnSpc>
                        <a:spcBef>
                          <a:spcPct val="20000"/>
                        </a:spcBef>
                        <a:spcAft>
                          <a:spcPct val="0"/>
                        </a:spcAft>
                        <a:buClr>
                          <a:schemeClr val="accent1"/>
                        </a:buClr>
                        <a:buSzTx/>
                        <a:buFont typeface="Wingdings" panose="05000000000000000000" pitchFamily="2" charset="2"/>
                        <a:buNone/>
                      </a:pPr>
                      <a:r>
                        <a:rPr kumimoji="0" lang="zh-CN"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关键任务</a:t>
                      </a:r>
                      <a:r>
                        <a:rPr kumimoji="0" lang="en-US" altLang="zh-CN"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6</a:t>
                      </a:r>
                      <a:r>
                        <a:rPr kumimoji="0" lang="zh-CN"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a:t>
                      </a:r>
                      <a:r>
                        <a:rPr kumimoji="0" lang="zh-CN" altLang="en-US" sz="1400" b="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继续建设欧洲第二本土市场</a:t>
                      </a:r>
                    </a:p>
                  </a:txBody>
                  <a:tcPr marL="51429" marR="51429" marT="25715" marB="25715" anchor="ctr" horzOverflow="overflow">
                    <a:lnL w="6350" cap="flat" cmpd="sng" algn="ctr">
                      <a:no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no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4000"/>
                        </a:lnSpc>
                        <a:spcBef>
                          <a:spcPct val="20000"/>
                        </a:spcBef>
                        <a:spcAft>
                          <a:spcPct val="0"/>
                        </a:spcAft>
                        <a:buClr>
                          <a:schemeClr val="accent1"/>
                        </a:buClr>
                        <a:buSzTx/>
                        <a:buFont typeface="Wingdings" panose="05000000000000000000" pitchFamily="2" charset="2"/>
                        <a:buNone/>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李   杰</a:t>
                      </a:r>
                    </a:p>
                  </a:txBody>
                  <a:tcPr marL="51429" marR="51429" marT="25715" marB="25715" anchor="ctr" horzOverflow="overflow">
                    <a:lnL w="12700" cap="flat" cmpd="sng" algn="ctr">
                      <a:solidFill>
                        <a:schemeClr val="bg1">
                          <a:lumMod val="75000"/>
                        </a:schemeClr>
                      </a:solidFill>
                      <a:prstDash val="solid"/>
                      <a:round/>
                      <a:headEnd type="none" w="med" len="med"/>
                      <a:tailEnd type="none" w="med" len="med"/>
                    </a:lnL>
                    <a:lnR w="6350" cap="flat" cmpd="sng" algn="ctr">
                      <a:no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no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 name="标题 1"/>
          <p:cNvSpPr txBox="1"/>
          <p:nvPr/>
        </p:nvSpPr>
        <p:spPr>
          <a:xfrm>
            <a:off x="663833" y="436256"/>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2060"/>
                </a:solidFill>
                <a:latin typeface="微软雅黑" panose="020B0503020204020204" pitchFamily="34" charset="-122"/>
                <a:ea typeface="微软雅黑" panose="020B0503020204020204" pitchFamily="34" charset="-122"/>
                <a:cs typeface="+mn-ea"/>
                <a:sym typeface="+mn-lt"/>
              </a:rPr>
              <a:t>案例：华为战略解码关键任务举例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3005"/>
            <a:ext cx="12206605" cy="522605"/>
          </a:xfrm>
          <a:prstGeom prst="rect">
            <a:avLst/>
          </a:prstGeom>
        </p:spPr>
      </p:pic>
      <p:sp>
        <p:nvSpPr>
          <p:cNvPr id="3" name="文本框 2"/>
          <p:cNvSpPr txBox="1"/>
          <p:nvPr/>
        </p:nvSpPr>
        <p:spPr>
          <a:xfrm>
            <a:off x="1750141" y="1327533"/>
            <a:ext cx="8976852" cy="4567555"/>
          </a:xfrm>
          <a:prstGeom prst="rect">
            <a:avLst/>
          </a:prstGeom>
          <a:noFill/>
        </p:spPr>
        <p:txBody>
          <a:bodyPr wrap="square" rtlCol="0">
            <a:spAutoFit/>
          </a:bodyPr>
          <a:lstStyle/>
          <a:p>
            <a:pPr>
              <a:lnSpc>
                <a:spcPct val="160000"/>
              </a:lnSpc>
            </a:pPr>
            <a:r>
              <a:rPr kumimoji="1" lang="en-US" altLang="zh-CN" sz="1400" dirty="0">
                <a:solidFill>
                  <a:srgbClr val="C00000"/>
                </a:solidFill>
                <a:latin typeface="微软雅黑" panose="020B0503020204020204" pitchFamily="34" charset="-122"/>
                <a:ea typeface="微软雅黑" panose="020B0503020204020204" pitchFamily="34" charset="-122"/>
              </a:rPr>
              <a:t>【</a:t>
            </a:r>
            <a:r>
              <a:rPr kumimoji="1" lang="zh-CN" altLang="en-US" sz="1400" dirty="0">
                <a:solidFill>
                  <a:srgbClr val="C00000"/>
                </a:solidFill>
                <a:latin typeface="微软雅黑" panose="020B0503020204020204" pitchFamily="34" charset="-122"/>
                <a:ea typeface="微软雅黑" panose="020B0503020204020204" pitchFamily="34" charset="-122"/>
              </a:rPr>
              <a:t>战略意图</a:t>
            </a:r>
            <a:r>
              <a:rPr kumimoji="1" lang="en-US" altLang="zh-CN" sz="1400" dirty="0">
                <a:solidFill>
                  <a:srgbClr val="C00000"/>
                </a:solidFill>
                <a:latin typeface="微软雅黑" panose="020B0503020204020204" pitchFamily="34" charset="-122"/>
                <a:ea typeface="微软雅黑" panose="020B0503020204020204" pitchFamily="34" charset="-122"/>
              </a:rPr>
              <a:t>】</a:t>
            </a:r>
            <a:r>
              <a:rPr kumimoji="1" lang="zh-CN" altLang="en-US" sz="1400" dirty="0">
                <a:solidFill>
                  <a:srgbClr val="C00000"/>
                </a:solidFill>
                <a:latin typeface="微软雅黑" panose="020B0503020204020204" pitchFamily="34" charset="-122"/>
                <a:ea typeface="微软雅黑" panose="020B0503020204020204" pitchFamily="34" charset="-122"/>
              </a:rPr>
              <a:t> </a:t>
            </a:r>
            <a:r>
              <a:rPr kumimoji="1" lang="en-US" altLang="zh-CN" sz="1400" dirty="0">
                <a:solidFill>
                  <a:srgbClr val="C00000"/>
                </a:solidFill>
                <a:latin typeface="微软雅黑" panose="020B0503020204020204" pitchFamily="34" charset="-122"/>
                <a:ea typeface="微软雅黑" panose="020B0503020204020204" pitchFamily="34" charset="-122"/>
              </a:rPr>
              <a:t>5</a:t>
            </a:r>
            <a:r>
              <a:rPr kumimoji="1" lang="zh-CN" altLang="en-US" sz="1400" dirty="0">
                <a:solidFill>
                  <a:srgbClr val="C00000"/>
                </a:solidFill>
                <a:latin typeface="微软雅黑" panose="020B0503020204020204" pitchFamily="34" charset="-122"/>
                <a:ea typeface="微软雅黑" panose="020B0503020204020204" pitchFamily="34" charset="-122"/>
              </a:rPr>
              <a:t>年收⼊⽬标：</a:t>
            </a:r>
            <a:r>
              <a:rPr kumimoji="1" lang="en-US" altLang="zh-CN" sz="1400" dirty="0">
                <a:solidFill>
                  <a:srgbClr val="C00000"/>
                </a:solidFill>
                <a:latin typeface="微软雅黑" panose="020B0503020204020204" pitchFamily="34" charset="-122"/>
                <a:ea typeface="微软雅黑" panose="020B0503020204020204" pitchFamily="34" charset="-122"/>
              </a:rPr>
              <a:t>100</a:t>
            </a:r>
            <a:r>
              <a:rPr kumimoji="1" lang="zh-CN" altLang="en-US" sz="1400" dirty="0">
                <a:solidFill>
                  <a:srgbClr val="C00000"/>
                </a:solidFill>
                <a:latin typeface="微软雅黑" panose="020B0503020204020204" pitchFamily="34" charset="-122"/>
                <a:ea typeface="微软雅黑" panose="020B0503020204020204" pitchFamily="34" charset="-122"/>
              </a:rPr>
              <a:t>亿</a:t>
            </a:r>
            <a:endParaRPr kumimoji="1" lang="zh-CN" altLang="en-US" sz="1400" dirty="0">
              <a:solidFill>
                <a:srgbClr val="FF0000"/>
              </a:solidFill>
              <a:latin typeface="微软雅黑" panose="020B0503020204020204" pitchFamily="34" charset="-122"/>
              <a:ea typeface="微软雅黑" panose="020B0503020204020204" pitchFamily="34" charset="-122"/>
            </a:endParaRPr>
          </a:p>
          <a:p>
            <a:pPr>
              <a:lnSpc>
                <a:spcPct val="160000"/>
              </a:lnSpc>
            </a:pPr>
            <a:r>
              <a:rPr kumimoji="1" lang="en-US" altLang="zh-CN" sz="1400" dirty="0">
                <a:solidFill>
                  <a:srgbClr val="0070C0"/>
                </a:solidFill>
                <a:latin typeface="微软雅黑" panose="020B0503020204020204" pitchFamily="34" charset="-122"/>
                <a:ea typeface="微软雅黑" panose="020B0503020204020204" pitchFamily="34" charset="-122"/>
              </a:rPr>
              <a:t>1. ⾦</a:t>
            </a:r>
            <a:r>
              <a:rPr kumimoji="1" lang="zh-CN" altLang="en-US" sz="1400" dirty="0">
                <a:solidFill>
                  <a:srgbClr val="0070C0"/>
                </a:solidFill>
                <a:latin typeface="微软雅黑" panose="020B0503020204020204" pitchFamily="34" charset="-122"/>
                <a:ea typeface="微软雅黑" panose="020B0503020204020204" pitchFamily="34" charset="-122"/>
              </a:rPr>
              <a:t>融⾏业第⼀，市占率</a:t>
            </a:r>
            <a:r>
              <a:rPr kumimoji="1" lang="en-US" altLang="zh-CN" sz="1400" dirty="0">
                <a:solidFill>
                  <a:srgbClr val="0070C0"/>
                </a:solidFill>
                <a:latin typeface="微软雅黑" panose="020B0503020204020204" pitchFamily="34" charset="-122"/>
                <a:ea typeface="微软雅黑" panose="020B0503020204020204" pitchFamily="34" charset="-122"/>
              </a:rPr>
              <a:t>30%</a:t>
            </a:r>
            <a:r>
              <a:rPr kumimoji="1" lang="zh-CN" altLang="en-US" sz="1400" dirty="0">
                <a:solidFill>
                  <a:srgbClr val="0070C0"/>
                </a:solidFill>
                <a:latin typeface="微软雅黑" panose="020B0503020204020204" pitchFamily="34" charset="-122"/>
                <a:ea typeface="微软雅黑" panose="020B0503020204020204" pitchFamily="34" charset="-122"/>
              </a:rPr>
              <a:t>，⾏业主导；</a:t>
            </a:r>
          </a:p>
          <a:p>
            <a:pPr>
              <a:lnSpc>
                <a:spcPct val="160000"/>
              </a:lnSpc>
            </a:pPr>
            <a:r>
              <a:rPr kumimoji="1" lang="en-US" altLang="zh-CN" sz="1400" dirty="0">
                <a:solidFill>
                  <a:srgbClr val="0070C0"/>
                </a:solidFill>
                <a:latin typeface="微软雅黑" panose="020B0503020204020204" pitchFamily="34" charset="-122"/>
                <a:ea typeface="微软雅黑" panose="020B0503020204020204" pitchFamily="34" charset="-122"/>
              </a:rPr>
              <a:t>2. ⾼</a:t>
            </a:r>
            <a:r>
              <a:rPr kumimoji="1" lang="zh-CN" altLang="en-US" sz="1400" dirty="0">
                <a:solidFill>
                  <a:srgbClr val="0070C0"/>
                </a:solidFill>
                <a:latin typeface="微软雅黑" panose="020B0503020204020204" pitchFamily="34" charset="-122"/>
                <a:ea typeface="微软雅黑" panose="020B0503020204020204" pitchFamily="34" charset="-122"/>
              </a:rPr>
              <a:t>校、医院市场第⼀；</a:t>
            </a:r>
          </a:p>
          <a:p>
            <a:pPr>
              <a:lnSpc>
                <a:spcPct val="160000"/>
              </a:lnSpc>
            </a:pPr>
            <a:r>
              <a:rPr kumimoji="1" lang="en-US" altLang="zh-CN" sz="1400" dirty="0">
                <a:solidFill>
                  <a:srgbClr val="0070C0"/>
                </a:solidFill>
                <a:latin typeface="微软雅黑" panose="020B0503020204020204" pitchFamily="34" charset="-122"/>
                <a:ea typeface="微软雅黑" panose="020B0503020204020204" pitchFamily="34" charset="-122"/>
              </a:rPr>
              <a:t>3. </a:t>
            </a:r>
            <a:r>
              <a:rPr kumimoji="1" lang="zh-CN" altLang="en-US" sz="1400" dirty="0">
                <a:solidFill>
                  <a:srgbClr val="0070C0"/>
                </a:solidFill>
                <a:latin typeface="微软雅黑" panose="020B0503020204020204" pitchFamily="34" charset="-122"/>
                <a:ea typeface="微软雅黑" panose="020B0503020204020204" pitchFamily="34" charset="-122"/>
              </a:rPr>
              <a:t>海外和其他⾏业拓展。</a:t>
            </a:r>
          </a:p>
          <a:p>
            <a:pPr>
              <a:lnSpc>
                <a:spcPct val="160000"/>
              </a:lnSpc>
            </a:pPr>
            <a:r>
              <a:rPr kumimoji="1" lang="zh-CN" altLang="en-US" sz="1400" dirty="0">
                <a:solidFill>
                  <a:srgbClr val="0070C0"/>
                </a:solidFill>
                <a:latin typeface="微软雅黑" panose="020B0503020204020204" pitchFamily="34" charset="-122"/>
                <a:ea typeface="微软雅黑" panose="020B0503020204020204" pitchFamily="34" charset="-122"/>
              </a:rPr>
              <a:t>下⼀代⽥⾥的是什么？ 硬件、新⾏业、新⼀代平台、数据服务、跨界产品</a:t>
            </a:r>
            <a:endParaRPr kumimoji="1" lang="en-US" altLang="zh-CN" sz="1400" dirty="0">
              <a:solidFill>
                <a:srgbClr val="0000FF"/>
              </a:solidFill>
              <a:latin typeface="微软雅黑" panose="020B0503020204020204" pitchFamily="34" charset="-122"/>
              <a:ea typeface="微软雅黑" panose="020B0503020204020204" pitchFamily="34" charset="-122"/>
            </a:endParaRPr>
          </a:p>
          <a:p>
            <a:pPr>
              <a:lnSpc>
                <a:spcPct val="160000"/>
              </a:lnSpc>
            </a:pPr>
            <a:endParaRPr kumimoji="1" lang="en-US" altLang="zh-CN" sz="1400" dirty="0">
              <a:solidFill>
                <a:srgbClr val="0000FF"/>
              </a:solidFill>
              <a:latin typeface="微软雅黑" panose="020B0503020204020204" pitchFamily="34" charset="-122"/>
              <a:ea typeface="微软雅黑" panose="020B0503020204020204" pitchFamily="34" charset="-122"/>
            </a:endParaRPr>
          </a:p>
          <a:p>
            <a:pPr>
              <a:lnSpc>
                <a:spcPct val="160000"/>
              </a:lnSpc>
            </a:pPr>
            <a:r>
              <a:rPr kumimoji="1" lang="en-US" altLang="zh-CN" sz="1400" dirty="0">
                <a:solidFill>
                  <a:srgbClr val="C00000"/>
                </a:solidFill>
                <a:latin typeface="微软雅黑" panose="020B0503020204020204" pitchFamily="34" charset="-122"/>
                <a:ea typeface="微软雅黑" panose="020B0503020204020204" pitchFamily="34" charset="-122"/>
              </a:rPr>
              <a:t>【</a:t>
            </a:r>
            <a:r>
              <a:rPr kumimoji="1" lang="zh-CN" altLang="en-US" sz="1400" dirty="0">
                <a:solidFill>
                  <a:srgbClr val="C00000"/>
                </a:solidFill>
                <a:latin typeface="微软雅黑" panose="020B0503020204020204" pitchFamily="34" charset="-122"/>
                <a:ea typeface="微软雅黑" panose="020B0503020204020204" pitchFamily="34" charset="-122"/>
              </a:rPr>
              <a:t>战略控制点</a:t>
            </a:r>
            <a:r>
              <a:rPr kumimoji="1" lang="en-US" altLang="zh-CN" sz="1400" dirty="0">
                <a:solidFill>
                  <a:srgbClr val="C00000"/>
                </a:solidFill>
                <a:latin typeface="微软雅黑" panose="020B0503020204020204" pitchFamily="34" charset="-122"/>
                <a:ea typeface="微软雅黑" panose="020B0503020204020204" pitchFamily="34" charset="-122"/>
              </a:rPr>
              <a:t>】</a:t>
            </a:r>
            <a:r>
              <a:rPr kumimoji="1" lang="zh-CN" altLang="en-US" sz="1400" dirty="0">
                <a:solidFill>
                  <a:srgbClr val="C00000"/>
                </a:solidFill>
                <a:latin typeface="微软雅黑" panose="020B0503020204020204" pitchFamily="34" charset="-122"/>
                <a:ea typeface="微软雅黑" panose="020B0503020204020204" pitchFamily="34" charset="-122"/>
              </a:rPr>
              <a:t>客户</a:t>
            </a:r>
            <a:r>
              <a:rPr kumimoji="1" lang="en-US" altLang="zh-CN" sz="1400" dirty="0">
                <a:solidFill>
                  <a:srgbClr val="C00000"/>
                </a:solidFill>
                <a:latin typeface="微软雅黑" panose="020B0503020204020204" pitchFamily="34" charset="-122"/>
                <a:ea typeface="微软雅黑" panose="020B0503020204020204" pitchFamily="34" charset="-122"/>
              </a:rPr>
              <a:t>+</a:t>
            </a:r>
            <a:r>
              <a:rPr kumimoji="1" lang="zh-CN" altLang="en-US" sz="1400" dirty="0">
                <a:solidFill>
                  <a:srgbClr val="C00000"/>
                </a:solidFill>
                <a:latin typeface="微软雅黑" panose="020B0503020204020204" pitchFamily="34" charset="-122"/>
                <a:ea typeface="微软雅黑" panose="020B0503020204020204" pitchFamily="34" charset="-122"/>
              </a:rPr>
              <a:t>研发</a:t>
            </a:r>
            <a:r>
              <a:rPr kumimoji="1" lang="en-US" altLang="zh-CN" sz="1400" dirty="0">
                <a:solidFill>
                  <a:srgbClr val="C00000"/>
                </a:solidFill>
                <a:latin typeface="微软雅黑" panose="020B0503020204020204" pitchFamily="34" charset="-122"/>
                <a:ea typeface="微软雅黑" panose="020B0503020204020204" pitchFamily="34" charset="-122"/>
              </a:rPr>
              <a:t>+</a:t>
            </a:r>
            <a:r>
              <a:rPr kumimoji="1" lang="zh-CN" altLang="en-US" sz="1400" dirty="0">
                <a:solidFill>
                  <a:srgbClr val="C00000"/>
                </a:solidFill>
                <a:latin typeface="微软雅黑" panose="020B0503020204020204" pitchFamily="34" charset="-122"/>
                <a:ea typeface="微软雅黑" panose="020B0503020204020204" pitchFamily="34" charset="-122"/>
              </a:rPr>
              <a:t>管理</a:t>
            </a:r>
            <a:r>
              <a:rPr kumimoji="1" lang="en-US" altLang="zh-CN" sz="1400" dirty="0">
                <a:solidFill>
                  <a:srgbClr val="C00000"/>
                </a:solidFill>
                <a:latin typeface="微软雅黑" panose="020B0503020204020204" pitchFamily="34" charset="-122"/>
                <a:ea typeface="微软雅黑" panose="020B0503020204020204" pitchFamily="34" charset="-122"/>
              </a:rPr>
              <a:t>+</a:t>
            </a:r>
            <a:r>
              <a:rPr kumimoji="1" lang="zh-CN" altLang="en-US" sz="1400" dirty="0">
                <a:solidFill>
                  <a:srgbClr val="C00000"/>
                </a:solidFill>
                <a:latin typeface="微软雅黑" panose="020B0503020204020204" pitchFamily="34" charset="-122"/>
                <a:ea typeface="微软雅黑" panose="020B0503020204020204" pitchFamily="34" charset="-122"/>
              </a:rPr>
              <a:t>活力</a:t>
            </a:r>
            <a:endParaRPr kumimoji="1" lang="en-US" altLang="zh-CN" sz="1400" dirty="0">
              <a:solidFill>
                <a:srgbClr val="FF0000"/>
              </a:solidFill>
              <a:latin typeface="微软雅黑" panose="020B0503020204020204" pitchFamily="34" charset="-122"/>
              <a:ea typeface="微软雅黑" panose="020B0503020204020204" pitchFamily="34" charset="-122"/>
            </a:endParaRPr>
          </a:p>
          <a:p>
            <a:pPr>
              <a:lnSpc>
                <a:spcPct val="160000"/>
              </a:lnSpc>
            </a:pPr>
            <a:r>
              <a:rPr kumimoji="1" lang="en-US" altLang="zh-CN" sz="1400" dirty="0">
                <a:solidFill>
                  <a:srgbClr val="0070C0"/>
                </a:solidFill>
                <a:latin typeface="微软雅黑" panose="020B0503020204020204" pitchFamily="34" charset="-122"/>
                <a:ea typeface="微软雅黑" panose="020B0503020204020204" pitchFamily="34" charset="-122"/>
              </a:rPr>
              <a:t>1</a:t>
            </a:r>
            <a:r>
              <a:rPr kumimoji="1" lang="zh-CN" altLang="en-US" sz="1400" dirty="0">
                <a:solidFill>
                  <a:srgbClr val="0070C0"/>
                </a:solidFill>
                <a:latin typeface="微软雅黑" panose="020B0503020204020204" pitchFamily="34" charset="-122"/>
                <a:ea typeface="微软雅黑" panose="020B0503020204020204" pitchFamily="34" charset="-122"/>
              </a:rPr>
              <a:t>、领先的产品和解决方案竞争力：重点突破点</a:t>
            </a:r>
            <a:r>
              <a:rPr kumimoji="1" lang="en-US" altLang="zh-CN" sz="1400" dirty="0">
                <a:solidFill>
                  <a:srgbClr val="0070C0"/>
                </a:solidFill>
                <a:latin typeface="微软雅黑" panose="020B0503020204020204" pitchFamily="34" charset="-122"/>
                <a:ea typeface="微软雅黑" panose="020B0503020204020204" pitchFamily="34" charset="-122"/>
              </a:rPr>
              <a:t>XXX</a:t>
            </a:r>
          </a:p>
          <a:p>
            <a:pPr>
              <a:lnSpc>
                <a:spcPct val="160000"/>
              </a:lnSpc>
            </a:pPr>
            <a:r>
              <a:rPr kumimoji="1" lang="en-US" altLang="zh-CN" sz="1400" dirty="0">
                <a:solidFill>
                  <a:srgbClr val="0070C0"/>
                </a:solidFill>
                <a:latin typeface="微软雅黑" panose="020B0503020204020204" pitchFamily="34" charset="-122"/>
                <a:ea typeface="微软雅黑" panose="020B0503020204020204" pitchFamily="34" charset="-122"/>
              </a:rPr>
              <a:t>2</a:t>
            </a:r>
            <a:r>
              <a:rPr kumimoji="1" lang="zh-CN" altLang="en-US" sz="1400" dirty="0">
                <a:solidFill>
                  <a:srgbClr val="0070C0"/>
                </a:solidFill>
                <a:latin typeface="微软雅黑" panose="020B0503020204020204" pitchFamily="34" charset="-122"/>
                <a:ea typeface="微软雅黑" panose="020B0503020204020204" pitchFamily="34" charset="-122"/>
              </a:rPr>
              <a:t>、领先的客户粘性：重点突破点</a:t>
            </a:r>
            <a:r>
              <a:rPr kumimoji="1" lang="en-US" altLang="zh-CN" sz="1400" dirty="0">
                <a:solidFill>
                  <a:srgbClr val="0070C0"/>
                </a:solidFill>
                <a:latin typeface="微软雅黑" panose="020B0503020204020204" pitchFamily="34" charset="-122"/>
                <a:ea typeface="微软雅黑" panose="020B0503020204020204" pitchFamily="34" charset="-122"/>
              </a:rPr>
              <a:t>XXX</a:t>
            </a:r>
          </a:p>
          <a:p>
            <a:pPr>
              <a:lnSpc>
                <a:spcPct val="160000"/>
              </a:lnSpc>
            </a:pPr>
            <a:r>
              <a:rPr kumimoji="1" lang="en-US" altLang="zh-CN" sz="1400" dirty="0">
                <a:solidFill>
                  <a:srgbClr val="0070C0"/>
                </a:solidFill>
                <a:latin typeface="微软雅黑" panose="020B0503020204020204" pitchFamily="34" charset="-122"/>
                <a:ea typeface="微软雅黑" panose="020B0503020204020204" pitchFamily="34" charset="-122"/>
              </a:rPr>
              <a:t>3</a:t>
            </a:r>
            <a:r>
              <a:rPr kumimoji="1" lang="zh-CN" altLang="en-US" sz="1400" dirty="0">
                <a:solidFill>
                  <a:srgbClr val="0070C0"/>
                </a:solidFill>
                <a:latin typeface="微软雅黑" panose="020B0503020204020204" pitchFamily="34" charset="-122"/>
                <a:ea typeface="微软雅黑" panose="020B0503020204020204" pitchFamily="34" charset="-122"/>
              </a:rPr>
              <a:t>、领先</a:t>
            </a:r>
            <a:r>
              <a:rPr kumimoji="1" lang="en-US" altLang="zh-CN" sz="1400" dirty="0">
                <a:solidFill>
                  <a:srgbClr val="0070C0"/>
                </a:solidFill>
                <a:latin typeface="微软雅黑" panose="020B0503020204020204" pitchFamily="34" charset="-122"/>
                <a:ea typeface="微软雅黑" panose="020B0503020204020204" pitchFamily="34" charset="-122"/>
              </a:rPr>
              <a:t>10</a:t>
            </a:r>
            <a:r>
              <a:rPr kumimoji="1" lang="zh-CN" altLang="en-US" sz="1400" dirty="0">
                <a:solidFill>
                  <a:srgbClr val="0070C0"/>
                </a:solidFill>
                <a:latin typeface="微软雅黑" panose="020B0503020204020204" pitchFamily="34" charset="-122"/>
                <a:ea typeface="微软雅黑" panose="020B0503020204020204" pitchFamily="34" charset="-122"/>
              </a:rPr>
              <a:t>年的管理体系：重点突破点</a:t>
            </a:r>
            <a:r>
              <a:rPr kumimoji="1" lang="en-US" altLang="zh-CN" sz="1400" dirty="0">
                <a:solidFill>
                  <a:srgbClr val="0070C0"/>
                </a:solidFill>
                <a:latin typeface="微软雅黑" panose="020B0503020204020204" pitchFamily="34" charset="-122"/>
                <a:ea typeface="微软雅黑" panose="020B0503020204020204" pitchFamily="34" charset="-122"/>
              </a:rPr>
              <a:t>XXX</a:t>
            </a:r>
          </a:p>
          <a:p>
            <a:pPr>
              <a:lnSpc>
                <a:spcPct val="160000"/>
              </a:lnSpc>
            </a:pPr>
            <a:r>
              <a:rPr kumimoji="1" lang="en-US" altLang="zh-CN" sz="1400" dirty="0">
                <a:solidFill>
                  <a:srgbClr val="0070C0"/>
                </a:solidFill>
                <a:latin typeface="微软雅黑" panose="020B0503020204020204" pitchFamily="34" charset="-122"/>
                <a:ea typeface="微软雅黑" panose="020B0503020204020204" pitchFamily="34" charset="-122"/>
              </a:rPr>
              <a:t>4</a:t>
            </a:r>
            <a:r>
              <a:rPr kumimoji="1" lang="zh-CN" altLang="en-US" sz="1400" dirty="0">
                <a:solidFill>
                  <a:srgbClr val="0070C0"/>
                </a:solidFill>
                <a:latin typeface="微软雅黑" panose="020B0503020204020204" pitchFamily="34" charset="-122"/>
                <a:ea typeface="微软雅黑" panose="020B0503020204020204" pitchFamily="34" charset="-122"/>
              </a:rPr>
              <a:t>、超强的组织活力：重点突破点</a:t>
            </a:r>
            <a:r>
              <a:rPr kumimoji="1" lang="en-US" altLang="zh-CN" sz="1400" dirty="0">
                <a:solidFill>
                  <a:srgbClr val="0070C0"/>
                </a:solidFill>
                <a:latin typeface="微软雅黑" panose="020B0503020204020204" pitchFamily="34" charset="-122"/>
                <a:ea typeface="微软雅黑" panose="020B0503020204020204" pitchFamily="34" charset="-122"/>
              </a:rPr>
              <a:t>XXX</a:t>
            </a:r>
          </a:p>
          <a:p>
            <a:pPr>
              <a:lnSpc>
                <a:spcPct val="160000"/>
              </a:lnSpc>
            </a:pPr>
            <a:endParaRPr kumimoji="1" lang="en-US" altLang="zh-CN" sz="1400" dirty="0">
              <a:solidFill>
                <a:srgbClr val="0070C0"/>
              </a:solidFill>
              <a:latin typeface="微软雅黑" panose="020B0503020204020204" pitchFamily="34" charset="-122"/>
              <a:ea typeface="微软雅黑" panose="020B0503020204020204" pitchFamily="34" charset="-122"/>
            </a:endParaRPr>
          </a:p>
          <a:p>
            <a:pPr>
              <a:lnSpc>
                <a:spcPct val="160000"/>
              </a:lnSpc>
            </a:pPr>
            <a:r>
              <a:rPr kumimoji="1" lang="en-US" altLang="zh-CN" sz="1400" dirty="0">
                <a:solidFill>
                  <a:srgbClr val="0070C0"/>
                </a:solidFill>
                <a:latin typeface="微软雅黑" panose="020B0503020204020204" pitchFamily="34" charset="-122"/>
                <a:ea typeface="微软雅黑" panose="020B0503020204020204" pitchFamily="34" charset="-122"/>
              </a:rPr>
              <a:t>【</a:t>
            </a:r>
            <a:r>
              <a:rPr kumimoji="1" lang="zh-CN" altLang="en-US" sz="1400" dirty="0">
                <a:solidFill>
                  <a:srgbClr val="0070C0"/>
                </a:solidFill>
                <a:latin typeface="微软雅黑" panose="020B0503020204020204" pitchFamily="34" charset="-122"/>
                <a:ea typeface="微软雅黑" panose="020B0503020204020204" pitchFamily="34" charset="-122"/>
              </a:rPr>
              <a:t>案例参考</a:t>
            </a:r>
            <a:r>
              <a:rPr kumimoji="1" lang="en-US" altLang="zh-CN" sz="1400" dirty="0">
                <a:solidFill>
                  <a:srgbClr val="0070C0"/>
                </a:solidFill>
                <a:latin typeface="微软雅黑" panose="020B0503020204020204" pitchFamily="34" charset="-122"/>
                <a:ea typeface="微软雅黑" panose="020B0503020204020204" pitchFamily="34" charset="-122"/>
              </a:rPr>
              <a:t>】</a:t>
            </a:r>
            <a:r>
              <a:rPr kumimoji="1" lang="zh-CN" altLang="en-US" sz="1400" dirty="0">
                <a:solidFill>
                  <a:srgbClr val="0070C0"/>
                </a:solidFill>
                <a:latin typeface="微软雅黑" panose="020B0503020204020204" pitchFamily="34" charset="-122"/>
                <a:ea typeface="微软雅黑" panose="020B0503020204020204" pitchFamily="34" charset="-122"/>
              </a:rPr>
              <a:t>华为</a:t>
            </a:r>
            <a:r>
              <a:rPr kumimoji="1" lang="en-US" altLang="zh-CN" sz="1400" dirty="0">
                <a:solidFill>
                  <a:srgbClr val="0070C0"/>
                </a:solidFill>
                <a:latin typeface="微软雅黑" panose="020B0503020204020204" pitchFamily="34" charset="-122"/>
                <a:ea typeface="微软雅黑" panose="020B0503020204020204" pitchFamily="34" charset="-122"/>
              </a:rPr>
              <a:t>SP</a:t>
            </a:r>
            <a:r>
              <a:rPr kumimoji="1" lang="zh-CN" altLang="en-US" sz="1400" dirty="0">
                <a:solidFill>
                  <a:srgbClr val="0070C0"/>
                </a:solidFill>
                <a:latin typeface="微软雅黑" panose="020B0503020204020204" pitchFamily="34" charset="-122"/>
                <a:ea typeface="微软雅黑" panose="020B0503020204020204" pitchFamily="34" charset="-122"/>
              </a:rPr>
              <a:t>关键任务：责任人、时间点（里程碑）、交付件</a:t>
            </a:r>
          </a:p>
        </p:txBody>
      </p:sp>
      <p:sp>
        <p:nvSpPr>
          <p:cNvPr id="4" name="标题 1"/>
          <p:cNvSpPr txBox="1"/>
          <p:nvPr/>
        </p:nvSpPr>
        <p:spPr>
          <a:xfrm>
            <a:off x="581470" y="371138"/>
            <a:ext cx="8581272" cy="621924"/>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结合战略意图</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dirty="0">
                <a:solidFill>
                  <a:srgbClr val="0070C0"/>
                </a:solidFill>
                <a:latin typeface="微软雅黑" panose="020B0503020204020204" pitchFamily="34" charset="-122"/>
                <a:ea typeface="微软雅黑" panose="020B0503020204020204" pitchFamily="34" charset="-122"/>
                <a:cs typeface="+mn-ea"/>
                <a:sym typeface="+mn-lt"/>
              </a:rPr>
              <a:t>战略控制点</a:t>
            </a:r>
          </a:p>
        </p:txBody>
      </p:sp>
      <p:sp>
        <p:nvSpPr>
          <p:cNvPr id="8" name="Rectangle 3"/>
          <p:cNvSpPr txBox="1">
            <a:spLocks noChangeArrowheads="1"/>
          </p:cNvSpPr>
          <p:nvPr/>
        </p:nvSpPr>
        <p:spPr bwMode="auto">
          <a:xfrm>
            <a:off x="1600200" y="6295439"/>
            <a:ext cx="8991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en-US" altLang="zh-CN" sz="2000" b="1" dirty="0">
                <a:solidFill>
                  <a:schemeClr val="bg1"/>
                </a:solidFill>
                <a:effectLst/>
                <a:latin typeface="微软雅黑" panose="020B0503020204020204" pitchFamily="34" charset="-122"/>
                <a:ea typeface="微软雅黑" panose="020B0503020204020204" pitchFamily="34" charset="-122"/>
              </a:rPr>
              <a:t>SP</a:t>
            </a:r>
            <a:r>
              <a:rPr lang="zh-CN" altLang="en-US" sz="2000" b="1" dirty="0">
                <a:solidFill>
                  <a:schemeClr val="bg1"/>
                </a:solidFill>
                <a:effectLst/>
                <a:latin typeface="微软雅黑" panose="020B0503020204020204" pitchFamily="34" charset="-122"/>
                <a:ea typeface="微软雅黑" panose="020B0503020204020204" pitchFamily="34" charset="-122"/>
              </a:rPr>
              <a:t>出</a:t>
            </a:r>
            <a:r>
              <a:rPr lang="en-US" altLang="zh-CN" sz="2000" b="1" dirty="0">
                <a:solidFill>
                  <a:schemeClr val="bg1"/>
                </a:solidFill>
                <a:effectLst/>
                <a:latin typeface="微软雅黑" panose="020B0503020204020204" pitchFamily="34" charset="-122"/>
                <a:ea typeface="微软雅黑" panose="020B0503020204020204" pitchFamily="34" charset="-122"/>
              </a:rPr>
              <a:t>5-10</a:t>
            </a:r>
            <a:r>
              <a:rPr lang="zh-CN" altLang="en-US" sz="2000" b="1" dirty="0">
                <a:solidFill>
                  <a:schemeClr val="bg1"/>
                </a:solidFill>
                <a:effectLst/>
                <a:latin typeface="微软雅黑" panose="020B0503020204020204" pitchFamily="34" charset="-122"/>
                <a:ea typeface="微软雅黑" panose="020B0503020204020204" pitchFamily="34" charset="-122"/>
              </a:rPr>
              <a:t>年战略目标和关键任务（虚）；</a:t>
            </a:r>
            <a:r>
              <a:rPr lang="en-US" altLang="zh-CN" sz="2000" b="1" dirty="0">
                <a:solidFill>
                  <a:schemeClr val="bg1"/>
                </a:solidFill>
                <a:effectLst/>
                <a:latin typeface="微软雅黑" panose="020B0503020204020204" pitchFamily="34" charset="-122"/>
                <a:ea typeface="微软雅黑" panose="020B0503020204020204" pitchFamily="34" charset="-122"/>
              </a:rPr>
              <a:t>202x</a:t>
            </a:r>
            <a:r>
              <a:rPr lang="zh-CN" altLang="en-US" sz="2000" b="1" dirty="0">
                <a:solidFill>
                  <a:schemeClr val="bg1"/>
                </a:solidFill>
                <a:effectLst/>
                <a:latin typeface="微软雅黑" panose="020B0503020204020204" pitchFamily="34" charset="-122"/>
                <a:ea typeface="微软雅黑" panose="020B0503020204020204" pitchFamily="34" charset="-122"/>
              </a:rPr>
              <a:t>年的重点工作在</a:t>
            </a:r>
            <a:r>
              <a:rPr lang="en-US" altLang="zh-CN" sz="2000" b="1" dirty="0">
                <a:solidFill>
                  <a:schemeClr val="bg1"/>
                </a:solidFill>
                <a:effectLst/>
                <a:latin typeface="微软雅黑" panose="020B0503020204020204" pitchFamily="34" charset="-122"/>
                <a:ea typeface="微软雅黑" panose="020B0503020204020204" pitchFamily="34" charset="-122"/>
              </a:rPr>
              <a:t>BP</a:t>
            </a:r>
            <a:r>
              <a:rPr lang="zh-CN" altLang="en-US" sz="2000" b="1" dirty="0">
                <a:solidFill>
                  <a:schemeClr val="bg1"/>
                </a:solidFill>
                <a:effectLst/>
                <a:latin typeface="微软雅黑" panose="020B0503020204020204" pitchFamily="34" charset="-122"/>
                <a:ea typeface="微软雅黑" panose="020B0503020204020204" pitchFamily="34" charset="-122"/>
              </a:rPr>
              <a:t>中落地（实）</a:t>
            </a:r>
            <a:endParaRPr lang="en-US" altLang="zh-CN" sz="2000" b="1" dirty="0">
              <a:solidFill>
                <a:schemeClr val="bg1"/>
              </a:solidFill>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4" cstate="print"/>
          <a:stretch>
            <a:fillRect/>
          </a:stretch>
        </p:blipFill>
        <p:spPr>
          <a:xfrm>
            <a:off x="-7620" y="6263005"/>
            <a:ext cx="12206605" cy="522605"/>
          </a:xfrm>
          <a:prstGeom prst="rect">
            <a:avLst/>
          </a:prstGeom>
        </p:spPr>
      </p:pic>
      <p:pic>
        <p:nvPicPr>
          <p:cNvPr id="3" name="图片 2"/>
          <p:cNvPicPr>
            <a:picLocks noChangeAspect="1"/>
          </p:cNvPicPr>
          <p:nvPr/>
        </p:nvPicPr>
        <p:blipFill>
          <a:blip r:embed="rId5" cstate="email"/>
          <a:stretch>
            <a:fillRect/>
          </a:stretch>
        </p:blipFill>
        <p:spPr>
          <a:xfrm>
            <a:off x="2748232" y="1550406"/>
            <a:ext cx="6552027" cy="2155586"/>
          </a:xfrm>
          <a:prstGeom prst="rect">
            <a:avLst/>
          </a:prstGeom>
        </p:spPr>
      </p:pic>
      <p:sp>
        <p:nvSpPr>
          <p:cNvPr id="107" name="文本框 4"/>
          <p:cNvSpPr txBox="1">
            <a:spLocks noChangeArrowheads="1"/>
          </p:cNvSpPr>
          <p:nvPr/>
        </p:nvSpPr>
        <p:spPr bwMode="auto">
          <a:xfrm>
            <a:off x="3040215" y="4119183"/>
            <a:ext cx="2418716" cy="1768475"/>
          </a:xfrm>
          <a:prstGeom prst="rect">
            <a:avLst/>
          </a:prstGeom>
          <a:noFill/>
          <a:ln w="9525">
            <a:noFill/>
            <a:miter lim="800000"/>
          </a:ln>
        </p:spPr>
        <p:txBody>
          <a:bodyPr wrap="square">
            <a:spAutoFit/>
          </a:bodyPr>
          <a:lstStyle/>
          <a:p>
            <a:pPr eaLnBrk="1" hangingPunct="1">
              <a:lnSpc>
                <a:spcPct val="130000"/>
              </a:lnSpc>
            </a:pPr>
            <a:r>
              <a:rPr lang="en-US" altLang="zh-CN" sz="1050" b="1"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lt"/>
              </a:rPr>
              <a:t>1.</a:t>
            </a:r>
            <a:r>
              <a:rPr lang="zh-CN" altLang="en-US" sz="1050" b="1"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lt"/>
              </a:rPr>
              <a:t>组织，流程，授权</a:t>
            </a:r>
          </a:p>
          <a:p>
            <a:pPr eaLnBrk="1" hangingPunct="1">
              <a:lnSpc>
                <a:spcPct val="130000"/>
              </a:lnSpc>
            </a:pPr>
            <a:r>
              <a:rPr lang="en-US" altLang="zh-CN" sz="1050" b="1"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lt"/>
              </a:rPr>
              <a:t>2.</a:t>
            </a:r>
            <a:r>
              <a:rPr lang="zh-CN" altLang="en-US" sz="1050" b="1"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lt"/>
              </a:rPr>
              <a:t>管理和考核标准，包括：</a:t>
            </a:r>
          </a:p>
          <a:p>
            <a:pPr marL="285750" indent="-285750" eaLnBrk="1" hangingPunct="1">
              <a:lnSpc>
                <a:spcPct val="130000"/>
              </a:lnSpc>
              <a:buFont typeface="Arial" panose="020B0604020202020204" pitchFamily="34" charset="0"/>
              <a:buChar char="•"/>
            </a:pPr>
            <a:r>
              <a:rPr lang="zh-CN" altLang="en-US" sz="105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lt"/>
              </a:rPr>
              <a:t>人员单位的大小和角色</a:t>
            </a:r>
          </a:p>
          <a:p>
            <a:pPr marL="285750" indent="-285750" eaLnBrk="1" hangingPunct="1">
              <a:lnSpc>
                <a:spcPct val="130000"/>
              </a:lnSpc>
              <a:buFont typeface="Arial" panose="020B0604020202020204" pitchFamily="34" charset="0"/>
              <a:buChar char="•"/>
            </a:pPr>
            <a:r>
              <a:rPr lang="zh-CN" altLang="en-US" sz="105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lt"/>
              </a:rPr>
              <a:t>管理与考评</a:t>
            </a:r>
          </a:p>
          <a:p>
            <a:pPr marL="285750" indent="-285750" eaLnBrk="1" hangingPunct="1">
              <a:lnSpc>
                <a:spcPct val="130000"/>
              </a:lnSpc>
              <a:buFont typeface="Arial" panose="020B0604020202020204" pitchFamily="34" charset="0"/>
              <a:buChar char="•"/>
            </a:pPr>
            <a:r>
              <a:rPr lang="zh-CN" altLang="en-US" sz="105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lt"/>
              </a:rPr>
              <a:t>奖励与激励系统</a:t>
            </a:r>
          </a:p>
          <a:p>
            <a:pPr marL="285750" indent="-285750" eaLnBrk="1" hangingPunct="1">
              <a:lnSpc>
                <a:spcPct val="130000"/>
              </a:lnSpc>
              <a:buFont typeface="Arial" panose="020B0604020202020204" pitchFamily="34" charset="0"/>
              <a:buChar char="•"/>
            </a:pPr>
            <a:r>
              <a:rPr lang="zh-CN" altLang="en-US" sz="105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lt"/>
              </a:rPr>
              <a:t>职业规划</a:t>
            </a:r>
          </a:p>
          <a:p>
            <a:pPr marL="285750" indent="-285750" eaLnBrk="1" hangingPunct="1">
              <a:lnSpc>
                <a:spcPct val="130000"/>
              </a:lnSpc>
              <a:buFont typeface="Arial" panose="020B0604020202020204" pitchFamily="34" charset="0"/>
              <a:buChar char="•"/>
            </a:pPr>
            <a:r>
              <a:rPr lang="zh-CN" altLang="en-US" sz="105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lt"/>
              </a:rPr>
              <a:t>人员和活动的物理位置</a:t>
            </a:r>
          </a:p>
          <a:p>
            <a:pPr eaLnBrk="1" hangingPunct="1">
              <a:lnSpc>
                <a:spcPct val="130000"/>
              </a:lnSpc>
            </a:pPr>
            <a:endParaRPr lang="zh-CN" altLang="en-US" sz="1050"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108" name="组合 107"/>
          <p:cNvGrpSpPr/>
          <p:nvPr/>
        </p:nvGrpSpPr>
        <p:grpSpPr>
          <a:xfrm>
            <a:off x="2480947" y="3655918"/>
            <a:ext cx="3759322" cy="592093"/>
            <a:chOff x="1182116" y="1703247"/>
            <a:chExt cx="5012429" cy="789458"/>
          </a:xfrm>
        </p:grpSpPr>
        <p:grpSp>
          <p:nvGrpSpPr>
            <p:cNvPr id="109" name="组合 108"/>
            <p:cNvGrpSpPr/>
            <p:nvPr/>
          </p:nvGrpSpPr>
          <p:grpSpPr>
            <a:xfrm>
              <a:off x="1182116" y="1703247"/>
              <a:ext cx="683080" cy="789458"/>
              <a:chOff x="325596" y="1703247"/>
              <a:chExt cx="683080" cy="789458"/>
            </a:xfrm>
          </p:grpSpPr>
          <p:sp>
            <p:nvSpPr>
              <p:cNvPr id="111" name="文本框 110"/>
              <p:cNvSpPr txBox="1"/>
              <p:nvPr/>
            </p:nvSpPr>
            <p:spPr>
              <a:xfrm>
                <a:off x="325596" y="1703247"/>
                <a:ext cx="475827" cy="675641"/>
              </a:xfrm>
              <a:prstGeom prst="rect">
                <a:avLst/>
              </a:prstGeom>
              <a:noFill/>
            </p:spPr>
            <p:txBody>
              <a:bodyPr wrap="none" rtlCol="0">
                <a:spAutoFit/>
              </a:bodyPr>
              <a:lstStyle/>
              <a:p>
                <a:pPr algn="just"/>
                <a:r>
                  <a:rPr lang="en-US" altLang="zh-CN" sz="2700" b="1" dirty="0">
                    <a:latin typeface="微软雅黑" panose="020B0503020204020204" pitchFamily="34" charset="-122"/>
                    <a:ea typeface="微软雅黑" panose="020B0503020204020204" pitchFamily="34" charset="-122"/>
                    <a:cs typeface="+mn-ea"/>
                    <a:sym typeface="+mn-lt"/>
                  </a:rPr>
                  <a:t>1</a:t>
                </a:r>
              </a:p>
            </p:txBody>
          </p:sp>
          <p:cxnSp>
            <p:nvCxnSpPr>
              <p:cNvPr id="112" name="直接连接符 111"/>
              <p:cNvCxnSpPr/>
              <p:nvPr/>
            </p:nvCxnSpPr>
            <p:spPr>
              <a:xfrm flipH="1">
                <a:off x="600160" y="197882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10" name="矩形 109"/>
            <p:cNvSpPr/>
            <p:nvPr/>
          </p:nvSpPr>
          <p:spPr>
            <a:xfrm>
              <a:off x="1890299" y="1890421"/>
              <a:ext cx="4304246" cy="441114"/>
            </a:xfrm>
            <a:prstGeom prst="rect">
              <a:avLst/>
            </a:prstGeom>
          </p:spPr>
          <p:txBody>
            <a:bodyPr wrap="square">
              <a:spAutoFit/>
            </a:bodyPr>
            <a:lstStyle/>
            <a:p>
              <a:pPr lvl="0" eaLnBrk="1" fontAlgn="auto" hangingPunct="1">
                <a:lnSpc>
                  <a:spcPct val="130000"/>
                </a:lnSpc>
                <a:spcBef>
                  <a:spcPts val="0"/>
                </a:spcBef>
                <a:spcAft>
                  <a:spcPts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mn-ea"/>
                  <a:sym typeface="+mn-lt"/>
                </a:rPr>
                <a:t>支持关键业务的执行、包括建立相应的</a:t>
              </a:r>
            </a:p>
          </p:txBody>
        </p:sp>
      </p:grpSp>
      <p:grpSp>
        <p:nvGrpSpPr>
          <p:cNvPr id="113" name="组合 112"/>
          <p:cNvGrpSpPr/>
          <p:nvPr/>
        </p:nvGrpSpPr>
        <p:grpSpPr>
          <a:xfrm>
            <a:off x="6204461" y="3722280"/>
            <a:ext cx="3759322" cy="711246"/>
            <a:chOff x="1182116" y="1703247"/>
            <a:chExt cx="5012429" cy="948328"/>
          </a:xfrm>
        </p:grpSpPr>
        <p:grpSp>
          <p:nvGrpSpPr>
            <p:cNvPr id="114" name="组合 113"/>
            <p:cNvGrpSpPr/>
            <p:nvPr/>
          </p:nvGrpSpPr>
          <p:grpSpPr>
            <a:xfrm>
              <a:off x="1182116" y="1703247"/>
              <a:ext cx="683080" cy="789458"/>
              <a:chOff x="325596" y="1703247"/>
              <a:chExt cx="683080" cy="789458"/>
            </a:xfrm>
          </p:grpSpPr>
          <p:sp>
            <p:nvSpPr>
              <p:cNvPr id="116" name="文本框 115"/>
              <p:cNvSpPr txBox="1"/>
              <p:nvPr/>
            </p:nvSpPr>
            <p:spPr>
              <a:xfrm>
                <a:off x="325596" y="1703247"/>
                <a:ext cx="475827" cy="675640"/>
              </a:xfrm>
              <a:prstGeom prst="rect">
                <a:avLst/>
              </a:prstGeom>
              <a:noFill/>
            </p:spPr>
            <p:txBody>
              <a:bodyPr wrap="none" rtlCol="0">
                <a:spAutoFit/>
              </a:bodyPr>
              <a:lstStyle/>
              <a:p>
                <a:pPr algn="just"/>
                <a:r>
                  <a:rPr lang="en-US" altLang="zh-CN" sz="2700" b="1" dirty="0">
                    <a:latin typeface="微软雅黑" panose="020B0503020204020204" pitchFamily="34" charset="-122"/>
                    <a:ea typeface="微软雅黑" panose="020B0503020204020204" pitchFamily="34" charset="-122"/>
                    <a:cs typeface="+mn-ea"/>
                    <a:sym typeface="+mn-lt"/>
                  </a:rPr>
                  <a:t>2</a:t>
                </a:r>
              </a:p>
            </p:txBody>
          </p:sp>
          <p:cxnSp>
            <p:nvCxnSpPr>
              <p:cNvPr id="117" name="直接连接符 116"/>
              <p:cNvCxnSpPr/>
              <p:nvPr/>
            </p:nvCxnSpPr>
            <p:spPr>
              <a:xfrm flipH="1">
                <a:off x="600160" y="197882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15" name="矩形 114"/>
            <p:cNvSpPr/>
            <p:nvPr/>
          </p:nvSpPr>
          <p:spPr>
            <a:xfrm>
              <a:off x="1890299" y="1890421"/>
              <a:ext cx="4304246" cy="761154"/>
            </a:xfrm>
            <a:prstGeom prst="rect">
              <a:avLst/>
            </a:prstGeom>
          </p:spPr>
          <p:txBody>
            <a:bodyPr wrap="square">
              <a:spAutoFit/>
            </a:bodyPr>
            <a:lstStyle/>
            <a:p>
              <a:pPr lvl="0" eaLnBrk="1" fontAlgn="auto" hangingPunct="1">
                <a:lnSpc>
                  <a:spcPct val="130000"/>
                </a:lnSpc>
                <a:spcBef>
                  <a:spcPts val="0"/>
                </a:spcBef>
                <a:spcAft>
                  <a:spcPts val="0"/>
                </a:spcAft>
                <a:defRPr/>
              </a:pPr>
              <a:r>
                <a:rPr lang="zh-CN" altLang="en-US" sz="1200" b="1" dirty="0">
                  <a:solidFill>
                    <a:srgbClr val="000000"/>
                  </a:solidFill>
                  <a:latin typeface="微软雅黑" panose="020B0503020204020204" pitchFamily="34" charset="-122"/>
                  <a:ea typeface="微软雅黑" panose="020B0503020204020204" pitchFamily="34" charset="-122"/>
                  <a:cs typeface="+mn-ea"/>
                  <a:sym typeface="+mn-lt"/>
                </a:rPr>
                <a:t>目的是便于经理指导、控制和激励个人和集体去完成团队的重要任务</a:t>
              </a:r>
            </a:p>
          </p:txBody>
        </p:sp>
      </p:grpSp>
      <p:sp>
        <p:nvSpPr>
          <p:cNvPr id="2" name="标题 1"/>
          <p:cNvSpPr txBox="1"/>
          <p:nvPr/>
        </p:nvSpPr>
        <p:spPr>
          <a:xfrm>
            <a:off x="502428" y="626747"/>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BLM模型之正式组织：奥卡姆剃刀原则，如无必要，勿增组织</a:t>
            </a:r>
          </a:p>
        </p:txBody>
      </p:sp>
      <p:sp>
        <p:nvSpPr>
          <p:cNvPr id="16" name="Rectangle 3"/>
          <p:cNvSpPr txBox="1">
            <a:spLocks noChangeArrowheads="1"/>
          </p:cNvSpPr>
          <p:nvPr/>
        </p:nvSpPr>
        <p:spPr bwMode="auto">
          <a:xfrm>
            <a:off x="1528445" y="6310679"/>
            <a:ext cx="8991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2000" b="1" dirty="0">
                <a:solidFill>
                  <a:schemeClr val="bg1"/>
                </a:solidFill>
                <a:effectLst/>
                <a:latin typeface="微软雅黑" panose="020B0503020204020204" pitchFamily="34" charset="-122"/>
                <a:ea typeface="微软雅黑" panose="020B0503020204020204" pitchFamily="34" charset="-122"/>
              </a:rPr>
              <a:t>思考：什么决定了组织？ </a:t>
            </a:r>
            <a:r>
              <a:rPr lang="zh-CN" altLang="en-US" sz="2000" b="1" dirty="0">
                <a:solidFill>
                  <a:srgbClr val="FCC78C"/>
                </a:solidFill>
                <a:effectLst/>
                <a:latin typeface="微软雅黑" panose="020B0503020204020204" pitchFamily="34" charset="-122"/>
                <a:ea typeface="微软雅黑" panose="020B0503020204020204" pitchFamily="34" charset="-122"/>
              </a:rPr>
              <a:t>案例：无线滴水湖会议（预算、布局、组织、人才）</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 name="标题 1"/>
          <p:cNvSpPr txBox="1"/>
          <p:nvPr/>
        </p:nvSpPr>
        <p:spPr>
          <a:xfrm>
            <a:off x="2540" y="5459095"/>
            <a:ext cx="12195175" cy="457835"/>
          </a:xfrm>
          <a:prstGeom prst="rect">
            <a:avLst/>
          </a:prstGeom>
          <a:solidFill>
            <a:srgbClr val="0070C0"/>
          </a:solidFill>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r>
              <a:rPr lang="zh-CN" altLang="en-US" sz="1800" dirty="0">
                <a:latin typeface="微软雅黑" panose="020B0503020204020204" pitchFamily="34" charset="-122"/>
                <a:ea typeface="微软雅黑" panose="020B0503020204020204" pitchFamily="34" charset="-122"/>
                <a:cs typeface="+mn-ea"/>
                <a:sym typeface="+mn-lt"/>
              </a:rPr>
              <a:t>管理方式：</a:t>
            </a:r>
            <a:r>
              <a:rPr lang="zh-CN" altLang="en-US" sz="1800" dirty="0">
                <a:solidFill>
                  <a:srgbClr val="FCC78C"/>
                </a:solidFill>
                <a:latin typeface="微软雅黑" panose="020B0503020204020204" pitchFamily="34" charset="-122"/>
                <a:ea typeface="微软雅黑" panose="020B0503020204020204" pitchFamily="34" charset="-122"/>
                <a:cs typeface="+mn-ea"/>
                <a:sym typeface="+mn-lt"/>
              </a:rPr>
              <a:t>不要公司内拉齐，按行业对标</a:t>
            </a:r>
          </a:p>
        </p:txBody>
      </p:sp>
      <p:grpSp>
        <p:nvGrpSpPr>
          <p:cNvPr id="16" name="组合 15"/>
          <p:cNvGrpSpPr/>
          <p:nvPr/>
        </p:nvGrpSpPr>
        <p:grpSpPr>
          <a:xfrm>
            <a:off x="3880485" y="2801620"/>
            <a:ext cx="4000500" cy="1918970"/>
            <a:chOff x="3524232" y="3248025"/>
            <a:chExt cx="5334037" cy="2208107"/>
          </a:xfrm>
        </p:grpSpPr>
        <p:sp>
          <p:nvSpPr>
            <p:cNvPr id="18" name="矩形 17"/>
            <p:cNvSpPr/>
            <p:nvPr/>
          </p:nvSpPr>
          <p:spPr>
            <a:xfrm>
              <a:off x="3524232" y="3248025"/>
              <a:ext cx="5334037" cy="2208107"/>
            </a:xfrm>
            <a:prstGeom prst="rect">
              <a:avLst/>
            </a:prstGeom>
            <a:solidFill>
              <a:srgbClr val="E9F4FA"/>
            </a:solidFill>
            <a:ln>
              <a:no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rtlCol="0" anchor="ctr"/>
            <a:lstStyle/>
            <a:p>
              <a:pPr algn="ctr"/>
              <a:endParaRPr lang="zh-CN" altLang="en-US" sz="200">
                <a:latin typeface="微软雅黑" panose="020B0503020204020204" pitchFamily="34" charset="-122"/>
                <a:ea typeface="微软雅黑" panose="020B0503020204020204" pitchFamily="34" charset="-122"/>
                <a:cs typeface="+mn-ea"/>
                <a:sym typeface="+mn-lt"/>
              </a:endParaRPr>
            </a:p>
          </p:txBody>
        </p:sp>
        <p:cxnSp>
          <p:nvCxnSpPr>
            <p:cNvPr id="19" name="直接连接符 18"/>
            <p:cNvCxnSpPr/>
            <p:nvPr/>
          </p:nvCxnSpPr>
          <p:spPr>
            <a:xfrm>
              <a:off x="6089650" y="3248237"/>
              <a:ext cx="0" cy="2207895"/>
            </a:xfrm>
            <a:prstGeom prst="line">
              <a:avLst/>
            </a:prstGeom>
            <a:ln>
              <a:solidFill>
                <a:srgbClr val="C00000"/>
              </a:solidFill>
            </a:ln>
            <a:effectLst/>
          </p:spPr>
          <p:style>
            <a:lnRef idx="2">
              <a:schemeClr val="dk1"/>
            </a:lnRef>
            <a:fillRef idx="0">
              <a:schemeClr val="dk1"/>
            </a:fillRef>
            <a:effectRef idx="1">
              <a:schemeClr val="dk1"/>
            </a:effectRef>
            <a:fontRef idx="minor">
              <a:schemeClr val="tx1"/>
            </a:fontRef>
          </p:style>
        </p:cxnSp>
        <p:sp>
          <p:nvSpPr>
            <p:cNvPr id="20" name="文本框 19"/>
            <p:cNvSpPr txBox="1"/>
            <p:nvPr/>
          </p:nvSpPr>
          <p:spPr>
            <a:xfrm>
              <a:off x="3821506" y="3496183"/>
              <a:ext cx="2106689" cy="1774085"/>
            </a:xfrm>
            <a:prstGeom prst="rect">
              <a:avLst/>
            </a:prstGeom>
            <a:noFill/>
          </p:spPr>
          <p:txBody>
            <a:bodyPr wrap="square" lIns="91437" tIns="45718" rIns="91437" bIns="45718" rtlCol="0">
              <a:spAutoFit/>
            </a:bodyPr>
            <a:lstStyle/>
            <a:p>
              <a:r>
                <a:rPr lang="zh-CN" alt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创新型组织</a:t>
              </a:r>
              <a:endParaRPr lang="en-US" altLang="zh-CN"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endParaRPr lang="zh-CN" alt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5750" indent="-285750">
                <a:lnSpc>
                  <a:spcPct val="130000"/>
                </a:lnSpc>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敏捷开发</a:t>
              </a:r>
            </a:p>
            <a:p>
              <a:pPr marL="285750" indent="-285750">
                <a:lnSpc>
                  <a:spcPct val="130000"/>
                </a:lnSpc>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关键人才“使用而不拥有”</a:t>
              </a:r>
            </a:p>
            <a:p>
              <a:pPr>
                <a:lnSpc>
                  <a:spcPct val="130000"/>
                </a:lnSpc>
              </a:pP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1" name="文本框 20"/>
            <p:cNvSpPr txBox="1"/>
            <p:nvPr/>
          </p:nvSpPr>
          <p:spPr>
            <a:xfrm>
              <a:off x="6583296" y="3496183"/>
              <a:ext cx="2106689" cy="1497889"/>
            </a:xfrm>
            <a:prstGeom prst="rect">
              <a:avLst/>
            </a:prstGeom>
            <a:noFill/>
          </p:spPr>
          <p:txBody>
            <a:bodyPr wrap="square" lIns="91437" tIns="45718" rIns="91437" bIns="45718" rtlCol="0">
              <a:spAutoFit/>
            </a:bodyPr>
            <a:lstStyle/>
            <a:p>
              <a:r>
                <a:rPr lang="zh-CN" alt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运营型组织</a:t>
              </a:r>
            </a:p>
            <a:p>
              <a:endParaRPr lang="zh-CN" altLang="en-US"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285750" indent="-285750">
                <a:lnSpc>
                  <a:spcPct val="130000"/>
                </a:lnSpc>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lt"/>
                </a:rPr>
                <a:t>IPD</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流程</a:t>
              </a:r>
            </a:p>
            <a:p>
              <a:pPr marL="285750" indent="-285750">
                <a:lnSpc>
                  <a:spcPct val="130000"/>
                </a:lnSpc>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蓝血十杰</a:t>
              </a:r>
            </a:p>
            <a:p>
              <a:pPr>
                <a:lnSpc>
                  <a:spcPct val="130000"/>
                </a:lnSpc>
              </a:pP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sp>
        <p:nvSpPr>
          <p:cNvPr id="3" name="内容占位符 2"/>
          <p:cNvSpPr>
            <a:spLocks noGrp="1"/>
          </p:cNvSpPr>
          <p:nvPr>
            <p:ph idx="4294967295"/>
          </p:nvPr>
        </p:nvSpPr>
        <p:spPr>
          <a:xfrm>
            <a:off x="3609975" y="1389063"/>
            <a:ext cx="8582025" cy="730250"/>
          </a:xfrm>
          <a:prstGeom prst="rect">
            <a:avLst/>
          </a:prstGeom>
        </p:spPr>
        <p:txBody>
          <a:bodyPr wrap="square">
            <a:spAutoFit/>
          </a:bodyPr>
          <a:lstStyle/>
          <a:p>
            <a:pPr marL="0" indent="0" fontAlgn="auto">
              <a:lnSpc>
                <a:spcPct val="130000"/>
              </a:lnSpc>
              <a:spcBef>
                <a:spcPts val="0"/>
              </a:spcBef>
              <a:spcAft>
                <a:spcPts val="0"/>
              </a:spcAft>
              <a:buNone/>
            </a:pPr>
            <a:r>
              <a:rPr lang="zh-CN" altLang="en-US" sz="1600" b="1" dirty="0">
                <a:solidFill>
                  <a:srgbClr val="C00000"/>
                </a:solidFill>
                <a:latin typeface="Arial" panose="020B0604020202020204" pitchFamily="34" charset="0"/>
                <a:ea typeface="微软雅黑" panose="020B0503020204020204" pitchFamily="34" charset="-122"/>
                <a:cs typeface="+mn-ea"/>
                <a:sym typeface="+mn-lt"/>
              </a:rPr>
              <a:t>一个并行、灵活的组织是新业务和当前主要业务并存的组织，两种业务要求不同的流程、</a:t>
            </a:r>
          </a:p>
          <a:p>
            <a:pPr marL="0" indent="0" fontAlgn="auto">
              <a:lnSpc>
                <a:spcPct val="130000"/>
              </a:lnSpc>
              <a:spcBef>
                <a:spcPts val="0"/>
              </a:spcBef>
              <a:spcAft>
                <a:spcPts val="0"/>
              </a:spcAft>
              <a:buNone/>
            </a:pPr>
            <a:r>
              <a:rPr lang="zh-CN" altLang="en-US" sz="1600" b="1" dirty="0">
                <a:solidFill>
                  <a:srgbClr val="C00000"/>
                </a:solidFill>
                <a:latin typeface="Arial" panose="020B0604020202020204" pitchFamily="34" charset="0"/>
                <a:ea typeface="微软雅黑" panose="020B0503020204020204" pitchFamily="34" charset="-122"/>
                <a:cs typeface="+mn-ea"/>
                <a:sym typeface="+mn-lt"/>
              </a:rPr>
              <a:t>组织结构、文化和人才</a:t>
            </a:r>
          </a:p>
        </p:txBody>
      </p:sp>
      <p:sp>
        <p:nvSpPr>
          <p:cNvPr id="8" name="文本框 7"/>
          <p:cNvSpPr txBox="1"/>
          <p:nvPr/>
        </p:nvSpPr>
        <p:spPr>
          <a:xfrm>
            <a:off x="2091690" y="2849245"/>
            <a:ext cx="1347470" cy="1768475"/>
          </a:xfrm>
          <a:prstGeom prst="rect">
            <a:avLst/>
          </a:prstGeom>
          <a:noFill/>
          <a:ln>
            <a:noFill/>
          </a:ln>
        </p:spPr>
        <p:txBody>
          <a:bodyPr wrap="square" rtlCol="0">
            <a:spAutoFit/>
          </a:bodyPr>
          <a:lstStyle/>
          <a:p>
            <a:pPr marL="285750" indent="-285750">
              <a:lnSpc>
                <a:spcPct val="13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mn-ea"/>
                <a:sym typeface="+mn-lt"/>
              </a:rPr>
              <a:t>试验</a:t>
            </a:r>
          </a:p>
          <a:p>
            <a:pPr marL="285750" indent="-285750">
              <a:lnSpc>
                <a:spcPct val="13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mn-ea"/>
                <a:sym typeface="+mn-lt"/>
              </a:rPr>
              <a:t>许多失败</a:t>
            </a:r>
          </a:p>
          <a:p>
            <a:pPr marL="285750" indent="-285750">
              <a:lnSpc>
                <a:spcPct val="13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mn-ea"/>
                <a:sym typeface="+mn-lt"/>
              </a:rPr>
              <a:t>巨大改变</a:t>
            </a:r>
          </a:p>
          <a:p>
            <a:pPr marL="285750" indent="-285750">
              <a:lnSpc>
                <a:spcPct val="13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mn-ea"/>
                <a:sym typeface="+mn-lt"/>
              </a:rPr>
              <a:t>未来</a:t>
            </a:r>
          </a:p>
          <a:p>
            <a:pPr marL="285750" indent="-285750">
              <a:lnSpc>
                <a:spcPct val="13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mn-ea"/>
                <a:sym typeface="+mn-lt"/>
              </a:rPr>
              <a:t>战略</a:t>
            </a:r>
          </a:p>
          <a:p>
            <a:pPr marL="285750" indent="-285750">
              <a:lnSpc>
                <a:spcPct val="13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mn-ea"/>
                <a:sym typeface="+mn-lt"/>
              </a:rPr>
              <a:t>里程碑</a:t>
            </a:r>
          </a:p>
        </p:txBody>
      </p:sp>
      <p:sp>
        <p:nvSpPr>
          <p:cNvPr id="9" name="文本框 8"/>
          <p:cNvSpPr txBox="1"/>
          <p:nvPr/>
        </p:nvSpPr>
        <p:spPr>
          <a:xfrm>
            <a:off x="7992745" y="2788285"/>
            <a:ext cx="1337945" cy="1768475"/>
          </a:xfrm>
          <a:prstGeom prst="rect">
            <a:avLst/>
          </a:prstGeom>
          <a:noFill/>
          <a:ln>
            <a:noFill/>
          </a:ln>
        </p:spPr>
        <p:txBody>
          <a:bodyPr wrap="square" rtlCol="0">
            <a:spAutoFit/>
          </a:bodyPr>
          <a:lstStyle/>
          <a:p>
            <a:pPr marL="285750" indent="-285750">
              <a:lnSpc>
                <a:spcPct val="13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mn-ea"/>
                <a:sym typeface="+mn-lt"/>
              </a:rPr>
              <a:t>效率</a:t>
            </a:r>
          </a:p>
          <a:p>
            <a:pPr marL="285750" indent="-285750">
              <a:lnSpc>
                <a:spcPct val="13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mn-ea"/>
                <a:sym typeface="+mn-lt"/>
              </a:rPr>
              <a:t>流程改变</a:t>
            </a:r>
          </a:p>
          <a:p>
            <a:pPr marL="285750" indent="-285750">
              <a:lnSpc>
                <a:spcPct val="13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mn-ea"/>
                <a:sym typeface="+mn-lt"/>
              </a:rPr>
              <a:t>渐进改变</a:t>
            </a:r>
          </a:p>
          <a:p>
            <a:pPr marL="285750" indent="-285750">
              <a:lnSpc>
                <a:spcPct val="13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mn-ea"/>
                <a:sym typeface="+mn-lt"/>
              </a:rPr>
              <a:t>当前</a:t>
            </a:r>
          </a:p>
          <a:p>
            <a:pPr marL="285750" indent="-285750">
              <a:lnSpc>
                <a:spcPct val="13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mn-ea"/>
                <a:sym typeface="+mn-lt"/>
              </a:rPr>
              <a:t>战术</a:t>
            </a:r>
          </a:p>
          <a:p>
            <a:pPr marL="285750" indent="-285750">
              <a:lnSpc>
                <a:spcPct val="13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mn-ea"/>
                <a:sym typeface="+mn-lt"/>
              </a:rPr>
              <a:t>运营指标</a:t>
            </a:r>
          </a:p>
        </p:txBody>
      </p:sp>
      <p:sp>
        <p:nvSpPr>
          <p:cNvPr id="2" name="标题 1"/>
          <p:cNvSpPr txBox="1"/>
          <p:nvPr/>
        </p:nvSpPr>
        <p:spPr>
          <a:xfrm>
            <a:off x="509240" y="478760"/>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企业内部组织的“一国两制”，并行、灵活的组织</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组合 3"/>
          <p:cNvGrpSpPr/>
          <p:nvPr/>
        </p:nvGrpSpPr>
        <p:grpSpPr>
          <a:xfrm>
            <a:off x="2131060" y="1612900"/>
            <a:ext cx="7930515" cy="4247562"/>
            <a:chOff x="2019" y="3170"/>
            <a:chExt cx="10363" cy="4788"/>
          </a:xfrm>
        </p:grpSpPr>
        <p:grpSp>
          <p:nvGrpSpPr>
            <p:cNvPr id="110" name="组合 109"/>
            <p:cNvGrpSpPr/>
            <p:nvPr/>
          </p:nvGrpSpPr>
          <p:grpSpPr>
            <a:xfrm>
              <a:off x="3734" y="6774"/>
              <a:ext cx="6932" cy="1184"/>
              <a:chOff x="2976245" y="4951461"/>
              <a:chExt cx="5868860" cy="1002229"/>
            </a:xfrm>
          </p:grpSpPr>
          <p:sp>
            <p:nvSpPr>
              <p:cNvPr id="3" name="文本框 2"/>
              <p:cNvSpPr txBox="1"/>
              <p:nvPr/>
            </p:nvSpPr>
            <p:spPr>
              <a:xfrm>
                <a:off x="2976245" y="4951461"/>
                <a:ext cx="2802248" cy="1002229"/>
              </a:xfrm>
              <a:prstGeom prst="rect">
                <a:avLst/>
              </a:prstGeom>
              <a:noFill/>
            </p:spPr>
            <p:txBody>
              <a:bodyPr wrap="square" rtlCol="0">
                <a:spAutoFit/>
              </a:bodyPr>
              <a:lstStyle/>
              <a:p>
                <a:pPr>
                  <a:lnSpc>
                    <a:spcPct val="13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lt"/>
                  </a:rPr>
                  <a:t>1.</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人才需求详细定义</a:t>
                </a:r>
              </a:p>
              <a:p>
                <a:pPr>
                  <a:lnSpc>
                    <a:spcPct val="13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lt"/>
                  </a:rPr>
                  <a:t>2.</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获得</a:t>
                </a:r>
              </a:p>
              <a:p>
                <a:pPr>
                  <a:lnSpc>
                    <a:spcPct val="13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lt"/>
                  </a:rPr>
                  <a:t>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培养</a:t>
                </a:r>
              </a:p>
              <a:p>
                <a:pPr>
                  <a:lnSpc>
                    <a:spcPct val="13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lt"/>
                  </a:rPr>
                  <a:t>4.</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激励</a:t>
                </a:r>
              </a:p>
            </p:txBody>
          </p:sp>
          <p:sp>
            <p:nvSpPr>
              <p:cNvPr id="37" name="文本框 36"/>
              <p:cNvSpPr txBox="1"/>
              <p:nvPr/>
            </p:nvSpPr>
            <p:spPr>
              <a:xfrm>
                <a:off x="6042857" y="4951461"/>
                <a:ext cx="2802248" cy="1002229"/>
              </a:xfrm>
              <a:prstGeom prst="rect">
                <a:avLst/>
              </a:prstGeom>
              <a:noFill/>
            </p:spPr>
            <p:txBody>
              <a:bodyPr wrap="square" rtlCol="0">
                <a:spAutoFit/>
              </a:bodyPr>
              <a:lstStyle/>
              <a:p>
                <a:pPr>
                  <a:lnSpc>
                    <a:spcPct val="13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lt"/>
                  </a:rPr>
                  <a:t>5.</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留存</a:t>
                </a:r>
              </a:p>
              <a:p>
                <a:pPr>
                  <a:lnSpc>
                    <a:spcPct val="13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lt"/>
                  </a:rPr>
                  <a:t>6.</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关键人才如何获取</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a:lnSpc>
                    <a:spcPct val="13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lt"/>
                  </a:rPr>
                  <a:t>7.</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关键岗位人才模型</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a:lnSpc>
                    <a:spcPct val="13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lt"/>
                  </a:rPr>
                  <a:t>8.</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lt"/>
                  </a:rPr>
                  <a:t>人才与战略匹配</a:t>
                </a:r>
              </a:p>
            </p:txBody>
          </p:sp>
        </p:grpSp>
        <p:pic>
          <p:nvPicPr>
            <p:cNvPr id="109" name="图片 108"/>
            <p:cNvPicPr>
              <a:picLocks noChangeAspect="1"/>
            </p:cNvPicPr>
            <p:nvPr/>
          </p:nvPicPr>
          <p:blipFill>
            <a:blip r:embed="rId2" cstate="email"/>
            <a:stretch>
              <a:fillRect/>
            </a:stretch>
          </p:blipFill>
          <p:spPr>
            <a:xfrm>
              <a:off x="2019" y="3170"/>
              <a:ext cx="10363" cy="3415"/>
            </a:xfrm>
            <a:prstGeom prst="rect">
              <a:avLst/>
            </a:prstGeom>
          </p:spPr>
        </p:pic>
      </p:grpSp>
      <p:sp>
        <p:nvSpPr>
          <p:cNvPr id="2" name="标题 1"/>
          <p:cNvSpPr txBox="1"/>
          <p:nvPr/>
        </p:nvSpPr>
        <p:spPr>
          <a:xfrm>
            <a:off x="574198" y="576496"/>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effectLst/>
                <a:latin typeface="微软雅黑" panose="020B0503020204020204" pitchFamily="34" charset="-122"/>
                <a:ea typeface="微软雅黑" panose="020B0503020204020204" pitchFamily="34" charset="-122"/>
                <a:cs typeface="+mn-ea"/>
                <a:sym typeface="+mn-lt"/>
              </a:rPr>
              <a:t>BLM模型之人才：人力预算</a:t>
            </a:r>
            <a:r>
              <a:rPr lang="en-US" altLang="zh-CN" dirty="0">
                <a:solidFill>
                  <a:srgbClr val="0070C0"/>
                </a:solidFill>
                <a:effectLst/>
                <a:latin typeface="微软雅黑" panose="020B0503020204020204" pitchFamily="34" charset="-122"/>
                <a:ea typeface="微软雅黑" panose="020B0503020204020204" pitchFamily="34" charset="-122"/>
                <a:cs typeface="+mn-ea"/>
                <a:sym typeface="+mn-lt"/>
              </a:rPr>
              <a:t>+</a:t>
            </a:r>
            <a:r>
              <a:rPr lang="zh-CN" altLang="en-US" dirty="0">
                <a:solidFill>
                  <a:srgbClr val="0070C0"/>
                </a:solidFill>
                <a:effectLst/>
                <a:latin typeface="微软雅黑" panose="020B0503020204020204" pitchFamily="34" charset="-122"/>
                <a:ea typeface="微软雅黑" panose="020B0503020204020204" pitchFamily="34" charset="-122"/>
                <a:cs typeface="+mn-ea"/>
                <a:sym typeface="+mn-lt"/>
              </a:rPr>
              <a:t>关键人才</a:t>
            </a:r>
            <a:r>
              <a:rPr lang="en-US" altLang="zh-CN" dirty="0">
                <a:solidFill>
                  <a:srgbClr val="0070C0"/>
                </a:solidFill>
                <a:effectLst/>
                <a:latin typeface="微软雅黑" panose="020B0503020204020204" pitchFamily="34" charset="-122"/>
                <a:ea typeface="微软雅黑" panose="020B0503020204020204" pitchFamily="34" charset="-122"/>
                <a:cs typeface="+mn-ea"/>
                <a:sym typeface="+mn-lt"/>
              </a:rPr>
              <a:t>&gt;</a:t>
            </a:r>
            <a:r>
              <a:rPr lang="zh-CN" altLang="en-US" dirty="0">
                <a:solidFill>
                  <a:srgbClr val="0070C0"/>
                </a:solidFill>
                <a:effectLst/>
                <a:latin typeface="微软雅黑" panose="020B0503020204020204" pitchFamily="34" charset="-122"/>
                <a:ea typeface="微软雅黑" panose="020B0503020204020204" pitchFamily="34" charset="-122"/>
                <a:cs typeface="+mn-ea"/>
                <a:sym typeface="+mn-lt"/>
              </a:rPr>
              <a:t>战略，求贤若渴</a:t>
            </a:r>
          </a:p>
        </p:txBody>
      </p:sp>
      <p:sp>
        <p:nvSpPr>
          <p:cNvPr id="8" name="标题 1"/>
          <p:cNvSpPr txBox="1"/>
          <p:nvPr/>
        </p:nvSpPr>
        <p:spPr>
          <a:xfrm>
            <a:off x="-15875" y="6028055"/>
            <a:ext cx="12232640" cy="392430"/>
          </a:xfrm>
          <a:prstGeom prst="rect">
            <a:avLst/>
          </a:prstGeom>
          <a:solidFill>
            <a:srgbClr val="0070C0"/>
          </a:solidFill>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r>
              <a:rPr lang="zh-CN" altLang="en-US" sz="1800" dirty="0">
                <a:latin typeface="微软雅黑" panose="020B0503020204020204" pitchFamily="34" charset="-122"/>
                <a:ea typeface="微软雅黑" panose="020B0503020204020204" pitchFamily="34" charset="-122"/>
                <a:cs typeface="+mn-ea"/>
                <a:sym typeface="+mn-lt"/>
              </a:rPr>
              <a:t>关键领域：</a:t>
            </a:r>
            <a:r>
              <a:rPr lang="zh-CN" altLang="en-US" sz="1800" dirty="0">
                <a:solidFill>
                  <a:srgbClr val="FCC78C"/>
                </a:solidFill>
                <a:latin typeface="微软雅黑" panose="020B0503020204020204" pitchFamily="34" charset="-122"/>
                <a:ea typeface="微软雅黑" panose="020B0503020204020204" pitchFamily="34" charset="-122"/>
                <a:cs typeface="+mn-ea"/>
                <a:sym typeface="+mn-lt"/>
              </a:rPr>
              <a:t>挖人，但可以只用短期，符合价值观的同心人留下，不符合的同路人怎么办？</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圆角矩形 2"/>
          <p:cNvSpPr/>
          <p:nvPr/>
        </p:nvSpPr>
        <p:spPr>
          <a:xfrm>
            <a:off x="1754505" y="2071904"/>
            <a:ext cx="2075974" cy="35433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a:solidFill>
                  <a:schemeClr val="bg1"/>
                </a:solidFill>
                <a:latin typeface="微软雅黑" panose="020B0503020204020204" pitchFamily="34" charset="-122"/>
                <a:ea typeface="微软雅黑" panose="020B0503020204020204" pitchFamily="34" charset="-122"/>
                <a:cs typeface="+mn-ea"/>
                <a:sym typeface="+mn-lt"/>
              </a:rPr>
              <a:t>价值、信念</a:t>
            </a:r>
          </a:p>
        </p:txBody>
      </p:sp>
      <p:sp>
        <p:nvSpPr>
          <p:cNvPr id="4" name="下箭头 3"/>
          <p:cNvSpPr/>
          <p:nvPr/>
        </p:nvSpPr>
        <p:spPr>
          <a:xfrm>
            <a:off x="2657475" y="2426234"/>
            <a:ext cx="252889" cy="274320"/>
          </a:xfrm>
          <a:prstGeom prst="down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 name="圆角矩形 4"/>
          <p:cNvSpPr/>
          <p:nvPr/>
        </p:nvSpPr>
        <p:spPr>
          <a:xfrm>
            <a:off x="1746885" y="2704364"/>
            <a:ext cx="2075974" cy="35433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a:solidFill>
                  <a:schemeClr val="bg1"/>
                </a:solidFill>
                <a:latin typeface="微软雅黑" panose="020B0503020204020204" pitchFamily="34" charset="-122"/>
                <a:ea typeface="微软雅黑" panose="020B0503020204020204" pitchFamily="34" charset="-122"/>
                <a:cs typeface="+mn-ea"/>
                <a:sym typeface="+mn-lt"/>
              </a:rPr>
              <a:t>态度、行为</a:t>
            </a:r>
          </a:p>
        </p:txBody>
      </p:sp>
      <p:sp>
        <p:nvSpPr>
          <p:cNvPr id="6" name="下箭头 5"/>
          <p:cNvSpPr/>
          <p:nvPr/>
        </p:nvSpPr>
        <p:spPr>
          <a:xfrm>
            <a:off x="2649855" y="3058694"/>
            <a:ext cx="252889" cy="274320"/>
          </a:xfrm>
          <a:prstGeom prst="down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 name="圆角矩形 6"/>
          <p:cNvSpPr/>
          <p:nvPr/>
        </p:nvSpPr>
        <p:spPr>
          <a:xfrm>
            <a:off x="1746885" y="3344444"/>
            <a:ext cx="2075974" cy="35433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a:solidFill>
                  <a:schemeClr val="bg1"/>
                </a:solidFill>
                <a:latin typeface="微软雅黑" panose="020B0503020204020204" pitchFamily="34" charset="-122"/>
                <a:ea typeface="微软雅黑" panose="020B0503020204020204" pitchFamily="34" charset="-122"/>
                <a:cs typeface="+mn-ea"/>
                <a:sym typeface="+mn-lt"/>
              </a:rPr>
              <a:t>个人、团体</a:t>
            </a:r>
          </a:p>
        </p:txBody>
      </p:sp>
      <p:sp>
        <p:nvSpPr>
          <p:cNvPr id="8" name="下箭头 7"/>
          <p:cNvSpPr/>
          <p:nvPr/>
        </p:nvSpPr>
        <p:spPr>
          <a:xfrm>
            <a:off x="2649855" y="3698774"/>
            <a:ext cx="252889" cy="274320"/>
          </a:xfrm>
          <a:prstGeom prst="down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 name="圆角矩形 8"/>
          <p:cNvSpPr/>
          <p:nvPr/>
        </p:nvSpPr>
        <p:spPr>
          <a:xfrm>
            <a:off x="1746885" y="3995954"/>
            <a:ext cx="2075974" cy="35433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a:solidFill>
                  <a:schemeClr val="bg1"/>
                </a:solidFill>
                <a:latin typeface="微软雅黑" panose="020B0503020204020204" pitchFamily="34" charset="-122"/>
                <a:ea typeface="微软雅黑" panose="020B0503020204020204" pitchFamily="34" charset="-122"/>
                <a:cs typeface="+mn-ea"/>
                <a:sym typeface="+mn-lt"/>
              </a:rPr>
              <a:t>成功、失败</a:t>
            </a:r>
          </a:p>
        </p:txBody>
      </p:sp>
      <p:sp>
        <p:nvSpPr>
          <p:cNvPr id="27" name="文本框 26"/>
          <p:cNvSpPr txBox="1"/>
          <p:nvPr/>
        </p:nvSpPr>
        <p:spPr>
          <a:xfrm>
            <a:off x="5404485" y="4426585"/>
            <a:ext cx="4138930" cy="650240"/>
          </a:xfrm>
          <a:prstGeom prst="rect">
            <a:avLst/>
          </a:prstGeom>
          <a:noFill/>
        </p:spPr>
        <p:txBody>
          <a:bodyPr wrap="square" rtlCol="0">
            <a:spAutoFit/>
          </a:bodyPr>
          <a:lstStyle/>
          <a:p>
            <a:pPr>
              <a:lnSpc>
                <a:spcPct val="130000"/>
              </a:lnSpc>
            </a:pP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rPr>
              <a:t>1.</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文化</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行为规范</a:t>
            </a:r>
          </a:p>
          <a:p>
            <a:pPr>
              <a:lnSpc>
                <a:spcPct val="130000"/>
              </a:lnSpc>
            </a:pP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rPr>
              <a:t>2.</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组织氛围</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对工作环境的感知</a:t>
            </a:r>
          </a:p>
        </p:txBody>
      </p:sp>
      <p:pic>
        <p:nvPicPr>
          <p:cNvPr id="2" name="图片 1"/>
          <p:cNvPicPr>
            <a:picLocks noChangeAspect="1"/>
          </p:cNvPicPr>
          <p:nvPr/>
        </p:nvPicPr>
        <p:blipFill>
          <a:blip r:embed="rId2" cstate="email"/>
          <a:stretch>
            <a:fillRect/>
          </a:stretch>
        </p:blipFill>
        <p:spPr>
          <a:xfrm>
            <a:off x="4142740" y="2066290"/>
            <a:ext cx="6219825" cy="2360295"/>
          </a:xfrm>
          <a:prstGeom prst="rect">
            <a:avLst/>
          </a:prstGeom>
        </p:spPr>
      </p:pic>
      <p:sp>
        <p:nvSpPr>
          <p:cNvPr id="10" name="标题 1"/>
          <p:cNvSpPr txBox="1"/>
          <p:nvPr/>
        </p:nvSpPr>
        <p:spPr>
          <a:xfrm>
            <a:off x="588399" y="542547"/>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BLM模型之氛围与文化：个体奋斗</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dirty="0">
                <a:solidFill>
                  <a:srgbClr val="0070C0"/>
                </a:solidFill>
                <a:latin typeface="微软雅黑" panose="020B0503020204020204" pitchFamily="34" charset="-122"/>
                <a:ea typeface="微软雅黑" panose="020B0503020204020204" pitchFamily="34" charset="-122"/>
                <a:cs typeface="+mn-ea"/>
                <a:sym typeface="+mn-lt"/>
              </a:rPr>
              <a:t>团队协作</a:t>
            </a:r>
          </a:p>
        </p:txBody>
      </p:sp>
      <p:sp>
        <p:nvSpPr>
          <p:cNvPr id="12" name="标题 1"/>
          <p:cNvSpPr txBox="1"/>
          <p:nvPr/>
        </p:nvSpPr>
        <p:spPr>
          <a:xfrm>
            <a:off x="-6350" y="6028055"/>
            <a:ext cx="12204700" cy="401320"/>
          </a:xfrm>
          <a:prstGeom prst="rect">
            <a:avLst/>
          </a:prstGeom>
          <a:solidFill>
            <a:srgbClr val="0070C0"/>
          </a:solidFill>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lt"/>
              </a:rPr>
              <a:t>华为人血液中并没有注入奋斗基因，主要是明确要求、奖惩到位：</a:t>
            </a:r>
            <a:r>
              <a:rPr lang="zh-CN" altLang="en-US" sz="1800" dirty="0">
                <a:solidFill>
                  <a:srgbClr val="FCC78C"/>
                </a:solidFill>
                <a:latin typeface="微软雅黑" panose="020B0503020204020204" pitchFamily="34" charset="-122"/>
                <a:ea typeface="微软雅黑" panose="020B0503020204020204" pitchFamily="34" charset="-122"/>
                <a:cs typeface="微软雅黑" panose="020B0503020204020204" pitchFamily="34" charset="-122"/>
                <a:sym typeface="+mn-lt"/>
              </a:rPr>
              <a:t>挥金如土</a:t>
            </a:r>
            <a:r>
              <a:rPr lang="en-US" altLang="zh-CN" sz="1800" dirty="0">
                <a:solidFill>
                  <a:srgbClr val="FCC78C"/>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800" dirty="0">
                <a:solidFill>
                  <a:srgbClr val="FCC78C"/>
                </a:solidFill>
                <a:latin typeface="微软雅黑" panose="020B0503020204020204" pitchFamily="34" charset="-122"/>
                <a:ea typeface="微软雅黑" panose="020B0503020204020204" pitchFamily="34" charset="-122"/>
                <a:cs typeface="微软雅黑" panose="020B0503020204020204" pitchFamily="34" charset="-122"/>
                <a:sym typeface="+mn-lt"/>
              </a:rPr>
              <a:t>杀人如麻</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标题 1"/>
          <p:cNvSpPr txBox="1"/>
          <p:nvPr/>
        </p:nvSpPr>
        <p:spPr>
          <a:xfrm>
            <a:off x="586858" y="641925"/>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讨论</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4</a:t>
            </a:r>
            <a:r>
              <a:rPr lang="zh-CN" altLang="en-US" dirty="0">
                <a:solidFill>
                  <a:srgbClr val="0070C0"/>
                </a:solidFill>
                <a:latin typeface="微软雅黑" panose="020B0503020204020204" pitchFamily="34" charset="-122"/>
                <a:ea typeface="微软雅黑" panose="020B0503020204020204" pitchFamily="34" charset="-122"/>
                <a:cs typeface="+mn-ea"/>
                <a:sym typeface="+mn-lt"/>
              </a:rPr>
              <a:t>：战略执行，组织、人才、激励匹配到位</a:t>
            </a:r>
          </a:p>
        </p:txBody>
      </p:sp>
      <p:grpSp>
        <p:nvGrpSpPr>
          <p:cNvPr id="10" name="组合 9"/>
          <p:cNvGrpSpPr/>
          <p:nvPr/>
        </p:nvGrpSpPr>
        <p:grpSpPr>
          <a:xfrm>
            <a:off x="2600392" y="2357430"/>
            <a:ext cx="1766848" cy="592093"/>
            <a:chOff x="1182116" y="1703247"/>
            <a:chExt cx="2355797" cy="789458"/>
          </a:xfrm>
        </p:grpSpPr>
        <p:grpSp>
          <p:nvGrpSpPr>
            <p:cNvPr id="11" name="组合 6"/>
            <p:cNvGrpSpPr/>
            <p:nvPr/>
          </p:nvGrpSpPr>
          <p:grpSpPr>
            <a:xfrm>
              <a:off x="1182116" y="1703247"/>
              <a:ext cx="683080" cy="789458"/>
              <a:chOff x="325596" y="1703247"/>
              <a:chExt cx="683080" cy="789458"/>
            </a:xfrm>
          </p:grpSpPr>
          <p:sp>
            <p:nvSpPr>
              <p:cNvPr id="13" name="文本框 8"/>
              <p:cNvSpPr txBox="1"/>
              <p:nvPr/>
            </p:nvSpPr>
            <p:spPr>
              <a:xfrm>
                <a:off x="325596" y="1703247"/>
                <a:ext cx="475827" cy="675641"/>
              </a:xfrm>
              <a:prstGeom prst="rect">
                <a:avLst/>
              </a:prstGeom>
              <a:noFill/>
            </p:spPr>
            <p:txBody>
              <a:bodyPr wrap="none" rtlCol="0">
                <a:spAutoFit/>
              </a:bodyPr>
              <a:lstStyle/>
              <a:p>
                <a:pPr algn="just"/>
                <a:r>
                  <a:rPr lang="en-US" altLang="zh-CN" sz="2700" dirty="0">
                    <a:latin typeface="+mn-lt"/>
                    <a:ea typeface="+mn-ea"/>
                    <a:cs typeface="+mn-ea"/>
                    <a:sym typeface="+mn-lt"/>
                  </a:rPr>
                  <a:t>1</a:t>
                </a:r>
                <a:endParaRPr lang="zh-CN" altLang="en-US" sz="2700" dirty="0">
                  <a:latin typeface="+mn-lt"/>
                  <a:ea typeface="+mn-ea"/>
                  <a:cs typeface="+mn-ea"/>
                  <a:sym typeface="+mn-lt"/>
                </a:endParaRPr>
              </a:p>
            </p:txBody>
          </p:sp>
          <p:cxnSp>
            <p:nvCxnSpPr>
              <p:cNvPr id="15" name="直接连接符 14"/>
              <p:cNvCxnSpPr/>
              <p:nvPr/>
            </p:nvCxnSpPr>
            <p:spPr>
              <a:xfrm flipH="1">
                <a:off x="600160" y="197882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2" name="矩形 11"/>
            <p:cNvSpPr/>
            <p:nvPr/>
          </p:nvSpPr>
          <p:spPr>
            <a:xfrm>
              <a:off x="1890299" y="1890421"/>
              <a:ext cx="1647614" cy="552027"/>
            </a:xfrm>
            <a:prstGeom prst="rect">
              <a:avLst/>
            </a:prstGeom>
          </p:spPr>
          <p:txBody>
            <a:bodyPr wrap="square">
              <a:spAutoFit/>
            </a:bodyPr>
            <a:lstStyle/>
            <a:p>
              <a:pPr lvl="0" eaLnBrk="1" fontAlgn="auto" hangingPunct="1">
                <a:lnSpc>
                  <a:spcPct val="150000"/>
                </a:lnSpc>
                <a:spcBef>
                  <a:spcPct val="10000"/>
                </a:spcBef>
                <a:spcAft>
                  <a:spcPts val="0"/>
                </a:spcAft>
                <a:defRPr/>
              </a:pPr>
              <a:r>
                <a:rPr lang="zh-CN" altLang="en-US" sz="1400" b="1" dirty="0">
                  <a:solidFill>
                    <a:srgbClr val="000000"/>
                  </a:solidFill>
                  <a:latin typeface="Arial" panose="020B0604020202020204" pitchFamily="34" charset="0"/>
                  <a:ea typeface="微软雅黑" panose="020B0503020204020204" pitchFamily="34" charset="-122"/>
                  <a:cs typeface="+mn-ea"/>
                  <a:sym typeface="+mn-lt"/>
                </a:rPr>
                <a:t>关键任务</a:t>
              </a:r>
            </a:p>
          </p:txBody>
        </p:sp>
      </p:grpSp>
      <p:grpSp>
        <p:nvGrpSpPr>
          <p:cNvPr id="16" name="组合 15"/>
          <p:cNvGrpSpPr/>
          <p:nvPr/>
        </p:nvGrpSpPr>
        <p:grpSpPr>
          <a:xfrm>
            <a:off x="2600392" y="3020959"/>
            <a:ext cx="2128212" cy="592093"/>
            <a:chOff x="1182116" y="1703247"/>
            <a:chExt cx="2837615" cy="789458"/>
          </a:xfrm>
        </p:grpSpPr>
        <p:grpSp>
          <p:nvGrpSpPr>
            <p:cNvPr id="18" name="组合 13"/>
            <p:cNvGrpSpPr/>
            <p:nvPr/>
          </p:nvGrpSpPr>
          <p:grpSpPr>
            <a:xfrm>
              <a:off x="1182116" y="1703247"/>
              <a:ext cx="683080" cy="789458"/>
              <a:chOff x="325596" y="1703247"/>
              <a:chExt cx="683080" cy="789458"/>
            </a:xfrm>
          </p:grpSpPr>
          <p:sp>
            <p:nvSpPr>
              <p:cNvPr id="21" name="文本框 15"/>
              <p:cNvSpPr txBox="1"/>
              <p:nvPr/>
            </p:nvSpPr>
            <p:spPr>
              <a:xfrm>
                <a:off x="325596" y="1703247"/>
                <a:ext cx="475827" cy="675641"/>
              </a:xfrm>
              <a:prstGeom prst="rect">
                <a:avLst/>
              </a:prstGeom>
              <a:noFill/>
            </p:spPr>
            <p:txBody>
              <a:bodyPr wrap="none" rtlCol="0">
                <a:spAutoFit/>
              </a:bodyPr>
              <a:lstStyle/>
              <a:p>
                <a:pPr algn="just"/>
                <a:r>
                  <a:rPr lang="en-US" altLang="zh-CN" sz="2700" dirty="0">
                    <a:latin typeface="+mn-lt"/>
                    <a:ea typeface="+mn-ea"/>
                    <a:cs typeface="+mn-ea"/>
                    <a:sym typeface="+mn-lt"/>
                  </a:rPr>
                  <a:t>2</a:t>
                </a:r>
                <a:endParaRPr lang="zh-CN" altLang="en-US" sz="2700" dirty="0">
                  <a:latin typeface="+mn-lt"/>
                  <a:ea typeface="+mn-ea"/>
                  <a:cs typeface="+mn-ea"/>
                  <a:sym typeface="+mn-lt"/>
                </a:endParaRPr>
              </a:p>
            </p:txBody>
          </p:sp>
          <p:cxnSp>
            <p:nvCxnSpPr>
              <p:cNvPr id="23" name="直接连接符 22"/>
              <p:cNvCxnSpPr/>
              <p:nvPr/>
            </p:nvCxnSpPr>
            <p:spPr>
              <a:xfrm flipH="1">
                <a:off x="600160" y="197882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20" name="矩形 19"/>
            <p:cNvSpPr/>
            <p:nvPr/>
          </p:nvSpPr>
          <p:spPr>
            <a:xfrm>
              <a:off x="1919536" y="1890421"/>
              <a:ext cx="2100195" cy="552027"/>
            </a:xfrm>
            <a:prstGeom prst="rect">
              <a:avLst/>
            </a:prstGeom>
          </p:spPr>
          <p:txBody>
            <a:bodyPr wrap="square">
              <a:spAutoFit/>
            </a:bodyPr>
            <a:lstStyle/>
            <a:p>
              <a:pPr lvl="0" eaLnBrk="1" fontAlgn="auto" hangingPunct="1">
                <a:lnSpc>
                  <a:spcPct val="150000"/>
                </a:lnSpc>
                <a:spcBef>
                  <a:spcPct val="10000"/>
                </a:spcBef>
                <a:spcAft>
                  <a:spcPts val="0"/>
                </a:spcAft>
                <a:defRPr/>
              </a:pPr>
              <a:r>
                <a:rPr lang="zh-CN" altLang="en-US" sz="1400" b="1" dirty="0">
                  <a:solidFill>
                    <a:srgbClr val="000000"/>
                  </a:solidFill>
                  <a:latin typeface="Arial" panose="020B0604020202020204" pitchFamily="34" charset="0"/>
                  <a:ea typeface="微软雅黑" panose="020B0503020204020204" pitchFamily="34" charset="-122"/>
                  <a:cs typeface="+mn-ea"/>
                  <a:sym typeface="+mn-lt"/>
                </a:rPr>
                <a:t>正式组织</a:t>
              </a:r>
            </a:p>
          </p:txBody>
        </p:sp>
      </p:grpSp>
      <p:grpSp>
        <p:nvGrpSpPr>
          <p:cNvPr id="24" name="组合 23"/>
          <p:cNvGrpSpPr/>
          <p:nvPr/>
        </p:nvGrpSpPr>
        <p:grpSpPr>
          <a:xfrm>
            <a:off x="2600392" y="3703538"/>
            <a:ext cx="1766848" cy="592093"/>
            <a:chOff x="1182116" y="1703247"/>
            <a:chExt cx="2355797" cy="789458"/>
          </a:xfrm>
        </p:grpSpPr>
        <p:grpSp>
          <p:nvGrpSpPr>
            <p:cNvPr id="26" name="组合 18"/>
            <p:cNvGrpSpPr/>
            <p:nvPr/>
          </p:nvGrpSpPr>
          <p:grpSpPr>
            <a:xfrm>
              <a:off x="1182116" y="1703247"/>
              <a:ext cx="683080" cy="789458"/>
              <a:chOff x="325596" y="1703247"/>
              <a:chExt cx="683080" cy="789458"/>
            </a:xfrm>
          </p:grpSpPr>
          <p:sp>
            <p:nvSpPr>
              <p:cNvPr id="28" name="文本框 20"/>
              <p:cNvSpPr txBox="1"/>
              <p:nvPr/>
            </p:nvSpPr>
            <p:spPr>
              <a:xfrm>
                <a:off x="325596" y="1703247"/>
                <a:ext cx="475827" cy="675641"/>
              </a:xfrm>
              <a:prstGeom prst="rect">
                <a:avLst/>
              </a:prstGeom>
              <a:noFill/>
            </p:spPr>
            <p:txBody>
              <a:bodyPr wrap="none" rtlCol="0">
                <a:spAutoFit/>
              </a:bodyPr>
              <a:lstStyle/>
              <a:p>
                <a:pPr algn="just"/>
                <a:r>
                  <a:rPr lang="en-US" altLang="zh-CN" sz="2700" dirty="0">
                    <a:latin typeface="+mn-lt"/>
                    <a:ea typeface="+mn-ea"/>
                    <a:cs typeface="+mn-ea"/>
                    <a:sym typeface="+mn-lt"/>
                  </a:rPr>
                  <a:t>3</a:t>
                </a:r>
                <a:endParaRPr lang="zh-CN" altLang="en-US" sz="2700" dirty="0">
                  <a:latin typeface="+mn-lt"/>
                  <a:ea typeface="+mn-ea"/>
                  <a:cs typeface="+mn-ea"/>
                  <a:sym typeface="+mn-lt"/>
                </a:endParaRPr>
              </a:p>
            </p:txBody>
          </p:sp>
          <p:cxnSp>
            <p:nvCxnSpPr>
              <p:cNvPr id="29" name="直接连接符 28"/>
              <p:cNvCxnSpPr/>
              <p:nvPr/>
            </p:nvCxnSpPr>
            <p:spPr>
              <a:xfrm flipH="1">
                <a:off x="600160" y="197882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27" name="矩形 26"/>
            <p:cNvSpPr/>
            <p:nvPr/>
          </p:nvSpPr>
          <p:spPr>
            <a:xfrm>
              <a:off x="1890299" y="1890421"/>
              <a:ext cx="1647614" cy="552027"/>
            </a:xfrm>
            <a:prstGeom prst="rect">
              <a:avLst/>
            </a:prstGeom>
          </p:spPr>
          <p:txBody>
            <a:bodyPr wrap="square">
              <a:spAutoFit/>
            </a:bodyPr>
            <a:lstStyle/>
            <a:p>
              <a:pPr lvl="0" eaLnBrk="1" fontAlgn="auto" hangingPunct="1">
                <a:lnSpc>
                  <a:spcPct val="150000"/>
                </a:lnSpc>
                <a:spcBef>
                  <a:spcPct val="10000"/>
                </a:spcBef>
                <a:spcAft>
                  <a:spcPts val="0"/>
                </a:spcAft>
                <a:defRPr/>
              </a:pPr>
              <a:r>
                <a:rPr lang="zh-CN" altLang="en-US" sz="1400" b="1" dirty="0">
                  <a:solidFill>
                    <a:srgbClr val="000000"/>
                  </a:solidFill>
                  <a:latin typeface="Arial" panose="020B0604020202020204" pitchFamily="34" charset="0"/>
                  <a:ea typeface="微软雅黑" panose="020B0503020204020204" pitchFamily="34" charset="-122"/>
                  <a:cs typeface="+mn-ea"/>
                  <a:sym typeface="+mn-lt"/>
                </a:rPr>
                <a:t>人才</a:t>
              </a:r>
            </a:p>
          </p:txBody>
        </p:sp>
      </p:grpSp>
      <p:grpSp>
        <p:nvGrpSpPr>
          <p:cNvPr id="30" name="组合 29"/>
          <p:cNvGrpSpPr/>
          <p:nvPr/>
        </p:nvGrpSpPr>
        <p:grpSpPr>
          <a:xfrm>
            <a:off x="2600392" y="4376591"/>
            <a:ext cx="2128212" cy="592093"/>
            <a:chOff x="1182116" y="1703247"/>
            <a:chExt cx="2837615" cy="789458"/>
          </a:xfrm>
        </p:grpSpPr>
        <p:grpSp>
          <p:nvGrpSpPr>
            <p:cNvPr id="31" name="组合 23"/>
            <p:cNvGrpSpPr/>
            <p:nvPr/>
          </p:nvGrpSpPr>
          <p:grpSpPr>
            <a:xfrm>
              <a:off x="1182116" y="1703247"/>
              <a:ext cx="683080" cy="789458"/>
              <a:chOff x="325596" y="1703247"/>
              <a:chExt cx="683080" cy="789458"/>
            </a:xfrm>
          </p:grpSpPr>
          <p:sp>
            <p:nvSpPr>
              <p:cNvPr id="33" name="文本框 25"/>
              <p:cNvSpPr txBox="1"/>
              <p:nvPr/>
            </p:nvSpPr>
            <p:spPr>
              <a:xfrm>
                <a:off x="325596" y="1703247"/>
                <a:ext cx="475827" cy="675641"/>
              </a:xfrm>
              <a:prstGeom prst="rect">
                <a:avLst/>
              </a:prstGeom>
              <a:noFill/>
            </p:spPr>
            <p:txBody>
              <a:bodyPr wrap="none" rtlCol="0">
                <a:spAutoFit/>
              </a:bodyPr>
              <a:lstStyle/>
              <a:p>
                <a:pPr algn="just"/>
                <a:r>
                  <a:rPr lang="en-US" altLang="zh-CN" sz="2700" dirty="0">
                    <a:latin typeface="+mn-lt"/>
                    <a:ea typeface="+mn-ea"/>
                    <a:cs typeface="+mn-ea"/>
                    <a:sym typeface="+mn-lt"/>
                  </a:rPr>
                  <a:t>4</a:t>
                </a:r>
                <a:endParaRPr lang="zh-CN" altLang="en-US" sz="2700" dirty="0">
                  <a:latin typeface="+mn-lt"/>
                  <a:ea typeface="+mn-ea"/>
                  <a:cs typeface="+mn-ea"/>
                  <a:sym typeface="+mn-lt"/>
                </a:endParaRPr>
              </a:p>
            </p:txBody>
          </p:sp>
          <p:cxnSp>
            <p:nvCxnSpPr>
              <p:cNvPr id="34" name="直接连接符 33"/>
              <p:cNvCxnSpPr/>
              <p:nvPr/>
            </p:nvCxnSpPr>
            <p:spPr>
              <a:xfrm flipH="1">
                <a:off x="600160" y="1978827"/>
                <a:ext cx="408516" cy="5138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32" name="矩形 31"/>
            <p:cNvSpPr/>
            <p:nvPr/>
          </p:nvSpPr>
          <p:spPr>
            <a:xfrm>
              <a:off x="1919536" y="1890421"/>
              <a:ext cx="2100195" cy="552027"/>
            </a:xfrm>
            <a:prstGeom prst="rect">
              <a:avLst/>
            </a:prstGeom>
          </p:spPr>
          <p:txBody>
            <a:bodyPr wrap="square">
              <a:spAutoFit/>
            </a:bodyPr>
            <a:lstStyle/>
            <a:p>
              <a:pPr lvl="0" eaLnBrk="1" fontAlgn="auto" hangingPunct="1">
                <a:lnSpc>
                  <a:spcPct val="150000"/>
                </a:lnSpc>
                <a:spcBef>
                  <a:spcPct val="10000"/>
                </a:spcBef>
                <a:spcAft>
                  <a:spcPts val="0"/>
                </a:spcAft>
                <a:defRPr/>
              </a:pPr>
              <a:r>
                <a:rPr lang="zh-CN" altLang="en-US" sz="1400" b="1" dirty="0">
                  <a:solidFill>
                    <a:srgbClr val="000000"/>
                  </a:solidFill>
                  <a:latin typeface="Arial" panose="020B0604020202020204" pitchFamily="34" charset="0"/>
                  <a:ea typeface="微软雅黑" panose="020B0503020204020204" pitchFamily="34" charset="-122"/>
                  <a:cs typeface="+mn-ea"/>
                  <a:sym typeface="+mn-lt"/>
                </a:rPr>
                <a:t>文化与氛围</a:t>
              </a:r>
            </a:p>
          </p:txBody>
        </p:sp>
      </p:grpSp>
      <p:pic>
        <p:nvPicPr>
          <p:cNvPr id="35" name="图片 34"/>
          <p:cNvPicPr>
            <a:picLocks noChangeAspect="1"/>
          </p:cNvPicPr>
          <p:nvPr/>
        </p:nvPicPr>
        <p:blipFill rotWithShape="1">
          <a:blip r:embed="rId3" cstate="email"/>
          <a:srcRect/>
          <a:stretch>
            <a:fillRect/>
          </a:stretch>
        </p:blipFill>
        <p:spPr>
          <a:xfrm>
            <a:off x="4728845" y="2285365"/>
            <a:ext cx="4439285" cy="29000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AutoShape 4"/>
          <p:cNvSpPr/>
          <p:nvPr/>
        </p:nvSpPr>
        <p:spPr>
          <a:xfrm>
            <a:off x="5978642" y="2107364"/>
            <a:ext cx="3185600" cy="1948310"/>
          </a:xfrm>
          <a:prstGeom prst="roundRect">
            <a:avLst>
              <a:gd name="adj" fmla="val 0"/>
            </a:avLst>
          </a:prstGeom>
          <a:solidFill>
            <a:srgbClr val="E9F4FA"/>
          </a:solidFill>
          <a:ln w="9525" cap="flat" cmpd="sng">
            <a:noFill/>
            <a:prstDash val="solid"/>
            <a:headEnd type="none" w="med" len="med"/>
            <a:tailEnd type="none" w="med" len="med"/>
          </a:ln>
        </p:spPr>
        <p:txBody>
          <a:bodyPr lIns="91437" tIns="45718" rIns="91437" bIns="45718" anchor="ctr"/>
          <a:lstStyle/>
          <a:p>
            <a:pPr>
              <a:lnSpc>
                <a:spcPct val="130000"/>
              </a:lnSpc>
              <a:spcBef>
                <a:spcPts val="800"/>
              </a:spcBef>
              <a:buSzPct val="77000"/>
            </a:pPr>
            <a:endParaRPr lang="zh-CN" altLang="zh-CN" sz="825" dirty="0">
              <a:solidFill>
                <a:srgbClr val="808080"/>
              </a:solidFill>
              <a:latin typeface="微软雅黑" panose="020B0503020204020204" pitchFamily="34" charset="-122"/>
              <a:ea typeface="微软雅黑" panose="020B0503020204020204" pitchFamily="34" charset="-122"/>
              <a:cs typeface="+mn-ea"/>
              <a:sym typeface="+mn-lt"/>
            </a:endParaRPr>
          </a:p>
        </p:txBody>
      </p:sp>
      <p:cxnSp>
        <p:nvCxnSpPr>
          <p:cNvPr id="5" name="直接连接符 4"/>
          <p:cNvCxnSpPr/>
          <p:nvPr/>
        </p:nvCxnSpPr>
        <p:spPr>
          <a:xfrm>
            <a:off x="7975271" y="2708360"/>
            <a:ext cx="512730" cy="362896"/>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6968914" y="3329882"/>
            <a:ext cx="510719" cy="360433"/>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V="1">
            <a:off x="6997064" y="2714108"/>
            <a:ext cx="426269" cy="357149"/>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8040620" y="3322493"/>
            <a:ext cx="426269" cy="355507"/>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7708853" y="2779790"/>
            <a:ext cx="0" cy="866189"/>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V="1">
            <a:off x="7458521" y="3191948"/>
            <a:ext cx="517757" cy="0"/>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sp>
        <p:nvSpPr>
          <p:cNvPr id="11" name="AutoShape 4"/>
          <p:cNvSpPr/>
          <p:nvPr/>
        </p:nvSpPr>
        <p:spPr>
          <a:xfrm>
            <a:off x="2895608" y="2107364"/>
            <a:ext cx="2968229" cy="1948310"/>
          </a:xfrm>
          <a:prstGeom prst="roundRect">
            <a:avLst>
              <a:gd name="adj" fmla="val 0"/>
            </a:avLst>
          </a:prstGeom>
          <a:solidFill>
            <a:srgbClr val="E9F4FA"/>
          </a:solidFill>
          <a:ln w="9525" cap="flat" cmpd="sng">
            <a:noFill/>
            <a:prstDash val="solid"/>
            <a:headEnd type="none" w="med" len="med"/>
            <a:tailEnd type="none" w="med" len="med"/>
          </a:ln>
        </p:spPr>
        <p:txBody>
          <a:bodyPr lIns="91437" tIns="45718" rIns="91437" bIns="45718" anchor="ctr"/>
          <a:lstStyle/>
          <a:p>
            <a:pPr>
              <a:lnSpc>
                <a:spcPct val="130000"/>
              </a:lnSpc>
              <a:spcBef>
                <a:spcPts val="800"/>
              </a:spcBef>
              <a:buSzPct val="77000"/>
            </a:pPr>
            <a:endParaRPr lang="zh-CN" altLang="zh-CN" sz="825" dirty="0">
              <a:solidFill>
                <a:srgbClr val="808080"/>
              </a:solidFill>
              <a:latin typeface="微软雅黑" panose="020B0503020204020204" pitchFamily="34" charset="-122"/>
              <a:ea typeface="微软雅黑" panose="020B0503020204020204" pitchFamily="34" charset="-122"/>
              <a:cs typeface="+mn-ea"/>
              <a:sym typeface="+mn-lt"/>
            </a:endParaRPr>
          </a:p>
        </p:txBody>
      </p:sp>
      <p:sp>
        <p:nvSpPr>
          <p:cNvPr id="12" name="矩形 11"/>
          <p:cNvSpPr/>
          <p:nvPr/>
        </p:nvSpPr>
        <p:spPr>
          <a:xfrm>
            <a:off x="2895601" y="1655032"/>
            <a:ext cx="6268641" cy="375920"/>
          </a:xfrm>
          <a:prstGeom prst="rect">
            <a:avLst/>
          </a:prstGeom>
          <a:solidFill>
            <a:srgbClr val="0070C0"/>
          </a:solidFill>
          <a:ln w="12700">
            <a:noFill/>
          </a:ln>
          <a:effectLst/>
        </p:spPr>
        <p:txBody>
          <a:bodyPr wrap="square" lIns="91437" tIns="45718" rIns="91437" bIns="45718" anchor="ctr">
            <a:spAutoFit/>
          </a:bodyPr>
          <a:lstStyle/>
          <a:p>
            <a:pPr algn="ctr" defTabSz="1218565">
              <a:lnSpc>
                <a:spcPct val="130000"/>
              </a:lnSpc>
              <a:spcBef>
                <a:spcPts val="800"/>
              </a:spcBef>
              <a:buSzPct val="77000"/>
              <a:defRPr/>
            </a:pPr>
            <a:r>
              <a:rPr lang="zh-CN" altLang="en-US" sz="1425" b="1" dirty="0">
                <a:solidFill>
                  <a:srgbClr val="FFFFFF"/>
                </a:solidFill>
                <a:latin typeface="微软雅黑" panose="020B0503020204020204" pitchFamily="34" charset="-122"/>
                <a:ea typeface="微软雅黑" panose="020B0503020204020204" pitchFamily="34" charset="-122"/>
                <a:cs typeface="+mn-ea"/>
                <a:sym typeface="+mn-lt"/>
              </a:rPr>
              <a:t>领导力</a:t>
            </a:r>
          </a:p>
        </p:txBody>
      </p:sp>
      <p:sp>
        <p:nvSpPr>
          <p:cNvPr id="13" name="矩形 12"/>
          <p:cNvSpPr/>
          <p:nvPr/>
        </p:nvSpPr>
        <p:spPr>
          <a:xfrm>
            <a:off x="7057385" y="2505566"/>
            <a:ext cx="1301932"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en-US" altLang="zh-CN" sz="900" b="1" dirty="0">
                <a:solidFill>
                  <a:srgbClr val="262626"/>
                </a:solidFill>
                <a:latin typeface="微软雅黑" panose="020B0503020204020204" pitchFamily="34" charset="-122"/>
                <a:ea typeface="微软雅黑" panose="020B0503020204020204" pitchFamily="34" charset="-122"/>
                <a:cs typeface="+mn-ea"/>
                <a:sym typeface="+mn-lt"/>
              </a:rPr>
              <a:t>HR</a:t>
            </a:r>
          </a:p>
        </p:txBody>
      </p:sp>
      <p:sp>
        <p:nvSpPr>
          <p:cNvPr id="14" name="矩形 13"/>
          <p:cNvSpPr/>
          <p:nvPr/>
        </p:nvSpPr>
        <p:spPr>
          <a:xfrm>
            <a:off x="6372740" y="2962059"/>
            <a:ext cx="1084775" cy="459778"/>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825" b="1" dirty="0">
                <a:solidFill>
                  <a:srgbClr val="262626"/>
                </a:solidFill>
                <a:latin typeface="微软雅黑" panose="020B0503020204020204" pitchFamily="34" charset="-122"/>
                <a:ea typeface="微软雅黑" panose="020B0503020204020204" pitchFamily="34" charset="-122"/>
                <a:cs typeface="+mn-ea"/>
                <a:sym typeface="+mn-lt"/>
              </a:rPr>
              <a:t>关键任务</a:t>
            </a:r>
          </a:p>
          <a:p>
            <a:pPr algn="ctr" defTabSz="1218565">
              <a:defRPr/>
            </a:pPr>
            <a:r>
              <a:rPr lang="zh-CN" altLang="en-US" sz="900" b="1" dirty="0">
                <a:solidFill>
                  <a:srgbClr val="262626"/>
                </a:solidFill>
                <a:latin typeface="微软雅黑" panose="020B0503020204020204" pitchFamily="34" charset="-122"/>
                <a:ea typeface="微软雅黑" panose="020B0503020204020204" pitchFamily="34" charset="-122"/>
                <a:cs typeface="+mn-ea"/>
                <a:sym typeface="+mn-lt"/>
              </a:rPr>
              <a:t>依赖关系</a:t>
            </a:r>
          </a:p>
        </p:txBody>
      </p:sp>
      <p:sp>
        <p:nvSpPr>
          <p:cNvPr id="15" name="矩形 14"/>
          <p:cNvSpPr/>
          <p:nvPr/>
        </p:nvSpPr>
        <p:spPr>
          <a:xfrm>
            <a:off x="7958180" y="3055658"/>
            <a:ext cx="1086786"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C00000"/>
                </a:solidFill>
                <a:latin typeface="微软雅黑" panose="020B0503020204020204" pitchFamily="34" charset="-122"/>
                <a:ea typeface="微软雅黑" panose="020B0503020204020204" pitchFamily="34" charset="-122"/>
                <a:cs typeface="+mn-ea"/>
                <a:sym typeface="+mn-lt"/>
              </a:rPr>
              <a:t>财经</a:t>
            </a:r>
          </a:p>
        </p:txBody>
      </p:sp>
      <p:sp>
        <p:nvSpPr>
          <p:cNvPr id="16" name="矩形 15"/>
          <p:cNvSpPr/>
          <p:nvPr/>
        </p:nvSpPr>
        <p:spPr>
          <a:xfrm>
            <a:off x="7165962" y="3658295"/>
            <a:ext cx="1086786"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noProof="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质量运营</a:t>
            </a:r>
            <a:r>
              <a:rPr lang="en-US" altLang="zh-CN" sz="900" b="1" noProof="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900" b="1" noProof="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流程</a:t>
            </a:r>
            <a:r>
              <a:rPr lang="en-US" altLang="zh-CN" sz="900" b="1" noProof="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IT</a:t>
            </a:r>
          </a:p>
        </p:txBody>
      </p:sp>
      <p:sp>
        <p:nvSpPr>
          <p:cNvPr id="17" name="等腰三角形 16"/>
          <p:cNvSpPr/>
          <p:nvPr/>
        </p:nvSpPr>
        <p:spPr>
          <a:xfrm rot="5400000">
            <a:off x="9141319" y="3074749"/>
            <a:ext cx="358791" cy="221178"/>
          </a:xfrm>
          <a:prstGeom prs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endParaRPr lang="zh-CN" altLang="en-US" sz="1425" b="1" noProof="1">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18" name="等腰三角形 17"/>
          <p:cNvSpPr/>
          <p:nvPr/>
        </p:nvSpPr>
        <p:spPr>
          <a:xfrm rot="5400000">
            <a:off x="5886169" y="3096138"/>
            <a:ext cx="358791" cy="221178"/>
          </a:xfrm>
          <a:prstGeom prs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endParaRPr lang="zh-CN" altLang="en-US" sz="1425" b="1" noProof="1">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19" name="等腰三角形 18"/>
          <p:cNvSpPr/>
          <p:nvPr/>
        </p:nvSpPr>
        <p:spPr>
          <a:xfrm rot="16200000">
            <a:off x="5605356" y="3096138"/>
            <a:ext cx="358791" cy="221178"/>
          </a:xfrm>
          <a:prstGeom prs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endParaRPr lang="zh-CN" altLang="en-US" sz="1425" b="1" noProof="1">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20" name="椭圆 19"/>
          <p:cNvSpPr/>
          <p:nvPr/>
        </p:nvSpPr>
        <p:spPr>
          <a:xfrm>
            <a:off x="9414354" y="2894903"/>
            <a:ext cx="814336" cy="66667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5999" tIns="45718" rIns="35999" bIns="45718" anchor="ctr"/>
          <a:lstStyle/>
          <a:p>
            <a:pPr algn="ctr" defTabSz="1218565">
              <a:defRPr/>
            </a:pPr>
            <a:r>
              <a:rPr lang="zh-CN" altLang="en-US" sz="1425" b="1" dirty="0">
                <a:solidFill>
                  <a:srgbClr val="FFFFFF"/>
                </a:solidFill>
                <a:latin typeface="微软雅黑" panose="020B0503020204020204" pitchFamily="34" charset="-122"/>
                <a:ea typeface="微软雅黑" panose="020B0503020204020204" pitchFamily="34" charset="-122"/>
                <a:cs typeface="+mn-ea"/>
                <a:sym typeface="+mn-lt"/>
              </a:rPr>
              <a:t>市场结果</a:t>
            </a:r>
          </a:p>
        </p:txBody>
      </p:sp>
      <p:cxnSp>
        <p:nvCxnSpPr>
          <p:cNvPr id="21" name="直接连接符 20"/>
          <p:cNvCxnSpPr/>
          <p:nvPr/>
        </p:nvCxnSpPr>
        <p:spPr>
          <a:xfrm>
            <a:off x="4570641" y="2708360"/>
            <a:ext cx="510719" cy="362896"/>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3564284" y="3329882"/>
            <a:ext cx="510719" cy="360433"/>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3592433" y="2714108"/>
            <a:ext cx="426269" cy="357149"/>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V="1">
            <a:off x="4635989" y="3322493"/>
            <a:ext cx="426269" cy="355507"/>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4339410" y="2779790"/>
            <a:ext cx="0" cy="866189"/>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4088072" y="3191948"/>
            <a:ext cx="502676" cy="0"/>
          </a:xfrm>
          <a:prstGeom prst="line">
            <a:avLst/>
          </a:prstGeom>
          <a:ln w="15875">
            <a:solidFill>
              <a:srgbClr val="F47216"/>
            </a:solidFill>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2884885" y="4134550"/>
            <a:ext cx="6268640" cy="375920"/>
          </a:xfrm>
          <a:prstGeom prst="rect">
            <a:avLst/>
          </a:prstGeom>
          <a:solidFill>
            <a:srgbClr val="0070C0"/>
          </a:solidFill>
          <a:ln w="12700">
            <a:noFill/>
          </a:ln>
          <a:effectLst/>
        </p:spPr>
        <p:txBody>
          <a:bodyPr wrap="square" lIns="91437" tIns="45718" rIns="91437" bIns="45718" anchor="ctr">
            <a:spAutoFit/>
          </a:bodyPr>
          <a:lstStyle/>
          <a:p>
            <a:pPr algn="ctr" defTabSz="1218565">
              <a:lnSpc>
                <a:spcPct val="130000"/>
              </a:lnSpc>
              <a:spcBef>
                <a:spcPts val="800"/>
              </a:spcBef>
              <a:buSzPct val="77000"/>
            </a:pPr>
            <a:r>
              <a:rPr lang="zh-CN" altLang="en-US" sz="1425" b="1" dirty="0">
                <a:solidFill>
                  <a:srgbClr val="FFFFFF"/>
                </a:solidFill>
                <a:latin typeface="微软雅黑" panose="020B0503020204020204" pitchFamily="34" charset="-122"/>
                <a:ea typeface="微软雅黑" panose="020B0503020204020204" pitchFamily="34" charset="-122"/>
                <a:cs typeface="+mn-ea"/>
                <a:sym typeface="+mn-lt"/>
              </a:rPr>
              <a:t>价值观</a:t>
            </a:r>
          </a:p>
        </p:txBody>
      </p:sp>
      <p:sp>
        <p:nvSpPr>
          <p:cNvPr id="28" name="矩形 27"/>
          <p:cNvSpPr/>
          <p:nvPr/>
        </p:nvSpPr>
        <p:spPr>
          <a:xfrm>
            <a:off x="3795515" y="2505566"/>
            <a:ext cx="1084775"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262626"/>
                </a:solidFill>
                <a:latin typeface="微软雅黑" panose="020B0503020204020204" pitchFamily="34" charset="-122"/>
                <a:ea typeface="微软雅黑" panose="020B0503020204020204" pitchFamily="34" charset="-122"/>
                <a:cs typeface="+mn-ea"/>
                <a:sym typeface="+mn-lt"/>
              </a:rPr>
              <a:t>市场洞察</a:t>
            </a:r>
          </a:p>
        </p:txBody>
      </p:sp>
      <p:sp>
        <p:nvSpPr>
          <p:cNvPr id="29" name="矩形 28"/>
          <p:cNvSpPr/>
          <p:nvPr/>
        </p:nvSpPr>
        <p:spPr>
          <a:xfrm>
            <a:off x="3003298" y="3055658"/>
            <a:ext cx="1084775"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262626"/>
                </a:solidFill>
                <a:latin typeface="微软雅黑" panose="020B0503020204020204" pitchFamily="34" charset="-122"/>
                <a:ea typeface="微软雅黑" panose="020B0503020204020204" pitchFamily="34" charset="-122"/>
                <a:cs typeface="+mn-ea"/>
                <a:sym typeface="+mn-lt"/>
              </a:rPr>
              <a:t>战略意图</a:t>
            </a:r>
          </a:p>
        </p:txBody>
      </p:sp>
      <p:sp>
        <p:nvSpPr>
          <p:cNvPr id="30" name="矩形 29"/>
          <p:cNvSpPr/>
          <p:nvPr/>
        </p:nvSpPr>
        <p:spPr>
          <a:xfrm>
            <a:off x="4588738" y="3055658"/>
            <a:ext cx="1086786"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noProof="1">
                <a:solidFill>
                  <a:srgbClr val="000000">
                    <a:lumMod val="85000"/>
                    <a:lumOff val="15000"/>
                  </a:srgbClr>
                </a:solidFill>
                <a:latin typeface="微软雅黑" panose="020B0503020204020204" pitchFamily="34" charset="-122"/>
                <a:ea typeface="微软雅黑" panose="020B0503020204020204" pitchFamily="34" charset="-122"/>
                <a:cs typeface="+mn-ea"/>
                <a:sym typeface="+mn-lt"/>
              </a:rPr>
              <a:t>业务设计</a:t>
            </a:r>
          </a:p>
        </p:txBody>
      </p:sp>
      <p:sp>
        <p:nvSpPr>
          <p:cNvPr id="31" name="矩形 30"/>
          <p:cNvSpPr/>
          <p:nvPr/>
        </p:nvSpPr>
        <p:spPr>
          <a:xfrm>
            <a:off x="3795515" y="3645980"/>
            <a:ext cx="1084775"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262626"/>
                </a:solidFill>
                <a:latin typeface="微软雅黑" panose="020B0503020204020204" pitchFamily="34" charset="-122"/>
                <a:ea typeface="微软雅黑" panose="020B0503020204020204" pitchFamily="34" charset="-122"/>
                <a:cs typeface="+mn-ea"/>
                <a:sym typeface="+mn-lt"/>
              </a:rPr>
              <a:t>创新焦点</a:t>
            </a:r>
          </a:p>
        </p:txBody>
      </p:sp>
      <p:sp>
        <p:nvSpPr>
          <p:cNvPr id="32" name="文本框 81"/>
          <p:cNvSpPr txBox="1"/>
          <p:nvPr/>
        </p:nvSpPr>
        <p:spPr>
          <a:xfrm>
            <a:off x="7319782" y="2207531"/>
            <a:ext cx="982229" cy="309880"/>
          </a:xfrm>
          <a:prstGeom prst="rect">
            <a:avLst/>
          </a:prstGeom>
          <a:noFill/>
          <a:ln w="9525">
            <a:noFill/>
          </a:ln>
        </p:spPr>
        <p:txBody>
          <a:bodyPr lIns="91437" tIns="45718" rIns="91437" bIns="45718">
            <a:spAutoFit/>
          </a:bodyPr>
          <a:lstStyle/>
          <a:p>
            <a:pPr eaLnBrk="1" hangingPunct="1"/>
            <a:r>
              <a:rPr lang="zh-CN" altLang="en-US" sz="1425" dirty="0">
                <a:solidFill>
                  <a:srgbClr val="C00000"/>
                </a:solidFill>
                <a:latin typeface="微软雅黑" panose="020B0503020204020204" pitchFamily="34" charset="-122"/>
                <a:ea typeface="微软雅黑" panose="020B0503020204020204" pitchFamily="34" charset="-122"/>
                <a:cs typeface="+mn-ea"/>
                <a:sym typeface="+mn-lt"/>
              </a:rPr>
              <a:t>执行</a:t>
            </a:r>
          </a:p>
        </p:txBody>
      </p:sp>
      <p:sp>
        <p:nvSpPr>
          <p:cNvPr id="33" name="文本框 83"/>
          <p:cNvSpPr txBox="1"/>
          <p:nvPr/>
        </p:nvSpPr>
        <p:spPr>
          <a:xfrm>
            <a:off x="3842767" y="2208587"/>
            <a:ext cx="1082765" cy="309880"/>
          </a:xfrm>
          <a:prstGeom prst="rect">
            <a:avLst/>
          </a:prstGeom>
          <a:noFill/>
          <a:ln w="9525">
            <a:noFill/>
          </a:ln>
        </p:spPr>
        <p:txBody>
          <a:bodyPr lIns="91437" tIns="45718" rIns="91437" bIns="45718" anchor="ctr">
            <a:spAutoFit/>
          </a:bodyPr>
          <a:lstStyle/>
          <a:p>
            <a:pPr algn="ctr" eaLnBrk="1" hangingPunct="1"/>
            <a:r>
              <a:rPr lang="zh-CN" altLang="en-US" sz="1425" dirty="0">
                <a:solidFill>
                  <a:srgbClr val="C00000"/>
                </a:solidFill>
                <a:latin typeface="微软雅黑" panose="020B0503020204020204" pitchFamily="34" charset="-122"/>
                <a:ea typeface="微软雅黑" panose="020B0503020204020204" pitchFamily="34" charset="-122"/>
                <a:cs typeface="+mn-ea"/>
                <a:sym typeface="+mn-lt"/>
              </a:rPr>
              <a:t>战略</a:t>
            </a:r>
          </a:p>
        </p:txBody>
      </p:sp>
      <p:sp>
        <p:nvSpPr>
          <p:cNvPr id="34" name="等腰三角形 33"/>
          <p:cNvSpPr/>
          <p:nvPr/>
        </p:nvSpPr>
        <p:spPr>
          <a:xfrm rot="10800000">
            <a:off x="4144466" y="2016982"/>
            <a:ext cx="478388" cy="165883"/>
          </a:xfrm>
          <a:prstGeom prs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endParaRPr lang="zh-CN" altLang="en-US" sz="1425" b="1" noProof="1">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35" name="等腰三角形 34"/>
          <p:cNvSpPr/>
          <p:nvPr/>
        </p:nvSpPr>
        <p:spPr>
          <a:xfrm rot="10800000">
            <a:off x="7423227" y="2016982"/>
            <a:ext cx="478388" cy="165883"/>
          </a:xfrm>
          <a:prstGeom prs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endParaRPr lang="zh-CN" altLang="en-US" sz="1425" b="1" noProof="1">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37" name="Text Box 32"/>
          <p:cNvSpPr txBox="1"/>
          <p:nvPr/>
        </p:nvSpPr>
        <p:spPr>
          <a:xfrm>
            <a:off x="1963376" y="2585518"/>
            <a:ext cx="714380" cy="479425"/>
          </a:xfrm>
          <a:prstGeom prst="rect">
            <a:avLst/>
          </a:prstGeom>
          <a:noFill/>
          <a:ln w="9525">
            <a:noFill/>
          </a:ln>
        </p:spPr>
        <p:txBody>
          <a:bodyPr wrap="square" lIns="0" tIns="0" rIns="0" bIns="0" anchor="ctr">
            <a:spAutoFit/>
          </a:bodyPr>
          <a:lstStyle/>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defRPr/>
            </a:pPr>
            <a:r>
              <a:rPr lang="zh-CN" altLang="en-US" sz="1200" noProof="1">
                <a:solidFill>
                  <a:srgbClr val="000000"/>
                </a:solidFill>
                <a:latin typeface="微软雅黑" panose="020B0503020204020204" pitchFamily="34" charset="-122"/>
                <a:ea typeface="微软雅黑" panose="020B0503020204020204" pitchFamily="34" charset="-122"/>
                <a:cs typeface="+mn-ea"/>
                <a:sym typeface="+mn-lt"/>
              </a:rPr>
              <a:t>业绩</a:t>
            </a:r>
          </a:p>
          <a:p>
            <a:pPr marL="287020" lvl="1" indent="-285750" algn="just" defTabSz="330200">
              <a:lnSpc>
                <a:spcPct val="130000"/>
              </a:lnSpc>
              <a:spcBef>
                <a:spcPts val="0"/>
              </a:spcBef>
              <a:buClr>
                <a:srgbClr val="267FC3"/>
              </a:buClr>
              <a:buSzPct val="80000"/>
              <a:buFont typeface="Arial" panose="020B0604020202020204" pitchFamily="34" charset="0"/>
              <a:buChar char="•"/>
              <a:tabLst>
                <a:tab pos="8521700" algn="r"/>
              </a:tabLst>
              <a:defRPr/>
            </a:pPr>
            <a:r>
              <a:rPr lang="zh-CN" altLang="en-US" sz="1200" noProof="1">
                <a:solidFill>
                  <a:srgbClr val="000000"/>
                </a:solidFill>
                <a:latin typeface="微软雅黑" panose="020B0503020204020204" pitchFamily="34" charset="-122"/>
                <a:ea typeface="微软雅黑" panose="020B0503020204020204" pitchFamily="34" charset="-122"/>
                <a:cs typeface="+mn-ea"/>
                <a:sym typeface="+mn-lt"/>
              </a:rPr>
              <a:t>机会</a:t>
            </a:r>
          </a:p>
        </p:txBody>
      </p:sp>
      <p:sp>
        <p:nvSpPr>
          <p:cNvPr id="38" name="Text Box 34"/>
          <p:cNvSpPr txBox="1"/>
          <p:nvPr/>
        </p:nvSpPr>
        <p:spPr>
          <a:xfrm>
            <a:off x="1963376" y="2270030"/>
            <a:ext cx="642942" cy="242570"/>
          </a:xfrm>
          <a:prstGeom prst="rect">
            <a:avLst/>
          </a:prstGeom>
          <a:solidFill>
            <a:srgbClr val="595959"/>
          </a:solidFill>
          <a:ln w="9525">
            <a:noFill/>
          </a:ln>
        </p:spPr>
        <p:txBody>
          <a:bodyPr wrap="square" lIns="0" tIns="0" rIns="0" bIns="0" anchor="ctr" anchorCtr="1">
            <a:spAutoFit/>
          </a:bodyPr>
          <a:lstStyle/>
          <a:p>
            <a:pPr algn="ctr" defTabSz="1096010">
              <a:spcAft>
                <a:spcPct val="15000"/>
              </a:spcAft>
              <a:defRPr/>
            </a:pPr>
            <a:r>
              <a:rPr lang="zh-CN" altLang="en-US" sz="1575" noProof="1">
                <a:solidFill>
                  <a:srgbClr val="FFFFFF"/>
                </a:solidFill>
                <a:latin typeface="微软雅黑" panose="020B0503020204020204" pitchFamily="34" charset="-122"/>
                <a:ea typeface="微软雅黑" panose="020B0503020204020204" pitchFamily="34" charset="-122"/>
                <a:cs typeface="+mn-ea"/>
                <a:sym typeface="+mn-lt"/>
              </a:rPr>
              <a:t>差距</a:t>
            </a:r>
          </a:p>
        </p:txBody>
      </p:sp>
      <p:sp>
        <p:nvSpPr>
          <p:cNvPr id="39" name="矩形 38"/>
          <p:cNvSpPr/>
          <p:nvPr/>
        </p:nvSpPr>
        <p:spPr>
          <a:xfrm>
            <a:off x="2623931" y="1194687"/>
            <a:ext cx="721724"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C00000"/>
                </a:solidFill>
                <a:latin typeface="微软雅黑" panose="020B0503020204020204" pitchFamily="34" charset="-122"/>
                <a:ea typeface="微软雅黑" panose="020B0503020204020204" pitchFamily="34" charset="-122"/>
                <a:cs typeface="+mn-ea"/>
                <a:sym typeface="+mn-lt"/>
              </a:rPr>
              <a:t>价值转移</a:t>
            </a:r>
          </a:p>
        </p:txBody>
      </p:sp>
      <p:sp>
        <p:nvSpPr>
          <p:cNvPr id="40" name="矩形 39"/>
          <p:cNvSpPr/>
          <p:nvPr/>
        </p:nvSpPr>
        <p:spPr>
          <a:xfrm>
            <a:off x="3434747" y="1194687"/>
            <a:ext cx="721724"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C00000"/>
                </a:solidFill>
                <a:latin typeface="微软雅黑" panose="020B0503020204020204" pitchFamily="34" charset="-122"/>
                <a:ea typeface="微软雅黑" panose="020B0503020204020204" pitchFamily="34" charset="-122"/>
                <a:cs typeface="+mn-ea"/>
                <a:sym typeface="+mn-lt"/>
              </a:rPr>
              <a:t>竞争分析</a:t>
            </a:r>
          </a:p>
        </p:txBody>
      </p:sp>
      <p:sp>
        <p:nvSpPr>
          <p:cNvPr id="41" name="矩形 40"/>
          <p:cNvSpPr/>
          <p:nvPr/>
        </p:nvSpPr>
        <p:spPr>
          <a:xfrm>
            <a:off x="4202700" y="1194687"/>
            <a:ext cx="721724"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C00000"/>
                </a:solidFill>
                <a:latin typeface="微软雅黑" panose="020B0503020204020204" pitchFamily="34" charset="-122"/>
                <a:ea typeface="微软雅黑" panose="020B0503020204020204" pitchFamily="34" charset="-122"/>
                <a:cs typeface="+mn-ea"/>
                <a:sym typeface="+mn-lt"/>
              </a:rPr>
              <a:t>客户分析</a:t>
            </a:r>
          </a:p>
        </p:txBody>
      </p:sp>
      <p:sp>
        <p:nvSpPr>
          <p:cNvPr id="42" name="矩形 41"/>
          <p:cNvSpPr/>
          <p:nvPr/>
        </p:nvSpPr>
        <p:spPr>
          <a:xfrm>
            <a:off x="1930987" y="3248515"/>
            <a:ext cx="721724"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262626"/>
                </a:solidFill>
                <a:latin typeface="微软雅黑" panose="020B0503020204020204" pitchFamily="34" charset="-122"/>
                <a:ea typeface="微软雅黑" panose="020B0503020204020204" pitchFamily="34" charset="-122"/>
                <a:cs typeface="+mn-ea"/>
                <a:sym typeface="+mn-lt"/>
              </a:rPr>
              <a:t>愿景</a:t>
            </a:r>
          </a:p>
        </p:txBody>
      </p:sp>
      <p:sp>
        <p:nvSpPr>
          <p:cNvPr id="43" name="矩形 42"/>
          <p:cNvSpPr/>
          <p:nvPr/>
        </p:nvSpPr>
        <p:spPr>
          <a:xfrm>
            <a:off x="1930987" y="3902168"/>
            <a:ext cx="721724"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262626"/>
                </a:solidFill>
                <a:latin typeface="微软雅黑" panose="020B0503020204020204" pitchFamily="34" charset="-122"/>
                <a:ea typeface="微软雅黑" panose="020B0503020204020204" pitchFamily="34" charset="-122"/>
                <a:cs typeface="+mn-ea"/>
                <a:sym typeface="+mn-lt"/>
              </a:rPr>
              <a:t>近期目标</a:t>
            </a:r>
          </a:p>
        </p:txBody>
      </p:sp>
      <p:sp>
        <p:nvSpPr>
          <p:cNvPr id="44" name="矩形 43"/>
          <p:cNvSpPr/>
          <p:nvPr/>
        </p:nvSpPr>
        <p:spPr>
          <a:xfrm>
            <a:off x="1930987" y="3577127"/>
            <a:ext cx="721724"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C00000"/>
                </a:solidFill>
                <a:latin typeface="微软雅黑" panose="020B0503020204020204" pitchFamily="34" charset="-122"/>
                <a:ea typeface="微软雅黑" panose="020B0503020204020204" pitchFamily="34" charset="-122"/>
                <a:cs typeface="+mn-ea"/>
                <a:sym typeface="+mn-lt"/>
              </a:rPr>
              <a:t>战略目标</a:t>
            </a:r>
          </a:p>
        </p:txBody>
      </p:sp>
      <p:sp>
        <p:nvSpPr>
          <p:cNvPr id="45" name="矩形 44"/>
          <p:cNvSpPr/>
          <p:nvPr/>
        </p:nvSpPr>
        <p:spPr>
          <a:xfrm>
            <a:off x="1938134" y="4341507"/>
            <a:ext cx="721724"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262626"/>
                </a:solidFill>
                <a:latin typeface="微软雅黑" panose="020B0503020204020204" pitchFamily="34" charset="-122"/>
                <a:ea typeface="微软雅黑" panose="020B0503020204020204" pitchFamily="34" charset="-122"/>
                <a:cs typeface="+mn-ea"/>
                <a:sym typeface="+mn-lt"/>
              </a:rPr>
              <a:t>业务组合</a:t>
            </a:r>
          </a:p>
        </p:txBody>
      </p:sp>
      <p:sp>
        <p:nvSpPr>
          <p:cNvPr id="46" name="矩形 45"/>
          <p:cNvSpPr/>
          <p:nvPr/>
        </p:nvSpPr>
        <p:spPr>
          <a:xfrm>
            <a:off x="1938134" y="4648688"/>
            <a:ext cx="721724"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C00000"/>
                </a:solidFill>
                <a:latin typeface="微软雅黑" panose="020B0503020204020204" pitchFamily="34" charset="-122"/>
                <a:ea typeface="微软雅黑" panose="020B0503020204020204" pitchFamily="34" charset="-122"/>
                <a:cs typeface="+mn-ea"/>
                <a:sym typeface="+mn-lt"/>
              </a:rPr>
              <a:t>下一代</a:t>
            </a:r>
          </a:p>
        </p:txBody>
      </p:sp>
      <p:sp>
        <p:nvSpPr>
          <p:cNvPr id="47" name="矩形 46"/>
          <p:cNvSpPr/>
          <p:nvPr/>
        </p:nvSpPr>
        <p:spPr>
          <a:xfrm>
            <a:off x="1938134" y="4966585"/>
            <a:ext cx="721724"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262626"/>
                </a:solidFill>
                <a:latin typeface="微软雅黑" panose="020B0503020204020204" pitchFamily="34" charset="-122"/>
                <a:ea typeface="微软雅黑" panose="020B0503020204020204" pitchFamily="34" charset="-122"/>
                <a:cs typeface="+mn-ea"/>
                <a:sym typeface="+mn-lt"/>
              </a:rPr>
              <a:t>资源利用</a:t>
            </a:r>
          </a:p>
        </p:txBody>
      </p:sp>
      <p:sp>
        <p:nvSpPr>
          <p:cNvPr id="48" name="矩形 47"/>
          <p:cNvSpPr/>
          <p:nvPr/>
        </p:nvSpPr>
        <p:spPr>
          <a:xfrm>
            <a:off x="3295444" y="4741560"/>
            <a:ext cx="721724"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C00000"/>
                </a:solidFill>
                <a:latin typeface="微软雅黑" panose="020B0503020204020204" pitchFamily="34" charset="-122"/>
                <a:ea typeface="微软雅黑" panose="020B0503020204020204" pitchFamily="34" charset="-122"/>
                <a:cs typeface="+mn-ea"/>
                <a:sym typeface="+mn-lt"/>
              </a:rPr>
              <a:t>客户选择</a:t>
            </a:r>
          </a:p>
        </p:txBody>
      </p:sp>
      <p:sp>
        <p:nvSpPr>
          <p:cNvPr id="49" name="矩形 48"/>
          <p:cNvSpPr/>
          <p:nvPr/>
        </p:nvSpPr>
        <p:spPr>
          <a:xfrm>
            <a:off x="4082685" y="4741560"/>
            <a:ext cx="721724"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C00000"/>
                </a:solidFill>
                <a:latin typeface="微软雅黑" panose="020B0503020204020204" pitchFamily="34" charset="-122"/>
                <a:ea typeface="微软雅黑" panose="020B0503020204020204" pitchFamily="34" charset="-122"/>
                <a:cs typeface="+mn-ea"/>
                <a:sym typeface="+mn-lt"/>
              </a:rPr>
              <a:t>价值主张</a:t>
            </a:r>
          </a:p>
        </p:txBody>
      </p:sp>
      <p:sp>
        <p:nvSpPr>
          <p:cNvPr id="50" name="矩形 49"/>
          <p:cNvSpPr/>
          <p:nvPr/>
        </p:nvSpPr>
        <p:spPr>
          <a:xfrm>
            <a:off x="4869926" y="4741560"/>
            <a:ext cx="721724"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C00000"/>
                </a:solidFill>
                <a:latin typeface="微软雅黑" panose="020B0503020204020204" pitchFamily="34" charset="-122"/>
                <a:ea typeface="微软雅黑" panose="020B0503020204020204" pitchFamily="34" charset="-122"/>
                <a:cs typeface="+mn-ea"/>
                <a:sym typeface="+mn-lt"/>
              </a:rPr>
              <a:t>价值获取</a:t>
            </a:r>
          </a:p>
        </p:txBody>
      </p:sp>
      <p:sp>
        <p:nvSpPr>
          <p:cNvPr id="51" name="矩形 50"/>
          <p:cNvSpPr/>
          <p:nvPr/>
        </p:nvSpPr>
        <p:spPr>
          <a:xfrm>
            <a:off x="5657168" y="4741560"/>
            <a:ext cx="721724"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C00000"/>
                </a:solidFill>
                <a:latin typeface="微软雅黑" panose="020B0503020204020204" pitchFamily="34" charset="-122"/>
                <a:ea typeface="微软雅黑" panose="020B0503020204020204" pitchFamily="34" charset="-122"/>
                <a:cs typeface="+mn-ea"/>
                <a:sym typeface="+mn-lt"/>
              </a:rPr>
              <a:t>活动范围</a:t>
            </a:r>
          </a:p>
        </p:txBody>
      </p:sp>
      <p:sp>
        <p:nvSpPr>
          <p:cNvPr id="52" name="矩形 51"/>
          <p:cNvSpPr/>
          <p:nvPr/>
        </p:nvSpPr>
        <p:spPr>
          <a:xfrm>
            <a:off x="6444409" y="4741560"/>
            <a:ext cx="721724"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800" b="1" dirty="0">
                <a:solidFill>
                  <a:srgbClr val="C00000"/>
                </a:solidFill>
                <a:latin typeface="微软雅黑" panose="020B0503020204020204" pitchFamily="34" charset="-122"/>
                <a:ea typeface="微软雅黑" panose="020B0503020204020204" pitchFamily="34" charset="-122"/>
                <a:cs typeface="+mn-ea"/>
                <a:sym typeface="+mn-lt"/>
              </a:rPr>
              <a:t>战略控制点</a:t>
            </a:r>
          </a:p>
        </p:txBody>
      </p:sp>
      <p:sp>
        <p:nvSpPr>
          <p:cNvPr id="53" name="矩形 52"/>
          <p:cNvSpPr/>
          <p:nvPr/>
        </p:nvSpPr>
        <p:spPr>
          <a:xfrm>
            <a:off x="7231649" y="4741560"/>
            <a:ext cx="721724"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C00000"/>
                </a:solidFill>
                <a:latin typeface="微软雅黑" panose="020B0503020204020204" pitchFamily="34" charset="-122"/>
                <a:ea typeface="微软雅黑" panose="020B0503020204020204" pitchFamily="34" charset="-122"/>
                <a:cs typeface="+mn-ea"/>
                <a:sym typeface="+mn-lt"/>
              </a:rPr>
              <a:t>风险管理</a:t>
            </a:r>
          </a:p>
        </p:txBody>
      </p:sp>
      <p:sp>
        <p:nvSpPr>
          <p:cNvPr id="54" name="矩形 53"/>
          <p:cNvSpPr/>
          <p:nvPr/>
        </p:nvSpPr>
        <p:spPr>
          <a:xfrm>
            <a:off x="5760037" y="1205403"/>
            <a:ext cx="1303941"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262626"/>
                </a:solidFill>
                <a:latin typeface="微软雅黑" panose="020B0503020204020204" pitchFamily="34" charset="-122"/>
                <a:ea typeface="微软雅黑" panose="020B0503020204020204" pitchFamily="34" charset="-122"/>
                <a:cs typeface="+mn-ea"/>
                <a:sym typeface="+mn-lt"/>
              </a:rPr>
              <a:t>支持业务设计的实现</a:t>
            </a:r>
          </a:p>
        </p:txBody>
      </p:sp>
      <p:sp>
        <p:nvSpPr>
          <p:cNvPr id="55" name="矩形 54"/>
          <p:cNvSpPr/>
          <p:nvPr/>
        </p:nvSpPr>
        <p:spPr>
          <a:xfrm>
            <a:off x="8156765" y="1205403"/>
            <a:ext cx="721724"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262626"/>
                </a:solidFill>
                <a:latin typeface="微软雅黑" panose="020B0503020204020204" pitchFamily="34" charset="-122"/>
                <a:ea typeface="微软雅黑" panose="020B0503020204020204" pitchFamily="34" charset="-122"/>
                <a:cs typeface="+mn-ea"/>
                <a:sym typeface="+mn-lt"/>
              </a:rPr>
              <a:t>可衡量</a:t>
            </a:r>
          </a:p>
        </p:txBody>
      </p:sp>
      <p:sp>
        <p:nvSpPr>
          <p:cNvPr id="56" name="矩形 55"/>
          <p:cNvSpPr/>
          <p:nvPr/>
        </p:nvSpPr>
        <p:spPr>
          <a:xfrm>
            <a:off x="7117557" y="1205403"/>
            <a:ext cx="985837"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262626"/>
                </a:solidFill>
                <a:latin typeface="微软雅黑" panose="020B0503020204020204" pitchFamily="34" charset="-122"/>
                <a:ea typeface="微软雅黑" panose="020B0503020204020204" pitchFamily="34" charset="-122"/>
                <a:cs typeface="+mn-ea"/>
                <a:sym typeface="+mn-lt"/>
              </a:rPr>
              <a:t>考虑依赖关系</a:t>
            </a:r>
          </a:p>
        </p:txBody>
      </p:sp>
      <p:sp>
        <p:nvSpPr>
          <p:cNvPr id="57" name="矩形 56"/>
          <p:cNvSpPr/>
          <p:nvPr/>
        </p:nvSpPr>
        <p:spPr>
          <a:xfrm>
            <a:off x="9371205" y="1751900"/>
            <a:ext cx="721724"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C00000"/>
                </a:solidFill>
                <a:latin typeface="微软雅黑" panose="020B0503020204020204" pitchFamily="34" charset="-122"/>
                <a:ea typeface="微软雅黑" panose="020B0503020204020204" pitchFamily="34" charset="-122"/>
                <a:cs typeface="+mn-ea"/>
                <a:sym typeface="+mn-lt"/>
              </a:rPr>
              <a:t>关键人才</a:t>
            </a:r>
          </a:p>
        </p:txBody>
      </p:sp>
      <p:sp>
        <p:nvSpPr>
          <p:cNvPr id="58" name="矩形 57"/>
          <p:cNvSpPr/>
          <p:nvPr/>
        </p:nvSpPr>
        <p:spPr>
          <a:xfrm>
            <a:off x="9371205" y="2080512"/>
            <a:ext cx="721724"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C00000"/>
                </a:solidFill>
                <a:latin typeface="微软雅黑" panose="020B0503020204020204" pitchFamily="34" charset="-122"/>
                <a:ea typeface="微软雅黑" panose="020B0503020204020204" pitchFamily="34" charset="-122"/>
                <a:cs typeface="+mn-ea"/>
                <a:sym typeface="+mn-lt"/>
              </a:rPr>
              <a:t>绩效管理</a:t>
            </a:r>
          </a:p>
        </p:txBody>
      </p:sp>
      <p:sp>
        <p:nvSpPr>
          <p:cNvPr id="59" name="矩形 58"/>
          <p:cNvSpPr/>
          <p:nvPr/>
        </p:nvSpPr>
        <p:spPr>
          <a:xfrm>
            <a:off x="9360490" y="1401855"/>
            <a:ext cx="721724"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C00000"/>
                </a:solidFill>
                <a:latin typeface="微软雅黑" panose="020B0503020204020204" pitchFamily="34" charset="-122"/>
                <a:ea typeface="微软雅黑" panose="020B0503020204020204" pitchFamily="34" charset="-122"/>
                <a:cs typeface="+mn-ea"/>
                <a:sym typeface="+mn-lt"/>
              </a:rPr>
              <a:t>组织结构</a:t>
            </a:r>
          </a:p>
        </p:txBody>
      </p:sp>
      <p:sp>
        <p:nvSpPr>
          <p:cNvPr id="60" name="矩形 59"/>
          <p:cNvSpPr/>
          <p:nvPr/>
        </p:nvSpPr>
        <p:spPr>
          <a:xfrm>
            <a:off x="9371203" y="3777152"/>
            <a:ext cx="721724"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流程</a:t>
            </a:r>
            <a:r>
              <a:rPr lang="en-US" altLang="zh-CN" sz="9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lt"/>
              </a:rPr>
              <a:t>IT</a:t>
            </a:r>
          </a:p>
        </p:txBody>
      </p:sp>
      <p:sp>
        <p:nvSpPr>
          <p:cNvPr id="61" name="矩形 60"/>
          <p:cNvSpPr/>
          <p:nvPr/>
        </p:nvSpPr>
        <p:spPr>
          <a:xfrm>
            <a:off x="9371203" y="4153985"/>
            <a:ext cx="721724"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C00000"/>
                </a:solidFill>
                <a:latin typeface="微软雅黑" panose="020B0503020204020204" pitchFamily="34" charset="-122"/>
                <a:ea typeface="微软雅黑" panose="020B0503020204020204" pitchFamily="34" charset="-122"/>
                <a:cs typeface="+mn-ea"/>
                <a:sym typeface="+mn-lt"/>
              </a:rPr>
              <a:t>质量管理</a:t>
            </a:r>
          </a:p>
        </p:txBody>
      </p:sp>
      <p:sp>
        <p:nvSpPr>
          <p:cNvPr id="62" name="矩形 61"/>
          <p:cNvSpPr/>
          <p:nvPr/>
        </p:nvSpPr>
        <p:spPr>
          <a:xfrm>
            <a:off x="9371203" y="4530817"/>
            <a:ext cx="721724"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C00000"/>
                </a:solidFill>
                <a:latin typeface="微软雅黑" panose="020B0503020204020204" pitchFamily="34" charset="-122"/>
                <a:ea typeface="微软雅黑" panose="020B0503020204020204" pitchFamily="34" charset="-122"/>
                <a:cs typeface="+mn-ea"/>
                <a:sym typeface="+mn-lt"/>
              </a:rPr>
              <a:t>卓越运营</a:t>
            </a:r>
          </a:p>
        </p:txBody>
      </p:sp>
      <p:cxnSp>
        <p:nvCxnSpPr>
          <p:cNvPr id="64" name="形状 63"/>
          <p:cNvCxnSpPr>
            <a:stCxn id="28" idx="1"/>
            <a:endCxn id="68" idx="6"/>
          </p:cNvCxnSpPr>
          <p:nvPr/>
        </p:nvCxnSpPr>
        <p:spPr>
          <a:xfrm rot="10800000" flipH="1">
            <a:off x="3795713" y="1716275"/>
            <a:ext cx="236696" cy="926306"/>
          </a:xfrm>
          <a:prstGeom prst="curvedConnector3">
            <a:avLst>
              <a:gd name="adj1" fmla="val -7545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6" name="曲线连接符 65"/>
          <p:cNvCxnSpPr/>
          <p:nvPr/>
        </p:nvCxnSpPr>
        <p:spPr>
          <a:xfrm rot="16200000" flipH="1">
            <a:off x="4156628" y="297078"/>
            <a:ext cx="3054" cy="2346722"/>
          </a:xfrm>
          <a:prstGeom prst="curvedConnector3">
            <a:avLst>
              <a:gd name="adj1" fmla="val 4288188"/>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68" name="十二角星 67"/>
          <p:cNvSpPr/>
          <p:nvPr/>
        </p:nvSpPr>
        <p:spPr>
          <a:xfrm>
            <a:off x="4018052" y="1547049"/>
            <a:ext cx="214313" cy="225029"/>
          </a:xfrm>
          <a:prstGeom prst="star1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 b="1" dirty="0">
                <a:solidFill>
                  <a:srgbClr val="FFFFFF"/>
                </a:solidFill>
                <a:latin typeface="微软雅黑" panose="020B0503020204020204" pitchFamily="34" charset="-122"/>
                <a:ea typeface="微软雅黑" panose="020B0503020204020204" pitchFamily="34" charset="-122"/>
                <a:cs typeface="+mn-ea"/>
                <a:sym typeface="+mn-lt"/>
              </a:rPr>
              <a:t>1</a:t>
            </a:r>
          </a:p>
        </p:txBody>
      </p:sp>
      <p:cxnSp>
        <p:nvCxnSpPr>
          <p:cNvPr id="70" name="形状 69"/>
          <p:cNvCxnSpPr>
            <a:stCxn id="29" idx="1"/>
          </p:cNvCxnSpPr>
          <p:nvPr/>
        </p:nvCxnSpPr>
        <p:spPr>
          <a:xfrm rot="10800000" flipV="1">
            <a:off x="2842022" y="3138953"/>
            <a:ext cx="161276" cy="508039"/>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2" name="曲线连接符 71"/>
          <p:cNvCxnSpPr>
            <a:stCxn id="42" idx="3"/>
            <a:endCxn id="43" idx="3"/>
          </p:cNvCxnSpPr>
          <p:nvPr/>
        </p:nvCxnSpPr>
        <p:spPr>
          <a:xfrm>
            <a:off x="2652713" y="3331715"/>
            <a:ext cx="2381" cy="653891"/>
          </a:xfrm>
          <a:prstGeom prst="curvedConnector3">
            <a:avLst>
              <a:gd name="adj1" fmla="val 7500000"/>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74" name="十二角星 73"/>
          <p:cNvSpPr/>
          <p:nvPr/>
        </p:nvSpPr>
        <p:spPr>
          <a:xfrm>
            <a:off x="2709862" y="3515069"/>
            <a:ext cx="214313" cy="225029"/>
          </a:xfrm>
          <a:prstGeom prst="star1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 b="1" dirty="0">
                <a:solidFill>
                  <a:srgbClr val="FFFFFF"/>
                </a:solidFill>
                <a:latin typeface="微软雅黑" panose="020B0503020204020204" pitchFamily="34" charset="-122"/>
                <a:ea typeface="微软雅黑" panose="020B0503020204020204" pitchFamily="34" charset="-122"/>
                <a:cs typeface="+mn-ea"/>
                <a:sym typeface="+mn-lt"/>
              </a:rPr>
              <a:t>2</a:t>
            </a:r>
          </a:p>
        </p:txBody>
      </p:sp>
      <p:cxnSp>
        <p:nvCxnSpPr>
          <p:cNvPr id="76" name="曲线连接符 75"/>
          <p:cNvCxnSpPr>
            <a:stCxn id="31" idx="1"/>
          </p:cNvCxnSpPr>
          <p:nvPr/>
        </p:nvCxnSpPr>
        <p:spPr>
          <a:xfrm rot="10800000" flipV="1">
            <a:off x="2820592" y="3729275"/>
            <a:ext cx="974924" cy="989279"/>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8" name="曲线连接符 77"/>
          <p:cNvCxnSpPr>
            <a:stCxn id="45" idx="3"/>
            <a:endCxn id="47" idx="3"/>
          </p:cNvCxnSpPr>
          <p:nvPr/>
        </p:nvCxnSpPr>
        <p:spPr>
          <a:xfrm>
            <a:off x="2659856" y="4424709"/>
            <a:ext cx="2381" cy="625316"/>
          </a:xfrm>
          <a:prstGeom prst="curvedConnector3">
            <a:avLst>
              <a:gd name="adj1" fmla="val 7500000"/>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80" name="十二角星 79"/>
          <p:cNvSpPr/>
          <p:nvPr/>
        </p:nvSpPr>
        <p:spPr>
          <a:xfrm>
            <a:off x="2706290" y="4615207"/>
            <a:ext cx="214313" cy="225029"/>
          </a:xfrm>
          <a:prstGeom prst="star1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 b="1" dirty="0">
                <a:solidFill>
                  <a:srgbClr val="FFFFFF"/>
                </a:solidFill>
                <a:latin typeface="微软雅黑" panose="020B0503020204020204" pitchFamily="34" charset="-122"/>
                <a:ea typeface="微软雅黑" panose="020B0503020204020204" pitchFamily="34" charset="-122"/>
                <a:cs typeface="+mn-ea"/>
                <a:sym typeface="+mn-lt"/>
              </a:rPr>
              <a:t>3</a:t>
            </a:r>
          </a:p>
        </p:txBody>
      </p:sp>
      <p:cxnSp>
        <p:nvCxnSpPr>
          <p:cNvPr id="82" name="曲线连接符 81"/>
          <p:cNvCxnSpPr>
            <a:stCxn id="30" idx="2"/>
          </p:cNvCxnSpPr>
          <p:nvPr/>
        </p:nvCxnSpPr>
        <p:spPr>
          <a:xfrm rot="16200000" flipH="1">
            <a:off x="4760662" y="3647535"/>
            <a:ext cx="1238893" cy="495954"/>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4" name="曲线连接符 83"/>
          <p:cNvCxnSpPr>
            <a:stCxn id="48" idx="0"/>
            <a:endCxn id="53" idx="0"/>
          </p:cNvCxnSpPr>
          <p:nvPr/>
        </p:nvCxnSpPr>
        <p:spPr>
          <a:xfrm rot="16200000">
            <a:off x="5624751" y="2719496"/>
            <a:ext cx="2381" cy="3936206"/>
          </a:xfrm>
          <a:prstGeom prst="curvedConnector3">
            <a:avLst>
              <a:gd name="adj1" fmla="val 7560000"/>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87" name="十二角星 86"/>
          <p:cNvSpPr/>
          <p:nvPr/>
        </p:nvSpPr>
        <p:spPr>
          <a:xfrm>
            <a:off x="5531642" y="4418754"/>
            <a:ext cx="214313" cy="225029"/>
          </a:xfrm>
          <a:prstGeom prst="star1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 b="1" dirty="0">
                <a:solidFill>
                  <a:srgbClr val="FFFFFF"/>
                </a:solidFill>
                <a:latin typeface="微软雅黑" panose="020B0503020204020204" pitchFamily="34" charset="-122"/>
                <a:ea typeface="微软雅黑" panose="020B0503020204020204" pitchFamily="34" charset="-122"/>
                <a:cs typeface="+mn-ea"/>
                <a:sym typeface="+mn-lt"/>
              </a:rPr>
              <a:t>4</a:t>
            </a:r>
          </a:p>
        </p:txBody>
      </p:sp>
      <p:cxnSp>
        <p:nvCxnSpPr>
          <p:cNvPr id="88" name="形状 87"/>
          <p:cNvCxnSpPr/>
          <p:nvPr/>
        </p:nvCxnSpPr>
        <p:spPr>
          <a:xfrm rot="5400000" flipH="1" flipV="1">
            <a:off x="6446374" y="1978638"/>
            <a:ext cx="1306451" cy="657425"/>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5" name="曲线连接符 94"/>
          <p:cNvCxnSpPr>
            <a:stCxn id="54" idx="2"/>
            <a:endCxn id="55" idx="2"/>
          </p:cNvCxnSpPr>
          <p:nvPr/>
        </p:nvCxnSpPr>
        <p:spPr>
          <a:xfrm rot="5400000" flipV="1">
            <a:off x="7464981" y="373013"/>
            <a:ext cx="2381" cy="2105501"/>
          </a:xfrm>
          <a:prstGeom prst="curvedConnector3">
            <a:avLst>
              <a:gd name="adj1" fmla="val 7540000"/>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97" name="十二角星 96"/>
          <p:cNvSpPr/>
          <p:nvPr/>
        </p:nvSpPr>
        <p:spPr>
          <a:xfrm>
            <a:off x="7306865" y="1543395"/>
            <a:ext cx="214313" cy="225029"/>
          </a:xfrm>
          <a:prstGeom prst="star1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 b="1" dirty="0">
                <a:solidFill>
                  <a:srgbClr val="FFFFFF"/>
                </a:solidFill>
                <a:latin typeface="微软雅黑" panose="020B0503020204020204" pitchFamily="34" charset="-122"/>
                <a:ea typeface="微软雅黑" panose="020B0503020204020204" pitchFamily="34" charset="-122"/>
                <a:cs typeface="+mn-ea"/>
                <a:sym typeface="+mn-lt"/>
              </a:rPr>
              <a:t>5</a:t>
            </a:r>
          </a:p>
        </p:txBody>
      </p:sp>
      <p:cxnSp>
        <p:nvCxnSpPr>
          <p:cNvPr id="99" name="曲线连接符 98"/>
          <p:cNvCxnSpPr>
            <a:stCxn id="59" idx="1"/>
            <a:endCxn id="58" idx="1"/>
          </p:cNvCxnSpPr>
          <p:nvPr/>
        </p:nvCxnSpPr>
        <p:spPr>
          <a:xfrm rot="10800000" flipH="1" flipV="1">
            <a:off x="9360694" y="1485294"/>
            <a:ext cx="10478" cy="678656"/>
          </a:xfrm>
          <a:prstGeom prst="curvedConnector3">
            <a:avLst>
              <a:gd name="adj1" fmla="val -1704545"/>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06" name="形状 105"/>
          <p:cNvCxnSpPr>
            <a:stCxn id="15" idx="0"/>
            <a:endCxn id="12" idx="3"/>
          </p:cNvCxnSpPr>
          <p:nvPr/>
        </p:nvCxnSpPr>
        <p:spPr>
          <a:xfrm rot="16200000">
            <a:off x="8989060" y="1356111"/>
            <a:ext cx="1212215" cy="2186305"/>
          </a:xfrm>
          <a:prstGeom prst="curvedConnector4">
            <a:avLst>
              <a:gd name="adj1" fmla="val 42221"/>
              <a:gd name="adj2" fmla="val 110892"/>
            </a:avLst>
          </a:prstGeom>
          <a:ln>
            <a:tailEnd type="arrow"/>
          </a:ln>
        </p:spPr>
        <p:style>
          <a:lnRef idx="1">
            <a:schemeClr val="accent1"/>
          </a:lnRef>
          <a:fillRef idx="0">
            <a:schemeClr val="accent1"/>
          </a:fillRef>
          <a:effectRef idx="0">
            <a:schemeClr val="accent1"/>
          </a:effectRef>
          <a:fontRef idx="minor">
            <a:schemeClr val="tx1"/>
          </a:fontRef>
        </p:style>
      </p:cxnSp>
      <p:sp>
        <p:nvSpPr>
          <p:cNvPr id="109" name="十二角星 108"/>
          <p:cNvSpPr/>
          <p:nvPr/>
        </p:nvSpPr>
        <p:spPr>
          <a:xfrm>
            <a:off x="9039224" y="1721989"/>
            <a:ext cx="214313" cy="225029"/>
          </a:xfrm>
          <a:prstGeom prst="star1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 b="1" dirty="0">
                <a:solidFill>
                  <a:srgbClr val="FFFFFF"/>
                </a:solidFill>
                <a:latin typeface="微软雅黑" panose="020B0503020204020204" pitchFamily="34" charset="-122"/>
                <a:ea typeface="微软雅黑" panose="020B0503020204020204" pitchFamily="34" charset="-122"/>
                <a:cs typeface="+mn-ea"/>
                <a:sym typeface="+mn-lt"/>
              </a:rPr>
              <a:t>6</a:t>
            </a:r>
          </a:p>
        </p:txBody>
      </p:sp>
      <p:cxnSp>
        <p:nvCxnSpPr>
          <p:cNvPr id="111" name="曲线连接符 110"/>
          <p:cNvCxnSpPr>
            <a:stCxn id="60" idx="1"/>
            <a:endCxn id="62" idx="1"/>
          </p:cNvCxnSpPr>
          <p:nvPr/>
        </p:nvCxnSpPr>
        <p:spPr>
          <a:xfrm rot="10800000" flipV="1">
            <a:off x="9371171" y="3860353"/>
            <a:ext cx="2381" cy="753904"/>
          </a:xfrm>
          <a:prstGeom prst="curvedConnector3">
            <a:avLst>
              <a:gd name="adj1" fmla="val 7600000"/>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13" name="曲线连接符 112"/>
          <p:cNvCxnSpPr>
            <a:endCxn id="27" idx="3"/>
          </p:cNvCxnSpPr>
          <p:nvPr/>
        </p:nvCxnSpPr>
        <p:spPr>
          <a:xfrm>
            <a:off x="9809719" y="3721526"/>
            <a:ext cx="867965" cy="600507"/>
          </a:xfrm>
          <a:prstGeom prst="curvedConnector3">
            <a:avLst>
              <a:gd name="adj1" fmla="val 119753"/>
            </a:avLst>
          </a:prstGeom>
          <a:ln>
            <a:tailEnd type="arrow"/>
          </a:ln>
        </p:spPr>
        <p:style>
          <a:lnRef idx="1">
            <a:schemeClr val="accent1"/>
          </a:lnRef>
          <a:fillRef idx="0">
            <a:schemeClr val="accent1"/>
          </a:fillRef>
          <a:effectRef idx="0">
            <a:schemeClr val="accent1"/>
          </a:effectRef>
          <a:fontRef idx="minor">
            <a:schemeClr val="tx1"/>
          </a:fontRef>
        </p:style>
      </p:cxnSp>
      <p:sp>
        <p:nvSpPr>
          <p:cNvPr id="115" name="十二角星 114"/>
          <p:cNvSpPr/>
          <p:nvPr/>
        </p:nvSpPr>
        <p:spPr>
          <a:xfrm>
            <a:off x="9046368" y="4193726"/>
            <a:ext cx="214313" cy="225029"/>
          </a:xfrm>
          <a:prstGeom prst="star1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 b="1" dirty="0">
                <a:solidFill>
                  <a:srgbClr val="FFFFFF"/>
                </a:solidFill>
                <a:latin typeface="微软雅黑" panose="020B0503020204020204" pitchFamily="34" charset="-122"/>
                <a:ea typeface="微软雅黑" panose="020B0503020204020204" pitchFamily="34" charset="-122"/>
                <a:cs typeface="+mn-ea"/>
                <a:sym typeface="+mn-lt"/>
              </a:rPr>
              <a:t>7</a:t>
            </a:r>
          </a:p>
        </p:txBody>
      </p:sp>
      <p:sp>
        <p:nvSpPr>
          <p:cNvPr id="117" name="矩形 116"/>
          <p:cNvSpPr/>
          <p:nvPr/>
        </p:nvSpPr>
        <p:spPr>
          <a:xfrm>
            <a:off x="8021034" y="4748704"/>
            <a:ext cx="875316"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en-US" altLang="zh-CN" sz="900" b="1"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5</a:t>
            </a:r>
            <a:r>
              <a:rPr lang="zh-CN" altLang="en-US" sz="900" b="1"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年财务预测</a:t>
            </a:r>
          </a:p>
        </p:txBody>
      </p:sp>
      <p:sp>
        <p:nvSpPr>
          <p:cNvPr id="85" name="矩形 84"/>
          <p:cNvSpPr/>
          <p:nvPr/>
        </p:nvSpPr>
        <p:spPr>
          <a:xfrm>
            <a:off x="4970654" y="1197741"/>
            <a:ext cx="721724" cy="274225"/>
          </a:xfrm>
          <a:prstGeom prst="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7" tIns="45718" rIns="91437" bIns="45718" anchor="ctr"/>
          <a:lstStyle/>
          <a:p>
            <a:pPr algn="ctr" defTabSz="1218565">
              <a:defRPr/>
            </a:pPr>
            <a:r>
              <a:rPr lang="zh-CN" altLang="en-US" sz="900" b="1" dirty="0">
                <a:solidFill>
                  <a:srgbClr val="C00000"/>
                </a:solidFill>
                <a:latin typeface="微软雅黑" panose="020B0503020204020204" pitchFamily="34" charset="-122"/>
                <a:ea typeface="微软雅黑" panose="020B0503020204020204" pitchFamily="34" charset="-122"/>
                <a:cs typeface="+mn-ea"/>
                <a:sym typeface="+mn-lt"/>
              </a:rPr>
              <a:t>环境分析</a:t>
            </a:r>
          </a:p>
        </p:txBody>
      </p:sp>
      <p:sp>
        <p:nvSpPr>
          <p:cNvPr id="2" name="标题 1"/>
          <p:cNvSpPr txBox="1"/>
          <p:nvPr/>
        </p:nvSpPr>
        <p:spPr>
          <a:xfrm>
            <a:off x="589654" y="305171"/>
            <a:ext cx="8581272" cy="667059"/>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en-US" altLang="zh-CN" sz="2000" dirty="0">
                <a:solidFill>
                  <a:srgbClr val="0070C0"/>
                </a:solidFill>
                <a:latin typeface="微软雅黑" panose="020B0503020204020204" pitchFamily="34" charset="-122"/>
                <a:ea typeface="微软雅黑" panose="020B0503020204020204" pitchFamily="34" charset="-122"/>
                <a:cs typeface="+mn-ea"/>
                <a:sym typeface="+mn-lt"/>
              </a:rPr>
              <a:t>【DSTE】</a:t>
            </a:r>
            <a:r>
              <a:rPr lang="zh-CN" altLang="en-US" sz="2000" dirty="0">
                <a:solidFill>
                  <a:srgbClr val="0070C0"/>
                </a:solidFill>
                <a:latin typeface="微软雅黑" panose="020B0503020204020204" pitchFamily="34" charset="-122"/>
                <a:ea typeface="微软雅黑" panose="020B0503020204020204" pitchFamily="34" charset="-122"/>
                <a:cs typeface="+mn-ea"/>
                <a:sym typeface="+mn-lt"/>
              </a:rPr>
              <a:t>战略到执行：方向大致正确（</a:t>
            </a:r>
            <a:r>
              <a:rPr lang="en-US" altLang="zh-CN" sz="2000" dirty="0">
                <a:solidFill>
                  <a:srgbClr val="0070C0"/>
                </a:solidFill>
                <a:latin typeface="微软雅黑" panose="020B0503020204020204" pitchFamily="34" charset="-122"/>
                <a:ea typeface="微软雅黑" panose="020B0503020204020204" pitchFamily="34" charset="-122"/>
                <a:cs typeface="+mn-ea"/>
                <a:sym typeface="+mn-lt"/>
              </a:rPr>
              <a:t>BLM</a:t>
            </a:r>
            <a:r>
              <a:rPr lang="zh-CN" altLang="en-US" sz="2000" dirty="0">
                <a:solidFill>
                  <a:srgbClr val="0070C0"/>
                </a:solidFill>
                <a:latin typeface="微软雅黑" panose="020B0503020204020204" pitchFamily="34" charset="-122"/>
                <a:ea typeface="微软雅黑" panose="020B0503020204020204" pitchFamily="34" charset="-122"/>
                <a:cs typeface="+mn-ea"/>
                <a:sym typeface="+mn-lt"/>
              </a:rPr>
              <a:t>）</a:t>
            </a:r>
            <a:r>
              <a:rPr lang="en-US" altLang="zh-CN" sz="2000"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sz="2000" dirty="0">
                <a:solidFill>
                  <a:srgbClr val="0070C0"/>
                </a:solidFill>
                <a:latin typeface="微软雅黑" panose="020B0503020204020204" pitchFamily="34" charset="-122"/>
                <a:ea typeface="微软雅黑" panose="020B0503020204020204" pitchFamily="34" charset="-122"/>
                <a:cs typeface="+mn-ea"/>
                <a:sym typeface="+mn-lt"/>
              </a:rPr>
              <a:t>组织充满活力（绩效管理）</a:t>
            </a:r>
            <a:endParaRPr lang="en-US" altLang="zh-CN" sz="2000" dirty="0">
              <a:solidFill>
                <a:srgbClr val="0070C0"/>
              </a:solidFill>
              <a:latin typeface="微软雅黑" panose="020B0503020204020204" pitchFamily="34" charset="-122"/>
              <a:ea typeface="微软雅黑" panose="020B0503020204020204" pitchFamily="34" charset="-122"/>
              <a:cs typeface="+mn-ea"/>
              <a:sym typeface="+mn-lt"/>
            </a:endParaRPr>
          </a:p>
          <a:p>
            <a:pPr algn="l"/>
            <a:r>
              <a:rPr lang="en-US" altLang="zh-CN" sz="2000" b="0"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sz="2000" b="0" dirty="0">
                <a:solidFill>
                  <a:srgbClr val="0070C0"/>
                </a:solidFill>
                <a:latin typeface="微软雅黑" panose="020B0503020204020204" pitchFamily="34" charset="-122"/>
                <a:ea typeface="微软雅黑" panose="020B0503020204020204" pitchFamily="34" charset="-122"/>
                <a:cs typeface="+mn-ea"/>
                <a:sym typeface="+mn-lt"/>
              </a:rPr>
              <a:t>领导力</a:t>
            </a:r>
            <a:r>
              <a:rPr lang="en-US" altLang="zh-CN" sz="2000" b="0"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sz="2000" b="0" dirty="0">
                <a:solidFill>
                  <a:srgbClr val="0070C0"/>
                </a:solidFill>
                <a:latin typeface="微软雅黑" panose="020B0503020204020204" pitchFamily="34" charset="-122"/>
                <a:ea typeface="微软雅黑" panose="020B0503020204020204" pitchFamily="34" charset="-122"/>
                <a:cs typeface="+mn-ea"/>
                <a:sym typeface="+mn-lt"/>
              </a:rPr>
              <a:t>眼界决定境界</a:t>
            </a:r>
            <a:r>
              <a:rPr lang="en-US" altLang="zh-CN" sz="2000" b="0"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sz="2000" b="0" dirty="0">
                <a:solidFill>
                  <a:srgbClr val="0070C0"/>
                </a:solidFill>
                <a:latin typeface="微软雅黑" panose="020B0503020204020204" pitchFamily="34" charset="-122"/>
                <a:ea typeface="微软雅黑" panose="020B0503020204020204" pitchFamily="34" charset="-122"/>
                <a:cs typeface="+mn-ea"/>
                <a:sym typeface="+mn-lt"/>
              </a:rPr>
              <a:t>定位决定地位</a:t>
            </a:r>
            <a:r>
              <a:rPr lang="en-US" altLang="zh-CN" sz="2000" b="0"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sz="2000" b="0" dirty="0">
                <a:solidFill>
                  <a:srgbClr val="0070C0"/>
                </a:solidFill>
                <a:latin typeface="微软雅黑" panose="020B0503020204020204" pitchFamily="34" charset="-122"/>
                <a:ea typeface="微软雅黑" panose="020B0503020204020204" pitchFamily="34" charset="-122"/>
                <a:cs typeface="+mn-ea"/>
                <a:sym typeface="+mn-lt"/>
              </a:rPr>
              <a:t>思路决定出路；看见</a:t>
            </a:r>
            <a:r>
              <a:rPr lang="en-US" altLang="zh-CN" sz="2000" b="0"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sz="2000" b="0" dirty="0">
                <a:solidFill>
                  <a:srgbClr val="0070C0"/>
                </a:solidFill>
                <a:latin typeface="微软雅黑" panose="020B0503020204020204" pitchFamily="34" charset="-122"/>
                <a:ea typeface="微软雅黑" panose="020B0503020204020204" pitchFamily="34" charset="-122"/>
                <a:cs typeface="+mn-ea"/>
                <a:sym typeface="+mn-lt"/>
              </a:rPr>
              <a:t>干掉</a:t>
            </a:r>
            <a:r>
              <a:rPr lang="en-US" altLang="zh-CN" sz="2000" b="0"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sz="2000" b="0" dirty="0">
                <a:solidFill>
                  <a:srgbClr val="0070C0"/>
                </a:solidFill>
                <a:latin typeface="微软雅黑" panose="020B0503020204020204" pitchFamily="34" charset="-122"/>
                <a:ea typeface="微软雅黑" panose="020B0503020204020204" pitchFamily="34" charset="-122"/>
                <a:cs typeface="+mn-ea"/>
                <a:sym typeface="+mn-lt"/>
              </a:rPr>
              <a:t>搞定</a:t>
            </a:r>
            <a:endParaRPr lang="en-US" altLang="zh-CN" sz="2000" b="0" dirty="0">
              <a:solidFill>
                <a:srgbClr val="0070C0"/>
              </a:solidFill>
              <a:latin typeface="微软雅黑" panose="020B0503020204020204" pitchFamily="34" charset="-122"/>
              <a:ea typeface="微软雅黑" panose="020B0503020204020204" pitchFamily="34" charset="-122"/>
              <a:cs typeface="+mn-ea"/>
              <a:sym typeface="+mn-lt"/>
            </a:endParaRPr>
          </a:p>
        </p:txBody>
      </p:sp>
      <p:sp>
        <p:nvSpPr>
          <p:cNvPr id="89" name="Rectangle 3"/>
          <p:cNvSpPr txBox="1">
            <a:spLocks noChangeArrowheads="1"/>
          </p:cNvSpPr>
          <p:nvPr/>
        </p:nvSpPr>
        <p:spPr>
          <a:xfrm>
            <a:off x="1850673" y="5432866"/>
            <a:ext cx="9125496" cy="131267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70000"/>
              </a:lnSpc>
              <a:spcAft>
                <a:spcPts val="0"/>
              </a:spcAft>
              <a:buFont typeface="Wingdings" panose="05000000000000000000" pitchFamily="2" charset="2"/>
              <a:buChar char="u"/>
            </a:pPr>
            <a:r>
              <a:rPr lang="zh-CN" altLang="en-US" sz="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战略决定未来：对</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未来</a:t>
            </a:r>
            <a:r>
              <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5-10</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年</a:t>
            </a:r>
            <a:r>
              <a:rPr lang="zh-CN" altLang="en-US" sz="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的行业、客户、对手、环境、自己深度洞察：</a:t>
            </a:r>
            <a:r>
              <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80%→95%</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，几年后将天壤之别！</a:t>
            </a:r>
            <a:endPar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70000"/>
              </a:lnSpc>
              <a:spcAft>
                <a:spcPts val="0"/>
              </a:spcAft>
              <a:buFont typeface="Wingdings" panose="05000000000000000000" pitchFamily="2" charset="2"/>
              <a:buChar char="u"/>
            </a:pPr>
            <a:r>
              <a:rPr lang="zh-CN" altLang="en-US" sz="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战略意图：</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先纵向发展</a:t>
            </a:r>
            <a:r>
              <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后横向扩展，通过创新焦点构筑战略控制点：下一代技术</a:t>
            </a:r>
            <a:endPar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70000"/>
              </a:lnSpc>
              <a:spcAft>
                <a:spcPts val="0"/>
              </a:spcAft>
              <a:buFont typeface="Wingdings" panose="05000000000000000000" pitchFamily="2" charset="2"/>
              <a:buChar char="u"/>
            </a:pPr>
            <a:r>
              <a:rPr lang="zh-CN" altLang="en-US" sz="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关键任务：做过</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数学论证</a:t>
            </a:r>
            <a:r>
              <a:rPr lang="zh-CN" altLang="en-US" sz="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之后分解为子任务，项目化管理，</a:t>
            </a:r>
            <a:r>
              <a:rPr lang="en-US" altLang="zh-CN" sz="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HR/</a:t>
            </a:r>
            <a:r>
              <a:rPr lang="zh-CN" altLang="en-US" sz="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财经</a:t>
            </a:r>
            <a:r>
              <a:rPr lang="en-US" altLang="zh-CN" sz="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质量运营支撑好</a:t>
            </a:r>
            <a:endParaRPr lang="en-US" altLang="zh-CN" sz="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70000"/>
              </a:lnSpc>
              <a:spcAft>
                <a:spcPts val="0"/>
              </a:spcAft>
              <a:buFont typeface="Wingdings" panose="05000000000000000000" pitchFamily="2" charset="2"/>
              <a:buChar char="u"/>
            </a:pPr>
            <a:r>
              <a:rPr lang="zh-CN" altLang="en-US" sz="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组织充满活力：设计好激励机制，</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下一代的事业共同体；做好绩效管理；培训好干部专家</a:t>
            </a:r>
            <a:endPar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70000"/>
              </a:lnSpc>
              <a:spcAft>
                <a:spcPts val="0"/>
              </a:spcAft>
              <a:buFont typeface="Wingdings" panose="05000000000000000000" pitchFamily="2" charset="2"/>
              <a:buChar char="u"/>
            </a:pPr>
            <a:r>
              <a:rPr lang="zh-CN" altLang="en-US" sz="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一把手战略素养</a:t>
            </a:r>
            <a:r>
              <a:rPr lang="en-US" altLang="zh-CN" sz="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洞察力</a:t>
            </a:r>
            <a:r>
              <a:rPr lang="en-US" altLang="zh-CN" sz="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决断力</a:t>
            </a:r>
            <a:r>
              <a:rPr lang="en-US" altLang="zh-CN" sz="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执行力，</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先见、先决、先行，除了</a:t>
            </a:r>
            <a:r>
              <a:rPr lang="en-US" altLang="zh-CN"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No1</a:t>
            </a: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无路可走，成为行业领导者！</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1" name="组合 10"/>
          <p:cNvGrpSpPr/>
          <p:nvPr/>
        </p:nvGrpSpPr>
        <p:grpSpPr>
          <a:xfrm>
            <a:off x="564515" y="1256030"/>
            <a:ext cx="10949940" cy="5121275"/>
            <a:chOff x="2809" y="2678"/>
            <a:chExt cx="13594" cy="6414"/>
          </a:xfrm>
        </p:grpSpPr>
        <p:grpSp>
          <p:nvGrpSpPr>
            <p:cNvPr id="2" name="组合 534"/>
            <p:cNvGrpSpPr/>
            <p:nvPr/>
          </p:nvGrpSpPr>
          <p:grpSpPr>
            <a:xfrm>
              <a:off x="2886" y="2678"/>
              <a:ext cx="13196" cy="6414"/>
              <a:chOff x="476" y="1245"/>
              <a:chExt cx="14096" cy="9098"/>
            </a:xfrm>
          </p:grpSpPr>
          <p:sp>
            <p:nvSpPr>
              <p:cNvPr id="536" name="流程图: 可选过程 43"/>
              <p:cNvSpPr/>
              <p:nvPr/>
            </p:nvSpPr>
            <p:spPr>
              <a:xfrm>
                <a:off x="2337" y="6825"/>
                <a:ext cx="12093" cy="3195"/>
              </a:xfrm>
              <a:prstGeom prst="flowChartAlternateProcess">
                <a:avLst/>
              </a:prstGeom>
              <a:gradFill>
                <a:gsLst>
                  <a:gs pos="0">
                    <a:srgbClr val="ED7D31">
                      <a:lumMod val="20000"/>
                      <a:lumOff val="80000"/>
                    </a:srgbClr>
                  </a:gs>
                  <a:gs pos="100000">
                    <a:srgbClr val="ED7D31">
                      <a:lumMod val="40000"/>
                      <a:lumOff val="60000"/>
                    </a:srgbClr>
                  </a:gs>
                </a:gsLst>
                <a:lin ang="5400000" scaled="0"/>
              </a:gra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537" name="流程图: 可选过程 46"/>
              <p:cNvSpPr/>
              <p:nvPr/>
            </p:nvSpPr>
            <p:spPr>
              <a:xfrm>
                <a:off x="4492" y="9222"/>
                <a:ext cx="9500" cy="798"/>
              </a:xfrm>
              <a:prstGeom prst="flowChartAlternateProcess">
                <a:avLst/>
              </a:prstGeom>
              <a:gradFill>
                <a:gsLst>
                  <a:gs pos="0">
                    <a:sysClr val="window" lastClr="FFFFFF">
                      <a:lumMod val="85000"/>
                    </a:sysClr>
                  </a:gs>
                  <a:gs pos="100000">
                    <a:sysClr val="window" lastClr="FFFFFF">
                      <a:lumMod val="75000"/>
                    </a:sysClr>
                  </a:gs>
                </a:gsLst>
                <a:lin ang="5400000" scaled="0"/>
              </a:gradFill>
              <a:ln w="28575"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538" name="五边形 537"/>
              <p:cNvSpPr/>
              <p:nvPr/>
            </p:nvSpPr>
            <p:spPr>
              <a:xfrm>
                <a:off x="1874" y="2241"/>
                <a:ext cx="9081" cy="1644"/>
              </a:xfrm>
              <a:prstGeom prst="homePlate">
                <a:avLst/>
              </a:prstGeom>
              <a:gradFill>
                <a:gsLst>
                  <a:gs pos="0">
                    <a:srgbClr val="5B9BD5">
                      <a:lumMod val="20000"/>
                      <a:lumOff val="80000"/>
                    </a:srgbClr>
                  </a:gs>
                  <a:gs pos="100000">
                    <a:srgbClr val="5B9BD5">
                      <a:lumMod val="40000"/>
                      <a:lumOff val="60000"/>
                    </a:srgbClr>
                  </a:gs>
                </a:gsLst>
                <a:lin ang="5400000" scaled="0"/>
              </a:gra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539" name="五边形 538"/>
              <p:cNvSpPr/>
              <p:nvPr/>
            </p:nvSpPr>
            <p:spPr>
              <a:xfrm>
                <a:off x="7109" y="4278"/>
                <a:ext cx="7462" cy="2195"/>
              </a:xfrm>
              <a:prstGeom prst="homePlate">
                <a:avLst/>
              </a:prstGeom>
              <a:gradFill>
                <a:gsLst>
                  <a:gs pos="0">
                    <a:srgbClr val="70AD47">
                      <a:lumMod val="20000"/>
                      <a:lumOff val="80000"/>
                    </a:srgbClr>
                  </a:gs>
                  <a:gs pos="100000">
                    <a:srgbClr val="70AD47">
                      <a:lumMod val="40000"/>
                      <a:lumOff val="60000"/>
                    </a:srgbClr>
                  </a:gs>
                </a:gsLst>
                <a:lin ang="5400000" scaled="0"/>
              </a:gra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540" name="五边形 539"/>
              <p:cNvSpPr/>
              <p:nvPr/>
            </p:nvSpPr>
            <p:spPr>
              <a:xfrm>
                <a:off x="1057" y="1296"/>
                <a:ext cx="13265" cy="300"/>
              </a:xfrm>
              <a:prstGeom prst="homePlate">
                <a:avLst/>
              </a:prstGeom>
              <a:solidFill>
                <a:sysClr val="windowText" lastClr="000000">
                  <a:lumMod val="50000"/>
                  <a:lumOff val="50000"/>
                </a:sysClr>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530" b="1" i="0" u="none" strike="noStrike" kern="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541" name="文本框 4"/>
              <p:cNvSpPr txBox="1"/>
              <p:nvPr/>
            </p:nvSpPr>
            <p:spPr>
              <a:xfrm>
                <a:off x="1053" y="1245"/>
                <a:ext cx="12834" cy="377"/>
              </a:xfrm>
              <a:prstGeom prst="rect">
                <a:avLst/>
              </a:prstGeom>
              <a:noFill/>
              <a:ln w="9525">
                <a:noFill/>
              </a:ln>
            </p:spPr>
            <p:txBody>
              <a:bodyPr>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790" b="1" i="0" u="none" strike="noStrike" kern="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April                           July                        Aug                     Sep                           Oct                           Nov                         Dec                             Jan                          Mar</a:t>
                </a:r>
              </a:p>
            </p:txBody>
          </p:sp>
          <p:sp>
            <p:nvSpPr>
              <p:cNvPr id="542" name="流程图: 多文档 5"/>
              <p:cNvSpPr/>
              <p:nvPr/>
            </p:nvSpPr>
            <p:spPr>
              <a:xfrm>
                <a:off x="942" y="2380"/>
                <a:ext cx="933" cy="653"/>
              </a:xfrm>
              <a:prstGeom prst="flowChartMultidocument">
                <a:avLst/>
              </a:prstGeom>
              <a:solidFill>
                <a:srgbClr val="0070C0"/>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市场洞察</a:t>
                </a:r>
              </a:p>
            </p:txBody>
          </p:sp>
          <p:sp>
            <p:nvSpPr>
              <p:cNvPr id="543" name="矩形 542"/>
              <p:cNvSpPr/>
              <p:nvPr/>
            </p:nvSpPr>
            <p:spPr>
              <a:xfrm>
                <a:off x="1990" y="2376"/>
                <a:ext cx="940" cy="576"/>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确定战略指引</a:t>
                </a:r>
              </a:p>
            </p:txBody>
          </p:sp>
          <p:sp>
            <p:nvSpPr>
              <p:cNvPr id="544" name="矩形 543"/>
              <p:cNvSpPr/>
              <p:nvPr/>
            </p:nvSpPr>
            <p:spPr>
              <a:xfrm>
                <a:off x="1987" y="3160"/>
                <a:ext cx="1359" cy="562"/>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战略规划（</a:t>
                </a:r>
                <a:r>
                  <a:rPr kumimoji="0" lang="en-US" altLang="zh-CN"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BLM</a:t>
                </a: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模型）</a:t>
                </a:r>
              </a:p>
            </p:txBody>
          </p:sp>
          <p:sp>
            <p:nvSpPr>
              <p:cNvPr id="545" name="矩形 544"/>
              <p:cNvSpPr/>
              <p:nvPr/>
            </p:nvSpPr>
            <p:spPr>
              <a:xfrm>
                <a:off x="5012" y="3160"/>
                <a:ext cx="802" cy="562"/>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战略规划批准</a:t>
                </a:r>
              </a:p>
            </p:txBody>
          </p:sp>
          <p:sp>
            <p:nvSpPr>
              <p:cNvPr id="546" name="矩形 545"/>
              <p:cNvSpPr/>
              <p:nvPr/>
            </p:nvSpPr>
            <p:spPr>
              <a:xfrm>
                <a:off x="6181" y="3160"/>
                <a:ext cx="1280" cy="562"/>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确定战略衡量指标</a:t>
                </a:r>
              </a:p>
            </p:txBody>
          </p:sp>
          <p:sp>
            <p:nvSpPr>
              <p:cNvPr id="547" name="矩形 546"/>
              <p:cNvSpPr/>
              <p:nvPr/>
            </p:nvSpPr>
            <p:spPr>
              <a:xfrm>
                <a:off x="7695" y="3160"/>
                <a:ext cx="1157" cy="576"/>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制定与签署战略归档件</a:t>
                </a:r>
              </a:p>
            </p:txBody>
          </p:sp>
          <p:sp>
            <p:nvSpPr>
              <p:cNvPr id="548" name="矩形 547"/>
              <p:cNvSpPr/>
              <p:nvPr/>
            </p:nvSpPr>
            <p:spPr>
              <a:xfrm>
                <a:off x="6292" y="2376"/>
                <a:ext cx="2357" cy="334"/>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战略宣讲与沟通</a:t>
                </a:r>
              </a:p>
            </p:txBody>
          </p:sp>
          <p:sp>
            <p:nvSpPr>
              <p:cNvPr id="549" name="矩形 548"/>
              <p:cNvSpPr/>
              <p:nvPr/>
            </p:nvSpPr>
            <p:spPr>
              <a:xfrm>
                <a:off x="7195" y="5066"/>
                <a:ext cx="845" cy="576"/>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79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SP</a:t>
                </a:r>
                <a:r>
                  <a:rPr kumimoji="0" lang="zh-CN" altLang="en-US" sz="79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向</a:t>
                </a:r>
                <a:r>
                  <a:rPr kumimoji="0" lang="en-US" altLang="zh-CN" sz="79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BP</a:t>
                </a:r>
                <a:r>
                  <a:rPr kumimoji="0" lang="zh-CN" altLang="en-US" sz="79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输入</a:t>
                </a:r>
              </a:p>
            </p:txBody>
          </p:sp>
          <p:sp>
            <p:nvSpPr>
              <p:cNvPr id="550" name="矩形 549"/>
              <p:cNvSpPr/>
              <p:nvPr/>
            </p:nvSpPr>
            <p:spPr>
              <a:xfrm>
                <a:off x="9545" y="4729"/>
                <a:ext cx="1735" cy="290"/>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制定</a:t>
                </a:r>
                <a:r>
                  <a:rPr kumimoji="0" lang="en-US" altLang="zh-CN" sz="790" b="0" i="0" u="none" strike="noStrike" kern="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BP</a:t>
                </a:r>
              </a:p>
            </p:txBody>
          </p:sp>
          <p:sp>
            <p:nvSpPr>
              <p:cNvPr id="551" name="矩形 550"/>
              <p:cNvSpPr/>
              <p:nvPr/>
            </p:nvSpPr>
            <p:spPr>
              <a:xfrm>
                <a:off x="9545" y="5103"/>
                <a:ext cx="1732" cy="449"/>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战略解码导出重点工作</a:t>
                </a:r>
              </a:p>
            </p:txBody>
          </p:sp>
          <p:sp>
            <p:nvSpPr>
              <p:cNvPr id="552" name="矩形 551"/>
              <p:cNvSpPr/>
              <p:nvPr/>
            </p:nvSpPr>
            <p:spPr>
              <a:xfrm>
                <a:off x="9545" y="5624"/>
                <a:ext cx="1754" cy="262"/>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制定全面预算</a:t>
                </a:r>
              </a:p>
            </p:txBody>
          </p:sp>
          <p:sp>
            <p:nvSpPr>
              <p:cNvPr id="553" name="矩形 552"/>
              <p:cNvSpPr/>
              <p:nvPr/>
            </p:nvSpPr>
            <p:spPr>
              <a:xfrm>
                <a:off x="9545" y="5983"/>
                <a:ext cx="1754" cy="300"/>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制定人力预算</a:t>
                </a:r>
              </a:p>
            </p:txBody>
          </p:sp>
          <p:sp>
            <p:nvSpPr>
              <p:cNvPr id="554" name="矩形 553"/>
              <p:cNvSpPr/>
              <p:nvPr/>
            </p:nvSpPr>
            <p:spPr>
              <a:xfrm>
                <a:off x="12679" y="4728"/>
                <a:ext cx="947" cy="571"/>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79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BP</a:t>
                </a:r>
                <a:r>
                  <a:rPr kumimoji="0" lang="zh-CN" altLang="en-US" sz="79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与</a:t>
                </a: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述职</a:t>
                </a:r>
              </a:p>
            </p:txBody>
          </p:sp>
          <p:sp>
            <p:nvSpPr>
              <p:cNvPr id="555" name="矩形 554"/>
              <p:cNvSpPr/>
              <p:nvPr/>
            </p:nvSpPr>
            <p:spPr>
              <a:xfrm>
                <a:off x="12695" y="5707"/>
                <a:ext cx="915" cy="592"/>
              </a:xfrm>
              <a:prstGeom prst="rect">
                <a:avLst/>
              </a:prstGeom>
              <a:solidFill>
                <a:srgbClr val="FFFFFF"/>
              </a:solidFill>
              <a:ln w="12700" cap="flat" cmpd="sng" algn="ctr">
                <a:noFill/>
                <a:prstDash val="solid"/>
                <a:miter lim="800000"/>
              </a:ln>
              <a:effectLst/>
            </p:spPr>
            <p:txBody>
              <a:bodyPr lIns="0" tIns="0" rIns="0" bIns="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PBC</a:t>
                </a: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沟通</a:t>
                </a: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与签署</a:t>
                </a:r>
              </a:p>
            </p:txBody>
          </p:sp>
          <p:sp>
            <p:nvSpPr>
              <p:cNvPr id="556" name="矩形 555"/>
              <p:cNvSpPr/>
              <p:nvPr/>
            </p:nvSpPr>
            <p:spPr>
              <a:xfrm>
                <a:off x="2800" y="8807"/>
                <a:ext cx="2090" cy="251"/>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管理</a:t>
                </a:r>
                <a:r>
                  <a:rPr kumimoji="0" lang="en-US" altLang="zh-CN" sz="790" b="0" i="0" u="none" strike="noStrike" kern="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KPI</a:t>
                </a:r>
                <a:r>
                  <a:rPr kumimoji="0" lang="zh-CN" altLang="en-US" sz="790" b="0" i="0" u="none" strike="noStrike" kern="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（含战略目标）</a:t>
                </a:r>
              </a:p>
            </p:txBody>
          </p:sp>
          <p:sp>
            <p:nvSpPr>
              <p:cNvPr id="557" name="矩形 556"/>
              <p:cNvSpPr/>
              <p:nvPr/>
            </p:nvSpPr>
            <p:spPr>
              <a:xfrm>
                <a:off x="2800" y="9146"/>
                <a:ext cx="2090" cy="304"/>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管理运营绩效</a:t>
                </a:r>
              </a:p>
            </p:txBody>
          </p:sp>
          <p:sp>
            <p:nvSpPr>
              <p:cNvPr id="558" name="矩形 557"/>
              <p:cNvSpPr/>
              <p:nvPr/>
            </p:nvSpPr>
            <p:spPr>
              <a:xfrm>
                <a:off x="2800" y="9550"/>
                <a:ext cx="2090" cy="353"/>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管理战略专题</a:t>
                </a:r>
              </a:p>
            </p:txBody>
          </p:sp>
          <p:sp>
            <p:nvSpPr>
              <p:cNvPr id="559" name="矩形 558"/>
              <p:cNvSpPr/>
              <p:nvPr/>
            </p:nvSpPr>
            <p:spPr>
              <a:xfrm>
                <a:off x="6061" y="7751"/>
                <a:ext cx="1628" cy="578"/>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例行审视</a:t>
                </a:r>
                <a:endParaRPr kumimoji="0" lang="en-US" altLang="zh-CN" sz="790" b="0" i="0" u="none" strike="noStrike" kern="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（战略、经营审视）</a:t>
                </a:r>
              </a:p>
            </p:txBody>
          </p:sp>
          <p:sp>
            <p:nvSpPr>
              <p:cNvPr id="560" name="矩形 559"/>
              <p:cNvSpPr/>
              <p:nvPr/>
            </p:nvSpPr>
            <p:spPr>
              <a:xfrm>
                <a:off x="8157" y="7751"/>
                <a:ext cx="1056" cy="578"/>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BP</a:t>
                </a: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与预算</a:t>
                </a: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半年审视</a:t>
                </a:r>
              </a:p>
            </p:txBody>
          </p:sp>
          <p:sp>
            <p:nvSpPr>
              <p:cNvPr id="561" name="矩形 560"/>
              <p:cNvSpPr/>
              <p:nvPr/>
            </p:nvSpPr>
            <p:spPr>
              <a:xfrm>
                <a:off x="11410" y="7738"/>
                <a:ext cx="797" cy="603"/>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跟踪与闭环</a:t>
                </a:r>
              </a:p>
            </p:txBody>
          </p:sp>
          <p:sp>
            <p:nvSpPr>
              <p:cNvPr id="562" name="矩形 561"/>
              <p:cNvSpPr/>
              <p:nvPr/>
            </p:nvSpPr>
            <p:spPr>
              <a:xfrm>
                <a:off x="6993" y="9438"/>
                <a:ext cx="2094" cy="339"/>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高管</a:t>
                </a:r>
                <a:r>
                  <a:rPr kumimoji="0" lang="en-US" altLang="zh-CN"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PBC</a:t>
                </a: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绩效辅导</a:t>
                </a:r>
              </a:p>
            </p:txBody>
          </p:sp>
          <p:sp>
            <p:nvSpPr>
              <p:cNvPr id="563" name="矩形 562"/>
              <p:cNvSpPr/>
              <p:nvPr/>
            </p:nvSpPr>
            <p:spPr>
              <a:xfrm>
                <a:off x="11650" y="9438"/>
                <a:ext cx="2094" cy="339"/>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高管</a:t>
                </a:r>
                <a:r>
                  <a:rPr kumimoji="0" lang="en-US" altLang="zh-CN"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PBC</a:t>
                </a: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绩效评价</a:t>
                </a:r>
              </a:p>
            </p:txBody>
          </p:sp>
          <p:sp>
            <p:nvSpPr>
              <p:cNvPr id="564" name="矩形 563"/>
              <p:cNvSpPr/>
              <p:nvPr/>
            </p:nvSpPr>
            <p:spPr>
              <a:xfrm>
                <a:off x="3617" y="3160"/>
                <a:ext cx="1045" cy="562"/>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战略协同</a:t>
                </a:r>
              </a:p>
            </p:txBody>
          </p:sp>
          <p:sp>
            <p:nvSpPr>
              <p:cNvPr id="565" name="矩形 564"/>
              <p:cNvSpPr/>
              <p:nvPr/>
            </p:nvSpPr>
            <p:spPr>
              <a:xfrm>
                <a:off x="8266" y="5066"/>
                <a:ext cx="947" cy="576"/>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机会点到订货</a:t>
                </a:r>
              </a:p>
            </p:txBody>
          </p:sp>
          <p:sp>
            <p:nvSpPr>
              <p:cNvPr id="566" name="矩形 565"/>
              <p:cNvSpPr/>
              <p:nvPr/>
            </p:nvSpPr>
            <p:spPr>
              <a:xfrm>
                <a:off x="2800" y="7156"/>
                <a:ext cx="2090" cy="304"/>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管理滚动业务预测与计划</a:t>
                </a:r>
              </a:p>
            </p:txBody>
          </p:sp>
          <p:sp>
            <p:nvSpPr>
              <p:cNvPr id="567" name="矩形 566"/>
              <p:cNvSpPr/>
              <p:nvPr/>
            </p:nvSpPr>
            <p:spPr>
              <a:xfrm>
                <a:off x="2800" y="7556"/>
                <a:ext cx="2090" cy="237"/>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管理财务预算</a:t>
                </a:r>
              </a:p>
            </p:txBody>
          </p:sp>
          <p:sp>
            <p:nvSpPr>
              <p:cNvPr id="568" name="矩形 567"/>
              <p:cNvSpPr/>
              <p:nvPr/>
            </p:nvSpPr>
            <p:spPr>
              <a:xfrm>
                <a:off x="2800" y="7895"/>
                <a:ext cx="2090" cy="234"/>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管理人力预算</a:t>
                </a:r>
              </a:p>
            </p:txBody>
          </p:sp>
          <p:sp>
            <p:nvSpPr>
              <p:cNvPr id="569" name="矩形 568"/>
              <p:cNvSpPr/>
              <p:nvPr/>
            </p:nvSpPr>
            <p:spPr>
              <a:xfrm>
                <a:off x="2800" y="8329"/>
                <a:ext cx="2090" cy="393"/>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管理重点工作</a:t>
                </a:r>
              </a:p>
            </p:txBody>
          </p:sp>
          <p:sp>
            <p:nvSpPr>
              <p:cNvPr id="570" name="文本框 44"/>
              <p:cNvSpPr txBox="1"/>
              <p:nvPr/>
            </p:nvSpPr>
            <p:spPr>
              <a:xfrm>
                <a:off x="7539" y="4215"/>
                <a:ext cx="2780" cy="490"/>
              </a:xfrm>
              <a:prstGeom prst="rect">
                <a:avLst/>
              </a:prstGeom>
              <a:noFill/>
              <a:ln w="9525">
                <a:no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年度业务计划与预算 </a:t>
                </a:r>
                <a:r>
                  <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(BP)</a:t>
                </a:r>
              </a:p>
            </p:txBody>
          </p:sp>
          <p:sp>
            <p:nvSpPr>
              <p:cNvPr id="571" name="文本框 45"/>
              <p:cNvSpPr txBox="1"/>
              <p:nvPr/>
            </p:nvSpPr>
            <p:spPr>
              <a:xfrm>
                <a:off x="5054" y="6899"/>
                <a:ext cx="2182" cy="490"/>
              </a:xfrm>
              <a:prstGeom prst="rect">
                <a:avLst/>
              </a:prstGeom>
              <a:noFill/>
              <a:ln w="9525">
                <a:no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管理执行与监控</a:t>
                </a:r>
              </a:p>
            </p:txBody>
          </p:sp>
          <p:cxnSp>
            <p:nvCxnSpPr>
              <p:cNvPr id="572" name="直接箭头连接符 47"/>
              <p:cNvCxnSpPr/>
              <p:nvPr/>
            </p:nvCxnSpPr>
            <p:spPr>
              <a:xfrm>
                <a:off x="9087" y="9608"/>
                <a:ext cx="2564" cy="0"/>
              </a:xfrm>
              <a:prstGeom prst="straightConnector1">
                <a:avLst/>
              </a:prstGeom>
              <a:noFill/>
              <a:ln w="9525" cap="flat" cmpd="sng" algn="ctr">
                <a:solidFill>
                  <a:sysClr val="window" lastClr="FFFFFF">
                    <a:lumMod val="65000"/>
                  </a:sysClr>
                </a:solidFill>
                <a:prstDash val="solid"/>
                <a:miter lim="800000"/>
                <a:headEnd type="none"/>
                <a:tailEnd type="triangle" w="med" len="med"/>
              </a:ln>
              <a:effectLst/>
            </p:spPr>
          </p:cxnSp>
          <p:sp>
            <p:nvSpPr>
              <p:cNvPr id="573" name="文本框 48"/>
              <p:cNvSpPr txBox="1"/>
              <p:nvPr/>
            </p:nvSpPr>
            <p:spPr>
              <a:xfrm>
                <a:off x="3719" y="2281"/>
                <a:ext cx="1813" cy="490"/>
              </a:xfrm>
              <a:prstGeom prst="rect">
                <a:avLst/>
              </a:prstGeom>
              <a:noFill/>
              <a:ln w="9525">
                <a:no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战略规划 </a:t>
                </a:r>
                <a:r>
                  <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(SP)</a:t>
                </a:r>
              </a:p>
            </p:txBody>
          </p:sp>
          <p:sp>
            <p:nvSpPr>
              <p:cNvPr id="574" name="虚尾箭头 573"/>
              <p:cNvSpPr/>
              <p:nvPr/>
            </p:nvSpPr>
            <p:spPr>
              <a:xfrm>
                <a:off x="1177" y="1644"/>
                <a:ext cx="1063" cy="380"/>
              </a:xfrm>
              <a:prstGeom prst="stripedRightArrow">
                <a:avLst/>
              </a:prstGeom>
              <a:solidFill>
                <a:srgbClr val="E7E6E6">
                  <a:lumMod val="40000"/>
                  <a:lumOff val="60000"/>
                </a:srgbClr>
              </a:solidFill>
              <a:ln w="6350" cap="flat" cmpd="sng" algn="ctr">
                <a:solidFill>
                  <a:srgbClr val="A5A5A5"/>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575" name="矩形 574"/>
              <p:cNvSpPr/>
              <p:nvPr/>
            </p:nvSpPr>
            <p:spPr>
              <a:xfrm>
                <a:off x="2539" y="1704"/>
                <a:ext cx="395" cy="244"/>
              </a:xfrm>
              <a:prstGeom prst="rect">
                <a:avLst/>
              </a:prstGeom>
              <a:solidFill>
                <a:srgbClr val="E7E6E6">
                  <a:lumMod val="40000"/>
                  <a:lumOff val="60000"/>
                </a:srgbClr>
              </a:solidFill>
              <a:ln w="6350" cap="flat" cmpd="sng" algn="ctr">
                <a:solidFill>
                  <a:srgbClr val="A5A5A5"/>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576" name="矩形 575"/>
              <p:cNvSpPr/>
              <p:nvPr/>
            </p:nvSpPr>
            <p:spPr>
              <a:xfrm>
                <a:off x="3498" y="1704"/>
                <a:ext cx="470" cy="227"/>
              </a:xfrm>
              <a:prstGeom prst="rect">
                <a:avLst/>
              </a:prstGeom>
              <a:solidFill>
                <a:srgbClr val="E7E6E6">
                  <a:lumMod val="40000"/>
                  <a:lumOff val="60000"/>
                </a:srgbClr>
              </a:solidFill>
              <a:ln w="6350" cap="flat" cmpd="sng" algn="ctr">
                <a:solidFill>
                  <a:srgbClr val="A5A5A5"/>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577" name="右箭头 576"/>
              <p:cNvSpPr/>
              <p:nvPr/>
            </p:nvSpPr>
            <p:spPr>
              <a:xfrm>
                <a:off x="4330" y="1609"/>
                <a:ext cx="7772" cy="408"/>
              </a:xfrm>
              <a:prstGeom prst="rightArrow">
                <a:avLst/>
              </a:prstGeom>
              <a:solidFill>
                <a:srgbClr val="E7E6E6">
                  <a:lumMod val="40000"/>
                  <a:lumOff val="60000"/>
                </a:srgbClr>
              </a:solidFill>
              <a:ln w="6350" cap="flat" cmpd="sng" algn="ctr">
                <a:solidFill>
                  <a:srgbClr val="A5A5A5"/>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578" name="虚尾箭头 577"/>
              <p:cNvSpPr/>
              <p:nvPr/>
            </p:nvSpPr>
            <p:spPr>
              <a:xfrm>
                <a:off x="12468" y="1644"/>
                <a:ext cx="1070" cy="394"/>
              </a:xfrm>
              <a:prstGeom prst="stripedRightArrow">
                <a:avLst/>
              </a:prstGeom>
              <a:solidFill>
                <a:srgbClr val="E7E6E6">
                  <a:lumMod val="40000"/>
                  <a:lumOff val="60000"/>
                </a:srgbClr>
              </a:solidFill>
              <a:ln w="6350" cap="flat" cmpd="sng" algn="ctr">
                <a:solidFill>
                  <a:srgbClr val="A5A5A5"/>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579" name="文本框 55"/>
              <p:cNvSpPr txBox="1"/>
              <p:nvPr/>
            </p:nvSpPr>
            <p:spPr>
              <a:xfrm>
                <a:off x="6460" y="1539"/>
                <a:ext cx="4786" cy="456"/>
              </a:xfrm>
              <a:prstGeom prst="rect">
                <a:avLst/>
              </a:prstGeom>
              <a:noFill/>
              <a:ln w="9525">
                <a:noFill/>
              </a:ln>
            </p:spPr>
            <p:txBody>
              <a:bodyPr>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83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识别战略问题</a:t>
                </a:r>
                <a:r>
                  <a:rPr kumimoji="0" lang="en-US" altLang="zh-CN" sz="83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a:t>
                </a:r>
                <a:r>
                  <a:rPr kumimoji="0" lang="zh-CN" altLang="en-US" sz="83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战略专题研究</a:t>
                </a:r>
              </a:p>
            </p:txBody>
          </p:sp>
          <p:cxnSp>
            <p:nvCxnSpPr>
              <p:cNvPr id="580" name="直接箭头连接符 57"/>
              <p:cNvCxnSpPr>
                <a:stCxn id="539" idx="3"/>
                <a:endCxn id="540" idx="1"/>
              </p:cNvCxnSpPr>
              <p:nvPr/>
            </p:nvCxnSpPr>
            <p:spPr>
              <a:xfrm>
                <a:off x="1874" y="2659"/>
                <a:ext cx="116" cy="4"/>
              </a:xfrm>
              <a:prstGeom prst="straightConnector1">
                <a:avLst/>
              </a:prstGeom>
              <a:noFill/>
              <a:ln w="6350" cap="flat" cmpd="sng" algn="ctr">
                <a:solidFill>
                  <a:sysClr val="window" lastClr="FFFFFF">
                    <a:lumMod val="65000"/>
                  </a:sysClr>
                </a:solidFill>
                <a:prstDash val="solid"/>
                <a:miter lim="800000"/>
                <a:headEnd type="none"/>
                <a:tailEnd type="triangle" w="med" len="med"/>
              </a:ln>
              <a:effectLst/>
            </p:spPr>
          </p:cxnSp>
          <p:cxnSp>
            <p:nvCxnSpPr>
              <p:cNvPr id="581" name="直接箭头连接符 60"/>
              <p:cNvCxnSpPr>
                <a:stCxn id="539" idx="3"/>
                <a:endCxn id="540" idx="1"/>
              </p:cNvCxnSpPr>
              <p:nvPr/>
            </p:nvCxnSpPr>
            <p:spPr>
              <a:xfrm>
                <a:off x="1874" y="2659"/>
                <a:ext cx="116" cy="4"/>
              </a:xfrm>
              <a:prstGeom prst="straightConnector1">
                <a:avLst/>
              </a:prstGeom>
              <a:noFill/>
              <a:ln w="6350" cap="flat" cmpd="sng" algn="ctr">
                <a:solidFill>
                  <a:sysClr val="window" lastClr="FFFFFF">
                    <a:lumMod val="65000"/>
                  </a:sysClr>
                </a:solidFill>
                <a:prstDash val="solid"/>
                <a:miter lim="800000"/>
                <a:headEnd type="none"/>
                <a:tailEnd type="triangle" w="med" len="med"/>
              </a:ln>
              <a:effectLst/>
            </p:spPr>
          </p:cxnSp>
          <p:cxnSp>
            <p:nvCxnSpPr>
              <p:cNvPr id="582" name="直接箭头连接符 62"/>
              <p:cNvCxnSpPr>
                <a:stCxn id="539" idx="3"/>
                <a:endCxn id="540" idx="1"/>
              </p:cNvCxnSpPr>
              <p:nvPr/>
            </p:nvCxnSpPr>
            <p:spPr>
              <a:xfrm>
                <a:off x="1874" y="2659"/>
                <a:ext cx="116" cy="4"/>
              </a:xfrm>
              <a:prstGeom prst="straightConnector1">
                <a:avLst/>
              </a:prstGeom>
              <a:noFill/>
              <a:ln w="6350" cap="flat" cmpd="sng" algn="ctr">
                <a:solidFill>
                  <a:sysClr val="window" lastClr="FFFFFF">
                    <a:lumMod val="65000"/>
                  </a:sysClr>
                </a:solidFill>
                <a:prstDash val="solid"/>
                <a:miter lim="800000"/>
                <a:headEnd type="none"/>
                <a:tailEnd type="triangle" w="med" len="med"/>
              </a:ln>
              <a:effectLst/>
            </p:spPr>
          </p:cxnSp>
          <p:cxnSp>
            <p:nvCxnSpPr>
              <p:cNvPr id="583" name="直接箭头连接符 63"/>
              <p:cNvCxnSpPr>
                <a:stCxn id="539" idx="3"/>
                <a:endCxn id="540" idx="1"/>
              </p:cNvCxnSpPr>
              <p:nvPr/>
            </p:nvCxnSpPr>
            <p:spPr>
              <a:xfrm>
                <a:off x="1874" y="2659"/>
                <a:ext cx="116" cy="4"/>
              </a:xfrm>
              <a:prstGeom prst="straightConnector1">
                <a:avLst/>
              </a:prstGeom>
              <a:noFill/>
              <a:ln w="6350" cap="flat" cmpd="sng" algn="ctr">
                <a:solidFill>
                  <a:sysClr val="window" lastClr="FFFFFF">
                    <a:lumMod val="65000"/>
                  </a:sysClr>
                </a:solidFill>
                <a:prstDash val="solid"/>
                <a:miter lim="800000"/>
                <a:headEnd type="none"/>
                <a:tailEnd type="triangle" w="med" len="med"/>
              </a:ln>
              <a:effectLst/>
            </p:spPr>
          </p:cxnSp>
          <p:cxnSp>
            <p:nvCxnSpPr>
              <p:cNvPr id="584" name="直接箭头连接符 64"/>
              <p:cNvCxnSpPr>
                <a:stCxn id="539" idx="3"/>
                <a:endCxn id="540" idx="1"/>
              </p:cNvCxnSpPr>
              <p:nvPr/>
            </p:nvCxnSpPr>
            <p:spPr>
              <a:xfrm>
                <a:off x="1874" y="2659"/>
                <a:ext cx="116" cy="4"/>
              </a:xfrm>
              <a:prstGeom prst="straightConnector1">
                <a:avLst/>
              </a:prstGeom>
              <a:noFill/>
              <a:ln w="6350" cap="flat" cmpd="sng" algn="ctr">
                <a:solidFill>
                  <a:sysClr val="window" lastClr="FFFFFF">
                    <a:lumMod val="65000"/>
                  </a:sysClr>
                </a:solidFill>
                <a:prstDash val="solid"/>
                <a:miter lim="800000"/>
                <a:headEnd type="none"/>
                <a:tailEnd type="triangle" w="med" len="med"/>
              </a:ln>
              <a:effectLst/>
            </p:spPr>
          </p:cxnSp>
          <p:cxnSp>
            <p:nvCxnSpPr>
              <p:cNvPr id="585" name="直接箭头连接符 65"/>
              <p:cNvCxnSpPr>
                <a:stCxn id="539" idx="3"/>
                <a:endCxn id="540" idx="1"/>
              </p:cNvCxnSpPr>
              <p:nvPr/>
            </p:nvCxnSpPr>
            <p:spPr>
              <a:xfrm>
                <a:off x="1874" y="2659"/>
                <a:ext cx="116" cy="4"/>
              </a:xfrm>
              <a:prstGeom prst="straightConnector1">
                <a:avLst/>
              </a:prstGeom>
              <a:noFill/>
              <a:ln w="6350" cap="flat" cmpd="sng" algn="ctr">
                <a:solidFill>
                  <a:sysClr val="window" lastClr="FFFFFF">
                    <a:lumMod val="65000"/>
                  </a:sysClr>
                </a:solidFill>
                <a:prstDash val="solid"/>
                <a:miter lim="800000"/>
                <a:headEnd type="none"/>
                <a:tailEnd type="triangle" w="med" len="med"/>
              </a:ln>
              <a:effectLst/>
            </p:spPr>
          </p:cxnSp>
          <p:cxnSp>
            <p:nvCxnSpPr>
              <p:cNvPr id="586" name="肘形连接符 585"/>
              <p:cNvCxnSpPr>
                <a:stCxn id="539" idx="3"/>
                <a:endCxn id="540" idx="1"/>
              </p:cNvCxnSpPr>
              <p:nvPr/>
            </p:nvCxnSpPr>
            <p:spPr>
              <a:xfrm>
                <a:off x="1874" y="2659"/>
                <a:ext cx="116" cy="4"/>
              </a:xfrm>
              <a:prstGeom prst="bentConnector3">
                <a:avLst>
                  <a:gd name="adj1" fmla="val 50000"/>
                </a:avLst>
              </a:prstGeom>
              <a:noFill/>
              <a:ln w="6350" cap="flat" cmpd="sng" algn="ctr">
                <a:solidFill>
                  <a:sysClr val="window" lastClr="FFFFFF">
                    <a:lumMod val="65000"/>
                  </a:sysClr>
                </a:solidFill>
                <a:prstDash val="solid"/>
                <a:miter lim="800000"/>
                <a:headEnd type="none"/>
                <a:tailEnd type="triangle" w="med" len="med"/>
              </a:ln>
              <a:effectLst/>
            </p:spPr>
          </p:cxnSp>
          <p:cxnSp>
            <p:nvCxnSpPr>
              <p:cNvPr id="587" name="直接箭头连接符 69"/>
              <p:cNvCxnSpPr>
                <a:stCxn id="539" idx="3"/>
                <a:endCxn id="540" idx="1"/>
              </p:cNvCxnSpPr>
              <p:nvPr/>
            </p:nvCxnSpPr>
            <p:spPr>
              <a:xfrm>
                <a:off x="1874" y="2659"/>
                <a:ext cx="116" cy="4"/>
              </a:xfrm>
              <a:prstGeom prst="straightConnector1">
                <a:avLst/>
              </a:prstGeom>
              <a:noFill/>
              <a:ln w="6350" cap="flat" cmpd="sng" algn="ctr">
                <a:solidFill>
                  <a:sysClr val="window" lastClr="FFFFFF">
                    <a:lumMod val="65000"/>
                  </a:sysClr>
                </a:solidFill>
                <a:prstDash val="solid"/>
                <a:miter lim="800000"/>
                <a:tailEnd type="arrow" w="med" len="med"/>
              </a:ln>
              <a:effectLst/>
            </p:spPr>
          </p:cxnSp>
          <p:cxnSp>
            <p:nvCxnSpPr>
              <p:cNvPr id="588" name="直接连接符 70"/>
              <p:cNvCxnSpPr/>
              <p:nvPr/>
            </p:nvCxnSpPr>
            <p:spPr>
              <a:xfrm>
                <a:off x="9204" y="5463"/>
                <a:ext cx="0" cy="0"/>
              </a:xfrm>
              <a:prstGeom prst="line">
                <a:avLst/>
              </a:prstGeom>
              <a:noFill/>
              <a:ln w="6350" cap="flat" cmpd="sng" algn="ctr">
                <a:solidFill>
                  <a:sysClr val="window" lastClr="FFFFFF">
                    <a:lumMod val="65000"/>
                  </a:sysClr>
                </a:solidFill>
                <a:prstDash val="solid"/>
                <a:miter lim="800000"/>
              </a:ln>
              <a:effectLst/>
            </p:spPr>
          </p:cxnSp>
          <p:cxnSp>
            <p:nvCxnSpPr>
              <p:cNvPr id="589" name="直接连接符 72"/>
              <p:cNvCxnSpPr/>
              <p:nvPr/>
            </p:nvCxnSpPr>
            <p:spPr>
              <a:xfrm>
                <a:off x="9187" y="5400"/>
                <a:ext cx="163" cy="4"/>
              </a:xfrm>
              <a:prstGeom prst="line">
                <a:avLst/>
              </a:prstGeom>
              <a:noFill/>
              <a:ln w="6350" cap="flat" cmpd="sng" algn="ctr">
                <a:solidFill>
                  <a:sysClr val="window" lastClr="FFFFFF">
                    <a:lumMod val="65000"/>
                  </a:sysClr>
                </a:solidFill>
                <a:prstDash val="solid"/>
                <a:miter lim="800000"/>
              </a:ln>
              <a:effectLst/>
            </p:spPr>
          </p:cxnSp>
          <p:cxnSp>
            <p:nvCxnSpPr>
              <p:cNvPr id="590" name="直接连接符 73"/>
              <p:cNvCxnSpPr/>
              <p:nvPr/>
            </p:nvCxnSpPr>
            <p:spPr>
              <a:xfrm>
                <a:off x="9360" y="4828"/>
                <a:ext cx="0" cy="1275"/>
              </a:xfrm>
              <a:prstGeom prst="line">
                <a:avLst/>
              </a:prstGeom>
              <a:noFill/>
              <a:ln w="6350" cap="flat" cmpd="sng" algn="ctr">
                <a:solidFill>
                  <a:sysClr val="window" lastClr="FFFFFF">
                    <a:lumMod val="65000"/>
                  </a:sysClr>
                </a:solidFill>
                <a:prstDash val="solid"/>
                <a:miter lim="800000"/>
              </a:ln>
              <a:effectLst/>
            </p:spPr>
          </p:cxnSp>
          <p:cxnSp>
            <p:nvCxnSpPr>
              <p:cNvPr id="591" name="直接箭头连接符 76"/>
              <p:cNvCxnSpPr/>
              <p:nvPr/>
            </p:nvCxnSpPr>
            <p:spPr>
              <a:xfrm>
                <a:off x="9360" y="6122"/>
                <a:ext cx="178" cy="11"/>
              </a:xfrm>
              <a:prstGeom prst="straightConnector1">
                <a:avLst/>
              </a:prstGeom>
              <a:noFill/>
              <a:ln w="6350" cap="flat" cmpd="sng" algn="ctr">
                <a:solidFill>
                  <a:sysClr val="window" lastClr="FFFFFF">
                    <a:lumMod val="65000"/>
                  </a:sysClr>
                </a:solidFill>
                <a:prstDash val="solid"/>
                <a:miter lim="800000"/>
                <a:headEnd type="none"/>
                <a:tailEnd type="triangle" w="med" len="med"/>
              </a:ln>
              <a:effectLst/>
            </p:spPr>
          </p:cxnSp>
          <p:cxnSp>
            <p:nvCxnSpPr>
              <p:cNvPr id="592" name="直接箭头连接符 77"/>
              <p:cNvCxnSpPr/>
              <p:nvPr/>
            </p:nvCxnSpPr>
            <p:spPr>
              <a:xfrm>
                <a:off x="9360" y="5738"/>
                <a:ext cx="178" cy="11"/>
              </a:xfrm>
              <a:prstGeom prst="straightConnector1">
                <a:avLst/>
              </a:prstGeom>
              <a:noFill/>
              <a:ln w="6350" cap="flat" cmpd="sng" algn="ctr">
                <a:solidFill>
                  <a:sysClr val="window" lastClr="FFFFFF">
                    <a:lumMod val="65000"/>
                  </a:sysClr>
                </a:solidFill>
                <a:prstDash val="solid"/>
                <a:miter lim="800000"/>
                <a:headEnd type="none"/>
                <a:tailEnd type="triangle" w="med" len="med"/>
              </a:ln>
              <a:effectLst/>
            </p:spPr>
          </p:cxnSp>
          <p:cxnSp>
            <p:nvCxnSpPr>
              <p:cNvPr id="593" name="直接箭头连接符 78"/>
              <p:cNvCxnSpPr/>
              <p:nvPr/>
            </p:nvCxnSpPr>
            <p:spPr>
              <a:xfrm>
                <a:off x="9360" y="5330"/>
                <a:ext cx="178" cy="11"/>
              </a:xfrm>
              <a:prstGeom prst="straightConnector1">
                <a:avLst/>
              </a:prstGeom>
              <a:noFill/>
              <a:ln w="6350" cap="flat" cmpd="sng" algn="ctr">
                <a:solidFill>
                  <a:sysClr val="window" lastClr="FFFFFF">
                    <a:lumMod val="65000"/>
                  </a:sysClr>
                </a:solidFill>
                <a:prstDash val="solid"/>
                <a:miter lim="800000"/>
                <a:headEnd type="none"/>
                <a:tailEnd type="triangle" w="med" len="med"/>
              </a:ln>
              <a:effectLst/>
            </p:spPr>
          </p:cxnSp>
          <p:cxnSp>
            <p:nvCxnSpPr>
              <p:cNvPr id="594" name="直接箭头连接符 79"/>
              <p:cNvCxnSpPr/>
              <p:nvPr/>
            </p:nvCxnSpPr>
            <p:spPr>
              <a:xfrm>
                <a:off x="9360" y="4840"/>
                <a:ext cx="178" cy="14"/>
              </a:xfrm>
              <a:prstGeom prst="straightConnector1">
                <a:avLst/>
              </a:prstGeom>
              <a:noFill/>
              <a:ln w="6350" cap="flat" cmpd="sng" algn="ctr">
                <a:solidFill>
                  <a:sysClr val="window" lastClr="FFFFFF">
                    <a:lumMod val="65000"/>
                  </a:sysClr>
                </a:solidFill>
                <a:prstDash val="solid"/>
                <a:miter lim="800000"/>
                <a:headEnd type="none"/>
                <a:tailEnd type="triangle" w="med" len="med"/>
              </a:ln>
              <a:effectLst/>
            </p:spPr>
          </p:cxnSp>
          <p:cxnSp>
            <p:nvCxnSpPr>
              <p:cNvPr id="595" name="直接连接符 80"/>
              <p:cNvCxnSpPr/>
              <p:nvPr/>
            </p:nvCxnSpPr>
            <p:spPr>
              <a:xfrm>
                <a:off x="11452" y="4828"/>
                <a:ext cx="0" cy="1275"/>
              </a:xfrm>
              <a:prstGeom prst="line">
                <a:avLst/>
              </a:prstGeom>
              <a:noFill/>
              <a:ln w="6350" cap="flat" cmpd="sng" algn="ctr">
                <a:solidFill>
                  <a:sysClr val="window" lastClr="FFFFFF">
                    <a:lumMod val="65000"/>
                  </a:sysClr>
                </a:solidFill>
                <a:prstDash val="solid"/>
                <a:miter lim="800000"/>
              </a:ln>
              <a:effectLst/>
            </p:spPr>
          </p:cxnSp>
          <p:cxnSp>
            <p:nvCxnSpPr>
              <p:cNvPr id="596" name="直接连接符 82"/>
              <p:cNvCxnSpPr/>
              <p:nvPr/>
            </p:nvCxnSpPr>
            <p:spPr>
              <a:xfrm>
                <a:off x="11283" y="4835"/>
                <a:ext cx="166" cy="0"/>
              </a:xfrm>
              <a:prstGeom prst="line">
                <a:avLst/>
              </a:prstGeom>
              <a:noFill/>
              <a:ln w="6350" cap="flat" cmpd="sng" algn="ctr">
                <a:solidFill>
                  <a:sysClr val="window" lastClr="FFFFFF">
                    <a:lumMod val="65000"/>
                  </a:sysClr>
                </a:solidFill>
                <a:prstDash val="solid"/>
                <a:miter lim="800000"/>
              </a:ln>
              <a:effectLst/>
            </p:spPr>
          </p:cxnSp>
          <p:cxnSp>
            <p:nvCxnSpPr>
              <p:cNvPr id="597" name="直接连接符 83"/>
              <p:cNvCxnSpPr/>
              <p:nvPr/>
            </p:nvCxnSpPr>
            <p:spPr>
              <a:xfrm>
                <a:off x="11279" y="5293"/>
                <a:ext cx="166" cy="0"/>
              </a:xfrm>
              <a:prstGeom prst="line">
                <a:avLst/>
              </a:prstGeom>
              <a:noFill/>
              <a:ln w="6350" cap="flat" cmpd="sng" algn="ctr">
                <a:solidFill>
                  <a:sysClr val="window" lastClr="FFFFFF">
                    <a:lumMod val="65000"/>
                  </a:sysClr>
                </a:solidFill>
                <a:prstDash val="solid"/>
                <a:miter lim="800000"/>
              </a:ln>
              <a:effectLst/>
            </p:spPr>
          </p:cxnSp>
          <p:cxnSp>
            <p:nvCxnSpPr>
              <p:cNvPr id="598" name="直接连接符 84"/>
              <p:cNvCxnSpPr/>
              <p:nvPr/>
            </p:nvCxnSpPr>
            <p:spPr>
              <a:xfrm>
                <a:off x="11283" y="5738"/>
                <a:ext cx="166" cy="0"/>
              </a:xfrm>
              <a:prstGeom prst="line">
                <a:avLst/>
              </a:prstGeom>
              <a:noFill/>
              <a:ln w="6350" cap="flat" cmpd="sng" algn="ctr">
                <a:solidFill>
                  <a:sysClr val="window" lastClr="FFFFFF">
                    <a:lumMod val="65000"/>
                  </a:sysClr>
                </a:solidFill>
                <a:prstDash val="solid"/>
                <a:miter lim="800000"/>
              </a:ln>
              <a:effectLst/>
            </p:spPr>
          </p:cxnSp>
          <p:cxnSp>
            <p:nvCxnSpPr>
              <p:cNvPr id="599" name="直接连接符 85"/>
              <p:cNvCxnSpPr/>
              <p:nvPr/>
            </p:nvCxnSpPr>
            <p:spPr>
              <a:xfrm>
                <a:off x="11283" y="6108"/>
                <a:ext cx="166" cy="0"/>
              </a:xfrm>
              <a:prstGeom prst="line">
                <a:avLst/>
              </a:prstGeom>
              <a:noFill/>
              <a:ln w="6350" cap="flat" cmpd="sng" algn="ctr">
                <a:solidFill>
                  <a:sysClr val="window" lastClr="FFFFFF">
                    <a:lumMod val="65000"/>
                  </a:sysClr>
                </a:solidFill>
                <a:prstDash val="solid"/>
                <a:miter lim="800000"/>
              </a:ln>
              <a:effectLst/>
            </p:spPr>
          </p:cxnSp>
          <p:cxnSp>
            <p:nvCxnSpPr>
              <p:cNvPr id="600" name="直接箭头连接符 86"/>
              <p:cNvCxnSpPr/>
              <p:nvPr/>
            </p:nvCxnSpPr>
            <p:spPr>
              <a:xfrm>
                <a:off x="11452" y="5964"/>
                <a:ext cx="178" cy="11"/>
              </a:xfrm>
              <a:prstGeom prst="straightConnector1">
                <a:avLst/>
              </a:prstGeom>
              <a:noFill/>
              <a:ln w="6350" cap="flat" cmpd="sng" algn="ctr">
                <a:solidFill>
                  <a:sysClr val="window" lastClr="FFFFFF">
                    <a:lumMod val="65000"/>
                  </a:sysClr>
                </a:solidFill>
                <a:prstDash val="solid"/>
                <a:miter lim="800000"/>
                <a:headEnd type="none"/>
                <a:tailEnd type="triangle" w="med" len="med"/>
              </a:ln>
              <a:effectLst/>
            </p:spPr>
          </p:cxnSp>
          <p:cxnSp>
            <p:nvCxnSpPr>
              <p:cNvPr id="601" name="直接箭头连接符 87"/>
              <p:cNvCxnSpPr/>
              <p:nvPr/>
            </p:nvCxnSpPr>
            <p:spPr>
              <a:xfrm>
                <a:off x="11399" y="4840"/>
                <a:ext cx="1280" cy="0"/>
              </a:xfrm>
              <a:prstGeom prst="straightConnector1">
                <a:avLst/>
              </a:prstGeom>
              <a:noFill/>
              <a:ln w="6350" cap="flat" cmpd="sng" algn="ctr">
                <a:solidFill>
                  <a:sysClr val="window" lastClr="FFFFFF">
                    <a:lumMod val="65000"/>
                  </a:sysClr>
                </a:solidFill>
                <a:prstDash val="solid"/>
                <a:miter lim="800000"/>
                <a:tailEnd type="arrow"/>
              </a:ln>
              <a:effectLst/>
            </p:spPr>
          </p:cxnSp>
          <p:cxnSp>
            <p:nvCxnSpPr>
              <p:cNvPr id="602" name="直接箭头连接符 89"/>
              <p:cNvCxnSpPr/>
              <p:nvPr/>
            </p:nvCxnSpPr>
            <p:spPr>
              <a:xfrm flipH="1">
                <a:off x="13144" y="5299"/>
                <a:ext cx="7" cy="408"/>
              </a:xfrm>
              <a:prstGeom prst="straightConnector1">
                <a:avLst/>
              </a:prstGeom>
              <a:noFill/>
              <a:ln w="6350" cap="flat" cmpd="sng" algn="ctr">
                <a:solidFill>
                  <a:sysClr val="window" lastClr="FFFFFF">
                    <a:lumMod val="65000"/>
                  </a:sysClr>
                </a:solidFill>
                <a:prstDash val="solid"/>
                <a:miter lim="800000"/>
                <a:headEnd type="none"/>
                <a:tailEnd type="triangle" w="med" len="med"/>
              </a:ln>
              <a:effectLst/>
            </p:spPr>
          </p:cxnSp>
          <p:cxnSp>
            <p:nvCxnSpPr>
              <p:cNvPr id="603" name="肘形连接符 602"/>
              <p:cNvCxnSpPr/>
              <p:nvPr/>
            </p:nvCxnSpPr>
            <p:spPr>
              <a:xfrm rot="16200000">
                <a:off x="12039" y="5128"/>
                <a:ext cx="899" cy="322"/>
              </a:xfrm>
              <a:prstGeom prst="bentConnector3">
                <a:avLst>
                  <a:gd name="adj1" fmla="val 100110"/>
                </a:avLst>
              </a:prstGeom>
              <a:noFill/>
              <a:ln w="6350" cap="flat" cmpd="sng" algn="ctr">
                <a:solidFill>
                  <a:sysClr val="window" lastClr="FFFFFF">
                    <a:lumMod val="65000"/>
                  </a:sysClr>
                </a:solidFill>
                <a:prstDash val="solid"/>
                <a:miter lim="800000"/>
                <a:headEnd type="none"/>
                <a:tailEnd type="triangle" w="med" len="med"/>
              </a:ln>
              <a:effectLst/>
            </p:spPr>
          </p:cxnSp>
          <p:cxnSp>
            <p:nvCxnSpPr>
              <p:cNvPr id="604" name="直接箭头连接符 91"/>
              <p:cNvCxnSpPr>
                <a:stCxn id="568" idx="3"/>
                <a:endCxn id="568" idx="3"/>
              </p:cNvCxnSpPr>
              <p:nvPr/>
            </p:nvCxnSpPr>
            <p:spPr>
              <a:xfrm>
                <a:off x="4890" y="8012"/>
                <a:ext cx="0" cy="0"/>
              </a:xfrm>
              <a:prstGeom prst="straightConnector1">
                <a:avLst/>
              </a:prstGeom>
              <a:noFill/>
              <a:ln w="6350" cap="flat" cmpd="sng" algn="ctr">
                <a:solidFill>
                  <a:sysClr val="window" lastClr="FFFFFF">
                    <a:lumMod val="65000"/>
                  </a:sysClr>
                </a:solidFill>
                <a:prstDash val="solid"/>
                <a:miter lim="800000"/>
                <a:headEnd type="none"/>
                <a:tailEnd type="triangle" w="med" len="med"/>
              </a:ln>
              <a:effectLst/>
            </p:spPr>
          </p:cxnSp>
          <p:cxnSp>
            <p:nvCxnSpPr>
              <p:cNvPr id="605" name="直接连接符 92"/>
              <p:cNvCxnSpPr/>
              <p:nvPr/>
            </p:nvCxnSpPr>
            <p:spPr>
              <a:xfrm>
                <a:off x="5526" y="7537"/>
                <a:ext cx="0" cy="2227"/>
              </a:xfrm>
              <a:prstGeom prst="line">
                <a:avLst/>
              </a:prstGeom>
              <a:noFill/>
              <a:ln w="9525" cap="flat" cmpd="sng" algn="ctr">
                <a:solidFill>
                  <a:sysClr val="window" lastClr="FFFFFF">
                    <a:lumMod val="65000"/>
                  </a:sysClr>
                </a:solidFill>
                <a:prstDash val="solid"/>
                <a:miter lim="800000"/>
              </a:ln>
              <a:effectLst/>
            </p:spPr>
          </p:cxnSp>
          <p:sp>
            <p:nvSpPr>
              <p:cNvPr id="606" name="矩形 605"/>
              <p:cNvSpPr/>
              <p:nvPr/>
            </p:nvSpPr>
            <p:spPr>
              <a:xfrm>
                <a:off x="2684" y="6872"/>
                <a:ext cx="2328" cy="1318"/>
              </a:xfrm>
              <a:prstGeom prst="rect">
                <a:avLst/>
              </a:prstGeom>
              <a:noFill/>
              <a:ln w="9525" cap="flat" cmpd="sng" algn="ctr">
                <a:solidFill>
                  <a:sysClr val="window" lastClr="FFFFFF">
                    <a:lumMod val="65000"/>
                  </a:sysClr>
                </a:solidFill>
                <a:prstDash val="sysDash"/>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1">
                  <a:ln>
                    <a:noFill/>
                  </a:ln>
                  <a:solidFill>
                    <a:sysClr val="window" lastClr="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607" name="文本框 94"/>
              <p:cNvSpPr txBox="1"/>
              <p:nvPr/>
            </p:nvSpPr>
            <p:spPr>
              <a:xfrm>
                <a:off x="2800" y="6825"/>
                <a:ext cx="1150" cy="377"/>
              </a:xfrm>
              <a:prstGeom prst="rect">
                <a:avLst/>
              </a:prstGeom>
              <a:noFill/>
              <a:ln w="9525">
                <a:noFill/>
              </a:ln>
            </p:spPr>
            <p:txBody>
              <a:bodyPr>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790" b="1" i="0" u="none" strike="noStrike" kern="0" cap="none" spc="0" normalizeH="0" baseline="0" noProof="1">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管理</a:t>
                </a:r>
                <a:r>
                  <a:rPr kumimoji="0" lang="en-US" altLang="zh-CN" sz="790" b="1" i="0" u="none" strike="noStrike" kern="0" cap="none" spc="0" normalizeH="0" baseline="0" noProof="1">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IBP</a:t>
                </a:r>
              </a:p>
            </p:txBody>
          </p:sp>
          <p:cxnSp>
            <p:nvCxnSpPr>
              <p:cNvPr id="608" name="直接连接符 95"/>
              <p:cNvCxnSpPr/>
              <p:nvPr/>
            </p:nvCxnSpPr>
            <p:spPr>
              <a:xfrm>
                <a:off x="5012" y="7542"/>
                <a:ext cx="492" cy="0"/>
              </a:xfrm>
              <a:prstGeom prst="line">
                <a:avLst/>
              </a:prstGeom>
              <a:noFill/>
              <a:ln w="9525" cap="flat" cmpd="sng" algn="ctr">
                <a:solidFill>
                  <a:sysClr val="window" lastClr="FFFFFF">
                    <a:lumMod val="65000"/>
                  </a:sysClr>
                </a:solidFill>
                <a:prstDash val="solid"/>
                <a:miter lim="800000"/>
              </a:ln>
              <a:effectLst/>
            </p:spPr>
          </p:cxnSp>
          <p:cxnSp>
            <p:nvCxnSpPr>
              <p:cNvPr id="609" name="直接连接符 97"/>
              <p:cNvCxnSpPr/>
              <p:nvPr/>
            </p:nvCxnSpPr>
            <p:spPr>
              <a:xfrm>
                <a:off x="4889" y="8535"/>
                <a:ext cx="643" cy="0"/>
              </a:xfrm>
              <a:prstGeom prst="line">
                <a:avLst/>
              </a:prstGeom>
              <a:noFill/>
              <a:ln w="9525" cap="flat" cmpd="sng" algn="ctr">
                <a:solidFill>
                  <a:sysClr val="window" lastClr="FFFFFF">
                    <a:lumMod val="65000"/>
                  </a:sysClr>
                </a:solidFill>
                <a:prstDash val="solid"/>
                <a:miter lim="800000"/>
              </a:ln>
              <a:effectLst/>
            </p:spPr>
          </p:cxnSp>
          <p:cxnSp>
            <p:nvCxnSpPr>
              <p:cNvPr id="610" name="直接连接符 98"/>
              <p:cNvCxnSpPr>
                <a:stCxn id="572" idx="3"/>
                <a:endCxn id="568" idx="3"/>
              </p:cNvCxnSpPr>
              <p:nvPr/>
            </p:nvCxnSpPr>
            <p:spPr>
              <a:xfrm>
                <a:off x="4868" y="8877"/>
                <a:ext cx="643" cy="0"/>
              </a:xfrm>
              <a:prstGeom prst="line">
                <a:avLst/>
              </a:prstGeom>
              <a:noFill/>
              <a:ln w="9525" cap="flat" cmpd="sng" algn="ctr">
                <a:solidFill>
                  <a:sysClr val="window" lastClr="FFFFFF">
                    <a:lumMod val="65000"/>
                  </a:sysClr>
                </a:solidFill>
                <a:prstDash val="solid"/>
                <a:miter lim="800000"/>
              </a:ln>
              <a:effectLst/>
            </p:spPr>
          </p:cxnSp>
          <p:cxnSp>
            <p:nvCxnSpPr>
              <p:cNvPr id="611" name="直接连接符 99"/>
              <p:cNvCxnSpPr>
                <a:stCxn id="572" idx="3"/>
                <a:endCxn id="568" idx="3"/>
              </p:cNvCxnSpPr>
              <p:nvPr/>
            </p:nvCxnSpPr>
            <p:spPr>
              <a:xfrm>
                <a:off x="4868" y="9327"/>
                <a:ext cx="643" cy="0"/>
              </a:xfrm>
              <a:prstGeom prst="line">
                <a:avLst/>
              </a:prstGeom>
              <a:noFill/>
              <a:ln w="9525" cap="flat" cmpd="sng" algn="ctr">
                <a:solidFill>
                  <a:sysClr val="window" lastClr="FFFFFF">
                    <a:lumMod val="65000"/>
                  </a:sysClr>
                </a:solidFill>
                <a:prstDash val="solid"/>
                <a:miter lim="800000"/>
              </a:ln>
              <a:effectLst/>
            </p:spPr>
          </p:cxnSp>
          <p:cxnSp>
            <p:nvCxnSpPr>
              <p:cNvPr id="612" name="直接连接符 100"/>
              <p:cNvCxnSpPr>
                <a:stCxn id="572" idx="3"/>
                <a:endCxn id="568" idx="3"/>
              </p:cNvCxnSpPr>
              <p:nvPr/>
            </p:nvCxnSpPr>
            <p:spPr>
              <a:xfrm>
                <a:off x="4868" y="9762"/>
                <a:ext cx="643" cy="0"/>
              </a:xfrm>
              <a:prstGeom prst="line">
                <a:avLst/>
              </a:prstGeom>
              <a:noFill/>
              <a:ln w="9525" cap="flat" cmpd="sng" algn="ctr">
                <a:solidFill>
                  <a:sysClr val="window" lastClr="FFFFFF">
                    <a:lumMod val="65000"/>
                  </a:sysClr>
                </a:solidFill>
                <a:prstDash val="solid"/>
                <a:miter lim="800000"/>
              </a:ln>
              <a:effectLst/>
            </p:spPr>
          </p:cxnSp>
          <p:cxnSp>
            <p:nvCxnSpPr>
              <p:cNvPr id="613" name="直接箭头连接符 102"/>
              <p:cNvCxnSpPr/>
              <p:nvPr/>
            </p:nvCxnSpPr>
            <p:spPr>
              <a:xfrm>
                <a:off x="5518" y="8015"/>
                <a:ext cx="542" cy="11"/>
              </a:xfrm>
              <a:prstGeom prst="straightConnector1">
                <a:avLst/>
              </a:prstGeom>
              <a:noFill/>
              <a:ln w="9525" cap="flat" cmpd="sng" algn="ctr">
                <a:solidFill>
                  <a:sysClr val="window" lastClr="FFFFFF">
                    <a:lumMod val="65000"/>
                  </a:sysClr>
                </a:solidFill>
                <a:prstDash val="solid"/>
                <a:miter lim="800000"/>
                <a:headEnd type="none"/>
                <a:tailEnd type="triangle" w="med" len="med"/>
              </a:ln>
              <a:effectLst/>
            </p:spPr>
          </p:cxnSp>
          <p:cxnSp>
            <p:nvCxnSpPr>
              <p:cNvPr id="614" name="直接箭头连接符 103"/>
              <p:cNvCxnSpPr/>
              <p:nvPr/>
            </p:nvCxnSpPr>
            <p:spPr>
              <a:xfrm>
                <a:off x="7700" y="8088"/>
                <a:ext cx="454" cy="7"/>
              </a:xfrm>
              <a:prstGeom prst="straightConnector1">
                <a:avLst/>
              </a:prstGeom>
              <a:noFill/>
              <a:ln w="9525" cap="flat" cmpd="sng" algn="ctr">
                <a:solidFill>
                  <a:sysClr val="window" lastClr="FFFFFF">
                    <a:lumMod val="65000"/>
                  </a:sysClr>
                </a:solidFill>
                <a:prstDash val="solid"/>
                <a:miter lim="800000"/>
                <a:headEnd type="none"/>
                <a:tailEnd type="triangle" w="med" len="med"/>
              </a:ln>
              <a:effectLst/>
            </p:spPr>
          </p:cxnSp>
          <p:cxnSp>
            <p:nvCxnSpPr>
              <p:cNvPr id="615" name="直接箭头连接符 104"/>
              <p:cNvCxnSpPr/>
              <p:nvPr/>
            </p:nvCxnSpPr>
            <p:spPr>
              <a:xfrm>
                <a:off x="9220" y="8088"/>
                <a:ext cx="454" cy="7"/>
              </a:xfrm>
              <a:prstGeom prst="straightConnector1">
                <a:avLst/>
              </a:prstGeom>
              <a:noFill/>
              <a:ln w="9525" cap="flat" cmpd="sng" algn="ctr">
                <a:solidFill>
                  <a:sysClr val="window" lastClr="FFFFFF">
                    <a:lumMod val="65000"/>
                  </a:sysClr>
                </a:solidFill>
                <a:prstDash val="solid"/>
                <a:miter lim="800000"/>
                <a:headEnd type="none"/>
                <a:tailEnd type="triangle" w="med" len="med"/>
              </a:ln>
              <a:effectLst/>
            </p:spPr>
          </p:cxnSp>
          <p:sp>
            <p:nvSpPr>
              <p:cNvPr id="616" name="左弧形箭头 105"/>
              <p:cNvSpPr/>
              <p:nvPr/>
            </p:nvSpPr>
            <p:spPr>
              <a:xfrm>
                <a:off x="476" y="1816"/>
                <a:ext cx="347" cy="785"/>
              </a:xfrm>
              <a:prstGeom prst="curvedRightArrow">
                <a:avLst/>
              </a:prstGeom>
              <a:solidFill>
                <a:srgbClr val="0070C0"/>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1">
                  <a:ln>
                    <a:noFill/>
                  </a:ln>
                  <a:solidFill>
                    <a:sysClr val="windowText" lastClr="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617" name="下弧形箭头 107"/>
              <p:cNvSpPr/>
              <p:nvPr/>
            </p:nvSpPr>
            <p:spPr>
              <a:xfrm rot="17280000">
                <a:off x="13667" y="1889"/>
                <a:ext cx="564" cy="340"/>
              </a:xfrm>
              <a:prstGeom prst="curvedUpArrow">
                <a:avLst>
                  <a:gd name="adj1" fmla="val 25000"/>
                  <a:gd name="adj2" fmla="val 102317"/>
                  <a:gd name="adj3" fmla="val 25000"/>
                </a:avLst>
              </a:prstGeom>
              <a:solidFill>
                <a:srgbClr val="5B9BD5"/>
              </a:solidFill>
              <a:ln w="12700" cap="flat" cmpd="sng" algn="ctr">
                <a:solidFill>
                  <a:srgbClr val="5B9BD5">
                    <a:shade val="50000"/>
                  </a:srgbClr>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1" i="0" u="none" strike="noStrike" kern="0" cap="none" spc="0" normalizeH="0" baseline="0" noProof="1">
                  <a:ln>
                    <a:noFill/>
                  </a:ln>
                  <a:solidFill>
                    <a:sysClr val="windowText" lastClr="0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grpSp>
            <p:nvGrpSpPr>
              <p:cNvPr id="3" name="组合 112"/>
              <p:cNvGrpSpPr/>
              <p:nvPr/>
            </p:nvGrpSpPr>
            <p:grpSpPr>
              <a:xfrm>
                <a:off x="1404" y="3317"/>
                <a:ext cx="13026" cy="7026"/>
                <a:chOff x="1077" y="3630"/>
                <a:chExt cx="12690" cy="7106"/>
              </a:xfrm>
            </p:grpSpPr>
            <p:cxnSp>
              <p:nvCxnSpPr>
                <p:cNvPr id="628" name="肘形连接符 627"/>
                <p:cNvCxnSpPr>
                  <a:stCxn id="575" idx="3"/>
                  <a:endCxn id="562" idx="1"/>
                </p:cNvCxnSpPr>
                <p:nvPr/>
              </p:nvCxnSpPr>
              <p:spPr>
                <a:xfrm flipH="1">
                  <a:off x="1077" y="8908"/>
                  <a:ext cx="12690" cy="1821"/>
                </a:xfrm>
                <a:prstGeom prst="bentConnector3">
                  <a:avLst>
                    <a:gd name="adj1" fmla="val -2955"/>
                  </a:avLst>
                </a:prstGeom>
                <a:noFill/>
                <a:ln w="9525" cap="flat" cmpd="sng" algn="ctr">
                  <a:solidFill>
                    <a:sysClr val="window" lastClr="FFFFFF">
                      <a:lumMod val="65000"/>
                    </a:sysClr>
                  </a:solidFill>
                  <a:prstDash val="solid"/>
                  <a:miter lim="800000"/>
                </a:ln>
                <a:effectLst/>
              </p:spPr>
            </p:cxnSp>
            <p:cxnSp>
              <p:nvCxnSpPr>
                <p:cNvPr id="629" name="直接连接符 111"/>
                <p:cNvCxnSpPr>
                  <a:stCxn id="575" idx="3"/>
                  <a:endCxn id="562" idx="1"/>
                </p:cNvCxnSpPr>
                <p:nvPr/>
              </p:nvCxnSpPr>
              <p:spPr>
                <a:xfrm flipV="1">
                  <a:off x="1081" y="3630"/>
                  <a:ext cx="0" cy="7106"/>
                </a:xfrm>
                <a:prstGeom prst="line">
                  <a:avLst/>
                </a:prstGeom>
                <a:noFill/>
                <a:ln w="9525" cap="flat" cmpd="sng" algn="ctr">
                  <a:solidFill>
                    <a:sysClr val="window" lastClr="FFFFFF">
                      <a:lumMod val="65000"/>
                    </a:sysClr>
                  </a:solidFill>
                  <a:prstDash val="solid"/>
                  <a:miter lim="800000"/>
                </a:ln>
                <a:effectLst/>
              </p:spPr>
            </p:cxnSp>
          </p:grpSp>
          <p:cxnSp>
            <p:nvCxnSpPr>
              <p:cNvPr id="619" name="直接箭头连接符 113"/>
              <p:cNvCxnSpPr>
                <a:stCxn id="575" idx="3"/>
                <a:endCxn id="562" idx="1"/>
              </p:cNvCxnSpPr>
              <p:nvPr/>
            </p:nvCxnSpPr>
            <p:spPr>
              <a:xfrm>
                <a:off x="1412" y="3314"/>
                <a:ext cx="402" cy="0"/>
              </a:xfrm>
              <a:prstGeom prst="straightConnector1">
                <a:avLst/>
              </a:prstGeom>
              <a:noFill/>
              <a:ln w="6350" cap="flat" cmpd="sng" algn="ctr">
                <a:solidFill>
                  <a:sysClr val="window" lastClr="FFFFFF">
                    <a:lumMod val="65000"/>
                  </a:sysClr>
                </a:solidFill>
                <a:prstDash val="solid"/>
                <a:miter lim="800000"/>
                <a:headEnd type="none"/>
                <a:tailEnd type="triangle" w="med" len="med"/>
              </a:ln>
              <a:effectLst/>
            </p:spPr>
          </p:cxnSp>
          <p:cxnSp>
            <p:nvCxnSpPr>
              <p:cNvPr id="620" name="直接箭头连接符 114"/>
              <p:cNvCxnSpPr/>
              <p:nvPr/>
            </p:nvCxnSpPr>
            <p:spPr>
              <a:xfrm>
                <a:off x="1412" y="5403"/>
                <a:ext cx="5574" cy="0"/>
              </a:xfrm>
              <a:prstGeom prst="straightConnector1">
                <a:avLst/>
              </a:prstGeom>
              <a:noFill/>
              <a:ln w="9525" cap="flat" cmpd="sng" algn="ctr">
                <a:solidFill>
                  <a:sysClr val="window" lastClr="FFFFFF">
                    <a:lumMod val="65000"/>
                  </a:sysClr>
                </a:solidFill>
                <a:prstDash val="solid"/>
                <a:miter lim="800000"/>
                <a:headEnd type="none"/>
                <a:tailEnd type="triangle" w="med" len="med"/>
              </a:ln>
              <a:effectLst/>
            </p:spPr>
          </p:cxnSp>
          <p:cxnSp>
            <p:nvCxnSpPr>
              <p:cNvPr id="621" name="肘形连接符 620"/>
              <p:cNvCxnSpPr>
                <a:stCxn id="546" idx="3"/>
                <a:endCxn id="562" idx="1"/>
              </p:cNvCxnSpPr>
              <p:nvPr/>
            </p:nvCxnSpPr>
            <p:spPr>
              <a:xfrm flipH="1">
                <a:off x="6643" y="3439"/>
                <a:ext cx="3562" cy="617"/>
              </a:xfrm>
              <a:prstGeom prst="bentConnector3">
                <a:avLst>
                  <a:gd name="adj1" fmla="val -10807"/>
                </a:avLst>
              </a:prstGeom>
              <a:noFill/>
              <a:ln w="9525" cap="flat" cmpd="sng" algn="ctr">
                <a:solidFill>
                  <a:sysClr val="window" lastClr="FFFFFF">
                    <a:lumMod val="65000"/>
                  </a:sysClr>
                </a:solidFill>
                <a:prstDash val="solid"/>
                <a:miter lim="800000"/>
              </a:ln>
              <a:effectLst/>
            </p:spPr>
          </p:cxnSp>
          <p:cxnSp>
            <p:nvCxnSpPr>
              <p:cNvPr id="622" name="直接连接符 116"/>
              <p:cNvCxnSpPr/>
              <p:nvPr/>
            </p:nvCxnSpPr>
            <p:spPr>
              <a:xfrm>
                <a:off x="6643" y="4044"/>
                <a:ext cx="0" cy="1356"/>
              </a:xfrm>
              <a:prstGeom prst="line">
                <a:avLst/>
              </a:prstGeom>
              <a:noFill/>
              <a:ln w="9525" cap="flat" cmpd="sng" algn="ctr">
                <a:solidFill>
                  <a:sysClr val="window" lastClr="FFFFFF">
                    <a:lumMod val="65000"/>
                  </a:sysClr>
                </a:solidFill>
                <a:prstDash val="solid"/>
                <a:miter lim="800000"/>
              </a:ln>
              <a:effectLst/>
            </p:spPr>
          </p:cxnSp>
          <p:cxnSp>
            <p:nvCxnSpPr>
              <p:cNvPr id="623" name="肘形连接符 622"/>
              <p:cNvCxnSpPr/>
              <p:nvPr/>
            </p:nvCxnSpPr>
            <p:spPr>
              <a:xfrm flipH="1">
                <a:off x="1987" y="5403"/>
                <a:ext cx="12585" cy="1261"/>
              </a:xfrm>
              <a:prstGeom prst="bentConnector3">
                <a:avLst>
                  <a:gd name="adj1" fmla="val -3059"/>
                </a:avLst>
              </a:prstGeom>
              <a:noFill/>
              <a:ln w="9525" cap="flat" cmpd="sng" algn="ctr">
                <a:solidFill>
                  <a:sysClr val="window" lastClr="FFFFFF">
                    <a:lumMod val="65000"/>
                  </a:sysClr>
                </a:solidFill>
                <a:prstDash val="solid"/>
                <a:miter lim="800000"/>
              </a:ln>
              <a:effectLst/>
            </p:spPr>
          </p:cxnSp>
          <p:cxnSp>
            <p:nvCxnSpPr>
              <p:cNvPr id="624" name="直接连接符 120"/>
              <p:cNvCxnSpPr/>
              <p:nvPr/>
            </p:nvCxnSpPr>
            <p:spPr>
              <a:xfrm>
                <a:off x="1987" y="6679"/>
                <a:ext cx="0" cy="2146"/>
              </a:xfrm>
              <a:prstGeom prst="line">
                <a:avLst/>
              </a:prstGeom>
              <a:noFill/>
              <a:ln w="12700" cap="flat" cmpd="sng" algn="ctr">
                <a:solidFill>
                  <a:sysClr val="window" lastClr="FFFFFF">
                    <a:lumMod val="65000"/>
                  </a:sysClr>
                </a:solidFill>
                <a:prstDash val="solid"/>
                <a:miter lim="800000"/>
              </a:ln>
              <a:effectLst/>
            </p:spPr>
          </p:cxnSp>
          <p:cxnSp>
            <p:nvCxnSpPr>
              <p:cNvPr id="625" name="直接箭头连接符 121"/>
              <p:cNvCxnSpPr/>
              <p:nvPr/>
            </p:nvCxnSpPr>
            <p:spPr>
              <a:xfrm>
                <a:off x="1977" y="8828"/>
                <a:ext cx="409" cy="0"/>
              </a:xfrm>
              <a:prstGeom prst="straightConnector1">
                <a:avLst/>
              </a:prstGeom>
              <a:noFill/>
              <a:ln w="6350" cap="flat" cmpd="sng" algn="ctr">
                <a:solidFill>
                  <a:sysClr val="window" lastClr="FFFFFF">
                    <a:lumMod val="65000"/>
                  </a:sysClr>
                </a:solidFill>
                <a:prstDash val="solid"/>
                <a:miter lim="800000"/>
                <a:headEnd type="none"/>
                <a:tailEnd type="triangle" w="med" len="med"/>
              </a:ln>
              <a:effectLst/>
            </p:spPr>
          </p:cxnSp>
          <p:sp>
            <p:nvSpPr>
              <p:cNvPr id="626" name="矩形 625"/>
              <p:cNvSpPr/>
              <p:nvPr/>
            </p:nvSpPr>
            <p:spPr>
              <a:xfrm>
                <a:off x="9051" y="3160"/>
                <a:ext cx="1268" cy="562"/>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制定与批准</a:t>
                </a:r>
                <a:r>
                  <a:rPr kumimoji="0" lang="en-US" altLang="zh-CN"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KPI</a:t>
                </a: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指标方案</a:t>
                </a:r>
              </a:p>
            </p:txBody>
          </p:sp>
          <p:sp>
            <p:nvSpPr>
              <p:cNvPr id="627" name="矩形 626"/>
              <p:cNvSpPr/>
              <p:nvPr/>
            </p:nvSpPr>
            <p:spPr>
              <a:xfrm>
                <a:off x="11649" y="5289"/>
                <a:ext cx="925" cy="1003"/>
              </a:xfrm>
              <a:prstGeom prst="rect">
                <a:avLst/>
              </a:prstGeom>
              <a:solidFill>
                <a:srgbClr val="FFFFFF"/>
              </a:solidFill>
              <a:ln w="12700" cap="flat" cmpd="sng" algn="ctr">
                <a:noFill/>
                <a:prstDash val="solid"/>
                <a:miter lim="800000"/>
              </a:ln>
              <a:effectLst/>
            </p:spPr>
            <p:txBody>
              <a:bodyPr lIns="26431" tIns="26431" rIns="26431" bIns="26431"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制定</a:t>
                </a:r>
                <a:r>
                  <a:rPr kumimoji="0" lang="en-US" altLang="zh-CN"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KPI</a:t>
                </a: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目标值（含战略目标）</a:t>
                </a:r>
              </a:p>
            </p:txBody>
          </p:sp>
        </p:grpSp>
        <p:cxnSp>
          <p:nvCxnSpPr>
            <p:cNvPr id="630" name="直接箭头连接符 104"/>
            <p:cNvCxnSpPr>
              <a:stCxn id="544" idx="3"/>
              <a:endCxn id="564" idx="1"/>
            </p:cNvCxnSpPr>
            <p:nvPr/>
          </p:nvCxnSpPr>
          <p:spPr>
            <a:xfrm>
              <a:off x="5573" y="4227"/>
              <a:ext cx="254" cy="0"/>
            </a:xfrm>
            <a:prstGeom prst="straightConnector1">
              <a:avLst/>
            </a:prstGeom>
            <a:noFill/>
            <a:ln w="9525" cap="flat" cmpd="sng" algn="ctr">
              <a:solidFill>
                <a:sysClr val="window" lastClr="FFFFFF">
                  <a:lumMod val="65000"/>
                </a:sysClr>
              </a:solidFill>
              <a:prstDash val="solid"/>
              <a:miter lim="800000"/>
              <a:headEnd type="none"/>
              <a:tailEnd type="triangle" w="med" len="med"/>
            </a:ln>
            <a:effectLst/>
          </p:spPr>
        </p:cxnSp>
        <p:cxnSp>
          <p:nvCxnSpPr>
            <p:cNvPr id="631" name="直接箭头连接符 104"/>
            <p:cNvCxnSpPr>
              <a:stCxn id="564" idx="3"/>
              <a:endCxn id="545" idx="1"/>
            </p:cNvCxnSpPr>
            <p:nvPr/>
          </p:nvCxnSpPr>
          <p:spPr>
            <a:xfrm>
              <a:off x="6805" y="4227"/>
              <a:ext cx="328" cy="0"/>
            </a:xfrm>
            <a:prstGeom prst="straightConnector1">
              <a:avLst/>
            </a:prstGeom>
            <a:noFill/>
            <a:ln w="9525" cap="flat" cmpd="sng" algn="ctr">
              <a:solidFill>
                <a:sysClr val="window" lastClr="FFFFFF">
                  <a:lumMod val="65000"/>
                </a:sysClr>
              </a:solidFill>
              <a:prstDash val="solid"/>
              <a:miter lim="800000"/>
              <a:headEnd type="none"/>
              <a:tailEnd type="triangle" w="med" len="med"/>
            </a:ln>
            <a:effectLst/>
          </p:spPr>
        </p:cxnSp>
        <p:cxnSp>
          <p:nvCxnSpPr>
            <p:cNvPr id="632" name="直接箭头连接符 104"/>
            <p:cNvCxnSpPr>
              <a:stCxn id="545" idx="3"/>
              <a:endCxn id="546" idx="1"/>
            </p:cNvCxnSpPr>
            <p:nvPr/>
          </p:nvCxnSpPr>
          <p:spPr>
            <a:xfrm>
              <a:off x="7883" y="4227"/>
              <a:ext cx="344" cy="0"/>
            </a:xfrm>
            <a:prstGeom prst="straightConnector1">
              <a:avLst/>
            </a:prstGeom>
            <a:noFill/>
            <a:ln w="9525" cap="flat" cmpd="sng" algn="ctr">
              <a:solidFill>
                <a:sysClr val="window" lastClr="FFFFFF">
                  <a:lumMod val="65000"/>
                </a:sysClr>
              </a:solidFill>
              <a:prstDash val="solid"/>
              <a:miter lim="800000"/>
              <a:headEnd type="none"/>
              <a:tailEnd type="triangle" w="med" len="med"/>
            </a:ln>
            <a:effectLst/>
          </p:spPr>
        </p:cxnSp>
        <p:cxnSp>
          <p:nvCxnSpPr>
            <p:cNvPr id="633" name="直接箭头连接符 104"/>
            <p:cNvCxnSpPr>
              <a:stCxn id="546" idx="3"/>
              <a:endCxn id="547" idx="1"/>
            </p:cNvCxnSpPr>
            <p:nvPr/>
          </p:nvCxnSpPr>
          <p:spPr>
            <a:xfrm>
              <a:off x="9425" y="4227"/>
              <a:ext cx="219" cy="5"/>
            </a:xfrm>
            <a:prstGeom prst="straightConnector1">
              <a:avLst/>
            </a:prstGeom>
            <a:noFill/>
            <a:ln w="9525" cap="flat" cmpd="sng" algn="ctr">
              <a:solidFill>
                <a:sysClr val="window" lastClr="FFFFFF">
                  <a:lumMod val="65000"/>
                </a:sysClr>
              </a:solidFill>
              <a:prstDash val="solid"/>
              <a:miter lim="800000"/>
              <a:headEnd type="none"/>
              <a:tailEnd type="triangle" w="med" len="med"/>
            </a:ln>
            <a:effectLst/>
          </p:spPr>
        </p:cxnSp>
        <p:cxnSp>
          <p:nvCxnSpPr>
            <p:cNvPr id="634" name="直接箭头连接符 104"/>
            <p:cNvCxnSpPr>
              <a:stCxn id="547" idx="3"/>
            </p:cNvCxnSpPr>
            <p:nvPr/>
          </p:nvCxnSpPr>
          <p:spPr>
            <a:xfrm>
              <a:off x="10727" y="4232"/>
              <a:ext cx="186" cy="0"/>
            </a:xfrm>
            <a:prstGeom prst="straightConnector1">
              <a:avLst/>
            </a:prstGeom>
            <a:noFill/>
            <a:ln w="9525" cap="flat" cmpd="sng" algn="ctr">
              <a:solidFill>
                <a:sysClr val="window" lastClr="FFFFFF">
                  <a:lumMod val="65000"/>
                </a:sysClr>
              </a:solidFill>
              <a:prstDash val="solid"/>
              <a:miter lim="800000"/>
              <a:headEnd type="none"/>
              <a:tailEnd type="triangle" w="med" len="med"/>
            </a:ln>
            <a:effectLst/>
          </p:spPr>
        </p:cxnSp>
        <p:cxnSp>
          <p:nvCxnSpPr>
            <p:cNvPr id="635" name="直接箭头连接符 104"/>
            <p:cNvCxnSpPr>
              <a:stCxn id="543" idx="2"/>
            </p:cNvCxnSpPr>
            <p:nvPr/>
          </p:nvCxnSpPr>
          <p:spPr>
            <a:xfrm>
              <a:off x="4743" y="3882"/>
              <a:ext cx="0" cy="147"/>
            </a:xfrm>
            <a:prstGeom prst="straightConnector1">
              <a:avLst/>
            </a:prstGeom>
            <a:noFill/>
            <a:ln w="9525" cap="flat" cmpd="sng" algn="ctr">
              <a:solidFill>
                <a:sysClr val="window" lastClr="FFFFFF">
                  <a:lumMod val="65000"/>
                </a:sysClr>
              </a:solidFill>
              <a:prstDash val="solid"/>
              <a:miter lim="800000"/>
              <a:headEnd type="none"/>
              <a:tailEnd type="triangle" w="med" len="med"/>
            </a:ln>
            <a:effectLst/>
          </p:spPr>
        </p:cxnSp>
        <p:cxnSp>
          <p:nvCxnSpPr>
            <p:cNvPr id="636" name="肘形连接符 635"/>
            <p:cNvCxnSpPr>
              <a:endCxn id="548" idx="1"/>
            </p:cNvCxnSpPr>
            <p:nvPr/>
          </p:nvCxnSpPr>
          <p:spPr>
            <a:xfrm rot="5400000" flipH="1" flipV="1">
              <a:off x="7880" y="3769"/>
              <a:ext cx="626" cy="275"/>
            </a:xfrm>
            <a:prstGeom prst="bentConnector2">
              <a:avLst/>
            </a:prstGeom>
            <a:noFill/>
            <a:ln w="6350" cap="flat" cmpd="sng" algn="ctr">
              <a:solidFill>
                <a:srgbClr val="FFFFFF">
                  <a:lumMod val="75000"/>
                </a:srgbClr>
              </a:solidFill>
              <a:prstDash val="solid"/>
              <a:miter lim="800000"/>
              <a:headEnd type="none"/>
              <a:tailEnd type="triangle"/>
            </a:ln>
            <a:effectLst/>
          </p:spPr>
        </p:cxnSp>
        <p:cxnSp>
          <p:nvCxnSpPr>
            <p:cNvPr id="637" name="直接箭头连接符 104"/>
            <p:cNvCxnSpPr>
              <a:stCxn id="549" idx="3"/>
            </p:cNvCxnSpPr>
            <p:nvPr/>
          </p:nvCxnSpPr>
          <p:spPr>
            <a:xfrm>
              <a:off x="9967" y="5575"/>
              <a:ext cx="212" cy="0"/>
            </a:xfrm>
            <a:prstGeom prst="straightConnector1">
              <a:avLst/>
            </a:prstGeom>
            <a:noFill/>
            <a:ln w="9525" cap="flat" cmpd="sng" algn="ctr">
              <a:solidFill>
                <a:sysClr val="window" lastClr="FFFFFF">
                  <a:lumMod val="65000"/>
                </a:sysClr>
              </a:solidFill>
              <a:prstDash val="solid"/>
              <a:miter lim="800000"/>
              <a:headEnd type="none"/>
              <a:tailEnd type="triangle" w="med" len="med"/>
            </a:ln>
            <a:effectLst/>
          </p:spPr>
        </p:cxnSp>
        <p:cxnSp>
          <p:nvCxnSpPr>
            <p:cNvPr id="638" name="肘形连接符 637"/>
            <p:cNvCxnSpPr>
              <a:stCxn id="549" idx="0"/>
            </p:cNvCxnSpPr>
            <p:nvPr/>
          </p:nvCxnSpPr>
          <p:spPr>
            <a:xfrm rot="5400000" flipH="1" flipV="1">
              <a:off x="10308" y="4487"/>
              <a:ext cx="149" cy="1622"/>
            </a:xfrm>
            <a:prstGeom prst="bentConnector2">
              <a:avLst/>
            </a:prstGeom>
            <a:noFill/>
            <a:ln w="6350" cap="flat" cmpd="sng" algn="ctr">
              <a:solidFill>
                <a:srgbClr val="FFFFFF">
                  <a:lumMod val="75000"/>
                </a:srgbClr>
              </a:solidFill>
              <a:prstDash val="solid"/>
              <a:miter lim="800000"/>
              <a:headEnd type="none"/>
              <a:tailEnd type="triangle"/>
            </a:ln>
            <a:effectLst/>
          </p:spPr>
        </p:cxnSp>
        <p:grpSp>
          <p:nvGrpSpPr>
            <p:cNvPr id="4" name="组合 638"/>
            <p:cNvGrpSpPr/>
            <p:nvPr/>
          </p:nvGrpSpPr>
          <p:grpSpPr>
            <a:xfrm>
              <a:off x="6069" y="4800"/>
              <a:ext cx="2418" cy="1250"/>
              <a:chOff x="2997038" y="2571007"/>
              <a:chExt cx="2047001" cy="1058617"/>
            </a:xfrm>
          </p:grpSpPr>
          <p:sp>
            <p:nvSpPr>
              <p:cNvPr id="640" name="矩形标注 639"/>
              <p:cNvSpPr/>
              <p:nvPr/>
            </p:nvSpPr>
            <p:spPr>
              <a:xfrm>
                <a:off x="3819076" y="2700961"/>
                <a:ext cx="1047849" cy="469883"/>
              </a:xfrm>
              <a:prstGeom prst="wedgeRectCallout">
                <a:avLst>
                  <a:gd name="adj1" fmla="val 61786"/>
                  <a:gd name="adj2" fmla="val -181662"/>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641" name="矩形标注 640"/>
              <p:cNvSpPr/>
              <p:nvPr/>
            </p:nvSpPr>
            <p:spPr>
              <a:xfrm>
                <a:off x="3996190" y="2700962"/>
                <a:ext cx="1047849" cy="469883"/>
              </a:xfrm>
              <a:prstGeom prst="wedgeRectCallout">
                <a:avLst>
                  <a:gd name="adj1" fmla="val 114853"/>
                  <a:gd name="adj2" fmla="val 34164"/>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642" name="矩形标注 641"/>
              <p:cNvSpPr/>
              <p:nvPr/>
            </p:nvSpPr>
            <p:spPr>
              <a:xfrm>
                <a:off x="3206037" y="2667059"/>
                <a:ext cx="1829693" cy="962565"/>
              </a:xfrm>
              <a:prstGeom prst="wedgeRectCallout">
                <a:avLst>
                  <a:gd name="adj1" fmla="val -91589"/>
                  <a:gd name="adj2" fmla="val -105043"/>
                </a:avLst>
              </a:prstGeom>
              <a:solidFill>
                <a:srgbClr val="C00000"/>
              </a:solidFill>
              <a:ln w="12700" cap="flat" cmpd="sng" algn="ctr">
                <a:noFill/>
                <a:prstDash val="solid"/>
                <a:miter lim="800000"/>
              </a:ln>
              <a:effectLst/>
            </p:spPr>
            <p:txBody>
              <a:bodyPr lIns="27000" tIns="27000" rIns="27000" bIns="27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战略规划输出关键战略举措并明确</a:t>
                </a:r>
                <a:r>
                  <a:rPr kumimoji="0" lang="en-US" altLang="zh-CN"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3-5</a:t>
                </a: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年目标，并把战略举措及首年目标输入</a:t>
                </a:r>
                <a:r>
                  <a:rPr kumimoji="0" lang="en-US" altLang="zh-CN"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BP</a:t>
                </a: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中</a:t>
                </a:r>
              </a:p>
            </p:txBody>
          </p:sp>
          <p:sp>
            <p:nvSpPr>
              <p:cNvPr id="643" name="椭圆 642"/>
              <p:cNvSpPr>
                <a:spLocks noChangeAspect="1"/>
              </p:cNvSpPr>
              <p:nvPr/>
            </p:nvSpPr>
            <p:spPr>
              <a:xfrm>
                <a:off x="2997038" y="2571007"/>
                <a:ext cx="288000" cy="288000"/>
              </a:xfrm>
              <a:prstGeom prst="ellipse">
                <a:avLst/>
              </a:prstGeom>
              <a:solidFill>
                <a:srgbClr val="40B3F9">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1</a:t>
                </a:r>
              </a:p>
            </p:txBody>
          </p:sp>
        </p:grpSp>
        <p:grpSp>
          <p:nvGrpSpPr>
            <p:cNvPr id="5" name="组合 643"/>
            <p:cNvGrpSpPr/>
            <p:nvPr/>
          </p:nvGrpSpPr>
          <p:grpSpPr>
            <a:xfrm>
              <a:off x="12745" y="3453"/>
              <a:ext cx="2317" cy="1112"/>
              <a:chOff x="8649551" y="1430272"/>
              <a:chExt cx="1961336" cy="941394"/>
            </a:xfrm>
          </p:grpSpPr>
          <p:sp>
            <p:nvSpPr>
              <p:cNvPr id="645" name="矩形标注 644"/>
              <p:cNvSpPr/>
              <p:nvPr/>
            </p:nvSpPr>
            <p:spPr>
              <a:xfrm>
                <a:off x="9367498" y="1852714"/>
                <a:ext cx="1047849" cy="469883"/>
              </a:xfrm>
              <a:prstGeom prst="wedgeRectCallout">
                <a:avLst>
                  <a:gd name="adj1" fmla="val -39629"/>
                  <a:gd name="adj2" fmla="val 252247"/>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646" name="矩形标注 645"/>
              <p:cNvSpPr/>
              <p:nvPr/>
            </p:nvSpPr>
            <p:spPr>
              <a:xfrm>
                <a:off x="8781194" y="1549558"/>
                <a:ext cx="1829693" cy="822108"/>
              </a:xfrm>
              <a:prstGeom prst="wedgeRectCallout">
                <a:avLst>
                  <a:gd name="adj1" fmla="val -99693"/>
                  <a:gd name="adj2" fmla="val 4680"/>
                </a:avLst>
              </a:prstGeom>
              <a:solidFill>
                <a:srgbClr val="C00000"/>
              </a:solidFill>
              <a:ln w="12700" cap="flat" cmpd="sng" algn="ctr">
                <a:noFill/>
                <a:prstDash val="solid"/>
                <a:miter lim="800000"/>
              </a:ln>
              <a:effectLst/>
            </p:spPr>
            <p:txBody>
              <a:bodyPr lIns="27000" tIns="27000" rIns="27000" bIns="27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选择重要的战略举措和目标作为战略目标</a:t>
                </a:r>
                <a:r>
                  <a:rPr kumimoji="0" lang="en-US" altLang="zh-CN"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KPI</a:t>
                </a: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，确定目标值</a:t>
                </a:r>
              </a:p>
            </p:txBody>
          </p:sp>
          <p:sp>
            <p:nvSpPr>
              <p:cNvPr id="647" name="椭圆 646"/>
              <p:cNvSpPr>
                <a:spLocks noChangeAspect="1"/>
              </p:cNvSpPr>
              <p:nvPr/>
            </p:nvSpPr>
            <p:spPr>
              <a:xfrm>
                <a:off x="8649551" y="1430272"/>
                <a:ext cx="288000" cy="288000"/>
              </a:xfrm>
              <a:prstGeom prst="ellipse">
                <a:avLst/>
              </a:prstGeom>
              <a:solidFill>
                <a:srgbClr val="40B3F9">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3</a:t>
                </a:r>
              </a:p>
            </p:txBody>
          </p:sp>
        </p:grpSp>
        <p:grpSp>
          <p:nvGrpSpPr>
            <p:cNvPr id="6" name="组合 647"/>
            <p:cNvGrpSpPr/>
            <p:nvPr/>
          </p:nvGrpSpPr>
          <p:grpSpPr>
            <a:xfrm>
              <a:off x="3426" y="5055"/>
              <a:ext cx="2400" cy="1321"/>
              <a:chOff x="759604" y="2737258"/>
              <a:chExt cx="2032287" cy="1118231"/>
            </a:xfrm>
          </p:grpSpPr>
          <p:sp>
            <p:nvSpPr>
              <p:cNvPr id="649" name="矩形标注 648"/>
              <p:cNvSpPr/>
              <p:nvPr/>
            </p:nvSpPr>
            <p:spPr>
              <a:xfrm>
                <a:off x="921556" y="2892924"/>
                <a:ext cx="1870335" cy="962565"/>
              </a:xfrm>
              <a:prstGeom prst="wedgeRectCallout">
                <a:avLst>
                  <a:gd name="adj1" fmla="val 22328"/>
                  <a:gd name="adj2" fmla="val 179946"/>
                </a:avLst>
              </a:prstGeom>
              <a:solidFill>
                <a:srgbClr val="C00000"/>
              </a:solidFill>
              <a:ln w="12700" cap="flat" cmpd="sng" algn="ctr">
                <a:noFill/>
                <a:prstDash val="solid"/>
                <a:miter lim="800000"/>
              </a:ln>
              <a:effectLst/>
            </p:spPr>
            <p:txBody>
              <a:bodyPr lIns="27000" tIns="27000" rIns="27000" bIns="27000" rtlCol="0" anchor="ct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重点工作按项目化运作，按阶段</a:t>
                </a:r>
                <a:r>
                  <a:rPr kumimoji="0" lang="en-US" altLang="zh-CN"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a:t>
                </a: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里程碑进行管理，确保战略在重点工作中得到执行落地</a:t>
                </a:r>
              </a:p>
            </p:txBody>
          </p:sp>
          <p:sp>
            <p:nvSpPr>
              <p:cNvPr id="650" name="椭圆 649"/>
              <p:cNvSpPr>
                <a:spLocks noChangeAspect="1"/>
              </p:cNvSpPr>
              <p:nvPr/>
            </p:nvSpPr>
            <p:spPr>
              <a:xfrm>
                <a:off x="759604" y="2737258"/>
                <a:ext cx="288000" cy="288000"/>
              </a:xfrm>
              <a:prstGeom prst="ellipse">
                <a:avLst/>
              </a:prstGeom>
              <a:solidFill>
                <a:srgbClr val="40B3F9">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4</a:t>
                </a:r>
              </a:p>
            </p:txBody>
          </p:sp>
        </p:grpSp>
        <p:grpSp>
          <p:nvGrpSpPr>
            <p:cNvPr id="7" name="组合 650"/>
            <p:cNvGrpSpPr/>
            <p:nvPr/>
          </p:nvGrpSpPr>
          <p:grpSpPr>
            <a:xfrm>
              <a:off x="2809" y="7609"/>
              <a:ext cx="1738" cy="1173"/>
              <a:chOff x="236761" y="4949751"/>
              <a:chExt cx="1471583" cy="992931"/>
            </a:xfrm>
          </p:grpSpPr>
          <p:sp>
            <p:nvSpPr>
              <p:cNvPr id="652" name="矩形标注 651"/>
              <p:cNvSpPr/>
              <p:nvPr/>
            </p:nvSpPr>
            <p:spPr>
              <a:xfrm>
                <a:off x="351688" y="5126480"/>
                <a:ext cx="1356656" cy="816202"/>
              </a:xfrm>
              <a:prstGeom prst="wedgeRectCallout">
                <a:avLst>
                  <a:gd name="adj1" fmla="val 88849"/>
                  <a:gd name="adj2" fmla="val -23362"/>
                </a:avLst>
              </a:prstGeom>
              <a:solidFill>
                <a:srgbClr val="C00000"/>
              </a:solidFill>
              <a:ln w="12700" cap="flat" cmpd="sng" algn="ctr">
                <a:noFill/>
                <a:prstDash val="solid"/>
                <a:miter lim="800000"/>
              </a:ln>
              <a:effectLst/>
            </p:spPr>
            <p:txBody>
              <a:bodyPr lIns="27000" tIns="27000" rIns="27000" bIns="27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例行监控战略目标，及时识别问题和风险</a:t>
                </a:r>
              </a:p>
            </p:txBody>
          </p:sp>
          <p:sp>
            <p:nvSpPr>
              <p:cNvPr id="653" name="椭圆 652"/>
              <p:cNvSpPr>
                <a:spLocks noChangeAspect="1"/>
              </p:cNvSpPr>
              <p:nvPr/>
            </p:nvSpPr>
            <p:spPr>
              <a:xfrm>
                <a:off x="236761" y="4949751"/>
                <a:ext cx="288000" cy="288000"/>
              </a:xfrm>
              <a:prstGeom prst="ellipse">
                <a:avLst/>
              </a:prstGeom>
              <a:solidFill>
                <a:srgbClr val="40B3F9">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5</a:t>
                </a:r>
              </a:p>
            </p:txBody>
          </p:sp>
        </p:grpSp>
        <p:sp>
          <p:nvSpPr>
            <p:cNvPr id="654" name="矩形 653"/>
            <p:cNvSpPr/>
            <p:nvPr/>
          </p:nvSpPr>
          <p:spPr>
            <a:xfrm>
              <a:off x="11506" y="7248"/>
              <a:ext cx="1190" cy="425"/>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KPI</a:t>
              </a:r>
              <a:r>
                <a:rPr kumimoji="0" lang="zh-CN" altLang="en-US" sz="79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结果评估（含战略目标）</a:t>
              </a:r>
            </a:p>
          </p:txBody>
        </p:sp>
        <p:cxnSp>
          <p:nvCxnSpPr>
            <p:cNvPr id="655" name="直接箭头连接符 103"/>
            <p:cNvCxnSpPr/>
            <p:nvPr/>
          </p:nvCxnSpPr>
          <p:spPr>
            <a:xfrm>
              <a:off x="12688" y="7504"/>
              <a:ext cx="425" cy="5"/>
            </a:xfrm>
            <a:prstGeom prst="straightConnector1">
              <a:avLst/>
            </a:prstGeom>
            <a:noFill/>
            <a:ln w="9525" cap="flat" cmpd="sng" algn="ctr">
              <a:solidFill>
                <a:sysClr val="window" lastClr="FFFFFF">
                  <a:lumMod val="65000"/>
                </a:sysClr>
              </a:solidFill>
              <a:prstDash val="solid"/>
              <a:miter lim="800000"/>
              <a:headEnd type="none"/>
              <a:tailEnd type="triangle" w="med" len="med"/>
            </a:ln>
            <a:effectLst/>
          </p:spPr>
        </p:cxnSp>
        <p:grpSp>
          <p:nvGrpSpPr>
            <p:cNvPr id="8" name="组合 655"/>
            <p:cNvGrpSpPr/>
            <p:nvPr/>
          </p:nvGrpSpPr>
          <p:grpSpPr>
            <a:xfrm>
              <a:off x="8151" y="7733"/>
              <a:ext cx="4180" cy="683"/>
              <a:chOff x="4760089" y="5054627"/>
              <a:chExt cx="3539349" cy="578495"/>
            </a:xfrm>
          </p:grpSpPr>
          <p:sp>
            <p:nvSpPr>
              <p:cNvPr id="657" name="矩形标注 656"/>
              <p:cNvSpPr/>
              <p:nvPr/>
            </p:nvSpPr>
            <p:spPr>
              <a:xfrm>
                <a:off x="4941160" y="5156504"/>
                <a:ext cx="3358278" cy="476618"/>
              </a:xfrm>
              <a:prstGeom prst="wedgeRectCallout">
                <a:avLst>
                  <a:gd name="adj1" fmla="val -19471"/>
                  <a:gd name="adj2" fmla="val -89487"/>
                </a:avLst>
              </a:prstGeom>
              <a:solidFill>
                <a:srgbClr val="C00000"/>
              </a:solidFill>
              <a:ln w="12700" cap="flat" cmpd="sng" algn="ctr">
                <a:noFill/>
                <a:prstDash val="solid"/>
                <a:miter lim="800000"/>
              </a:ln>
              <a:effectLst/>
            </p:spPr>
            <p:txBody>
              <a:bodyPr lIns="27000" tIns="27000" rIns="27000" bIns="27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战略审视战略举措落地执行情况和里程碑目标完成情况，同时在下一年的</a:t>
                </a:r>
                <a:r>
                  <a:rPr kumimoji="0" lang="en-US" altLang="zh-CN"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SP</a:t>
                </a: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中回顾</a:t>
                </a:r>
              </a:p>
            </p:txBody>
          </p:sp>
          <p:sp>
            <p:nvSpPr>
              <p:cNvPr id="658" name="椭圆 657"/>
              <p:cNvSpPr>
                <a:spLocks noChangeAspect="1"/>
              </p:cNvSpPr>
              <p:nvPr/>
            </p:nvSpPr>
            <p:spPr>
              <a:xfrm>
                <a:off x="4760089" y="5054627"/>
                <a:ext cx="288000" cy="288000"/>
              </a:xfrm>
              <a:prstGeom prst="ellipse">
                <a:avLst/>
              </a:prstGeom>
              <a:solidFill>
                <a:srgbClr val="40B3F9">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6</a:t>
                </a:r>
              </a:p>
            </p:txBody>
          </p:sp>
        </p:grpSp>
        <p:grpSp>
          <p:nvGrpSpPr>
            <p:cNvPr id="9" name="组合 658"/>
            <p:cNvGrpSpPr/>
            <p:nvPr/>
          </p:nvGrpSpPr>
          <p:grpSpPr>
            <a:xfrm>
              <a:off x="13811" y="7041"/>
              <a:ext cx="2593" cy="1140"/>
              <a:chOff x="9552040" y="4468507"/>
              <a:chExt cx="2195460" cy="964819"/>
            </a:xfrm>
          </p:grpSpPr>
          <p:sp>
            <p:nvSpPr>
              <p:cNvPr id="660" name="矩形标注 659"/>
              <p:cNvSpPr/>
              <p:nvPr/>
            </p:nvSpPr>
            <p:spPr>
              <a:xfrm>
                <a:off x="9704910" y="4949751"/>
                <a:ext cx="1047849" cy="469883"/>
              </a:xfrm>
              <a:prstGeom prst="wedgeRectCallout">
                <a:avLst>
                  <a:gd name="adj1" fmla="val -168168"/>
                  <a:gd name="adj2" fmla="val -58063"/>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661" name="矩形标注 660"/>
              <p:cNvSpPr/>
              <p:nvPr/>
            </p:nvSpPr>
            <p:spPr>
              <a:xfrm>
                <a:off x="9647720" y="4643514"/>
                <a:ext cx="2099780" cy="789812"/>
              </a:xfrm>
              <a:prstGeom prst="wedgeRectCallout">
                <a:avLst>
                  <a:gd name="adj1" fmla="val -32408"/>
                  <a:gd name="adj2" fmla="val 82699"/>
                </a:avLst>
              </a:prstGeom>
              <a:solidFill>
                <a:srgbClr val="C00000"/>
              </a:solidFill>
              <a:ln w="12700" cap="flat" cmpd="sng" algn="ctr">
                <a:noFill/>
                <a:prstDash val="solid"/>
                <a:miter lim="800000"/>
              </a:ln>
              <a:effectLst/>
            </p:spPr>
            <p:txBody>
              <a:bodyPr lIns="27000" tIns="27000" rIns="27000" bIns="27000" rtlCol="0" anchor="ct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战略目标</a:t>
                </a:r>
                <a:r>
                  <a:rPr kumimoji="0" lang="en-US" altLang="zh-CN"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KPI</a:t>
                </a: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、重点工作评价结果通过</a:t>
                </a:r>
                <a:r>
                  <a:rPr kumimoji="0" lang="en-US" altLang="zh-CN"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KPI</a:t>
                </a: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a:t>
                </a:r>
                <a:r>
                  <a:rPr kumimoji="0" lang="en-US" altLang="zh-CN"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PBC</a:t>
                </a: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进行绩效评价</a:t>
                </a:r>
              </a:p>
            </p:txBody>
          </p:sp>
          <p:sp>
            <p:nvSpPr>
              <p:cNvPr id="662" name="椭圆 661"/>
              <p:cNvSpPr>
                <a:spLocks noChangeAspect="1"/>
              </p:cNvSpPr>
              <p:nvPr/>
            </p:nvSpPr>
            <p:spPr>
              <a:xfrm>
                <a:off x="9552040" y="4468507"/>
                <a:ext cx="288000" cy="288000"/>
              </a:xfrm>
              <a:prstGeom prst="ellipse">
                <a:avLst/>
              </a:prstGeom>
              <a:solidFill>
                <a:srgbClr val="40B3F9">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7</a:t>
                </a:r>
              </a:p>
            </p:txBody>
          </p:sp>
        </p:grpSp>
        <p:sp>
          <p:nvSpPr>
            <p:cNvPr id="663" name="矩形 662"/>
            <p:cNvSpPr/>
            <p:nvPr/>
          </p:nvSpPr>
          <p:spPr>
            <a:xfrm>
              <a:off x="9176" y="5858"/>
              <a:ext cx="791" cy="406"/>
            </a:xfrm>
            <a:prstGeom prst="rect">
              <a:avLst/>
            </a:prstGeom>
            <a:solidFill>
              <a:srgbClr val="FFFFFF"/>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790" b="1"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VoX</a:t>
              </a:r>
              <a:r>
                <a:rPr kumimoji="0" lang="zh-CN" altLang="en-US" sz="79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分析</a:t>
              </a:r>
            </a:p>
          </p:txBody>
        </p:sp>
        <p:cxnSp>
          <p:nvCxnSpPr>
            <p:cNvPr id="664" name="肘形连接符 663"/>
            <p:cNvCxnSpPr>
              <a:stCxn id="663" idx="3"/>
            </p:cNvCxnSpPr>
            <p:nvPr/>
          </p:nvCxnSpPr>
          <p:spPr>
            <a:xfrm flipV="1">
              <a:off x="9967" y="5778"/>
              <a:ext cx="655" cy="283"/>
            </a:xfrm>
            <a:prstGeom prst="bentConnector2">
              <a:avLst/>
            </a:prstGeom>
            <a:noFill/>
            <a:ln w="6350" cap="flat" cmpd="sng" algn="ctr">
              <a:solidFill>
                <a:srgbClr val="FFFFFF">
                  <a:lumMod val="75000"/>
                </a:srgbClr>
              </a:solidFill>
              <a:prstDash val="solid"/>
              <a:miter lim="800000"/>
              <a:headEnd type="none"/>
              <a:tailEnd type="triangle"/>
            </a:ln>
            <a:effectLst/>
          </p:spPr>
        </p:cxnSp>
        <p:grpSp>
          <p:nvGrpSpPr>
            <p:cNvPr id="10" name="组合 664"/>
            <p:cNvGrpSpPr/>
            <p:nvPr/>
          </p:nvGrpSpPr>
          <p:grpSpPr>
            <a:xfrm>
              <a:off x="9114" y="5861"/>
              <a:ext cx="2349" cy="1035"/>
              <a:chOff x="5462241" y="3404822"/>
              <a:chExt cx="1989137" cy="876296"/>
            </a:xfrm>
          </p:grpSpPr>
          <p:sp>
            <p:nvSpPr>
              <p:cNvPr id="666" name="矩形标注 665"/>
              <p:cNvSpPr/>
              <p:nvPr/>
            </p:nvSpPr>
            <p:spPr>
              <a:xfrm>
                <a:off x="5621685" y="3487551"/>
                <a:ext cx="1829693" cy="793567"/>
              </a:xfrm>
              <a:prstGeom prst="wedgeRectCallout">
                <a:avLst>
                  <a:gd name="adj1" fmla="val 60364"/>
                  <a:gd name="adj2" fmla="val -83243"/>
                </a:avLst>
              </a:prstGeom>
              <a:solidFill>
                <a:srgbClr val="C00000"/>
              </a:solidFill>
              <a:ln w="12700" cap="flat" cmpd="sng" algn="ctr">
                <a:noFill/>
                <a:prstDash val="solid"/>
                <a:miter lim="800000"/>
              </a:ln>
              <a:effectLst/>
            </p:spPr>
            <p:txBody>
              <a:bodyPr lIns="27000" tIns="27000" rIns="27000" bIns="27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对准战略举措及首年目标导出年度重点工作，并纳入主管</a:t>
                </a:r>
                <a:r>
                  <a:rPr kumimoji="0" lang="en-US" altLang="zh-CN"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PBC</a:t>
                </a:r>
              </a:p>
            </p:txBody>
          </p:sp>
          <p:sp>
            <p:nvSpPr>
              <p:cNvPr id="667" name="椭圆 666"/>
              <p:cNvSpPr>
                <a:spLocks noChangeAspect="1"/>
              </p:cNvSpPr>
              <p:nvPr/>
            </p:nvSpPr>
            <p:spPr>
              <a:xfrm>
                <a:off x="5462241" y="3404822"/>
                <a:ext cx="288000" cy="288000"/>
              </a:xfrm>
              <a:prstGeom prst="ellipse">
                <a:avLst/>
              </a:prstGeom>
              <a:solidFill>
                <a:srgbClr val="40B3F9">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2</a:t>
                </a:r>
              </a:p>
            </p:txBody>
          </p:sp>
        </p:grpSp>
        <p:sp>
          <p:nvSpPr>
            <p:cNvPr id="669" name="椭圆 668"/>
            <p:cNvSpPr/>
            <p:nvPr/>
          </p:nvSpPr>
          <p:spPr>
            <a:xfrm rot="388040">
              <a:off x="3074" y="4761"/>
              <a:ext cx="8571" cy="2770"/>
            </a:xfrm>
            <a:prstGeom prst="ellipse">
              <a:avLst/>
            </a:prstGeom>
            <a:noFill/>
            <a:ln w="38100" cap="flat" cmpd="sng" algn="ctr">
              <a:solidFill>
                <a:srgbClr val="40B3F9">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sp>
        <p:nvSpPr>
          <p:cNvPr id="137" name="标题 1"/>
          <p:cNvSpPr txBox="1"/>
          <p:nvPr/>
        </p:nvSpPr>
        <p:spPr>
          <a:xfrm>
            <a:off x="372869" y="402797"/>
            <a:ext cx="7346156" cy="432197"/>
          </a:xfrm>
          <a:prstGeom prst="rect">
            <a:avLst/>
          </a:prstGeom>
          <a:noFill/>
          <a:ln>
            <a:noFill/>
          </a:ln>
          <a:extLst>
            <a:ext uri="{909E8E84-426E-40DD-AFC4-6F175D3DCCD1}">
              <a14:hiddenFill xmlns:a14="http://schemas.microsoft.com/office/drawing/2010/main">
                <a:solidFill>
                  <a:srgbClr val="C00000"/>
                </a:solidFill>
              </a14:hiddenFill>
            </a:ext>
          </a:extLst>
        </p:spPr>
        <p:txBody>
          <a:bodyPr anchor="ctr"/>
          <a:lstStyle>
            <a:lvl1pPr algn="ctr" rtl="0" fontAlgn="base">
              <a:spcBef>
                <a:spcPct val="0"/>
              </a:spcBef>
              <a:spcAft>
                <a:spcPct val="0"/>
              </a:spcAft>
              <a:buFont typeface="Arial" panose="020B0604020202020204" pitchFamily="34" charset="0"/>
              <a:defRPr sz="4400" kern="1200">
                <a:solidFill>
                  <a:schemeClr val="tx2"/>
                </a:solidFill>
                <a:latin typeface="+mj-lt"/>
                <a:ea typeface="+mj-ea"/>
                <a:cs typeface="+mj-cs"/>
              </a:defRPr>
            </a:lvl1pPr>
            <a:lvl2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9pPr>
          </a:lstStyle>
          <a:p>
            <a:pPr algn="l" eaLnBrk="1" hangingPunct="1">
              <a:lnSpc>
                <a:spcPct val="90000"/>
              </a:lnSpc>
            </a:pPr>
            <a:r>
              <a:rPr lang="en-US" altLang="zh-CN" sz="2400" b="1" dirty="0">
                <a:solidFill>
                  <a:srgbClr val="0070C0"/>
                </a:solidFill>
                <a:latin typeface="微软雅黑" panose="020B0503020204020204" pitchFamily="34" charset="-122"/>
                <a:ea typeface="微软雅黑" panose="020B0503020204020204" pitchFamily="34" charset="-122"/>
                <a:cs typeface="+mn-ea"/>
              </a:rPr>
              <a:t>BP</a:t>
            </a:r>
            <a:r>
              <a:rPr lang="zh-CN" altLang="en-US" sz="2400" b="1" dirty="0">
                <a:solidFill>
                  <a:srgbClr val="0070C0"/>
                </a:solidFill>
                <a:latin typeface="微软雅黑" panose="020B0503020204020204" pitchFamily="34" charset="-122"/>
                <a:ea typeface="微软雅黑" panose="020B0503020204020204" pitchFamily="34" charset="-122"/>
                <a:cs typeface="+mn-ea"/>
              </a:rPr>
              <a:t>及执行监控：</a:t>
            </a:r>
            <a:r>
              <a:rPr lang="en-US" altLang="zh-CN" sz="2400" b="1" dirty="0">
                <a:solidFill>
                  <a:srgbClr val="0070C0"/>
                </a:solidFill>
                <a:latin typeface="微软雅黑" panose="020B0503020204020204" pitchFamily="34" charset="-122"/>
                <a:ea typeface="微软雅黑" panose="020B0503020204020204" pitchFamily="34" charset="-122"/>
                <a:cs typeface="+mn-ea"/>
              </a:rPr>
              <a:t>BEM</a:t>
            </a:r>
            <a:endParaRPr lang="zh-CN" altLang="en-US" sz="2400" b="1" dirty="0">
              <a:solidFill>
                <a:srgbClr val="0070C0"/>
              </a:solidFill>
              <a:latin typeface="微软雅黑" panose="020B0503020204020204" pitchFamily="34" charset="-122"/>
              <a:ea typeface="微软雅黑" panose="020B0503020204020204" pitchFamily="34" charset="-122"/>
              <a:cs typeface="+mn-ea"/>
            </a:endParaRPr>
          </a:p>
          <a:p>
            <a:pPr algn="l" eaLnBrk="1" hangingPunct="1">
              <a:lnSpc>
                <a:spcPct val="90000"/>
              </a:lnSpc>
            </a:pPr>
            <a:endParaRPr lang="zh-CN" altLang="en-US" sz="2400" b="1" dirty="0">
              <a:solidFill>
                <a:srgbClr val="0070C0"/>
              </a:solidFill>
              <a:latin typeface="微软雅黑" panose="020B0503020204020204" pitchFamily="34" charset="-122"/>
              <a:ea typeface="微软雅黑" panose="020B0503020204020204" pitchFamily="34" charset="-122"/>
              <a:cs typeface="+mn-ea"/>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05" name="Group 63"/>
          <p:cNvGraphicFramePr>
            <a:graphicFrameLocks noGrp="1"/>
          </p:cNvGraphicFramePr>
          <p:nvPr/>
        </p:nvGraphicFramePr>
        <p:xfrm>
          <a:off x="7658735" y="1871345"/>
          <a:ext cx="2473325" cy="3689350"/>
        </p:xfrm>
        <a:graphic>
          <a:graphicData uri="http://schemas.openxmlformats.org/drawingml/2006/table">
            <a:tbl>
              <a:tblPr/>
              <a:tblGrid>
                <a:gridCol w="409575">
                  <a:extLst>
                    <a:ext uri="{9D8B030D-6E8A-4147-A177-3AD203B41FA5}">
                      <a16:colId xmlns:a16="http://schemas.microsoft.com/office/drawing/2014/main" val="20000"/>
                    </a:ext>
                  </a:extLst>
                </a:gridCol>
                <a:gridCol w="429260">
                  <a:extLst>
                    <a:ext uri="{9D8B030D-6E8A-4147-A177-3AD203B41FA5}">
                      <a16:colId xmlns:a16="http://schemas.microsoft.com/office/drawing/2014/main" val="20001"/>
                    </a:ext>
                  </a:extLst>
                </a:gridCol>
                <a:gridCol w="383540">
                  <a:extLst>
                    <a:ext uri="{9D8B030D-6E8A-4147-A177-3AD203B41FA5}">
                      <a16:colId xmlns:a16="http://schemas.microsoft.com/office/drawing/2014/main" val="20002"/>
                    </a:ext>
                  </a:extLst>
                </a:gridCol>
                <a:gridCol w="398780">
                  <a:extLst>
                    <a:ext uri="{9D8B030D-6E8A-4147-A177-3AD203B41FA5}">
                      <a16:colId xmlns:a16="http://schemas.microsoft.com/office/drawing/2014/main" val="20003"/>
                    </a:ext>
                  </a:extLst>
                </a:gridCol>
                <a:gridCol w="444500">
                  <a:extLst>
                    <a:ext uri="{9D8B030D-6E8A-4147-A177-3AD203B41FA5}">
                      <a16:colId xmlns:a16="http://schemas.microsoft.com/office/drawing/2014/main" val="20004"/>
                    </a:ext>
                  </a:extLst>
                </a:gridCol>
                <a:gridCol w="407670">
                  <a:extLst>
                    <a:ext uri="{9D8B030D-6E8A-4147-A177-3AD203B41FA5}">
                      <a16:colId xmlns:a16="http://schemas.microsoft.com/office/drawing/2014/main" val="20005"/>
                    </a:ext>
                  </a:extLst>
                </a:gridCol>
              </a:tblGrid>
              <a:tr h="247015">
                <a:tc gridSpan="6">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r>
                        <a:rPr kumimoji="0" lang="zh-CN" altLang="en-US" sz="780" b="1" i="0" u="none" strike="noStrike" cap="none" normalizeH="0" baseline="0" dirty="0">
                          <a:ln>
                            <a:noFill/>
                          </a:ln>
                          <a:solidFill>
                            <a:srgbClr val="C00000"/>
                          </a:solidFill>
                          <a:effectLst/>
                          <a:latin typeface="Arial" panose="020B0604020202020204" pitchFamily="34" charset="0"/>
                          <a:ea typeface="微软雅黑" panose="020B0503020204020204" pitchFamily="34" charset="-122"/>
                          <a:cs typeface="Arial" panose="020B0604020202020204" pitchFamily="34" charset="0"/>
                          <a:sym typeface="+mn-lt"/>
                        </a:rPr>
                        <a:t>结果目标承诺（</a:t>
                      </a:r>
                      <a:r>
                        <a:rPr kumimoji="0" lang="en-US" altLang="zh-CN" sz="780" b="1" i="0" u="none" strike="noStrike" cap="none" normalizeH="0" baseline="0" dirty="0">
                          <a:ln>
                            <a:noFill/>
                          </a:ln>
                          <a:solidFill>
                            <a:srgbClr val="C00000"/>
                          </a:solidFill>
                          <a:effectLst/>
                          <a:latin typeface="Arial" panose="020B0604020202020204" pitchFamily="34" charset="0"/>
                          <a:ea typeface="微软雅黑" panose="020B0503020204020204" pitchFamily="34" charset="-122"/>
                          <a:cs typeface="Arial" panose="020B0604020202020204" pitchFamily="34" charset="0"/>
                          <a:sym typeface="+mn-lt"/>
                        </a:rPr>
                        <a:t>Win</a:t>
                      </a:r>
                      <a:r>
                        <a:rPr kumimoji="0" lang="zh-CN" altLang="en-US" sz="780" b="1" i="0" u="none" strike="noStrike" cap="none" normalizeH="0" baseline="0" dirty="0">
                          <a:ln>
                            <a:noFill/>
                          </a:ln>
                          <a:solidFill>
                            <a:srgbClr val="C00000"/>
                          </a:solidFill>
                          <a:effectLst/>
                          <a:latin typeface="Arial" panose="020B0604020202020204" pitchFamily="34" charset="0"/>
                          <a:ea typeface="微软雅黑" panose="020B0503020204020204" pitchFamily="34" charset="-122"/>
                          <a:cs typeface="Arial" panose="020B0604020202020204" pitchFamily="34" charset="0"/>
                          <a:sym typeface="+mn-lt"/>
                        </a:rPr>
                        <a:t>）</a:t>
                      </a: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solidFill>
                      <a:srgbClr val="DDDDDD"/>
                    </a:solidFill>
                  </a:tcPr>
                </a:tc>
                <a:tc hMerge="1">
                  <a:txBody>
                    <a:bodyPr/>
                    <a:lstStyle/>
                    <a:p>
                      <a:endParaRPr lang="zh-CN"/>
                    </a:p>
                  </a:txBody>
                  <a:tcPr>
                    <a:lnT w="12700">
                      <a:solidFill>
                        <a:schemeClr val="bg1">
                          <a:lumMod val="65000"/>
                        </a:schemeClr>
                      </a:solidFill>
                      <a:prstDash val="sysDot"/>
                    </a:lnT>
                    <a:lnB w="12700">
                      <a:solidFill>
                        <a:schemeClr val="bg1">
                          <a:lumMod val="65000"/>
                        </a:schemeClr>
                      </a:solidFill>
                      <a:prstDash val="sysDot"/>
                    </a:lnB>
                  </a:tcPr>
                </a:tc>
                <a:tc hMerge="1">
                  <a:txBody>
                    <a:bodyPr/>
                    <a:lstStyle/>
                    <a:p>
                      <a:endParaRPr lang="zh-CN"/>
                    </a:p>
                  </a:txBody>
                  <a:tcPr>
                    <a:lnT w="12700">
                      <a:solidFill>
                        <a:schemeClr val="bg1">
                          <a:lumMod val="65000"/>
                        </a:schemeClr>
                      </a:solidFill>
                      <a:prstDash val="sysDot"/>
                    </a:lnT>
                    <a:lnB w="12700">
                      <a:solidFill>
                        <a:schemeClr val="bg1">
                          <a:lumMod val="65000"/>
                        </a:schemeClr>
                      </a:solidFill>
                      <a:prstDash val="sysDot"/>
                    </a:lnB>
                  </a:tcPr>
                </a:tc>
                <a:tc hMerge="1">
                  <a:txBody>
                    <a:bodyPr/>
                    <a:lstStyle/>
                    <a:p>
                      <a:endParaRPr lang="zh-CN"/>
                    </a:p>
                  </a:txBody>
                  <a:tcPr>
                    <a:lnT w="12700">
                      <a:solidFill>
                        <a:schemeClr val="bg1">
                          <a:lumMod val="65000"/>
                        </a:schemeClr>
                      </a:solidFill>
                      <a:prstDash val="sysDot"/>
                    </a:lnT>
                    <a:lnB w="12700">
                      <a:solidFill>
                        <a:schemeClr val="bg1">
                          <a:lumMod val="65000"/>
                        </a:schemeClr>
                      </a:solidFill>
                      <a:prstDash val="sysDot"/>
                    </a:lnB>
                  </a:tcPr>
                </a:tc>
                <a:tc hMerge="1">
                  <a:txBody>
                    <a:bodyPr/>
                    <a:lstStyle/>
                    <a:p>
                      <a:endParaRPr lang="zh-CN"/>
                    </a:p>
                  </a:txBody>
                  <a:tcPr>
                    <a:lnT w="12700">
                      <a:solidFill>
                        <a:schemeClr val="bg1">
                          <a:lumMod val="65000"/>
                        </a:schemeClr>
                      </a:solidFill>
                      <a:prstDash val="sysDot"/>
                    </a:lnT>
                    <a:lnB w="12700">
                      <a:solidFill>
                        <a:schemeClr val="bg1">
                          <a:lumMod val="65000"/>
                        </a:schemeClr>
                      </a:solidFill>
                      <a:prstDash val="sysDot"/>
                    </a:lnB>
                  </a:tcPr>
                </a:tc>
                <a:tc hMerge="1">
                  <a:txBody>
                    <a:bodyPr/>
                    <a:lstStyle/>
                    <a:p>
                      <a:endParaRPr lang="zh-CN"/>
                    </a:p>
                  </a:txBody>
                  <a:tcPr>
                    <a:lnR w="12700">
                      <a:solidFill>
                        <a:schemeClr val="bg1">
                          <a:lumMod val="65000"/>
                        </a:schemeClr>
                      </a:solidFill>
                      <a:prstDash val="sysDot"/>
                    </a:lnR>
                    <a:lnT w="12700">
                      <a:solidFill>
                        <a:schemeClr val="bg1">
                          <a:lumMod val="65000"/>
                        </a:schemeClr>
                      </a:solidFill>
                      <a:prstDash val="sysDot"/>
                    </a:lnT>
                    <a:lnB w="12700">
                      <a:solidFill>
                        <a:schemeClr val="bg1">
                          <a:lumMod val="65000"/>
                        </a:schemeClr>
                      </a:solidFill>
                      <a:prstDash val="sysDot"/>
                    </a:lnB>
                  </a:tcPr>
                </a:tc>
                <a:extLst>
                  <a:ext uri="{0D108BD9-81ED-4DB2-BD59-A6C34878D82A}">
                    <a16:rowId xmlns:a16="http://schemas.microsoft.com/office/drawing/2014/main" val="10000"/>
                  </a:ext>
                </a:extLst>
              </a:tr>
              <a:tr h="323850">
                <a:tc rowSpan="2">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r>
                        <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目标</a:t>
                      </a: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rowSpan="2">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r>
                        <a:rPr kumimoji="0" lang="zh-CN" altLang="en-US" sz="78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权重</a:t>
                      </a: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914400" rtl="0" eaLnBrk="1" fontAlgn="base" latinLnBrk="0" hangingPunct="1">
                        <a:lnSpc>
                          <a:spcPct val="80000"/>
                        </a:lnSpc>
                        <a:spcBef>
                          <a:spcPct val="20000"/>
                        </a:spcBef>
                        <a:spcAft>
                          <a:spcPct val="0"/>
                        </a:spcAft>
                        <a:buClrTx/>
                        <a:buSzTx/>
                        <a:buFontTx/>
                        <a:buNone/>
                      </a:pPr>
                      <a:r>
                        <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持平</a:t>
                      </a: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914400" rtl="0" eaLnBrk="1" fontAlgn="base" latinLnBrk="0" hangingPunct="1">
                        <a:lnSpc>
                          <a:spcPct val="80000"/>
                        </a:lnSpc>
                        <a:spcBef>
                          <a:spcPct val="20000"/>
                        </a:spcBef>
                        <a:spcAft>
                          <a:spcPct val="0"/>
                        </a:spcAft>
                        <a:buClrTx/>
                        <a:buSzTx/>
                        <a:buFontTx/>
                        <a:buNone/>
                      </a:pPr>
                      <a:r>
                        <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达标</a:t>
                      </a: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914400" rtl="0" eaLnBrk="1" fontAlgn="base" latinLnBrk="0" hangingPunct="1">
                        <a:lnSpc>
                          <a:spcPct val="80000"/>
                        </a:lnSpc>
                        <a:spcBef>
                          <a:spcPct val="20000"/>
                        </a:spcBef>
                        <a:spcAft>
                          <a:spcPct val="0"/>
                        </a:spcAft>
                        <a:buClrTx/>
                        <a:buSzTx/>
                        <a:buFontTx/>
                        <a:buNone/>
                      </a:pPr>
                      <a:r>
                        <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挑战</a:t>
                      </a: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rowSpan="2">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r>
                        <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得分</a:t>
                      </a: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7675">
                <a:tc vMerge="1">
                  <a:txBody>
                    <a:bodyPr/>
                    <a:lstStyle/>
                    <a:p>
                      <a:endParaRPr lang="zh-CN"/>
                    </a:p>
                  </a:txBody>
                  <a:tcPr>
                    <a:lnL w="12700">
                      <a:solidFill>
                        <a:schemeClr val="bg1">
                          <a:lumMod val="65000"/>
                        </a:schemeClr>
                      </a:solidFill>
                      <a:prstDash val="sysDot"/>
                    </a:lnL>
                    <a:lnR w="12700">
                      <a:solidFill>
                        <a:schemeClr val="bg1">
                          <a:lumMod val="65000"/>
                        </a:schemeClr>
                      </a:solidFill>
                      <a:prstDash val="sysDot"/>
                    </a:lnR>
                    <a:lnB w="12700">
                      <a:solidFill>
                        <a:schemeClr val="bg1">
                          <a:lumMod val="65000"/>
                        </a:schemeClr>
                      </a:solidFill>
                      <a:prstDash val="sysDot"/>
                    </a:lnB>
                  </a:tcPr>
                </a:tc>
                <a:tc vMerge="1">
                  <a:txBody>
                    <a:bodyPr/>
                    <a:lstStyle/>
                    <a:p>
                      <a:endParaRPr lang="zh-CN"/>
                    </a:p>
                  </a:txBody>
                  <a:tcPr>
                    <a:lnL w="12700">
                      <a:solidFill>
                        <a:schemeClr val="bg1">
                          <a:lumMod val="65000"/>
                        </a:schemeClr>
                      </a:solidFill>
                      <a:prstDash val="sysDot"/>
                    </a:lnL>
                    <a:lnR w="12700">
                      <a:solidFill>
                        <a:schemeClr val="bg1">
                          <a:lumMod val="65000"/>
                        </a:schemeClr>
                      </a:solidFill>
                      <a:prstDash val="sysDot"/>
                    </a:lnR>
                    <a:lnB w="12700">
                      <a:solidFill>
                        <a:schemeClr val="bg1">
                          <a:lumMod val="65000"/>
                        </a:schemeClr>
                      </a:solidFill>
                      <a:prstDash val="sysDot"/>
                    </a:lnB>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914400" rtl="0" eaLnBrk="1" fontAlgn="base" latinLnBrk="0" hangingPunct="1">
                        <a:lnSpc>
                          <a:spcPct val="80000"/>
                        </a:lnSpc>
                        <a:spcBef>
                          <a:spcPct val="20000"/>
                        </a:spcBef>
                        <a:spcAft>
                          <a:spcPct val="0"/>
                        </a:spcAft>
                        <a:buClrTx/>
                        <a:buSzTx/>
                        <a:buFontTx/>
                        <a:buNone/>
                      </a:pPr>
                      <a:r>
                        <a:rPr kumimoji="0" lang="en-US" altLang="zh-CN" sz="78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80</a:t>
                      </a: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914400" rtl="0" eaLnBrk="1" fontAlgn="base" latinLnBrk="0" hangingPunct="1">
                        <a:lnSpc>
                          <a:spcPct val="80000"/>
                        </a:lnSpc>
                        <a:spcBef>
                          <a:spcPct val="20000"/>
                        </a:spcBef>
                        <a:spcAft>
                          <a:spcPct val="0"/>
                        </a:spcAft>
                        <a:buClrTx/>
                        <a:buSzTx/>
                        <a:buFontTx/>
                        <a:buNone/>
                      </a:pPr>
                      <a:r>
                        <a:rPr kumimoji="0" lang="en-US" altLang="zh-CN"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100</a:t>
                      </a: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914400" rtl="0" eaLnBrk="1" fontAlgn="base" latinLnBrk="0" hangingPunct="1">
                        <a:lnSpc>
                          <a:spcPct val="80000"/>
                        </a:lnSpc>
                        <a:spcBef>
                          <a:spcPct val="20000"/>
                        </a:spcBef>
                        <a:spcAft>
                          <a:spcPct val="0"/>
                        </a:spcAft>
                        <a:buClrTx/>
                        <a:buSzTx/>
                        <a:buFontTx/>
                        <a:buNone/>
                      </a:pPr>
                      <a:r>
                        <a:rPr kumimoji="0" lang="en-US" altLang="zh-CN"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120</a:t>
                      </a: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vMerge="1">
                  <a:txBody>
                    <a:bodyPr/>
                    <a:lstStyle/>
                    <a:p>
                      <a:endParaRPr lang="zh-CN"/>
                    </a:p>
                  </a:txBody>
                  <a:tcPr>
                    <a:lnL w="12700">
                      <a:solidFill>
                        <a:schemeClr val="bg1">
                          <a:lumMod val="65000"/>
                        </a:schemeClr>
                      </a:solidFill>
                      <a:prstDash val="sysDot"/>
                    </a:lnL>
                    <a:lnR w="12700">
                      <a:solidFill>
                        <a:schemeClr val="bg1">
                          <a:lumMod val="65000"/>
                        </a:schemeClr>
                      </a:solidFill>
                      <a:prstDash val="sysDot"/>
                    </a:lnR>
                    <a:lnB w="12700">
                      <a:solidFill>
                        <a:schemeClr val="bg1">
                          <a:lumMod val="65000"/>
                        </a:schemeClr>
                      </a:solidFill>
                      <a:prstDash val="sysDot"/>
                    </a:lnB>
                  </a:tcPr>
                </a:tc>
                <a:extLst>
                  <a:ext uri="{0D108BD9-81ED-4DB2-BD59-A6C34878D82A}">
                    <a16:rowId xmlns:a16="http://schemas.microsoft.com/office/drawing/2014/main" val="10002"/>
                  </a:ext>
                </a:extLst>
              </a:tr>
              <a:tr h="201930">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03835">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02565">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02565">
                <a:tc gridSpan="6">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r>
                        <a:rPr kumimoji="0" lang="zh-CN" altLang="en-US" sz="780" b="1" i="0" u="none" strike="noStrike" cap="none" normalizeH="0" baseline="0" dirty="0">
                          <a:ln>
                            <a:noFill/>
                          </a:ln>
                          <a:solidFill>
                            <a:srgbClr val="C00000"/>
                          </a:solidFill>
                          <a:effectLst/>
                          <a:latin typeface="Arial" panose="020B0604020202020204" pitchFamily="34" charset="0"/>
                          <a:ea typeface="微软雅黑" panose="020B0503020204020204" pitchFamily="34" charset="-122"/>
                          <a:cs typeface="Arial" panose="020B0604020202020204" pitchFamily="34" charset="0"/>
                          <a:sym typeface="+mn-lt"/>
                        </a:rPr>
                        <a:t>执行措施承诺（</a:t>
                      </a:r>
                      <a:r>
                        <a:rPr kumimoji="0" lang="en-US" altLang="zh-CN" sz="780" b="1" i="0" u="none" strike="noStrike" cap="none" normalizeH="0" baseline="0" dirty="0">
                          <a:ln>
                            <a:noFill/>
                          </a:ln>
                          <a:solidFill>
                            <a:srgbClr val="C00000"/>
                          </a:solidFill>
                          <a:effectLst/>
                          <a:latin typeface="Arial" panose="020B0604020202020204" pitchFamily="34" charset="0"/>
                          <a:ea typeface="微软雅黑" panose="020B0503020204020204" pitchFamily="34" charset="-122"/>
                          <a:cs typeface="Arial" panose="020B0604020202020204" pitchFamily="34" charset="0"/>
                          <a:sym typeface="+mn-lt"/>
                        </a:rPr>
                        <a:t>Execute</a:t>
                      </a:r>
                      <a:r>
                        <a:rPr kumimoji="0" lang="zh-CN" altLang="en-US" sz="780" b="1" i="0" u="none" strike="noStrike" cap="none" normalizeH="0" baseline="0" dirty="0">
                          <a:ln>
                            <a:noFill/>
                          </a:ln>
                          <a:solidFill>
                            <a:srgbClr val="C00000"/>
                          </a:solidFill>
                          <a:effectLst/>
                          <a:latin typeface="Arial" panose="020B0604020202020204" pitchFamily="34" charset="0"/>
                          <a:ea typeface="微软雅黑" panose="020B0503020204020204" pitchFamily="34" charset="-122"/>
                          <a:cs typeface="Arial" panose="020B0604020202020204" pitchFamily="34" charset="0"/>
                          <a:sym typeface="+mn-lt"/>
                        </a:rPr>
                        <a:t>）</a:t>
                      </a: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solidFill>
                      <a:srgbClr val="DDDDDD"/>
                    </a:solidFill>
                  </a:tcPr>
                </a:tc>
                <a:tc hMerge="1">
                  <a:txBody>
                    <a:bodyPr/>
                    <a:lstStyle/>
                    <a:p>
                      <a:endParaRPr lang="zh-CN"/>
                    </a:p>
                  </a:txBody>
                  <a:tcPr>
                    <a:lnT w="12700">
                      <a:solidFill>
                        <a:schemeClr val="bg1">
                          <a:lumMod val="65000"/>
                        </a:schemeClr>
                      </a:solidFill>
                      <a:prstDash val="sysDot"/>
                    </a:lnT>
                    <a:lnB w="12700">
                      <a:solidFill>
                        <a:schemeClr val="bg1">
                          <a:lumMod val="65000"/>
                        </a:schemeClr>
                      </a:solidFill>
                      <a:prstDash val="sysDot"/>
                    </a:lnB>
                  </a:tcPr>
                </a:tc>
                <a:tc hMerge="1">
                  <a:txBody>
                    <a:bodyPr/>
                    <a:lstStyle/>
                    <a:p>
                      <a:endParaRPr lang="zh-CN"/>
                    </a:p>
                  </a:txBody>
                  <a:tcPr>
                    <a:lnT w="12700">
                      <a:solidFill>
                        <a:schemeClr val="bg1">
                          <a:lumMod val="65000"/>
                        </a:schemeClr>
                      </a:solidFill>
                      <a:prstDash val="sysDot"/>
                    </a:lnT>
                    <a:lnB w="12700">
                      <a:solidFill>
                        <a:schemeClr val="bg1">
                          <a:lumMod val="65000"/>
                        </a:schemeClr>
                      </a:solidFill>
                      <a:prstDash val="sysDot"/>
                    </a:lnB>
                  </a:tcPr>
                </a:tc>
                <a:tc hMerge="1">
                  <a:txBody>
                    <a:bodyPr/>
                    <a:lstStyle/>
                    <a:p>
                      <a:endParaRPr lang="zh-CN"/>
                    </a:p>
                  </a:txBody>
                  <a:tcPr>
                    <a:lnT w="12700">
                      <a:solidFill>
                        <a:schemeClr val="bg1">
                          <a:lumMod val="65000"/>
                        </a:schemeClr>
                      </a:solidFill>
                      <a:prstDash val="sysDot"/>
                    </a:lnT>
                    <a:lnB w="12700">
                      <a:solidFill>
                        <a:schemeClr val="bg1">
                          <a:lumMod val="65000"/>
                        </a:schemeClr>
                      </a:solidFill>
                      <a:prstDash val="sysDot"/>
                    </a:lnB>
                  </a:tcPr>
                </a:tc>
                <a:tc hMerge="1">
                  <a:txBody>
                    <a:bodyPr/>
                    <a:lstStyle/>
                    <a:p>
                      <a:endParaRPr lang="zh-CN"/>
                    </a:p>
                  </a:txBody>
                  <a:tcPr>
                    <a:lnT w="12700">
                      <a:solidFill>
                        <a:schemeClr val="bg1">
                          <a:lumMod val="65000"/>
                        </a:schemeClr>
                      </a:solidFill>
                      <a:prstDash val="sysDot"/>
                    </a:lnT>
                    <a:lnB w="12700">
                      <a:solidFill>
                        <a:schemeClr val="bg1">
                          <a:lumMod val="65000"/>
                        </a:schemeClr>
                      </a:solidFill>
                      <a:prstDash val="sysDot"/>
                    </a:lnB>
                  </a:tcPr>
                </a:tc>
                <a:tc hMerge="1">
                  <a:txBody>
                    <a:bodyPr/>
                    <a:lstStyle/>
                    <a:p>
                      <a:endParaRPr lang="zh-CN"/>
                    </a:p>
                  </a:txBody>
                  <a:tcPr>
                    <a:lnR w="12700">
                      <a:solidFill>
                        <a:schemeClr val="bg1">
                          <a:lumMod val="65000"/>
                        </a:schemeClr>
                      </a:solidFill>
                      <a:prstDash val="sysDot"/>
                    </a:lnR>
                    <a:lnT w="12700">
                      <a:solidFill>
                        <a:schemeClr val="bg1">
                          <a:lumMod val="65000"/>
                        </a:schemeClr>
                      </a:solidFill>
                      <a:prstDash val="sysDot"/>
                    </a:lnT>
                    <a:lnB w="12700">
                      <a:solidFill>
                        <a:schemeClr val="bg1">
                          <a:lumMod val="65000"/>
                        </a:schemeClr>
                      </a:solidFill>
                      <a:prstDash val="sysDot"/>
                    </a:lnB>
                  </a:tcPr>
                </a:tc>
                <a:extLst>
                  <a:ext uri="{0D108BD9-81ED-4DB2-BD59-A6C34878D82A}">
                    <a16:rowId xmlns:a16="http://schemas.microsoft.com/office/drawing/2014/main" val="10006"/>
                  </a:ext>
                </a:extLst>
              </a:tr>
              <a:tr h="202565">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r>
                        <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目标</a:t>
                      </a: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r>
                        <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权重</a:t>
                      </a: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gridSpan="3">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r>
                        <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衡量标准</a:t>
                      </a: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hMerge="1">
                  <a:txBody>
                    <a:bodyPr/>
                    <a:lstStyle/>
                    <a:p>
                      <a:endParaRPr lang="zh-CN"/>
                    </a:p>
                  </a:txBody>
                  <a:tcPr>
                    <a:lnT w="12700">
                      <a:solidFill>
                        <a:schemeClr val="bg1">
                          <a:lumMod val="65000"/>
                        </a:schemeClr>
                      </a:solidFill>
                      <a:prstDash val="sysDot"/>
                    </a:lnT>
                    <a:lnB w="12700">
                      <a:solidFill>
                        <a:schemeClr val="bg1">
                          <a:lumMod val="65000"/>
                        </a:schemeClr>
                      </a:solidFill>
                      <a:prstDash val="sysDot"/>
                    </a:lnB>
                  </a:tcPr>
                </a:tc>
                <a:tc hMerge="1">
                  <a:txBody>
                    <a:bodyPr/>
                    <a:lstStyle/>
                    <a:p>
                      <a:endParaRPr lang="zh-CN"/>
                    </a:p>
                  </a:txBody>
                  <a:tcPr>
                    <a:lnR w="12700">
                      <a:solidFill>
                        <a:schemeClr val="bg1">
                          <a:lumMod val="65000"/>
                        </a:schemeClr>
                      </a:solidFill>
                      <a:prstDash val="sysDot"/>
                    </a:lnR>
                    <a:lnT w="12700">
                      <a:solidFill>
                        <a:schemeClr val="bg1">
                          <a:lumMod val="65000"/>
                        </a:schemeClr>
                      </a:solidFill>
                      <a:prstDash val="sysDot"/>
                    </a:lnT>
                    <a:lnB w="12700">
                      <a:solidFill>
                        <a:schemeClr val="bg1">
                          <a:lumMod val="65000"/>
                        </a:schemeClr>
                      </a:solidFill>
                      <a:prstDash val="sysDot"/>
                    </a:lnB>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r>
                        <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得分</a:t>
                      </a:r>
                    </a:p>
                  </a:txBody>
                  <a:tcPr marL="68580" marR="68580" marT="34290" marB="34290">
                    <a:lnL w="12700">
                      <a:solidFill>
                        <a:srgbClr val="FFFFFF">
                          <a:lumMod val="65000"/>
                        </a:srgbClr>
                      </a:solidFill>
                      <a:prstDash val="sysDot"/>
                    </a:lnL>
                    <a:lnR w="12700">
                      <a:solidFill>
                        <a:srgbClr val="FFFFFF">
                          <a:lumMod val="65000"/>
                        </a:srgbClr>
                      </a:solidFill>
                      <a:prstDash val="sysDot"/>
                    </a:lnR>
                    <a:lnT w="12700">
                      <a:solidFill>
                        <a:srgbClr val="FFFFFF">
                          <a:lumMod val="65000"/>
                        </a:srgbClr>
                      </a:solidFill>
                      <a:prstDash val="sysDot"/>
                    </a:lnT>
                    <a:lnB w="12700">
                      <a:solidFill>
                        <a:srgbClr val="FFFFFF">
                          <a:lumMod val="65000"/>
                        </a:srgbClr>
                      </a:solidFill>
                      <a:prstDash val="sysDot"/>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51460">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gridSpan="3">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hMerge="1">
                  <a:txBody>
                    <a:bodyPr/>
                    <a:lstStyle/>
                    <a:p>
                      <a:endParaRPr lang="zh-CN"/>
                    </a:p>
                  </a:txBody>
                  <a:tcPr>
                    <a:lnT w="12700">
                      <a:solidFill>
                        <a:schemeClr val="bg1">
                          <a:lumMod val="65000"/>
                        </a:schemeClr>
                      </a:solidFill>
                      <a:prstDash val="sysDot"/>
                    </a:lnT>
                    <a:lnB w="12700">
                      <a:solidFill>
                        <a:schemeClr val="bg1">
                          <a:lumMod val="65000"/>
                        </a:schemeClr>
                      </a:solidFill>
                      <a:prstDash val="sysDot"/>
                    </a:lnB>
                  </a:tcPr>
                </a:tc>
                <a:tc hMerge="1">
                  <a:txBody>
                    <a:bodyPr/>
                    <a:lstStyle/>
                    <a:p>
                      <a:endParaRPr lang="zh-CN"/>
                    </a:p>
                  </a:txBody>
                  <a:tcPr>
                    <a:lnR w="12700">
                      <a:solidFill>
                        <a:schemeClr val="bg1">
                          <a:lumMod val="65000"/>
                        </a:schemeClr>
                      </a:solidFill>
                      <a:prstDash val="sysDot"/>
                    </a:lnR>
                    <a:lnT w="12700">
                      <a:solidFill>
                        <a:schemeClr val="bg1">
                          <a:lumMod val="65000"/>
                        </a:schemeClr>
                      </a:solidFill>
                      <a:prstDash val="sysDot"/>
                    </a:lnT>
                    <a:lnB w="12700">
                      <a:solidFill>
                        <a:schemeClr val="bg1">
                          <a:lumMod val="65000"/>
                        </a:schemeClr>
                      </a:solidFill>
                      <a:prstDash val="sysDot"/>
                    </a:lnB>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100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8580" marR="68580" marT="34290" marB="34290">
                    <a:lnL w="12700">
                      <a:solidFill>
                        <a:srgbClr val="FFFFFF">
                          <a:lumMod val="65000"/>
                        </a:srgbClr>
                      </a:solidFill>
                      <a:prstDash val="sysDot"/>
                    </a:lnL>
                    <a:lnR w="12700">
                      <a:solidFill>
                        <a:srgbClr val="FFFFFF">
                          <a:lumMod val="65000"/>
                        </a:srgbClr>
                      </a:solidFill>
                      <a:prstDash val="sysDot"/>
                    </a:lnR>
                    <a:lnT w="12700">
                      <a:solidFill>
                        <a:srgbClr val="FFFFFF">
                          <a:lumMod val="65000"/>
                        </a:srgbClr>
                      </a:solidFill>
                      <a:prstDash val="sysDot"/>
                    </a:lnT>
                    <a:lnB w="12700">
                      <a:solidFill>
                        <a:srgbClr val="FFFFFF">
                          <a:lumMod val="65000"/>
                        </a:srgbClr>
                      </a:solidFill>
                      <a:prstDash val="sysDot"/>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49555">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gridSpan="3">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hMerge="1">
                  <a:txBody>
                    <a:bodyPr/>
                    <a:lstStyle/>
                    <a:p>
                      <a:endParaRPr lang="zh-CN"/>
                    </a:p>
                  </a:txBody>
                  <a:tcPr>
                    <a:lnT w="12700">
                      <a:solidFill>
                        <a:schemeClr val="bg1">
                          <a:lumMod val="65000"/>
                        </a:schemeClr>
                      </a:solidFill>
                      <a:prstDash val="sysDot"/>
                    </a:lnT>
                    <a:lnB w="12700">
                      <a:solidFill>
                        <a:schemeClr val="bg1">
                          <a:lumMod val="65000"/>
                        </a:schemeClr>
                      </a:solidFill>
                      <a:prstDash val="sysDot"/>
                    </a:lnB>
                  </a:tcPr>
                </a:tc>
                <a:tc hMerge="1">
                  <a:txBody>
                    <a:bodyPr/>
                    <a:lstStyle/>
                    <a:p>
                      <a:endParaRPr lang="zh-CN"/>
                    </a:p>
                  </a:txBody>
                  <a:tcPr>
                    <a:lnR w="12700">
                      <a:solidFill>
                        <a:schemeClr val="bg1">
                          <a:lumMod val="65000"/>
                        </a:schemeClr>
                      </a:solidFill>
                      <a:prstDash val="sysDot"/>
                    </a:lnR>
                    <a:lnT w="12700">
                      <a:solidFill>
                        <a:schemeClr val="bg1">
                          <a:lumMod val="65000"/>
                        </a:schemeClr>
                      </a:solidFill>
                      <a:prstDash val="sysDot"/>
                    </a:lnT>
                    <a:lnB w="12700">
                      <a:solidFill>
                        <a:schemeClr val="bg1">
                          <a:lumMod val="65000"/>
                        </a:schemeClr>
                      </a:solidFill>
                      <a:prstDash val="sysDot"/>
                    </a:lnB>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100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8580" marR="68580" marT="34290" marB="34290">
                    <a:lnL w="12700">
                      <a:solidFill>
                        <a:srgbClr val="FFFFFF">
                          <a:lumMod val="65000"/>
                        </a:srgbClr>
                      </a:solidFill>
                      <a:prstDash val="sysDot"/>
                    </a:lnL>
                    <a:lnR w="12700">
                      <a:solidFill>
                        <a:srgbClr val="FFFFFF">
                          <a:lumMod val="65000"/>
                        </a:srgbClr>
                      </a:solidFill>
                      <a:prstDash val="sysDot"/>
                    </a:lnR>
                    <a:lnT w="12700">
                      <a:solidFill>
                        <a:srgbClr val="FFFFFF">
                          <a:lumMod val="65000"/>
                        </a:srgbClr>
                      </a:solidFill>
                      <a:prstDash val="sysDot"/>
                    </a:lnT>
                    <a:lnB w="12700">
                      <a:solidFill>
                        <a:srgbClr val="FFFFFF">
                          <a:lumMod val="65000"/>
                        </a:srgbClr>
                      </a:solidFill>
                      <a:prstDash val="sysDot"/>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50825">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gridSpan="3">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hMerge="1">
                  <a:txBody>
                    <a:bodyPr/>
                    <a:lstStyle/>
                    <a:p>
                      <a:endParaRPr lang="zh-CN"/>
                    </a:p>
                  </a:txBody>
                  <a:tcPr>
                    <a:lnT w="12700">
                      <a:solidFill>
                        <a:schemeClr val="bg1">
                          <a:lumMod val="65000"/>
                        </a:schemeClr>
                      </a:solidFill>
                      <a:prstDash val="sysDot"/>
                    </a:lnT>
                    <a:lnB w="12700">
                      <a:solidFill>
                        <a:schemeClr val="bg1">
                          <a:lumMod val="65000"/>
                        </a:schemeClr>
                      </a:solidFill>
                      <a:prstDash val="sysDot"/>
                    </a:lnB>
                  </a:tcPr>
                </a:tc>
                <a:tc hMerge="1">
                  <a:txBody>
                    <a:bodyPr/>
                    <a:lstStyle/>
                    <a:p>
                      <a:endParaRPr lang="zh-CN"/>
                    </a:p>
                  </a:txBody>
                  <a:tcPr>
                    <a:lnR w="12700">
                      <a:solidFill>
                        <a:schemeClr val="bg1">
                          <a:lumMod val="65000"/>
                        </a:schemeClr>
                      </a:solidFill>
                      <a:prstDash val="sysDot"/>
                    </a:lnR>
                    <a:lnT w="12700">
                      <a:solidFill>
                        <a:schemeClr val="bg1">
                          <a:lumMod val="65000"/>
                        </a:schemeClr>
                      </a:solidFill>
                      <a:prstDash val="sysDot"/>
                    </a:lnT>
                    <a:lnB w="12700">
                      <a:solidFill>
                        <a:schemeClr val="bg1">
                          <a:lumMod val="65000"/>
                        </a:schemeClr>
                      </a:solidFill>
                      <a:prstDash val="sysDot"/>
                    </a:lnB>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100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8580" marR="68580" marT="34290" marB="34290">
                    <a:lnL w="12700">
                      <a:solidFill>
                        <a:srgbClr val="FFFFFF">
                          <a:lumMod val="65000"/>
                        </a:srgbClr>
                      </a:solidFill>
                      <a:prstDash val="sysDot"/>
                    </a:lnL>
                    <a:lnR w="12700">
                      <a:solidFill>
                        <a:srgbClr val="FFFFFF">
                          <a:lumMod val="65000"/>
                        </a:srgbClr>
                      </a:solidFill>
                      <a:prstDash val="sysDot"/>
                    </a:lnR>
                    <a:lnT w="12700">
                      <a:solidFill>
                        <a:srgbClr val="FFFFFF">
                          <a:lumMod val="65000"/>
                        </a:srgbClr>
                      </a:solidFill>
                      <a:prstDash val="sysDot"/>
                    </a:lnT>
                    <a:lnB w="12700">
                      <a:solidFill>
                        <a:srgbClr val="FFFFFF">
                          <a:lumMod val="65000"/>
                        </a:srgbClr>
                      </a:solidFill>
                      <a:prstDash val="sysDot"/>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03200">
                <a:tc gridSpan="6">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r>
                        <a:rPr kumimoji="0" lang="zh-CN" altLang="en-US" sz="780" b="1"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团队合作承诺（</a:t>
                      </a:r>
                      <a:r>
                        <a:rPr kumimoji="0" lang="en-US" altLang="zh-CN" sz="780" b="1"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Team</a:t>
                      </a:r>
                      <a:r>
                        <a:rPr kumimoji="0" lang="zh-CN" altLang="en-US" sz="780" b="1"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a:t>
                      </a: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solidFill>
                      <a:srgbClr val="DDDDDD"/>
                    </a:solidFill>
                  </a:tcPr>
                </a:tc>
                <a:tc hMerge="1">
                  <a:txBody>
                    <a:bodyPr/>
                    <a:lstStyle/>
                    <a:p>
                      <a:endParaRPr lang="zh-CN"/>
                    </a:p>
                  </a:txBody>
                  <a:tcPr>
                    <a:lnT w="12700">
                      <a:solidFill>
                        <a:schemeClr val="bg1">
                          <a:lumMod val="65000"/>
                        </a:schemeClr>
                      </a:solidFill>
                      <a:prstDash val="sysDot"/>
                    </a:lnT>
                    <a:lnB w="12700">
                      <a:solidFill>
                        <a:schemeClr val="bg1">
                          <a:lumMod val="65000"/>
                        </a:schemeClr>
                      </a:solidFill>
                      <a:prstDash val="sysDot"/>
                    </a:lnB>
                  </a:tcPr>
                </a:tc>
                <a:tc hMerge="1">
                  <a:txBody>
                    <a:bodyPr/>
                    <a:lstStyle/>
                    <a:p>
                      <a:endParaRPr lang="zh-CN"/>
                    </a:p>
                  </a:txBody>
                  <a:tcPr>
                    <a:lnT w="12700">
                      <a:solidFill>
                        <a:schemeClr val="bg1">
                          <a:lumMod val="65000"/>
                        </a:schemeClr>
                      </a:solidFill>
                      <a:prstDash val="sysDot"/>
                    </a:lnT>
                    <a:lnB w="12700">
                      <a:solidFill>
                        <a:schemeClr val="bg1">
                          <a:lumMod val="65000"/>
                        </a:schemeClr>
                      </a:solidFill>
                      <a:prstDash val="sysDot"/>
                    </a:lnB>
                  </a:tcPr>
                </a:tc>
                <a:tc hMerge="1">
                  <a:txBody>
                    <a:bodyPr/>
                    <a:lstStyle/>
                    <a:p>
                      <a:endParaRPr lang="zh-CN"/>
                    </a:p>
                  </a:txBody>
                  <a:tcPr>
                    <a:lnT w="12700">
                      <a:solidFill>
                        <a:schemeClr val="bg1">
                          <a:lumMod val="65000"/>
                        </a:schemeClr>
                      </a:solidFill>
                      <a:prstDash val="sysDot"/>
                    </a:lnT>
                    <a:lnB w="12700">
                      <a:solidFill>
                        <a:schemeClr val="bg1">
                          <a:lumMod val="65000"/>
                        </a:schemeClr>
                      </a:solidFill>
                      <a:prstDash val="sysDot"/>
                    </a:lnB>
                  </a:tcPr>
                </a:tc>
                <a:tc hMerge="1">
                  <a:txBody>
                    <a:bodyPr/>
                    <a:lstStyle/>
                    <a:p>
                      <a:endParaRPr lang="zh-CN"/>
                    </a:p>
                  </a:txBody>
                  <a:tcPr>
                    <a:lnT w="12700">
                      <a:solidFill>
                        <a:schemeClr val="bg1">
                          <a:lumMod val="65000"/>
                        </a:schemeClr>
                      </a:solidFill>
                      <a:prstDash val="sysDot"/>
                    </a:lnT>
                    <a:lnB w="12700">
                      <a:solidFill>
                        <a:schemeClr val="bg1">
                          <a:lumMod val="65000"/>
                        </a:schemeClr>
                      </a:solidFill>
                      <a:prstDash val="sysDot"/>
                    </a:lnB>
                  </a:tcPr>
                </a:tc>
                <a:tc hMerge="1">
                  <a:txBody>
                    <a:bodyPr/>
                    <a:lstStyle/>
                    <a:p>
                      <a:endParaRPr lang="zh-CN"/>
                    </a:p>
                  </a:txBody>
                  <a:tcPr>
                    <a:lnR w="12700">
                      <a:solidFill>
                        <a:schemeClr val="bg1">
                          <a:lumMod val="65000"/>
                        </a:schemeClr>
                      </a:solidFill>
                      <a:prstDash val="sysDot"/>
                    </a:lnR>
                    <a:lnT w="12700">
                      <a:solidFill>
                        <a:schemeClr val="bg1">
                          <a:lumMod val="65000"/>
                        </a:schemeClr>
                      </a:solidFill>
                      <a:prstDash val="sysDot"/>
                    </a:lnT>
                    <a:lnB w="12700">
                      <a:solidFill>
                        <a:schemeClr val="bg1">
                          <a:lumMod val="65000"/>
                        </a:schemeClr>
                      </a:solidFill>
                      <a:prstDash val="sysDot"/>
                    </a:lnB>
                  </a:tcPr>
                </a:tc>
                <a:extLst>
                  <a:ext uri="{0D108BD9-81ED-4DB2-BD59-A6C34878D82A}">
                    <a16:rowId xmlns:a16="http://schemas.microsoft.com/office/drawing/2014/main" val="10011"/>
                  </a:ext>
                </a:extLst>
              </a:tr>
              <a:tr h="200660">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r>
                        <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目标</a:t>
                      </a: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r>
                        <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权重</a:t>
                      </a: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gridSpan="3">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r>
                        <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衡量标准</a:t>
                      </a: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hMerge="1">
                  <a:txBody>
                    <a:bodyPr/>
                    <a:lstStyle/>
                    <a:p>
                      <a:endParaRPr lang="zh-CN"/>
                    </a:p>
                  </a:txBody>
                  <a:tcPr>
                    <a:lnT w="12700">
                      <a:solidFill>
                        <a:schemeClr val="bg1">
                          <a:lumMod val="65000"/>
                        </a:schemeClr>
                      </a:solidFill>
                      <a:prstDash val="sysDot"/>
                    </a:lnT>
                    <a:lnB w="12700">
                      <a:solidFill>
                        <a:schemeClr val="bg1">
                          <a:lumMod val="65000"/>
                        </a:schemeClr>
                      </a:solidFill>
                      <a:prstDash val="sysDot"/>
                    </a:lnB>
                  </a:tcPr>
                </a:tc>
                <a:tc hMerge="1">
                  <a:txBody>
                    <a:bodyPr/>
                    <a:lstStyle/>
                    <a:p>
                      <a:endParaRPr lang="zh-CN"/>
                    </a:p>
                  </a:txBody>
                  <a:tcPr>
                    <a:lnR w="12700">
                      <a:solidFill>
                        <a:schemeClr val="bg1">
                          <a:lumMod val="65000"/>
                        </a:schemeClr>
                      </a:solidFill>
                      <a:prstDash val="sysDot"/>
                    </a:lnR>
                    <a:lnT w="12700">
                      <a:solidFill>
                        <a:schemeClr val="bg1">
                          <a:lumMod val="65000"/>
                        </a:schemeClr>
                      </a:solidFill>
                      <a:prstDash val="sysDot"/>
                    </a:lnT>
                    <a:lnB w="12700">
                      <a:solidFill>
                        <a:schemeClr val="bg1">
                          <a:lumMod val="65000"/>
                        </a:schemeClr>
                      </a:solidFill>
                      <a:prstDash val="sysDot"/>
                    </a:lnB>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r>
                        <a:rPr lang="zh-CN" altLang="en-US" sz="780">
                          <a:ln>
                            <a:noFill/>
                          </a:ln>
                          <a:effectLst/>
                          <a:latin typeface="Arial" panose="020B0604020202020204" pitchFamily="34" charset="0"/>
                          <a:ea typeface="微软雅黑" panose="020B0503020204020204" pitchFamily="34" charset="-122"/>
                          <a:cs typeface="Arial" panose="020B0604020202020204" pitchFamily="34" charset="0"/>
                          <a:sym typeface="+mn-lt"/>
                        </a:rPr>
                        <a:t>得</a:t>
                      </a:r>
                      <a:r>
                        <a:rPr kumimoji="0" lang="zh-CN" altLang="en-US" sz="78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分</a:t>
                      </a:r>
                    </a:p>
                  </a:txBody>
                  <a:tcPr marL="68580" marR="68580" marT="34290" marB="34290">
                    <a:lnL w="12700">
                      <a:solidFill>
                        <a:srgbClr val="FFFFFF">
                          <a:lumMod val="65000"/>
                        </a:srgbClr>
                      </a:solidFill>
                      <a:prstDash val="sysDot"/>
                    </a:lnL>
                    <a:lnR w="12700">
                      <a:solidFill>
                        <a:srgbClr val="FFFFFF">
                          <a:lumMod val="65000"/>
                        </a:srgbClr>
                      </a:solidFill>
                      <a:prstDash val="sysDot"/>
                    </a:lnR>
                    <a:lnT w="12700">
                      <a:solidFill>
                        <a:srgbClr val="FFFFFF">
                          <a:lumMod val="65000"/>
                        </a:srgbClr>
                      </a:solidFill>
                      <a:prstDash val="sysDot"/>
                    </a:lnT>
                    <a:lnB w="12700">
                      <a:solidFill>
                        <a:srgbClr val="FFFFFF">
                          <a:lumMod val="65000"/>
                        </a:srgbClr>
                      </a:solidFill>
                      <a:prstDash val="sysDot"/>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52095">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100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100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gridSpan="3">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100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hMerge="1">
                  <a:txBody>
                    <a:bodyPr/>
                    <a:lstStyle/>
                    <a:p>
                      <a:endParaRPr lang="zh-CN"/>
                    </a:p>
                  </a:txBody>
                  <a:tcPr>
                    <a:lnT w="12700">
                      <a:solidFill>
                        <a:schemeClr val="bg1">
                          <a:lumMod val="65000"/>
                        </a:schemeClr>
                      </a:solidFill>
                      <a:prstDash val="sysDot"/>
                    </a:lnT>
                    <a:lnB w="12700">
                      <a:solidFill>
                        <a:schemeClr val="bg1">
                          <a:lumMod val="65000"/>
                        </a:schemeClr>
                      </a:solidFill>
                      <a:prstDash val="sysDot"/>
                    </a:lnB>
                  </a:tcPr>
                </a:tc>
                <a:tc hMerge="1">
                  <a:txBody>
                    <a:bodyPr/>
                    <a:lstStyle/>
                    <a:p>
                      <a:endParaRPr lang="zh-CN"/>
                    </a:p>
                  </a:txBody>
                  <a:tcPr>
                    <a:lnR w="12700">
                      <a:solidFill>
                        <a:schemeClr val="bg1">
                          <a:lumMod val="65000"/>
                        </a:schemeClr>
                      </a:solidFill>
                      <a:prstDash val="sysDot"/>
                    </a:lnR>
                    <a:lnT w="12700">
                      <a:solidFill>
                        <a:schemeClr val="bg1">
                          <a:lumMod val="65000"/>
                        </a:schemeClr>
                      </a:solidFill>
                      <a:prstDash val="sysDot"/>
                    </a:lnT>
                    <a:lnB w="12700">
                      <a:solidFill>
                        <a:schemeClr val="bg1">
                          <a:lumMod val="65000"/>
                        </a:schemeClr>
                      </a:solidFill>
                      <a:prstDash val="sysDot"/>
                    </a:lnB>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100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8580" marR="68580" marT="34290" marB="34290">
                    <a:lnL w="12700">
                      <a:solidFill>
                        <a:srgbClr val="FFFFFF">
                          <a:lumMod val="65000"/>
                        </a:srgbClr>
                      </a:solidFill>
                      <a:prstDash val="sysDot"/>
                    </a:lnL>
                    <a:lnR w="12700">
                      <a:solidFill>
                        <a:srgbClr val="FFFFFF">
                          <a:lumMod val="65000"/>
                        </a:srgbClr>
                      </a:solidFill>
                      <a:prstDash val="sysDot"/>
                    </a:lnR>
                    <a:lnT w="12700">
                      <a:solidFill>
                        <a:srgbClr val="FFFFFF">
                          <a:lumMod val="65000"/>
                        </a:srgbClr>
                      </a:solidFill>
                      <a:prstDash val="sysDot"/>
                    </a:lnT>
                    <a:lnB w="12700">
                      <a:solidFill>
                        <a:srgbClr val="FFFFFF">
                          <a:lumMod val="65000"/>
                        </a:srgbClr>
                      </a:solidFill>
                      <a:prstDash val="sysDot"/>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249555">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100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100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gridSpan="3">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1000" b="0" i="0" u="none" strike="noStrike" cap="none" normalizeH="0" baseline="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5" marR="61505" marT="30761" marB="30761" horzOverflow="overflow">
                    <a:lnL w="12700" cap="flat" cmpd="sng" algn="ctr">
                      <a:solidFill>
                        <a:srgbClr val="FFFFFF">
                          <a:lumMod val="65000"/>
                        </a:srgbClr>
                      </a:solidFill>
                      <a:prstDash val="sysDot"/>
                      <a:round/>
                      <a:headEnd type="none" w="med" len="med"/>
                      <a:tailEnd type="none" w="med" len="med"/>
                    </a:lnL>
                    <a:lnR w="12700" cap="flat" cmpd="sng" algn="ctr">
                      <a:solidFill>
                        <a:srgbClr val="FFFFFF">
                          <a:lumMod val="65000"/>
                        </a:srgbClr>
                      </a:solidFill>
                      <a:prstDash val="sysDot"/>
                      <a:round/>
                      <a:headEnd type="none" w="med" len="med"/>
                      <a:tailEnd type="none" w="med" len="med"/>
                    </a:lnR>
                    <a:lnT w="12700" cap="flat" cmpd="sng" algn="ctr">
                      <a:solidFill>
                        <a:srgbClr val="FFFFFF">
                          <a:lumMod val="65000"/>
                        </a:srgbClr>
                      </a:solidFill>
                      <a:prstDash val="sysDot"/>
                      <a:round/>
                      <a:headEnd type="none" w="med" len="med"/>
                      <a:tailEnd type="none" w="med" len="med"/>
                    </a:lnT>
                    <a:lnB w="12700" cap="flat" cmpd="sng" algn="ctr">
                      <a:solidFill>
                        <a:srgbClr val="FFFFFF">
                          <a:lumMod val="65000"/>
                        </a:srgbClr>
                      </a:solidFill>
                      <a:prstDash val="sysDot"/>
                      <a:round/>
                      <a:headEnd type="none" w="med" len="med"/>
                      <a:tailEnd type="none" w="med" len="med"/>
                    </a:lnB>
                    <a:lnTlToBr>
                      <a:noFill/>
                    </a:lnTlToBr>
                    <a:lnBlToTr>
                      <a:noFill/>
                    </a:lnBlToTr>
                    <a:noFill/>
                  </a:tcPr>
                </a:tc>
                <a:tc hMerge="1">
                  <a:txBody>
                    <a:bodyPr/>
                    <a:lstStyle/>
                    <a:p>
                      <a:endParaRPr lang="zh-CN"/>
                    </a:p>
                  </a:txBody>
                  <a:tcPr>
                    <a:lnT w="12700">
                      <a:solidFill>
                        <a:schemeClr val="bg1">
                          <a:lumMod val="65000"/>
                        </a:schemeClr>
                      </a:solidFill>
                      <a:prstDash val="sysDot"/>
                    </a:lnT>
                    <a:lnB w="12700">
                      <a:solidFill>
                        <a:schemeClr val="bg1">
                          <a:lumMod val="65000"/>
                        </a:schemeClr>
                      </a:solidFill>
                      <a:prstDash val="sysDot"/>
                    </a:lnB>
                  </a:tcPr>
                </a:tc>
                <a:tc hMerge="1">
                  <a:txBody>
                    <a:bodyPr/>
                    <a:lstStyle/>
                    <a:p>
                      <a:endParaRPr lang="zh-CN"/>
                    </a:p>
                  </a:txBody>
                  <a:tcPr>
                    <a:lnR w="12700">
                      <a:solidFill>
                        <a:schemeClr val="bg1">
                          <a:lumMod val="65000"/>
                        </a:schemeClr>
                      </a:solidFill>
                      <a:prstDash val="sysDot"/>
                    </a:lnR>
                    <a:lnT w="12700">
                      <a:solidFill>
                        <a:schemeClr val="bg1">
                          <a:lumMod val="65000"/>
                        </a:schemeClr>
                      </a:solidFill>
                      <a:prstDash val="sysDot"/>
                    </a:lnT>
                    <a:lnB w="12700">
                      <a:solidFill>
                        <a:schemeClr val="bg1">
                          <a:lumMod val="65000"/>
                        </a:schemeClr>
                      </a:solidFill>
                      <a:prstDash val="sysDot"/>
                    </a:lnB>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l" defTabSz="914400" rtl="0" eaLnBrk="1" fontAlgn="base" latinLnBrk="0" hangingPunct="1">
                        <a:lnSpc>
                          <a:spcPct val="80000"/>
                        </a:lnSpc>
                        <a:spcBef>
                          <a:spcPct val="20000"/>
                        </a:spcBef>
                        <a:spcAft>
                          <a:spcPct val="0"/>
                        </a:spcAft>
                        <a:buClrTx/>
                        <a:buSzTx/>
                        <a:buFontTx/>
                        <a:buNone/>
                      </a:pPr>
                      <a:endParaRPr kumimoji="0" lang="zh-CN" altLang="en-US" sz="10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8580" marR="68580" marT="34290" marB="34290">
                    <a:lnL w="12700">
                      <a:solidFill>
                        <a:srgbClr val="FFFFFF">
                          <a:lumMod val="65000"/>
                        </a:srgbClr>
                      </a:solidFill>
                      <a:prstDash val="sysDot"/>
                    </a:lnL>
                    <a:lnR w="12700">
                      <a:solidFill>
                        <a:srgbClr val="FFFFFF">
                          <a:lumMod val="65000"/>
                        </a:srgbClr>
                      </a:solidFill>
                      <a:prstDash val="sysDot"/>
                    </a:lnR>
                    <a:lnT w="12700">
                      <a:solidFill>
                        <a:srgbClr val="FFFFFF">
                          <a:lumMod val="65000"/>
                        </a:srgbClr>
                      </a:solidFill>
                      <a:prstDash val="sysDot"/>
                    </a:lnT>
                    <a:lnB w="12700">
                      <a:solidFill>
                        <a:srgbClr val="FFFFFF">
                          <a:lumMod val="65000"/>
                        </a:srgbClr>
                      </a:solidFill>
                      <a:prstDash val="sysDot"/>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bl>
          </a:graphicData>
        </a:graphic>
      </p:graphicFrame>
      <p:graphicFrame>
        <p:nvGraphicFramePr>
          <p:cNvPr id="206" name="Group 21"/>
          <p:cNvGraphicFramePr>
            <a:graphicFrameLocks noGrp="1"/>
          </p:cNvGraphicFramePr>
          <p:nvPr/>
        </p:nvGraphicFramePr>
        <p:xfrm>
          <a:off x="6249670" y="1850390"/>
          <a:ext cx="1686560" cy="3689350"/>
        </p:xfrm>
        <a:graphic>
          <a:graphicData uri="http://schemas.openxmlformats.org/drawingml/2006/table">
            <a:tbl>
              <a:tblPr/>
              <a:tblGrid>
                <a:gridCol w="495935">
                  <a:extLst>
                    <a:ext uri="{9D8B030D-6E8A-4147-A177-3AD203B41FA5}">
                      <a16:colId xmlns:a16="http://schemas.microsoft.com/office/drawing/2014/main" val="20000"/>
                    </a:ext>
                  </a:extLst>
                </a:gridCol>
                <a:gridCol w="200660">
                  <a:extLst>
                    <a:ext uri="{9D8B030D-6E8A-4147-A177-3AD203B41FA5}">
                      <a16:colId xmlns:a16="http://schemas.microsoft.com/office/drawing/2014/main" val="20001"/>
                    </a:ext>
                  </a:extLst>
                </a:gridCol>
                <a:gridCol w="198755">
                  <a:extLst>
                    <a:ext uri="{9D8B030D-6E8A-4147-A177-3AD203B41FA5}">
                      <a16:colId xmlns:a16="http://schemas.microsoft.com/office/drawing/2014/main" val="20002"/>
                    </a:ext>
                  </a:extLst>
                </a:gridCol>
                <a:gridCol w="200025">
                  <a:extLst>
                    <a:ext uri="{9D8B030D-6E8A-4147-A177-3AD203B41FA5}">
                      <a16:colId xmlns:a16="http://schemas.microsoft.com/office/drawing/2014/main" val="20003"/>
                    </a:ext>
                  </a:extLst>
                </a:gridCol>
                <a:gridCol w="186690">
                  <a:extLst>
                    <a:ext uri="{9D8B030D-6E8A-4147-A177-3AD203B41FA5}">
                      <a16:colId xmlns:a16="http://schemas.microsoft.com/office/drawing/2014/main" val="20004"/>
                    </a:ext>
                  </a:extLst>
                </a:gridCol>
                <a:gridCol w="202565">
                  <a:extLst>
                    <a:ext uri="{9D8B030D-6E8A-4147-A177-3AD203B41FA5}">
                      <a16:colId xmlns:a16="http://schemas.microsoft.com/office/drawing/2014/main" val="20005"/>
                    </a:ext>
                  </a:extLst>
                </a:gridCol>
                <a:gridCol w="201930">
                  <a:extLst>
                    <a:ext uri="{9D8B030D-6E8A-4147-A177-3AD203B41FA5}">
                      <a16:colId xmlns:a16="http://schemas.microsoft.com/office/drawing/2014/main" val="20006"/>
                    </a:ext>
                  </a:extLst>
                </a:gridCol>
              </a:tblGrid>
              <a:tr h="258445">
                <a:tc rowSpan="2">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l"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850" b="1"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KPI</a:t>
                      </a:r>
                      <a:r>
                        <a:rPr kumimoji="0" lang="zh-CN" altLang="en-US" sz="850" b="1"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指标</a:t>
                      </a:r>
                    </a:p>
                  </a:txBody>
                  <a:tcPr marL="61509" marR="61509" marT="30750" marB="30750"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gridSpan="3">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850" b="1"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IPMT</a:t>
                      </a:r>
                    </a:p>
                  </a:txBody>
                  <a:tcPr marL="61509" marR="61509" marT="30750" marB="30750"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hMerge="1">
                  <a:txBody>
                    <a:bodyPr/>
                    <a:lstStyle/>
                    <a:p>
                      <a:endParaRPr lang="zh-CN"/>
                    </a:p>
                  </a:txBody>
                  <a:tcPr/>
                </a:tc>
                <a:tc hMerge="1">
                  <a:txBody>
                    <a:bodyPr/>
                    <a:lstStyle/>
                    <a:p>
                      <a:endParaRPr lang="zh-CN"/>
                    </a:p>
                  </a:txBody>
                  <a:tcPr/>
                </a:tc>
                <a:tc gridSpan="3">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850" b="1"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PDT</a:t>
                      </a:r>
                    </a:p>
                  </a:txBody>
                  <a:tcPr marL="61509" marR="61509" marT="30750" marB="30750"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hMerge="1">
                  <a:txBody>
                    <a:bodyPr/>
                    <a:lstStyle/>
                    <a:p>
                      <a:endParaRPr lang="zh-CN"/>
                    </a:p>
                  </a:txBody>
                  <a:tcPr marL="82012" marR="82012" marT="41001" marB="41001"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D9F5FF"/>
                    </a:solidFill>
                  </a:tcPr>
                </a:tc>
                <a:tc hMerge="1">
                  <a:txBody>
                    <a:bodyPr/>
                    <a:lstStyle/>
                    <a:p>
                      <a:endParaRPr lang="zh-CN"/>
                    </a:p>
                  </a:txBody>
                  <a:tcPr marL="82012" marR="82012" marT="41001" marB="41001"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D9F5FF"/>
                    </a:solidFill>
                  </a:tcPr>
                </a:tc>
                <a:extLst>
                  <a:ext uri="{0D108BD9-81ED-4DB2-BD59-A6C34878D82A}">
                    <a16:rowId xmlns:a16="http://schemas.microsoft.com/office/drawing/2014/main" val="10000"/>
                  </a:ext>
                </a:extLst>
              </a:tr>
              <a:tr h="485775">
                <a:tc vMerge="1">
                  <a:txBody>
                    <a:bodyPr/>
                    <a:lstStyle/>
                    <a:p>
                      <a:endParaRPr lang="zh-CN"/>
                    </a:p>
                  </a:txBody>
                  <a:tcPr/>
                </a:tc>
                <a:tc>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PDT</a:t>
                      </a:r>
                    </a:p>
                  </a:txBody>
                  <a:tcPr marL="61509" marR="61509" marT="30750" marB="30750"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zh-CN" altLang="en-US" sz="700" b="1"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研发</a:t>
                      </a:r>
                    </a:p>
                  </a:txBody>
                  <a:tcPr marL="61509" marR="61509" marT="30750" marB="30750"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ctr" defTabSz="1017270" rtl="0" eaLnBrk="0" fontAlgn="base" latinLnBrk="0" hangingPunct="0">
                        <a:lnSpc>
                          <a:spcPct val="110000"/>
                        </a:lnSpc>
                        <a:spcBef>
                          <a:spcPct val="0"/>
                        </a:spcBef>
                        <a:spcAft>
                          <a:spcPct val="0"/>
                        </a:spcAft>
                        <a:buClrTx/>
                        <a:buSzTx/>
                        <a:buFontTx/>
                        <a:buNone/>
                      </a:pPr>
                      <a:r>
                        <a:rPr kumimoji="0" lang="zh-CN" altLang="en-US" sz="700" b="1"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制造</a:t>
                      </a:r>
                    </a:p>
                  </a:txBody>
                  <a:tcPr marL="61509" marR="61509" marT="30750" marB="30750"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0"/>
                        </a:spcBef>
                        <a:spcAft>
                          <a:spcPct val="0"/>
                        </a:spcAft>
                        <a:buClrTx/>
                        <a:buSzTx/>
                        <a:buFontTx/>
                        <a:buNone/>
                      </a:pPr>
                      <a:r>
                        <a:rPr kumimoji="0" lang="zh-CN" altLang="en-US" sz="700" b="1"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研发</a:t>
                      </a:r>
                    </a:p>
                  </a:txBody>
                  <a:tcPr marL="61509" marR="61509" marT="30750" marB="30750"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0"/>
                        </a:spcBef>
                        <a:spcAft>
                          <a:spcPct val="0"/>
                        </a:spcAft>
                        <a:buClrTx/>
                        <a:buSzTx/>
                        <a:buFontTx/>
                        <a:buNone/>
                      </a:pPr>
                      <a:r>
                        <a:rPr kumimoji="0" lang="zh-CN" altLang="en-US" sz="700" b="1"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制造</a:t>
                      </a:r>
                    </a:p>
                  </a:txBody>
                  <a:tcPr marL="61509" marR="61509" marT="30750" marB="30750"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0"/>
                        </a:spcBef>
                        <a:spcAft>
                          <a:spcPct val="0"/>
                        </a:spcAft>
                        <a:buClrTx/>
                        <a:buSzTx/>
                        <a:buFontTx/>
                        <a:buNone/>
                      </a:pPr>
                      <a:r>
                        <a:rPr kumimoji="0" lang="zh-CN" altLang="en-US" sz="700" b="1"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采购</a:t>
                      </a:r>
                    </a:p>
                  </a:txBody>
                  <a:tcPr marL="61509" marR="61509" marT="30750" marB="30750"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extLst>
                  <a:ext uri="{0D108BD9-81ED-4DB2-BD59-A6C34878D82A}">
                    <a16:rowId xmlns:a16="http://schemas.microsoft.com/office/drawing/2014/main" val="10001"/>
                  </a:ext>
                </a:extLst>
              </a:tr>
              <a:tr h="481965">
                <a:tc>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l"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zh-CN" altLang="en-US" sz="700" b="0" i="1"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客户满意度</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extLst>
                  <a:ext uri="{0D108BD9-81ED-4DB2-BD59-A6C34878D82A}">
                    <a16:rowId xmlns:a16="http://schemas.microsoft.com/office/drawing/2014/main" val="10002"/>
                  </a:ext>
                </a:extLst>
              </a:tr>
              <a:tr h="506095">
                <a:tc>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l"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zh-CN" altLang="en-US" sz="7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新产品销售收入</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endParaRPr kumimoji="0" lang="zh-CN" altLang="en-US" sz="7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endParaRPr kumimoji="0" lang="zh-CN" altLang="en-US" sz="7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extLst>
                  <a:ext uri="{0D108BD9-81ED-4DB2-BD59-A6C34878D82A}">
                    <a16:rowId xmlns:a16="http://schemas.microsoft.com/office/drawing/2014/main" val="10003"/>
                  </a:ext>
                </a:extLst>
              </a:tr>
              <a:tr h="362585">
                <a:tc>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l"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zh-CN" altLang="en-US" sz="7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市场准入</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endParaRPr kumimoji="0" lang="en-US" altLang="zh-CN" sz="7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endParaRPr kumimoji="0" lang="zh-CN" altLang="en-US" sz="7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endParaRPr kumimoji="0" lang="zh-CN" altLang="en-US" sz="7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endParaRPr kumimoji="0" lang="zh-CN" altLang="en-US" sz="7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extLst>
                  <a:ext uri="{0D108BD9-81ED-4DB2-BD59-A6C34878D82A}">
                    <a16:rowId xmlns:a16="http://schemas.microsoft.com/office/drawing/2014/main" val="10004"/>
                  </a:ext>
                </a:extLst>
              </a:tr>
              <a:tr h="365125">
                <a:tc>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l" defTabSz="1017270" rtl="0" eaLnBrk="0" fontAlgn="base" latinLnBrk="0" hangingPunct="0">
                        <a:lnSpc>
                          <a:spcPct val="110000"/>
                        </a:lnSpc>
                        <a:spcBef>
                          <a:spcPct val="0"/>
                        </a:spcBef>
                        <a:spcAft>
                          <a:spcPct val="0"/>
                        </a:spcAft>
                        <a:buClrTx/>
                        <a:buSzTx/>
                        <a:buFont typeface="Wingdings" panose="05000000000000000000" pitchFamily="2" charset="2"/>
                        <a:buNone/>
                      </a:pPr>
                      <a:r>
                        <a:rPr kumimoji="0" lang="zh-CN" altLang="en-US" sz="7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产品故障率</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extLst>
                  <a:ext uri="{0D108BD9-81ED-4DB2-BD59-A6C34878D82A}">
                    <a16:rowId xmlns:a16="http://schemas.microsoft.com/office/drawing/2014/main" val="10005"/>
                  </a:ext>
                </a:extLst>
              </a:tr>
              <a:tr h="363220">
                <a:tc>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l"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zh-CN" altLang="en-US" sz="700" b="0" i="1"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变革进展测评</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rgbClr val="000000"/>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extLst>
                  <a:ext uri="{0D108BD9-81ED-4DB2-BD59-A6C34878D82A}">
                    <a16:rowId xmlns:a16="http://schemas.microsoft.com/office/drawing/2014/main" val="10006"/>
                  </a:ext>
                </a:extLst>
              </a:tr>
              <a:tr h="502920">
                <a:tc>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l" defTabSz="1017270" rtl="0" eaLnBrk="0" fontAlgn="base" latinLnBrk="0" hangingPunct="0">
                        <a:lnSpc>
                          <a:spcPct val="110000"/>
                        </a:lnSpc>
                        <a:spcBef>
                          <a:spcPct val="0"/>
                        </a:spcBef>
                        <a:spcAft>
                          <a:spcPct val="0"/>
                        </a:spcAft>
                        <a:buClrTx/>
                        <a:buSzTx/>
                        <a:buFontTx/>
                        <a:buNone/>
                      </a:pPr>
                      <a:r>
                        <a:rPr kumimoji="0" lang="zh-CN" altLang="en-US" sz="700" b="0" i="1"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劳动投入产出率</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endParaRPr kumimoji="0" lang="zh-CN" altLang="en-US" sz="7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endParaRPr kumimoji="0" lang="zh-CN" altLang="en-US" sz="7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endParaRPr kumimoji="0" lang="zh-CN" altLang="en-US" sz="7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extLst>
                  <a:ext uri="{0D108BD9-81ED-4DB2-BD59-A6C34878D82A}">
                    <a16:rowId xmlns:a16="http://schemas.microsoft.com/office/drawing/2014/main" val="10007"/>
                  </a:ext>
                </a:extLst>
              </a:tr>
              <a:tr h="363220">
                <a:tc>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l" defTabSz="1017270" rtl="0" eaLnBrk="0" fontAlgn="base" latinLnBrk="0" hangingPunct="0">
                        <a:lnSpc>
                          <a:spcPct val="110000"/>
                        </a:lnSpc>
                        <a:spcBef>
                          <a:spcPct val="0"/>
                        </a:spcBef>
                        <a:spcAft>
                          <a:spcPct val="0"/>
                        </a:spcAft>
                        <a:buClrTx/>
                        <a:buSzTx/>
                        <a:buFontTx/>
                        <a:buNone/>
                      </a:pPr>
                      <a:r>
                        <a:rPr kumimoji="0" lang="zh-CN" altLang="en-US" sz="700" b="0" i="1"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虚拟利润</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r>
                        <a:rPr kumimoji="0" lang="en-US" altLang="zh-CN" sz="7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rPr>
                        <a:t>X</a:t>
                      </a: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endParaRPr kumimoji="0" lang="zh-CN" altLang="en-US" sz="7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defPPr>
                        <a:defRPr lang="zh-CN"/>
                      </a:defPPr>
                      <a:lvl1pPr mar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endParaRPr kumimoji="0" lang="zh-CN" altLang="en-US" sz="7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endParaRPr kumimoji="0" lang="zh-CN" altLang="en-US" sz="7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endParaRPr kumimoji="0" lang="zh-CN" altLang="en-US" sz="7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indent="0" algn="l" defTabSz="914400" eaLnBrk="1" fontAlgn="base" latinLnBrk="0" hangingPunct="1">
                        <a:lnSpc>
                          <a:spcPct val="100000"/>
                        </a:lnSpc>
                        <a:spcBef>
                          <a:spcPct val="0"/>
                        </a:spcBef>
                        <a:spcAft>
                          <a:spcPct val="0"/>
                        </a:spcAft>
                        <a:buNone/>
                        <a:defRPr sz="1800" b="0" i="0" u="none" kern="1200" baseline="0">
                          <a:solidFill>
                            <a:schemeClr val="tx1"/>
                          </a:solidFill>
                          <a:latin typeface="DengXian"/>
                        </a:defRPr>
                      </a:lvl1pPr>
                      <a:lvl2pPr marL="457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2pPr>
                      <a:lvl3pPr marL="914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3pPr>
                      <a:lvl4pPr marL="1371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4pPr>
                      <a:lvl5pPr marL="18288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5pPr>
                      <a:lvl6pPr marL="22860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6pPr>
                      <a:lvl7pPr marL="27432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7pPr>
                      <a:lvl8pPr marL="32004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8pPr>
                      <a:lvl9pPr marL="3657600" indent="0" algn="l" defTabSz="914400" eaLnBrk="1" fontAlgn="base" latinLnBrk="0" hangingPunct="1">
                        <a:lnSpc>
                          <a:spcPct val="100000"/>
                        </a:lnSpc>
                        <a:spcBef>
                          <a:spcPct val="0"/>
                        </a:spcBef>
                        <a:spcAft>
                          <a:spcPct val="0"/>
                        </a:spcAft>
                        <a:buNone/>
                        <a:defRPr b="0" i="0" u="none" kern="1200" baseline="0">
                          <a:solidFill>
                            <a:schemeClr val="tx1"/>
                          </a:solidFill>
                          <a:latin typeface="DengXian"/>
                        </a:defRPr>
                      </a:lvl9pPr>
                    </a:lstStyle>
                    <a:p>
                      <a:pPr marL="0" marR="0" lvl="0" indent="0" algn="ctr" defTabSz="1017270" rtl="0" eaLnBrk="0" fontAlgn="base" latinLnBrk="0" hangingPunct="0">
                        <a:lnSpc>
                          <a:spcPct val="110000"/>
                        </a:lnSpc>
                        <a:spcBef>
                          <a:spcPct val="20000"/>
                        </a:spcBef>
                        <a:spcAft>
                          <a:spcPct val="0"/>
                        </a:spcAft>
                        <a:buClr>
                          <a:schemeClr val="accent1"/>
                        </a:buClr>
                        <a:buSzTx/>
                        <a:buFont typeface="Wingdings" panose="05000000000000000000" pitchFamily="2" charset="2"/>
                        <a:buNone/>
                      </a:pPr>
                      <a:endParaRPr kumimoji="0" lang="zh-CN" altLang="en-US" sz="7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sym typeface="+mn-lt"/>
                      </a:endParaRPr>
                    </a:p>
                  </a:txBody>
                  <a:tcPr marL="61509" marR="61509" marT="30750" marB="30750"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FFFFFF">
                        <a:lumMod val="95000"/>
                      </a:srgbClr>
                    </a:solidFill>
                  </a:tcPr>
                </a:tc>
                <a:extLst>
                  <a:ext uri="{0D108BD9-81ED-4DB2-BD59-A6C34878D82A}">
                    <a16:rowId xmlns:a16="http://schemas.microsoft.com/office/drawing/2014/main" val="10008"/>
                  </a:ext>
                </a:extLst>
              </a:tr>
            </a:tbl>
          </a:graphicData>
        </a:graphic>
      </p:graphicFrame>
      <p:grpSp>
        <p:nvGrpSpPr>
          <p:cNvPr id="2" name="组合 206"/>
          <p:cNvGrpSpPr/>
          <p:nvPr/>
        </p:nvGrpSpPr>
        <p:grpSpPr>
          <a:xfrm>
            <a:off x="1367790" y="1154430"/>
            <a:ext cx="9804400" cy="4865689"/>
            <a:chOff x="1588770" y="1366767"/>
            <a:chExt cx="10158095" cy="5285616"/>
          </a:xfrm>
        </p:grpSpPr>
        <p:sp>
          <p:nvSpPr>
            <p:cNvPr id="208" name="右箭头 89"/>
            <p:cNvSpPr/>
            <p:nvPr/>
          </p:nvSpPr>
          <p:spPr>
            <a:xfrm>
              <a:off x="1588770" y="1366767"/>
              <a:ext cx="10158095" cy="815340"/>
            </a:xfrm>
            <a:prstGeom prst="rightArrow">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DengXian"/>
                <a:cs typeface="+mn-ea"/>
                <a:sym typeface="+mn-lt"/>
              </a:endParaRPr>
            </a:p>
          </p:txBody>
        </p:sp>
        <p:sp>
          <p:nvSpPr>
            <p:cNvPr id="209" name="圆角矩形 87"/>
            <p:cNvSpPr/>
            <p:nvPr/>
          </p:nvSpPr>
          <p:spPr>
            <a:xfrm>
              <a:off x="6278245" y="3593712"/>
              <a:ext cx="405130" cy="1457325"/>
            </a:xfrm>
            <a:prstGeom prst="roundRect">
              <a:avLst/>
            </a:prstGeom>
            <a:solidFill>
              <a:srgbClr val="40B3F9">
                <a:lumMod val="75000"/>
              </a:srgbClr>
            </a:solidFill>
            <a:ln w="6350" cap="flat" cmpd="sng" algn="ctr">
              <a:solidFill>
                <a:srgbClr val="FFFFFF">
                  <a:lumMod val="75000"/>
                </a:srgb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DengXian"/>
                <a:cs typeface="+mn-ea"/>
                <a:sym typeface="+mn-lt"/>
              </a:endParaRPr>
            </a:p>
          </p:txBody>
        </p:sp>
        <p:sp>
          <p:nvSpPr>
            <p:cNvPr id="210" name="圆角矩形 86"/>
            <p:cNvSpPr/>
            <p:nvPr/>
          </p:nvSpPr>
          <p:spPr>
            <a:xfrm>
              <a:off x="4819015" y="3584822"/>
              <a:ext cx="405130" cy="1457325"/>
            </a:xfrm>
            <a:prstGeom prst="roundRect">
              <a:avLst/>
            </a:prstGeom>
            <a:solidFill>
              <a:srgbClr val="40B3F9">
                <a:lumMod val="75000"/>
              </a:srgbClr>
            </a:solidFill>
            <a:ln w="6350" cap="flat" cmpd="sng" algn="ctr">
              <a:solidFill>
                <a:srgbClr val="FFFFFF">
                  <a:lumMod val="75000"/>
                </a:srgb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DengXian"/>
                <a:cs typeface="+mn-ea"/>
                <a:sym typeface="+mn-lt"/>
              </a:endParaRPr>
            </a:p>
          </p:txBody>
        </p:sp>
        <p:sp>
          <p:nvSpPr>
            <p:cNvPr id="211" name="圆角矩形 85"/>
            <p:cNvSpPr/>
            <p:nvPr/>
          </p:nvSpPr>
          <p:spPr>
            <a:xfrm>
              <a:off x="5384800" y="5023097"/>
              <a:ext cx="760730" cy="1109345"/>
            </a:xfrm>
            <a:prstGeom prst="roundRect">
              <a:avLst/>
            </a:prstGeom>
            <a:solidFill>
              <a:srgbClr val="40B3F9">
                <a:lumMod val="75000"/>
              </a:srgbClr>
            </a:solidFill>
            <a:ln w="6350" cap="flat" cmpd="sng" algn="ctr">
              <a:solidFill>
                <a:srgbClr val="FFFFFF">
                  <a:lumMod val="75000"/>
                </a:srgb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DengXian"/>
                <a:cs typeface="+mn-ea"/>
                <a:sym typeface="+mn-lt"/>
              </a:endParaRPr>
            </a:p>
          </p:txBody>
        </p:sp>
        <p:sp>
          <p:nvSpPr>
            <p:cNvPr id="212" name="圆角矩形 1"/>
            <p:cNvSpPr/>
            <p:nvPr/>
          </p:nvSpPr>
          <p:spPr>
            <a:xfrm>
              <a:off x="5387340" y="2344032"/>
              <a:ext cx="760730" cy="1109345"/>
            </a:xfrm>
            <a:prstGeom prst="roundRect">
              <a:avLst/>
            </a:prstGeom>
            <a:solidFill>
              <a:srgbClr val="40B3F9">
                <a:lumMod val="75000"/>
              </a:srgbClr>
            </a:solidFill>
            <a:ln w="6350" cap="flat" cmpd="sng" algn="ctr">
              <a:solidFill>
                <a:srgbClr val="FFFFFF">
                  <a:lumMod val="75000"/>
                </a:srgb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DengXian"/>
                <a:cs typeface="+mn-ea"/>
                <a:sym typeface="+mn-lt"/>
              </a:endParaRPr>
            </a:p>
          </p:txBody>
        </p:sp>
        <p:sp>
          <p:nvSpPr>
            <p:cNvPr id="213" name="Line 185"/>
            <p:cNvSpPr>
              <a:spLocks noChangeShapeType="1"/>
            </p:cNvSpPr>
            <p:nvPr/>
          </p:nvSpPr>
          <p:spPr bwMode="auto">
            <a:xfrm flipH="1">
              <a:off x="5273675" y="4264272"/>
              <a:ext cx="204470" cy="0"/>
            </a:xfrm>
            <a:prstGeom prst="line">
              <a:avLst/>
            </a:prstGeom>
            <a:noFill/>
            <a:ln w="9525">
              <a:solidFill>
                <a:srgbClr val="000000"/>
              </a:solidFill>
              <a:rou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ea"/>
                <a:sym typeface="+mn-lt"/>
              </a:endParaRPr>
            </a:p>
          </p:txBody>
        </p:sp>
        <p:sp>
          <p:nvSpPr>
            <p:cNvPr id="214" name="Line 186"/>
            <p:cNvSpPr>
              <a:spLocks noChangeShapeType="1"/>
            </p:cNvSpPr>
            <p:nvPr/>
          </p:nvSpPr>
          <p:spPr bwMode="auto">
            <a:xfrm>
              <a:off x="5765165" y="4508747"/>
              <a:ext cx="0" cy="486410"/>
            </a:xfrm>
            <a:prstGeom prst="line">
              <a:avLst/>
            </a:prstGeom>
            <a:noFill/>
            <a:ln w="9525">
              <a:solidFill>
                <a:srgbClr val="000000"/>
              </a:solidFill>
              <a:rou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ea"/>
                <a:sym typeface="+mn-lt"/>
              </a:endParaRPr>
            </a:p>
          </p:txBody>
        </p:sp>
        <p:sp>
          <p:nvSpPr>
            <p:cNvPr id="215" name="Line 187"/>
            <p:cNvSpPr>
              <a:spLocks noChangeShapeType="1"/>
            </p:cNvSpPr>
            <p:nvPr/>
          </p:nvSpPr>
          <p:spPr bwMode="auto">
            <a:xfrm>
              <a:off x="6053455" y="4264272"/>
              <a:ext cx="201295" cy="0"/>
            </a:xfrm>
            <a:prstGeom prst="line">
              <a:avLst/>
            </a:prstGeom>
            <a:noFill/>
            <a:ln w="9525">
              <a:solidFill>
                <a:srgbClr val="000000"/>
              </a:solidFill>
              <a:rou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ea"/>
                <a:sym typeface="+mn-lt"/>
              </a:endParaRPr>
            </a:p>
          </p:txBody>
        </p:sp>
        <p:sp>
          <p:nvSpPr>
            <p:cNvPr id="216" name="Line 188"/>
            <p:cNvSpPr>
              <a:spLocks noChangeShapeType="1"/>
            </p:cNvSpPr>
            <p:nvPr/>
          </p:nvSpPr>
          <p:spPr bwMode="auto">
            <a:xfrm flipV="1">
              <a:off x="5765165" y="3453377"/>
              <a:ext cx="0" cy="486410"/>
            </a:xfrm>
            <a:prstGeom prst="line">
              <a:avLst/>
            </a:prstGeom>
            <a:noFill/>
            <a:ln w="9525">
              <a:solidFill>
                <a:srgbClr val="000000"/>
              </a:solidFill>
              <a:rou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ea"/>
                <a:sym typeface="+mn-lt"/>
              </a:endParaRPr>
            </a:p>
          </p:txBody>
        </p:sp>
        <p:sp>
          <p:nvSpPr>
            <p:cNvPr id="217" name="椭圆 216"/>
            <p:cNvSpPr/>
            <p:nvPr/>
          </p:nvSpPr>
          <p:spPr>
            <a:xfrm>
              <a:off x="5414645" y="3887717"/>
              <a:ext cx="692785" cy="692785"/>
            </a:xfrm>
            <a:prstGeom prst="ellipse">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latin typeface="DengXian"/>
                <a:cs typeface="+mn-ea"/>
                <a:sym typeface="+mn-lt"/>
              </a:endParaRPr>
            </a:p>
          </p:txBody>
        </p:sp>
        <p:sp>
          <p:nvSpPr>
            <p:cNvPr id="218" name="流程图: 可选过程 217"/>
            <p:cNvSpPr/>
            <p:nvPr/>
          </p:nvSpPr>
          <p:spPr>
            <a:xfrm>
              <a:off x="2563495" y="2072252"/>
              <a:ext cx="2106930" cy="4031615"/>
            </a:xfrm>
            <a:prstGeom prst="flowChartAlternateProcess">
              <a:avLst/>
            </a:prstGeom>
            <a:solidFill>
              <a:srgbClr val="FFFFFF">
                <a:lumMod val="95000"/>
              </a:srgbClr>
            </a:solidFill>
            <a:ln w="3175" cap="flat" cmpd="sng" algn="ctr">
              <a:solidFill>
                <a:srgbClr val="FFFFFF">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DengXian"/>
                <a:cs typeface="+mn-ea"/>
                <a:sym typeface="+mn-lt"/>
              </a:endParaRPr>
            </a:p>
          </p:txBody>
        </p:sp>
        <p:sp>
          <p:nvSpPr>
            <p:cNvPr id="219" name="圆角矩形 78"/>
            <p:cNvSpPr/>
            <p:nvPr/>
          </p:nvSpPr>
          <p:spPr>
            <a:xfrm>
              <a:off x="1643458" y="2591047"/>
              <a:ext cx="473304" cy="2926080"/>
            </a:xfrm>
            <a:prstGeom prst="roundRect">
              <a:avLst/>
            </a:prstGeom>
            <a:solidFill>
              <a:srgbClr val="FFFFFF">
                <a:lumMod val="95000"/>
              </a:srgbClr>
            </a:solidFill>
            <a:ln w="6350" cap="flat" cmpd="sng" algn="ctr">
              <a:solidFill>
                <a:srgbClr val="FFFFFF">
                  <a:lumMod val="75000"/>
                </a:srgb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DengXian"/>
                <a:cs typeface="+mn-ea"/>
                <a:sym typeface="+mn-lt"/>
              </a:endParaRPr>
            </a:p>
          </p:txBody>
        </p:sp>
        <p:grpSp>
          <p:nvGrpSpPr>
            <p:cNvPr id="3" name="Group 3"/>
            <p:cNvGrpSpPr/>
            <p:nvPr/>
          </p:nvGrpSpPr>
          <p:grpSpPr bwMode="auto">
            <a:xfrm>
              <a:off x="2946400" y="5566022"/>
              <a:ext cx="1563370" cy="419100"/>
              <a:chOff x="447" y="3396"/>
              <a:chExt cx="1396" cy="264"/>
            </a:xfrm>
            <a:solidFill>
              <a:srgbClr val="0070C0"/>
            </a:solidFill>
          </p:grpSpPr>
          <p:sp>
            <p:nvSpPr>
              <p:cNvPr id="257" name="AutoShape 4"/>
              <p:cNvSpPr>
                <a:spLocks noChangeArrowheads="1"/>
              </p:cNvSpPr>
              <p:nvPr/>
            </p:nvSpPr>
            <p:spPr bwMode="auto">
              <a:xfrm rot="-5419904">
                <a:off x="548" y="3296"/>
                <a:ext cx="263" cy="465"/>
              </a:xfrm>
              <a:prstGeom prst="homePlate">
                <a:avLst>
                  <a:gd name="adj" fmla="val 31074"/>
                </a:avLst>
              </a:prstGeom>
              <a:solidFill>
                <a:srgbClr val="FFFFFF">
                  <a:lumMod val="75000"/>
                </a:srgbClr>
              </a:solidFill>
              <a:ln w="9525">
                <a:noFill/>
                <a:miter lim="800000"/>
              </a:ln>
            </p:spPr>
            <p:txBody>
              <a:bodyPr wrap="none" anchor="ctr"/>
              <a:lstStyle/>
              <a:p>
                <a:pPr marL="0" marR="0" lvl="0" indent="0" defTabSz="912495"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ea"/>
                  <a:sym typeface="+mn-lt"/>
                </a:endParaRPr>
              </a:p>
            </p:txBody>
          </p:sp>
          <p:sp>
            <p:nvSpPr>
              <p:cNvPr id="258" name="AutoShape 5"/>
              <p:cNvSpPr>
                <a:spLocks noChangeArrowheads="1"/>
              </p:cNvSpPr>
              <p:nvPr/>
            </p:nvSpPr>
            <p:spPr bwMode="auto">
              <a:xfrm rot="-5419904">
                <a:off x="1022" y="3304"/>
                <a:ext cx="263" cy="449"/>
              </a:xfrm>
              <a:prstGeom prst="homePlate">
                <a:avLst>
                  <a:gd name="adj" fmla="val 31074"/>
                </a:avLst>
              </a:prstGeom>
              <a:solidFill>
                <a:srgbClr val="FFFFFF">
                  <a:lumMod val="75000"/>
                </a:srgbClr>
              </a:solidFill>
              <a:ln w="9525">
                <a:noFill/>
                <a:miter lim="800000"/>
              </a:ln>
            </p:spPr>
            <p:txBody>
              <a:bodyPr wrap="none" anchor="ctr"/>
              <a:lstStyle/>
              <a:p>
                <a:pPr marL="0" marR="0" lvl="0" indent="0" defTabSz="912495"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ea"/>
                  <a:sym typeface="+mn-lt"/>
                </a:endParaRPr>
              </a:p>
            </p:txBody>
          </p:sp>
          <p:sp>
            <p:nvSpPr>
              <p:cNvPr id="259" name="AutoShape 6"/>
              <p:cNvSpPr>
                <a:spLocks noChangeArrowheads="1"/>
              </p:cNvSpPr>
              <p:nvPr/>
            </p:nvSpPr>
            <p:spPr bwMode="auto">
              <a:xfrm rot="-5419904">
                <a:off x="1485" y="3306"/>
                <a:ext cx="264" cy="449"/>
              </a:xfrm>
              <a:prstGeom prst="homePlate">
                <a:avLst>
                  <a:gd name="adj" fmla="val 31074"/>
                </a:avLst>
              </a:prstGeom>
              <a:solidFill>
                <a:srgbClr val="FFFFFF">
                  <a:lumMod val="75000"/>
                </a:srgbClr>
              </a:solidFill>
              <a:ln w="9525">
                <a:noFill/>
                <a:miter lim="800000"/>
              </a:ln>
            </p:spPr>
            <p:txBody>
              <a:bodyPr wrap="none" anchor="ctr"/>
              <a:lstStyle/>
              <a:p>
                <a:pPr marL="0" marR="0" lvl="0" indent="0" defTabSz="912495"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ea"/>
                  <a:sym typeface="+mn-lt"/>
                </a:endParaRPr>
              </a:p>
            </p:txBody>
          </p:sp>
        </p:grpSp>
        <p:sp>
          <p:nvSpPr>
            <p:cNvPr id="221" name="Rectangle 7"/>
            <p:cNvSpPr>
              <a:spLocks noChangeArrowheads="1"/>
            </p:cNvSpPr>
            <p:nvPr/>
          </p:nvSpPr>
          <p:spPr bwMode="auto">
            <a:xfrm>
              <a:off x="2922270" y="4812277"/>
              <a:ext cx="1586230" cy="223520"/>
            </a:xfrm>
            <a:prstGeom prst="rect">
              <a:avLst/>
            </a:prstGeom>
            <a:solidFill>
              <a:srgbClr val="DDDDDD"/>
            </a:solidFill>
            <a:ln w="9525">
              <a:noFill/>
              <a:miter lim="800000"/>
            </a:ln>
          </p:spPr>
          <p:txBody>
            <a:bodyPr wrap="none" lIns="68544" tIns="34272" rIns="68544" bIns="34272" anchor="ctr"/>
            <a:lstStyle/>
            <a:p>
              <a:pPr marL="0" marR="0" lvl="0" indent="0" defTabSz="912495"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ea"/>
                <a:sym typeface="+mn-lt"/>
              </a:endParaRPr>
            </a:p>
          </p:txBody>
        </p:sp>
        <p:sp>
          <p:nvSpPr>
            <p:cNvPr id="222" name="Rectangle 8"/>
            <p:cNvSpPr>
              <a:spLocks noChangeArrowheads="1"/>
            </p:cNvSpPr>
            <p:nvPr/>
          </p:nvSpPr>
          <p:spPr bwMode="auto">
            <a:xfrm>
              <a:off x="2920365" y="5247252"/>
              <a:ext cx="1579880" cy="263525"/>
            </a:xfrm>
            <a:prstGeom prst="rect">
              <a:avLst/>
            </a:prstGeom>
            <a:solidFill>
              <a:srgbClr val="B2B2B2"/>
            </a:solidFill>
            <a:ln w="9525">
              <a:noFill/>
              <a:miter lim="800000"/>
            </a:ln>
          </p:spPr>
          <p:txBody>
            <a:bodyPr wrap="none" lIns="68544" tIns="34272" rIns="68544" bIns="34272" anchor="ctr"/>
            <a:lstStyle/>
            <a:p>
              <a:pPr marL="0" marR="0" lvl="0" indent="0" defTabSz="912495"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ea"/>
                <a:sym typeface="+mn-lt"/>
              </a:endParaRPr>
            </a:p>
          </p:txBody>
        </p:sp>
        <p:sp>
          <p:nvSpPr>
            <p:cNvPr id="223" name="Rectangle 9"/>
            <p:cNvSpPr>
              <a:spLocks noChangeArrowheads="1"/>
            </p:cNvSpPr>
            <p:nvPr/>
          </p:nvSpPr>
          <p:spPr bwMode="auto">
            <a:xfrm>
              <a:off x="2922270" y="4570977"/>
              <a:ext cx="1586230" cy="250825"/>
            </a:xfrm>
            <a:prstGeom prst="rect">
              <a:avLst/>
            </a:prstGeom>
            <a:solidFill>
              <a:srgbClr val="EAEAEA"/>
            </a:solidFill>
            <a:ln w="9525">
              <a:noFill/>
              <a:miter lim="800000"/>
            </a:ln>
          </p:spPr>
          <p:txBody>
            <a:bodyPr wrap="none" lIns="61491" tIns="30745" rIns="61491" bIns="30745" anchor="ctr"/>
            <a:lstStyle/>
            <a:p>
              <a:pPr marL="0" marR="0" lvl="0" indent="0" algn="ctr" defTabSz="819150" eaLnBrk="1" fontAlgn="auto" latinLnBrk="0" hangingPunct="1">
                <a:lnSpc>
                  <a:spcPct val="100000"/>
                </a:lnSpc>
                <a:spcBef>
                  <a:spcPts val="0"/>
                </a:spcBef>
                <a:spcAft>
                  <a:spcPts val="0"/>
                </a:spcAft>
                <a:buClrTx/>
                <a:buSzTx/>
                <a:buFontTx/>
                <a:buNone/>
                <a:defRPr/>
              </a:pPr>
              <a:r>
                <a:rPr kumimoji="1" lang="en-US" altLang="zh-CN" sz="10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ea"/>
                  <a:sym typeface="+mn-lt"/>
                </a:rPr>
                <a:t>LTC</a:t>
              </a:r>
            </a:p>
          </p:txBody>
        </p:sp>
        <p:sp>
          <p:nvSpPr>
            <p:cNvPr id="224" name="Rectangle 10"/>
            <p:cNvSpPr>
              <a:spLocks noChangeArrowheads="1"/>
            </p:cNvSpPr>
            <p:nvPr/>
          </p:nvSpPr>
          <p:spPr bwMode="auto">
            <a:xfrm>
              <a:off x="2922270" y="5028177"/>
              <a:ext cx="1586230" cy="223520"/>
            </a:xfrm>
            <a:prstGeom prst="rect">
              <a:avLst/>
            </a:prstGeom>
            <a:solidFill>
              <a:srgbClr val="C0C0C0"/>
            </a:solidFill>
            <a:ln w="9525">
              <a:noFill/>
              <a:miter lim="800000"/>
            </a:ln>
          </p:spPr>
          <p:txBody>
            <a:bodyPr wrap="none" lIns="61497" tIns="30749" rIns="61497" bIns="30749" anchor="ctr"/>
            <a:lstStyle/>
            <a:p>
              <a:pPr marL="0" marR="0" lvl="0" indent="0" algn="ctr" defTabSz="819150" eaLnBrk="1" fontAlgn="auto" latinLnBrk="0" hangingPunct="1">
                <a:lnSpc>
                  <a:spcPct val="100000"/>
                </a:lnSpc>
                <a:spcBef>
                  <a:spcPts val="0"/>
                </a:spcBef>
                <a:spcAft>
                  <a:spcPts val="0"/>
                </a:spcAft>
                <a:buClrTx/>
                <a:buSzTx/>
                <a:buFontTx/>
                <a:buNone/>
                <a:defRPr/>
              </a:pPr>
              <a:r>
                <a:rPr kumimoji="1" lang="en-US" altLang="zh-CN" sz="1000" b="0" i="0" u="none" strike="noStrike" kern="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ea"/>
                  <a:sym typeface="+mn-lt"/>
                </a:rPr>
                <a:t>ITR</a:t>
              </a:r>
            </a:p>
          </p:txBody>
        </p:sp>
        <p:sp>
          <p:nvSpPr>
            <p:cNvPr id="225" name="AutoShape 151"/>
            <p:cNvSpPr>
              <a:spLocks noChangeArrowheads="1"/>
            </p:cNvSpPr>
            <p:nvPr/>
          </p:nvSpPr>
          <p:spPr bwMode="auto">
            <a:xfrm>
              <a:off x="8645525" y="3547073"/>
              <a:ext cx="130175" cy="659819"/>
            </a:xfrm>
            <a:prstGeom prst="rightArrow">
              <a:avLst>
                <a:gd name="adj1" fmla="val 50000"/>
                <a:gd name="adj2" fmla="val 25000"/>
              </a:avLst>
            </a:prstGeom>
            <a:solidFill>
              <a:srgbClr val="C00000"/>
            </a:solidFill>
            <a:ln w="9525">
              <a:noFill/>
              <a:miter lim="800000"/>
            </a:ln>
          </p:spPr>
          <p:txBody>
            <a:bodyPr lIns="68535" tIns="34268" rIns="68535" bIns="34268" anchor="ctr">
              <a:spAutoFit/>
            </a:bodyPr>
            <a:lstStyle/>
            <a:p>
              <a:pPr marL="0" marR="0" lvl="0" indent="0" defTabSz="912495"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ea"/>
                <a:sym typeface="+mn-lt"/>
              </a:endParaRPr>
            </a:p>
          </p:txBody>
        </p:sp>
        <p:sp>
          <p:nvSpPr>
            <p:cNvPr id="226" name="Text Box 152"/>
            <p:cNvSpPr txBox="1">
              <a:spLocks noChangeArrowheads="1"/>
            </p:cNvSpPr>
            <p:nvPr/>
          </p:nvSpPr>
          <p:spPr bwMode="auto">
            <a:xfrm>
              <a:off x="9589135" y="1614796"/>
              <a:ext cx="1006475" cy="325437"/>
            </a:xfrm>
            <a:prstGeom prst="rect">
              <a:avLst/>
            </a:prstGeom>
            <a:noFill/>
            <a:ln w="9525">
              <a:noFill/>
              <a:miter lim="800000"/>
            </a:ln>
          </p:spPr>
          <p:txBody>
            <a:bodyPr lIns="54093" tIns="27044" rIns="54093" bIns="27044"/>
            <a:lstStyle/>
            <a:p>
              <a:pPr marL="0" marR="0" lvl="0" indent="0" algn="just" defTabSz="820420" eaLnBrk="1" fontAlgn="t" latinLnBrk="0" hangingPunct="1">
                <a:lnSpc>
                  <a:spcPct val="100000"/>
                </a:lnSpc>
                <a:spcBef>
                  <a:spcPct val="50000"/>
                </a:spcBef>
                <a:spcAft>
                  <a:spcPts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个人</a:t>
              </a:r>
              <a:r>
                <a:rPr kumimoji="0" lang="en-US" altLang="zh-CN"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PBC</a:t>
              </a:r>
            </a:p>
          </p:txBody>
        </p:sp>
        <p:sp>
          <p:nvSpPr>
            <p:cNvPr id="227" name="Text Box 153"/>
            <p:cNvSpPr txBox="1">
              <a:spLocks noChangeArrowheads="1"/>
            </p:cNvSpPr>
            <p:nvPr/>
          </p:nvSpPr>
          <p:spPr bwMode="auto">
            <a:xfrm>
              <a:off x="3400425" y="1605271"/>
              <a:ext cx="1006475" cy="325437"/>
            </a:xfrm>
            <a:prstGeom prst="rect">
              <a:avLst/>
            </a:prstGeom>
            <a:noFill/>
            <a:ln w="9525">
              <a:noFill/>
              <a:miter lim="800000"/>
            </a:ln>
          </p:spPr>
          <p:txBody>
            <a:bodyPr lIns="54093" tIns="27044" rIns="54093" bIns="27044"/>
            <a:lstStyle/>
            <a:p>
              <a:pPr marL="0" marR="0" lvl="0" indent="0" algn="just" defTabSz="820420" eaLnBrk="1" fontAlgn="t" latinLnBrk="0" hangingPunct="1">
                <a:lnSpc>
                  <a:spcPct val="100000"/>
                </a:lnSpc>
                <a:spcBef>
                  <a:spcPct val="50000"/>
                </a:spcBef>
                <a:spcAft>
                  <a:spcPts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战略分解</a:t>
              </a:r>
            </a:p>
          </p:txBody>
        </p:sp>
        <p:sp>
          <p:nvSpPr>
            <p:cNvPr id="228" name="Text Box 154"/>
            <p:cNvSpPr txBox="1">
              <a:spLocks noChangeArrowheads="1"/>
            </p:cNvSpPr>
            <p:nvPr/>
          </p:nvSpPr>
          <p:spPr bwMode="auto">
            <a:xfrm>
              <a:off x="7305992" y="1614796"/>
              <a:ext cx="1006475" cy="325437"/>
            </a:xfrm>
            <a:prstGeom prst="rect">
              <a:avLst/>
            </a:prstGeom>
            <a:noFill/>
            <a:ln w="9525">
              <a:noFill/>
              <a:miter lim="800000"/>
            </a:ln>
          </p:spPr>
          <p:txBody>
            <a:bodyPr lIns="54093" tIns="27044" rIns="54093" bIns="27044"/>
            <a:lstStyle/>
            <a:p>
              <a:pPr marL="0" marR="0" lvl="0" indent="0" algn="just" defTabSz="820420" eaLnBrk="1" fontAlgn="t" latinLnBrk="0" hangingPunct="1">
                <a:lnSpc>
                  <a:spcPct val="100000"/>
                </a:lnSpc>
                <a:spcBef>
                  <a:spcPct val="50000"/>
                </a:spcBef>
                <a:spcAft>
                  <a:spcPts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组织绩效</a:t>
              </a:r>
            </a:p>
          </p:txBody>
        </p:sp>
        <p:sp>
          <p:nvSpPr>
            <p:cNvPr id="229" name="Text Box 155"/>
            <p:cNvSpPr txBox="1">
              <a:spLocks noChangeArrowheads="1"/>
            </p:cNvSpPr>
            <p:nvPr/>
          </p:nvSpPr>
          <p:spPr bwMode="auto">
            <a:xfrm>
              <a:off x="1589087" y="1605271"/>
              <a:ext cx="1266825" cy="325437"/>
            </a:xfrm>
            <a:prstGeom prst="rect">
              <a:avLst/>
            </a:prstGeom>
            <a:noFill/>
            <a:ln w="9525">
              <a:noFill/>
              <a:miter lim="800000"/>
            </a:ln>
          </p:spPr>
          <p:txBody>
            <a:bodyPr lIns="54093" tIns="27044" rIns="54093" bIns="27044"/>
            <a:lstStyle/>
            <a:p>
              <a:pPr marL="0" marR="0" lvl="0" indent="0" algn="ctr" defTabSz="820420" eaLnBrk="1" fontAlgn="t" latinLnBrk="0" hangingPunct="1">
                <a:lnSpc>
                  <a:spcPct val="100000"/>
                </a:lnSpc>
                <a:spcBef>
                  <a:spcPct val="50000"/>
                </a:spcBef>
                <a:spcAft>
                  <a:spcPts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公司战略</a:t>
              </a:r>
            </a:p>
          </p:txBody>
        </p:sp>
        <p:sp>
          <p:nvSpPr>
            <p:cNvPr id="230" name="Text Box 160"/>
            <p:cNvSpPr txBox="1">
              <a:spLocks noChangeArrowheads="1"/>
            </p:cNvSpPr>
            <p:nvPr/>
          </p:nvSpPr>
          <p:spPr bwMode="auto">
            <a:xfrm>
              <a:off x="5321300" y="1614796"/>
              <a:ext cx="1006475" cy="325437"/>
            </a:xfrm>
            <a:prstGeom prst="rect">
              <a:avLst/>
            </a:prstGeom>
            <a:noFill/>
            <a:ln w="9525">
              <a:noFill/>
              <a:miter lim="800000"/>
            </a:ln>
          </p:spPr>
          <p:txBody>
            <a:bodyPr lIns="54093" tIns="27044" rIns="54093" bIns="27044"/>
            <a:lstStyle/>
            <a:p>
              <a:pPr marL="0" marR="0" lvl="0" indent="0" algn="just" defTabSz="820420" eaLnBrk="1" fontAlgn="t" latinLnBrk="0" hangingPunct="1">
                <a:lnSpc>
                  <a:spcPct val="100000"/>
                </a:lnSpc>
                <a:spcBef>
                  <a:spcPct val="50000"/>
                </a:spcBef>
                <a:spcAft>
                  <a:spcPts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指标体系</a:t>
              </a:r>
            </a:p>
          </p:txBody>
        </p:sp>
        <p:sp>
          <p:nvSpPr>
            <p:cNvPr id="231" name="Text Box 162"/>
            <p:cNvSpPr txBox="1">
              <a:spLocks noChangeArrowheads="1"/>
            </p:cNvSpPr>
            <p:nvPr/>
          </p:nvSpPr>
          <p:spPr bwMode="auto">
            <a:xfrm>
              <a:off x="1695248" y="2805103"/>
              <a:ext cx="458788" cy="1938346"/>
            </a:xfrm>
            <a:prstGeom prst="rect">
              <a:avLst/>
            </a:prstGeom>
            <a:noFill/>
            <a:ln w="9525">
              <a:noFill/>
              <a:miter lim="800000"/>
            </a:ln>
          </p:spPr>
          <p:txBody>
            <a:bodyPr lIns="61491" tIns="30745" rIns="61491" bIns="30745">
              <a:spAutoFit/>
            </a:bodyPr>
            <a:lstStyle/>
            <a:p>
              <a:pPr marL="0" marR="0" lvl="0" indent="0" defTabSz="82042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ea"/>
                  <a:sym typeface="+mn-lt"/>
                </a:rPr>
                <a:t>公司愿景、使命、战略</a:t>
              </a:r>
            </a:p>
          </p:txBody>
        </p:sp>
        <p:sp>
          <p:nvSpPr>
            <p:cNvPr id="232" name="Rectangle 165"/>
            <p:cNvSpPr>
              <a:spLocks noChangeArrowheads="1"/>
            </p:cNvSpPr>
            <p:nvPr/>
          </p:nvSpPr>
          <p:spPr bwMode="auto">
            <a:xfrm>
              <a:off x="3990340" y="5247252"/>
              <a:ext cx="518160" cy="263525"/>
            </a:xfrm>
            <a:prstGeom prst="rect">
              <a:avLst/>
            </a:prstGeom>
            <a:solidFill>
              <a:srgbClr val="DDDDDD"/>
            </a:solidFill>
            <a:ln w="9525">
              <a:noFill/>
              <a:miter lim="800000"/>
            </a:ln>
          </p:spPr>
          <p:txBody>
            <a:bodyPr wrap="none" lIns="68544" tIns="34272" rIns="68544" bIns="34272" anchor="ctr"/>
            <a:lstStyle/>
            <a:p>
              <a:pPr marL="0" marR="0" lvl="0" indent="0" defTabSz="912495"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ea"/>
                <a:sym typeface="+mn-lt"/>
              </a:endParaRPr>
            </a:p>
          </p:txBody>
        </p:sp>
        <p:sp>
          <p:nvSpPr>
            <p:cNvPr id="233" name="Text Box 166"/>
            <p:cNvSpPr txBox="1">
              <a:spLocks noChangeArrowheads="1"/>
            </p:cNvSpPr>
            <p:nvPr/>
          </p:nvSpPr>
          <p:spPr bwMode="auto">
            <a:xfrm>
              <a:off x="3506788" y="4790748"/>
              <a:ext cx="416560" cy="233153"/>
            </a:xfrm>
            <a:prstGeom prst="rect">
              <a:avLst/>
            </a:prstGeom>
            <a:noFill/>
            <a:ln w="9525">
              <a:noFill/>
              <a:miter lim="800000"/>
            </a:ln>
          </p:spPr>
          <p:txBody>
            <a:bodyPr wrap="square" lIns="61491" tIns="30745" rIns="61491" bIns="30745">
              <a:spAutoFit/>
            </a:bodyPr>
            <a:lstStyle/>
            <a:p>
              <a:pPr marL="0" marR="0" lvl="0" indent="0" algn="ctr" defTabSz="820420" eaLnBrk="1" fontAlgn="auto" latinLnBrk="0" hangingPunct="1">
                <a:lnSpc>
                  <a:spcPct val="100000"/>
                </a:lnSpc>
                <a:spcBef>
                  <a:spcPts val="0"/>
                </a:spcBef>
                <a:spcAft>
                  <a:spcPts val="0"/>
                </a:spcAft>
                <a:buClrTx/>
                <a:buSzTx/>
                <a:buFontTx/>
                <a:buNone/>
                <a:defRPr/>
              </a:pPr>
              <a:r>
                <a:rPr kumimoji="1" lang="en-US" altLang="zh-CN" sz="10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ea"/>
                  <a:sym typeface="+mn-lt"/>
                </a:rPr>
                <a:t>IPD</a:t>
              </a:r>
            </a:p>
          </p:txBody>
        </p:sp>
        <p:sp>
          <p:nvSpPr>
            <p:cNvPr id="234" name="Text Box 167"/>
            <p:cNvSpPr txBox="1">
              <a:spLocks noChangeArrowheads="1"/>
            </p:cNvSpPr>
            <p:nvPr/>
          </p:nvSpPr>
          <p:spPr bwMode="auto">
            <a:xfrm>
              <a:off x="3214370" y="5250171"/>
              <a:ext cx="416560" cy="233153"/>
            </a:xfrm>
            <a:prstGeom prst="rect">
              <a:avLst/>
            </a:prstGeom>
            <a:noFill/>
            <a:ln w="9525">
              <a:noFill/>
              <a:miter lim="800000"/>
            </a:ln>
          </p:spPr>
          <p:txBody>
            <a:bodyPr wrap="square" lIns="61491" tIns="30745" rIns="61491" bIns="30745">
              <a:spAutoFit/>
            </a:bodyPr>
            <a:lstStyle/>
            <a:p>
              <a:pPr marL="0" marR="0" lvl="0" indent="0" algn="ctr" defTabSz="820420" eaLnBrk="1" fontAlgn="auto" latinLnBrk="0" hangingPunct="1">
                <a:lnSpc>
                  <a:spcPct val="100000"/>
                </a:lnSpc>
                <a:spcBef>
                  <a:spcPts val="0"/>
                </a:spcBef>
                <a:spcAft>
                  <a:spcPts val="0"/>
                </a:spcAft>
                <a:buClrTx/>
                <a:buSzTx/>
                <a:buFontTx/>
                <a:buNone/>
                <a:defRPr/>
              </a:pPr>
              <a:r>
                <a:rPr kumimoji="1" lang="en-US" altLang="zh-CN" sz="1000" b="0" i="0" u="none" strike="noStrike" kern="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ea"/>
                  <a:sym typeface="+mn-lt"/>
                </a:rPr>
                <a:t>ISC</a:t>
              </a:r>
            </a:p>
          </p:txBody>
        </p:sp>
        <p:sp>
          <p:nvSpPr>
            <p:cNvPr id="235" name="Text Box 168"/>
            <p:cNvSpPr txBox="1">
              <a:spLocks noChangeArrowheads="1"/>
            </p:cNvSpPr>
            <p:nvPr/>
          </p:nvSpPr>
          <p:spPr bwMode="auto">
            <a:xfrm>
              <a:off x="4087230" y="5250171"/>
              <a:ext cx="374227" cy="233153"/>
            </a:xfrm>
            <a:prstGeom prst="rect">
              <a:avLst/>
            </a:prstGeom>
            <a:noFill/>
            <a:ln w="9525">
              <a:noFill/>
              <a:miter lim="800000"/>
            </a:ln>
          </p:spPr>
          <p:txBody>
            <a:bodyPr wrap="square" lIns="61491" tIns="30745" rIns="61491" bIns="30745">
              <a:spAutoFit/>
            </a:bodyPr>
            <a:lstStyle/>
            <a:p>
              <a:pPr marL="0" marR="0" lvl="0" indent="0" algn="ctr" defTabSz="820420" eaLnBrk="1" fontAlgn="auto" latinLnBrk="0" hangingPunct="1">
                <a:lnSpc>
                  <a:spcPct val="100000"/>
                </a:lnSpc>
                <a:spcBef>
                  <a:spcPts val="0"/>
                </a:spcBef>
                <a:spcAft>
                  <a:spcPts val="0"/>
                </a:spcAft>
                <a:buClrTx/>
                <a:buSzTx/>
                <a:buFontTx/>
                <a:buNone/>
                <a:defRPr/>
              </a:pPr>
              <a:r>
                <a:rPr kumimoji="1" lang="en-US" altLang="zh-CN" sz="1000" b="0" i="0" u="none" strike="noStrike" kern="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ea"/>
                  <a:sym typeface="+mn-lt"/>
                </a:rPr>
                <a:t>CS</a:t>
              </a:r>
            </a:p>
          </p:txBody>
        </p:sp>
        <p:sp>
          <p:nvSpPr>
            <p:cNvPr id="236" name="Text Box 169"/>
            <p:cNvSpPr txBox="1">
              <a:spLocks noChangeArrowheads="1"/>
            </p:cNvSpPr>
            <p:nvPr/>
          </p:nvSpPr>
          <p:spPr bwMode="auto">
            <a:xfrm>
              <a:off x="3001116" y="5697846"/>
              <a:ext cx="382693" cy="233153"/>
            </a:xfrm>
            <a:prstGeom prst="rect">
              <a:avLst/>
            </a:prstGeom>
            <a:noFill/>
            <a:ln w="9525">
              <a:noFill/>
              <a:miter lim="800000"/>
            </a:ln>
          </p:spPr>
          <p:txBody>
            <a:bodyPr wrap="square" lIns="61491" tIns="30745" rIns="61491" bIns="30745">
              <a:spAutoFit/>
            </a:bodyPr>
            <a:lstStyle/>
            <a:p>
              <a:pPr marL="0" marR="0" lvl="0" indent="0" algn="ctr" defTabSz="820420" eaLnBrk="1" fontAlgn="auto" latinLnBrk="0" hangingPunct="1">
                <a:lnSpc>
                  <a:spcPct val="100000"/>
                </a:lnSpc>
                <a:spcBef>
                  <a:spcPts val="0"/>
                </a:spcBef>
                <a:spcAft>
                  <a:spcPts val="0"/>
                </a:spcAft>
                <a:buClrTx/>
                <a:buSzTx/>
                <a:buFontTx/>
                <a:buNone/>
                <a:defRPr/>
              </a:pPr>
              <a:r>
                <a:rPr kumimoji="1" lang="en-US" altLang="zh-CN" sz="10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ea"/>
                  <a:sym typeface="+mn-lt"/>
                </a:rPr>
                <a:t>HR</a:t>
              </a:r>
            </a:p>
          </p:txBody>
        </p:sp>
        <p:sp>
          <p:nvSpPr>
            <p:cNvPr id="237" name="Text Box 170"/>
            <p:cNvSpPr txBox="1">
              <a:spLocks noChangeArrowheads="1"/>
            </p:cNvSpPr>
            <p:nvPr/>
          </p:nvSpPr>
          <p:spPr bwMode="auto">
            <a:xfrm>
              <a:off x="3494827" y="5697846"/>
              <a:ext cx="458893" cy="233153"/>
            </a:xfrm>
            <a:prstGeom prst="rect">
              <a:avLst/>
            </a:prstGeom>
            <a:noFill/>
            <a:ln w="9525">
              <a:noFill/>
              <a:miter lim="800000"/>
            </a:ln>
          </p:spPr>
          <p:txBody>
            <a:bodyPr wrap="square" lIns="61491" tIns="30745" rIns="61491" bIns="30745">
              <a:spAutoFit/>
            </a:bodyPr>
            <a:lstStyle/>
            <a:p>
              <a:pPr marL="0" marR="0" lvl="0" indent="0" algn="ctr" defTabSz="820420" eaLnBrk="1" fontAlgn="auto" latinLnBrk="0" hangingPunct="1">
                <a:lnSpc>
                  <a:spcPct val="100000"/>
                </a:lnSpc>
                <a:spcBef>
                  <a:spcPts val="0"/>
                </a:spcBef>
                <a:spcAft>
                  <a:spcPts val="0"/>
                </a:spcAft>
                <a:buClrTx/>
                <a:buSzTx/>
                <a:buFontTx/>
                <a:buNone/>
                <a:defRPr/>
              </a:pPr>
              <a:r>
                <a:rPr kumimoji="1" lang="en-US" altLang="zh-CN" sz="10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ea"/>
                  <a:sym typeface="+mn-lt"/>
                </a:rPr>
                <a:t>F&amp;A</a:t>
              </a:r>
            </a:p>
          </p:txBody>
        </p:sp>
        <p:sp>
          <p:nvSpPr>
            <p:cNvPr id="238" name="Text Box 171"/>
            <p:cNvSpPr txBox="1">
              <a:spLocks noChangeArrowheads="1"/>
            </p:cNvSpPr>
            <p:nvPr/>
          </p:nvSpPr>
          <p:spPr bwMode="auto">
            <a:xfrm>
              <a:off x="4131681" y="5697846"/>
              <a:ext cx="298027" cy="233153"/>
            </a:xfrm>
            <a:prstGeom prst="rect">
              <a:avLst/>
            </a:prstGeom>
            <a:noFill/>
            <a:ln w="9525">
              <a:noFill/>
              <a:miter lim="800000"/>
            </a:ln>
          </p:spPr>
          <p:txBody>
            <a:bodyPr wrap="square" lIns="61491" tIns="30745" rIns="61491" bIns="30745">
              <a:spAutoFit/>
            </a:bodyPr>
            <a:lstStyle/>
            <a:p>
              <a:pPr marL="0" marR="0" lvl="0" indent="0" algn="ctr" defTabSz="820420" eaLnBrk="1" fontAlgn="auto" latinLnBrk="0" hangingPunct="1">
                <a:lnSpc>
                  <a:spcPct val="100000"/>
                </a:lnSpc>
                <a:spcBef>
                  <a:spcPts val="0"/>
                </a:spcBef>
                <a:spcAft>
                  <a:spcPts val="0"/>
                </a:spcAft>
                <a:buClrTx/>
                <a:buSzTx/>
                <a:buFontTx/>
                <a:buNone/>
                <a:defRPr/>
              </a:pPr>
              <a:r>
                <a:rPr kumimoji="1" lang="en-US" altLang="zh-CN" sz="10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ea"/>
                  <a:sym typeface="+mn-lt"/>
                </a:rPr>
                <a:t>IT</a:t>
              </a:r>
            </a:p>
          </p:txBody>
        </p:sp>
        <p:sp>
          <p:nvSpPr>
            <p:cNvPr id="239" name="Text Box 172"/>
            <p:cNvSpPr txBox="1">
              <a:spLocks noChangeArrowheads="1"/>
            </p:cNvSpPr>
            <p:nvPr/>
          </p:nvSpPr>
          <p:spPr bwMode="auto">
            <a:xfrm>
              <a:off x="3179014" y="4318247"/>
              <a:ext cx="1143000" cy="327025"/>
            </a:xfrm>
            <a:prstGeom prst="rect">
              <a:avLst/>
            </a:prstGeom>
            <a:noFill/>
            <a:ln w="9525">
              <a:noFill/>
              <a:miter lim="800000"/>
            </a:ln>
          </p:spPr>
          <p:txBody>
            <a:bodyPr lIns="54093" tIns="27044" rIns="54093" bIns="27044"/>
            <a:lstStyle/>
            <a:p>
              <a:pPr marL="0" marR="0" lvl="0" indent="0" algn="just" defTabSz="820420" eaLnBrk="1" fontAlgn="t" latinLnBrk="0" hangingPunct="1">
                <a:lnSpc>
                  <a:spcPct val="100000"/>
                </a:lnSpc>
                <a:spcBef>
                  <a:spcPct val="50000"/>
                </a:spcBef>
                <a:spcAft>
                  <a:spcPts val="0"/>
                </a:spcAft>
                <a:buClrTx/>
                <a:buSzTx/>
                <a:buFontTx/>
                <a:buNone/>
                <a:defRPr/>
              </a:pPr>
              <a:r>
                <a:rPr kumimoji="0" lang="zh-CN" altLang="en-US" sz="1000" b="1" i="0" u="none" strike="noStrike" kern="0" cap="none" spc="0" normalizeH="0" baseline="0" noProof="0" dirty="0">
                  <a:ln>
                    <a:noFill/>
                  </a:ln>
                  <a:solidFill>
                    <a:srgbClr val="000000">
                      <a:lumMod val="65000"/>
                      <a:lumOff val="35000"/>
                    </a:srgbClr>
                  </a:solidFill>
                  <a:effectLst/>
                  <a:uLnTx/>
                  <a:uFillTx/>
                  <a:latin typeface="Arial" panose="020B0604020202020204" pitchFamily="34" charset="0"/>
                  <a:ea typeface="微软雅黑" panose="020B0503020204020204" pitchFamily="34" charset="-122"/>
                  <a:cs typeface="+mn-ea"/>
                  <a:sym typeface="+mn-lt"/>
                </a:rPr>
                <a:t>基本业务流程</a:t>
              </a:r>
            </a:p>
          </p:txBody>
        </p:sp>
        <p:sp>
          <p:nvSpPr>
            <p:cNvPr id="240" name="Text Box 173"/>
            <p:cNvSpPr txBox="1">
              <a:spLocks noChangeArrowheads="1"/>
            </p:cNvSpPr>
            <p:nvPr/>
          </p:nvSpPr>
          <p:spPr bwMode="auto">
            <a:xfrm>
              <a:off x="4814672" y="2069077"/>
              <a:ext cx="2079625" cy="233153"/>
            </a:xfrm>
            <a:prstGeom prst="rect">
              <a:avLst/>
            </a:prstGeom>
            <a:noFill/>
            <a:ln w="9525">
              <a:noFill/>
              <a:miter lim="800000"/>
            </a:ln>
          </p:spPr>
          <p:txBody>
            <a:bodyPr wrap="square" lIns="61491" tIns="30745" rIns="61491" bIns="30745">
              <a:spAutoFit/>
            </a:bodyPr>
            <a:lstStyle/>
            <a:p>
              <a:pPr marL="0" marR="0" lvl="0" indent="0" defTabSz="82042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000000">
                      <a:lumMod val="65000"/>
                      <a:lumOff val="35000"/>
                    </a:srgbClr>
                  </a:solidFill>
                  <a:effectLst/>
                  <a:uLnTx/>
                  <a:uFillTx/>
                  <a:latin typeface="Arial" panose="020B0604020202020204" pitchFamily="34" charset="0"/>
                  <a:ea typeface="微软雅黑" panose="020B0503020204020204" pitchFamily="34" charset="-122"/>
                  <a:cs typeface="+mn-ea"/>
                  <a:sym typeface="+mn-lt"/>
                </a:rPr>
                <a:t>战略衡量指标</a:t>
              </a:r>
              <a:r>
                <a:rPr kumimoji="0" lang="en-US" altLang="zh-CN" sz="1000" b="1" i="0" u="none" strike="noStrike" kern="0" cap="none" spc="0" normalizeH="0" baseline="0" noProof="0" dirty="0">
                  <a:ln>
                    <a:noFill/>
                  </a:ln>
                  <a:solidFill>
                    <a:srgbClr val="000000">
                      <a:lumMod val="65000"/>
                      <a:lumOff val="35000"/>
                    </a:srgbClr>
                  </a:solidFill>
                  <a:effectLst/>
                  <a:uLnTx/>
                  <a:uFillTx/>
                  <a:latin typeface="Arial" panose="020B0604020202020204" pitchFamily="34" charset="0"/>
                  <a:ea typeface="微软雅黑" panose="020B0503020204020204" pitchFamily="34" charset="-122"/>
                  <a:cs typeface="+mn-ea"/>
                  <a:sym typeface="+mn-lt"/>
                </a:rPr>
                <a:t>-KPI</a:t>
              </a:r>
              <a:r>
                <a:rPr kumimoji="0" lang="zh-CN" altLang="en-US" sz="1000" b="1" i="0" u="none" strike="noStrike" kern="0" cap="none" spc="0" normalizeH="0" baseline="0" noProof="0" dirty="0">
                  <a:ln>
                    <a:noFill/>
                  </a:ln>
                  <a:solidFill>
                    <a:srgbClr val="000000">
                      <a:lumMod val="65000"/>
                      <a:lumOff val="35000"/>
                    </a:srgbClr>
                  </a:solidFill>
                  <a:effectLst/>
                  <a:uLnTx/>
                  <a:uFillTx/>
                  <a:latin typeface="Arial" panose="020B0604020202020204" pitchFamily="34" charset="0"/>
                  <a:ea typeface="微软雅黑" panose="020B0503020204020204" pitchFamily="34" charset="-122"/>
                  <a:cs typeface="+mn-ea"/>
                  <a:sym typeface="+mn-lt"/>
                </a:rPr>
                <a:t>指标方案</a:t>
              </a:r>
            </a:p>
          </p:txBody>
        </p:sp>
        <p:sp>
          <p:nvSpPr>
            <p:cNvPr id="241" name="Text Box 176"/>
            <p:cNvSpPr txBox="1">
              <a:spLocks noChangeArrowheads="1"/>
            </p:cNvSpPr>
            <p:nvPr/>
          </p:nvSpPr>
          <p:spPr bwMode="auto">
            <a:xfrm>
              <a:off x="5458803" y="2429757"/>
              <a:ext cx="783590" cy="915368"/>
            </a:xfrm>
            <a:prstGeom prst="rect">
              <a:avLst/>
            </a:prstGeom>
            <a:noFill/>
            <a:ln w="9525">
              <a:noFill/>
              <a:miter lim="800000"/>
            </a:ln>
          </p:spPr>
          <p:txBody>
            <a:bodyPr wrap="square" lIns="68571" tIns="34285" rIns="68571" bIns="34285">
              <a:spAutoFit/>
            </a:bodyPr>
            <a:lstStyle/>
            <a:p>
              <a:pPr marL="0" marR="0" lvl="0" indent="0" defTabSz="912495" eaLnBrk="1" fontAlgn="auto" latinLnBrk="0" hangingPunct="1">
                <a:lnSpc>
                  <a:spcPct val="120000"/>
                </a:lnSpc>
                <a:spcBef>
                  <a:spcPts val="0"/>
                </a:spcBef>
                <a:spcAft>
                  <a:spcPct val="20000"/>
                </a:spcAft>
                <a:buClrTx/>
                <a:buSzTx/>
                <a:buFontTx/>
                <a:buNone/>
                <a:defRPr/>
              </a:pPr>
              <a:r>
                <a:rPr kumimoji="0" lang="zh-CN" altLang="en-US" sz="89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财务</a:t>
              </a:r>
            </a:p>
            <a:p>
              <a:pPr marL="0" marR="0" lvl="0" indent="0" defTabSz="912495" eaLnBrk="1" fontAlgn="auto" latinLnBrk="0" hangingPunct="1">
                <a:lnSpc>
                  <a:spcPct val="120000"/>
                </a:lnSpc>
                <a:spcBef>
                  <a:spcPts val="0"/>
                </a:spcBef>
                <a:spcAft>
                  <a:spcPts val="0"/>
                </a:spcAft>
                <a:buClr>
                  <a:srgbClr val="FF3300"/>
                </a:buClr>
                <a:buSzPct val="80000"/>
                <a:buFontTx/>
                <a:buNone/>
                <a:defRPr/>
              </a:pPr>
              <a:r>
                <a:rPr kumimoji="0" lang="zh-CN" altLang="en-US"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规模扩张</a:t>
              </a:r>
              <a:endParaRPr kumimoji="0" lang="en-US" altLang="zh-CN"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endParaRPr>
            </a:p>
            <a:p>
              <a:pPr marL="0" marR="0" lvl="0" indent="0" defTabSz="912495" eaLnBrk="1" fontAlgn="auto" latinLnBrk="0" hangingPunct="1">
                <a:lnSpc>
                  <a:spcPct val="120000"/>
                </a:lnSpc>
                <a:spcBef>
                  <a:spcPts val="0"/>
                </a:spcBef>
                <a:spcAft>
                  <a:spcPts val="0"/>
                </a:spcAft>
                <a:buClr>
                  <a:srgbClr val="FF3300"/>
                </a:buClr>
                <a:buSzPct val="80000"/>
                <a:buFontTx/>
                <a:buNone/>
                <a:defRPr/>
              </a:pPr>
              <a:r>
                <a:rPr kumimoji="0" lang="zh-CN" altLang="en-US"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盈利性</a:t>
              </a:r>
              <a:endParaRPr kumimoji="0" lang="en-US" altLang="zh-CN"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endParaRPr>
            </a:p>
            <a:p>
              <a:pPr marL="0" marR="0" lvl="0" indent="0" defTabSz="912495" eaLnBrk="1" fontAlgn="auto" latinLnBrk="0" hangingPunct="1">
                <a:lnSpc>
                  <a:spcPct val="120000"/>
                </a:lnSpc>
                <a:spcBef>
                  <a:spcPts val="0"/>
                </a:spcBef>
                <a:spcAft>
                  <a:spcPts val="0"/>
                </a:spcAft>
                <a:buClr>
                  <a:srgbClr val="FF3300"/>
                </a:buClr>
                <a:buSzPct val="80000"/>
                <a:buFontTx/>
                <a:buNone/>
                <a:defRPr/>
              </a:pPr>
              <a:r>
                <a:rPr kumimoji="0" lang="zh-CN" altLang="en-US"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投资回报</a:t>
              </a:r>
              <a:endParaRPr kumimoji="0" lang="en-US" altLang="zh-CN"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endParaRPr>
            </a:p>
            <a:p>
              <a:pPr marL="0" marR="0" lvl="0" indent="0" defTabSz="912495" eaLnBrk="1" fontAlgn="auto" latinLnBrk="0" hangingPunct="1">
                <a:lnSpc>
                  <a:spcPct val="120000"/>
                </a:lnSpc>
                <a:spcBef>
                  <a:spcPts val="0"/>
                </a:spcBef>
                <a:spcAft>
                  <a:spcPts val="0"/>
                </a:spcAft>
                <a:buClr>
                  <a:srgbClr val="FF3300"/>
                </a:buClr>
                <a:buSzPct val="80000"/>
                <a:buFontTx/>
                <a:buNone/>
                <a:defRPr/>
              </a:pPr>
              <a:r>
                <a:rPr kumimoji="0" lang="zh-CN" altLang="en-US"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现金流</a:t>
              </a:r>
            </a:p>
          </p:txBody>
        </p:sp>
        <p:sp>
          <p:nvSpPr>
            <p:cNvPr id="242" name="Text Box 178"/>
            <p:cNvSpPr txBox="1">
              <a:spLocks noChangeArrowheads="1"/>
            </p:cNvSpPr>
            <p:nvPr/>
          </p:nvSpPr>
          <p:spPr bwMode="auto">
            <a:xfrm>
              <a:off x="5430965" y="4027417"/>
              <a:ext cx="679450" cy="406984"/>
            </a:xfrm>
            <a:prstGeom prst="rect">
              <a:avLst/>
            </a:prstGeom>
            <a:noFill/>
            <a:ln w="9525">
              <a:noFill/>
              <a:miter lim="800000"/>
            </a:ln>
          </p:spPr>
          <p:txBody>
            <a:bodyPr wrap="square" lIns="68571" tIns="34285" rIns="68571" bIns="34285">
              <a:spAutoFit/>
            </a:bodyPr>
            <a:lstStyle/>
            <a:p>
              <a:pPr marL="0" marR="0" lvl="0" indent="0" algn="ctr" defTabSz="912495" eaLnBrk="1" fontAlgn="auto" latinLnBrk="0" hangingPunct="1">
                <a:lnSpc>
                  <a:spcPct val="100000"/>
                </a:lnSpc>
                <a:spcBef>
                  <a:spcPts val="0"/>
                </a:spcBef>
                <a:spcAft>
                  <a:spcPct val="20000"/>
                </a:spcAft>
                <a:buClrTx/>
                <a:buSzTx/>
                <a:buFontTx/>
                <a:buNone/>
                <a:defRPr/>
              </a:pPr>
              <a:r>
                <a:rPr kumimoji="0" lang="zh-CN" altLang="en-US" sz="10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愿景与战略</a:t>
              </a:r>
            </a:p>
          </p:txBody>
        </p:sp>
        <p:sp>
          <p:nvSpPr>
            <p:cNvPr id="243" name="Text Box 180"/>
            <p:cNvSpPr txBox="1">
              <a:spLocks noChangeArrowheads="1"/>
            </p:cNvSpPr>
            <p:nvPr/>
          </p:nvSpPr>
          <p:spPr bwMode="auto">
            <a:xfrm>
              <a:off x="6259195" y="3792898"/>
              <a:ext cx="491490" cy="969863"/>
            </a:xfrm>
            <a:prstGeom prst="rect">
              <a:avLst/>
            </a:prstGeom>
            <a:noFill/>
            <a:ln w="9525">
              <a:noFill/>
              <a:miter lim="800000"/>
            </a:ln>
          </p:spPr>
          <p:txBody>
            <a:bodyPr lIns="68571" tIns="34285" rIns="68571" bIns="34285">
              <a:spAutoFit/>
            </a:bodyPr>
            <a:lstStyle/>
            <a:p>
              <a:pPr marL="0" marR="0" lvl="0" indent="0" defTabSz="912495" eaLnBrk="1" fontAlgn="auto" latinLnBrk="0" hangingPunct="1">
                <a:lnSpc>
                  <a:spcPct val="110000"/>
                </a:lnSpc>
                <a:spcBef>
                  <a:spcPts val="0"/>
                </a:spcBef>
                <a:spcAft>
                  <a:spcPts val="0"/>
                </a:spcAft>
                <a:buClrTx/>
                <a:buSzTx/>
                <a:buFontTx/>
                <a:buNone/>
                <a:defRPr/>
              </a:pPr>
              <a:r>
                <a:rPr kumimoji="0" lang="zh-CN" altLang="en-US" sz="89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内部</a:t>
              </a:r>
              <a:r>
                <a:rPr kumimoji="0" lang="en-US" altLang="zh-CN" sz="89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
              </a:r>
              <a:br>
                <a:rPr kumimoji="0" lang="en-US" altLang="zh-CN" sz="89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br>
              <a:r>
                <a:rPr kumimoji="0" lang="zh-CN" altLang="en-US" sz="89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流程</a:t>
              </a:r>
            </a:p>
            <a:p>
              <a:pPr marL="0" marR="0" lvl="0" indent="0" defTabSz="912495" eaLnBrk="1" fontAlgn="auto" latinLnBrk="0" hangingPunct="1">
                <a:lnSpc>
                  <a:spcPct val="110000"/>
                </a:lnSpc>
                <a:spcBef>
                  <a:spcPts val="0"/>
                </a:spcBef>
                <a:spcAft>
                  <a:spcPts val="0"/>
                </a:spcAft>
                <a:buClr>
                  <a:srgbClr val="FF3300"/>
                </a:buClr>
                <a:buSzPct val="80000"/>
                <a:buFontTx/>
                <a:buNone/>
                <a:defRPr/>
              </a:pPr>
              <a:r>
                <a:rPr kumimoji="0" lang="zh-CN" altLang="en-US"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质量</a:t>
              </a:r>
              <a:endParaRPr kumimoji="0" lang="en-US" altLang="zh-CN"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endParaRPr>
            </a:p>
            <a:p>
              <a:pPr marL="0" marR="0" lvl="0" indent="0" defTabSz="912495" eaLnBrk="1" fontAlgn="auto" latinLnBrk="0" hangingPunct="1">
                <a:lnSpc>
                  <a:spcPct val="110000"/>
                </a:lnSpc>
                <a:spcBef>
                  <a:spcPts val="0"/>
                </a:spcBef>
                <a:spcAft>
                  <a:spcPts val="0"/>
                </a:spcAft>
                <a:buClr>
                  <a:srgbClr val="FF3300"/>
                </a:buClr>
                <a:buSzPct val="80000"/>
                <a:buFontTx/>
                <a:buNone/>
                <a:defRPr/>
              </a:pPr>
              <a:r>
                <a:rPr kumimoji="0" lang="zh-CN" altLang="en-US"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成本</a:t>
              </a:r>
              <a:endParaRPr kumimoji="0" lang="en-US" altLang="zh-CN"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endParaRPr>
            </a:p>
            <a:p>
              <a:pPr marL="0" marR="0" lvl="0" indent="0" defTabSz="912495" eaLnBrk="1" fontAlgn="auto" latinLnBrk="0" hangingPunct="1">
                <a:lnSpc>
                  <a:spcPct val="110000"/>
                </a:lnSpc>
                <a:spcBef>
                  <a:spcPts val="0"/>
                </a:spcBef>
                <a:spcAft>
                  <a:spcPts val="0"/>
                </a:spcAft>
                <a:buClr>
                  <a:srgbClr val="FF3300"/>
                </a:buClr>
                <a:buSzPct val="80000"/>
                <a:buFontTx/>
                <a:buNone/>
                <a:defRPr/>
              </a:pPr>
              <a:r>
                <a:rPr kumimoji="0" lang="zh-CN" altLang="en-US"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服务</a:t>
              </a:r>
              <a:endParaRPr kumimoji="0" lang="en-US" altLang="zh-CN"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endParaRPr>
            </a:p>
            <a:p>
              <a:pPr marL="0" marR="0" lvl="0" indent="0" defTabSz="912495" eaLnBrk="1" fontAlgn="auto" latinLnBrk="0" hangingPunct="1">
                <a:lnSpc>
                  <a:spcPct val="110000"/>
                </a:lnSpc>
                <a:spcBef>
                  <a:spcPts val="0"/>
                </a:spcBef>
                <a:spcAft>
                  <a:spcPts val="0"/>
                </a:spcAft>
                <a:buClr>
                  <a:srgbClr val="FF3300"/>
                </a:buClr>
                <a:buSzPct val="80000"/>
                <a:buFontTx/>
                <a:buNone/>
                <a:defRPr/>
              </a:pPr>
              <a:r>
                <a:rPr kumimoji="0" lang="zh-CN" altLang="en-US"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周期</a:t>
              </a:r>
            </a:p>
          </p:txBody>
        </p:sp>
        <p:sp>
          <p:nvSpPr>
            <p:cNvPr id="244" name="Text Box 182"/>
            <p:cNvSpPr txBox="1">
              <a:spLocks noChangeArrowheads="1"/>
            </p:cNvSpPr>
            <p:nvPr/>
          </p:nvSpPr>
          <p:spPr bwMode="auto">
            <a:xfrm>
              <a:off x="4809490" y="3559918"/>
              <a:ext cx="532765" cy="1393402"/>
            </a:xfrm>
            <a:prstGeom prst="rect">
              <a:avLst/>
            </a:prstGeom>
            <a:noFill/>
            <a:ln w="9525">
              <a:noFill/>
              <a:miter lim="800000"/>
            </a:ln>
          </p:spPr>
          <p:txBody>
            <a:bodyPr lIns="68571" tIns="34285" rIns="68571" bIns="34285">
              <a:spAutoFit/>
            </a:bodyPr>
            <a:lstStyle/>
            <a:p>
              <a:pPr marL="0" marR="0" lvl="0" indent="0" defTabSz="912495" eaLnBrk="1" fontAlgn="auto" latinLnBrk="0" hangingPunct="1">
                <a:lnSpc>
                  <a:spcPct val="100000"/>
                </a:lnSpc>
                <a:spcBef>
                  <a:spcPts val="0"/>
                </a:spcBef>
                <a:spcAft>
                  <a:spcPts val="0"/>
                </a:spcAft>
                <a:buClrTx/>
                <a:buSzTx/>
                <a:buFontTx/>
                <a:buNone/>
                <a:defRPr/>
              </a:pPr>
              <a:r>
                <a:rPr kumimoji="0" lang="zh-CN" altLang="en-US" sz="89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客户</a:t>
              </a:r>
            </a:p>
            <a:p>
              <a:pPr marL="0" marR="0" lvl="0" indent="0" defTabSz="912495" eaLnBrk="1" fontAlgn="auto" latinLnBrk="0" hangingPunct="1">
                <a:lnSpc>
                  <a:spcPct val="100000"/>
                </a:lnSpc>
                <a:spcBef>
                  <a:spcPts val="0"/>
                </a:spcBef>
                <a:spcAft>
                  <a:spcPts val="0"/>
                </a:spcAft>
                <a:buClr>
                  <a:srgbClr val="FF3300"/>
                </a:buClr>
                <a:buSzPct val="80000"/>
                <a:buFontTx/>
                <a:buNone/>
                <a:defRPr/>
              </a:pPr>
              <a:r>
                <a:rPr kumimoji="0" lang="zh-CN" altLang="en-US"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客户</a:t>
              </a:r>
              <a:r>
                <a:rPr kumimoji="0" lang="en-US" altLang="zh-CN"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
              </a:r>
              <a:br>
                <a:rPr kumimoji="0" lang="en-US" altLang="zh-CN"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br>
              <a:r>
                <a:rPr kumimoji="0" lang="zh-CN" altLang="en-US"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关注</a:t>
              </a:r>
              <a:endParaRPr kumimoji="0" lang="en-US" altLang="zh-CN"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endParaRPr>
            </a:p>
            <a:p>
              <a:pPr marL="0" marR="0" lvl="0" indent="0" defTabSz="912495" eaLnBrk="1" fontAlgn="auto" latinLnBrk="0" hangingPunct="1">
                <a:lnSpc>
                  <a:spcPct val="100000"/>
                </a:lnSpc>
                <a:spcBef>
                  <a:spcPts val="0"/>
                </a:spcBef>
                <a:spcAft>
                  <a:spcPts val="0"/>
                </a:spcAft>
                <a:buClr>
                  <a:srgbClr val="FF3300"/>
                </a:buClr>
                <a:buSzPct val="80000"/>
                <a:buFontTx/>
                <a:buNone/>
                <a:defRPr/>
              </a:pPr>
              <a:endParaRPr kumimoji="0" lang="zh-CN" altLang="en-US"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endParaRPr>
            </a:p>
            <a:p>
              <a:pPr marL="0" marR="0" lvl="0" indent="0" defTabSz="912495" eaLnBrk="1" fontAlgn="auto" latinLnBrk="0" hangingPunct="1">
                <a:lnSpc>
                  <a:spcPct val="100000"/>
                </a:lnSpc>
                <a:spcBef>
                  <a:spcPts val="0"/>
                </a:spcBef>
                <a:spcAft>
                  <a:spcPts val="0"/>
                </a:spcAft>
                <a:buClr>
                  <a:srgbClr val="FF3300"/>
                </a:buClr>
                <a:buSzPct val="80000"/>
                <a:buFontTx/>
                <a:buNone/>
                <a:defRPr/>
              </a:pPr>
              <a:r>
                <a:rPr kumimoji="0" lang="zh-CN" altLang="en-US"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市场</a:t>
              </a:r>
              <a:r>
                <a:rPr kumimoji="0" lang="en-US" altLang="zh-CN"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
              </a:r>
              <a:br>
                <a:rPr kumimoji="0" lang="en-US" altLang="zh-CN"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br>
              <a:r>
                <a:rPr kumimoji="0" lang="zh-CN" altLang="en-US"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份额</a:t>
              </a:r>
              <a:r>
                <a:rPr kumimoji="0" lang="en-US" altLang="zh-CN"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
              </a:r>
              <a:br>
                <a:rPr kumimoji="0" lang="en-US" altLang="zh-CN"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br>
              <a:r>
                <a:rPr kumimoji="0" lang="zh-CN" altLang="en-US"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与准入</a:t>
              </a:r>
              <a:endParaRPr kumimoji="0" lang="en-US" altLang="zh-CN"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endParaRPr>
            </a:p>
            <a:p>
              <a:pPr marL="0" marR="0" lvl="0" indent="0" defTabSz="912495" eaLnBrk="1" fontAlgn="auto" latinLnBrk="0" hangingPunct="1">
                <a:lnSpc>
                  <a:spcPct val="100000"/>
                </a:lnSpc>
                <a:spcBef>
                  <a:spcPts val="0"/>
                </a:spcBef>
                <a:spcAft>
                  <a:spcPts val="0"/>
                </a:spcAft>
                <a:buClr>
                  <a:srgbClr val="FF3300"/>
                </a:buClr>
                <a:buSzPct val="80000"/>
                <a:buFontTx/>
                <a:buNone/>
                <a:defRPr/>
              </a:pPr>
              <a:endParaRPr kumimoji="0" lang="zh-CN" altLang="en-US"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endParaRPr>
            </a:p>
            <a:p>
              <a:pPr marL="0" marR="0" lvl="0" indent="0" defTabSz="912495" eaLnBrk="1" fontAlgn="auto" latinLnBrk="0" hangingPunct="1">
                <a:lnSpc>
                  <a:spcPct val="100000"/>
                </a:lnSpc>
                <a:spcBef>
                  <a:spcPts val="0"/>
                </a:spcBef>
                <a:spcAft>
                  <a:spcPts val="0"/>
                </a:spcAft>
                <a:buClr>
                  <a:srgbClr val="FF3300"/>
                </a:buClr>
                <a:buSzPct val="80000"/>
                <a:buFontTx/>
                <a:buNone/>
                <a:defRPr/>
              </a:pPr>
              <a:r>
                <a:rPr kumimoji="0" lang="zh-CN" altLang="en-US"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商业</a:t>
              </a:r>
              <a:r>
                <a:rPr kumimoji="0" lang="en-US" altLang="zh-CN"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
              </a:r>
              <a:br>
                <a:rPr kumimoji="0" lang="en-US" altLang="zh-CN"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br>
              <a:r>
                <a:rPr kumimoji="0" lang="zh-CN" altLang="en-US"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环境</a:t>
              </a:r>
            </a:p>
          </p:txBody>
        </p:sp>
        <p:sp>
          <p:nvSpPr>
            <p:cNvPr id="245" name="Text Box 184"/>
            <p:cNvSpPr txBox="1">
              <a:spLocks noChangeArrowheads="1"/>
            </p:cNvSpPr>
            <p:nvPr/>
          </p:nvSpPr>
          <p:spPr bwMode="auto">
            <a:xfrm>
              <a:off x="5361305" y="5046833"/>
              <a:ext cx="881088" cy="1002973"/>
            </a:xfrm>
            <a:prstGeom prst="rect">
              <a:avLst/>
            </a:prstGeom>
            <a:noFill/>
            <a:ln w="9525">
              <a:noFill/>
              <a:miter lim="800000"/>
            </a:ln>
          </p:spPr>
          <p:txBody>
            <a:bodyPr wrap="square" lIns="68571" tIns="34285" rIns="68571" bIns="34285">
              <a:spAutoFit/>
            </a:bodyPr>
            <a:lstStyle/>
            <a:p>
              <a:pPr marL="0" marR="0" lvl="0" indent="0" defTabSz="912495" eaLnBrk="1" fontAlgn="auto" latinLnBrk="0" hangingPunct="1">
                <a:lnSpc>
                  <a:spcPct val="100000"/>
                </a:lnSpc>
                <a:spcBef>
                  <a:spcPts val="0"/>
                </a:spcBef>
                <a:spcAft>
                  <a:spcPts val="0"/>
                </a:spcAft>
                <a:buClrTx/>
                <a:buSzTx/>
                <a:buFontTx/>
                <a:buNone/>
                <a:defRPr/>
              </a:pPr>
              <a:r>
                <a:rPr kumimoji="0" lang="zh-CN" altLang="en-US" sz="89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学习与成长</a:t>
              </a:r>
            </a:p>
            <a:p>
              <a:pPr marL="0" marR="0" lvl="0" indent="0" defTabSz="912495" eaLnBrk="1" fontAlgn="auto" latinLnBrk="0" hangingPunct="1">
                <a:lnSpc>
                  <a:spcPct val="100000"/>
                </a:lnSpc>
                <a:spcBef>
                  <a:spcPts val="0"/>
                </a:spcBef>
                <a:spcAft>
                  <a:spcPts val="0"/>
                </a:spcAft>
                <a:buClr>
                  <a:srgbClr val="FF3300"/>
                </a:buClr>
                <a:buSzPct val="80000"/>
                <a:buFontTx/>
                <a:buNone/>
                <a:defRPr/>
              </a:pPr>
              <a:r>
                <a:rPr kumimoji="0" lang="en-US" altLang="zh-CN"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HR</a:t>
              </a:r>
              <a:r>
                <a:rPr kumimoji="0" lang="zh-CN" altLang="en-US"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体系与干部队伍建设</a:t>
              </a:r>
              <a:endParaRPr kumimoji="0" lang="en-US" altLang="zh-CN"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endParaRPr>
            </a:p>
            <a:p>
              <a:pPr marL="0" marR="0" lvl="0" indent="0" defTabSz="912495" eaLnBrk="1" fontAlgn="auto" latinLnBrk="0" hangingPunct="1">
                <a:lnSpc>
                  <a:spcPct val="100000"/>
                </a:lnSpc>
                <a:spcBef>
                  <a:spcPts val="0"/>
                </a:spcBef>
                <a:spcAft>
                  <a:spcPts val="0"/>
                </a:spcAft>
                <a:buClr>
                  <a:srgbClr val="FF3300"/>
                </a:buClr>
                <a:buSzPct val="80000"/>
                <a:buFontTx/>
                <a:buNone/>
                <a:defRPr/>
              </a:pPr>
              <a:endParaRPr kumimoji="0" lang="en-US" altLang="zh-CN"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endParaRPr>
            </a:p>
            <a:p>
              <a:pPr marL="0" marR="0" lvl="0" indent="0" defTabSz="912495" eaLnBrk="1" fontAlgn="auto" latinLnBrk="0" hangingPunct="1">
                <a:lnSpc>
                  <a:spcPct val="100000"/>
                </a:lnSpc>
                <a:spcBef>
                  <a:spcPts val="0"/>
                </a:spcBef>
                <a:spcAft>
                  <a:spcPts val="0"/>
                </a:spcAft>
                <a:buClr>
                  <a:srgbClr val="FF3300"/>
                </a:buClr>
                <a:buSzPct val="80000"/>
                <a:buFontTx/>
                <a:buNone/>
                <a:defRPr/>
              </a:pPr>
              <a:r>
                <a:rPr kumimoji="0" lang="en-US" altLang="zh-CN"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IT</a:t>
              </a:r>
              <a:r>
                <a:rPr kumimoji="0" lang="zh-CN" altLang="en-US"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建设</a:t>
              </a:r>
              <a:endParaRPr kumimoji="0" lang="en-US" altLang="zh-CN"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endParaRPr>
            </a:p>
            <a:p>
              <a:pPr marL="0" marR="0" lvl="0" indent="0" defTabSz="912495" eaLnBrk="1" fontAlgn="auto" latinLnBrk="0" hangingPunct="1">
                <a:lnSpc>
                  <a:spcPct val="100000"/>
                </a:lnSpc>
                <a:spcBef>
                  <a:spcPts val="0"/>
                </a:spcBef>
                <a:spcAft>
                  <a:spcPts val="0"/>
                </a:spcAft>
                <a:buClr>
                  <a:srgbClr val="FF3300"/>
                </a:buClr>
                <a:buSzPct val="80000"/>
                <a:buFontTx/>
                <a:buNone/>
                <a:defRPr/>
              </a:pPr>
              <a:endParaRPr kumimoji="0" lang="zh-CN" altLang="en-US"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endParaRPr>
            </a:p>
            <a:p>
              <a:pPr marL="0" marR="0" lvl="0" indent="0" defTabSz="912495" eaLnBrk="1" fontAlgn="auto" latinLnBrk="0" hangingPunct="1">
                <a:lnSpc>
                  <a:spcPct val="100000"/>
                </a:lnSpc>
                <a:spcBef>
                  <a:spcPts val="0"/>
                </a:spcBef>
                <a:spcAft>
                  <a:spcPts val="0"/>
                </a:spcAft>
                <a:buClr>
                  <a:srgbClr val="FF3300"/>
                </a:buClr>
                <a:buSzPct val="80000"/>
                <a:buFontTx/>
                <a:buNone/>
                <a:defRPr/>
              </a:pPr>
              <a:r>
                <a:rPr kumimoji="0" lang="zh-CN" altLang="en-US" sz="780" b="0"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财务体系建设</a:t>
              </a:r>
            </a:p>
          </p:txBody>
        </p:sp>
        <p:sp>
          <p:nvSpPr>
            <p:cNvPr id="246" name="Text Box 203"/>
            <p:cNvSpPr txBox="1">
              <a:spLocks noChangeArrowheads="1"/>
            </p:cNvSpPr>
            <p:nvPr/>
          </p:nvSpPr>
          <p:spPr bwMode="auto">
            <a:xfrm>
              <a:off x="2563812" y="3203883"/>
              <a:ext cx="307975" cy="1476868"/>
            </a:xfrm>
            <a:prstGeom prst="rect">
              <a:avLst/>
            </a:prstGeom>
            <a:noFill/>
            <a:ln w="9525">
              <a:noFill/>
              <a:miter lim="800000"/>
            </a:ln>
          </p:spPr>
          <p:txBody>
            <a:bodyPr lIns="68544" tIns="34272" rIns="68544" bIns="34272">
              <a:spAutoFit/>
            </a:bodyPr>
            <a:lstStyle/>
            <a:p>
              <a:pPr marL="0" marR="0" lvl="0" indent="0" defTabSz="912495"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ea"/>
                  <a:sym typeface="+mn-lt"/>
                </a:rPr>
                <a:t>公司战略分解</a:t>
              </a:r>
            </a:p>
          </p:txBody>
        </p:sp>
        <p:sp>
          <p:nvSpPr>
            <p:cNvPr id="247" name="右箭头 31"/>
            <p:cNvSpPr/>
            <p:nvPr/>
          </p:nvSpPr>
          <p:spPr>
            <a:xfrm>
              <a:off x="2785745" y="1559691"/>
              <a:ext cx="415925" cy="415925"/>
            </a:xfrm>
            <a:prstGeom prst="rightArrow">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DengXian"/>
                <a:cs typeface="+mn-ea"/>
                <a:sym typeface="+mn-lt"/>
              </a:endParaRPr>
            </a:p>
          </p:txBody>
        </p:sp>
        <p:sp>
          <p:nvSpPr>
            <p:cNvPr id="248" name="右箭头 33"/>
            <p:cNvSpPr/>
            <p:nvPr/>
          </p:nvSpPr>
          <p:spPr>
            <a:xfrm>
              <a:off x="4600320" y="1569216"/>
              <a:ext cx="415925" cy="415925"/>
            </a:xfrm>
            <a:prstGeom prst="rightArrow">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DengXian"/>
                <a:cs typeface="+mn-ea"/>
                <a:sym typeface="+mn-lt"/>
              </a:endParaRPr>
            </a:p>
          </p:txBody>
        </p:sp>
        <p:sp>
          <p:nvSpPr>
            <p:cNvPr id="249" name="右箭头 76"/>
            <p:cNvSpPr/>
            <p:nvPr/>
          </p:nvSpPr>
          <p:spPr>
            <a:xfrm>
              <a:off x="6520713" y="1569216"/>
              <a:ext cx="415925" cy="415925"/>
            </a:xfrm>
            <a:prstGeom prst="rightArrow">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DengXian"/>
                <a:cs typeface="+mn-ea"/>
                <a:sym typeface="+mn-lt"/>
              </a:endParaRPr>
            </a:p>
          </p:txBody>
        </p:sp>
        <p:sp>
          <p:nvSpPr>
            <p:cNvPr id="250" name="右箭头 77"/>
            <p:cNvSpPr/>
            <p:nvPr/>
          </p:nvSpPr>
          <p:spPr>
            <a:xfrm>
              <a:off x="8675648" y="1569216"/>
              <a:ext cx="415925" cy="415925"/>
            </a:xfrm>
            <a:prstGeom prst="rightArrow">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DengXian"/>
                <a:cs typeface="+mn-ea"/>
                <a:sym typeface="+mn-lt"/>
              </a:endParaRPr>
            </a:p>
          </p:txBody>
        </p:sp>
        <p:sp>
          <p:nvSpPr>
            <p:cNvPr id="251" name="右箭头 35"/>
            <p:cNvSpPr/>
            <p:nvPr/>
          </p:nvSpPr>
          <p:spPr>
            <a:xfrm>
              <a:off x="2197785" y="3777862"/>
              <a:ext cx="283846" cy="415925"/>
            </a:xfrm>
            <a:prstGeom prst="rightArrow">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DengXian"/>
                <a:cs typeface="+mn-ea"/>
                <a:sym typeface="+mn-lt"/>
              </a:endParaRPr>
            </a:p>
          </p:txBody>
        </p:sp>
        <p:sp>
          <p:nvSpPr>
            <p:cNvPr id="252" name="下箭头 53"/>
            <p:cNvSpPr/>
            <p:nvPr/>
          </p:nvSpPr>
          <p:spPr>
            <a:xfrm>
              <a:off x="3542936" y="4064488"/>
              <a:ext cx="292735" cy="294957"/>
            </a:xfrm>
            <a:prstGeom prst="downArrow">
              <a:avLst/>
            </a:prstGeom>
            <a:solidFill>
              <a:srgbClr val="FFFFFF"/>
            </a:solidFill>
            <a:ln w="12700" cap="flat" cmpd="sng" algn="ctr">
              <a:solidFill>
                <a:srgbClr val="000000">
                  <a:lumMod val="50000"/>
                  <a:lumOff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DengXian"/>
                <a:cs typeface="+mn-ea"/>
                <a:sym typeface="+mn-lt"/>
              </a:endParaRPr>
            </a:p>
          </p:txBody>
        </p:sp>
        <p:cxnSp>
          <p:nvCxnSpPr>
            <p:cNvPr id="253" name="直接箭头连接符 79"/>
            <p:cNvCxnSpPr/>
            <p:nvPr/>
          </p:nvCxnSpPr>
          <p:spPr>
            <a:xfrm>
              <a:off x="3570660" y="6228517"/>
              <a:ext cx="3960440" cy="0"/>
            </a:xfrm>
            <a:prstGeom prst="straightConnector1">
              <a:avLst/>
            </a:prstGeom>
            <a:noFill/>
            <a:ln w="6350" cap="flat" cmpd="sng" algn="ctr">
              <a:solidFill>
                <a:srgbClr val="FFFFFF">
                  <a:lumMod val="50000"/>
                </a:srgbClr>
              </a:solidFill>
              <a:prstDash val="solid"/>
              <a:miter lim="800000"/>
              <a:tailEnd type="arrow"/>
            </a:ln>
            <a:effectLst/>
          </p:spPr>
        </p:cxnSp>
        <p:sp>
          <p:nvSpPr>
            <p:cNvPr id="254" name="TextBox 161"/>
            <p:cNvSpPr txBox="1"/>
            <p:nvPr/>
          </p:nvSpPr>
          <p:spPr>
            <a:xfrm>
              <a:off x="3575206" y="6319208"/>
              <a:ext cx="3833707" cy="333175"/>
            </a:xfrm>
            <a:prstGeom prst="rect">
              <a:avLst/>
            </a:prstGeom>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C00000"/>
                  </a:solidFill>
                  <a:effectLst/>
                  <a:uLnTx/>
                  <a:uFillTx/>
                  <a:ea typeface="微软雅黑" panose="020B0503020204020204" pitchFamily="34" charset="-122"/>
                  <a:cs typeface="Arial" panose="020B0604020202020204" pitchFamily="34" charset="0"/>
                  <a:sym typeface="+mn-lt"/>
                </a:rPr>
                <a:t>战略解码到部门，形成组织绩效</a:t>
              </a:r>
              <a:r>
                <a:rPr kumimoji="0" lang="en-US" altLang="zh-CN" sz="1400" b="1" i="0" u="none" strike="noStrike" kern="0" cap="none" spc="0" normalizeH="0" baseline="0" noProof="0" dirty="0">
                  <a:ln>
                    <a:noFill/>
                  </a:ln>
                  <a:solidFill>
                    <a:srgbClr val="C00000"/>
                  </a:solidFill>
                  <a:effectLst/>
                  <a:uLnTx/>
                  <a:uFillTx/>
                  <a:ea typeface="微软雅黑" panose="020B0503020204020204" pitchFamily="34" charset="-122"/>
                  <a:cs typeface="Arial" panose="020B0604020202020204" pitchFamily="34" charset="0"/>
                  <a:sym typeface="+mn-lt"/>
                </a:rPr>
                <a:t>KPI</a:t>
              </a:r>
              <a:r>
                <a:rPr kumimoji="0" lang="zh-CN" altLang="en-US" sz="1400" b="1" i="0" u="none" strike="noStrike" kern="0" cap="none" spc="0" normalizeH="0" baseline="0" noProof="0" dirty="0">
                  <a:ln>
                    <a:noFill/>
                  </a:ln>
                  <a:solidFill>
                    <a:srgbClr val="C00000"/>
                  </a:solidFill>
                  <a:effectLst/>
                  <a:uLnTx/>
                  <a:uFillTx/>
                  <a:ea typeface="微软雅黑" panose="020B0503020204020204" pitchFamily="34" charset="-122"/>
                  <a:cs typeface="Arial" panose="020B0604020202020204" pitchFamily="34" charset="0"/>
                  <a:sym typeface="+mn-lt"/>
                </a:rPr>
                <a:t>指标</a:t>
              </a:r>
            </a:p>
          </p:txBody>
        </p:sp>
        <p:cxnSp>
          <p:nvCxnSpPr>
            <p:cNvPr id="255" name="直接箭头连接符 81"/>
            <p:cNvCxnSpPr/>
            <p:nvPr/>
          </p:nvCxnSpPr>
          <p:spPr>
            <a:xfrm>
              <a:off x="7944836" y="6228517"/>
              <a:ext cx="2736304" cy="0"/>
            </a:xfrm>
            <a:prstGeom prst="straightConnector1">
              <a:avLst/>
            </a:prstGeom>
            <a:noFill/>
            <a:ln w="6350" cap="flat" cmpd="sng" algn="ctr">
              <a:solidFill>
                <a:srgbClr val="FFFFFF">
                  <a:lumMod val="50000"/>
                </a:srgbClr>
              </a:solidFill>
              <a:prstDash val="solid"/>
              <a:miter lim="800000"/>
              <a:tailEnd type="arrow"/>
            </a:ln>
            <a:effectLst/>
          </p:spPr>
        </p:cxnSp>
        <p:sp>
          <p:nvSpPr>
            <p:cNvPr id="256" name="TextBox 164"/>
            <p:cNvSpPr txBox="1"/>
            <p:nvPr/>
          </p:nvSpPr>
          <p:spPr>
            <a:xfrm>
              <a:off x="8017495" y="6319208"/>
              <a:ext cx="2501053" cy="333175"/>
            </a:xfrm>
            <a:prstGeom prst="rect">
              <a:avLst/>
            </a:prstGeom>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C00000"/>
                  </a:solidFill>
                  <a:effectLst/>
                  <a:uLnTx/>
                  <a:uFillTx/>
                  <a:ea typeface="微软雅黑" panose="020B0503020204020204" pitchFamily="34" charset="-122"/>
                  <a:cs typeface="Arial" panose="020B0604020202020204" pitchFamily="34" charset="0"/>
                  <a:sym typeface="+mn-lt"/>
                </a:rPr>
                <a:t>组织绩效分解到个人</a:t>
              </a:r>
              <a:r>
                <a:rPr kumimoji="0" lang="en-US" altLang="zh-CN" sz="1400" b="1" i="0" u="none" strike="noStrike" kern="0" cap="none" spc="0" normalizeH="0" baseline="0" noProof="0" dirty="0">
                  <a:ln>
                    <a:noFill/>
                  </a:ln>
                  <a:solidFill>
                    <a:srgbClr val="C00000"/>
                  </a:solidFill>
                  <a:effectLst/>
                  <a:uLnTx/>
                  <a:uFillTx/>
                  <a:ea typeface="微软雅黑" panose="020B0503020204020204" pitchFamily="34" charset="-122"/>
                  <a:cs typeface="Arial" panose="020B0604020202020204" pitchFamily="34" charset="0"/>
                  <a:sym typeface="+mn-lt"/>
                </a:rPr>
                <a:t>PBC</a:t>
              </a:r>
            </a:p>
          </p:txBody>
        </p:sp>
      </p:grpSp>
      <p:sp>
        <p:nvSpPr>
          <p:cNvPr id="260" name="椭圆 259"/>
          <p:cNvSpPr/>
          <p:nvPr/>
        </p:nvSpPr>
        <p:spPr>
          <a:xfrm>
            <a:off x="2726055" y="1349375"/>
            <a:ext cx="4217670" cy="4314190"/>
          </a:xfrm>
          <a:prstGeom prst="ellipse">
            <a:avLst/>
          </a:prstGeom>
          <a:noFill/>
          <a:ln w="19050" cap="flat" cmpd="sng" algn="ctr">
            <a:solidFill>
              <a:srgbClr val="C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DengXian"/>
              <a:cs typeface="+mn-cs"/>
            </a:endParaRPr>
          </a:p>
        </p:txBody>
      </p:sp>
      <p:grpSp>
        <p:nvGrpSpPr>
          <p:cNvPr id="4" name="组合 260"/>
          <p:cNvGrpSpPr/>
          <p:nvPr/>
        </p:nvGrpSpPr>
        <p:grpSpPr>
          <a:xfrm>
            <a:off x="3367405" y="2072640"/>
            <a:ext cx="1459865" cy="1797050"/>
            <a:chOff x="3229155" y="1806663"/>
            <a:chExt cx="1515275" cy="1954467"/>
          </a:xfrm>
        </p:grpSpPr>
        <p:sp>
          <p:nvSpPr>
            <p:cNvPr id="262" name="Text Box 14"/>
            <p:cNvSpPr txBox="1">
              <a:spLocks noChangeArrowheads="1"/>
            </p:cNvSpPr>
            <p:nvPr/>
          </p:nvSpPr>
          <p:spPr bwMode="auto">
            <a:xfrm>
              <a:off x="3649535" y="1806663"/>
              <a:ext cx="1006475"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112" tIns="27054" rIns="54112" bIns="27054"/>
            <a:lstStyle>
              <a:lvl1pPr defTabSz="820420">
                <a:defRPr>
                  <a:solidFill>
                    <a:schemeClr val="tx1"/>
                  </a:solidFill>
                  <a:latin typeface="DengXian"/>
                  <a:ea typeface="DengXian"/>
                  <a:cs typeface="DengXian"/>
                </a:defRPr>
              </a:lvl1pPr>
              <a:lvl2pPr marL="742950" indent="-285750" defTabSz="820420">
                <a:defRPr>
                  <a:solidFill>
                    <a:schemeClr val="tx1"/>
                  </a:solidFill>
                  <a:latin typeface="DengXian"/>
                  <a:ea typeface="DengXian"/>
                  <a:cs typeface="DengXian"/>
                </a:defRPr>
              </a:lvl2pPr>
              <a:lvl3pPr marL="1143000" indent="-228600" defTabSz="820420">
                <a:defRPr>
                  <a:solidFill>
                    <a:schemeClr val="tx1"/>
                  </a:solidFill>
                  <a:latin typeface="DengXian"/>
                  <a:ea typeface="DengXian"/>
                  <a:cs typeface="DengXian"/>
                </a:defRPr>
              </a:lvl3pPr>
              <a:lvl4pPr marL="1600200" indent="-228600" defTabSz="820420">
                <a:defRPr>
                  <a:solidFill>
                    <a:schemeClr val="tx1"/>
                  </a:solidFill>
                  <a:latin typeface="DengXian"/>
                  <a:ea typeface="DengXian"/>
                  <a:cs typeface="DengXian"/>
                </a:defRPr>
              </a:lvl4pPr>
              <a:lvl5pPr marL="2057400" indent="-228600" defTabSz="820420">
                <a:defRPr>
                  <a:solidFill>
                    <a:schemeClr val="tx1"/>
                  </a:solidFill>
                  <a:latin typeface="DengXian"/>
                  <a:ea typeface="DengXian"/>
                  <a:cs typeface="DengXian"/>
                </a:defRPr>
              </a:lvl5pPr>
              <a:lvl6pPr marL="2514600" indent="-228600" defTabSz="820420" fontAlgn="base">
                <a:spcBef>
                  <a:spcPct val="0"/>
                </a:spcBef>
                <a:spcAft>
                  <a:spcPct val="0"/>
                </a:spcAft>
                <a:defRPr>
                  <a:solidFill>
                    <a:schemeClr val="tx1"/>
                  </a:solidFill>
                  <a:latin typeface="DengXian"/>
                  <a:ea typeface="DengXian"/>
                  <a:cs typeface="DengXian"/>
                </a:defRPr>
              </a:lvl6pPr>
              <a:lvl7pPr marL="2971800" indent="-228600" defTabSz="820420" fontAlgn="base">
                <a:spcBef>
                  <a:spcPct val="0"/>
                </a:spcBef>
                <a:spcAft>
                  <a:spcPct val="0"/>
                </a:spcAft>
                <a:defRPr>
                  <a:solidFill>
                    <a:schemeClr val="tx1"/>
                  </a:solidFill>
                  <a:latin typeface="DengXian"/>
                  <a:ea typeface="DengXian"/>
                  <a:cs typeface="DengXian"/>
                </a:defRPr>
              </a:lvl7pPr>
              <a:lvl8pPr marL="3429000" indent="-228600" defTabSz="820420" fontAlgn="base">
                <a:spcBef>
                  <a:spcPct val="0"/>
                </a:spcBef>
                <a:spcAft>
                  <a:spcPct val="0"/>
                </a:spcAft>
                <a:defRPr>
                  <a:solidFill>
                    <a:schemeClr val="tx1"/>
                  </a:solidFill>
                  <a:latin typeface="DengXian"/>
                  <a:ea typeface="DengXian"/>
                  <a:cs typeface="DengXian"/>
                </a:defRPr>
              </a:lvl8pPr>
              <a:lvl9pPr marL="3886200" indent="-228600" defTabSz="820420" fontAlgn="base">
                <a:spcBef>
                  <a:spcPct val="0"/>
                </a:spcBef>
                <a:spcAft>
                  <a:spcPct val="0"/>
                </a:spcAft>
                <a:defRPr>
                  <a:solidFill>
                    <a:schemeClr val="tx1"/>
                  </a:solidFill>
                  <a:latin typeface="DengXian"/>
                  <a:ea typeface="DengXian"/>
                  <a:cs typeface="DengXian"/>
                </a:defRPr>
              </a:lvl9pPr>
            </a:lstStyle>
            <a:p>
              <a:pPr marL="0" marR="0" lvl="0" indent="0" algn="just" defTabSz="820420" eaLnBrk="1" fontAlgn="t" latinLnBrk="0" hangingPunct="1">
                <a:lnSpc>
                  <a:spcPct val="100000"/>
                </a:lnSpc>
                <a:spcBef>
                  <a:spcPct val="50000"/>
                </a:spcBef>
                <a:spcAft>
                  <a:spcPts val="0"/>
                </a:spcAft>
                <a:buClrTx/>
                <a:buSzTx/>
                <a:buFontTx/>
                <a:buNone/>
                <a:defRPr/>
              </a:pPr>
              <a:r>
                <a:rPr kumimoji="0" lang="zh-CN" altLang="en-US" sz="1000" b="1"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层层分解</a:t>
              </a:r>
            </a:p>
          </p:txBody>
        </p:sp>
        <p:grpSp>
          <p:nvGrpSpPr>
            <p:cNvPr id="5" name="组合 112"/>
            <p:cNvGrpSpPr/>
            <p:nvPr/>
          </p:nvGrpSpPr>
          <p:grpSpPr bwMode="auto">
            <a:xfrm>
              <a:off x="3352800" y="2084388"/>
              <a:ext cx="1295400" cy="1622425"/>
              <a:chOff x="3247279" y="1966857"/>
              <a:chExt cx="1296003" cy="1622762"/>
            </a:xfrm>
          </p:grpSpPr>
          <p:sp>
            <p:nvSpPr>
              <p:cNvPr id="265" name="Rectangle 199"/>
              <p:cNvSpPr>
                <a:spLocks noChangeArrowheads="1"/>
              </p:cNvSpPr>
              <p:nvPr/>
            </p:nvSpPr>
            <p:spPr bwMode="auto">
              <a:xfrm>
                <a:off x="3247279" y="2330470"/>
                <a:ext cx="1296003" cy="215945"/>
              </a:xfrm>
              <a:prstGeom prst="rect">
                <a:avLst/>
              </a:prstGeom>
              <a:solidFill>
                <a:srgbClr val="FFFFFF">
                  <a:lumMod val="95000"/>
                </a:srgbClr>
              </a:solidFill>
              <a:ln w="9525">
                <a:noFill/>
                <a:miter lim="800000"/>
              </a:ln>
            </p:spPr>
            <p:txBody>
              <a:bodyPr lIns="0" tIns="0" rIns="0" bIns="0" anchor="ctr"/>
              <a:lstStyle/>
              <a:p>
                <a:pPr marL="0" marR="0" lvl="0" indent="0" algn="ctr" defTabSz="819150" eaLnBrk="1" fontAlgn="t" latinLnBrk="0" hangingPunct="1">
                  <a:lnSpc>
                    <a:spcPct val="100000"/>
                  </a:lnSpc>
                  <a:spcBef>
                    <a:spcPct val="50000"/>
                  </a:spcBef>
                  <a:spcAft>
                    <a:spcPts val="0"/>
                  </a:spcAft>
                  <a:buClrTx/>
                  <a:buSzTx/>
                  <a:buFontTx/>
                  <a:buNone/>
                  <a:defRPr/>
                </a:pPr>
                <a:r>
                  <a:rPr kumimoji="0" lang="zh-CN" altLang="en-US" sz="930" b="0" i="0" u="none" strike="noStrike" kern="0" cap="none" spc="0" normalizeH="0" baseline="0" noProof="0" dirty="0">
                    <a:ln>
                      <a:noFill/>
                    </a:ln>
                    <a:solidFill>
                      <a:srgbClr val="000000"/>
                    </a:solidFill>
                    <a:effectLst/>
                    <a:uLnTx/>
                    <a:uFillTx/>
                    <a:ea typeface="微软雅黑" panose="020B0503020204020204" pitchFamily="34" charset="-122"/>
                    <a:cs typeface="Arial" panose="020B0604020202020204" pitchFamily="34" charset="0"/>
                  </a:rPr>
                  <a:t>中长期关键措施</a:t>
                </a:r>
              </a:p>
            </p:txBody>
          </p:sp>
          <p:sp>
            <p:nvSpPr>
              <p:cNvPr id="266" name="Rectangle 199"/>
              <p:cNvSpPr>
                <a:spLocks noChangeArrowheads="1"/>
              </p:cNvSpPr>
              <p:nvPr/>
            </p:nvSpPr>
            <p:spPr bwMode="auto">
              <a:xfrm>
                <a:off x="3247279" y="2670265"/>
                <a:ext cx="1296003" cy="215945"/>
              </a:xfrm>
              <a:prstGeom prst="rect">
                <a:avLst/>
              </a:prstGeom>
              <a:solidFill>
                <a:srgbClr val="FFFFFF">
                  <a:lumMod val="95000"/>
                </a:srgbClr>
              </a:solidFill>
              <a:ln w="9525">
                <a:noFill/>
                <a:miter lim="800000"/>
              </a:ln>
            </p:spPr>
            <p:txBody>
              <a:bodyPr lIns="0" tIns="0" rIns="0" bIns="0" anchor="ctr"/>
              <a:lstStyle/>
              <a:p>
                <a:pPr marL="0" marR="0" lvl="0" indent="0" algn="ctr" defTabSz="819150" eaLnBrk="1" fontAlgn="t" latinLnBrk="0" hangingPunct="1">
                  <a:lnSpc>
                    <a:spcPct val="100000"/>
                  </a:lnSpc>
                  <a:spcBef>
                    <a:spcPct val="50000"/>
                  </a:spcBef>
                  <a:spcAft>
                    <a:spcPts val="0"/>
                  </a:spcAft>
                  <a:buClrTx/>
                  <a:buSzTx/>
                  <a:buFontTx/>
                  <a:buNone/>
                  <a:defRPr/>
                </a:pPr>
                <a:r>
                  <a:rPr kumimoji="0" lang="zh-CN" altLang="en-US" sz="930" b="0" i="0" u="none" strike="noStrike" kern="0" cap="none" spc="0" normalizeH="0" baseline="0" noProof="0" dirty="0">
                    <a:ln>
                      <a:noFill/>
                    </a:ln>
                    <a:solidFill>
                      <a:srgbClr val="000000"/>
                    </a:solidFill>
                    <a:effectLst/>
                    <a:uLnTx/>
                    <a:uFillTx/>
                    <a:ea typeface="微软雅黑" panose="020B0503020204020204" pitchFamily="34" charset="-122"/>
                    <a:cs typeface="Arial" panose="020B0604020202020204" pitchFamily="34" charset="0"/>
                  </a:rPr>
                  <a:t>战略衡量指标</a:t>
                </a:r>
              </a:p>
            </p:txBody>
          </p:sp>
          <p:sp>
            <p:nvSpPr>
              <p:cNvPr id="267" name="Rectangle 199"/>
              <p:cNvSpPr>
                <a:spLocks noChangeArrowheads="1"/>
              </p:cNvSpPr>
              <p:nvPr/>
            </p:nvSpPr>
            <p:spPr bwMode="auto">
              <a:xfrm>
                <a:off x="3247279" y="1966857"/>
                <a:ext cx="1296003" cy="215945"/>
              </a:xfrm>
              <a:prstGeom prst="rect">
                <a:avLst/>
              </a:prstGeom>
              <a:solidFill>
                <a:srgbClr val="FFFFFF">
                  <a:lumMod val="95000"/>
                </a:srgbClr>
              </a:solidFill>
              <a:ln w="9525">
                <a:noFill/>
                <a:miter lim="800000"/>
              </a:ln>
            </p:spPr>
            <p:txBody>
              <a:bodyPr lIns="0" tIns="0" rIns="0" bIns="0" anchor="ctr"/>
              <a:lstStyle/>
              <a:p>
                <a:pPr marL="0" marR="0" lvl="0" indent="0" algn="ctr" defTabSz="819150" eaLnBrk="1" fontAlgn="t" latinLnBrk="0" hangingPunct="1">
                  <a:lnSpc>
                    <a:spcPct val="100000"/>
                  </a:lnSpc>
                  <a:spcBef>
                    <a:spcPct val="50000"/>
                  </a:spcBef>
                  <a:spcAft>
                    <a:spcPts val="0"/>
                  </a:spcAft>
                  <a:buClrTx/>
                  <a:buSzTx/>
                  <a:buFontTx/>
                  <a:buNone/>
                  <a:defRPr/>
                </a:pPr>
                <a:r>
                  <a:rPr kumimoji="0" lang="zh-CN" altLang="en-US" sz="930" b="0" i="0" u="none" strike="noStrike" kern="0" cap="none" spc="0" normalizeH="0" baseline="0" noProof="0" dirty="0">
                    <a:ln>
                      <a:noFill/>
                    </a:ln>
                    <a:solidFill>
                      <a:srgbClr val="000000"/>
                    </a:solidFill>
                    <a:effectLst/>
                    <a:uLnTx/>
                    <a:uFillTx/>
                    <a:ea typeface="微软雅黑" panose="020B0503020204020204" pitchFamily="34" charset="-122"/>
                    <a:cs typeface="Arial" panose="020B0604020202020204" pitchFamily="34" charset="0"/>
                  </a:rPr>
                  <a:t>公司战略、目标</a:t>
                </a:r>
              </a:p>
            </p:txBody>
          </p:sp>
          <p:sp>
            <p:nvSpPr>
              <p:cNvPr id="268" name="Rectangle 199"/>
              <p:cNvSpPr>
                <a:spLocks noChangeArrowheads="1"/>
              </p:cNvSpPr>
              <p:nvPr/>
            </p:nvSpPr>
            <p:spPr bwMode="auto">
              <a:xfrm>
                <a:off x="3247279" y="3021176"/>
                <a:ext cx="1296003" cy="217532"/>
              </a:xfrm>
              <a:prstGeom prst="rect">
                <a:avLst/>
              </a:prstGeom>
              <a:solidFill>
                <a:srgbClr val="FFFFFF">
                  <a:lumMod val="95000"/>
                </a:srgbClr>
              </a:solidFill>
              <a:ln w="9525">
                <a:noFill/>
                <a:miter lim="800000"/>
              </a:ln>
            </p:spPr>
            <p:txBody>
              <a:bodyPr lIns="0" tIns="0" rIns="0" bIns="0" anchor="ctr"/>
              <a:lstStyle/>
              <a:p>
                <a:pPr marL="0" marR="0" lvl="0" indent="0" algn="ctr" defTabSz="819150" eaLnBrk="1" fontAlgn="t" latinLnBrk="0" hangingPunct="1">
                  <a:lnSpc>
                    <a:spcPct val="100000"/>
                  </a:lnSpc>
                  <a:spcBef>
                    <a:spcPct val="50000"/>
                  </a:spcBef>
                  <a:spcAft>
                    <a:spcPts val="0"/>
                  </a:spcAft>
                  <a:buClrTx/>
                  <a:buSzTx/>
                  <a:buFontTx/>
                  <a:buNone/>
                  <a:defRPr/>
                </a:pPr>
                <a:r>
                  <a:rPr kumimoji="0" lang="zh-CN" altLang="en-US" sz="930" b="0" i="0" u="none" strike="noStrike" kern="0" cap="none" spc="0" normalizeH="0" baseline="0" noProof="0" dirty="0">
                    <a:ln>
                      <a:noFill/>
                    </a:ln>
                    <a:solidFill>
                      <a:srgbClr val="000000"/>
                    </a:solidFill>
                    <a:effectLst/>
                    <a:uLnTx/>
                    <a:uFillTx/>
                    <a:ea typeface="微软雅黑" panose="020B0503020204020204" pitchFamily="34" charset="-122"/>
                    <a:cs typeface="Arial" panose="020B0604020202020204" pitchFamily="34" charset="0"/>
                  </a:rPr>
                  <a:t>年度目标和关键措施</a:t>
                </a:r>
              </a:p>
            </p:txBody>
          </p:sp>
          <p:sp>
            <p:nvSpPr>
              <p:cNvPr id="269" name="Rectangle 199"/>
              <p:cNvSpPr>
                <a:spLocks noChangeArrowheads="1"/>
              </p:cNvSpPr>
              <p:nvPr/>
            </p:nvSpPr>
            <p:spPr bwMode="auto">
              <a:xfrm>
                <a:off x="3247279" y="3373674"/>
                <a:ext cx="1296003" cy="215945"/>
              </a:xfrm>
              <a:prstGeom prst="rect">
                <a:avLst/>
              </a:prstGeom>
              <a:solidFill>
                <a:srgbClr val="FFFFFF">
                  <a:lumMod val="95000"/>
                </a:srgbClr>
              </a:solidFill>
              <a:ln w="9525">
                <a:noFill/>
                <a:miter lim="800000"/>
              </a:ln>
            </p:spPr>
            <p:txBody>
              <a:bodyPr lIns="0" tIns="0" rIns="0" bIns="0" anchor="ctr"/>
              <a:lstStyle/>
              <a:p>
                <a:pPr marL="0" marR="0" lvl="0" indent="0" algn="ctr" defTabSz="819150" eaLnBrk="1" fontAlgn="t" latinLnBrk="0" hangingPunct="1">
                  <a:lnSpc>
                    <a:spcPct val="100000"/>
                  </a:lnSpc>
                  <a:spcBef>
                    <a:spcPct val="50000"/>
                  </a:spcBef>
                  <a:spcAft>
                    <a:spcPts val="0"/>
                  </a:spcAft>
                  <a:buClrTx/>
                  <a:buSzTx/>
                  <a:buFontTx/>
                  <a:buNone/>
                  <a:defRPr/>
                </a:pPr>
                <a:r>
                  <a:rPr kumimoji="0" lang="zh-CN" altLang="en-US" sz="930" b="0" i="0" u="none" strike="noStrike" kern="0" cap="none" spc="0" normalizeH="0" baseline="0" noProof="0" dirty="0">
                    <a:ln>
                      <a:noFill/>
                    </a:ln>
                    <a:solidFill>
                      <a:srgbClr val="000000"/>
                    </a:solidFill>
                    <a:effectLst/>
                    <a:uLnTx/>
                    <a:uFillTx/>
                    <a:ea typeface="微软雅黑" panose="020B0503020204020204" pitchFamily="34" charset="-122"/>
                    <a:cs typeface="Arial" panose="020B0604020202020204" pitchFamily="34" charset="0"/>
                  </a:rPr>
                  <a:t>重点工作和目标</a:t>
                </a:r>
              </a:p>
            </p:txBody>
          </p:sp>
          <p:cxnSp>
            <p:nvCxnSpPr>
              <p:cNvPr id="270" name="直接箭头连接符 269"/>
              <p:cNvCxnSpPr>
                <a:stCxn id="267" idx="2"/>
                <a:endCxn id="265" idx="0"/>
              </p:cNvCxnSpPr>
              <p:nvPr/>
            </p:nvCxnSpPr>
            <p:spPr>
              <a:xfrm flipH="1">
                <a:off x="3895281" y="2182802"/>
                <a:ext cx="0" cy="147668"/>
              </a:xfrm>
              <a:prstGeom prst="straightConnector1">
                <a:avLst/>
              </a:prstGeom>
              <a:noFill/>
              <a:ln w="6350" cap="flat" cmpd="sng" algn="ctr">
                <a:solidFill>
                  <a:srgbClr val="000000">
                    <a:lumMod val="50000"/>
                    <a:lumOff val="50000"/>
                  </a:srgbClr>
                </a:solidFill>
                <a:prstDash val="solid"/>
                <a:miter lim="800000"/>
                <a:tailEnd type="arrow"/>
              </a:ln>
              <a:effectLst/>
            </p:spPr>
          </p:cxnSp>
          <p:cxnSp>
            <p:nvCxnSpPr>
              <p:cNvPr id="271" name="直接箭头连接符 270"/>
              <p:cNvCxnSpPr>
                <a:stCxn id="265" idx="2"/>
                <a:endCxn id="266" idx="0"/>
              </p:cNvCxnSpPr>
              <p:nvPr/>
            </p:nvCxnSpPr>
            <p:spPr>
              <a:xfrm>
                <a:off x="3895281" y="2546414"/>
                <a:ext cx="0" cy="123851"/>
              </a:xfrm>
              <a:prstGeom prst="straightConnector1">
                <a:avLst/>
              </a:prstGeom>
              <a:noFill/>
              <a:ln w="6350" cap="flat" cmpd="sng" algn="ctr">
                <a:solidFill>
                  <a:srgbClr val="000000">
                    <a:lumMod val="50000"/>
                    <a:lumOff val="50000"/>
                  </a:srgbClr>
                </a:solidFill>
                <a:prstDash val="solid"/>
                <a:miter lim="800000"/>
                <a:tailEnd type="arrow"/>
              </a:ln>
              <a:effectLst/>
            </p:spPr>
          </p:cxnSp>
          <p:cxnSp>
            <p:nvCxnSpPr>
              <p:cNvPr id="272" name="直接箭头连接符 271"/>
              <p:cNvCxnSpPr>
                <a:stCxn id="266" idx="2"/>
                <a:endCxn id="268" idx="0"/>
              </p:cNvCxnSpPr>
              <p:nvPr/>
            </p:nvCxnSpPr>
            <p:spPr>
              <a:xfrm>
                <a:off x="3895281" y="2886210"/>
                <a:ext cx="0" cy="134966"/>
              </a:xfrm>
              <a:prstGeom prst="straightConnector1">
                <a:avLst/>
              </a:prstGeom>
              <a:noFill/>
              <a:ln w="6350" cap="flat" cmpd="sng" algn="ctr">
                <a:solidFill>
                  <a:srgbClr val="000000">
                    <a:lumMod val="50000"/>
                    <a:lumOff val="50000"/>
                  </a:srgbClr>
                </a:solidFill>
                <a:prstDash val="solid"/>
                <a:miter lim="800000"/>
                <a:tailEnd type="arrow"/>
              </a:ln>
              <a:effectLst/>
            </p:spPr>
          </p:cxnSp>
          <p:cxnSp>
            <p:nvCxnSpPr>
              <p:cNvPr id="273" name="直接箭头连接符 272"/>
              <p:cNvCxnSpPr>
                <a:stCxn id="268" idx="2"/>
                <a:endCxn id="269" idx="0"/>
              </p:cNvCxnSpPr>
              <p:nvPr/>
            </p:nvCxnSpPr>
            <p:spPr>
              <a:xfrm>
                <a:off x="3895281" y="3238708"/>
                <a:ext cx="0" cy="134966"/>
              </a:xfrm>
              <a:prstGeom prst="straightConnector1">
                <a:avLst/>
              </a:prstGeom>
              <a:noFill/>
              <a:ln w="6350" cap="flat" cmpd="sng" algn="ctr">
                <a:solidFill>
                  <a:srgbClr val="000000">
                    <a:lumMod val="50000"/>
                    <a:lumOff val="50000"/>
                  </a:srgbClr>
                </a:solidFill>
                <a:prstDash val="solid"/>
                <a:miter lim="800000"/>
                <a:tailEnd type="arrow"/>
              </a:ln>
              <a:effectLst/>
            </p:spPr>
          </p:cxnSp>
        </p:grpSp>
        <p:sp>
          <p:nvSpPr>
            <p:cNvPr id="264" name="矩形 263"/>
            <p:cNvSpPr/>
            <p:nvPr/>
          </p:nvSpPr>
          <p:spPr>
            <a:xfrm>
              <a:off x="3229155" y="2058329"/>
              <a:ext cx="1515275" cy="1702801"/>
            </a:xfrm>
            <a:prstGeom prst="rect">
              <a:avLst/>
            </a:prstGeom>
            <a:noFill/>
            <a:ln w="12700" cap="flat" cmpd="sng" algn="ctr">
              <a:solidFill>
                <a:srgbClr val="000000">
                  <a:lumMod val="50000"/>
                  <a:lumOff val="50000"/>
                </a:srgbClr>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FFFFFF"/>
                </a:solidFill>
                <a:effectLst/>
                <a:uLnTx/>
                <a:uFillTx/>
                <a:latin typeface="DengXian"/>
                <a:cs typeface="Arial" panose="020B0604020202020204" pitchFamily="34" charset="0"/>
              </a:endParaRPr>
            </a:p>
          </p:txBody>
        </p:sp>
      </p:grpSp>
      <p:sp>
        <p:nvSpPr>
          <p:cNvPr id="72" name="标题 1"/>
          <p:cNvSpPr txBox="1"/>
          <p:nvPr/>
        </p:nvSpPr>
        <p:spPr>
          <a:xfrm>
            <a:off x="467375" y="368302"/>
            <a:ext cx="7346156" cy="432197"/>
          </a:xfrm>
          <a:prstGeom prst="rect">
            <a:avLst/>
          </a:prstGeom>
          <a:noFill/>
          <a:ln>
            <a:noFill/>
          </a:ln>
          <a:extLst>
            <a:ext uri="{909E8E84-426E-40DD-AFC4-6F175D3DCCD1}">
              <a14:hiddenFill xmlns:a14="http://schemas.microsoft.com/office/drawing/2010/main">
                <a:solidFill>
                  <a:srgbClr val="C00000"/>
                </a:solidFill>
              </a14:hiddenFill>
            </a:ext>
          </a:extLst>
        </p:spPr>
        <p:txBody>
          <a:bodyPr anchor="ctr"/>
          <a:lstStyle>
            <a:lvl1pPr algn="ctr" rtl="0" fontAlgn="base">
              <a:spcBef>
                <a:spcPct val="0"/>
              </a:spcBef>
              <a:spcAft>
                <a:spcPct val="0"/>
              </a:spcAft>
              <a:buFont typeface="Arial" panose="020B0604020202020204" pitchFamily="34" charset="0"/>
              <a:defRPr sz="4400" kern="1200">
                <a:solidFill>
                  <a:schemeClr val="tx2"/>
                </a:solidFill>
                <a:latin typeface="+mj-lt"/>
                <a:ea typeface="+mj-ea"/>
                <a:cs typeface="+mj-cs"/>
              </a:defRPr>
            </a:lvl1pPr>
            <a:lvl2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9pPr>
          </a:lstStyle>
          <a:p>
            <a:pPr algn="l" eaLnBrk="1" hangingPunct="1">
              <a:lnSpc>
                <a:spcPct val="100000"/>
              </a:lnSpc>
            </a:pPr>
            <a:r>
              <a:rPr lang="zh-CN" altLang="en-US" sz="2400" b="1" dirty="0">
                <a:solidFill>
                  <a:srgbClr val="0070C0"/>
                </a:solidFill>
                <a:latin typeface="微软雅黑" panose="020B0503020204020204" pitchFamily="34" charset="-122"/>
                <a:ea typeface="微软雅黑" panose="020B0503020204020204" pitchFamily="34" charset="-122"/>
                <a:cs typeface="+mn-ea"/>
              </a:rPr>
              <a:t>落地：纳入组织绩效目标</a:t>
            </a:r>
            <a:r>
              <a:rPr lang="en-US" altLang="zh-CN" sz="2400" b="1" dirty="0">
                <a:solidFill>
                  <a:srgbClr val="0070C0"/>
                </a:solidFill>
                <a:latin typeface="微软雅黑" panose="020B0503020204020204" pitchFamily="34" charset="-122"/>
                <a:ea typeface="微软雅黑" panose="020B0503020204020204" pitchFamily="34" charset="-122"/>
                <a:cs typeface="+mn-ea"/>
              </a:rPr>
              <a:t>KPI</a:t>
            </a:r>
            <a:r>
              <a:rPr lang="zh-CN" altLang="en-US" sz="2400" b="1" dirty="0">
                <a:solidFill>
                  <a:srgbClr val="0070C0"/>
                </a:solidFill>
                <a:latin typeface="微软雅黑" panose="020B0503020204020204" pitchFamily="34" charset="-122"/>
                <a:ea typeface="微软雅黑" panose="020B0503020204020204" pitchFamily="34" charset="-122"/>
                <a:cs typeface="+mn-ea"/>
              </a:rPr>
              <a:t>及高管</a:t>
            </a:r>
            <a:r>
              <a:rPr lang="en-US" altLang="zh-CN" sz="2400" b="1" dirty="0">
                <a:solidFill>
                  <a:srgbClr val="0070C0"/>
                </a:solidFill>
                <a:latin typeface="微软雅黑" panose="020B0503020204020204" pitchFamily="34" charset="-122"/>
                <a:ea typeface="微软雅黑" panose="020B0503020204020204" pitchFamily="34" charset="-122"/>
                <a:cs typeface="+mn-ea"/>
              </a:rPr>
              <a:t>PBC</a:t>
            </a:r>
            <a:r>
              <a:rPr lang="zh-CN" altLang="en-US" sz="2400" b="1" dirty="0">
                <a:solidFill>
                  <a:srgbClr val="0070C0"/>
                </a:solidFill>
                <a:latin typeface="微软雅黑" panose="020B0503020204020204" pitchFamily="34" charset="-122"/>
                <a:ea typeface="微软雅黑" panose="020B0503020204020204" pitchFamily="34" charset="-122"/>
                <a:cs typeface="+mn-ea"/>
              </a:rPr>
              <a:t>，下属承接</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60"/>
                                        </p:tgtEl>
                                        <p:attrNameLst>
                                          <p:attrName>style.visibility</p:attrName>
                                        </p:attrNameLst>
                                      </p:cBhvr>
                                      <p:to>
                                        <p:strVal val="visible"/>
                                      </p:to>
                                    </p:set>
                                    <p:anim calcmode="lin" valueType="num">
                                      <p:cBhvr additive="base">
                                        <p:cTn id="7" dur="500" fill="hold"/>
                                        <p:tgtEl>
                                          <p:spTgt spid="260"/>
                                        </p:tgtEl>
                                        <p:attrNameLst>
                                          <p:attrName>ppt_x</p:attrName>
                                        </p:attrNameLst>
                                      </p:cBhvr>
                                      <p:tavLst>
                                        <p:tav tm="0">
                                          <p:val>
                                            <p:strVal val="#ppt_x"/>
                                          </p:val>
                                        </p:tav>
                                        <p:tav tm="100000">
                                          <p:val>
                                            <p:strVal val="#ppt_x"/>
                                          </p:val>
                                        </p:tav>
                                      </p:tavLst>
                                    </p:anim>
                                    <p:anim calcmode="lin" valueType="num">
                                      <p:cBhvr additive="base">
                                        <p:cTn id="8" dur="500" fill="hold"/>
                                        <p:tgtEl>
                                          <p:spTgt spid="2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3" cstate="print"/>
          <a:stretch>
            <a:fillRect/>
          </a:stretch>
        </p:blipFill>
        <p:spPr>
          <a:xfrm>
            <a:off x="-7620" y="6263005"/>
            <a:ext cx="12206605" cy="522605"/>
          </a:xfrm>
          <a:prstGeom prst="rect">
            <a:avLst/>
          </a:prstGeom>
        </p:spPr>
      </p:pic>
      <p:sp>
        <p:nvSpPr>
          <p:cNvPr id="160" name="标题 1"/>
          <p:cNvSpPr txBox="1"/>
          <p:nvPr/>
        </p:nvSpPr>
        <p:spPr>
          <a:xfrm>
            <a:off x="433070" y="321946"/>
            <a:ext cx="8689975" cy="432435"/>
          </a:xfrm>
          <a:prstGeom prst="rect">
            <a:avLst/>
          </a:prstGeom>
          <a:noFill/>
          <a:ln>
            <a:noFill/>
          </a:ln>
          <a:extLst>
            <a:ext uri="{909E8E84-426E-40DD-AFC4-6F175D3DCCD1}">
              <a14:hiddenFill xmlns:a14="http://schemas.microsoft.com/office/drawing/2010/main">
                <a:solidFill>
                  <a:srgbClr val="C00000"/>
                </a:solidFill>
              </a14:hiddenFill>
            </a:ext>
          </a:extLst>
        </p:spPr>
        <p:txBody>
          <a:bodyPr anchor="ctr"/>
          <a:lstStyle>
            <a:lvl1pPr algn="ctr" rtl="0" fontAlgn="base">
              <a:spcBef>
                <a:spcPct val="0"/>
              </a:spcBef>
              <a:spcAft>
                <a:spcPct val="0"/>
              </a:spcAft>
              <a:buFont typeface="Arial" panose="020B0604020202020204" pitchFamily="34" charset="0"/>
              <a:defRPr sz="4400" kern="1200">
                <a:solidFill>
                  <a:schemeClr val="tx2"/>
                </a:solidFill>
                <a:latin typeface="+mj-lt"/>
                <a:ea typeface="+mj-ea"/>
                <a:cs typeface="+mj-cs"/>
              </a:defRPr>
            </a:lvl1pPr>
            <a:lvl2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9pPr>
          </a:lstStyle>
          <a:p>
            <a:pPr algn="l" eaLnBrk="1" hangingPunct="1">
              <a:lnSpc>
                <a:spcPct val="100000"/>
              </a:lnSpc>
            </a:pPr>
            <a:r>
              <a:rPr lang="zh-CN" altLang="en-US" sz="2400" b="1" dirty="0">
                <a:solidFill>
                  <a:srgbClr val="0070C0"/>
                </a:solidFill>
                <a:latin typeface="微软雅黑" panose="020B0503020204020204" pitchFamily="34" charset="-122"/>
                <a:ea typeface="微软雅黑" panose="020B0503020204020204" pitchFamily="34" charset="-122"/>
                <a:cs typeface="+mn-ea"/>
              </a:rPr>
              <a:t>用平衡积分卡对战略举措进行校验调整：分析各</a:t>
            </a:r>
            <a:r>
              <a:rPr lang="en-US" altLang="zh-CN" sz="2400" b="1" dirty="0">
                <a:solidFill>
                  <a:srgbClr val="0070C0"/>
                </a:solidFill>
                <a:latin typeface="微软雅黑" panose="020B0503020204020204" pitchFamily="34" charset="-122"/>
                <a:ea typeface="微软雅黑" panose="020B0503020204020204" pitchFamily="34" charset="-122"/>
                <a:cs typeface="+mn-ea"/>
              </a:rPr>
              <a:t>KSF</a:t>
            </a:r>
            <a:r>
              <a:rPr lang="zh-CN" altLang="en-US" sz="2400" b="1" dirty="0">
                <a:solidFill>
                  <a:srgbClr val="0070C0"/>
                </a:solidFill>
                <a:latin typeface="微软雅黑" panose="020B0503020204020204" pitchFamily="34" charset="-122"/>
                <a:ea typeface="微软雅黑" panose="020B0503020204020204" pitchFamily="34" charset="-122"/>
                <a:cs typeface="+mn-ea"/>
              </a:rPr>
              <a:t>是否均衡</a:t>
            </a:r>
          </a:p>
        </p:txBody>
      </p:sp>
      <p:sp>
        <p:nvSpPr>
          <p:cNvPr id="196" name="矩形 195"/>
          <p:cNvSpPr/>
          <p:nvPr/>
        </p:nvSpPr>
        <p:spPr>
          <a:xfrm>
            <a:off x="3453765" y="2641600"/>
            <a:ext cx="3600450" cy="774700"/>
          </a:xfrm>
          <a:prstGeom prst="rect">
            <a:avLst/>
          </a:prstGeom>
          <a:noFill/>
          <a:ln w="12700" cap="flat" cmpd="sng" algn="ctr">
            <a:solidFill>
              <a:srgbClr val="5B9BD5">
                <a:shade val="50000"/>
              </a:srgb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97" name="矩形 196"/>
          <p:cNvSpPr/>
          <p:nvPr/>
        </p:nvSpPr>
        <p:spPr>
          <a:xfrm>
            <a:off x="1245870" y="1220470"/>
            <a:ext cx="1525905" cy="504190"/>
          </a:xfrm>
          <a:prstGeom prst="rect">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战略</a:t>
            </a:r>
          </a:p>
        </p:txBody>
      </p:sp>
      <p:sp>
        <p:nvSpPr>
          <p:cNvPr id="198" name="矩形 197"/>
          <p:cNvSpPr/>
          <p:nvPr/>
        </p:nvSpPr>
        <p:spPr>
          <a:xfrm>
            <a:off x="1245870" y="1971675"/>
            <a:ext cx="1525905" cy="504190"/>
          </a:xfrm>
          <a:prstGeom prst="rect">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战略目标</a:t>
            </a:r>
          </a:p>
        </p:txBody>
      </p:sp>
      <p:sp>
        <p:nvSpPr>
          <p:cNvPr id="199" name="矩形 198"/>
          <p:cNvSpPr/>
          <p:nvPr/>
        </p:nvSpPr>
        <p:spPr>
          <a:xfrm>
            <a:off x="1245870" y="2753360"/>
            <a:ext cx="1525905" cy="504190"/>
          </a:xfrm>
          <a:prstGeom prst="rect">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财务</a:t>
            </a:r>
          </a:p>
        </p:txBody>
      </p:sp>
      <p:sp>
        <p:nvSpPr>
          <p:cNvPr id="200" name="矩形 199"/>
          <p:cNvSpPr/>
          <p:nvPr/>
        </p:nvSpPr>
        <p:spPr>
          <a:xfrm>
            <a:off x="1207135" y="3556635"/>
            <a:ext cx="1525905" cy="504190"/>
          </a:xfrm>
          <a:prstGeom prst="rect">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CC78C"/>
                </a:solidFill>
                <a:effectLst/>
                <a:uLnTx/>
                <a:uFillTx/>
                <a:latin typeface="微软雅黑" panose="020B0503020204020204" pitchFamily="34" charset="-122"/>
                <a:ea typeface="微软雅黑" panose="020B0503020204020204" pitchFamily="34" charset="-122"/>
                <a:cs typeface="+mn-cs"/>
              </a:rPr>
              <a:t>客户</a:t>
            </a:r>
          </a:p>
        </p:txBody>
      </p:sp>
      <p:sp>
        <p:nvSpPr>
          <p:cNvPr id="201" name="矩形 200"/>
          <p:cNvSpPr/>
          <p:nvPr/>
        </p:nvSpPr>
        <p:spPr>
          <a:xfrm>
            <a:off x="1245870" y="4318635"/>
            <a:ext cx="1525905" cy="504190"/>
          </a:xfrm>
          <a:prstGeom prst="rect">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内部运作</a:t>
            </a:r>
          </a:p>
        </p:txBody>
      </p:sp>
      <p:sp>
        <p:nvSpPr>
          <p:cNvPr id="202" name="矩形 201"/>
          <p:cNvSpPr/>
          <p:nvPr/>
        </p:nvSpPr>
        <p:spPr>
          <a:xfrm>
            <a:off x="1245870" y="5112385"/>
            <a:ext cx="1525905" cy="504190"/>
          </a:xfrm>
          <a:prstGeom prst="rect">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学习成长</a:t>
            </a:r>
          </a:p>
        </p:txBody>
      </p:sp>
      <p:sp>
        <p:nvSpPr>
          <p:cNvPr id="203" name="矩形 202"/>
          <p:cNvSpPr/>
          <p:nvPr/>
        </p:nvSpPr>
        <p:spPr>
          <a:xfrm>
            <a:off x="3371850" y="1220470"/>
            <a:ext cx="6861810" cy="504190"/>
          </a:xfrm>
          <a:prstGeom prst="rect">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有效增长，引领产业，卓越运营</a:t>
            </a:r>
          </a:p>
        </p:txBody>
      </p:sp>
      <p:sp>
        <p:nvSpPr>
          <p:cNvPr id="204" name="矩形 203"/>
          <p:cNvSpPr/>
          <p:nvPr/>
        </p:nvSpPr>
        <p:spPr>
          <a:xfrm>
            <a:off x="3369945" y="1971675"/>
            <a:ext cx="6861810" cy="504190"/>
          </a:xfrm>
          <a:prstGeom prst="rect">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收入增长**</a:t>
            </a:r>
            <a:r>
              <a:rPr kumimoji="0" lang="en-US" altLang="zh-CN"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，贡献利润**</a:t>
            </a:r>
            <a:r>
              <a:rPr kumimoji="0" lang="en-US" altLang="zh-CN"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SG&amp;A </a:t>
            </a: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管道产业领导者，客户的最佳合作伙伴，全球整合型组织</a:t>
            </a:r>
          </a:p>
        </p:txBody>
      </p:sp>
      <p:sp>
        <p:nvSpPr>
          <p:cNvPr id="205" name="椭圆 204"/>
          <p:cNvSpPr/>
          <p:nvPr/>
        </p:nvSpPr>
        <p:spPr>
          <a:xfrm>
            <a:off x="3625850" y="2753360"/>
            <a:ext cx="1581785" cy="546100"/>
          </a:xfrm>
          <a:prstGeom prst="ellipse">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增加传统领域收入</a:t>
            </a:r>
          </a:p>
        </p:txBody>
      </p:sp>
      <p:sp>
        <p:nvSpPr>
          <p:cNvPr id="206" name="椭圆 205"/>
          <p:cNvSpPr/>
          <p:nvPr/>
        </p:nvSpPr>
        <p:spPr>
          <a:xfrm>
            <a:off x="5388610" y="2753360"/>
            <a:ext cx="1581785" cy="546100"/>
          </a:xfrm>
          <a:prstGeom prst="ellipse">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加速新领域增长</a:t>
            </a:r>
          </a:p>
        </p:txBody>
      </p:sp>
      <p:sp>
        <p:nvSpPr>
          <p:cNvPr id="207" name="椭圆 206"/>
          <p:cNvSpPr/>
          <p:nvPr/>
        </p:nvSpPr>
        <p:spPr>
          <a:xfrm>
            <a:off x="8719185" y="2753360"/>
            <a:ext cx="1581785" cy="546100"/>
          </a:xfrm>
          <a:prstGeom prst="ellipse">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降低成本</a:t>
            </a:r>
          </a:p>
        </p:txBody>
      </p:sp>
      <p:sp>
        <p:nvSpPr>
          <p:cNvPr id="208" name="椭圆 207"/>
          <p:cNvSpPr/>
          <p:nvPr/>
        </p:nvSpPr>
        <p:spPr>
          <a:xfrm>
            <a:off x="7132955" y="2543810"/>
            <a:ext cx="1581785" cy="398780"/>
          </a:xfrm>
          <a:prstGeom prst="ellipse">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提升利润</a:t>
            </a:r>
          </a:p>
        </p:txBody>
      </p:sp>
      <p:sp>
        <p:nvSpPr>
          <p:cNvPr id="209" name="椭圆 208"/>
          <p:cNvSpPr/>
          <p:nvPr/>
        </p:nvSpPr>
        <p:spPr>
          <a:xfrm>
            <a:off x="3764280" y="3556635"/>
            <a:ext cx="1581785" cy="546100"/>
          </a:xfrm>
          <a:prstGeom prst="ellipse">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建设欧洲第二本土市场</a:t>
            </a:r>
          </a:p>
        </p:txBody>
      </p:sp>
      <p:sp>
        <p:nvSpPr>
          <p:cNvPr id="210" name="椭圆 209"/>
          <p:cNvSpPr/>
          <p:nvPr/>
        </p:nvSpPr>
        <p:spPr>
          <a:xfrm>
            <a:off x="7541260" y="3556635"/>
            <a:ext cx="1581785" cy="546100"/>
          </a:xfrm>
          <a:prstGeom prst="ellipse">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强化客户关系</a:t>
            </a:r>
          </a:p>
        </p:txBody>
      </p:sp>
      <p:sp>
        <p:nvSpPr>
          <p:cNvPr id="211" name="椭圆 210"/>
          <p:cNvSpPr/>
          <p:nvPr/>
        </p:nvSpPr>
        <p:spPr>
          <a:xfrm>
            <a:off x="5565140" y="3556635"/>
            <a:ext cx="1581785" cy="546100"/>
          </a:xfrm>
          <a:prstGeom prst="ellipse">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提升客户价值</a:t>
            </a:r>
          </a:p>
        </p:txBody>
      </p:sp>
      <p:sp>
        <p:nvSpPr>
          <p:cNvPr id="212" name="椭圆 211"/>
          <p:cNvSpPr/>
          <p:nvPr/>
        </p:nvSpPr>
        <p:spPr>
          <a:xfrm>
            <a:off x="3639185" y="4318635"/>
            <a:ext cx="1782445" cy="546100"/>
          </a:xfrm>
          <a:prstGeom prst="ellipse">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促进产业链健康成长</a:t>
            </a:r>
          </a:p>
        </p:txBody>
      </p:sp>
      <p:sp>
        <p:nvSpPr>
          <p:cNvPr id="213" name="椭圆 212"/>
          <p:cNvSpPr/>
          <p:nvPr/>
        </p:nvSpPr>
        <p:spPr>
          <a:xfrm>
            <a:off x="5987415" y="4318635"/>
            <a:ext cx="1581785" cy="546100"/>
          </a:xfrm>
          <a:prstGeom prst="ellipse">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提升合同质量</a:t>
            </a:r>
          </a:p>
        </p:txBody>
      </p:sp>
      <p:sp>
        <p:nvSpPr>
          <p:cNvPr id="214" name="椭圆 213"/>
          <p:cNvSpPr/>
          <p:nvPr/>
        </p:nvSpPr>
        <p:spPr>
          <a:xfrm>
            <a:off x="7601585" y="4305935"/>
            <a:ext cx="1581785" cy="546100"/>
          </a:xfrm>
          <a:prstGeom prst="ellipse">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建设全球整合型组织</a:t>
            </a:r>
          </a:p>
        </p:txBody>
      </p:sp>
      <p:sp>
        <p:nvSpPr>
          <p:cNvPr id="215" name="椭圆 214"/>
          <p:cNvSpPr/>
          <p:nvPr/>
        </p:nvSpPr>
        <p:spPr>
          <a:xfrm>
            <a:off x="9196705" y="4318635"/>
            <a:ext cx="1581785" cy="546100"/>
          </a:xfrm>
          <a:prstGeom prst="ellipse">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运营效率提升</a:t>
            </a:r>
          </a:p>
        </p:txBody>
      </p:sp>
      <p:sp>
        <p:nvSpPr>
          <p:cNvPr id="216" name="椭圆 215"/>
          <p:cNvSpPr/>
          <p:nvPr/>
        </p:nvSpPr>
        <p:spPr>
          <a:xfrm>
            <a:off x="3567430" y="5070475"/>
            <a:ext cx="1782445" cy="546100"/>
          </a:xfrm>
          <a:prstGeom prst="ellipse">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提升商业解决方案集成能力</a:t>
            </a:r>
          </a:p>
        </p:txBody>
      </p:sp>
      <p:sp>
        <p:nvSpPr>
          <p:cNvPr id="217" name="椭圆 216"/>
          <p:cNvSpPr/>
          <p:nvPr/>
        </p:nvSpPr>
        <p:spPr>
          <a:xfrm>
            <a:off x="6076315" y="5070475"/>
            <a:ext cx="1782445" cy="546100"/>
          </a:xfrm>
          <a:prstGeom prst="ellipse">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确保未来网络核心技术领先</a:t>
            </a:r>
          </a:p>
        </p:txBody>
      </p:sp>
      <p:sp>
        <p:nvSpPr>
          <p:cNvPr id="218" name="椭圆 217"/>
          <p:cNvSpPr/>
          <p:nvPr/>
        </p:nvSpPr>
        <p:spPr>
          <a:xfrm>
            <a:off x="8722995" y="5070475"/>
            <a:ext cx="1502410" cy="546100"/>
          </a:xfrm>
          <a:prstGeom prst="ellipse">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构筑一流组织文化</a:t>
            </a:r>
          </a:p>
        </p:txBody>
      </p:sp>
      <p:cxnSp>
        <p:nvCxnSpPr>
          <p:cNvPr id="219" name="曲线连接符 218"/>
          <p:cNvCxnSpPr>
            <a:stCxn id="212" idx="7"/>
            <a:endCxn id="211" idx="4"/>
          </p:cNvCxnSpPr>
          <p:nvPr/>
        </p:nvCxnSpPr>
        <p:spPr>
          <a:xfrm rot="16200000">
            <a:off x="5610543" y="3652838"/>
            <a:ext cx="295910" cy="1195705"/>
          </a:xfrm>
          <a:prstGeom prst="curvedConnector3">
            <a:avLst>
              <a:gd name="adj1" fmla="val 63627"/>
            </a:avLst>
          </a:prstGeom>
          <a:noFill/>
          <a:ln w="6350" cap="flat" cmpd="sng" algn="ctr">
            <a:solidFill>
              <a:srgbClr val="5B9BD5"/>
            </a:solidFill>
            <a:prstDash val="solid"/>
            <a:miter lim="800000"/>
            <a:tailEnd type="arrow"/>
          </a:ln>
          <a:effectLst/>
        </p:spPr>
      </p:cxnSp>
      <p:cxnSp>
        <p:nvCxnSpPr>
          <p:cNvPr id="220" name="形状 30"/>
          <p:cNvCxnSpPr/>
          <p:nvPr/>
        </p:nvCxnSpPr>
        <p:spPr>
          <a:xfrm flipV="1">
            <a:off x="5260340" y="4164965"/>
            <a:ext cx="1148715" cy="1083945"/>
          </a:xfrm>
          <a:prstGeom prst="curvedConnector3">
            <a:avLst>
              <a:gd name="adj1" fmla="val 50000"/>
            </a:avLst>
          </a:prstGeom>
          <a:noFill/>
          <a:ln w="6350" cap="flat" cmpd="sng" algn="ctr">
            <a:solidFill>
              <a:srgbClr val="5B9BD5"/>
            </a:solidFill>
            <a:prstDash val="solid"/>
            <a:miter lim="800000"/>
            <a:tailEnd type="arrow"/>
          </a:ln>
          <a:effectLst/>
        </p:spPr>
      </p:cxnSp>
      <p:cxnSp>
        <p:nvCxnSpPr>
          <p:cNvPr id="221" name="形状 220"/>
          <p:cNvCxnSpPr>
            <a:stCxn id="217" idx="2"/>
            <a:endCxn id="211" idx="4"/>
          </p:cNvCxnSpPr>
          <p:nvPr/>
        </p:nvCxnSpPr>
        <p:spPr>
          <a:xfrm rot="10800000" flipH="1">
            <a:off x="6076315" y="4102735"/>
            <a:ext cx="280035" cy="1240790"/>
          </a:xfrm>
          <a:prstGeom prst="curvedConnector4">
            <a:avLst>
              <a:gd name="adj1" fmla="val -267574"/>
              <a:gd name="adj2" fmla="val 61003"/>
            </a:avLst>
          </a:prstGeom>
          <a:noFill/>
          <a:ln w="6350" cap="flat" cmpd="sng" algn="ctr">
            <a:solidFill>
              <a:srgbClr val="5B9BD5"/>
            </a:solidFill>
            <a:prstDash val="solid"/>
            <a:miter lim="800000"/>
            <a:tailEnd type="arrow"/>
          </a:ln>
          <a:effectLst/>
        </p:spPr>
      </p:cxnSp>
      <p:cxnSp>
        <p:nvCxnSpPr>
          <p:cNvPr id="222" name="形状 221"/>
          <p:cNvCxnSpPr>
            <a:stCxn id="218" idx="0"/>
          </p:cNvCxnSpPr>
          <p:nvPr/>
        </p:nvCxnSpPr>
        <p:spPr>
          <a:xfrm rot="5400000" flipH="1" flipV="1">
            <a:off x="9571355" y="4765040"/>
            <a:ext cx="208280" cy="402590"/>
          </a:xfrm>
          <a:prstGeom prst="curvedConnector2">
            <a:avLst/>
          </a:prstGeom>
          <a:noFill/>
          <a:ln w="6350" cap="flat" cmpd="sng" algn="ctr">
            <a:solidFill>
              <a:srgbClr val="5B9BD5"/>
            </a:solidFill>
            <a:prstDash val="solid"/>
            <a:miter lim="800000"/>
            <a:tailEnd type="arrow"/>
          </a:ln>
          <a:effectLst/>
        </p:spPr>
      </p:cxnSp>
      <p:cxnSp>
        <p:nvCxnSpPr>
          <p:cNvPr id="223" name="曲线连接符 222"/>
          <p:cNvCxnSpPr>
            <a:stCxn id="215" idx="0"/>
            <a:endCxn id="207" idx="4"/>
          </p:cNvCxnSpPr>
          <p:nvPr/>
        </p:nvCxnSpPr>
        <p:spPr>
          <a:xfrm rot="16200000" flipV="1">
            <a:off x="9239568" y="3570288"/>
            <a:ext cx="1019175" cy="477520"/>
          </a:xfrm>
          <a:prstGeom prst="curvedConnector3">
            <a:avLst>
              <a:gd name="adj1" fmla="val 50000"/>
            </a:avLst>
          </a:prstGeom>
          <a:noFill/>
          <a:ln w="6350" cap="flat" cmpd="sng" algn="ctr">
            <a:solidFill>
              <a:srgbClr val="5B9BD5"/>
            </a:solidFill>
            <a:prstDash val="solid"/>
            <a:miter lim="800000"/>
            <a:tailEnd type="arrow"/>
          </a:ln>
          <a:effectLst/>
        </p:spPr>
      </p:cxnSp>
      <p:cxnSp>
        <p:nvCxnSpPr>
          <p:cNvPr id="224" name="曲线连接符 223"/>
          <p:cNvCxnSpPr>
            <a:stCxn id="214" idx="7"/>
            <a:endCxn id="207" idx="4"/>
          </p:cNvCxnSpPr>
          <p:nvPr/>
        </p:nvCxnSpPr>
        <p:spPr>
          <a:xfrm rot="16200000">
            <a:off x="8687753" y="3563303"/>
            <a:ext cx="1086485" cy="558800"/>
          </a:xfrm>
          <a:prstGeom prst="curvedConnector3">
            <a:avLst>
              <a:gd name="adj1" fmla="val 53682"/>
            </a:avLst>
          </a:prstGeom>
          <a:noFill/>
          <a:ln w="6350" cap="flat" cmpd="sng" algn="ctr">
            <a:solidFill>
              <a:srgbClr val="5B9BD5"/>
            </a:solidFill>
            <a:prstDash val="solid"/>
            <a:miter lim="800000"/>
            <a:tailEnd type="arrow"/>
          </a:ln>
          <a:effectLst/>
        </p:spPr>
      </p:cxnSp>
      <p:cxnSp>
        <p:nvCxnSpPr>
          <p:cNvPr id="225" name="曲线连接符 224"/>
          <p:cNvCxnSpPr>
            <a:stCxn id="214" idx="0"/>
            <a:endCxn id="210" idx="4"/>
          </p:cNvCxnSpPr>
          <p:nvPr/>
        </p:nvCxnSpPr>
        <p:spPr>
          <a:xfrm rot="16200000" flipV="1">
            <a:off x="8261033" y="4174173"/>
            <a:ext cx="203200" cy="60325"/>
          </a:xfrm>
          <a:prstGeom prst="curvedConnector3">
            <a:avLst>
              <a:gd name="adj1" fmla="val 50156"/>
            </a:avLst>
          </a:prstGeom>
          <a:noFill/>
          <a:ln w="6350" cap="flat" cmpd="sng" algn="ctr">
            <a:solidFill>
              <a:srgbClr val="5B9BD5"/>
            </a:solidFill>
            <a:prstDash val="solid"/>
            <a:miter lim="800000"/>
            <a:tailEnd type="arrow"/>
          </a:ln>
          <a:effectLst/>
        </p:spPr>
      </p:cxnSp>
      <p:cxnSp>
        <p:nvCxnSpPr>
          <p:cNvPr id="226" name="形状 59"/>
          <p:cNvCxnSpPr>
            <a:endCxn id="207" idx="2"/>
          </p:cNvCxnSpPr>
          <p:nvPr/>
        </p:nvCxnSpPr>
        <p:spPr>
          <a:xfrm flipV="1">
            <a:off x="6972300" y="3026410"/>
            <a:ext cx="1746885" cy="1318260"/>
          </a:xfrm>
          <a:prstGeom prst="curvedConnector3">
            <a:avLst>
              <a:gd name="adj1" fmla="val 28579"/>
            </a:avLst>
          </a:prstGeom>
          <a:noFill/>
          <a:ln w="6350" cap="flat" cmpd="sng" algn="ctr">
            <a:solidFill>
              <a:srgbClr val="5B9BD5"/>
            </a:solidFill>
            <a:prstDash val="solid"/>
            <a:miter lim="800000"/>
            <a:tailEnd type="arrow"/>
          </a:ln>
          <a:effectLst/>
        </p:spPr>
      </p:cxnSp>
      <p:cxnSp>
        <p:nvCxnSpPr>
          <p:cNvPr id="227" name="形状 226"/>
          <p:cNvCxnSpPr>
            <a:stCxn id="207" idx="0"/>
          </p:cNvCxnSpPr>
          <p:nvPr/>
        </p:nvCxnSpPr>
        <p:spPr>
          <a:xfrm rot="16200000" flipV="1">
            <a:off x="9043670" y="2286635"/>
            <a:ext cx="111760" cy="821055"/>
          </a:xfrm>
          <a:prstGeom prst="curvedConnector2">
            <a:avLst/>
          </a:prstGeom>
          <a:noFill/>
          <a:ln w="6350" cap="flat" cmpd="sng" algn="ctr">
            <a:solidFill>
              <a:srgbClr val="5B9BD5"/>
            </a:solidFill>
            <a:prstDash val="solid"/>
            <a:miter lim="800000"/>
            <a:tailEnd type="arrow"/>
          </a:ln>
          <a:effectLst/>
        </p:spPr>
      </p:cxnSp>
      <p:cxnSp>
        <p:nvCxnSpPr>
          <p:cNvPr id="228" name="形状 227"/>
          <p:cNvCxnSpPr>
            <a:stCxn id="196" idx="3"/>
            <a:endCxn id="208" idx="3"/>
          </p:cNvCxnSpPr>
          <p:nvPr/>
        </p:nvCxnSpPr>
        <p:spPr>
          <a:xfrm flipV="1">
            <a:off x="7054215" y="2884170"/>
            <a:ext cx="310515" cy="144780"/>
          </a:xfrm>
          <a:prstGeom prst="curvedConnector2">
            <a:avLst/>
          </a:prstGeom>
          <a:noFill/>
          <a:ln w="6350" cap="flat" cmpd="sng" algn="ctr">
            <a:solidFill>
              <a:srgbClr val="5B9BD5"/>
            </a:solidFill>
            <a:prstDash val="solid"/>
            <a:miter lim="800000"/>
            <a:tailEnd type="arrow"/>
          </a:ln>
          <a:effectLst/>
        </p:spPr>
      </p:cxnSp>
      <p:cxnSp>
        <p:nvCxnSpPr>
          <p:cNvPr id="229" name="曲线连接符 228"/>
          <p:cNvCxnSpPr>
            <a:stCxn id="209" idx="0"/>
            <a:endCxn id="196" idx="2"/>
          </p:cNvCxnSpPr>
          <p:nvPr/>
        </p:nvCxnSpPr>
        <p:spPr>
          <a:xfrm rot="16200000">
            <a:off x="4834573" y="3137218"/>
            <a:ext cx="140335" cy="698500"/>
          </a:xfrm>
          <a:prstGeom prst="curvedConnector3">
            <a:avLst>
              <a:gd name="adj1" fmla="val 50000"/>
            </a:avLst>
          </a:prstGeom>
          <a:noFill/>
          <a:ln w="6350" cap="flat" cmpd="sng" algn="ctr">
            <a:solidFill>
              <a:srgbClr val="5B9BD5"/>
            </a:solidFill>
            <a:prstDash val="solid"/>
            <a:miter lim="800000"/>
            <a:tailEnd type="arrow"/>
          </a:ln>
          <a:effectLst/>
        </p:spPr>
      </p:cxnSp>
      <p:cxnSp>
        <p:nvCxnSpPr>
          <p:cNvPr id="230" name="形状 229"/>
          <p:cNvCxnSpPr>
            <a:stCxn id="211" idx="0"/>
          </p:cNvCxnSpPr>
          <p:nvPr/>
        </p:nvCxnSpPr>
        <p:spPr>
          <a:xfrm rot="16200000" flipV="1">
            <a:off x="5819775" y="3020060"/>
            <a:ext cx="114935" cy="957580"/>
          </a:xfrm>
          <a:prstGeom prst="curvedConnector2">
            <a:avLst/>
          </a:prstGeom>
          <a:noFill/>
          <a:ln w="6350" cap="flat" cmpd="sng" algn="ctr">
            <a:solidFill>
              <a:srgbClr val="5B9BD5"/>
            </a:solidFill>
            <a:prstDash val="solid"/>
            <a:miter lim="800000"/>
            <a:tailEnd type="arrow"/>
          </a:ln>
          <a:effectLst/>
        </p:spPr>
      </p:cxnSp>
      <p:cxnSp>
        <p:nvCxnSpPr>
          <p:cNvPr id="231" name="形状 230"/>
          <p:cNvCxnSpPr>
            <a:stCxn id="210" idx="0"/>
          </p:cNvCxnSpPr>
          <p:nvPr/>
        </p:nvCxnSpPr>
        <p:spPr>
          <a:xfrm rot="16200000" flipV="1">
            <a:off x="6833870" y="2058035"/>
            <a:ext cx="153670" cy="2843530"/>
          </a:xfrm>
          <a:prstGeom prst="curvedConnector2">
            <a:avLst/>
          </a:prstGeom>
          <a:noFill/>
          <a:ln w="6350" cap="flat" cmpd="sng" algn="ctr">
            <a:solidFill>
              <a:srgbClr val="5B9BD5"/>
            </a:solidFill>
            <a:prstDash val="solid"/>
            <a:miter lim="800000"/>
            <a:tailEnd type="arrow"/>
          </a:ln>
          <a:effectLst/>
        </p:spPr>
      </p:cxnSp>
      <p:sp>
        <p:nvSpPr>
          <p:cNvPr id="40" name="Rectangle 3"/>
          <p:cNvSpPr txBox="1">
            <a:spLocks noChangeArrowheads="1"/>
          </p:cNvSpPr>
          <p:nvPr/>
        </p:nvSpPr>
        <p:spPr bwMode="auto">
          <a:xfrm>
            <a:off x="1524000" y="6296074"/>
            <a:ext cx="8991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en-US" altLang="zh-CN" sz="2000" b="1" dirty="0">
                <a:solidFill>
                  <a:schemeClr val="bg1"/>
                </a:solidFill>
                <a:effectLst/>
                <a:latin typeface="微软雅黑" panose="020B0503020204020204" pitchFamily="34" charset="-122"/>
                <a:ea typeface="微软雅黑" panose="020B0503020204020204" pitchFamily="34" charset="-122"/>
              </a:rPr>
              <a:t>No1=</a:t>
            </a:r>
            <a:r>
              <a:rPr lang="zh-CN" altLang="en-US" sz="2000" b="1" dirty="0">
                <a:solidFill>
                  <a:schemeClr val="bg1"/>
                </a:solidFill>
                <a:effectLst/>
                <a:latin typeface="微软雅黑" panose="020B0503020204020204" pitchFamily="34" charset="-122"/>
                <a:ea typeface="微软雅黑" panose="020B0503020204020204" pitchFamily="34" charset="-122"/>
              </a:rPr>
              <a:t>市场份额</a:t>
            </a:r>
            <a:r>
              <a:rPr lang="en-US" altLang="zh-CN" sz="2000" b="1" dirty="0">
                <a:solidFill>
                  <a:schemeClr val="bg1"/>
                </a:solidFill>
                <a:effectLst/>
                <a:latin typeface="微软雅黑" panose="020B0503020204020204" pitchFamily="34" charset="-122"/>
                <a:ea typeface="微软雅黑" panose="020B0503020204020204" pitchFamily="34" charset="-122"/>
              </a:rPr>
              <a:t>No1+</a:t>
            </a:r>
            <a:r>
              <a:rPr lang="zh-CN" altLang="en-US" sz="2000" b="1" dirty="0">
                <a:solidFill>
                  <a:schemeClr val="bg1"/>
                </a:solidFill>
                <a:effectLst/>
                <a:latin typeface="微软雅黑" panose="020B0503020204020204" pitchFamily="34" charset="-122"/>
                <a:ea typeface="微软雅黑" panose="020B0503020204020204" pitchFamily="34" charset="-122"/>
              </a:rPr>
              <a:t>客户影响力</a:t>
            </a:r>
            <a:r>
              <a:rPr lang="en-US" altLang="zh-CN" sz="2000" b="1" dirty="0">
                <a:solidFill>
                  <a:schemeClr val="bg1"/>
                </a:solidFill>
                <a:effectLst/>
                <a:latin typeface="微软雅黑" panose="020B0503020204020204" pitchFamily="34" charset="-122"/>
                <a:ea typeface="微软雅黑" panose="020B0503020204020204" pitchFamily="34" charset="-122"/>
              </a:rPr>
              <a:t>No1+</a:t>
            </a:r>
            <a:r>
              <a:rPr lang="zh-CN" altLang="en-US" sz="2000" b="1" dirty="0">
                <a:solidFill>
                  <a:schemeClr val="bg1"/>
                </a:solidFill>
                <a:effectLst/>
                <a:latin typeface="微软雅黑" panose="020B0503020204020204" pitchFamily="34" charset="-122"/>
                <a:ea typeface="微软雅黑" panose="020B0503020204020204" pitchFamily="34" charset="-122"/>
              </a:rPr>
              <a:t>行业影响力</a:t>
            </a:r>
            <a:r>
              <a:rPr lang="en-US" altLang="zh-CN" sz="2000" b="1" dirty="0">
                <a:solidFill>
                  <a:schemeClr val="bg1"/>
                </a:solidFill>
                <a:effectLst/>
                <a:latin typeface="微软雅黑" panose="020B0503020204020204" pitchFamily="34" charset="-122"/>
                <a:ea typeface="微软雅黑" panose="020B0503020204020204" pitchFamily="34" charset="-122"/>
              </a:rPr>
              <a:t>No1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3005"/>
            <a:ext cx="12206605" cy="522605"/>
          </a:xfrm>
          <a:prstGeom prst="rect">
            <a:avLst/>
          </a:prstGeom>
        </p:spPr>
      </p:pic>
      <p:graphicFrame>
        <p:nvGraphicFramePr>
          <p:cNvPr id="4" name="表格 3"/>
          <p:cNvGraphicFramePr>
            <a:graphicFrameLocks noGrp="1"/>
          </p:cNvGraphicFramePr>
          <p:nvPr/>
        </p:nvGraphicFramePr>
        <p:xfrm>
          <a:off x="1005840" y="1483995"/>
          <a:ext cx="9582150" cy="3693160"/>
        </p:xfrm>
        <a:graphic>
          <a:graphicData uri="http://schemas.openxmlformats.org/drawingml/2006/table">
            <a:tbl>
              <a:tblPr firstRow="1" bandRow="1">
                <a:tableStyleId>{5C22544A-7EE6-4342-B048-85BDC9FD1C3A}</a:tableStyleId>
              </a:tblPr>
              <a:tblGrid>
                <a:gridCol w="1385570">
                  <a:extLst>
                    <a:ext uri="{9D8B030D-6E8A-4147-A177-3AD203B41FA5}">
                      <a16:colId xmlns:a16="http://schemas.microsoft.com/office/drawing/2014/main" val="20000"/>
                    </a:ext>
                  </a:extLst>
                </a:gridCol>
                <a:gridCol w="1925320">
                  <a:extLst>
                    <a:ext uri="{9D8B030D-6E8A-4147-A177-3AD203B41FA5}">
                      <a16:colId xmlns:a16="http://schemas.microsoft.com/office/drawing/2014/main" val="20001"/>
                    </a:ext>
                  </a:extLst>
                </a:gridCol>
                <a:gridCol w="1025525">
                  <a:extLst>
                    <a:ext uri="{9D8B030D-6E8A-4147-A177-3AD203B41FA5}">
                      <a16:colId xmlns:a16="http://schemas.microsoft.com/office/drawing/2014/main" val="20002"/>
                    </a:ext>
                  </a:extLst>
                </a:gridCol>
                <a:gridCol w="722630">
                  <a:extLst>
                    <a:ext uri="{9D8B030D-6E8A-4147-A177-3AD203B41FA5}">
                      <a16:colId xmlns:a16="http://schemas.microsoft.com/office/drawing/2014/main" val="20003"/>
                    </a:ext>
                  </a:extLst>
                </a:gridCol>
                <a:gridCol w="1960880">
                  <a:extLst>
                    <a:ext uri="{9D8B030D-6E8A-4147-A177-3AD203B41FA5}">
                      <a16:colId xmlns:a16="http://schemas.microsoft.com/office/drawing/2014/main" val="20004"/>
                    </a:ext>
                  </a:extLst>
                </a:gridCol>
                <a:gridCol w="2562225">
                  <a:extLst>
                    <a:ext uri="{9D8B030D-6E8A-4147-A177-3AD203B41FA5}">
                      <a16:colId xmlns:a16="http://schemas.microsoft.com/office/drawing/2014/main" val="20005"/>
                    </a:ext>
                  </a:extLst>
                </a:gridCol>
              </a:tblGrid>
              <a:tr h="461645">
                <a:tc>
                  <a:txBody>
                    <a:bodyPr/>
                    <a:lstStyle/>
                    <a:p>
                      <a:pPr algn="ctr"/>
                      <a:r>
                        <a:rPr lang="zh-CN" altLang="en-US" sz="1400" dirty="0">
                          <a:latin typeface="微软雅黑" panose="020B0503020204020204" pitchFamily="34" charset="-122"/>
                          <a:ea typeface="微软雅黑" panose="020B0503020204020204" pitchFamily="34" charset="-122"/>
                          <a:cs typeface="+mn-ea"/>
                          <a:sym typeface="+mn-lt"/>
                        </a:rPr>
                        <a:t>战略举措</a:t>
                      </a:r>
                    </a:p>
                  </a:txBody>
                  <a:tcPr marL="68580" marR="68580" marT="34290" marB="34290" anchor="ctr">
                    <a:lnR w="12700" cap="flat" cmpd="sng" algn="ctr">
                      <a:solidFill>
                        <a:schemeClr val="bg1">
                          <a:lumMod val="75000"/>
                        </a:schemeClr>
                      </a:solidFill>
                      <a:prstDash val="solid"/>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rgbClr val="0070C0"/>
                    </a:solidFill>
                  </a:tcPr>
                </a:tc>
                <a:tc>
                  <a:txBody>
                    <a:bodyPr/>
                    <a:lstStyle/>
                    <a:p>
                      <a:r>
                        <a:rPr lang="zh-CN" altLang="en-US" sz="1400" dirty="0">
                          <a:latin typeface="微软雅黑" panose="020B0503020204020204" pitchFamily="34" charset="-122"/>
                          <a:ea typeface="微软雅黑" panose="020B0503020204020204" pitchFamily="34" charset="-122"/>
                          <a:cs typeface="+mn-ea"/>
                          <a:sym typeface="+mn-lt"/>
                        </a:rPr>
                        <a:t>战略举措第一年目标</a:t>
                      </a:r>
                    </a:p>
                  </a:txBody>
                  <a:tcPr marL="68580" marR="68580" marT="34290" marB="3429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rgbClr val="0070C0"/>
                    </a:solidFill>
                  </a:tcPr>
                </a:tc>
                <a:tc>
                  <a:txBody>
                    <a:bodyPr/>
                    <a:lstStyle/>
                    <a:p>
                      <a:r>
                        <a:rPr lang="zh-CN" altLang="en-US" sz="1400" dirty="0">
                          <a:latin typeface="微软雅黑" panose="020B0503020204020204" pitchFamily="34" charset="-122"/>
                          <a:ea typeface="微软雅黑" panose="020B0503020204020204" pitchFamily="34" charset="-122"/>
                          <a:cs typeface="+mn-ea"/>
                          <a:sym typeface="+mn-lt"/>
                        </a:rPr>
                        <a:t>重点工作</a:t>
                      </a:r>
                    </a:p>
                  </a:txBody>
                  <a:tcPr marL="68580" marR="68580" marT="34290" marB="3429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rgbClr val="0070C0"/>
                    </a:solidFill>
                  </a:tcPr>
                </a:tc>
                <a:tc>
                  <a:txBody>
                    <a:bodyPr/>
                    <a:lstStyle/>
                    <a:p>
                      <a:r>
                        <a:rPr lang="en-US" altLang="zh-CN" sz="1400" dirty="0">
                          <a:latin typeface="微软雅黑" panose="020B0503020204020204" pitchFamily="34" charset="-122"/>
                          <a:ea typeface="微软雅黑" panose="020B0503020204020204" pitchFamily="34" charset="-122"/>
                          <a:cs typeface="+mn-ea"/>
                          <a:sym typeface="+mn-lt"/>
                        </a:rPr>
                        <a:t>owner</a:t>
                      </a:r>
                    </a:p>
                  </a:txBody>
                  <a:tcPr marL="68580" marR="68580" marT="34290" marB="3429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rgbClr val="0070C0"/>
                    </a:solidFill>
                  </a:tcPr>
                </a:tc>
                <a:tc>
                  <a:txBody>
                    <a:bodyPr/>
                    <a:lstStyle/>
                    <a:p>
                      <a:r>
                        <a:rPr lang="zh-CN" altLang="en-US" sz="1400" dirty="0">
                          <a:latin typeface="微软雅黑" panose="020B0503020204020204" pitchFamily="34" charset="-122"/>
                          <a:ea typeface="微软雅黑" panose="020B0503020204020204" pitchFamily="34" charset="-122"/>
                          <a:cs typeface="+mn-ea"/>
                          <a:sym typeface="+mn-lt"/>
                        </a:rPr>
                        <a:t>重点工作目标</a:t>
                      </a:r>
                    </a:p>
                  </a:txBody>
                  <a:tcPr marL="68580" marR="68580" marT="34290" marB="3429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rgbClr val="0070C0"/>
                    </a:solidFill>
                  </a:tcPr>
                </a:tc>
                <a:tc>
                  <a:txBody>
                    <a:bodyPr/>
                    <a:lstStyle/>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子项目</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子任务</a:t>
                      </a:r>
                    </a:p>
                  </a:txBody>
                  <a:tcPr marL="68580" marR="68580" marT="34290" marB="34290" anchor="ctr">
                    <a:lnL w="12700" cap="flat" cmpd="sng" algn="ctr">
                      <a:solidFill>
                        <a:schemeClr val="bg1">
                          <a:lumMod val="75000"/>
                        </a:schemeClr>
                      </a:solidFill>
                      <a:prstDash val="solid"/>
                      <a:round/>
                      <a:headEnd type="none" w="med" len="med"/>
                      <a:tailEnd type="none" w="med" len="med"/>
                    </a:lnL>
                    <a:lnB w="12700" cap="flat" cmpd="sng" algn="ctr">
                      <a:solidFill>
                        <a:schemeClr val="bg1">
                          <a:lumMod val="75000"/>
                        </a:schemeClr>
                      </a:solidFill>
                      <a:prstDash val="solid"/>
                      <a:round/>
                      <a:headEnd type="none" w="med" len="med"/>
                      <a:tailEnd type="none" w="med" len="med"/>
                    </a:lnB>
                    <a:solidFill>
                      <a:srgbClr val="0070C0"/>
                    </a:solidFill>
                  </a:tcPr>
                </a:tc>
                <a:extLst>
                  <a:ext uri="{0D108BD9-81ED-4DB2-BD59-A6C34878D82A}">
                    <a16:rowId xmlns:a16="http://schemas.microsoft.com/office/drawing/2014/main" val="10000"/>
                  </a:ext>
                </a:extLst>
              </a:tr>
              <a:tr h="461645">
                <a:tc rowSpan="7">
                  <a:txBody>
                    <a:bodyPr/>
                    <a:lstStyle/>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抢占容量高地，做大做强</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rPr>
                        <a:t>IT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，打造*亿新产业</a:t>
                      </a:r>
                    </a:p>
                  </a:txBody>
                  <a:tcPr marL="68580" marR="68580" marT="34290" marB="34290" anchor="ct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rowSpan="7">
                  <a:txBody>
                    <a:bodyPr/>
                    <a:lstStyle/>
                    <a:p>
                      <a:pPr marL="85725" indent="-85725">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硬件产品市场份额：*</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a:t>
                      </a:r>
                      <a:endPar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85725" indent="-85725">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软件产品市场份额*</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a:t>
                      </a:r>
                      <a:endPar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85725" indent="-85725">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新增云数据中心**个</a:t>
                      </a:r>
                      <a:endPar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endPar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endParaRPr>
                    </a:p>
                  </a:txBody>
                  <a:tcPr marL="68580" marR="68580" marT="34290" marB="3429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rowSpan="7">
                  <a:txBody>
                    <a:bodyPr/>
                    <a:lstStyle/>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成为**区域运营商</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rPr>
                        <a:t>IT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和中心的主流玩家</a:t>
                      </a:r>
                    </a:p>
                  </a:txBody>
                  <a:tcPr marL="68580" marR="68580" marT="34290" marB="3429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rowSpan="7">
                  <a:txBody>
                    <a:bodyPr/>
                    <a:lstStyle/>
                    <a:p>
                      <a:r>
                        <a:rPr lang="zh-CN" altLang="en-US" sz="1400" dirty="0">
                          <a:latin typeface="微软雅黑" panose="020B0503020204020204" pitchFamily="34" charset="-122"/>
                          <a:ea typeface="微软雅黑" panose="020B0503020204020204" pitchFamily="34" charset="-122"/>
                          <a:cs typeface="+mn-ea"/>
                          <a:sym typeface="+mn-lt"/>
                        </a:rPr>
                        <a:t>***</a:t>
                      </a:r>
                    </a:p>
                  </a:txBody>
                  <a:tcPr marL="68580" marR="68580" marT="34290" marB="3429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rowSpan="7">
                  <a:txBody>
                    <a:bodyPr/>
                    <a:lstStyle/>
                    <a:p>
                      <a:pPr marL="186055" indent="-186055">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rPr>
                        <a:t>IT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产品实现订货**万，数据中心能源**万</a:t>
                      </a:r>
                      <a:endPar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186055" indent="-186055">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公司级项目突破率**</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rPr>
                        <a:t>%</a:t>
                      </a:r>
                    </a:p>
                    <a:p>
                      <a:pPr marL="186055" indent="-186055">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lt"/>
                        </a:rPr>
                        <a:t>区域级项目突破率**</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lt"/>
                        </a:rPr>
                        <a:t>%</a:t>
                      </a:r>
                    </a:p>
                  </a:txBody>
                  <a:tcPr marL="68580" marR="68580" marT="34290" marB="3429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zh-CN" altLang="en-US" sz="1200" dirty="0">
                          <a:solidFill>
                            <a:srgbClr val="0070C0"/>
                          </a:solidFill>
                          <a:latin typeface="微软雅黑" panose="020B0503020204020204" pitchFamily="34" charset="-122"/>
                          <a:ea typeface="微软雅黑" panose="020B0503020204020204" pitchFamily="34" charset="-122"/>
                          <a:cs typeface="+mn-ea"/>
                          <a:sym typeface="+mn-lt"/>
                        </a:rPr>
                        <a:t>价值产品强点布局</a:t>
                      </a:r>
                    </a:p>
                  </a:txBody>
                  <a:tcPr marL="68580" marR="68580" marT="34290" marB="34290" anchor="ct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461645">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r>
                        <a:rPr lang="zh-CN" altLang="en-US" sz="1400" dirty="0">
                          <a:solidFill>
                            <a:srgbClr val="0070C0"/>
                          </a:solidFill>
                          <a:latin typeface="微软雅黑" panose="020B0503020204020204" pitchFamily="34" charset="-122"/>
                          <a:ea typeface="微软雅黑" panose="020B0503020204020204" pitchFamily="34" charset="-122"/>
                          <a:cs typeface="+mn-ea"/>
                          <a:sym typeface="+mn-lt"/>
                        </a:rPr>
                        <a:t>灯塔项目与样板点建设</a:t>
                      </a:r>
                    </a:p>
                  </a:txBody>
                  <a:tcPr marL="68580" marR="68580" marT="34290" marB="34290" anchor="ct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2"/>
                  </a:ext>
                </a:extLst>
              </a:tr>
              <a:tr h="461645">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r>
                        <a:rPr lang="zh-CN" altLang="en-US" sz="1400" dirty="0">
                          <a:solidFill>
                            <a:srgbClr val="0070C0"/>
                          </a:solidFill>
                          <a:latin typeface="微软雅黑" panose="020B0503020204020204" pitchFamily="34" charset="-122"/>
                          <a:ea typeface="微软雅黑" panose="020B0503020204020204" pitchFamily="34" charset="-122"/>
                          <a:cs typeface="+mn-ea"/>
                          <a:sym typeface="+mn-lt"/>
                        </a:rPr>
                        <a:t>客户关系建设</a:t>
                      </a:r>
                    </a:p>
                  </a:txBody>
                  <a:tcPr marL="68580" marR="68580" marT="34290" marB="34290" anchor="ct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3"/>
                  </a:ext>
                </a:extLst>
              </a:tr>
              <a:tr h="461645">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r>
                        <a:rPr lang="zh-CN" altLang="en-US" sz="1400" dirty="0">
                          <a:solidFill>
                            <a:srgbClr val="0070C0"/>
                          </a:solidFill>
                          <a:latin typeface="微软雅黑" panose="020B0503020204020204" pitchFamily="34" charset="-122"/>
                          <a:ea typeface="微软雅黑" panose="020B0503020204020204" pitchFamily="34" charset="-122"/>
                          <a:cs typeface="+mn-ea"/>
                          <a:sym typeface="+mn-lt"/>
                        </a:rPr>
                        <a:t>商业咨询能力建设</a:t>
                      </a:r>
                    </a:p>
                  </a:txBody>
                  <a:tcPr marL="68580" marR="68580" marT="34290" marB="34290" anchor="ct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r h="461645">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r>
                        <a:rPr lang="zh-CN" altLang="en-US" sz="1400" dirty="0">
                          <a:solidFill>
                            <a:srgbClr val="0070C0"/>
                          </a:solidFill>
                          <a:latin typeface="微软雅黑" panose="020B0503020204020204" pitchFamily="34" charset="-122"/>
                          <a:ea typeface="微软雅黑" panose="020B0503020204020204" pitchFamily="34" charset="-122"/>
                          <a:cs typeface="+mn-ea"/>
                          <a:sym typeface="+mn-lt"/>
                        </a:rPr>
                        <a:t>云解决方案销售能力提升</a:t>
                      </a:r>
                    </a:p>
                  </a:txBody>
                  <a:tcPr marL="68580" marR="68580" marT="34290" marB="34290" anchor="ct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461645">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r>
                        <a:rPr lang="zh-CN" altLang="en-US" sz="1400" dirty="0">
                          <a:solidFill>
                            <a:srgbClr val="0070C0"/>
                          </a:solidFill>
                          <a:latin typeface="微软雅黑" panose="020B0503020204020204" pitchFamily="34" charset="-122"/>
                          <a:ea typeface="微软雅黑" panose="020B0503020204020204" pitchFamily="34" charset="-122"/>
                          <a:cs typeface="+mn-ea"/>
                          <a:sym typeface="+mn-lt"/>
                        </a:rPr>
                        <a:t>集成与交付能力提升</a:t>
                      </a:r>
                    </a:p>
                  </a:txBody>
                  <a:tcPr marL="68580" marR="68580" marT="34290" marB="34290" anchor="ct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r h="461645">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r>
                        <a:rPr lang="zh-CN" altLang="en-US" sz="1400" dirty="0">
                          <a:solidFill>
                            <a:srgbClr val="0070C0"/>
                          </a:solidFill>
                          <a:latin typeface="微软雅黑" panose="020B0503020204020204" pitchFamily="34" charset="-122"/>
                          <a:ea typeface="微软雅黑" panose="020B0503020204020204" pitchFamily="34" charset="-122"/>
                          <a:cs typeface="+mn-ea"/>
                          <a:sym typeface="+mn-lt"/>
                        </a:rPr>
                        <a:t>云业务线索管道管理</a:t>
                      </a:r>
                    </a:p>
                  </a:txBody>
                  <a:tcPr marL="68580" marR="68580" marT="34290" marB="34290" anchor="ct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6" name="标题 1"/>
          <p:cNvSpPr txBox="1"/>
          <p:nvPr/>
        </p:nvSpPr>
        <p:spPr>
          <a:xfrm>
            <a:off x="530000" y="398145"/>
            <a:ext cx="8649970" cy="432435"/>
          </a:xfrm>
          <a:prstGeom prst="rect">
            <a:avLst/>
          </a:prstGeom>
          <a:noFill/>
          <a:ln>
            <a:noFill/>
          </a:ln>
          <a:extLst>
            <a:ext uri="{909E8E84-426E-40DD-AFC4-6F175D3DCCD1}">
              <a14:hiddenFill xmlns:a14="http://schemas.microsoft.com/office/drawing/2010/main">
                <a:solidFill>
                  <a:srgbClr val="C00000"/>
                </a:solidFill>
              </a14:hiddenFill>
            </a:ext>
          </a:extLst>
        </p:spPr>
        <p:txBody>
          <a:bodyPr anchor="ctr"/>
          <a:lstStyle>
            <a:lvl1pPr algn="ctr" rtl="0" fontAlgn="base">
              <a:spcBef>
                <a:spcPct val="0"/>
              </a:spcBef>
              <a:spcAft>
                <a:spcPct val="0"/>
              </a:spcAft>
              <a:buFont typeface="Arial" panose="020B0604020202020204" pitchFamily="34" charset="0"/>
              <a:defRPr sz="4400" kern="1200">
                <a:solidFill>
                  <a:schemeClr val="tx2"/>
                </a:solidFill>
                <a:latin typeface="+mj-lt"/>
                <a:ea typeface="+mj-ea"/>
                <a:cs typeface="+mj-cs"/>
              </a:defRPr>
            </a:lvl1pPr>
            <a:lvl2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9pPr>
          </a:lstStyle>
          <a:p>
            <a:pPr algn="l" eaLnBrk="1" hangingPunct="1">
              <a:lnSpc>
                <a:spcPct val="110000"/>
              </a:lnSpc>
            </a:pPr>
            <a:r>
              <a:rPr lang="zh-CN" altLang="en-US" sz="2400" b="1" dirty="0">
                <a:solidFill>
                  <a:srgbClr val="0070C0"/>
                </a:solidFill>
                <a:latin typeface="微软雅黑" panose="020B0503020204020204" pitchFamily="34" charset="-122"/>
                <a:ea typeface="微软雅黑" panose="020B0503020204020204" pitchFamily="34" charset="-122"/>
                <a:cs typeface="+mn-ea"/>
              </a:rPr>
              <a:t>战略解码到年度重点工作案例：重点工作一定要“饱和攻击”</a:t>
            </a:r>
          </a:p>
        </p:txBody>
      </p:sp>
      <p:sp>
        <p:nvSpPr>
          <p:cNvPr id="7" name="Rectangle 3"/>
          <p:cNvSpPr txBox="1">
            <a:spLocks noChangeArrowheads="1"/>
          </p:cNvSpPr>
          <p:nvPr/>
        </p:nvSpPr>
        <p:spPr bwMode="auto">
          <a:xfrm>
            <a:off x="1524000" y="6295439"/>
            <a:ext cx="8991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75000"/>
              <a:buFont typeface="Monotype Sorts" pitchFamily="2" charset="2"/>
              <a:buChar char="b"/>
              <a:defRPr kumimoji="1" sz="3200"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spcBef>
                <a:spcPct val="20000"/>
              </a:spcBef>
              <a:spcAft>
                <a:spcPct val="0"/>
              </a:spcAft>
              <a:buClr>
                <a:schemeClr val="accent2"/>
              </a:buClr>
              <a:buChar char="•"/>
              <a:defRPr kumimoji="1" sz="2800"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buNone/>
            </a:pPr>
            <a:r>
              <a:rPr lang="zh-CN" altLang="en-US" sz="2000" b="1" dirty="0">
                <a:solidFill>
                  <a:schemeClr val="bg1"/>
                </a:solidFill>
                <a:effectLst/>
                <a:latin typeface="微软雅黑" panose="020B0503020204020204" pitchFamily="34" charset="-122"/>
                <a:ea typeface="微软雅黑" panose="020B0503020204020204" pitchFamily="34" charset="-122"/>
              </a:rPr>
              <a:t>重点工作的目标都是“不讲理”的，通常悬赏；</a:t>
            </a:r>
            <a:r>
              <a:rPr lang="en-US" altLang="zh-CN" sz="2000" b="1" dirty="0">
                <a:solidFill>
                  <a:schemeClr val="bg1"/>
                </a:solidFill>
                <a:effectLst/>
                <a:latin typeface="微软雅黑" panose="020B0503020204020204" pitchFamily="34" charset="-122"/>
                <a:ea typeface="微软雅黑" panose="020B0503020204020204" pitchFamily="34" charset="-122"/>
              </a:rPr>
              <a:t>Owner</a:t>
            </a:r>
            <a:r>
              <a:rPr lang="zh-CN" altLang="en-US" sz="2000" b="1" dirty="0">
                <a:solidFill>
                  <a:schemeClr val="bg1"/>
                </a:solidFill>
                <a:effectLst/>
                <a:latin typeface="微软雅黑" panose="020B0503020204020204" pitchFamily="34" charset="-122"/>
                <a:ea typeface="微软雅黑" panose="020B0503020204020204" pitchFamily="34" charset="-122"/>
              </a:rPr>
              <a:t>选对，就完成了一半</a:t>
            </a:r>
            <a:endParaRPr lang="en-US" altLang="zh-CN" sz="2000" b="1" dirty="0">
              <a:solidFill>
                <a:schemeClr val="bg1"/>
              </a:solidFill>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3005"/>
            <a:ext cx="12206605" cy="522605"/>
          </a:xfrm>
          <a:prstGeom prst="rect">
            <a:avLst/>
          </a:prstGeom>
        </p:spPr>
      </p:pic>
      <p:sp>
        <p:nvSpPr>
          <p:cNvPr id="4" name="标题 1"/>
          <p:cNvSpPr txBox="1"/>
          <p:nvPr/>
        </p:nvSpPr>
        <p:spPr>
          <a:xfrm>
            <a:off x="545480" y="583217"/>
            <a:ext cx="8581272" cy="343595"/>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常见问题：职能型支撑组织各自为政的问题如何解决</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a:t>
            </a:r>
          </a:p>
          <a:p>
            <a:pPr algn="l" eaLnBrk="1" hangingPunct="1"/>
            <a:endParaRPr lang="en-US" altLang="zh-CN" dirty="0">
              <a:solidFill>
                <a:srgbClr val="0070C0"/>
              </a:solidFill>
              <a:latin typeface="微软雅黑" panose="020B0503020204020204" pitchFamily="34" charset="-122"/>
              <a:ea typeface="微软雅黑" panose="020B0503020204020204" pitchFamily="34" charset="-122"/>
              <a:cs typeface="+mn-ea"/>
              <a:sym typeface="+mn-lt"/>
            </a:endParaRPr>
          </a:p>
        </p:txBody>
      </p:sp>
      <p:sp>
        <p:nvSpPr>
          <p:cNvPr id="5" name="Rectangle 3"/>
          <p:cNvSpPr txBox="1">
            <a:spLocks noChangeArrowheads="1"/>
          </p:cNvSpPr>
          <p:nvPr/>
        </p:nvSpPr>
        <p:spPr>
          <a:xfrm>
            <a:off x="1210310" y="1102360"/>
            <a:ext cx="10225405" cy="4813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20000"/>
              </a:lnSpc>
              <a:spcAft>
                <a:spcPts val="0"/>
              </a:spcAft>
              <a:buNone/>
            </a:pPr>
            <a:r>
              <a:rPr lang="zh-CN" altLang="en-US" sz="1400" dirty="0">
                <a:solidFill>
                  <a:srgbClr val="FF0000"/>
                </a:solidFill>
                <a:latin typeface="微软雅黑" panose="020B0503020204020204" pitchFamily="34" charset="-122"/>
                <a:ea typeface="微软雅黑" panose="020B0503020204020204" pitchFamily="34" charset="-122"/>
              </a:rPr>
              <a:t>思路</a:t>
            </a:r>
            <a:r>
              <a:rPr lang="en-US" altLang="zh-CN" sz="1400" dirty="0">
                <a:solidFill>
                  <a:srgbClr val="FF0000"/>
                </a:solidFill>
                <a:latin typeface="微软雅黑" panose="020B0503020204020204" pitchFamily="34" charset="-122"/>
                <a:ea typeface="微软雅黑" panose="020B0503020204020204" pitchFamily="34" charset="-122"/>
              </a:rPr>
              <a:t>:</a:t>
            </a:r>
            <a:r>
              <a:rPr lang="zh-CN" altLang="en-US" sz="1400" dirty="0">
                <a:solidFill>
                  <a:srgbClr val="FF0000"/>
                </a:solidFill>
                <a:latin typeface="微软雅黑" panose="020B0503020204020204" pitchFamily="34" charset="-122"/>
                <a:ea typeface="微软雅黑" panose="020B0503020204020204" pitchFamily="34" charset="-122"/>
              </a:rPr>
              <a:t>动组织、动主管、动考核关系、威逼利诱</a:t>
            </a:r>
          </a:p>
          <a:p>
            <a:pPr marL="0" indent="0" fontAlgn="auto">
              <a:lnSpc>
                <a:spcPct val="120000"/>
              </a:lnSpc>
              <a:spcAft>
                <a:spcPts val="0"/>
              </a:spcAft>
              <a:buNone/>
            </a:pPr>
            <a:endParaRPr lang="en-US" altLang="zh-CN" sz="1400" dirty="0">
              <a:latin typeface="微软雅黑" panose="020B0503020204020204" pitchFamily="34" charset="-122"/>
              <a:ea typeface="微软雅黑" panose="020B0503020204020204" pitchFamily="34" charset="-122"/>
            </a:endParaRPr>
          </a:p>
          <a:p>
            <a:pPr marL="0" indent="0" fontAlgn="auto">
              <a:lnSpc>
                <a:spcPct val="120000"/>
              </a:lnSpc>
              <a:spcAft>
                <a:spcPts val="0"/>
              </a:spcAft>
              <a:buNone/>
            </a:pP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、动组织</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矩阵组织可以有传统偏职能型矩阵；创新和快速响应则短期可以考虑偏项目型组织。甚至拉出去临时成立项目型团队。</a:t>
            </a:r>
          </a:p>
          <a:p>
            <a:pPr marL="0" indent="0" fontAlgn="auto">
              <a:lnSpc>
                <a:spcPct val="120000"/>
              </a:lnSpc>
              <a:spcAft>
                <a:spcPts val="0"/>
              </a:spcAft>
              <a:buNone/>
            </a:pPr>
            <a:r>
              <a:rPr lang="zh-CN" altLang="en-US" sz="1400" dirty="0">
                <a:latin typeface="微软雅黑" panose="020B0503020204020204" pitchFamily="34" charset="-122"/>
                <a:ea typeface="微软雅黑" panose="020B0503020204020204" pitchFamily="34" charset="-122"/>
              </a:rPr>
              <a:t>但长期来看，</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大池子才能养大鱼</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，职能组织有利于专业化人才培养。不宜彻底抛弃。没有专业精深的核心竞争力，即使短期运作效率高，长远看是没有出路的。思考问题需要拉长时间、打开空间去审视。</a:t>
            </a:r>
          </a:p>
          <a:p>
            <a:pPr marL="0" indent="0" fontAlgn="auto">
              <a:lnSpc>
                <a:spcPct val="120000"/>
              </a:lnSpc>
              <a:spcAft>
                <a:spcPts val="0"/>
              </a:spcAft>
              <a:buNone/>
            </a:pP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、动主管</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对调。华为经常如此。</a:t>
            </a:r>
          </a:p>
          <a:p>
            <a:pPr marL="0" indent="0" fontAlgn="auto">
              <a:lnSpc>
                <a:spcPct val="120000"/>
              </a:lnSpc>
              <a:spcAft>
                <a:spcPts val="0"/>
              </a:spcAft>
              <a:buNone/>
            </a:pPr>
            <a:r>
              <a:rPr lang="zh-CN" altLang="en-US" sz="1400" dirty="0">
                <a:latin typeface="微软雅黑" panose="020B0503020204020204" pitchFamily="34" charset="-122"/>
                <a:ea typeface="微软雅黑" panose="020B0503020204020204" pitchFamily="34" charset="-122"/>
              </a:rPr>
              <a:t>支撑组织要不断从业务吸纳人才，包括人力资源、质量运营、财经等，这样配合会更好。一切都是为了业务作战，而非职能部门利益最大化。</a:t>
            </a:r>
          </a:p>
          <a:p>
            <a:pPr marL="0" indent="0" fontAlgn="auto">
              <a:lnSpc>
                <a:spcPct val="120000"/>
              </a:lnSpc>
              <a:spcAft>
                <a:spcPts val="0"/>
              </a:spcAft>
              <a:buNone/>
            </a:pPr>
            <a:r>
              <a:rPr lang="zh-CN" altLang="en-US" sz="1400" dirty="0">
                <a:latin typeface="微软雅黑" panose="020B0503020204020204" pitchFamily="34" charset="-122"/>
                <a:ea typeface="微软雅黑" panose="020B0503020204020204" pitchFamily="34" charset="-122"/>
              </a:rPr>
              <a:t>无线的人力资源和质量运营主管从不内部提拔，都是调业务线主管承担。确保战略支撑落地。</a:t>
            </a:r>
          </a:p>
          <a:p>
            <a:pPr marL="0" indent="0" fontAlgn="auto">
              <a:lnSpc>
                <a:spcPct val="120000"/>
              </a:lnSpc>
              <a:spcAft>
                <a:spcPts val="0"/>
              </a:spcAft>
              <a:buNone/>
            </a:pPr>
            <a:r>
              <a:rPr lang="en-US" altLang="zh-CN" sz="1400" dirty="0">
                <a:latin typeface="微软雅黑" panose="020B0503020204020204" pitchFamily="34" charset="-122"/>
                <a:ea typeface="微软雅黑" panose="020B0503020204020204" pitchFamily="34" charset="-122"/>
              </a:rPr>
              <a:t>3</a:t>
            </a:r>
            <a:r>
              <a:rPr lang="zh-CN" altLang="en-US" sz="1400" dirty="0">
                <a:latin typeface="微软雅黑" panose="020B0503020204020204" pitchFamily="34" charset="-122"/>
                <a:ea typeface="微软雅黑" panose="020B0503020204020204" pitchFamily="34" charset="-122"/>
              </a:rPr>
              <a:t>、动考核关系</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哪个部门的人不支持，如果动组织动人动静太大，则可以一段时间变更考核关系。解决配合问题。</a:t>
            </a:r>
          </a:p>
          <a:p>
            <a:pPr marL="0" indent="0" fontAlgn="auto">
              <a:lnSpc>
                <a:spcPct val="120000"/>
              </a:lnSpc>
              <a:spcAft>
                <a:spcPts val="0"/>
              </a:spcAft>
              <a:buNone/>
            </a:pPr>
            <a:endParaRPr lang="en-US" altLang="zh-CN" sz="1400" dirty="0">
              <a:latin typeface="微软雅黑" panose="020B0503020204020204" pitchFamily="34" charset="-122"/>
              <a:ea typeface="微软雅黑" panose="020B0503020204020204" pitchFamily="34" charset="-122"/>
            </a:endParaRPr>
          </a:p>
          <a:p>
            <a:pPr marL="0" indent="0" fontAlgn="auto">
              <a:lnSpc>
                <a:spcPct val="120000"/>
              </a:lnSpc>
              <a:spcAft>
                <a:spcPts val="0"/>
              </a:spcAft>
              <a:buNone/>
            </a:pPr>
            <a:r>
              <a:rPr lang="en-US" altLang="zh-CN" sz="1400" dirty="0">
                <a:latin typeface="微软雅黑" panose="020B0503020204020204" pitchFamily="34" charset="-122"/>
                <a:ea typeface="微软雅黑" panose="020B0503020204020204" pitchFamily="34" charset="-122"/>
              </a:rPr>
              <a:t>4</a:t>
            </a:r>
            <a:r>
              <a:rPr lang="zh-CN" altLang="en-US" sz="1400" dirty="0">
                <a:latin typeface="微软雅黑" panose="020B0503020204020204" pitchFamily="34" charset="-122"/>
                <a:ea typeface="微软雅黑" panose="020B0503020204020204" pitchFamily="34" charset="-122"/>
              </a:rPr>
              <a:t>、可以设置配合</a:t>
            </a:r>
            <a:r>
              <a:rPr lang="en-US" altLang="zh-CN" sz="1400" dirty="0" err="1">
                <a:latin typeface="微软雅黑" panose="020B0503020204020204" pitchFamily="34" charset="-122"/>
                <a:ea typeface="微软雅黑" panose="020B0503020204020204" pitchFamily="34" charset="-122"/>
              </a:rPr>
              <a:t>kpi</a:t>
            </a:r>
            <a:r>
              <a:rPr lang="zh-CN" altLang="en-US" sz="1400" dirty="0">
                <a:latin typeface="微软雅黑" panose="020B0503020204020204" pitchFamily="34" charset="-122"/>
                <a:ea typeface="微软雅黑" panose="020B0503020204020204" pitchFamily="34" charset="-122"/>
              </a:rPr>
              <a:t>权重，或者一些配合激励奖。</a:t>
            </a:r>
          </a:p>
        </p:txBody>
      </p:sp>
      <p:sp>
        <p:nvSpPr>
          <p:cNvPr id="6" name="矩形 15"/>
          <p:cNvSpPr>
            <a:spLocks noChangeArrowheads="1"/>
          </p:cNvSpPr>
          <p:nvPr/>
        </p:nvSpPr>
        <p:spPr bwMode="auto">
          <a:xfrm>
            <a:off x="1523365" y="6215005"/>
            <a:ext cx="9144000" cy="506730"/>
          </a:xfrm>
          <a:prstGeom prst="rect">
            <a:avLst/>
          </a:prstGeom>
          <a:noFill/>
          <a:ln w="9525">
            <a:noFill/>
            <a:miter lim="800000"/>
          </a:ln>
          <a:extLst>
            <a:ext uri="{909E8E84-426E-40DD-AFC4-6F175D3DCCD1}">
              <a14:hiddenFill xmlns:a14="http://schemas.microsoft.com/office/drawing/2010/main">
                <a:solidFill>
                  <a:srgbClr val="C00000"/>
                </a:solidFill>
              </a14:hiddenFill>
            </a:ext>
          </a:extLst>
        </p:spPr>
        <p:txBody>
          <a:bodyPr wrap="square">
            <a:spAutoFit/>
          </a:bodyPr>
          <a:lstStyle/>
          <a:p>
            <a:pPr marL="342900" indent="-342900" algn="ctr" defTabSz="801370" fontAlgn="auto">
              <a:lnSpc>
                <a:spcPct val="150000"/>
              </a:lnSpc>
              <a:spcAft>
                <a:spcPts val="0"/>
              </a:spcAft>
              <a:buClr>
                <a:srgbClr val="C00000"/>
              </a:buClr>
              <a:buSzPct val="100000"/>
              <a:defRPr/>
            </a:pPr>
            <a:r>
              <a:rPr lang="zh-CN" altLang="en-US" b="1" dirty="0">
                <a:solidFill>
                  <a:prstClr val="white"/>
                </a:solidFill>
                <a:effectLst/>
                <a:latin typeface="微软雅黑" panose="020B0503020204020204" pitchFamily="34" charset="-122"/>
                <a:ea typeface="微软雅黑" panose="020B0503020204020204" pitchFamily="34" charset="-122"/>
              </a:rPr>
              <a:t>组织知识延伸</a:t>
            </a:r>
            <a:r>
              <a:rPr lang="en-US" altLang="zh-CN" b="1" dirty="0">
                <a:solidFill>
                  <a:prstClr val="white"/>
                </a:solidFill>
                <a:effectLst/>
                <a:latin typeface="微软雅黑" panose="020B0503020204020204" pitchFamily="34" charset="-122"/>
                <a:ea typeface="微软雅黑" panose="020B0503020204020204" pitchFamily="34" charset="-122"/>
              </a:rPr>
              <a:t>:</a:t>
            </a:r>
            <a:r>
              <a:rPr lang="zh-CN" altLang="en-US" b="1" dirty="0">
                <a:solidFill>
                  <a:prstClr val="white"/>
                </a:solidFill>
                <a:effectLst/>
                <a:latin typeface="微软雅黑" panose="020B0503020204020204" pitchFamily="34" charset="-122"/>
                <a:ea typeface="微软雅黑" panose="020B0503020204020204" pitchFamily="34" charset="-122"/>
              </a:rPr>
              <a:t>康威定律，如果组织反过来影响了流程和产品架构，就走偏了。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3005"/>
            <a:ext cx="12206605" cy="522605"/>
          </a:xfrm>
          <a:prstGeom prst="rect">
            <a:avLst/>
          </a:prstGeom>
        </p:spPr>
      </p:pic>
      <p:sp>
        <p:nvSpPr>
          <p:cNvPr id="4" name="标题 1"/>
          <p:cNvSpPr txBox="1"/>
          <p:nvPr/>
        </p:nvSpPr>
        <p:spPr>
          <a:xfrm>
            <a:off x="644110" y="523666"/>
            <a:ext cx="8581272" cy="458908"/>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常见问题：业务设计中的遗留风险处理</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a:t>
            </a:r>
          </a:p>
          <a:p>
            <a:pPr algn="l" eaLnBrk="1" hangingPunct="1"/>
            <a:endParaRPr lang="en-US" altLang="zh-CN" dirty="0">
              <a:solidFill>
                <a:srgbClr val="0070C0"/>
              </a:solidFill>
              <a:latin typeface="微软雅黑" panose="020B0503020204020204" pitchFamily="34" charset="-122"/>
              <a:ea typeface="微软雅黑" panose="020B0503020204020204" pitchFamily="34" charset="-122"/>
              <a:cs typeface="+mn-ea"/>
              <a:sym typeface="+mn-lt"/>
            </a:endParaRPr>
          </a:p>
        </p:txBody>
      </p:sp>
      <p:sp>
        <p:nvSpPr>
          <p:cNvPr id="5" name="Rectangle 3"/>
          <p:cNvSpPr txBox="1">
            <a:spLocks noChangeArrowheads="1"/>
          </p:cNvSpPr>
          <p:nvPr/>
        </p:nvSpPr>
        <p:spPr>
          <a:xfrm>
            <a:off x="1417955" y="1245870"/>
            <a:ext cx="9837420" cy="36518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50000"/>
              </a:lnSpc>
              <a:spcAft>
                <a:spcPts val="0"/>
              </a:spcAft>
              <a:buNone/>
            </a:pPr>
            <a:r>
              <a:rPr lang="zh-CN" altLang="en-US" sz="1400" b="1" dirty="0">
                <a:solidFill>
                  <a:srgbClr val="C00000"/>
                </a:solidFill>
                <a:latin typeface="微软雅黑" panose="020B0503020204020204" pitchFamily="34" charset="-122"/>
                <a:ea typeface="微软雅黑" panose="020B0503020204020204" pitchFamily="34" charset="-122"/>
              </a:rPr>
              <a:t>富贵险中求，战略家都张开双臂拥抱风险！</a:t>
            </a:r>
            <a:endParaRPr lang="en-US" altLang="zh-CN" sz="1400" dirty="0">
              <a:latin typeface="微软雅黑" panose="020B0503020204020204" pitchFamily="34" charset="-122"/>
              <a:ea typeface="微软雅黑" panose="020B0503020204020204" pitchFamily="34" charset="-122"/>
            </a:endParaRPr>
          </a:p>
          <a:p>
            <a:pPr marL="0" indent="0" fontAlgn="auto">
              <a:lnSpc>
                <a:spcPct val="150000"/>
              </a:lnSpc>
              <a:spcAft>
                <a:spcPts val="0"/>
              </a:spcAft>
              <a:buNone/>
            </a:pP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、有五种标准处理方法。</a:t>
            </a:r>
          </a:p>
          <a:p>
            <a:pPr marL="0" indent="0" fontAlgn="auto">
              <a:lnSpc>
                <a:spcPct val="150000"/>
              </a:lnSpc>
              <a:spcAft>
                <a:spcPts val="0"/>
              </a:spcAft>
              <a:buNone/>
            </a:pP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、关键风险一定要直接处理。</a:t>
            </a:r>
            <a:endParaRPr lang="en-US" altLang="zh-CN" sz="1400" dirty="0">
              <a:latin typeface="微软雅黑" panose="020B0503020204020204" pitchFamily="34" charset="-122"/>
              <a:ea typeface="微软雅黑" panose="020B0503020204020204" pitchFamily="34" charset="-122"/>
            </a:endParaRPr>
          </a:p>
          <a:p>
            <a:pPr marL="0" indent="0" fontAlgn="auto">
              <a:lnSpc>
                <a:spcPct val="150000"/>
              </a:lnSpc>
              <a:spcAft>
                <a:spcPts val="0"/>
              </a:spcAft>
              <a:buNone/>
            </a:pPr>
            <a:r>
              <a:rPr lang="zh-CN" altLang="en-US" sz="1400" dirty="0">
                <a:latin typeface="微软雅黑" panose="020B0503020204020204" pitchFamily="34" charset="-122"/>
                <a:ea typeface="微软雅黑" panose="020B0503020204020204" pitchFamily="34" charset="-122"/>
              </a:rPr>
              <a:t>所谓风险，本质就是数据不全，五看真的做透了，不应该有特别大的风险。回头要把五看做深，做数学题。</a:t>
            </a:r>
          </a:p>
          <a:p>
            <a:pPr marL="0" indent="0" fontAlgn="auto">
              <a:lnSpc>
                <a:spcPct val="150000"/>
              </a:lnSpc>
              <a:spcAft>
                <a:spcPts val="0"/>
              </a:spcAft>
              <a:buNone/>
            </a:pPr>
            <a:r>
              <a:rPr lang="en-US" altLang="zh-CN" sz="1400" b="1" dirty="0">
                <a:solidFill>
                  <a:srgbClr val="C00000"/>
                </a:solidFill>
                <a:latin typeface="微软雅黑" panose="020B0503020204020204" pitchFamily="34" charset="-122"/>
                <a:ea typeface="微软雅黑" panose="020B0503020204020204" pitchFamily="34" charset="-122"/>
              </a:rPr>
              <a:t>3</a:t>
            </a:r>
            <a:r>
              <a:rPr lang="zh-CN" altLang="en-US" sz="1400" b="1" dirty="0">
                <a:solidFill>
                  <a:srgbClr val="C00000"/>
                </a:solidFill>
                <a:latin typeface="微软雅黑" panose="020B0503020204020204" pitchFamily="34" charset="-122"/>
                <a:ea typeface="微软雅黑" panose="020B0503020204020204" pitchFamily="34" charset="-122"/>
              </a:rPr>
              <a:t>、的确不可控的关键风险，做好最坏的准备。</a:t>
            </a:r>
            <a:r>
              <a:rPr lang="zh-CN" altLang="en-US" sz="1400" dirty="0">
                <a:latin typeface="微软雅黑" panose="020B0503020204020204" pitchFamily="34" charset="-122"/>
                <a:ea typeface="微软雅黑" panose="020B0503020204020204" pitchFamily="34" charset="-122"/>
              </a:rPr>
              <a:t>例如</a:t>
            </a:r>
            <a:r>
              <a:rPr lang="en-US" altLang="zh-CN" sz="1400" dirty="0" err="1">
                <a:latin typeface="微软雅黑" panose="020B0503020204020204" pitchFamily="34" charset="-122"/>
                <a:ea typeface="微软雅黑" panose="020B0503020204020204" pitchFamily="34" charset="-122"/>
              </a:rPr>
              <a:t>zte</a:t>
            </a:r>
            <a:r>
              <a:rPr lang="zh-CN" altLang="en-US" sz="1400" dirty="0">
                <a:latin typeface="微软雅黑" panose="020B0503020204020204" pitchFamily="34" charset="-122"/>
                <a:ea typeface="微软雅黑" panose="020B0503020204020204" pitchFamily="34" charset="-122"/>
              </a:rPr>
              <a:t>被美国卡的问题，华为很多年前就在做这个最坏的准备。可以损失，不能崩溃。</a:t>
            </a:r>
          </a:p>
          <a:p>
            <a:pPr marL="0" indent="0" fontAlgn="auto">
              <a:lnSpc>
                <a:spcPct val="150000"/>
              </a:lnSpc>
              <a:spcAft>
                <a:spcPts val="0"/>
              </a:spcAft>
              <a:buNone/>
            </a:pPr>
            <a:r>
              <a:rPr lang="en-US" altLang="zh-CN" sz="1400" dirty="0">
                <a:latin typeface="微软雅黑" panose="020B0503020204020204" pitchFamily="34" charset="-122"/>
                <a:ea typeface="微软雅黑" panose="020B0503020204020204" pitchFamily="34" charset="-122"/>
              </a:rPr>
              <a:t>4</a:t>
            </a:r>
            <a:r>
              <a:rPr lang="zh-CN" altLang="en-US" sz="1400" dirty="0">
                <a:latin typeface="微软雅黑" panose="020B0503020204020204" pitchFamily="34" charset="-122"/>
                <a:ea typeface="微软雅黑" panose="020B0503020204020204" pitchFamily="34" charset="-122"/>
              </a:rPr>
              <a:t>、危机</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危</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机，风险通常伴随机会。对风险敏感和兴奋，往往能化危为机。</a:t>
            </a:r>
            <a:endParaRPr lang="en-US" altLang="zh-CN" sz="1400" dirty="0">
              <a:latin typeface="微软雅黑" panose="020B0503020204020204" pitchFamily="34" charset="-122"/>
              <a:ea typeface="微软雅黑" panose="020B0503020204020204" pitchFamily="34" charset="-122"/>
            </a:endParaRPr>
          </a:p>
          <a:p>
            <a:pPr marL="0" indent="0" fontAlgn="auto">
              <a:lnSpc>
                <a:spcPct val="150000"/>
              </a:lnSpc>
              <a:spcAft>
                <a:spcPts val="0"/>
              </a:spcAft>
              <a:buNone/>
            </a:pPr>
            <a:r>
              <a:rPr lang="en-US" altLang="zh-CN" sz="1400" b="1" dirty="0">
                <a:solidFill>
                  <a:srgbClr val="C00000"/>
                </a:solidFill>
                <a:latin typeface="微软雅黑" panose="020B0503020204020204" pitchFamily="34" charset="-122"/>
                <a:ea typeface="微软雅黑" panose="020B0503020204020204" pitchFamily="34" charset="-122"/>
              </a:rPr>
              <a:t>5</a:t>
            </a:r>
            <a:r>
              <a:rPr lang="zh-CN" altLang="en-US" sz="1400" b="1" dirty="0">
                <a:solidFill>
                  <a:srgbClr val="C00000"/>
                </a:solidFill>
                <a:latin typeface="微软雅黑" panose="020B0503020204020204" pitchFamily="34" charset="-122"/>
                <a:ea typeface="微软雅黑" panose="020B0503020204020204" pitchFamily="34" charset="-122"/>
              </a:rPr>
              <a:t>、公司层面要关注颠覆式风险，应对策略就是蓝军部</a:t>
            </a:r>
            <a:r>
              <a:rPr lang="zh-CN" altLang="en-US" sz="1400" dirty="0">
                <a:solidFill>
                  <a:srgbClr val="C00000"/>
                </a:solidFill>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部门层面更多是执行风险。</a:t>
            </a:r>
          </a:p>
        </p:txBody>
      </p:sp>
      <p:sp>
        <p:nvSpPr>
          <p:cNvPr id="6" name="矩形 15"/>
          <p:cNvSpPr>
            <a:spLocks noChangeArrowheads="1"/>
          </p:cNvSpPr>
          <p:nvPr/>
        </p:nvSpPr>
        <p:spPr bwMode="auto">
          <a:xfrm>
            <a:off x="1417955" y="6195320"/>
            <a:ext cx="9144000" cy="553085"/>
          </a:xfrm>
          <a:prstGeom prst="rect">
            <a:avLst/>
          </a:prstGeom>
          <a:noFill/>
          <a:ln w="9525">
            <a:noFill/>
            <a:miter lim="800000"/>
          </a:ln>
          <a:extLst>
            <a:ext uri="{909E8E84-426E-40DD-AFC4-6F175D3DCCD1}">
              <a14:hiddenFill xmlns:a14="http://schemas.microsoft.com/office/drawing/2010/main">
                <a:solidFill>
                  <a:srgbClr val="C00000"/>
                </a:solidFill>
              </a14:hiddenFill>
            </a:ext>
          </a:extLst>
        </p:spPr>
        <p:txBody>
          <a:bodyPr wrap="square">
            <a:spAutoFit/>
          </a:bodyPr>
          <a:lstStyle/>
          <a:p>
            <a:pPr marL="342900" indent="-342900" algn="ctr" defTabSz="801370" fontAlgn="auto">
              <a:lnSpc>
                <a:spcPct val="150000"/>
              </a:lnSpc>
              <a:spcAft>
                <a:spcPts val="0"/>
              </a:spcAft>
              <a:buClr>
                <a:srgbClr val="C00000"/>
              </a:buClr>
              <a:buSzPct val="100000"/>
              <a:defRPr/>
            </a:pPr>
            <a:r>
              <a:rPr lang="zh-CN" altLang="en-US" sz="2000" b="1" dirty="0">
                <a:solidFill>
                  <a:prstClr val="white"/>
                </a:solidFill>
                <a:effectLst/>
                <a:latin typeface="微软雅黑" panose="020B0503020204020204" pitchFamily="34" charset="-122"/>
                <a:ea typeface="微软雅黑" panose="020B0503020204020204" pitchFamily="34" charset="-122"/>
              </a:rPr>
              <a:t>可以冒险，可以走灰色地带，但是不能崩溃！</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1" name="图片 140"/>
          <p:cNvPicPr>
            <a:picLocks noChangeAspect="1"/>
          </p:cNvPicPr>
          <p:nvPr/>
        </p:nvPicPr>
        <p:blipFill>
          <a:blip r:embed="rId2" cstate="print"/>
          <a:stretch>
            <a:fillRect/>
          </a:stretch>
        </p:blipFill>
        <p:spPr>
          <a:xfrm>
            <a:off x="-7620" y="6263005"/>
            <a:ext cx="12206605" cy="522605"/>
          </a:xfrm>
          <a:prstGeom prst="rect">
            <a:avLst/>
          </a:prstGeom>
        </p:spPr>
      </p:pic>
      <p:sp>
        <p:nvSpPr>
          <p:cNvPr id="4" name="标题 1"/>
          <p:cNvSpPr txBox="1"/>
          <p:nvPr/>
        </p:nvSpPr>
        <p:spPr>
          <a:xfrm>
            <a:off x="743344" y="632398"/>
            <a:ext cx="10266286" cy="416688"/>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sz="2000" dirty="0">
                <a:solidFill>
                  <a:srgbClr val="0070C0"/>
                </a:solidFill>
                <a:latin typeface="微软雅黑" panose="020B0503020204020204" pitchFamily="34" charset="-122"/>
                <a:ea typeface="微软雅黑" panose="020B0503020204020204" pitchFamily="34" charset="-122"/>
                <a:cs typeface="+mn-ea"/>
                <a:sym typeface="+mn-lt"/>
              </a:rPr>
              <a:t>常见问题：战略如何在部门层面打通，而且不受个别领导的临时想法干扰</a:t>
            </a:r>
            <a:r>
              <a:rPr lang="en-US" altLang="zh-CN" sz="2000" dirty="0">
                <a:solidFill>
                  <a:srgbClr val="0070C0"/>
                </a:solidFill>
                <a:latin typeface="微软雅黑" panose="020B0503020204020204" pitchFamily="34" charset="-122"/>
                <a:ea typeface="微软雅黑" panose="020B0503020204020204" pitchFamily="34" charset="-122"/>
                <a:cs typeface="+mn-ea"/>
                <a:sym typeface="+mn-lt"/>
              </a:rPr>
              <a:t>?</a:t>
            </a:r>
          </a:p>
          <a:p>
            <a:pPr algn="l" eaLnBrk="1" hangingPunct="1"/>
            <a:endParaRPr lang="en-US" altLang="zh-CN" sz="2000" dirty="0">
              <a:solidFill>
                <a:srgbClr val="0070C0"/>
              </a:solidFill>
              <a:latin typeface="微软雅黑" panose="020B0503020204020204" pitchFamily="34" charset="-122"/>
              <a:ea typeface="微软雅黑" panose="020B0503020204020204" pitchFamily="34" charset="-122"/>
              <a:cs typeface="+mn-ea"/>
              <a:sym typeface="+mn-lt"/>
            </a:endParaRPr>
          </a:p>
        </p:txBody>
      </p:sp>
      <p:sp>
        <p:nvSpPr>
          <p:cNvPr id="5" name="Rectangle 3"/>
          <p:cNvSpPr txBox="1">
            <a:spLocks noChangeArrowheads="1"/>
          </p:cNvSpPr>
          <p:nvPr/>
        </p:nvSpPr>
        <p:spPr>
          <a:xfrm>
            <a:off x="1219200" y="1556067"/>
            <a:ext cx="9790430" cy="374586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30000"/>
              </a:lnSpc>
              <a:spcAft>
                <a:spcPts val="0"/>
              </a:spcAft>
              <a:buNone/>
            </a:pPr>
            <a:r>
              <a:rPr lang="zh-CN" altLang="en-US" sz="1600" dirty="0">
                <a:latin typeface="微软雅黑" panose="020B0503020204020204" pitchFamily="34" charset="-122"/>
                <a:ea typeface="微软雅黑" panose="020B0503020204020204" pitchFamily="34" charset="-122"/>
              </a:rPr>
              <a:t>战略能否打通，除了</a:t>
            </a:r>
            <a:r>
              <a:rPr lang="en-US" altLang="zh-CN" sz="1600" dirty="0" err="1">
                <a:latin typeface="微软雅黑" panose="020B0503020204020204" pitchFamily="34" charset="-122"/>
                <a:ea typeface="微软雅黑" panose="020B0503020204020204" pitchFamily="34" charset="-122"/>
              </a:rPr>
              <a:t>sp</a:t>
            </a:r>
            <a:r>
              <a:rPr lang="zh-CN" altLang="en-US" sz="1600" dirty="0">
                <a:latin typeface="微软雅黑" panose="020B0503020204020204" pitchFamily="34" charset="-122"/>
                <a:ea typeface="微软雅黑" panose="020B0503020204020204" pitchFamily="34" charset="-122"/>
              </a:rPr>
              <a:t>到</a:t>
            </a:r>
            <a:r>
              <a:rPr lang="en-US" altLang="zh-CN" sz="1600" dirty="0">
                <a:latin typeface="微软雅黑" panose="020B0503020204020204" pitchFamily="34" charset="-122"/>
                <a:ea typeface="微软雅黑" panose="020B0503020204020204" pitchFamily="34" charset="-122"/>
              </a:rPr>
              <a:t>bp</a:t>
            </a:r>
            <a:r>
              <a:rPr lang="zh-CN" altLang="en-US" sz="1600" dirty="0">
                <a:latin typeface="微软雅黑" panose="020B0503020204020204" pitchFamily="34" charset="-122"/>
                <a:ea typeface="微软雅黑" panose="020B0503020204020204" pitchFamily="34" charset="-122"/>
              </a:rPr>
              <a:t>的落地流程，最关键是看企业是否真正建成了流程化的组织。也是一个企业组织管理成熟度的判断依据。</a:t>
            </a:r>
          </a:p>
          <a:p>
            <a:pPr marL="0" indent="0" fontAlgn="auto">
              <a:lnSpc>
                <a:spcPct val="130000"/>
              </a:lnSpc>
              <a:spcAft>
                <a:spcPts val="0"/>
              </a:spcAft>
              <a:buNone/>
            </a:pPr>
            <a:r>
              <a:rPr lang="zh-CN" altLang="en-US" sz="1600" dirty="0">
                <a:latin typeface="微软雅黑" panose="020B0503020204020204" pitchFamily="34" charset="-122"/>
                <a:ea typeface="微软雅黑" panose="020B0503020204020204" pitchFamily="34" charset="-122"/>
              </a:rPr>
              <a:t>销售</a:t>
            </a:r>
            <a:r>
              <a:rPr lang="en-US" altLang="zh-CN" sz="1600" dirty="0">
                <a:latin typeface="微软雅黑" panose="020B0503020204020204" pitchFamily="34" charset="-122"/>
                <a:ea typeface="微软雅黑" panose="020B0503020204020204" pitchFamily="34" charset="-122"/>
              </a:rPr>
              <a:t>10-100</a:t>
            </a:r>
            <a:r>
              <a:rPr lang="zh-CN" altLang="en-US" sz="1600" dirty="0">
                <a:latin typeface="微软雅黑" panose="020B0503020204020204" pitchFamily="34" charset="-122"/>
                <a:ea typeface="微软雅黑" panose="020B0503020204020204" pitchFamily="34" charset="-122"/>
              </a:rPr>
              <a:t>亿，人员</a:t>
            </a:r>
            <a:r>
              <a:rPr lang="en-US" altLang="zh-CN" sz="1600" dirty="0">
                <a:latin typeface="微软雅黑" panose="020B0503020204020204" pitchFamily="34" charset="-122"/>
                <a:ea typeface="微软雅黑" panose="020B0503020204020204" pitchFamily="34" charset="-122"/>
              </a:rPr>
              <a:t>1000-5000</a:t>
            </a:r>
            <a:r>
              <a:rPr lang="zh-CN" altLang="en-US" sz="1600" dirty="0">
                <a:latin typeface="微软雅黑" panose="020B0503020204020204" pitchFamily="34" charset="-122"/>
                <a:ea typeface="微软雅黑" panose="020B0503020204020204" pitchFamily="34" charset="-122"/>
              </a:rPr>
              <a:t>的组织，都面临鸟枪换炮，管理升级的问题。这个时候最合适的是找一个没有竞争关系但有类似性的标杆企业来系统学习。</a:t>
            </a:r>
          </a:p>
          <a:p>
            <a:pPr marL="0" indent="0" fontAlgn="auto">
              <a:lnSpc>
                <a:spcPct val="130000"/>
              </a:lnSpc>
              <a:spcAft>
                <a:spcPts val="0"/>
              </a:spcAft>
              <a:buNone/>
            </a:pPr>
            <a:r>
              <a:rPr lang="zh-CN" altLang="en-US" sz="1600" dirty="0">
                <a:latin typeface="微软雅黑" panose="020B0503020204020204" pitchFamily="34" charset="-122"/>
                <a:ea typeface="微软雅黑" panose="020B0503020204020204" pitchFamily="34" charset="-122"/>
              </a:rPr>
              <a:t>华为</a:t>
            </a:r>
            <a:r>
              <a:rPr lang="en-US" altLang="zh-CN" sz="1600" dirty="0">
                <a:latin typeface="微软雅黑" panose="020B0503020204020204" pitchFamily="34" charset="-122"/>
                <a:ea typeface="微软雅黑" panose="020B0503020204020204" pitchFamily="34" charset="-122"/>
              </a:rPr>
              <a:t>1998</a:t>
            </a:r>
            <a:r>
              <a:rPr lang="zh-CN" altLang="en-US" sz="1600" dirty="0">
                <a:latin typeface="微软雅黑" panose="020B0503020204020204" pitchFamily="34" charset="-122"/>
                <a:ea typeface="微软雅黑" panose="020B0503020204020204" pitchFamily="34" charset="-122"/>
              </a:rPr>
              <a:t>开始系统学习</a:t>
            </a:r>
            <a:r>
              <a:rPr lang="en-US" altLang="zh-CN" sz="1600" dirty="0">
                <a:latin typeface="微软雅黑" panose="020B0503020204020204" pitchFamily="34" charset="-122"/>
                <a:ea typeface="微软雅黑" panose="020B0503020204020204" pitchFamily="34" charset="-122"/>
              </a:rPr>
              <a:t>IBM</a:t>
            </a:r>
            <a:r>
              <a:rPr lang="zh-CN" altLang="en-US" sz="1600" dirty="0">
                <a:latin typeface="微软雅黑" panose="020B0503020204020204" pitchFamily="34" charset="-122"/>
                <a:ea typeface="微软雅黑" panose="020B0503020204020204" pitchFamily="34" charset="-122"/>
              </a:rPr>
              <a:t>，引入战略、研发、人力资源、财经等系统的管理机制，实现鸟枪换炮，才有这</a:t>
            </a:r>
            <a:r>
              <a:rPr lang="en-US" altLang="zh-CN" sz="1600" dirty="0">
                <a:latin typeface="微软雅黑" panose="020B0503020204020204" pitchFamily="34" charset="-122"/>
                <a:ea typeface="微软雅黑" panose="020B0503020204020204" pitchFamily="34" charset="-122"/>
              </a:rPr>
              <a:t>20</a:t>
            </a:r>
            <a:r>
              <a:rPr lang="zh-CN" altLang="en-US" sz="1600" dirty="0">
                <a:latin typeface="微软雅黑" panose="020B0503020204020204" pitchFamily="34" charset="-122"/>
                <a:ea typeface="微软雅黑" panose="020B0503020204020204" pitchFamily="34" charset="-122"/>
              </a:rPr>
              <a:t>年的持续增长。</a:t>
            </a:r>
          </a:p>
          <a:p>
            <a:pPr marL="0" indent="0" fontAlgn="auto">
              <a:lnSpc>
                <a:spcPct val="130000"/>
              </a:lnSpc>
              <a:spcAft>
                <a:spcPts val="0"/>
              </a:spcAft>
              <a:buNone/>
            </a:pPr>
            <a:r>
              <a:rPr lang="zh-CN" altLang="en-US" sz="1600" b="1" dirty="0">
                <a:solidFill>
                  <a:srgbClr val="C00000"/>
                </a:solidFill>
                <a:latin typeface="微软雅黑" panose="020B0503020204020204" pitchFamily="34" charset="-122"/>
                <a:ea typeface="微软雅黑" panose="020B0503020204020204" pitchFamily="34" charset="-122"/>
              </a:rPr>
              <a:t>一切管理升级的目标</a:t>
            </a:r>
            <a:r>
              <a:rPr lang="en-US" altLang="zh-CN" sz="1600" b="1" dirty="0">
                <a:solidFill>
                  <a:srgbClr val="C00000"/>
                </a:solidFill>
                <a:latin typeface="微软雅黑" panose="020B0503020204020204" pitchFamily="34" charset="-122"/>
                <a:ea typeface="微软雅黑" panose="020B0503020204020204" pitchFamily="34" charset="-122"/>
              </a:rPr>
              <a:t>:</a:t>
            </a:r>
            <a:r>
              <a:rPr lang="zh-CN" altLang="en-US" sz="1600" b="1" dirty="0">
                <a:solidFill>
                  <a:srgbClr val="C00000"/>
                </a:solidFill>
                <a:latin typeface="微软雅黑" panose="020B0503020204020204" pitchFamily="34" charset="-122"/>
                <a:ea typeface="微软雅黑" panose="020B0503020204020204" pitchFamily="34" charset="-122"/>
              </a:rPr>
              <a:t>流程化的组织建设。</a:t>
            </a:r>
            <a:endParaRPr lang="en-US" altLang="zh-CN" sz="1600" b="1" dirty="0">
              <a:solidFill>
                <a:srgbClr val="FF0000"/>
              </a:solidFill>
              <a:latin typeface="微软雅黑" panose="020B0503020204020204" pitchFamily="34" charset="-122"/>
              <a:ea typeface="微软雅黑" panose="020B0503020204020204" pitchFamily="34" charset="-122"/>
            </a:endParaRPr>
          </a:p>
          <a:p>
            <a:pPr marL="0" indent="0" fontAlgn="auto">
              <a:lnSpc>
                <a:spcPct val="130000"/>
              </a:lnSpc>
              <a:spcAft>
                <a:spcPts val="0"/>
              </a:spcAft>
              <a:buNone/>
            </a:pPr>
            <a:endParaRPr lang="zh-CN" altLang="en-US" sz="1600" dirty="0">
              <a:latin typeface="微软雅黑" panose="020B0503020204020204" pitchFamily="34" charset="-122"/>
              <a:ea typeface="微软雅黑" panose="020B0503020204020204" pitchFamily="34" charset="-122"/>
            </a:endParaRPr>
          </a:p>
          <a:p>
            <a:pPr marL="0" indent="0" fontAlgn="auto">
              <a:lnSpc>
                <a:spcPct val="130000"/>
              </a:lnSpc>
              <a:spcAft>
                <a:spcPts val="0"/>
              </a:spcAft>
              <a:buNone/>
            </a:pPr>
            <a:r>
              <a:rPr lang="zh-CN" altLang="en-US" sz="1600" dirty="0">
                <a:latin typeface="微软雅黑" panose="020B0503020204020204" pitchFamily="34" charset="-122"/>
                <a:ea typeface="微软雅黑" panose="020B0503020204020204" pitchFamily="34" charset="-122"/>
              </a:rPr>
              <a:t>领导可以改变战略，但还是要走变更流程并达成共识，避免个人一时糊涂酿成大错。</a:t>
            </a:r>
            <a:endParaRPr lang="en-US" altLang="zh-CN" sz="1600" dirty="0">
              <a:latin typeface="微软雅黑" panose="020B0503020204020204" pitchFamily="34" charset="-122"/>
              <a:ea typeface="微软雅黑" panose="020B0503020204020204" pitchFamily="34" charset="-122"/>
            </a:endParaRPr>
          </a:p>
        </p:txBody>
      </p:sp>
      <p:sp>
        <p:nvSpPr>
          <p:cNvPr id="6" name="矩形 15"/>
          <p:cNvSpPr>
            <a:spLocks noChangeArrowheads="1"/>
          </p:cNvSpPr>
          <p:nvPr/>
        </p:nvSpPr>
        <p:spPr bwMode="auto">
          <a:xfrm>
            <a:off x="1712595" y="6174365"/>
            <a:ext cx="9144000" cy="553085"/>
          </a:xfrm>
          <a:prstGeom prst="rect">
            <a:avLst/>
          </a:prstGeom>
          <a:noFill/>
          <a:ln w="9525">
            <a:noFill/>
            <a:miter lim="800000"/>
          </a:ln>
          <a:extLst>
            <a:ext uri="{909E8E84-426E-40DD-AFC4-6F175D3DCCD1}">
              <a14:hiddenFill xmlns:a14="http://schemas.microsoft.com/office/drawing/2010/main">
                <a:solidFill>
                  <a:srgbClr val="C00000"/>
                </a:solidFill>
              </a14:hiddenFill>
            </a:ext>
          </a:extLst>
        </p:spPr>
        <p:txBody>
          <a:bodyPr wrap="square">
            <a:spAutoFit/>
          </a:bodyPr>
          <a:lstStyle/>
          <a:p>
            <a:pPr marL="342900" indent="-342900" algn="ctr" defTabSz="801370" fontAlgn="auto">
              <a:lnSpc>
                <a:spcPct val="150000"/>
              </a:lnSpc>
              <a:spcAft>
                <a:spcPts val="0"/>
              </a:spcAft>
              <a:buClr>
                <a:srgbClr val="C00000"/>
              </a:buClr>
              <a:buSzPct val="100000"/>
              <a:defRPr/>
            </a:pPr>
            <a:r>
              <a:rPr lang="zh-CN" altLang="en-US" sz="2000" b="1" dirty="0">
                <a:solidFill>
                  <a:prstClr val="white"/>
                </a:solidFill>
                <a:effectLst/>
                <a:latin typeface="微软雅黑" panose="020B0503020204020204" pitchFamily="34" charset="-122"/>
                <a:ea typeface="微软雅黑" panose="020B0503020204020204" pitchFamily="34" charset="-122"/>
              </a:rPr>
              <a:t>领导可以改变战略，但一定要高管一起研讨达成共识，避免反复摇摆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1"/>
          <p:cNvSpPr txBox="1"/>
          <p:nvPr/>
        </p:nvSpPr>
        <p:spPr>
          <a:xfrm>
            <a:off x="606932" y="606856"/>
            <a:ext cx="8581272" cy="458908"/>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常见问题：战略决策如何不耽误机会又相对准确</a:t>
            </a:r>
            <a:r>
              <a:rPr lang="en-US" altLang="zh-CN" dirty="0">
                <a:solidFill>
                  <a:srgbClr val="0070C0"/>
                </a:solidFill>
                <a:latin typeface="微软雅黑" panose="020B0503020204020204" pitchFamily="34" charset="-122"/>
                <a:ea typeface="微软雅黑" panose="020B0503020204020204" pitchFamily="34" charset="-122"/>
                <a:cs typeface="+mn-ea"/>
                <a:sym typeface="+mn-lt"/>
              </a:rPr>
              <a:t>?</a:t>
            </a:r>
          </a:p>
          <a:p>
            <a:pPr algn="l" eaLnBrk="1" hangingPunct="1"/>
            <a:endParaRPr lang="en-US" altLang="zh-CN" dirty="0">
              <a:solidFill>
                <a:srgbClr val="0070C0"/>
              </a:solidFill>
              <a:latin typeface="微软雅黑" panose="020B0503020204020204" pitchFamily="34" charset="-122"/>
              <a:ea typeface="微软雅黑" panose="020B0503020204020204" pitchFamily="34" charset="-122"/>
              <a:cs typeface="+mn-ea"/>
              <a:sym typeface="+mn-lt"/>
            </a:endParaRPr>
          </a:p>
        </p:txBody>
      </p:sp>
      <p:sp>
        <p:nvSpPr>
          <p:cNvPr id="5" name="Rectangle 3"/>
          <p:cNvSpPr txBox="1">
            <a:spLocks noChangeArrowheads="1"/>
          </p:cNvSpPr>
          <p:nvPr/>
        </p:nvSpPr>
        <p:spPr>
          <a:xfrm>
            <a:off x="957826" y="1437844"/>
            <a:ext cx="9790430" cy="4813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20000"/>
              </a:lnSpc>
              <a:spcAft>
                <a:spcPts val="0"/>
              </a:spcAft>
              <a:buNone/>
            </a:pPr>
            <a:r>
              <a:rPr lang="zh-CN" altLang="en-US" sz="1600" dirty="0">
                <a:latin typeface="微软雅黑" panose="020B0503020204020204" pitchFamily="34" charset="-122"/>
                <a:ea typeface="微软雅黑" panose="020B0503020204020204" pitchFamily="34" charset="-122"/>
              </a:rPr>
              <a:t>经过评估，确认不会崩溃的风险。有</a:t>
            </a:r>
            <a:r>
              <a:rPr lang="en-US" altLang="zh-CN" sz="1600" dirty="0">
                <a:latin typeface="微软雅黑" panose="020B0503020204020204" pitchFamily="34" charset="-122"/>
                <a:ea typeface="微软雅黑" panose="020B0503020204020204" pitchFamily="34" charset="-122"/>
              </a:rPr>
              <a:t>40%</a:t>
            </a:r>
            <a:r>
              <a:rPr lang="zh-CN" altLang="en-US" sz="1600" dirty="0">
                <a:latin typeface="微软雅黑" panose="020B0503020204020204" pitchFamily="34" charset="-122"/>
                <a:ea typeface="微软雅黑" panose="020B0503020204020204" pitchFamily="34" charset="-122"/>
              </a:rPr>
              <a:t>的把握就可以开干，不冒险是最大的冒险。</a:t>
            </a:r>
          </a:p>
          <a:p>
            <a:pPr marL="0" indent="0" fontAlgn="auto">
              <a:lnSpc>
                <a:spcPct val="120000"/>
              </a:lnSpc>
              <a:spcAft>
                <a:spcPts val="0"/>
              </a:spcAft>
              <a:buNone/>
            </a:pPr>
            <a:endParaRPr lang="en-US" altLang="zh-CN" sz="1600" dirty="0">
              <a:latin typeface="微软雅黑" panose="020B0503020204020204" pitchFamily="34" charset="-122"/>
              <a:ea typeface="微软雅黑" panose="020B0503020204020204" pitchFamily="34" charset="-122"/>
            </a:endParaRPr>
          </a:p>
          <a:p>
            <a:pPr marL="0" indent="0" fontAlgn="auto">
              <a:lnSpc>
                <a:spcPct val="120000"/>
              </a:lnSpc>
              <a:spcAft>
                <a:spcPts val="0"/>
              </a:spcAft>
              <a:buNone/>
            </a:pPr>
            <a:r>
              <a:rPr lang="zh-CN" altLang="en-US" sz="1600" dirty="0">
                <a:latin typeface="微软雅黑" panose="020B0503020204020204" pitchFamily="34" charset="-122"/>
                <a:ea typeface="微软雅黑" panose="020B0503020204020204" pitchFamily="34" charset="-122"/>
              </a:rPr>
              <a:t>但是，值得冒险的战略机会其实不会太多。</a:t>
            </a:r>
          </a:p>
          <a:p>
            <a:pPr marL="0" indent="0" fontAlgn="auto">
              <a:lnSpc>
                <a:spcPct val="120000"/>
              </a:lnSpc>
              <a:spcAft>
                <a:spcPts val="0"/>
              </a:spcAft>
              <a:buNone/>
            </a:pPr>
            <a:r>
              <a:rPr lang="zh-CN" altLang="en-US" sz="1600" dirty="0">
                <a:latin typeface="微软雅黑" panose="020B0503020204020204" pitchFamily="34" charset="-122"/>
                <a:ea typeface="微软雅黑" panose="020B0503020204020204" pitchFamily="34" charset="-122"/>
              </a:rPr>
              <a:t>案例</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奥巴马派海豹突击队潜入巴基斯坦干掉本拉登。这是入侵，冒军事冲突风险。但干掉本拉登价值足够大，值得冒险。而且冲突起来，美国不会崩溃。</a:t>
            </a:r>
          </a:p>
          <a:p>
            <a:pPr marL="0" indent="0" fontAlgn="auto">
              <a:lnSpc>
                <a:spcPct val="120000"/>
              </a:lnSpc>
              <a:spcAft>
                <a:spcPts val="0"/>
              </a:spcAft>
              <a:buNone/>
            </a:pPr>
            <a:endParaRPr lang="en-US" altLang="zh-CN" sz="1600" dirty="0">
              <a:latin typeface="微软雅黑" panose="020B0503020204020204" pitchFamily="34" charset="-122"/>
              <a:ea typeface="微软雅黑" panose="020B0503020204020204" pitchFamily="34" charset="-122"/>
            </a:endParaRPr>
          </a:p>
          <a:p>
            <a:pPr marL="0" indent="0" fontAlgn="auto">
              <a:lnSpc>
                <a:spcPct val="120000"/>
              </a:lnSpc>
              <a:spcAft>
                <a:spcPts val="0"/>
              </a:spcAft>
              <a:buNone/>
            </a:pPr>
            <a:r>
              <a:rPr lang="zh-CN" altLang="en-US" sz="1600" dirty="0">
                <a:latin typeface="微软雅黑" panose="020B0503020204020204" pitchFamily="34" charset="-122"/>
                <a:ea typeface="微软雅黑" panose="020B0503020204020204" pitchFamily="34" charset="-122"/>
              </a:rPr>
              <a:t>可以错失一些好机会，但不要崩溃。所有百年老店，战略都是保守而聚焦的，拒绝机会主义，不怕浪费风口，但在主航道投入绝不保守，拥抱风险。</a:t>
            </a:r>
          </a:p>
          <a:p>
            <a:pPr marL="0" indent="0" fontAlgn="auto">
              <a:lnSpc>
                <a:spcPct val="120000"/>
              </a:lnSpc>
              <a:spcAft>
                <a:spcPts val="0"/>
              </a:spcAft>
              <a:buNone/>
            </a:pPr>
            <a:endParaRPr lang="en-US" altLang="zh-CN" sz="1600" dirty="0">
              <a:latin typeface="微软雅黑" panose="020B0503020204020204" pitchFamily="34" charset="-122"/>
              <a:ea typeface="微软雅黑" panose="020B0503020204020204" pitchFamily="34" charset="-122"/>
            </a:endParaRPr>
          </a:p>
          <a:p>
            <a:pPr marL="0" indent="0" fontAlgn="auto">
              <a:lnSpc>
                <a:spcPct val="120000"/>
              </a:lnSpc>
              <a:spcAft>
                <a:spcPts val="0"/>
              </a:spcAft>
              <a:buNone/>
            </a:pPr>
            <a:r>
              <a:rPr lang="zh-CN" altLang="en-US" sz="1600" b="1" dirty="0">
                <a:solidFill>
                  <a:srgbClr val="C00000"/>
                </a:solidFill>
                <a:latin typeface="微软雅黑" panose="020B0503020204020204" pitchFamily="34" charset="-122"/>
                <a:ea typeface="微软雅黑" panose="020B0503020204020204" pitchFamily="34" charset="-122"/>
              </a:rPr>
              <a:t>企业家都是理智的赌徒，他们敢赌，但一般不会输光内裤。</a:t>
            </a:r>
            <a:endParaRPr lang="en-US" altLang="zh-CN" sz="1600" b="1" dirty="0">
              <a:solidFill>
                <a:srgbClr val="C00000"/>
              </a:solidFill>
              <a:latin typeface="微软雅黑" panose="020B0503020204020204" pitchFamily="34" charset="-122"/>
              <a:ea typeface="微软雅黑" panose="020B0503020204020204" pitchFamily="34" charset="-122"/>
            </a:endParaRPr>
          </a:p>
          <a:p>
            <a:pPr marL="0" indent="0" fontAlgn="auto">
              <a:lnSpc>
                <a:spcPct val="120000"/>
              </a:lnSpc>
              <a:spcAft>
                <a:spcPts val="0"/>
              </a:spcAft>
              <a:buNone/>
            </a:pPr>
            <a:endParaRPr lang="en-US" altLang="zh-CN" sz="1600" b="1" dirty="0">
              <a:solidFill>
                <a:srgbClr val="C00000"/>
              </a:solidFill>
              <a:latin typeface="微软雅黑" panose="020B0503020204020204" pitchFamily="34" charset="-122"/>
              <a:ea typeface="微软雅黑" panose="020B0503020204020204" pitchFamily="34" charset="-122"/>
            </a:endParaRPr>
          </a:p>
          <a:p>
            <a:pPr marL="0" indent="0" fontAlgn="auto">
              <a:lnSpc>
                <a:spcPct val="120000"/>
              </a:lnSpc>
              <a:spcAft>
                <a:spcPts val="0"/>
              </a:spcAft>
              <a:buNone/>
            </a:pPr>
            <a:r>
              <a:rPr lang="zh-CN" altLang="en-US" sz="1600" b="1" dirty="0">
                <a:solidFill>
                  <a:srgbClr val="C00000"/>
                </a:solidFill>
                <a:latin typeface="微软雅黑" panose="020B0503020204020204" pitchFamily="34" charset="-122"/>
                <a:ea typeface="微软雅黑" panose="020B0503020204020204" pitchFamily="34" charset="-122"/>
              </a:rPr>
              <a:t>敢赌要有前提：强大的组织活力，可以执行到位，并修正错误！</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1"/>
          <p:cNvSpPr txBox="1"/>
          <p:nvPr/>
        </p:nvSpPr>
        <p:spPr>
          <a:xfrm>
            <a:off x="550110" y="705179"/>
            <a:ext cx="8581272" cy="458908"/>
          </a:xfrm>
          <a:prstGeom prst="rect">
            <a:avLst/>
          </a:prstGeom>
          <a:noFill/>
          <a:extLst>
            <a:ext uri="{909E8E84-426E-40DD-AFC4-6F175D3DCCD1}">
              <a14:hiddenFill xmlns:a14="http://schemas.microsoft.com/office/drawing/2010/main">
                <a:solidFill>
                  <a:srgbClr val="C00000"/>
                </a:solidFill>
              </a14:hiddenFill>
            </a:ext>
          </a:extLst>
        </p:spPr>
        <p:txBody>
          <a:bodyPr anchor="ctr"/>
          <a:lstStyle>
            <a:lvl1pPr algn="ctr">
              <a:defRPr sz="2400" b="1">
                <a:solidFill>
                  <a:schemeClr val="bg1"/>
                </a:solidFill>
                <a:latin typeface="+mj-lt"/>
                <a:ea typeface="+mj-ea"/>
                <a:cs typeface="+mj-cs"/>
              </a:defRPr>
            </a:lvl1pPr>
            <a:lvl2pPr algn="ctr">
              <a:defRPr sz="4400">
                <a:solidFill>
                  <a:schemeClr val="tx2"/>
                </a:solidFill>
              </a:defRPr>
            </a:lvl2pPr>
            <a:lvl3pPr algn="ctr">
              <a:defRPr sz="4400">
                <a:solidFill>
                  <a:schemeClr val="tx2"/>
                </a:solidFill>
              </a:defRPr>
            </a:lvl3pPr>
            <a:lvl4pPr algn="ctr">
              <a:defRPr sz="4400">
                <a:solidFill>
                  <a:schemeClr val="tx2"/>
                </a:solidFill>
              </a:defRPr>
            </a:lvl4pPr>
            <a:lvl5pPr algn="ctr">
              <a:defRPr sz="4400">
                <a:solidFill>
                  <a:schemeClr val="tx2"/>
                </a:solidFill>
              </a:defRPr>
            </a:lvl5pPr>
            <a:lvl6pPr marL="457200" algn="ctr">
              <a:defRPr sz="4400">
                <a:solidFill>
                  <a:schemeClr val="tx2"/>
                </a:solidFill>
              </a:defRPr>
            </a:lvl6pPr>
            <a:lvl7pPr marL="914400" algn="ctr">
              <a:defRPr sz="4400">
                <a:solidFill>
                  <a:schemeClr val="tx2"/>
                </a:solidFill>
              </a:defRPr>
            </a:lvl7pPr>
            <a:lvl8pPr marL="1371600" algn="ctr">
              <a:defRPr sz="4400">
                <a:solidFill>
                  <a:schemeClr val="tx2"/>
                </a:solidFill>
              </a:defRPr>
            </a:lvl8pPr>
            <a:lvl9pPr marL="1828800" algn="ctr">
              <a:defRPr sz="4400">
                <a:solidFill>
                  <a:schemeClr val="tx2"/>
                </a:solidFill>
              </a:defRPr>
            </a:lvl9pPr>
          </a:lstStyle>
          <a:p>
            <a:pPr algn="l" eaLnBrk="1" hangingPunct="1"/>
            <a:r>
              <a:rPr lang="zh-CN" altLang="en-US" dirty="0">
                <a:solidFill>
                  <a:srgbClr val="0070C0"/>
                </a:solidFill>
                <a:latin typeface="微软雅黑" panose="020B0503020204020204" pitchFamily="34" charset="-122"/>
                <a:ea typeface="微软雅黑" panose="020B0503020204020204" pitchFamily="34" charset="-122"/>
                <a:cs typeface="+mn-ea"/>
                <a:sym typeface="+mn-lt"/>
              </a:rPr>
              <a:t>常见问题：战略洞察后看到的和脑子里感觉的大同小异？</a:t>
            </a:r>
            <a:endParaRPr lang="en-US" altLang="zh-CN" dirty="0">
              <a:solidFill>
                <a:srgbClr val="0070C0"/>
              </a:solidFill>
              <a:latin typeface="微软雅黑" panose="020B0503020204020204" pitchFamily="34" charset="-122"/>
              <a:ea typeface="微软雅黑" panose="020B0503020204020204" pitchFamily="34" charset="-122"/>
              <a:cs typeface="+mn-ea"/>
              <a:sym typeface="+mn-lt"/>
            </a:endParaRPr>
          </a:p>
          <a:p>
            <a:pPr algn="l" eaLnBrk="1" hangingPunct="1"/>
            <a:endParaRPr lang="en-US" altLang="zh-CN" dirty="0">
              <a:solidFill>
                <a:srgbClr val="0070C0"/>
              </a:solidFill>
              <a:latin typeface="微软雅黑" panose="020B0503020204020204" pitchFamily="34" charset="-122"/>
              <a:ea typeface="微软雅黑" panose="020B0503020204020204" pitchFamily="34" charset="-122"/>
              <a:cs typeface="+mn-ea"/>
              <a:sym typeface="+mn-lt"/>
            </a:endParaRPr>
          </a:p>
        </p:txBody>
      </p:sp>
      <p:sp>
        <p:nvSpPr>
          <p:cNvPr id="5" name="Rectangle 3"/>
          <p:cNvSpPr txBox="1">
            <a:spLocks noChangeArrowheads="1"/>
          </p:cNvSpPr>
          <p:nvPr/>
        </p:nvSpPr>
        <p:spPr>
          <a:xfrm>
            <a:off x="1034927" y="1722979"/>
            <a:ext cx="10262870" cy="4813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Aft>
                <a:spcPts val="0"/>
              </a:spcAft>
              <a:buNone/>
            </a:pPr>
            <a:r>
              <a:rPr lang="zh-CN" altLang="en-US" sz="1800" dirty="0">
                <a:latin typeface="微软雅黑" panose="020B0503020204020204" pitchFamily="34" charset="-122"/>
                <a:ea typeface="微软雅黑" panose="020B0503020204020204" pitchFamily="34" charset="-122"/>
              </a:rPr>
              <a:t>的确如此，</a:t>
            </a:r>
            <a:r>
              <a:rPr lang="en-US" altLang="zh-CN" sz="1800" dirty="0">
                <a:latin typeface="微软雅黑" panose="020B0503020204020204" pitchFamily="34" charset="-122"/>
                <a:ea typeface="微软雅黑" panose="020B0503020204020204" pitchFamily="34" charset="-122"/>
              </a:rPr>
              <a:t>80%</a:t>
            </a:r>
            <a:r>
              <a:rPr lang="zh-CN" altLang="en-US" sz="1800" dirty="0">
                <a:latin typeface="微软雅黑" panose="020B0503020204020204" pitchFamily="34" charset="-122"/>
                <a:ea typeface="微软雅黑" panose="020B0503020204020204" pitchFamily="34" charset="-122"/>
              </a:rPr>
              <a:t>左右都差不多。否则，企业就要出问题了。</a:t>
            </a:r>
            <a:endParaRPr lang="en-US" altLang="zh-CN" sz="1800" dirty="0">
              <a:latin typeface="微软雅黑" panose="020B0503020204020204" pitchFamily="34" charset="-122"/>
              <a:ea typeface="微软雅黑" panose="020B0503020204020204" pitchFamily="34" charset="-122"/>
            </a:endParaRPr>
          </a:p>
          <a:p>
            <a:pPr marL="0" indent="0" fontAlgn="auto">
              <a:lnSpc>
                <a:spcPct val="100000"/>
              </a:lnSpc>
              <a:spcAft>
                <a:spcPts val="0"/>
              </a:spcAft>
              <a:buNone/>
            </a:pPr>
            <a:endParaRPr lang="en-US" altLang="zh-CN" sz="1800" dirty="0">
              <a:latin typeface="微软雅黑" panose="020B0503020204020204" pitchFamily="34" charset="-122"/>
              <a:ea typeface="微软雅黑" panose="020B0503020204020204" pitchFamily="34" charset="-122"/>
            </a:endParaRPr>
          </a:p>
          <a:p>
            <a:pPr marL="0" indent="0" fontAlgn="auto">
              <a:lnSpc>
                <a:spcPct val="100000"/>
              </a:lnSpc>
              <a:spcAft>
                <a:spcPts val="0"/>
              </a:spcAft>
              <a:buNone/>
            </a:pPr>
            <a:r>
              <a:rPr lang="zh-CN" altLang="en-US" sz="1800" dirty="0">
                <a:latin typeface="微软雅黑" panose="020B0503020204020204" pitchFamily="34" charset="-122"/>
                <a:ea typeface="微软雅黑" panose="020B0503020204020204" pitchFamily="34" charset="-122"/>
              </a:rPr>
              <a:t>流程方法和基于大数据的好处：</a:t>
            </a:r>
            <a:endParaRPr lang="en-US" altLang="zh-CN" sz="1800" dirty="0">
              <a:latin typeface="微软雅黑" panose="020B0503020204020204" pitchFamily="34" charset="-122"/>
              <a:ea typeface="微软雅黑" panose="020B0503020204020204" pitchFamily="34" charset="-122"/>
            </a:endParaRPr>
          </a:p>
          <a:p>
            <a:pPr marL="0" indent="0" fontAlgn="auto">
              <a:lnSpc>
                <a:spcPct val="100000"/>
              </a:lnSpc>
              <a:spcAft>
                <a:spcPts val="0"/>
              </a:spcAft>
              <a:buNone/>
            </a:pPr>
            <a:endParaRPr lang="en-US" altLang="zh-CN" sz="1800" dirty="0">
              <a:latin typeface="微软雅黑" panose="020B0503020204020204" pitchFamily="34" charset="-122"/>
              <a:ea typeface="微软雅黑" panose="020B0503020204020204" pitchFamily="34" charset="-122"/>
            </a:endParaRPr>
          </a:p>
          <a:p>
            <a:pPr marL="0" indent="0" fontAlgn="auto">
              <a:lnSpc>
                <a:spcPct val="100000"/>
              </a:lnSpc>
              <a:spcAft>
                <a:spcPts val="0"/>
              </a:spcAft>
              <a:buNone/>
            </a:pPr>
            <a:r>
              <a:rPr lang="en-US" altLang="zh-CN" sz="1800" b="1" dirty="0">
                <a:solidFill>
                  <a:srgbClr val="C00000"/>
                </a:solidFill>
                <a:latin typeface="微软雅黑" panose="020B0503020204020204" pitchFamily="34" charset="-122"/>
                <a:ea typeface="微软雅黑" panose="020B0503020204020204" pitchFamily="34" charset="-122"/>
              </a:rPr>
              <a:t>1</a:t>
            </a:r>
            <a:r>
              <a:rPr lang="zh-CN" altLang="en-US" sz="1800" b="1" dirty="0">
                <a:solidFill>
                  <a:srgbClr val="C00000"/>
                </a:solidFill>
                <a:latin typeface="微软雅黑" panose="020B0503020204020204" pitchFamily="34" charset="-122"/>
                <a:ea typeface="微软雅黑" panose="020B0503020204020204" pitchFamily="34" charset="-122"/>
              </a:rPr>
              <a:t>、稳定性：</a:t>
            </a:r>
            <a:r>
              <a:rPr lang="zh-CN" altLang="en-US" sz="1800" dirty="0">
                <a:latin typeface="微软雅黑" panose="020B0503020204020204" pitchFamily="34" charset="-122"/>
                <a:ea typeface="微软雅黑" panose="020B0503020204020204" pitchFamily="34" charset="-122"/>
              </a:rPr>
              <a:t>一次关键的错误决策影响就很大。</a:t>
            </a:r>
            <a:endParaRPr lang="en-US" altLang="zh-CN" sz="1800" dirty="0">
              <a:latin typeface="微软雅黑" panose="020B0503020204020204" pitchFamily="34" charset="-122"/>
              <a:ea typeface="微软雅黑" panose="020B0503020204020204" pitchFamily="34" charset="-122"/>
            </a:endParaRPr>
          </a:p>
          <a:p>
            <a:pPr marL="0" indent="0" fontAlgn="auto">
              <a:lnSpc>
                <a:spcPct val="100000"/>
              </a:lnSpc>
              <a:spcAft>
                <a:spcPts val="0"/>
              </a:spcAft>
              <a:buNone/>
            </a:pPr>
            <a:r>
              <a:rPr lang="en-US" altLang="zh-CN" sz="1800" dirty="0">
                <a:latin typeface="微软雅黑" panose="020B0503020204020204" pitchFamily="34" charset="-122"/>
                <a:ea typeface="微软雅黑" panose="020B0503020204020204" pitchFamily="34" charset="-122"/>
              </a:rPr>
              <a:t>80%</a:t>
            </a:r>
            <a:r>
              <a:rPr lang="zh-CN" altLang="en-US" sz="1800" dirty="0">
                <a:latin typeface="微软雅黑" panose="020B0503020204020204" pitchFamily="34" charset="-122"/>
                <a:ea typeface="微软雅黑" panose="020B0503020204020204" pitchFamily="34" charset="-122"/>
              </a:rPr>
              <a:t>正确率和</a:t>
            </a:r>
            <a:r>
              <a:rPr lang="en-US" altLang="zh-CN" sz="1800" dirty="0">
                <a:latin typeface="微软雅黑" panose="020B0503020204020204" pitchFamily="34" charset="-122"/>
                <a:ea typeface="微软雅黑" panose="020B0503020204020204" pitchFamily="34" charset="-122"/>
              </a:rPr>
              <a:t>95%</a:t>
            </a:r>
            <a:r>
              <a:rPr lang="zh-CN" altLang="en-US" sz="1800" dirty="0">
                <a:latin typeface="微软雅黑" panose="020B0503020204020204" pitchFamily="34" charset="-122"/>
                <a:ea typeface="微软雅黑" panose="020B0503020204020204" pitchFamily="34" charset="-122"/>
              </a:rPr>
              <a:t>正确率，最后结果是截然不一样的。</a:t>
            </a:r>
            <a:endParaRPr lang="en-US" altLang="zh-CN" sz="1800" dirty="0">
              <a:latin typeface="微软雅黑" panose="020B0503020204020204" pitchFamily="34" charset="-122"/>
              <a:ea typeface="微软雅黑" panose="020B0503020204020204" pitchFamily="34" charset="-122"/>
            </a:endParaRPr>
          </a:p>
          <a:p>
            <a:pPr marL="0" indent="0" fontAlgn="auto">
              <a:lnSpc>
                <a:spcPct val="100000"/>
              </a:lnSpc>
              <a:spcAft>
                <a:spcPts val="0"/>
              </a:spcAft>
              <a:buNone/>
            </a:pPr>
            <a:r>
              <a:rPr lang="zh-CN" altLang="en-US" sz="1800" b="1" dirty="0">
                <a:solidFill>
                  <a:srgbClr val="C00000"/>
                </a:solidFill>
                <a:latin typeface="微软雅黑" panose="020B0503020204020204" pitchFamily="34" charset="-122"/>
                <a:ea typeface="微软雅黑" panose="020B0503020204020204" pitchFamily="34" charset="-122"/>
              </a:rPr>
              <a:t>顶尖企业家和一般企业家的差异可能只有</a:t>
            </a:r>
            <a:r>
              <a:rPr lang="en-US" altLang="zh-CN" sz="1800" b="1" dirty="0">
                <a:solidFill>
                  <a:srgbClr val="C00000"/>
                </a:solidFill>
                <a:latin typeface="微软雅黑" panose="020B0503020204020204" pitchFamily="34" charset="-122"/>
                <a:ea typeface="微软雅黑" panose="020B0503020204020204" pitchFamily="34" charset="-122"/>
              </a:rPr>
              <a:t>5%</a:t>
            </a:r>
            <a:r>
              <a:rPr lang="zh-CN" altLang="en-US" sz="1800" b="1" dirty="0">
                <a:solidFill>
                  <a:srgbClr val="C00000"/>
                </a:solidFill>
                <a:latin typeface="微软雅黑" panose="020B0503020204020204" pitchFamily="34" charset="-122"/>
                <a:ea typeface="微软雅黑" panose="020B0503020204020204" pitchFamily="34" charset="-122"/>
              </a:rPr>
              <a:t>。</a:t>
            </a:r>
            <a:endParaRPr lang="en-US" altLang="zh-CN" sz="1800" b="1" dirty="0">
              <a:solidFill>
                <a:srgbClr val="FF0000"/>
              </a:solidFill>
              <a:latin typeface="微软雅黑" panose="020B0503020204020204" pitchFamily="34" charset="-122"/>
              <a:ea typeface="微软雅黑" panose="020B0503020204020204" pitchFamily="34" charset="-122"/>
            </a:endParaRPr>
          </a:p>
          <a:p>
            <a:pPr marL="0" indent="0" fontAlgn="auto">
              <a:lnSpc>
                <a:spcPct val="100000"/>
              </a:lnSpc>
              <a:spcAft>
                <a:spcPts val="0"/>
              </a:spcAft>
              <a:buNone/>
            </a:pPr>
            <a:endParaRPr lang="en-US" altLang="zh-CN" sz="1800" dirty="0">
              <a:latin typeface="微软雅黑" panose="020B0503020204020204" pitchFamily="34" charset="-122"/>
              <a:ea typeface="微软雅黑" panose="020B0503020204020204" pitchFamily="34" charset="-122"/>
            </a:endParaRPr>
          </a:p>
          <a:p>
            <a:pPr marL="0" indent="0" fontAlgn="auto">
              <a:lnSpc>
                <a:spcPct val="100000"/>
              </a:lnSpc>
              <a:spcAft>
                <a:spcPts val="0"/>
              </a:spcAft>
              <a:buNone/>
            </a:pPr>
            <a:r>
              <a:rPr lang="en-US" altLang="zh-CN" sz="1800" b="1" dirty="0">
                <a:solidFill>
                  <a:srgbClr val="C00000"/>
                </a:solidFill>
                <a:latin typeface="微软雅黑" panose="020B0503020204020204" pitchFamily="34" charset="-122"/>
                <a:ea typeface="微软雅黑" panose="020B0503020204020204" pitchFamily="34" charset="-122"/>
              </a:rPr>
              <a:t>2</a:t>
            </a:r>
            <a:r>
              <a:rPr lang="zh-CN" altLang="en-US" sz="1800" b="1" dirty="0">
                <a:solidFill>
                  <a:srgbClr val="C00000"/>
                </a:solidFill>
                <a:latin typeface="微软雅黑" panose="020B0503020204020204" pitchFamily="34" charset="-122"/>
                <a:ea typeface="微软雅黑" panose="020B0503020204020204" pitchFamily="34" charset="-122"/>
              </a:rPr>
              <a:t>、可叠加：</a:t>
            </a:r>
            <a:r>
              <a:rPr lang="zh-CN" altLang="en-US" sz="1800" dirty="0">
                <a:latin typeface="微软雅黑" panose="020B0503020204020204" pitchFamily="34" charset="-122"/>
                <a:ea typeface="微软雅黑" panose="020B0503020204020204" pitchFamily="34" charset="-122"/>
              </a:rPr>
              <a:t>持续积累，组织能力会指数叠加，如果凭感觉，则一直原地踏步。</a:t>
            </a:r>
            <a:endParaRPr lang="en-US" altLang="zh-CN" sz="1800" dirty="0">
              <a:latin typeface="微软雅黑" panose="020B0503020204020204" pitchFamily="34" charset="-122"/>
              <a:ea typeface="微软雅黑" panose="020B0503020204020204" pitchFamily="34" charset="-122"/>
            </a:endParaRPr>
          </a:p>
          <a:p>
            <a:pPr marL="0" indent="0" fontAlgn="auto">
              <a:lnSpc>
                <a:spcPct val="100000"/>
              </a:lnSpc>
              <a:spcAft>
                <a:spcPts val="0"/>
              </a:spcAft>
              <a:buNone/>
            </a:pPr>
            <a:r>
              <a:rPr lang="zh-CN" altLang="en-US" sz="1800" dirty="0">
                <a:latin typeface="微软雅黑" panose="020B0503020204020204" pitchFamily="34" charset="-122"/>
                <a:ea typeface="微软雅黑" panose="020B0503020204020204" pitchFamily="34" charset="-122"/>
              </a:rPr>
              <a:t>华为流程化的威力，是通过</a:t>
            </a:r>
            <a:r>
              <a:rPr lang="en-US" altLang="zh-CN" sz="1800" dirty="0">
                <a:latin typeface="微软雅黑" panose="020B0503020204020204" pitchFamily="34" charset="-122"/>
                <a:ea typeface="微软雅黑" panose="020B0503020204020204" pitchFamily="34" charset="-122"/>
              </a:rPr>
              <a:t>10-20</a:t>
            </a:r>
            <a:r>
              <a:rPr lang="zh-CN" altLang="en-US" sz="1800" dirty="0">
                <a:latin typeface="微软雅黑" panose="020B0503020204020204" pitchFamily="34" charset="-122"/>
                <a:ea typeface="微软雅黑" panose="020B0503020204020204" pitchFamily="34" charset="-122"/>
              </a:rPr>
              <a:t>年才彻底显现出来。</a:t>
            </a:r>
            <a:endParaRPr lang="en-US" altLang="zh-CN" sz="1800" dirty="0">
              <a:latin typeface="微软雅黑" panose="020B0503020204020204" pitchFamily="34" charset="-122"/>
              <a:ea typeface="微软雅黑" panose="020B0503020204020204" pitchFamily="34" charset="-122"/>
            </a:endParaRPr>
          </a:p>
          <a:p>
            <a:pPr marL="0" indent="0" fontAlgn="auto">
              <a:spcAft>
                <a:spcPts val="0"/>
              </a:spcAft>
              <a:buNone/>
            </a:pPr>
            <a:endParaRPr lang="zh-CN" altLang="en-US" sz="18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6F8BF62-5A71-679D-400D-2F6AE5514308}"/>
              </a:ext>
            </a:extLst>
          </p:cNvPr>
          <p:cNvSpPr txBox="1"/>
          <p:nvPr/>
        </p:nvSpPr>
        <p:spPr>
          <a:xfrm>
            <a:off x="2723535" y="2767280"/>
            <a:ext cx="7266040" cy="1323439"/>
          </a:xfrm>
          <a:prstGeom prst="rect">
            <a:avLst/>
          </a:prstGeom>
          <a:noFill/>
        </p:spPr>
        <p:txBody>
          <a:bodyPr wrap="square" rtlCol="0">
            <a:spAutoFit/>
          </a:bodyPr>
          <a:lstStyle/>
          <a:p>
            <a:r>
              <a:rPr lang="en-US" altLang="zh-CN" sz="8000" b="1" i="1" dirty="0">
                <a:solidFill>
                  <a:srgbClr val="0070C0"/>
                </a:solidFill>
                <a:latin typeface="Bodoni MT Black" panose="02070A03080606020203" pitchFamily="18" charset="0"/>
              </a:rPr>
              <a:t>Th</a:t>
            </a:r>
            <a:r>
              <a:rPr lang="en-US" altLang="zh-CN" sz="8000" b="1" i="1" dirty="0">
                <a:solidFill>
                  <a:srgbClr val="FF0000"/>
                </a:solidFill>
                <a:latin typeface="Bodoni MT Black" panose="02070A03080606020203" pitchFamily="18" charset="0"/>
              </a:rPr>
              <a:t>a</a:t>
            </a:r>
            <a:r>
              <a:rPr lang="en-US" altLang="zh-CN" sz="8000" b="1" i="1" dirty="0">
                <a:solidFill>
                  <a:srgbClr val="0070C0"/>
                </a:solidFill>
                <a:latin typeface="Bodoni MT Black" panose="02070A03080606020203" pitchFamily="18" charset="0"/>
              </a:rPr>
              <a:t>nk  y</a:t>
            </a:r>
            <a:r>
              <a:rPr lang="en-US" altLang="zh-CN" sz="8000" b="1" i="1" dirty="0">
                <a:solidFill>
                  <a:srgbClr val="FF0000"/>
                </a:solidFill>
                <a:latin typeface="Bodoni MT Black" panose="02070A03080606020203" pitchFamily="18" charset="0"/>
              </a:rPr>
              <a:t>o</a:t>
            </a:r>
            <a:r>
              <a:rPr lang="en-US" altLang="zh-CN" sz="8000" b="1" i="1" dirty="0">
                <a:solidFill>
                  <a:srgbClr val="0070C0"/>
                </a:solidFill>
                <a:latin typeface="Bodoni MT Black" panose="02070A03080606020203" pitchFamily="18" charset="0"/>
              </a:rPr>
              <a:t>u</a:t>
            </a:r>
            <a:endParaRPr lang="zh-CN" altLang="en-US" sz="8000" b="1" i="1" dirty="0">
              <a:solidFill>
                <a:srgbClr val="0070C0"/>
              </a:solidFill>
              <a:latin typeface="Bodoni MT Black" panose="02070A03080606020203" pitchFamily="18" charset="0"/>
            </a:endParaRPr>
          </a:p>
        </p:txBody>
      </p:sp>
      <p:sp>
        <p:nvSpPr>
          <p:cNvPr id="3" name="矩形 2">
            <a:extLst>
              <a:ext uri="{FF2B5EF4-FFF2-40B4-BE49-F238E27FC236}">
                <a16:creationId xmlns:a16="http://schemas.microsoft.com/office/drawing/2014/main" id="{7E3BBD9F-ED23-6DFA-438E-838900758D98}"/>
              </a:ext>
            </a:extLst>
          </p:cNvPr>
          <p:cNvSpPr/>
          <p:nvPr/>
        </p:nvSpPr>
        <p:spPr>
          <a:xfrm>
            <a:off x="0" y="6017342"/>
            <a:ext cx="12192000" cy="840658"/>
          </a:xfrm>
          <a:prstGeom prst="rect">
            <a:avLst/>
          </a:prstGeom>
          <a:solidFill>
            <a:srgbClr val="B7ECFF"/>
          </a:solidFill>
          <a:ln w="9525">
            <a:noFill/>
            <a:miter lim="800000"/>
          </a:ln>
        </p:spPr>
        <p:txBody>
          <a:bodyPr lIns="66289" tIns="0" rIns="0" bIns="0" rtlCol="0" anchor="ctr"/>
          <a:lstStyle/>
          <a:p>
            <a:pPr marL="160655" algn="ctr" defTabSz="821055" fontAlgn="t">
              <a:spcBef>
                <a:spcPct val="5000"/>
              </a:spcBef>
            </a:pPr>
            <a:endParaRPr lang="zh-CN" altLang="en-US" sz="1635" b="1">
              <a:solidFill>
                <a:srgbClr val="333333"/>
              </a:solidFill>
              <a:latin typeface="黑体" panose="02010609060101010101" pitchFamily="2" charset="-122"/>
              <a:ea typeface="黑体" panose="0201060906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SLIDE_MODEL_TYPE" val="timeline"/>
</p:tagLst>
</file>

<file path=ppt/tags/tag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06"/>
  <p:tag name="KSO_WM_TAG_VERSION" val="1.0"/>
  <p:tag name="KSO_WM_SLIDE_ID" val="basetag20163606_8"/>
  <p:tag name="KSO_WM_SLIDE_INDEX" val="8"/>
  <p:tag name="KSO_WM_SLIDE_ITEM_CNT" val="0"/>
  <p:tag name="KSO_WM_SLIDE_TYPE" val="text"/>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06"/>
  <p:tag name="KSO_WM_TAG_VERSION" val="1.0"/>
  <p:tag name="KSO_WM_SLIDE_ID" val="basetag20163606_8"/>
  <p:tag name="KSO_WM_SLIDE_INDEX" val="8"/>
  <p:tag name="KSO_WM_SLIDE_ITEM_CNT" val="0"/>
  <p:tag name="KSO_WM_SLIDE_TYPE" val="text"/>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3606"/>
  <p:tag name="KSO_WM_TAG_VERSION" val="1.0"/>
  <p:tag name="KSO_WM_SLIDE_ID" val="basetag20163606_8"/>
  <p:tag name="KSO_WM_SLIDE_INDEX" val="8"/>
  <p:tag name="KSO_WM_SLIDE_ITEM_CNT" val="0"/>
  <p:tag name="KSO_WM_SLIDE_TYPE" val="text"/>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SLIDE_MODEL_TYPE" val="timeline"/>
</p:tagLst>
</file>

<file path=ppt/theme/theme1.xml><?xml version="1.0" encoding="utf-8"?>
<a:theme xmlns:a="http://schemas.openxmlformats.org/drawingml/2006/main" name="default">
  <a:themeElements>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a:majorFont>
        <a:latin typeface="FrutigerNext LT Medium"/>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B7ECFF"/>
        </a:solidFill>
        <a:ln w="9525">
          <a:solidFill>
            <a:srgbClr val="808080"/>
          </a:solidFill>
          <a:miter lim="800000"/>
        </a:ln>
      </a:spPr>
      <a:bodyPr lIns="66289" tIns="0" rIns="0" bIns="0" anchor="ctr"/>
      <a:lstStyle>
        <a:defPPr marL="160655" lvl="1" defTabSz="821055" fontAlgn="t">
          <a:spcBef>
            <a:spcPct val="5000"/>
          </a:spcBef>
          <a:defRPr lang="zh-CN" altLang="zh-CN" sz="1635" b="1">
            <a:solidFill>
              <a:srgbClr val="333333"/>
            </a:solidFill>
            <a:latin typeface="黑体" panose="02010609060101010101" pitchFamily="2" charset="-122"/>
            <a:ea typeface="黑体" panose="0201060906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066800" rtl="0" eaLnBrk="1" fontAlgn="base" latinLnBrk="0" hangingPunct="1">
          <a:lnSpc>
            <a:spcPct val="100000"/>
          </a:lnSpc>
          <a:spcBef>
            <a:spcPct val="0"/>
          </a:spcBef>
          <a:spcAft>
            <a:spcPct val="0"/>
          </a:spcAft>
          <a:buClrTx/>
          <a:buSzTx/>
          <a:buFontTx/>
          <a:buNone/>
          <a:defRPr kumimoji="0" lang="zh-CN" altLang="en-US" sz="21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2228</TotalTime>
  <Words>9756</Words>
  <Application>Microsoft Office PowerPoint</Application>
  <PresentationFormat>宽屏</PresentationFormat>
  <Paragraphs>1431</Paragraphs>
  <Slides>64</Slides>
  <Notes>13</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64</vt:i4>
      </vt:variant>
    </vt:vector>
  </HeadingPairs>
  <TitlesOfParts>
    <vt:vector size="81" baseType="lpstr">
      <vt:lpstr>Bodoni MT Black</vt:lpstr>
      <vt:lpstr>FrutigerNext LT Bold</vt:lpstr>
      <vt:lpstr>FrutigerNext LT Medium</vt:lpstr>
      <vt:lpstr>FrutigerNext LT Regular</vt:lpstr>
      <vt:lpstr>Monotype Sorts</vt:lpstr>
      <vt:lpstr>MS PGothic</vt:lpstr>
      <vt:lpstr>DengXian</vt:lpstr>
      <vt:lpstr>黑体</vt:lpstr>
      <vt:lpstr>华文细黑</vt:lpstr>
      <vt:lpstr>宋体</vt:lpstr>
      <vt:lpstr>微软雅黑</vt:lpstr>
      <vt:lpstr>Arial</vt:lpstr>
      <vt:lpstr>Calibri</vt:lpstr>
      <vt:lpstr>Wingdings</vt:lpstr>
      <vt:lpstr>Wingdings 3</vt:lpstr>
      <vt:lpstr>default</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andiss</cp:lastModifiedBy>
  <cp:revision>1228</cp:revision>
  <cp:lastPrinted>1900-01-01T00:00:00Z</cp:lastPrinted>
  <dcterms:created xsi:type="dcterms:W3CDTF">1900-01-01T00:00:00Z</dcterms:created>
  <dcterms:modified xsi:type="dcterms:W3CDTF">2025-09-30T04:23:42Z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2052-11.1.0.8205</vt:lpwstr>
  </property>
</Properties>
</file>