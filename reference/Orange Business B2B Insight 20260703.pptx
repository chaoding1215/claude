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0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8" r:id="rId1"/>
    <p:sldMasterId id="2147484083" r:id="rId2"/>
    <p:sldMasterId id="2147484091" r:id="rId3"/>
    <p:sldMasterId id="2147484125" r:id="rId4"/>
    <p:sldMasterId id="2147484146" r:id="rId5"/>
    <p:sldMasterId id="2147484148" r:id="rId6"/>
    <p:sldMasterId id="2147484162" r:id="rId7"/>
    <p:sldMasterId id="2147484168" r:id="rId8"/>
    <p:sldMasterId id="2147484172" r:id="rId9"/>
    <p:sldMasterId id="2147484186" r:id="rId10"/>
    <p:sldMasterId id="2147484191" r:id="rId11"/>
    <p:sldMasterId id="2147484196" r:id="rId12"/>
    <p:sldMasterId id="2147484204" r:id="rId13"/>
    <p:sldMasterId id="2147484248" r:id="rId14"/>
    <p:sldMasterId id="2147484272" r:id="rId15"/>
    <p:sldMasterId id="2147484279" r:id="rId16"/>
    <p:sldMasterId id="2147484282" r:id="rId17"/>
    <p:sldMasterId id="2147484286" r:id="rId18"/>
    <p:sldMasterId id="2147484289" r:id="rId19"/>
    <p:sldMasterId id="2147484301" r:id="rId20"/>
    <p:sldMasterId id="2147484309" r:id="rId21"/>
    <p:sldMasterId id="2147484315" r:id="rId22"/>
    <p:sldMasterId id="2147484329" r:id="rId23"/>
  </p:sldMasterIdLst>
  <p:notesMasterIdLst>
    <p:notesMasterId r:id="rId37"/>
  </p:notesMasterIdLst>
  <p:handoutMasterIdLst>
    <p:handoutMasterId r:id="rId38"/>
  </p:handoutMasterIdLst>
  <p:sldIdLst>
    <p:sldId id="1015" r:id="rId24"/>
    <p:sldId id="1020" r:id="rId25"/>
    <p:sldId id="1057" r:id="rId26"/>
    <p:sldId id="256" r:id="rId27"/>
    <p:sldId id="1030" r:id="rId28"/>
    <p:sldId id="1031" r:id="rId29"/>
    <p:sldId id="1032" r:id="rId30"/>
    <p:sldId id="1033" r:id="rId31"/>
    <p:sldId id="1034" r:id="rId32"/>
    <p:sldId id="1035" r:id="rId33"/>
    <p:sldId id="1045" r:id="rId34"/>
    <p:sldId id="1044" r:id="rId35"/>
    <p:sldId id="1056" r:id="rId3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hongpeng(Hopper,Italy)" initials="L" lastIdx="6" clrIdx="0">
    <p:extLst>
      <p:ext uri="{19B8F6BF-5375-455C-9EA6-DF929625EA0E}">
        <p15:presenceInfo xmlns:p15="http://schemas.microsoft.com/office/powerpoint/2012/main" userId="S-1-5-21-147214757-305610072-1517763936-71459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24D98"/>
    <a:srgbClr val="004C97"/>
    <a:srgbClr val="DAEEF3"/>
    <a:srgbClr val="B7DEE8"/>
    <a:srgbClr val="BEE7A6"/>
    <a:srgbClr val="FFEA98"/>
    <a:srgbClr val="D4F1F5"/>
    <a:srgbClr val="8064A2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7" autoAdjust="0"/>
    <p:restoredTop sz="91366" autoAdjust="0"/>
  </p:normalViewPr>
  <p:slideViewPr>
    <p:cSldViewPr snapToGrid="0" snapToObjects="1">
      <p:cViewPr varScale="1">
        <p:scale>
          <a:sx n="60" d="100"/>
          <a:sy n="60" d="100"/>
        </p:scale>
        <p:origin x="912" y="44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commentAuthors" Target="commentAuthors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D:\&#39033;&#30446;\2B%20&#27934;&#23519;\&#35199;&#29677;&#29273;TDE&#21382;&#21490;B2B&#20449;&#24687;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D:\&#25628;&#38598;&#34013;\4%20&#32463;&#33829;&#25968;&#25454;\TEF%20B2B%20CEB%20&#28165;&#21333;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Services numériques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411-44FD-908D-AD72CA9F86B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411-44FD-908D-AD72CA9F86B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411-44FD-908D-AD72CA9F86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411-44FD-908D-AD72CA9F86B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411-44FD-908D-AD72CA9F86B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1411-44FD-908D-AD72CA9F86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3400000000.0</c:v>
                </c:pt>
                <c:pt idx="1">
                  <c:v>3300000000.0</c:v>
                </c:pt>
                <c:pt idx="2">
                  <c:v>3800000000.0</c:v>
                </c:pt>
                <c:pt idx="3">
                  <c:v>4300000000.0</c:v>
                </c:pt>
                <c:pt idx="4">
                  <c:v>4800000000.0</c:v>
                </c:pt>
                <c:pt idx="5">
                  <c:v>5300000000.0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F4-4E18-943A-50D3E442C685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Fournitures 供应品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411-44FD-908D-AD72CA9F86B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411-44FD-908D-AD72CA9F86B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1411-44FD-908D-AD72CA9F86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411-44FD-908D-AD72CA9F86B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1411-44FD-908D-AD72CA9F86B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1411-44FD-908D-AD72CA9F86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2300000000.0</c:v>
                </c:pt>
                <c:pt idx="1">
                  <c:v>2100000000.0</c:v>
                </c:pt>
                <c:pt idx="2">
                  <c:v>2500000000.0</c:v>
                </c:pt>
                <c:pt idx="3">
                  <c:v>2800000000.0</c:v>
                </c:pt>
                <c:pt idx="4">
                  <c:v>3100000000.0</c:v>
                </c:pt>
                <c:pt idx="5">
                  <c:v>3400000000.0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F4-4E18-943A-50D3E442C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24836784"/>
        <c:axId val="82483262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画图!$A$1</c15:sqref>
                        </c15:formulaRef>
                      </c:ext>
                    </c:extLst>
                    <c:strCache>
                      <c:ptCount val="1"/>
                      <c:pt idx="0">
                        <c:v>TdE revenue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画图!$B$1:$G$1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  <c:pt idx="5">
                        <c:v>2024.11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画图!$B$1:$G$1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  <c:pt idx="5">
                        <c:v>2024.11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86F4-4E18-943A-50D3E442C685}"/>
                  </c:ext>
                </c:extLst>
              </c15:ser>
            </c15:filteredBarSeries>
          </c:ext>
        </c:extLst>
      </c:barChart>
      <c:catAx>
        <c:axId val="824836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endParaRPr lang="en-US"/>
          </a:p>
        </c:txPr>
        <c:crossAx val="824832624"/>
        <c:crosses val="autoZero"/>
        <c:auto val="1"/>
        <c:lblAlgn val="ctr"/>
        <c:lblOffset val="100"/>
        <c:noMultiLvlLbl val="0"/>
      </c:catAx>
      <c:valAx>
        <c:axId val="82483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[$€-1]_);[Red]\(#,##0\ [$€-1]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endParaRPr lang="en-US"/>
          </a:p>
        </c:txPr>
        <c:crossAx val="82483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  <a:sym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r>
              <a:rPr lang="zh-CN">
                <a:latin typeface="Arial" panose="020B0604020202020204" pitchFamily="34" charset="0"/>
                <a:ea typeface="微软雅黑" panose="020B0503020204020204" pitchFamily="34" charset="-122"/>
              </a:rPr>
              <a:t>项目招标预算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项目招标预算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0B-4371-849F-8C2E3EFFE921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90B-4371-849F-8C2E3EFFE921}"/>
              </c:ext>
            </c:extLst>
          </c:dPt>
          <c:dLbls>
            <c:dLbl>
              <c:idx val="0"/>
              <c:layout>
                <c:manualLayout>
                  <c:x val="4.4899943215433507E-3"/>
                  <c:y val="-3.137056115546337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0B-4371-849F-8C2E3EFFE921}"/>
                </c:ext>
              </c:extLst>
            </c:dLbl>
            <c:dLbl>
              <c:idx val="1"/>
              <c:layout>
                <c:manualLayout>
                  <c:x val="-4.2154067529038948E-2"/>
                  <c:y val="3.706166201769394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90B-4371-849F-8C2E3EFFE9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&gt;1M€</c:v>
                </c:pt>
                <c:pt idx="1">
                  <c:v>&lt;1M€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4000</c:v>
                </c:pt>
                <c:pt idx="1">
                  <c:v>4700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0B-4371-849F-8C2E3EFFE92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9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36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079895-E20B-4C00-8BD1-68A6DACD8C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41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134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32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374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181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639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17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035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192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47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401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5105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7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9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tif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7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jp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2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2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26.png"/><Relationship Id="rId3" Type="http://schemas.microsoft.com/office/2007/relationships/hdphoto" Target="../media/hdphoto1.wdp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25.png"/><Relationship Id="rId3" Type="http://schemas.openxmlformats.org/officeDocument/2006/relationships/image" Target="../media/image29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25.png"/><Relationship Id="rId3" Type="http://schemas.openxmlformats.org/officeDocument/2006/relationships/image" Target="../media/image29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0755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088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1677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1813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0066" y="297770"/>
            <a:ext cx="11202741" cy="673780"/>
          </a:xfrm>
          <a:prstGeom prst="rect">
            <a:avLst/>
          </a:prstGeom>
        </p:spPr>
        <p:txBody>
          <a:bodyPr/>
          <a:lstStyle>
            <a:lvl1pPr>
              <a:defRPr lang="en-US" sz="3198" dirty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35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77" y="332663"/>
            <a:ext cx="11766494" cy="504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67" tIns="60931" rIns="121867" bIns="60931" numCol="1" anchor="ctr" anchorCtr="0" compatLnSpc="1">
            <a:prstTxWarp prst="textNoShape">
              <a:avLst/>
            </a:prstTxWarp>
            <a:normAutofit/>
          </a:bodyPr>
          <a:lstStyle>
            <a:lvl1pPr algn="l" defTabSz="873052" rtl="0" eaLnBrk="1" fontAlgn="base" hangingPunct="1">
              <a:spcBef>
                <a:spcPct val="0"/>
              </a:spcBef>
              <a:spcAft>
                <a:spcPct val="0"/>
              </a:spcAft>
              <a:defRPr lang="en-US" sz="2397" b="1" kern="0" dirty="0">
                <a:solidFill>
                  <a:srgbClr val="864A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027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063" y="153771"/>
            <a:ext cx="10284328" cy="740229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8484806" y="6500838"/>
            <a:ext cx="1043945" cy="214315"/>
          </a:xfrm>
          <a:prstGeom prst="rect">
            <a:avLst/>
          </a:prstGeom>
          <a:ln/>
        </p:spPr>
        <p:txBody>
          <a:bodyPr lIns="91434" tIns="45718" rIns="91434" bIns="45718"/>
          <a:lstStyle>
            <a:lvl1pPr>
              <a:defRPr/>
            </a:lvl1pPr>
          </a:lstStyle>
          <a:p>
            <a:pPr defTabSz="914112"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9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0"/>
    </mc:Choice>
    <mc:Fallback xmlns="">
      <p:transition advClick="0" advTm="8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22" y="365126"/>
            <a:ext cx="10519708" cy="7266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28" y="1488898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112"/>
            <a:r>
              <a:rPr lang="en-US">
                <a:solidFill>
                  <a:srgbClr val="000000"/>
                </a:solidFill>
              </a:rPr>
              <a:t>Page </a:t>
            </a:r>
            <a:fld id="{9F43864F-D265-4C55-B1CB-77A809DD0E13}" type="slidenum">
              <a:rPr lang="en-US" smtClean="0">
                <a:solidFill>
                  <a:srgbClr val="000000"/>
                </a:solidFill>
              </a:rPr>
              <a:pPr defTabSz="914112"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914112"/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  <a:sym typeface="Lucida Grande"/>
              </a:rPr>
              <a:t>HUAWEI TECHNOLOGIES CO., LTD.   Etisalat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  <a:sym typeface="Lucida Grande"/>
              </a:rPr>
              <a:t> </a:t>
            </a:r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  <a:sym typeface="Lucida Grande"/>
              </a:rPr>
              <a:t>KAD</a:t>
            </a:r>
            <a:endParaRPr lang="en-US" altLang="zh-CN" dirty="0">
              <a:solidFill>
                <a:srgbClr val="000000"/>
              </a:solidFill>
              <a:cs typeface="Arial" panose="020B0604020202020204" pitchFamily="34" charset="0"/>
              <a:sym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87893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12"/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12"/>
            <a:fld id="{1D8BD707-D9CF-40AE-B4C6-C98DA3205C09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914112"/>
              <a:t>7/3/2026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85" defTabSz="914112">
              <a:spcBef>
                <a:spcPts val="30"/>
              </a:spcBef>
            </a:pPr>
            <a:fld id="{81D60167-4931-47E6-BA6A-407CBD079E47}" type="slidenum">
              <a:rPr lang="en-US" altLang="zh-CN" spc="-5" smtClean="0">
                <a:solidFill>
                  <a:srgbClr val="FFFFFF"/>
                </a:solidFill>
              </a:rPr>
              <a:pPr marL="38085" defTabSz="914112">
                <a:spcBef>
                  <a:spcPts val="30"/>
                </a:spcBef>
              </a:pPr>
              <a:t>‹#›</a:t>
            </a:fld>
            <a:endParaRPr lang="en-US" altLang="zh-CN" spc="-5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2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/>
        </p:nvSpPr>
        <p:spPr>
          <a:xfrm>
            <a:off x="526843" y="6534878"/>
            <a:ext cx="499729" cy="148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858246">
              <a:defRPr/>
            </a:pPr>
            <a:fld id="{C3837181-38C6-AD4F-B8BA-B444770388BB}" type="slidenum">
              <a:rPr lang="en-US" sz="964">
                <a:solidFill>
                  <a:prstClr val="black"/>
                </a:solidFill>
                <a:cs typeface="Arial" panose="020B0604020202020204" pitchFamily="34" charset="0"/>
              </a:rPr>
              <a:pPr algn="ctr" defTabSz="858246">
                <a:defRPr/>
              </a:pPr>
              <a:t>‹#›</a:t>
            </a:fld>
            <a:endParaRPr lang="en-US" sz="964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842" y="337695"/>
            <a:ext cx="9658027" cy="594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0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399" b="1" kern="1200" dirty="0">
                <a:solidFill>
                  <a:srgbClr val="006600"/>
                </a:solidFill>
                <a:latin typeface="+mj-lt"/>
                <a:ea typeface="宋体" pitchFamily="2" charset="-122"/>
                <a:cs typeface="Calibri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975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2pPr>
            <a:lvl3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40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kumimoji="1" lang="zh-CN" altLang="en-US" sz="900">
              <a:solidFill>
                <a:srgbClr val="FFFFFF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95046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4798" dirty="0">
                <a:solidFill>
                  <a:srgbClr val="000000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21435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12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98" marR="0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 sz="1799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277" marR="0" indent="-285607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484" algn="ctr"/>
              </a:tabLst>
              <a:defRPr sz="1599" baseline="0">
                <a:latin typeface="+mn-lt"/>
                <a:ea typeface="Microsoft YaHei" panose="020B0503020204020204" pitchFamily="34" charset="-122"/>
              </a:defRPr>
            </a:lvl2pPr>
            <a:lvl3pPr marL="1098026" marR="0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484" algn="ctr"/>
              </a:tabLst>
              <a:defRPr sz="1298" baseline="0">
                <a:latin typeface="+mn-lt"/>
                <a:ea typeface="Microsoft YaHei" panose="020B0503020204020204" pitchFamily="34" charset="-122"/>
              </a:defRPr>
            </a:lvl3pPr>
            <a:lvl4pPr marL="525587" indent="-171074">
              <a:buFont typeface="Arial" panose="020B0604020202020204" pitchFamily="34" charset="0"/>
              <a:buChar char="•"/>
              <a:tabLst>
                <a:tab pos="1207816" algn="ctr"/>
              </a:tabLst>
              <a:defRPr sz="1298" baseline="0"/>
            </a:lvl4pPr>
            <a:lvl5pPr marL="525587" indent="-171074">
              <a:buFont typeface="Arial" panose="020B0604020202020204" pitchFamily="34" charset="0"/>
              <a:buChar char="•"/>
              <a:tabLst>
                <a:tab pos="1207816" algn="ctr"/>
              </a:tabLst>
              <a:defRPr sz="1298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861" marR="0" lvl="1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026" marR="0" lvl="2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026" marR="0" lvl="2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03" indent="0" algn="ctr">
              <a:buNone/>
              <a:defRPr sz="2597"/>
            </a:lvl2pPr>
            <a:lvl3pPr marL="1187204" indent="0" algn="ctr">
              <a:buNone/>
              <a:defRPr sz="2337"/>
            </a:lvl3pPr>
            <a:lvl4pPr marL="1780808" indent="0" algn="ctr">
              <a:buNone/>
              <a:defRPr sz="2078"/>
            </a:lvl4pPr>
            <a:lvl5pPr marL="2374410" indent="0" algn="ctr">
              <a:buNone/>
              <a:defRPr sz="2078"/>
            </a:lvl5pPr>
            <a:lvl6pPr marL="2968012" indent="0" algn="ctr">
              <a:buNone/>
              <a:defRPr sz="2078"/>
            </a:lvl6pPr>
            <a:lvl7pPr marL="3561615" indent="0" algn="ctr">
              <a:buNone/>
              <a:defRPr sz="2078"/>
            </a:lvl7pPr>
            <a:lvl8pPr marL="4155218" indent="0" algn="ctr">
              <a:buNone/>
              <a:defRPr sz="2078"/>
            </a:lvl8pPr>
            <a:lvl9pPr marL="4748820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4744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7A62-8A39-4923-9C0C-D177EDCAC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E4FE6-250C-4C2F-A180-9E5E6904D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B2ED-EADD-46C9-94BB-B774F38C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A5605-4386-4AC3-A6A9-27A2CC4D60DE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D59FA-507A-459D-96A0-FE0DE94A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B092E-430B-4BBE-8676-782D6550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2103C-FB07-4593-B530-7B2222758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1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9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626" indent="-39834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626" indent="-398343">
              <a:buFont typeface="+mj-lt"/>
              <a:buAutoNum type="arabicPeriod"/>
              <a:defRPr/>
            </a:lvl2pPr>
            <a:lvl3pPr marL="14283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3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3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en-US" altLang="zh-CN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7" y="630374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9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99792456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2755395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9008" y="170345"/>
            <a:ext cx="11235233" cy="935887"/>
          </a:xfr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7044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667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426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4021" y="341790"/>
            <a:ext cx="10848799" cy="615553"/>
          </a:xfrm>
          <a:prstGeom prst="rect">
            <a:avLst/>
          </a:prstGeom>
        </p:spPr>
        <p:txBody>
          <a:bodyPr lIns="68557" tIns="0" rIns="0" bIns="0"/>
          <a:lstStyle>
            <a:lvl1pPr>
              <a:defRPr lang="zh-CN" altLang="en-US" sz="4000" b="0" kern="1200" dirty="0">
                <a:solidFill>
                  <a:srgbClr val="004D86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824021" y="6489702"/>
            <a:ext cx="2097360" cy="455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801422" eaLnBrk="0" hangingPunct="0">
              <a:lnSpc>
                <a:spcPct val="85000"/>
              </a:lnSpc>
            </a:pPr>
            <a:fld id="{6E2B6D97-5D44-430E-A027-85C3264F843E}" type="slidenum">
              <a:rPr lang="de-DE" altLang="zh-CN" sz="934" smtClean="0">
                <a:solidFill>
                  <a:srgbClr val="000000"/>
                </a:solidFill>
                <a:ea typeface="ＭＳ Ｐゴシック" pitchFamily="34" charset="-128"/>
                <a:cs typeface="Arial" pitchFamily="34" charset="0"/>
              </a:rPr>
              <a:pPr defTabSz="801422" eaLnBrk="0" hangingPunct="0">
                <a:lnSpc>
                  <a:spcPct val="85000"/>
                </a:lnSpc>
              </a:pPr>
              <a:t>‹#›</a:t>
            </a:fld>
            <a:endParaRPr lang="en-GB" altLang="zh-CN" sz="934" dirty="0">
              <a:solidFill>
                <a:srgbClr val="000000"/>
              </a:solidFill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627423"/>
      </p:ext>
    </p:extLst>
  </p:cSld>
  <p:clrMapOvr>
    <a:masterClrMapping/>
  </p:clrMapOvr>
  <p:transition spd="med" advClick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8850" y="727546"/>
            <a:ext cx="11346556" cy="615449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12189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199" baseline="0">
                <a:solidFill>
                  <a:srgbClr val="404040"/>
                </a:solidFill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 marL="609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5343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4" y="2646690"/>
            <a:ext cx="11346556" cy="15646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999" baseline="0">
                <a:solidFill>
                  <a:schemeClr val="bg1"/>
                </a:solidFill>
                <a:latin typeface="+mn-ea"/>
                <a:ea typeface="+mn-ea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4479379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 bwMode="auto">
          <a:xfrm>
            <a:off x="922297" y="115414"/>
            <a:ext cx="10977404" cy="133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 algn="l" rtl="0" eaLnBrk="1" fontAlgn="base" hangingPunct="1">
              <a:lnSpc>
                <a:spcPts val="3999"/>
              </a:lnSpc>
              <a:spcBef>
                <a:spcPct val="0"/>
              </a:spcBef>
              <a:spcAft>
                <a:spcPct val="0"/>
              </a:spcAft>
              <a:defRPr lang="zh-CN" altLang="en-US" sz="3199" b="1" kern="1200" noProof="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marL="0" marR="0" lvl="0" indent="0" algn="l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99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单击此处编辑母版标题样式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6282030" y="6520536"/>
            <a:ext cx="1803634" cy="27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914217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zh-CN" sz="1200" dirty="0">
                <a:solidFill>
                  <a:srgbClr val="FFFFFF">
                    <a:lumMod val="85000"/>
                  </a:srgb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fld id="{A4C34F22-587E-473D-9099-376F4F013A30}" type="slidenum">
              <a:rPr lang="de-DE" altLang="zh-CN" sz="1200">
                <a:solidFill>
                  <a:srgbClr val="FFFFFF">
                    <a:lumMod val="85000"/>
                  </a:srgbClr>
                </a:solidFill>
                <a:latin typeface="微软雅黑" pitchFamily="34" charset="-122"/>
                <a:ea typeface="微软雅黑" pitchFamily="34" charset="-122"/>
              </a:rPr>
              <a:pPr defTabSz="914217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altLang="zh-CN" sz="1200" dirty="0">
              <a:solidFill>
                <a:srgbClr val="FFFFFF">
                  <a:lumMod val="8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21"/>
          <p:cNvSpPr>
            <a:spLocks noChangeArrowheads="1"/>
          </p:cNvSpPr>
          <p:nvPr userDrawn="1"/>
        </p:nvSpPr>
        <p:spPr bwMode="auto">
          <a:xfrm>
            <a:off x="5841585" y="6478332"/>
            <a:ext cx="520356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63" tIns="0" rIns="80063" bIns="0">
            <a:spAutoFit/>
          </a:bodyPr>
          <a:lstStyle/>
          <a:p>
            <a:pPr defTabSz="80152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FFFFFF">
                    <a:lumMod val="85000"/>
                  </a:srgbClr>
                </a:solidFill>
                <a:latin typeface="微软雅黑" pitchFamily="34" charset="-122"/>
                <a:ea typeface="微软雅黑" pitchFamily="34" charset="-122"/>
              </a:rPr>
              <a:t>Page</a:t>
            </a: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10054878" y="6438900"/>
            <a:ext cx="1693585" cy="2655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62" tIns="40029" rIns="80062" bIns="40029">
            <a:spAutoFit/>
          </a:bodyPr>
          <a:lstStyle/>
          <a:p>
            <a:pPr defTabSz="80141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FFFFFF">
                    <a:lumMod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Huawei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499630160"/>
      </p:ext>
    </p:extLst>
  </p:cSld>
  <p:clrMapOvr>
    <a:masterClrMapping/>
  </p:clrMapOvr>
  <p:transition advClick="0" advTm="8000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369038"/>
            <a:ext cx="10180910" cy="745784"/>
          </a:xfrm>
          <a:prstGeom prst="rect">
            <a:avLst/>
          </a:prstGeom>
        </p:spPr>
        <p:txBody>
          <a:bodyPr lIns="121944" tIns="60972" rIns="121944" bIns="60972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5121806"/>
      </p:ext>
    </p:extLst>
  </p:cSld>
  <p:clrMapOvr>
    <a:masterClrMapping/>
  </p:clrMapOvr>
  <p:transition advClick="0" advTm="8000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3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999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416368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1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2" name="对象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1"/>
          <p:cNvSpPr>
            <a:spLocks noGrp="1"/>
          </p:cNvSpPr>
          <p:nvPr>
            <p:ph type="ctrTitle" hasCustomPrompt="1"/>
          </p:nvPr>
        </p:nvSpPr>
        <p:spPr>
          <a:xfrm>
            <a:off x="48921" y="45407"/>
            <a:ext cx="12147842" cy="528230"/>
          </a:xfrm>
        </p:spPr>
        <p:txBody>
          <a:bodyPr>
            <a:noAutofit/>
          </a:bodyPr>
          <a:lstStyle>
            <a:lvl1pPr marL="0" marR="0" indent="0" algn="l" defTabSz="12190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altLang="zh-CN" sz="2200" b="1" kern="0" dirty="0" smtClean="0">
                <a:solidFill>
                  <a:srgbClr val="990000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r>
              <a:rPr lang="en-US" altLang="zh-CN" dirty="0"/>
              <a:t>Headline in </a:t>
            </a:r>
            <a:r>
              <a:rPr lang="en-US" altLang="zh-CN" dirty="0" err="1"/>
              <a:t>Yahei</a:t>
            </a:r>
            <a:r>
              <a:rPr lang="en-US" altLang="zh-CN" dirty="0"/>
              <a:t> Bold 22 point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687205" y="6491818"/>
            <a:ext cx="822356" cy="366182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altLang="zh-CN" dirty="0">
                <a:solidFill>
                  <a:prstClr val="black"/>
                </a:solidFill>
              </a:rPr>
              <a:t>Page </a:t>
            </a:r>
            <a:fld id="{B2563A90-55EF-4D2C-B954-EDF55F24A661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05715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334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113AF745-5470-4D0B-8A1B-67619EDD57C3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2" y="-1168"/>
            <a:ext cx="12196571" cy="685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10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4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671" indent="0" algn="ctr">
              <a:buNone/>
              <a:defRPr sz="2593"/>
            </a:lvl2pPr>
            <a:lvl3pPr marL="1185334" indent="0" algn="ctr">
              <a:buNone/>
              <a:defRPr sz="2333"/>
            </a:lvl3pPr>
            <a:lvl4pPr marL="1778005" indent="0" algn="ctr">
              <a:buNone/>
              <a:defRPr sz="2075"/>
            </a:lvl4pPr>
            <a:lvl5pPr marL="2370674" indent="0" algn="ctr">
              <a:buNone/>
              <a:defRPr sz="2075"/>
            </a:lvl5pPr>
            <a:lvl6pPr marL="2963341" indent="0" algn="ctr">
              <a:buNone/>
              <a:defRPr sz="2075"/>
            </a:lvl6pPr>
            <a:lvl7pPr marL="3556008" indent="0" algn="ctr">
              <a:buNone/>
              <a:defRPr sz="2075"/>
            </a:lvl7pPr>
            <a:lvl8pPr marL="4148678" indent="0" algn="ctr">
              <a:buNone/>
              <a:defRPr sz="2075"/>
            </a:lvl8pPr>
            <a:lvl9pPr marL="474134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4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915" algn="ctr"/>
              </a:tabLst>
              <a:defRPr sz="17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2pPr>
            <a:lvl3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3pPr>
            <a:lvl4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4pPr>
            <a:lvl5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1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68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1">
            <a:extLst>
              <a:ext uri="{FF2B5EF4-FFF2-40B4-BE49-F238E27FC236}">
                <a16:creationId xmlns:a16="http://schemas.microsoft.com/office/drawing/2014/main" id="{060DDBC9-3C3B-475A-BD56-D6DBFAA588BD}"/>
              </a:ext>
            </a:extLst>
          </p:cNvPr>
          <p:cNvCxnSpPr>
            <a:cxnSpLocks/>
          </p:cNvCxnSpPr>
          <p:nvPr userDrawn="1"/>
        </p:nvCxnSpPr>
        <p:spPr>
          <a:xfrm>
            <a:off x="447232" y="794468"/>
            <a:ext cx="11495819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100000">
                  <a:srgbClr val="E52B8A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>
            <a:extLst>
              <a:ext uri="{FF2B5EF4-FFF2-40B4-BE49-F238E27FC236}">
                <a16:creationId xmlns:a16="http://schemas.microsoft.com/office/drawing/2014/main" id="{75BEEC3A-1D89-4FE3-87E6-B00E1867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32" y="284887"/>
            <a:ext cx="10520363" cy="509582"/>
          </a:xfrm>
          <a:prstGeom prst="rect">
            <a:avLst/>
          </a:prstGeom>
        </p:spPr>
        <p:txBody>
          <a:bodyPr/>
          <a:lstStyle>
            <a:lvl1pPr>
              <a:defRPr lang="en-US" sz="2400" b="1" kern="1200" baseline="0" dirty="0">
                <a:solidFill>
                  <a:srgbClr val="E1007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3868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5560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0550" y="325506"/>
            <a:ext cx="10740640" cy="47655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90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  <p15:guide id="2" pos="372">
          <p15:clr>
            <a:srgbClr val="FBAE40"/>
          </p15:clr>
        </p15:guide>
        <p15:guide id="3" pos="7334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5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322" marR="0" indent="-285636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+mn-lt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+mn-lt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7016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  <p:pic>
        <p:nvPicPr>
          <p:cNvPr id="4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</a:t>
            </a: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07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94" y="650875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95679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739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2099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986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4178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1735109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92374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0817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65049A-7693-0341-8E5F-981070F13F6D}"/>
              </a:ext>
            </a:extLst>
          </p:cNvPr>
          <p:cNvSpPr txBox="1"/>
          <p:nvPr userDrawn="1"/>
        </p:nvSpPr>
        <p:spPr>
          <a:xfrm>
            <a:off x="1095467" y="6331936"/>
            <a:ext cx="1463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26AA77-8FA3-FE48-B15D-4A2B254BD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249" y="6207861"/>
            <a:ext cx="1736214" cy="371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44C6BB-9D73-F049-BE77-E3773E7DD7DB}"/>
              </a:ext>
            </a:extLst>
          </p:cNvPr>
          <p:cNvSpPr txBox="1"/>
          <p:nvPr userDrawn="1"/>
        </p:nvSpPr>
        <p:spPr>
          <a:xfrm>
            <a:off x="734133" y="6377803"/>
            <a:ext cx="4997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  <a:defRPr/>
            </a:pPr>
            <a:fld id="{C3837181-38C6-AD4F-B8BA-B444770388BB}" type="slidenum">
              <a:rPr lang="en-US" sz="10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defTabSz="914011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826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19"/>
              </a:lnSpc>
              <a:spcBef>
                <a:spcPts val="0"/>
              </a:spcBef>
              <a:buNone/>
              <a:defRPr sz="3199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09341" indent="0" algn="ctr">
              <a:buNone/>
              <a:defRPr sz="2666"/>
            </a:lvl2pPr>
            <a:lvl3pPr marL="1218682" indent="0" algn="ctr">
              <a:buNone/>
              <a:defRPr sz="2399"/>
            </a:lvl3pPr>
            <a:lvl4pPr marL="1828022" indent="0" algn="ctr">
              <a:buNone/>
              <a:defRPr sz="2132"/>
            </a:lvl4pPr>
            <a:lvl5pPr marL="2437364" indent="0" algn="ctr">
              <a:buNone/>
              <a:defRPr sz="2132"/>
            </a:lvl5pPr>
            <a:lvl6pPr marL="3046705" indent="0" algn="ctr">
              <a:buNone/>
              <a:defRPr sz="2132"/>
            </a:lvl6pPr>
            <a:lvl7pPr marL="3656046" indent="0" algn="ctr">
              <a:buNone/>
              <a:defRPr sz="2132"/>
            </a:lvl7pPr>
            <a:lvl8pPr marL="4265386" indent="0" algn="ctr">
              <a:buNone/>
              <a:defRPr sz="2132"/>
            </a:lvl8pPr>
            <a:lvl9pPr marL="4874727" indent="0" algn="ctr">
              <a:buNone/>
              <a:defRPr sz="2132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25773"/>
            <a:ext cx="10733557" cy="4278687"/>
          </a:xfrm>
          <a:prstGeom prst="rect">
            <a:avLst/>
          </a:prstGeom>
        </p:spPr>
        <p:txBody>
          <a:bodyPr lIns="0" tIns="0" rIns="0" bIns="0"/>
          <a:lstStyle>
            <a:lvl1pPr marL="12695" indent="0">
              <a:lnSpc>
                <a:spcPts val="1599"/>
              </a:lnSpc>
              <a:buFontTx/>
              <a:buNone/>
              <a:tabLst>
                <a:tab pos="1239840" algn="ctr"/>
              </a:tabLst>
              <a:defRPr sz="1866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2pPr>
            <a:lvl3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3pPr>
            <a:lvl4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4pPr>
            <a:lvl5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2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C0FA09B-DE65-C346-B88F-A44AD87A0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5775" y="6292177"/>
            <a:ext cx="43307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11"/>
            <a:fld id="{C3837181-38C6-AD4F-B8BA-B444770388BB}" type="slidenum">
              <a:rPr lang="en-US" smtClean="0"/>
              <a:pPr defTabSz="914011"/>
              <a:t>‹#›</a:t>
            </a:fld>
            <a:endParaRPr lang="en-US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165049A-7693-0341-8E5F-981070F13F6D}"/>
              </a:ext>
            </a:extLst>
          </p:cNvPr>
          <p:cNvSpPr txBox="1"/>
          <p:nvPr userDrawn="1"/>
        </p:nvSpPr>
        <p:spPr>
          <a:xfrm>
            <a:off x="1095467" y="6339151"/>
            <a:ext cx="1463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Confidential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2126AA77-8FA3-FE48-B15D-4A2B254BD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249" y="6207861"/>
            <a:ext cx="1736214" cy="371900"/>
          </a:xfrm>
          <a:prstGeom prst="rect">
            <a:avLst/>
          </a:prstGeom>
        </p:spPr>
      </p:pic>
      <p:sp>
        <p:nvSpPr>
          <p:cNvPr id="13" name="标题 2"/>
          <p:cNvSpPr txBox="1">
            <a:spLocks/>
          </p:cNvSpPr>
          <p:nvPr userDrawn="1"/>
        </p:nvSpPr>
        <p:spPr>
          <a:xfrm>
            <a:off x="612084" y="1332617"/>
            <a:ext cx="11001357" cy="46319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br>
              <a:rPr lang="zh-CN" altLang="en-US" sz="1866" dirty="0">
                <a:solidFill>
                  <a:srgbClr val="1D1D1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866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826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19"/>
              </a:lnSpc>
              <a:spcBef>
                <a:spcPts val="0"/>
              </a:spcBef>
              <a:buNone/>
              <a:defRPr sz="3199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09341" indent="0" algn="ctr">
              <a:buNone/>
              <a:defRPr sz="2666"/>
            </a:lvl2pPr>
            <a:lvl3pPr marL="1218682" indent="0" algn="ctr">
              <a:buNone/>
              <a:defRPr sz="2399"/>
            </a:lvl3pPr>
            <a:lvl4pPr marL="1828022" indent="0" algn="ctr">
              <a:buNone/>
              <a:defRPr sz="2132"/>
            </a:lvl4pPr>
            <a:lvl5pPr marL="2437364" indent="0" algn="ctr">
              <a:buNone/>
              <a:defRPr sz="2132"/>
            </a:lvl5pPr>
            <a:lvl6pPr marL="3046705" indent="0" algn="ctr">
              <a:buNone/>
              <a:defRPr sz="2132"/>
            </a:lvl6pPr>
            <a:lvl7pPr marL="3656046" indent="0" algn="ctr">
              <a:buNone/>
              <a:defRPr sz="2132"/>
            </a:lvl7pPr>
            <a:lvl8pPr marL="4265386" indent="0" algn="ctr">
              <a:buNone/>
              <a:defRPr sz="2132"/>
            </a:lvl8pPr>
            <a:lvl9pPr marL="4874727" indent="0" algn="ctr">
              <a:buNone/>
              <a:defRPr sz="2132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25773"/>
            <a:ext cx="10733557" cy="4278687"/>
          </a:xfrm>
          <a:prstGeom prst="rect">
            <a:avLst/>
          </a:prstGeom>
        </p:spPr>
        <p:txBody>
          <a:bodyPr lIns="0" tIns="0" rIns="0" bIns="0"/>
          <a:lstStyle>
            <a:lvl1pPr marL="12695" indent="0">
              <a:lnSpc>
                <a:spcPts val="1599"/>
              </a:lnSpc>
              <a:buFontTx/>
              <a:buNone/>
              <a:tabLst>
                <a:tab pos="1239840" algn="ctr"/>
              </a:tabLst>
              <a:defRPr sz="1866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2pPr>
            <a:lvl3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3pPr>
            <a:lvl4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4pPr>
            <a:lvl5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67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C0FA09B-DE65-C346-B88F-A44AD87A0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5775" y="6292177"/>
            <a:ext cx="43307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11"/>
            <a:fld id="{C3837181-38C6-AD4F-B8BA-B444770388BB}" type="slidenum">
              <a:rPr lang="en-US" smtClean="0"/>
              <a:pPr defTabSz="914011"/>
              <a:t>‹#›</a:t>
            </a:fld>
            <a:endParaRPr lang="en-US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165049A-7693-0341-8E5F-981070F13F6D}"/>
              </a:ext>
            </a:extLst>
          </p:cNvPr>
          <p:cNvSpPr txBox="1"/>
          <p:nvPr userDrawn="1"/>
        </p:nvSpPr>
        <p:spPr>
          <a:xfrm>
            <a:off x="1095467" y="6339151"/>
            <a:ext cx="1463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Confidential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2126AA77-8FA3-FE48-B15D-4A2B254BD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249" y="6207861"/>
            <a:ext cx="1736214" cy="3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62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6C2637-17F8-9649-9BEF-2DF26B3D3F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88" y="-4718"/>
            <a:ext cx="12207350" cy="54403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2309" y="830698"/>
            <a:ext cx="6559809" cy="69025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99" b="0" i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72994" y="1875523"/>
            <a:ext cx="2126867" cy="11782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ts val="2026"/>
              </a:lnSpc>
              <a:buNone/>
              <a:defRPr sz="1466" b="0" i="0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006" indent="0" algn="ctr">
              <a:buNone/>
              <a:defRPr sz="1999"/>
            </a:lvl2pPr>
            <a:lvl3pPr marL="914011" indent="0" algn="ctr">
              <a:buNone/>
              <a:defRPr sz="1799"/>
            </a:lvl3pPr>
            <a:lvl4pPr marL="1371017" indent="0" algn="ctr">
              <a:buNone/>
              <a:defRPr sz="1599"/>
            </a:lvl4pPr>
            <a:lvl5pPr marL="1828022" indent="0" algn="ctr">
              <a:buNone/>
              <a:defRPr sz="1599"/>
            </a:lvl5pPr>
            <a:lvl6pPr marL="2285029" indent="0" algn="ctr">
              <a:buNone/>
              <a:defRPr sz="1599"/>
            </a:lvl6pPr>
            <a:lvl7pPr marL="2742034" indent="0" algn="ctr">
              <a:buNone/>
              <a:defRPr sz="1599"/>
            </a:lvl7pPr>
            <a:lvl8pPr marL="3199040" indent="0" algn="ctr">
              <a:buNone/>
              <a:defRPr sz="1599"/>
            </a:lvl8pPr>
            <a:lvl9pPr marL="3656046" indent="0" algn="ctr">
              <a:buNone/>
              <a:defRPr sz="1599"/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26D888A-CCA6-9544-BFB5-610B5D6817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92417" y="6193703"/>
            <a:ext cx="1816398" cy="2424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000" baseline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7209EE-7CC3-0E48-BE37-756B988FD3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647" y="1638803"/>
            <a:ext cx="677598" cy="677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3BFDB5-1910-FE4D-9647-B28E12BE73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84" y="5961817"/>
            <a:ext cx="2257349" cy="48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46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90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016"/>
            <a:r>
              <a:rPr lang="en-US" sz="4792" dirty="0">
                <a:solidFill>
                  <a:prstClr val="black"/>
                </a:solidFill>
              </a:rPr>
              <a:t>Thank you.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61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微软雅黑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微软雅黑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微软雅黑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微软雅黑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微软雅黑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微软雅黑"/>
            </a:endParaRP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80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7"/>
              </a:lnSpc>
              <a:spcBef>
                <a:spcPts val="0"/>
              </a:spcBef>
            </a:pPr>
            <a:r>
              <a:rPr kumimoji="1" lang="zh-CN" altLang="en-US" sz="1296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296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296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6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0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微软雅黑"/>
              <a:ea typeface="Microsoft YaHei" charset="-122"/>
              <a:cs typeface="Microsoft YaHei" charset="-122"/>
            </a:endParaRPr>
          </a:p>
        </p:txBody>
      </p:sp>
      <p:pic>
        <p:nvPicPr>
          <p:cNvPr id="7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220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85" y="140432"/>
            <a:ext cx="11771390" cy="498610"/>
          </a:xfrm>
          <a:prstGeom prst="rect">
            <a:avLst/>
          </a:prstGeom>
        </p:spPr>
        <p:txBody>
          <a:bodyPr lIns="91412" tIns="45706" rIns="91412" bIns="45706" anchor="ctr"/>
          <a:lstStyle>
            <a:lvl1pPr algn="l">
              <a:defRPr sz="2398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46985" y="815690"/>
            <a:ext cx="11771390" cy="5460423"/>
          </a:xfrm>
          <a:prstGeom prst="rect">
            <a:avLst/>
          </a:prstGeom>
        </p:spPr>
        <p:txBody>
          <a:bodyPr lIns="91412" tIns="45706" rIns="91412" bIns="45706"/>
          <a:lstStyle>
            <a:lvl1pPr>
              <a:defRPr sz="1798">
                <a:solidFill>
                  <a:schemeClr val="tx1"/>
                </a:solidFill>
              </a:defRPr>
            </a:lvl1pPr>
            <a:lvl2pPr>
              <a:defRPr sz="1599">
                <a:solidFill>
                  <a:schemeClr val="tx1"/>
                </a:solidFill>
              </a:defRPr>
            </a:lvl2pPr>
            <a:lvl3pPr>
              <a:defRPr sz="1798">
                <a:solidFill>
                  <a:schemeClr val="tx1"/>
                </a:solidFill>
              </a:defRPr>
            </a:lvl3pPr>
            <a:lvl4pPr>
              <a:defRPr sz="1599">
                <a:solidFill>
                  <a:schemeClr val="tx1"/>
                </a:solidFill>
              </a:defRPr>
            </a:lvl4pPr>
            <a:lvl5pPr>
              <a:defRPr sz="15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8745448"/>
      </p:ext>
    </p:extLst>
  </p:cSld>
  <p:clrMapOvr>
    <a:masterClrMapping/>
  </p:clrMapOvr>
  <p:transition>
    <p:fade thruBlk="1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5003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835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283254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327898"/>
      </p:ext>
    </p:extLst>
  </p:cSld>
  <p:clrMapOvr>
    <a:masterClrMapping/>
  </p:clrMapOvr>
  <p:transition spd="slow" advTm="3000">
    <p:wheel spokes="1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7" y="707688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399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3635" dirty="0">
              <a:solidFill>
                <a:schemeClr val="tx1"/>
              </a:solidFill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7793" y="1349255"/>
            <a:ext cx="2009322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44EC82C-525F-C34C-AB0C-24955CEA0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7909" y="1900240"/>
            <a:ext cx="10122060" cy="3013725"/>
          </a:xfrm>
          <a:prstGeom prst="rect">
            <a:avLst/>
          </a:prstGeom>
        </p:spPr>
        <p:txBody>
          <a:bodyPr lIns="0" tIns="0" rIns="0" bIns="0"/>
          <a:lstStyle>
            <a:lvl1pPr marL="412585" indent="-398304">
              <a:lnSpc>
                <a:spcPts val="2139"/>
              </a:lnSpc>
              <a:buFont typeface="+mj-lt"/>
              <a:buAutoNum type="arabicPeriod"/>
              <a:tabLst/>
              <a:defRPr sz="2199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412585" indent="-398304">
              <a:buFont typeface="+mj-lt"/>
              <a:buAutoNum type="arabicPeriod"/>
              <a:tabLst/>
              <a:defRPr/>
            </a:lvl2pPr>
            <a:lvl3pPr marL="14281" indent="0">
              <a:buFont typeface="+mj-lt"/>
              <a:buNone/>
              <a:tabLst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1" indent="0">
              <a:buFont typeface="+mj-lt"/>
              <a:buNone/>
              <a:tabLst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1" indent="0">
              <a:buFont typeface="+mj-lt"/>
              <a:buNone/>
              <a:tabLst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59018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31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6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7962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6"/>
              </a:lnSpc>
              <a:spcBef>
                <a:spcPts val="0"/>
              </a:spcBef>
              <a:buNone/>
              <a:defRPr sz="3196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951" indent="0" algn="ctr">
              <a:buNone/>
              <a:defRPr sz="2594"/>
            </a:lvl2pPr>
            <a:lvl3pPr marL="1185898" indent="0" algn="ctr">
              <a:buNone/>
              <a:defRPr sz="2334"/>
            </a:lvl3pPr>
            <a:lvl4pPr marL="1778850" indent="0" algn="ctr">
              <a:buNone/>
              <a:defRPr sz="2075"/>
            </a:lvl4pPr>
            <a:lvl5pPr marL="2371800" indent="0" algn="ctr">
              <a:buNone/>
              <a:defRPr sz="2075"/>
            </a:lvl5pPr>
            <a:lvl6pPr marL="2964749" indent="0" algn="ctr">
              <a:buNone/>
              <a:defRPr sz="2075"/>
            </a:lvl6pPr>
            <a:lvl7pPr marL="3557698" indent="0" algn="ctr">
              <a:buNone/>
              <a:defRPr sz="2075"/>
            </a:lvl7pPr>
            <a:lvl8pPr marL="4150649" indent="0" algn="ctr">
              <a:buNone/>
              <a:defRPr sz="2075"/>
            </a:lvl8pPr>
            <a:lvl9pPr marL="4743598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5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488" algn="ctr"/>
              </a:tabLst>
              <a:defRPr sz="1796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2pPr>
            <a:lvl3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77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464" y="548062"/>
            <a:ext cx="11165722" cy="960671"/>
          </a:xfrm>
          <a:prstGeom prst="rect">
            <a:avLst/>
          </a:prstGeom>
        </p:spPr>
        <p:txBody>
          <a:bodyPr lIns="47897" tIns="47897" rIns="47897" bIns="47897" anchor="ctr"/>
          <a:lstStyle>
            <a:lvl1pPr algn="l">
              <a:defRPr sz="3198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42208317"/>
      </p:ext>
    </p:extLst>
  </p:cSld>
  <p:clrMapOvr>
    <a:masterClrMapping/>
  </p:clrMapOvr>
  <p:transition advClick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61"/>
            <a:ext cx="2744272" cy="365125"/>
          </a:xfrm>
          <a:prstGeom prst="rect">
            <a:avLst/>
          </a:prstGeom>
        </p:spPr>
        <p:txBody>
          <a:bodyPr/>
          <a:lstStyle/>
          <a:p>
            <a:fld id="{DDC89C76-13B8-4120-B03E-AB32FC260150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6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61"/>
            <a:ext cx="2744272" cy="365125"/>
          </a:xfrm>
          <a:prstGeom prst="rect">
            <a:avLst/>
          </a:prstGeom>
        </p:spPr>
        <p:txBody>
          <a:bodyPr/>
          <a:lstStyle/>
          <a:p>
            <a:fld id="{BEB45B5D-42D8-43A6-ADAB-6BC601A12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8963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366" indent="0" algn="ctr">
              <a:buNone/>
              <a:defRPr sz="2596"/>
            </a:lvl2pPr>
            <a:lvl3pPr marL="1186729" indent="0" algn="ctr">
              <a:buNone/>
              <a:defRPr sz="2336"/>
            </a:lvl3pPr>
            <a:lvl4pPr marL="1780096" indent="0" algn="ctr">
              <a:buNone/>
              <a:defRPr sz="2077"/>
            </a:lvl4pPr>
            <a:lvl5pPr marL="2373461" indent="0" algn="ctr">
              <a:buNone/>
              <a:defRPr sz="2077"/>
            </a:lvl5pPr>
            <a:lvl6pPr marL="2966825" indent="0" algn="ctr">
              <a:buNone/>
              <a:defRPr sz="2077"/>
            </a:lvl6pPr>
            <a:lvl7pPr marL="3560190" indent="0" algn="ctr">
              <a:buNone/>
              <a:defRPr sz="2077"/>
            </a:lvl7pPr>
            <a:lvl8pPr marL="4153556" indent="0" algn="ctr">
              <a:buNone/>
              <a:defRPr sz="2077"/>
            </a:lvl8pPr>
            <a:lvl9pPr marL="4746920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26" marR="0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29" marR="0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001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587" marR="0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001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377" indent="-171006">
              <a:buFont typeface="Arial" panose="020B0604020202020204" pitchFamily="34" charset="0"/>
              <a:buChar char="•"/>
              <a:tabLst>
                <a:tab pos="1207333" algn="ctr"/>
              </a:tabLst>
              <a:defRPr sz="1297" baseline="0"/>
            </a:lvl4pPr>
            <a:lvl5pPr marL="525377" indent="-171006">
              <a:buFont typeface="Arial" panose="020B0604020202020204" pitchFamily="34" charset="0"/>
              <a:buChar char="•"/>
              <a:tabLst>
                <a:tab pos="1207333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29" marR="0" lvl="1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587" marR="0" lvl="2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587" marR="0" lvl="2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589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3487-BD2A-46BF-9FF4-3F2CC66E1AB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5C2BA-E203-4661-ABE7-749B371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0201"/>
      </p:ext>
    </p:extLst>
  </p:cSld>
  <p:clrMapOvr>
    <a:masterClrMapping/>
  </p:clrMapOvr>
  <p:hf sldNum="0" hdr="0" ft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+mn-lt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+mn-lt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402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6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5" indent="0" algn="ctr">
              <a:buNone/>
              <a:defRPr sz="2077"/>
            </a:lvl4pPr>
            <a:lvl5pPr marL="2373697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9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6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4pPr>
            <a:lvl5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6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6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4638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997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32910834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0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Arial" panose="020B060402020202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3596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3348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707688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3636" dirty="0">
              <a:solidFill>
                <a:schemeClr val="tx1"/>
              </a:solidFill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7792" y="1349255"/>
            <a:ext cx="2009322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44EC82C-525F-C34C-AB0C-24955CEA0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7908" y="1900238"/>
            <a:ext cx="10122060" cy="3013725"/>
          </a:xfrm>
          <a:prstGeom prst="rect">
            <a:avLst/>
          </a:prstGeom>
        </p:spPr>
        <p:txBody>
          <a:bodyPr lIns="0" tIns="0" rIns="0" bIns="0"/>
          <a:lstStyle>
            <a:lvl1pPr marL="412750" indent="-398463">
              <a:lnSpc>
                <a:spcPts val="214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16338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307" y="336813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07" tIns="45703" rIns="91407" bIns="45703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2794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9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9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2527754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731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397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7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258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39" algn="ctr"/>
              </a:tabLst>
              <a:defRPr sz="1296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630" marR="0" lvl="1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5589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7075" y="471703"/>
            <a:ext cx="10458982" cy="389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221" tIns="45611" rIns="91221" bIns="45611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  <p:extLst>
      <p:ext uri="{BB962C8B-B14F-4D97-AF65-F5344CB8AC3E}">
        <p14:creationId xmlns:p14="http://schemas.microsoft.com/office/powerpoint/2010/main" val="155077952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章节页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405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5354559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322" marR="0" indent="-285636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+mn-lt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+mn-lt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1265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94" y="430217"/>
            <a:ext cx="10331250" cy="871537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870294" y="1641481"/>
            <a:ext cx="10576880" cy="41941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724215825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8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125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8"/>
            <a:ext cx="10740640" cy="41242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>
              <a:lnSpc>
                <a:spcPts val="3428"/>
              </a:lnSpc>
              <a:spcBef>
                <a:spcPct val="0"/>
              </a:spcBef>
              <a:buNone/>
              <a:defRPr sz="2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32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93" y="261382"/>
            <a:ext cx="10520145" cy="832228"/>
          </a:xfrm>
          <a:prstGeom prst="rect">
            <a:avLst/>
          </a:prstGeom>
        </p:spPr>
        <p:txBody>
          <a:bodyPr anchor="ctr" anchorCtr="0"/>
          <a:lstStyle>
            <a:lvl1pPr>
              <a:defRPr sz="2597">
                <a:solidFill>
                  <a:schemeClr val="bg1"/>
                </a:solidFill>
                <a:latin typeface="+mn-lt"/>
                <a:cs typeface="STC Forward Medium" panose="00000600000000000000" pitchFamily="2" charset="-7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Rectangle 86"/>
          <p:cNvSpPr>
            <a:spLocks noChangeArrowheads="1"/>
          </p:cNvSpPr>
          <p:nvPr userDrawn="1"/>
        </p:nvSpPr>
        <p:spPr bwMode="auto">
          <a:xfrm>
            <a:off x="5878310" y="6525174"/>
            <a:ext cx="905762" cy="352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782996" eaLnBrk="0" hangingPunct="0">
              <a:lnSpc>
                <a:spcPct val="85000"/>
              </a:lnSpc>
            </a:pPr>
            <a:endParaRPr lang="en-GB" sz="1000" dirty="0">
              <a:solidFill>
                <a:prstClr val="white"/>
              </a:solidFill>
              <a:latin typeface="Calibri" panose="020F0502020204030204"/>
              <a:cs typeface="Arial" pitchFamily="34" charset="0"/>
            </a:endParaRPr>
          </a:p>
          <a:p>
            <a:pPr algn="ctr" defTabSz="782996" eaLnBrk="0" hangingPunct="0">
              <a:lnSpc>
                <a:spcPct val="85000"/>
              </a:lnSpc>
            </a:pPr>
            <a:r>
              <a:rPr lang="en-GB" sz="100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Page </a:t>
            </a:r>
            <a:fld id="{CDCA9EBD-D227-44D8-9439-063ECA9F05F1}" type="slidenum">
              <a:rPr lang="en-GB" sz="1000" smtClean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pPr algn="ctr" defTabSz="782996" eaLnBrk="0" hangingPunct="0">
                <a:lnSpc>
                  <a:spcPct val="85000"/>
                </a:lnSpc>
              </a:pPr>
              <a:t>‹#›</a:t>
            </a:fld>
            <a:endParaRPr lang="en-GB" sz="1000" dirty="0">
              <a:solidFill>
                <a:prstClr val="white"/>
              </a:solidFill>
              <a:latin typeface="Calibri" panose="020F0502020204030204"/>
              <a:cs typeface="Arial" pitchFamily="34" charset="0"/>
            </a:endParaRPr>
          </a:p>
        </p:txBody>
      </p:sp>
      <p:pic>
        <p:nvPicPr>
          <p:cNvPr id="7" name="Picture 2" descr="C:\Users\l00300370\AppData\Roaming\eSpace_Desktop\UserData\l00300370\imagefiles\originalImgfiles\D91AB1D1-0E26-440D-BB0E-7EBA4E515FF3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38" y="6610232"/>
            <a:ext cx="825708" cy="1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18">
            <a:extLst>
              <a:ext uri="{FF2B5EF4-FFF2-40B4-BE49-F238E27FC236}">
                <a16:creationId xmlns:a16="http://schemas.microsoft.com/office/drawing/2014/main" id="{0210973B-74F8-4A55-A1EE-70AA8DC58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5737" y="6610232"/>
            <a:ext cx="365807" cy="18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279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4603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6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2pPr>
            <a:lvl3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3pPr>
            <a:lvl4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4pPr>
            <a:lvl5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572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9D7E-84B1-4302-9E54-D72DB944463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BBDD-2759-4C9E-AC8A-34E03A9153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5100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>
            <a:spLocks noChangeArrowheads="1"/>
          </p:cNvSpPr>
          <p:nvPr userDrawn="1"/>
        </p:nvSpPr>
        <p:spPr bwMode="auto">
          <a:xfrm>
            <a:off x="0" y="6350"/>
            <a:ext cx="2700690" cy="6851651"/>
          </a:xfrm>
          <a:prstGeom prst="rect">
            <a:avLst/>
          </a:prstGeom>
          <a:solidFill>
            <a:schemeClr val="bg1">
              <a:lumMod val="85000"/>
              <a:alpha val="49804"/>
            </a:schemeClr>
          </a:solidFill>
          <a:ln>
            <a:noFill/>
          </a:ln>
        </p:spPr>
        <p:txBody>
          <a:bodyPr lIns="91417" tIns="45708" rIns="91417" bIns="45708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defTabSz="1218753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700" dirty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5296" y="1568959"/>
            <a:ext cx="2525080" cy="3720087"/>
            <a:chOff x="95307" y="2564903"/>
            <a:chExt cx="2525409" cy="3720087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265120" y="2564903"/>
              <a:ext cx="2185214" cy="1572215"/>
              <a:chOff x="401638" y="1734551"/>
              <a:chExt cx="2184645" cy="1572580"/>
            </a:xfrm>
          </p:grpSpPr>
          <p:sp>
            <p:nvSpPr>
              <p:cNvPr id="10" name="TextBox 5"/>
              <p:cNvSpPr>
                <a:spLocks noChangeArrowheads="1"/>
              </p:cNvSpPr>
              <p:nvPr userDrawn="1"/>
            </p:nvSpPr>
            <p:spPr bwMode="auto">
              <a:xfrm>
                <a:off x="401638" y="2660650"/>
                <a:ext cx="2184645" cy="646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defTabSz="1218753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3600" b="1" dirty="0">
                    <a:solidFill>
                      <a:srgbClr val="864A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Contents</a:t>
                </a:r>
                <a:endParaRPr lang="zh-CN" altLang="en-US" sz="3600" b="1" dirty="0">
                  <a:solidFill>
                    <a:srgbClr val="864A8D"/>
                  </a:solidFill>
                  <a:latin typeface="Arial" panose="020B0604020202020204" pitchFamily="34" charset="0"/>
                  <a:cs typeface="Arial" panose="020B0604020202020204" pitchFamily="34" charset="0"/>
                  <a:sym typeface="宋体" panose="02010600030101010101" pitchFamily="2" charset="-122"/>
                </a:endParaRPr>
              </a:p>
            </p:txBody>
          </p:sp>
          <p:sp>
            <p:nvSpPr>
              <p:cNvPr id="11" name="TextBox 6"/>
              <p:cNvSpPr>
                <a:spLocks noChangeArrowheads="1"/>
              </p:cNvSpPr>
              <p:nvPr userDrawn="1"/>
            </p:nvSpPr>
            <p:spPr bwMode="auto">
              <a:xfrm>
                <a:off x="837814" y="1734551"/>
                <a:ext cx="1312838" cy="769620"/>
              </a:xfrm>
              <a:prstGeom prst="rect">
                <a:avLst/>
              </a:prstGeom>
              <a:solidFill>
                <a:srgbClr val="864A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defTabSz="1218753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zh-CN" altLang="en-US" sz="4400" b="1" dirty="0">
                    <a:solidFill>
                      <a:srgbClr val="ECECE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目录</a:t>
                </a: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07" y="4268990"/>
              <a:ext cx="2525409" cy="20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359487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74" y="332657"/>
            <a:ext cx="11766494" cy="50405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21867" tIns="60931" rIns="121867" bIns="60931" numCol="1" anchor="ctr" anchorCtr="0" compatLnSpc="1">
            <a:prstTxWarp prst="textNoShape">
              <a:avLst/>
            </a:prstTxWarp>
            <a:normAutofit/>
          </a:bodyPr>
          <a:lstStyle>
            <a:lvl1pPr algn="l" defTabSz="874101" rtl="0" eaLnBrk="1" fontAlgn="base" hangingPunct="1">
              <a:spcBef>
                <a:spcPct val="0"/>
              </a:spcBef>
              <a:spcAft>
                <a:spcPct val="0"/>
              </a:spcAft>
              <a:defRPr lang="en-US" sz="2400" b="1" kern="0" dirty="0">
                <a:solidFill>
                  <a:srgbClr val="864A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308104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3785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-tilte white - 40px-purpl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9">
            <a:extLst>
              <a:ext uri="{FF2B5EF4-FFF2-40B4-BE49-F238E27FC236}">
                <a16:creationId xmlns:a16="http://schemas.microsoft.com/office/drawing/2014/main" id="{F0A5F956-78D9-483E-8513-18F922BFD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26053" y="236195"/>
            <a:ext cx="1811207" cy="151947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s-ES" sz="800" b="0" smtClean="0">
                <a:solidFill>
                  <a:schemeClr val="bg1"/>
                </a:solidFill>
              </a:defRPr>
            </a:lvl1pPr>
            <a:lvl2pPr marL="228600" indent="0">
              <a:buNone/>
              <a:defRPr lang="es-ES" sz="1800" smtClean="0"/>
            </a:lvl2pPr>
            <a:lvl3pPr marL="685800" indent="0">
              <a:buNone/>
              <a:defRPr lang="es-ES" sz="1800" smtClean="0"/>
            </a:lvl3pPr>
            <a:lvl4pPr marL="1085850" indent="0">
              <a:buFont typeface="Arial" panose="020B0604020202020204" pitchFamily="34" charset="0"/>
              <a:buNone/>
              <a:defRPr lang="es-ES" smtClean="0"/>
            </a:lvl4pPr>
            <a:lvl5pPr marL="1600200" indent="0">
              <a:buNone/>
              <a:defRPr lang="es-ES"/>
            </a:lvl5pPr>
          </a:lstStyle>
          <a:p>
            <a:pPr marL="0" lvl="0"/>
            <a:r>
              <a:rPr lang="es-ES" noProof="0" dirty="0"/>
              <a:t>D</a:t>
            </a:r>
            <a:r>
              <a:rPr lang="en-GB" noProof="0" dirty="0" err="1"/>
              <a:t>ocument</a:t>
            </a:r>
            <a:r>
              <a:rPr lang="en-GB" noProof="0" dirty="0"/>
              <a:t> Title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384F1BB-96E7-4D3C-AEA6-2038C6C94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208" y="240430"/>
            <a:ext cx="5267795" cy="1543919"/>
          </a:xfrm>
        </p:spPr>
        <p:txBody>
          <a:bodyPr anchor="t">
            <a:normAutofit/>
          </a:bodyPr>
          <a:lstStyle>
            <a:lvl1pPr>
              <a:lnSpc>
                <a:spcPts val="56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pic>
        <p:nvPicPr>
          <p:cNvPr id="5" name="Imagen 18">
            <a:extLst>
              <a:ext uri="{FF2B5EF4-FFF2-40B4-BE49-F238E27FC236}">
                <a16:creationId xmlns:a16="http://schemas.microsoft.com/office/drawing/2014/main" id="{0210973B-74F8-4A55-A1EE-70AA8DC58A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454" y="6179820"/>
            <a:ext cx="708207" cy="35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2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17108038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41340"/>
            <a:ext cx="12196763" cy="181666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12350" y="6435591"/>
            <a:ext cx="2745144" cy="365040"/>
          </a:xfrm>
          <a:prstGeom prst="rect">
            <a:avLst/>
          </a:prstGeom>
        </p:spPr>
        <p:txBody>
          <a:bodyPr anchor="b"/>
          <a:lstStyle>
            <a:lvl1pPr algn="ctr">
              <a:defRPr sz="1400"/>
            </a:lvl1pPr>
          </a:lstStyle>
          <a:p>
            <a:fld id="{06F02858-0A68-4799-B749-7C9A553166D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838310" y="365041"/>
            <a:ext cx="10520145" cy="472272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1947" y="6482371"/>
            <a:ext cx="365173" cy="365040"/>
          </a:xfrm>
          <a:prstGeom prst="rect">
            <a:avLst/>
          </a:prstGeom>
        </p:spPr>
      </p:pic>
      <p:pic>
        <p:nvPicPr>
          <p:cNvPr id="15" name="Imagen 15">
            <a:extLst>
              <a:ext uri="{FF2B5EF4-FFF2-40B4-BE49-F238E27FC236}">
                <a16:creationId xmlns:a16="http://schemas.microsoft.com/office/drawing/2014/main" id="{F7A7A8AC-37EE-5546-AC48-197C20E06B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45" y="6556796"/>
            <a:ext cx="417217" cy="2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28295"/>
      </p:ext>
    </p:extLst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" y="0"/>
            <a:ext cx="12190993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341251"/>
            <a:ext cx="12193878" cy="2519697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4081895" y="513351"/>
            <a:ext cx="3420826" cy="2951645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980" y="51644"/>
            <a:ext cx="1908460" cy="10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9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7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" y="0"/>
            <a:ext cx="12190993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341251"/>
            <a:ext cx="12193878" cy="2519697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4081895" y="513351"/>
            <a:ext cx="3420826" cy="2951645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4199666" y="2061165"/>
            <a:ext cx="3794546" cy="1569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598" b="1" dirty="0">
                <a:gradFill>
                  <a:gsLst>
                    <a:gs pos="100000">
                      <a:srgbClr val="C00000"/>
                    </a:gs>
                    <a:gs pos="0">
                      <a:srgbClr val="7030A0"/>
                    </a:gs>
                  </a:gsLst>
                  <a:lin ang="0" scaled="1"/>
                </a:gradFill>
              </a:rPr>
              <a:t>Thanks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980" y="51644"/>
            <a:ext cx="1908460" cy="10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8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7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722" indent="0" algn="ctr">
              <a:buNone/>
              <a:defRPr sz="2597"/>
            </a:lvl2pPr>
            <a:lvl3pPr marL="1187441" indent="0" algn="ctr">
              <a:buNone/>
              <a:defRPr sz="2338"/>
            </a:lvl3pPr>
            <a:lvl4pPr marL="1781165" indent="0" algn="ctr">
              <a:buNone/>
              <a:defRPr sz="2079"/>
            </a:lvl4pPr>
            <a:lvl5pPr marL="2374885" indent="0" algn="ctr">
              <a:buNone/>
              <a:defRPr sz="2079"/>
            </a:lvl5pPr>
            <a:lvl6pPr marL="2968606" indent="0" algn="ctr">
              <a:buNone/>
              <a:defRPr sz="2079"/>
            </a:lvl6pPr>
            <a:lvl7pPr marL="3562327" indent="0" algn="ctr">
              <a:buNone/>
              <a:defRPr sz="2079"/>
            </a:lvl7pPr>
            <a:lvl8pPr marL="4156050" indent="0" algn="ctr">
              <a:buNone/>
              <a:defRPr sz="2079"/>
            </a:lvl8pPr>
            <a:lvl9pPr marL="4749770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26023" y="1501990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057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2pPr>
            <a:lvl3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3pPr>
            <a:lvl4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4pPr>
            <a:lvl5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694417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3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C09C3-FAF0-42E3-BC73-D6706F8D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26041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596" y="-27384"/>
            <a:ext cx="11141589" cy="8715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596" y="908721"/>
            <a:ext cx="11141589" cy="5256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5377632"/>
      </p:ext>
    </p:extLst>
  </p:cSld>
  <p:clrMapOvr>
    <a:masterClrMapping/>
  </p:clrMapOvr>
  <p:transition advClick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1997DE-1A1E-4F2A-BCB0-D22F3D1E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29" y="6356354"/>
            <a:ext cx="2744271" cy="365125"/>
          </a:xfrm>
          <a:prstGeom prst="rect">
            <a:avLst/>
          </a:prstGeom>
        </p:spPr>
        <p:txBody>
          <a:bodyPr/>
          <a:lstStyle/>
          <a:p>
            <a:pPr defTabSz="913746"/>
            <a:fld id="{09C8C692-E754-4477-9089-C65410E1C6D5}" type="datetimeFigureOut">
              <a:rPr lang="zh-CN" altLang="en-US" smtClean="0">
                <a:solidFill>
                  <a:srgbClr val="1D1D1A"/>
                </a:solidFill>
              </a:rPr>
              <a:pPr defTabSz="913746"/>
              <a:t>2026/7/3</a:t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412070-3F58-4B7D-BE8E-96A5221D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78" y="6356354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3746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00674-1F94-4681-8F63-4718E0A0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967" y="6356354"/>
            <a:ext cx="2744271" cy="365125"/>
          </a:xfrm>
          <a:prstGeom prst="rect">
            <a:avLst/>
          </a:prstGeom>
        </p:spPr>
        <p:txBody>
          <a:bodyPr/>
          <a:lstStyle/>
          <a:p>
            <a:pPr defTabSz="913746"/>
            <a:fld id="{DCC9CF26-ACE4-48CC-9B34-9B76599636E4}" type="slidenum">
              <a:rPr lang="zh-CN" altLang="en-US" smtClean="0">
                <a:solidFill>
                  <a:srgbClr val="1D1D1A"/>
                </a:solidFill>
              </a:rPr>
              <a:pPr defTabSz="913746"/>
              <a:t>‹#›</a:t>
            </a:fld>
            <a:endParaRPr lang="zh-CN" altLang="en-US">
              <a:solidFill>
                <a:srgbClr val="1D1D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4788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4161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C62EA-25E5-469E-A71E-9ED1FD1D0F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382" y="279002"/>
            <a:ext cx="8325000" cy="676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latin typeface="+mn-ea"/>
                <a:ea typeface="+mn-e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4733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theme" Target="../theme/theme3.xml"/><Relationship Id="rId14" Type="http://schemas.openxmlformats.org/officeDocument/2006/relationships/vmlDrawing" Target="../drawings/vmlDrawing1.vml"/><Relationship Id="rId15" Type="http://schemas.openxmlformats.org/officeDocument/2006/relationships/tags" Target="../tags/tag1.xml"/><Relationship Id="rId16" Type="http://schemas.openxmlformats.org/officeDocument/2006/relationships/tags" Target="../tags/tag2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5.emf"/><Relationship Id="rId19" Type="http://schemas.openxmlformats.org/officeDocument/2006/relationships/image" Target="../media/image6.tif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5.xml"/><Relationship Id="rId3" Type="http://schemas.openxmlformats.org/officeDocument/2006/relationships/image" Target="../media/image7.tiff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theme" Target="../theme/theme6.xml"/><Relationship Id="rId11" Type="http://schemas.openxmlformats.org/officeDocument/2006/relationships/image" Target="../media/image8.jpe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theme" Target="../theme/theme9.xml"/><Relationship Id="rId5" Type="http://schemas.openxmlformats.org/officeDocument/2006/relationships/image" Target="../media/image11.tiff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theme" Target="../theme/theme10.xml"/><Relationship Id="rId5" Type="http://schemas.openxmlformats.org/officeDocument/2006/relationships/image" Target="../media/image6.tiff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theme" Target="../theme/theme11.xml"/><Relationship Id="rId6" Type="http://schemas.openxmlformats.org/officeDocument/2006/relationships/image" Target="../media/image11.tiff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theme" Target="../theme/theme14.xml"/><Relationship Id="rId9" Type="http://schemas.openxmlformats.org/officeDocument/2006/relationships/image" Target="../media/image6.tiff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theme" Target="../theme/theme15.xml"/><Relationship Id="rId7" Type="http://schemas.openxmlformats.org/officeDocument/2006/relationships/image" Target="../media/image6.tiff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theme" Target="../theme/theme16.xml"/><Relationship Id="rId3" Type="http://schemas.openxmlformats.org/officeDocument/2006/relationships/image" Target="../media/image18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6.tiff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theme" Target="../theme/theme19.xml"/><Relationship Id="rId12" Type="http://schemas.openxmlformats.org/officeDocument/2006/relationships/image" Target="../media/image19.tiff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theme" Target="../theme/theme20.xml"/><Relationship Id="rId8" Type="http://schemas.openxmlformats.org/officeDocument/2006/relationships/image" Target="../media/image20.jpe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theme" Target="../theme/theme21.xml"/><Relationship Id="rId7" Type="http://schemas.openxmlformats.org/officeDocument/2006/relationships/image" Target="../media/image12.jpe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theme" Target="../theme/theme22.xml"/><Relationship Id="rId7" Type="http://schemas.openxmlformats.org/officeDocument/2006/relationships/image" Target="../media/image25.pn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theme" Target="../theme/theme23.xml"/><Relationship Id="rId7" Type="http://schemas.openxmlformats.org/officeDocument/2006/relationships/image" Target="../media/image1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56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7545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588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6" name="think-cell 幻灯片" r:id="rId17" imgW="488" imgH="486" progId="TCLayout.ActiveDocument.1">
                  <p:embed/>
                </p:oleObj>
              </mc:Choice>
              <mc:Fallback>
                <p:oleObj name="think-cell 幻灯片" r:id="rId17" imgW="488" imgH="48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158812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14112"/>
            <a:endParaRPr lang="en-US" altLang="zh-CN" sz="3199" dirty="0">
              <a:solidFill>
                <a:srgbClr val="FFFF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46">
            <a:extLst>
              <a:ext uri="{FF2B5EF4-FFF2-40B4-BE49-F238E27FC236}">
                <a16:creationId xmlns:a16="http://schemas.microsoft.com/office/drawing/2014/main" id="{5198AC08-A4CF-414F-9AD5-014363FAAF2C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2" y="6470973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6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6" r:id="rId11"/>
    <p:sldLayoutId id="2147484335" r:id="rId12"/>
  </p:sldLayoutIdLst>
  <p:hf hdr="0" dt="0"/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2399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509" indent="-228509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ea"/>
          <a:ea typeface="+mn-ea"/>
          <a:cs typeface="+mn-cs"/>
        </a:defRPr>
      </a:lvl1pPr>
      <a:lvl2pPr marL="68552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ea"/>
          <a:ea typeface="+mn-ea"/>
          <a:cs typeface="+mn-cs"/>
        </a:defRPr>
      </a:lvl2pPr>
      <a:lvl3pPr marL="1142543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ea"/>
          <a:ea typeface="+mn-ea"/>
          <a:cs typeface="+mn-cs"/>
        </a:defRPr>
      </a:lvl3pPr>
      <a:lvl4pPr marL="1599560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ea"/>
          <a:ea typeface="+mn-ea"/>
          <a:cs typeface="+mn-cs"/>
        </a:defRPr>
      </a:lvl4pPr>
      <a:lvl5pPr marL="2056577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ea"/>
          <a:ea typeface="+mn-ea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1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7" y="794"/>
            <a:ext cx="12193588" cy="685641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839" y="275167"/>
            <a:ext cx="10977087" cy="1142999"/>
          </a:xfrm>
          <a:prstGeom prst="rect">
            <a:avLst/>
          </a:prstGeom>
        </p:spPr>
        <p:txBody>
          <a:bodyPr vert="horz" lIns="121944" tIns="60972" rIns="121944" bIns="6097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9" y="1600202"/>
            <a:ext cx="10977087" cy="4525433"/>
          </a:xfrm>
          <a:prstGeom prst="rect">
            <a:avLst/>
          </a:prstGeom>
        </p:spPr>
        <p:txBody>
          <a:bodyPr vert="horz" lIns="121944" tIns="60972" rIns="121944" bIns="60972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839" y="6356353"/>
            <a:ext cx="2845912" cy="366182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1A5B2B23-E5F0-44D7-A9FF-4B8E82156B39}" type="datetimeFigureOut">
              <a:rPr lang="zh-CN" altLang="en-US" smtClean="0"/>
              <a:pPr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228" y="6356353"/>
            <a:ext cx="3862308" cy="366182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1014" y="6356353"/>
            <a:ext cx="2845912" cy="366182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B2563A90-55EF-4D2C-B954-EDF55F24A661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Rectangle 86"/>
          <p:cNvSpPr>
            <a:spLocks noChangeArrowheads="1"/>
          </p:cNvSpPr>
          <p:nvPr userDrawn="1"/>
        </p:nvSpPr>
        <p:spPr bwMode="auto">
          <a:xfrm>
            <a:off x="11843798" y="6348968"/>
            <a:ext cx="328322" cy="42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defTabSz="987914" eaLnBrk="0" hangingPunct="0">
              <a:lnSpc>
                <a:spcPct val="85000"/>
              </a:lnSpc>
              <a:buClrTx/>
              <a:buFontTx/>
              <a:buNone/>
            </a:pPr>
            <a:endParaRPr lang="de-DE" sz="1300" b="0" dirty="0">
              <a:solidFill>
                <a:schemeClr val="tx1"/>
              </a:solidFill>
              <a:latin typeface="FrutigerNext LT Light" pitchFamily="34" charset="0"/>
              <a:ea typeface="MS PGothic" pitchFamily="34" charset="-128"/>
            </a:endParaRPr>
          </a:p>
          <a:p>
            <a:pPr defTabSz="987914" eaLnBrk="0" hangingPunct="0">
              <a:lnSpc>
                <a:spcPct val="85000"/>
              </a:lnSpc>
              <a:buClrTx/>
              <a:buFontTx/>
              <a:buNone/>
            </a:pPr>
            <a:fld id="{E68EC476-442B-4BB7-9603-F1440C241F3D}" type="slidenum">
              <a:rPr lang="de-DE" sz="900" b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pPr defTabSz="987914" eaLnBrk="0" hangingPunct="0">
                <a:lnSpc>
                  <a:spcPct val="85000"/>
                </a:lnSpc>
                <a:buClrTx/>
                <a:buFontTx/>
                <a:buNone/>
              </a:pPr>
              <a:t>‹#›</a:t>
            </a:fld>
            <a:endParaRPr lang="en-GB"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12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1" r:id="rId2"/>
    <p:sldLayoutId id="2147484152" r:id="rId3"/>
    <p:sldLayoutId id="2147484153" r:id="rId4"/>
    <p:sldLayoutId id="2147484154" r:id="rId5"/>
    <p:sldLayoutId id="2147484155" r:id="rId6"/>
    <p:sldLayoutId id="2147484156" r:id="rId7"/>
    <p:sldLayoutId id="2147484157" r:id="rId8"/>
    <p:sldLayoutId id="2147484158" r:id="rId9"/>
  </p:sldLayoutIdLst>
  <p:txStyles>
    <p:titleStyle>
      <a:lvl1pPr algn="ctr" defTabSz="1219200" rtl="0" eaLnBrk="1" latinLnBrk="0" hangingPunct="1">
        <a:spcBef>
          <a:spcPct val="0"/>
        </a:spcBef>
        <a:buNone/>
        <a:defRPr sz="58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itchFamily="34" charset="0"/>
        <a:buChar char="•"/>
        <a:defRPr sz="4299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itchFamily="34" charset="0"/>
        <a:buChar char="–"/>
        <a:defRPr sz="3699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itchFamily="34" charset="0"/>
        <a:buChar char="–"/>
        <a:defRPr sz="2699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itchFamily="34" charset="0"/>
        <a:buChar char="»"/>
        <a:defRPr sz="2699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23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9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15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53755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0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AA313-73DE-4534-92DC-D48C8248ED8D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>
          <p15:clr>
            <a:srgbClr val="F26B43"/>
          </p15:clr>
        </p15:guide>
        <p15:guide id="2" pos="7368">
          <p15:clr>
            <a:srgbClr val="F26B43"/>
          </p15:clr>
        </p15:guide>
        <p15:guide id="3" orient="horz" pos="47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1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0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2" r:id="rId5"/>
    <p:sldLayoutId id="2147484203" r:id="rId6"/>
  </p:sldLayoutIdLst>
  <p:hf hdr="0" ftr="0" dt="0"/>
  <p:txStyles>
    <p:titleStyle>
      <a:lvl1pPr algn="l" defTabSz="1218682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670" indent="-304670" algn="l" defTabSz="1218682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32" kern="1200">
          <a:solidFill>
            <a:schemeClr val="tx1"/>
          </a:solidFill>
          <a:latin typeface="+mn-lt"/>
          <a:ea typeface="+mn-ea"/>
          <a:cs typeface="+mn-cs"/>
        </a:defRPr>
      </a:lvl1pPr>
      <a:lvl2pPr marL="914011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2pPr>
      <a:lvl3pPr marL="1523352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3pPr>
      <a:lvl4pPr marL="2132694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742034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351375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716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057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397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41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82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022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364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705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046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386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727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343">
          <p15:clr>
            <a:srgbClr val="F26B43"/>
          </p15:clr>
        </p15:guide>
        <p15:guide id="4" pos="5417">
          <p15:clr>
            <a:srgbClr val="F26B43"/>
          </p15:clr>
        </p15:guide>
        <p15:guide id="5" orient="horz" pos="3075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00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5" r:id="rId1"/>
    <p:sldLayoutId id="2147484206" r:id="rId2"/>
    <p:sldLayoutId id="2147484207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8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4" r:id="rId5"/>
    <p:sldLayoutId id="2147484255" r:id="rId6"/>
    <p:sldLayoutId id="2147484256" r:id="rId7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32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7" r:id="rId4"/>
    <p:sldLayoutId id="2147484278" r:id="rId5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43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89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3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93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825" y="6323416"/>
            <a:ext cx="1270800" cy="275024"/>
          </a:xfrm>
          <a:prstGeom prst="rect">
            <a:avLst/>
          </a:prstGeom>
        </p:spPr>
      </p:pic>
      <p:sp>
        <p:nvSpPr>
          <p:cNvPr id="46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6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0" r:id="rId1"/>
    <p:sldLayoutId id="2147484291" r:id="rId2"/>
    <p:sldLayoutId id="2147484292" r:id="rId3"/>
    <p:sldLayoutId id="2147484294" r:id="rId4"/>
    <p:sldLayoutId id="2147484295" r:id="rId5"/>
    <p:sldLayoutId id="2147484296" r:id="rId6"/>
    <p:sldLayoutId id="2147484297" r:id="rId7"/>
    <p:sldLayoutId id="2147484298" r:id="rId8"/>
    <p:sldLayoutId id="2147484299" r:id="rId9"/>
    <p:sldLayoutId id="2147484300" r:id="rId10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70" y="6356945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381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4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781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781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3381"/>
                <a:r>
                  <a:rPr kumimoji="1" lang="zh-CN" altLang="en-US" sz="1000" dirty="0">
                    <a:solidFill>
                      <a:prstClr val="black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3381"/>
                <a:r>
                  <a:rPr kumimoji="1" lang="zh-CN" altLang="en-US" sz="1000" dirty="0">
                    <a:solidFill>
                      <a:prstClr val="black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001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9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3" r:id="rId1"/>
    <p:sldLayoutId id="2147484304" r:id="rId2"/>
    <p:sldLayoutId id="2147484305" r:id="rId3"/>
    <p:sldLayoutId id="2147484306" r:id="rId4"/>
    <p:sldLayoutId id="2147484308" r:id="rId5"/>
    <p:sldLayoutId id="2147484321" r:id="rId6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838" y="275170"/>
            <a:ext cx="10977088" cy="1142999"/>
          </a:xfrm>
          <a:prstGeom prst="rect">
            <a:avLst/>
          </a:prstGeom>
        </p:spPr>
        <p:txBody>
          <a:bodyPr vert="horz" lIns="121928" tIns="60965" rIns="121928" bIns="6096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8" y="1600205"/>
            <a:ext cx="10977088" cy="4525433"/>
          </a:xfrm>
          <a:prstGeom prst="rect">
            <a:avLst/>
          </a:prstGeom>
        </p:spPr>
        <p:txBody>
          <a:bodyPr vert="horz" lIns="121928" tIns="60965" rIns="121928" bIns="60965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cs typeface="Arial" panose="020B0604020202020204" pitchFamily="34" charset="0"/>
              </a:rPr>
              <a:pPr defTabSz="890849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6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0" r:id="rId1"/>
    <p:sldLayoutId id="2147484311" r:id="rId2"/>
    <p:sldLayoutId id="2147484312" r:id="rId3"/>
    <p:sldLayoutId id="2147484313" r:id="rId4"/>
    <p:sldLayoutId id="2147484314" r:id="rId5"/>
  </p:sldLayoutIdLst>
  <p:txStyles>
    <p:titleStyle>
      <a:lvl1pPr algn="ctr" defTabSz="1218925" rtl="0" eaLnBrk="1" latinLnBrk="0" hangingPunct="1">
        <a:spcBef>
          <a:spcPct val="0"/>
        </a:spcBef>
        <a:buNone/>
        <a:defRPr sz="58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97" indent="-457097" algn="l" defTabSz="1218925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377" indent="-380915" algn="l" defTabSz="1218925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58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120" indent="-304732" algn="l" defTabSz="1218925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83" indent="-304732" algn="l" defTabSz="1218925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045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508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0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8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1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62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6" r:id="rId1"/>
    <p:sldLayoutId id="2147484317" r:id="rId2"/>
    <p:sldLayoutId id="2147484318" r:id="rId3"/>
    <p:sldLayoutId id="2147484319" r:id="rId4"/>
    <p:sldLayoutId id="2147484320" r:id="rId5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338" y="6417527"/>
            <a:ext cx="1269075" cy="2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7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0" r:id="rId1"/>
    <p:sldLayoutId id="2147484331" r:id="rId2"/>
    <p:sldLayoutId id="2147484332" r:id="rId3"/>
    <p:sldLayoutId id="2147484333" r:id="rId4"/>
    <p:sldLayoutId id="2147484334" r:id="rId5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202">
            <a:extLst>
              <a:ext uri="{FF2B5EF4-FFF2-40B4-BE49-F238E27FC236}">
                <a16:creationId xmlns:a16="http://schemas.microsoft.com/office/drawing/2014/main" id="{1C33F99E-5BCF-442F-90BB-7C4B189837E3}"/>
              </a:ext>
            </a:extLst>
          </p:cNvPr>
          <p:cNvSpPr txBox="1"/>
          <p:nvPr/>
        </p:nvSpPr>
        <p:spPr>
          <a:xfrm>
            <a:off x="343645" y="225409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Trust the Future战略：3大雄心支持实现 Trusted European TechCo</a:t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182642-A59F-459B-BB74-AAB80D9F4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98" y="2448058"/>
            <a:ext cx="4310603" cy="2452127"/>
          </a:xfrm>
          <a:prstGeom prst="rect">
            <a:avLst/>
          </a:prstGeom>
        </p:spPr>
      </p:pic>
      <p:sp>
        <p:nvSpPr>
          <p:cNvPr id="4" name="等腰三角形 3">
            <a:extLst>
              <a:ext uri="{FF2B5EF4-FFF2-40B4-BE49-F238E27FC236}">
                <a16:creationId xmlns:a16="http://schemas.microsoft.com/office/drawing/2014/main" id="{DC4EE8D4-F44F-4E39-8B93-37F69164B3D2}"/>
              </a:ext>
            </a:extLst>
          </p:cNvPr>
          <p:cNvSpPr/>
          <p:nvPr/>
        </p:nvSpPr>
        <p:spPr>
          <a:xfrm>
            <a:off x="785898" y="1001914"/>
            <a:ext cx="4310603" cy="753037"/>
          </a:xfrm>
          <a:prstGeom prst="triangle">
            <a:avLst/>
          </a:pr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49839-3248-4EF4-A154-77540267A926}"/>
              </a:ext>
            </a:extLst>
          </p:cNvPr>
          <p:cNvSpPr/>
          <p:nvPr/>
        </p:nvSpPr>
        <p:spPr>
          <a:xfrm>
            <a:off x="785898" y="1843547"/>
            <a:ext cx="4310603" cy="523220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0A2B90-D2FA-48DA-A303-440579714B58}"/>
              </a:ext>
            </a:extLst>
          </p:cNvPr>
          <p:cNvSpPr txBox="1"/>
          <p:nvPr/>
        </p:nvSpPr>
        <p:spPr>
          <a:xfrm>
            <a:off x="939352" y="1868019"/>
            <a:ext cx="4003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12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Mission: </a:t>
            </a:r>
          </a:p>
          <a:p>
            <a:pPr algn="ctr" defTabSz="914400">
              <a:defRPr/>
            </a:pPr>
            <a:r>
              <a:rPr lang="en-US" altLang="zh-CN" sz="12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Give everyone the keys to a responsible digital world</a:t>
            </a:r>
            <a:endParaRPr lang="zh-CN" altLang="en-US" sz="12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67E7C9-A138-470E-876A-04FBF3675FD2}"/>
              </a:ext>
            </a:extLst>
          </p:cNvPr>
          <p:cNvSpPr txBox="1"/>
          <p:nvPr/>
        </p:nvSpPr>
        <p:spPr>
          <a:xfrm>
            <a:off x="1368983" y="1076213"/>
            <a:ext cx="3144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12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Vision:</a:t>
            </a:r>
          </a:p>
          <a:p>
            <a:pPr algn="ctr" defTabSz="914400">
              <a:defRPr/>
            </a:pPr>
            <a:r>
              <a:rPr lang="en-US" altLang="zh-CN" sz="12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Become the trusted</a:t>
            </a:r>
          </a:p>
          <a:p>
            <a:pPr algn="ctr" defTabSz="914400">
              <a:defRPr/>
            </a:pPr>
            <a:r>
              <a:rPr lang="en-US" altLang="zh-CN" sz="12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operator of the digital world</a:t>
            </a:r>
            <a:endParaRPr lang="zh-CN" altLang="en-US" sz="12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Rounded Rectangle 75">
            <a:extLst>
              <a:ext uri="{FF2B5EF4-FFF2-40B4-BE49-F238E27FC236}">
                <a16:creationId xmlns:a16="http://schemas.microsoft.com/office/drawing/2014/main" id="{7F513BBC-D959-4580-AD68-6E62660B6C98}"/>
              </a:ext>
            </a:extLst>
          </p:cNvPr>
          <p:cNvSpPr/>
          <p:nvPr/>
        </p:nvSpPr>
        <p:spPr>
          <a:xfrm>
            <a:off x="5630737" y="1303655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pic>
        <p:nvPicPr>
          <p:cNvPr id="9" name="Picture 19" descr="\\Bchief-sever180\共享\华为\2016\6月\D-201606417-金融营销材料设计-刘泉\文件\link\组 26.png">
            <a:extLst>
              <a:ext uri="{FF2B5EF4-FFF2-40B4-BE49-F238E27FC236}">
                <a16:creationId xmlns:a16="http://schemas.microsoft.com/office/drawing/2014/main" id="{2C9094B5-435C-4BCD-A8D6-4A6EDBCD1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666666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982659" y="3621866"/>
            <a:ext cx="4774675" cy="405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A5C6EDAC-D996-4D9F-8031-861AC4C05B14}"/>
              </a:ext>
            </a:extLst>
          </p:cNvPr>
          <p:cNvSpPr/>
          <p:nvPr/>
        </p:nvSpPr>
        <p:spPr>
          <a:xfrm>
            <a:off x="7001821" y="1147378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91003B-D7BA-4B41-836F-BC242C275DA5}"/>
              </a:ext>
            </a:extLst>
          </p:cNvPr>
          <p:cNvSpPr/>
          <p:nvPr/>
        </p:nvSpPr>
        <p:spPr>
          <a:xfrm>
            <a:off x="7654649" y="1119491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客户亲近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FD3DC5-070A-4630-B64F-96728F3717AF}"/>
              </a:ext>
            </a:extLst>
          </p:cNvPr>
          <p:cNvSpPr txBox="1"/>
          <p:nvPr/>
        </p:nvSpPr>
        <p:spPr>
          <a:xfrm>
            <a:off x="5807925" y="1406774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服务3.4亿客户，2028年前新增约4,000万客户（中东非+欧洲低渗透细分），欧洲流失率最多降低3个点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Rounded Rectangle 75">
            <a:extLst>
              <a:ext uri="{FF2B5EF4-FFF2-40B4-BE49-F238E27FC236}">
                <a16:creationId xmlns:a16="http://schemas.microsoft.com/office/drawing/2014/main" id="{53C53EC7-1A5B-47F5-9170-A8CA0AEBC9D6}"/>
              </a:ext>
            </a:extLst>
          </p:cNvPr>
          <p:cNvSpPr/>
          <p:nvPr/>
        </p:nvSpPr>
        <p:spPr>
          <a:xfrm>
            <a:off x="5630737" y="2177013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9E25E3E-D652-47E8-B533-90E73E0FB97B}"/>
              </a:ext>
            </a:extLst>
          </p:cNvPr>
          <p:cNvSpPr/>
          <p:nvPr/>
        </p:nvSpPr>
        <p:spPr>
          <a:xfrm>
            <a:off x="7001821" y="2020736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FAEF84-49E4-4E2C-BA5B-A6CDE21ED6E4}"/>
              </a:ext>
            </a:extLst>
          </p:cNvPr>
          <p:cNvSpPr/>
          <p:nvPr/>
        </p:nvSpPr>
        <p:spPr>
          <a:xfrm>
            <a:off x="7654649" y="1992849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B2C与融合增长</a:t>
            </a:r>
            <a:r>
              <a:rPr lang="en-US" altLang="zh-CN" sz="1400" b="1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/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03D448-5256-4690-82BD-86BEB0CE441A}"/>
              </a:ext>
            </a:extLst>
          </p:cNvPr>
          <p:cNvSpPr txBox="1"/>
          <p:nvPr/>
        </p:nvSpPr>
        <p:spPr>
          <a:xfrm>
            <a:off x="5807925" y="2280132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非洲中东为增长引擎（FY25收入+12.2%，Orange Money +18%）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欧洲聚焦融合与家庭生态（安防、能源、保险等）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ounded Rectangle 75">
            <a:extLst>
              <a:ext uri="{FF2B5EF4-FFF2-40B4-BE49-F238E27FC236}">
                <a16:creationId xmlns:a16="http://schemas.microsoft.com/office/drawing/2014/main" id="{D9D62563-1038-430B-A21D-04AC2DC5FAD5}"/>
              </a:ext>
            </a:extLst>
          </p:cNvPr>
          <p:cNvSpPr/>
          <p:nvPr/>
        </p:nvSpPr>
        <p:spPr>
          <a:xfrm>
            <a:off x="5630737" y="3059258"/>
            <a:ext cx="5810609" cy="612892"/>
          </a:xfrm>
          <a:prstGeom prst="roundRect">
            <a:avLst>
              <a:gd name="adj" fmla="val 0"/>
            </a:avLst>
          </a:prstGeom>
          <a:solidFill>
            <a:srgbClr val="0000FF">
              <a:alpha val="30000"/>
            </a:srgbClr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3E7FA15-EF71-4D42-BFB0-92CED579FA32}"/>
              </a:ext>
            </a:extLst>
          </p:cNvPr>
          <p:cNvSpPr/>
          <p:nvPr/>
        </p:nvSpPr>
        <p:spPr>
          <a:xfrm>
            <a:off x="7001821" y="2902981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5B6C4A-A682-4C1C-A49E-1AEEB69077D8}"/>
              </a:ext>
            </a:extLst>
          </p:cNvPr>
          <p:cNvSpPr/>
          <p:nvPr/>
        </p:nvSpPr>
        <p:spPr>
          <a:xfrm>
            <a:off x="7654649" y="2875094"/>
            <a:ext cx="1850323" cy="307777"/>
          </a:xfrm>
          <a:prstGeom prst="rect">
            <a:avLst/>
          </a:prstGeom>
          <a:solidFill>
            <a:srgbClr val="0000FF">
              <a:alpha val="40000"/>
            </a:srgbClr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创新增长（B2B）</a:t>
            </a:r>
            <a:r>
              <a:rPr lang="en-US" altLang="zh-CN" sz="1400" b="1" kern="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/>
            </a:r>
            <a:r>
              <a:rPr lang="zh-CN" altLang="en-US" sz="14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16D328-330D-4255-BA4A-006B08D5052A}"/>
              </a:ext>
            </a:extLst>
          </p:cNvPr>
          <p:cNvSpPr txBox="1"/>
          <p:nvPr/>
        </p:nvSpPr>
        <p:spPr>
          <a:xfrm>
            <a:off x="5807925" y="3182871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Cyberdefense 2030年收入目标20亿€（25年13亿€，+6.8%）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发展可信云与可信AI服务，新设国防与医疗垂直行业BU</a:t>
            </a:r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21" name="Rounded Rectangle 75">
            <a:extLst>
              <a:ext uri="{FF2B5EF4-FFF2-40B4-BE49-F238E27FC236}">
                <a16:creationId xmlns:a16="http://schemas.microsoft.com/office/drawing/2014/main" id="{8CC1EF53-09B1-47A5-9612-5A0DA2C1AF9C}"/>
              </a:ext>
            </a:extLst>
          </p:cNvPr>
          <p:cNvSpPr/>
          <p:nvPr/>
        </p:nvSpPr>
        <p:spPr>
          <a:xfrm>
            <a:off x="5630737" y="3922216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6C67AE4-524E-4D13-9455-3A26E0881DCB}"/>
              </a:ext>
            </a:extLst>
          </p:cNvPr>
          <p:cNvSpPr/>
          <p:nvPr/>
        </p:nvSpPr>
        <p:spPr>
          <a:xfrm>
            <a:off x="7001821" y="3765939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689CA01-6A23-49EB-9C26-FB634364FFEA}"/>
              </a:ext>
            </a:extLst>
          </p:cNvPr>
          <p:cNvSpPr/>
          <p:nvPr/>
        </p:nvSpPr>
        <p:spPr>
          <a:xfrm>
            <a:off x="7654649" y="3738052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网络与AI能力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2665AA-4F21-4610-96EF-82DCAC6E08AE}"/>
              </a:ext>
            </a:extLst>
          </p:cNvPr>
          <p:cNvSpPr txBox="1"/>
          <p:nvPr/>
        </p:nvSpPr>
        <p:spPr>
          <a:xfrm>
            <a:off x="5807925" y="4025335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持续投资光纤/5G SA与AI化运维，eCAPEX/收入比2028年降至约14%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AI规模化应用：Live Intelligence等可信GenAI服务商用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25" name="Rounded Rectangle 75">
            <a:extLst>
              <a:ext uri="{FF2B5EF4-FFF2-40B4-BE49-F238E27FC236}">
                <a16:creationId xmlns:a16="http://schemas.microsoft.com/office/drawing/2014/main" id="{513CD62D-5F7B-4225-B0F1-403FEDF50DB4}"/>
              </a:ext>
            </a:extLst>
          </p:cNvPr>
          <p:cNvSpPr/>
          <p:nvPr/>
        </p:nvSpPr>
        <p:spPr>
          <a:xfrm>
            <a:off x="5630737" y="4795574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2F6C99D-90F6-4CD5-88F1-F448E0B95D78}"/>
              </a:ext>
            </a:extLst>
          </p:cNvPr>
          <p:cNvSpPr/>
          <p:nvPr/>
        </p:nvSpPr>
        <p:spPr>
          <a:xfrm>
            <a:off x="7001821" y="4639297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F58940-58DA-442F-BD9B-3072FF98A556}"/>
              </a:ext>
            </a:extLst>
          </p:cNvPr>
          <p:cNvSpPr/>
          <p:nvPr/>
        </p:nvSpPr>
        <p:spPr>
          <a:xfrm>
            <a:off x="7654649" y="4611410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规模化卓越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AAC6DD-9888-427F-9BB3-60E1D2F3DC11}"/>
              </a:ext>
            </a:extLst>
          </p:cNvPr>
          <p:cNvSpPr txBox="1"/>
          <p:nvPr/>
        </p:nvSpPr>
        <p:spPr>
          <a:xfrm>
            <a:off x="5807925" y="4891298"/>
            <a:ext cx="5810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轻资产运营：国际交付与order-to-cash外包Tech Mahindra，产品目录精简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OB EBITDAaL持续改善至企稳；集团OCF 25-28年高个位数CAGR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Rounded Rectangle 75">
            <a:extLst>
              <a:ext uri="{FF2B5EF4-FFF2-40B4-BE49-F238E27FC236}">
                <a16:creationId xmlns:a16="http://schemas.microsoft.com/office/drawing/2014/main" id="{BCF803F8-5762-49EA-AB65-D0F994E67522}"/>
              </a:ext>
            </a:extLst>
          </p:cNvPr>
          <p:cNvSpPr/>
          <p:nvPr/>
        </p:nvSpPr>
        <p:spPr>
          <a:xfrm>
            <a:off x="5630737" y="5677820"/>
            <a:ext cx="5810609" cy="4563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9EBD5C8-E0FC-4CCA-8395-A5ABBE82F1FB}"/>
              </a:ext>
            </a:extLst>
          </p:cNvPr>
          <p:cNvSpPr/>
          <p:nvPr/>
        </p:nvSpPr>
        <p:spPr>
          <a:xfrm>
            <a:off x="7001821" y="5521542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02F614-1A8C-4196-9EEB-B8EFF2C48F92}"/>
              </a:ext>
            </a:extLst>
          </p:cNvPr>
          <p:cNvSpPr/>
          <p:nvPr/>
        </p:nvSpPr>
        <p:spPr>
          <a:xfrm>
            <a:off x="7654649" y="5493655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社会与人才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411DE22-59E8-4A3F-9FF4-4ACD9FDF414F}"/>
              </a:ext>
            </a:extLst>
          </p:cNvPr>
          <p:cNvSpPr txBox="1"/>
          <p:nvPr/>
        </p:nvSpPr>
        <p:spPr>
          <a:xfrm>
            <a:off x="5807925" y="5788558"/>
            <a:ext cx="54632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2030年前为600万人提供免费数字支持；温室气体2030年-45%、2040年Net Zero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/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90DD940-5D0E-4944-8DA4-0F8C3655197D}"/>
              </a:ext>
            </a:extLst>
          </p:cNvPr>
          <p:cNvGrpSpPr/>
          <p:nvPr/>
        </p:nvGrpSpPr>
        <p:grpSpPr>
          <a:xfrm>
            <a:off x="778665" y="5033330"/>
            <a:ext cx="4316109" cy="1100805"/>
            <a:chOff x="755929" y="5225143"/>
            <a:chExt cx="4310603" cy="776294"/>
          </a:xfrm>
          <a:solidFill>
            <a:srgbClr val="FFFFFF"/>
          </a:solidFill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6AFF1D4-C2AD-4D37-AED2-A6E5DD5E5A5D}"/>
                </a:ext>
              </a:extLst>
            </p:cNvPr>
            <p:cNvSpPr/>
            <p:nvPr/>
          </p:nvSpPr>
          <p:spPr>
            <a:xfrm>
              <a:off x="755929" y="5225143"/>
              <a:ext cx="4310603" cy="776294"/>
            </a:xfrm>
            <a:prstGeom prst="rect">
              <a:avLst/>
            </a:prstGeom>
            <a:grpFill/>
            <a:ln w="6350" cap="flat">
              <a:noFill/>
              <a:prstDash val="solid"/>
              <a:miter/>
            </a:ln>
            <a:effectLst>
              <a:glow rad="38100">
                <a:srgbClr val="0000FF">
                  <a:alpha val="20000"/>
                </a:srgbClr>
              </a:glow>
              <a:outerShdw blurRad="114300" dist="38100" dir="5400000" algn="t" rotWithShape="0">
                <a:srgbClr val="0000FF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>
                <a:defRPr/>
              </a:pPr>
              <a:endParaRPr lang="zh-CN" altLang="en-US" sz="1050" kern="0">
                <a:solidFill>
                  <a:prstClr val="black"/>
                </a:solidFill>
                <a:latin typeface=" Arial"/>
                <a:cs typeface="Arial" panose="020B0604020202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3D93FB-FC27-46CF-A19F-54E87A97D898}"/>
                </a:ext>
              </a:extLst>
            </p:cNvPr>
            <p:cNvSpPr txBox="1"/>
            <p:nvPr/>
          </p:nvSpPr>
          <p:spPr>
            <a:xfrm>
              <a:off x="837398" y="5232646"/>
              <a:ext cx="4075678" cy="26045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400" b="1">
                  <a:solidFill>
                    <a:srgbClr val="C00000"/>
                  </a:solidFill>
                </a:defRPr>
              </a:lvl1pPr>
            </a:lstStyle>
            <a:p>
              <a:pPr defTabSz="914400">
                <a:defRPr/>
              </a:pPr>
              <a:r>
                <a:rPr lang="en-US" altLang="zh-CN" sz="1800" b="0" kern="0" dirty="0">
                  <a:latin typeface="Arial" panose="020B0604020202020204" pitchFamily="34" charset="0"/>
                  <a:ea typeface="微软雅黑" panose="020B0503020204020204" pitchFamily="34" charset="-122"/>
                </a:rPr>
                <a:t>Shareholder Returns &amp; Cash Plan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10586C2-37FE-4586-B615-C678F995212A}"/>
                </a:ext>
              </a:extLst>
            </p:cNvPr>
            <p:cNvSpPr txBox="1"/>
            <p:nvPr/>
          </p:nvSpPr>
          <p:spPr>
            <a:xfrm>
              <a:off x="811306" y="5489185"/>
              <a:ext cx="4199846" cy="46389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171450" indent="-171450" defTabSz="914400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分红上调：26年0.79€/股，28年下限0.85€/股</a:t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endParaRPr lang="en-US" altLang="zh-CN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 defTabSz="914400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Organic Cash Flow 2028年达约52亿€（双位数增长）</a:t>
              </a:r>
              <a:r>
                <a:rPr lang="en-US" altLang="zh-CN" sz="1600" kern="0" dirty="0" err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/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4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8389" y="212507"/>
            <a:ext cx="11594647" cy="503991"/>
          </a:xfrm>
        </p:spPr>
        <p:txBody>
          <a:bodyPr>
            <a:noAutofit/>
          </a:bodyPr>
          <a:lstStyle/>
          <a:p>
            <a:pPr defTabSz="1187323">
              <a:lnSpc>
                <a:spcPct val="90000"/>
              </a:lnSpc>
            </a:pP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Orange Business B2B历史经营：年收入7.3B€（FY25），占集团18%，大企业与公共部门为收入主体</a:t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/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/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/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/>
            </a:r>
          </a:p>
        </p:txBody>
      </p:sp>
      <p:sp>
        <p:nvSpPr>
          <p:cNvPr id="54" name="文本框 147">
            <a:extLst>
              <a:ext uri="{FF2B5EF4-FFF2-40B4-BE49-F238E27FC236}">
                <a16:creationId xmlns:a16="http://schemas.microsoft.com/office/drawing/2014/main" id="{76C1DE45-FA98-4936-8B77-0BEC9AA9ED53}"/>
              </a:ext>
            </a:extLst>
          </p:cNvPr>
          <p:cNvSpPr txBox="1"/>
          <p:nvPr/>
        </p:nvSpPr>
        <p:spPr>
          <a:xfrm>
            <a:off x="318345" y="2138636"/>
            <a:ext cx="3760397" cy="611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从产商品构成来看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分为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Service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管理服务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）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Supply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供应品投标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）</a:t>
            </a:r>
            <a:endParaRPr lang="en-US" altLang="zh-CN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文本框 147">
            <a:extLst>
              <a:ext uri="{FF2B5EF4-FFF2-40B4-BE49-F238E27FC236}">
                <a16:creationId xmlns:a16="http://schemas.microsoft.com/office/drawing/2014/main" id="{B762A094-3EEB-4A29-87A2-4E857EEE1105}"/>
              </a:ext>
            </a:extLst>
          </p:cNvPr>
          <p:cNvSpPr txBox="1"/>
          <p:nvPr/>
        </p:nvSpPr>
        <p:spPr>
          <a:xfrm>
            <a:off x="4234880" y="2137418"/>
            <a:ext cx="3727006" cy="613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从客户群构成来看，约30%来自公共部门，大企业与跨国占55%，中型企业15%（估算）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C00000"/>
                </a:solidFill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sp>
        <p:nvSpPr>
          <p:cNvPr id="56" name="Rounded Rectangle 75">
            <a:extLst>
              <a:ext uri="{FF2B5EF4-FFF2-40B4-BE49-F238E27FC236}">
                <a16:creationId xmlns:a16="http://schemas.microsoft.com/office/drawing/2014/main" id="{382026AF-1734-41E1-85F0-36E88790C61E}"/>
              </a:ext>
            </a:extLst>
          </p:cNvPr>
          <p:cNvSpPr/>
          <p:nvPr/>
        </p:nvSpPr>
        <p:spPr>
          <a:xfrm>
            <a:off x="318345" y="2138636"/>
            <a:ext cx="3760397" cy="3769323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Rounded Rectangle 75">
            <a:extLst>
              <a:ext uri="{FF2B5EF4-FFF2-40B4-BE49-F238E27FC236}">
                <a16:creationId xmlns:a16="http://schemas.microsoft.com/office/drawing/2014/main" id="{0E30FCFB-F7FC-4361-BAEB-DE3FD054792F}"/>
              </a:ext>
            </a:extLst>
          </p:cNvPr>
          <p:cNvSpPr/>
          <p:nvPr/>
        </p:nvSpPr>
        <p:spPr>
          <a:xfrm>
            <a:off x="4234880" y="2138636"/>
            <a:ext cx="3727005" cy="3769323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58" name="Rounded Rectangle 75">
            <a:extLst>
              <a:ext uri="{FF2B5EF4-FFF2-40B4-BE49-F238E27FC236}">
                <a16:creationId xmlns:a16="http://schemas.microsoft.com/office/drawing/2014/main" id="{D2C122FF-4024-4537-9847-02D50E4937B8}"/>
              </a:ext>
            </a:extLst>
          </p:cNvPr>
          <p:cNvSpPr/>
          <p:nvPr/>
        </p:nvSpPr>
        <p:spPr>
          <a:xfrm>
            <a:off x="8048421" y="2138635"/>
            <a:ext cx="3760908" cy="3769323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文本框 147">
            <a:extLst>
              <a:ext uri="{FF2B5EF4-FFF2-40B4-BE49-F238E27FC236}">
                <a16:creationId xmlns:a16="http://schemas.microsoft.com/office/drawing/2014/main" id="{C0C9F0EA-9BB1-452E-90B8-AE3AB7CA239A}"/>
              </a:ext>
            </a:extLst>
          </p:cNvPr>
          <p:cNvSpPr txBox="1"/>
          <p:nvPr/>
        </p:nvSpPr>
        <p:spPr>
          <a:xfrm>
            <a:off x="6677743" y="3619340"/>
            <a:ext cx="1128463" cy="8599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公共部门是OB重要收入支柱，约30%（估算）</a:t>
            </a:r>
            <a:r>
              <a:rPr lang="en-US" altLang="zh-CN" sz="105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1050" dirty="0">
              <a:solidFill>
                <a:srgbClr val="C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0" name="右大括号 59">
            <a:extLst>
              <a:ext uri="{FF2B5EF4-FFF2-40B4-BE49-F238E27FC236}">
                <a16:creationId xmlns:a16="http://schemas.microsoft.com/office/drawing/2014/main" id="{E5A89AB4-EB43-4027-A938-8D184BDF3150}"/>
              </a:ext>
            </a:extLst>
          </p:cNvPr>
          <p:cNvSpPr/>
          <p:nvPr/>
        </p:nvSpPr>
        <p:spPr>
          <a:xfrm>
            <a:off x="6403653" y="3598742"/>
            <a:ext cx="192563" cy="954637"/>
          </a:xfrm>
          <a:prstGeom prst="rightBrac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1" name="文本框 147">
            <a:extLst>
              <a:ext uri="{FF2B5EF4-FFF2-40B4-BE49-F238E27FC236}">
                <a16:creationId xmlns:a16="http://schemas.microsoft.com/office/drawing/2014/main" id="{800A8DC5-2177-49B1-A378-958F747A66A0}"/>
              </a:ext>
            </a:extLst>
          </p:cNvPr>
          <p:cNvSpPr txBox="1"/>
          <p:nvPr/>
        </p:nvSpPr>
        <p:spPr>
          <a:xfrm>
            <a:off x="4445350" y="2962079"/>
            <a:ext cx="1886586" cy="3159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10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OB客户群的收入占比（估算）</a:t>
            </a:r>
            <a:r>
              <a:rPr lang="zh-CN" altLang="en-US" sz="110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endParaRPr lang="en-US" altLang="zh-CN" sz="11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62" name="文本框 147">
            <a:extLst>
              <a:ext uri="{FF2B5EF4-FFF2-40B4-BE49-F238E27FC236}">
                <a16:creationId xmlns:a16="http://schemas.microsoft.com/office/drawing/2014/main" id="{D943F04A-DEB7-47C3-9078-F28A0882F7A8}"/>
              </a:ext>
            </a:extLst>
          </p:cNvPr>
          <p:cNvSpPr txBox="1"/>
          <p:nvPr/>
        </p:nvSpPr>
        <p:spPr>
          <a:xfrm>
            <a:off x="986575" y="976041"/>
            <a:ext cx="10223612" cy="698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经营总结：Orange Business过去5年收入在7.3~7.9bn€区间，FY25为7,325M€（-4.8%），占Orange集团收入18.1%，占集团B2B整体约73%（估算）。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 err="1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1399" dirty="0">
              <a:solidFill>
                <a:srgbClr val="C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l" defTabSz="914112">
              <a:lnSpc>
                <a:spcPct val="150000"/>
              </a:lnSpc>
            </a:pP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法国公共数字采购市场2024年约8.7bn€（Markess）；OB公共部门收入约2bn€/年、5年累计约10bn€（估算）：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1399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文本框 147">
            <a:extLst>
              <a:ext uri="{FF2B5EF4-FFF2-40B4-BE49-F238E27FC236}">
                <a16:creationId xmlns:a16="http://schemas.microsoft.com/office/drawing/2014/main" id="{ED0E8204-96CE-442E-A9C2-D4EBA8DEFFCA}"/>
              </a:ext>
            </a:extLst>
          </p:cNvPr>
          <p:cNvSpPr txBox="1"/>
          <p:nvPr/>
        </p:nvSpPr>
        <p:spPr>
          <a:xfrm>
            <a:off x="457525" y="4480024"/>
            <a:ext cx="3593859" cy="14086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Service: 为具体活动或工程提供服务，包括以订阅方式执行的托管与运营。通常包括装维、托管、XaaS即服务；</a:t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100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1000" b="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Supply: 提供产品或动产的采购或租赁。通常指设备硬件、软件license；不包含软件定制费用和系统集成费用。</a:t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1000" b="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r" defTabSz="914112">
              <a:lnSpc>
                <a:spcPct val="150000"/>
              </a:lnSpc>
            </a:pPr>
            <a:r>
              <a:rPr lang="en-US" altLang="zh-CN" sz="7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-- 定义参照法国《公共采购法典》Code de la commande publique</a:t>
            </a:r>
            <a:r>
              <a:rPr lang="zh-CN" altLang="en-US" sz="7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7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s-ES" altLang="zh-CN" sz="7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700" dirty="0">
              <a:solidFill>
                <a:srgbClr val="C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64" name="图表 63">
            <a:extLst>
              <a:ext uri="{FF2B5EF4-FFF2-40B4-BE49-F238E27FC236}">
                <a16:creationId xmlns:a16="http://schemas.microsoft.com/office/drawing/2014/main" id="{DC2F997E-F6D0-498C-9EC7-7CCEE0A712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2615490"/>
              </p:ext>
            </p:extLst>
          </p:nvPr>
        </p:nvGraphicFramePr>
        <p:xfrm>
          <a:off x="565942" y="2750551"/>
          <a:ext cx="3284842" cy="188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47B3824D-FEDE-4C01-9CFD-4F93EB431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856937"/>
              </p:ext>
            </p:extLst>
          </p:nvPr>
        </p:nvGraphicFramePr>
        <p:xfrm>
          <a:off x="4499273" y="3367437"/>
          <a:ext cx="1864635" cy="2146260"/>
        </p:xfrm>
        <a:graphic>
          <a:graphicData uri="http://schemas.openxmlformats.org/drawingml/2006/table">
            <a:tbl>
              <a:tblPr/>
              <a:tblGrid>
                <a:gridCol w="1011663">
                  <a:extLst>
                    <a:ext uri="{9D8B030D-6E8A-4147-A177-3AD203B41FA5}">
                      <a16:colId xmlns:a16="http://schemas.microsoft.com/office/drawing/2014/main" val="556015953"/>
                    </a:ext>
                  </a:extLst>
                </a:gridCol>
                <a:gridCol w="852972">
                  <a:extLst>
                    <a:ext uri="{9D8B030D-6E8A-4147-A177-3AD203B41FA5}">
                      <a16:colId xmlns:a16="http://schemas.microsoft.com/office/drawing/2014/main" val="733811711"/>
                    </a:ext>
                  </a:extLst>
                </a:gridCol>
              </a:tblGrid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客户群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收入占比(估)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3621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中央政府机构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12%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191785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大区及地方政府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8%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0807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医疗与公共机构</a:t>
                      </a:r>
                      <a:endParaRPr lang="zh-CN" altLang="en-US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6%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06129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国防与安全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996756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跨国企业（MNC）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25%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97957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全国性大企业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403408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金融与服务业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673226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工业与制造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054960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中型企业</a:t>
                      </a:r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26192"/>
                  </a:ext>
                </a:extLst>
              </a:tr>
            </a:tbl>
          </a:graphicData>
        </a:graphic>
      </p:graphicFrame>
      <p:sp>
        <p:nvSpPr>
          <p:cNvPr id="66" name="文本框 147">
            <a:extLst>
              <a:ext uri="{FF2B5EF4-FFF2-40B4-BE49-F238E27FC236}">
                <a16:creationId xmlns:a16="http://schemas.microsoft.com/office/drawing/2014/main" id="{DDFB8515-8C9E-488A-91C0-F7C568F2F8CC}"/>
              </a:ext>
            </a:extLst>
          </p:cNvPr>
          <p:cNvSpPr txBox="1"/>
          <p:nvPr/>
        </p:nvSpPr>
        <p:spPr>
          <a:xfrm>
            <a:off x="6688081" y="4808368"/>
            <a:ext cx="1128463" cy="7892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大企业与跨国占比约55%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</a:p>
          <a:p>
            <a:pPr algn="l" defTabSz="914112">
              <a:lnSpc>
                <a:spcPct val="150000"/>
              </a:lnSpc>
            </a:pPr>
            <a:endParaRPr lang="en-US" altLang="zh-CN" sz="1050" b="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l" defTabSz="914112">
              <a:lnSpc>
                <a:spcPct val="150000"/>
              </a:lnSpc>
            </a:pP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中型企业占比约15%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endParaRPr lang="en-US" altLang="zh-CN" sz="105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92F03D7B-02EC-42D1-B1D7-84D8EF01BDBD}"/>
              </a:ext>
            </a:extLst>
          </p:cNvPr>
          <p:cNvSpPr/>
          <p:nvPr/>
        </p:nvSpPr>
        <p:spPr>
          <a:xfrm>
            <a:off x="6403653" y="4745846"/>
            <a:ext cx="192563" cy="533400"/>
          </a:xfrm>
          <a:prstGeom prst="rightBrac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8" name="文本框 147">
            <a:extLst>
              <a:ext uri="{FF2B5EF4-FFF2-40B4-BE49-F238E27FC236}">
                <a16:creationId xmlns:a16="http://schemas.microsoft.com/office/drawing/2014/main" id="{3AB6CDA4-BFA9-4D7D-87F9-5008ADDD413E}"/>
              </a:ext>
            </a:extLst>
          </p:cNvPr>
          <p:cNvSpPr txBox="1"/>
          <p:nvPr/>
        </p:nvSpPr>
        <p:spPr>
          <a:xfrm>
            <a:off x="8048421" y="2131466"/>
            <a:ext cx="3760909" cy="613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从项目规模来看，&gt;1M€大项目约占法国公共数字采购的46%（估算）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graphicFrame>
        <p:nvGraphicFramePr>
          <p:cNvPr id="69" name="图表 68">
            <a:extLst>
              <a:ext uri="{FF2B5EF4-FFF2-40B4-BE49-F238E27FC236}">
                <a16:creationId xmlns:a16="http://schemas.microsoft.com/office/drawing/2014/main" id="{20DFA4FB-ED79-4876-A2B0-3EBF3DEEF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6351244"/>
              </p:ext>
            </p:extLst>
          </p:nvPr>
        </p:nvGraphicFramePr>
        <p:xfrm>
          <a:off x="7469921" y="3191136"/>
          <a:ext cx="3362277" cy="1640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E34D4907-694E-4163-AA55-5B8E52D48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499670"/>
              </p:ext>
            </p:extLst>
          </p:nvPr>
        </p:nvGraphicFramePr>
        <p:xfrm>
          <a:off x="10190926" y="4424379"/>
          <a:ext cx="1301539" cy="771480"/>
        </p:xfrm>
        <a:graphic>
          <a:graphicData uri="http://schemas.openxmlformats.org/drawingml/2006/table">
            <a:tbl>
              <a:tblPr/>
              <a:tblGrid>
                <a:gridCol w="706154">
                  <a:extLst>
                    <a:ext uri="{9D8B030D-6E8A-4147-A177-3AD203B41FA5}">
                      <a16:colId xmlns:a16="http://schemas.microsoft.com/office/drawing/2014/main" val="556015953"/>
                    </a:ext>
                  </a:extLst>
                </a:gridCol>
                <a:gridCol w="595385">
                  <a:extLst>
                    <a:ext uri="{9D8B030D-6E8A-4147-A177-3AD203B41FA5}">
                      <a16:colId xmlns:a16="http://schemas.microsoft.com/office/drawing/2014/main" val="733811711"/>
                    </a:ext>
                  </a:extLst>
                </a:gridCol>
              </a:tblGrid>
              <a:tr h="257160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国家部委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191785"/>
                  </a:ext>
                </a:extLst>
              </a:tr>
              <a:tr h="257160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大区与地方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30%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0807"/>
                  </a:ext>
                </a:extLst>
              </a:tr>
              <a:tr h="257160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医疗及其他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15%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97957"/>
                  </a:ext>
                </a:extLst>
              </a:tr>
            </a:tbl>
          </a:graphicData>
        </a:graphic>
      </p:graphicFrame>
      <p:sp>
        <p:nvSpPr>
          <p:cNvPr id="71" name="箭头: 右 70">
            <a:extLst>
              <a:ext uri="{FF2B5EF4-FFF2-40B4-BE49-F238E27FC236}">
                <a16:creationId xmlns:a16="http://schemas.microsoft.com/office/drawing/2014/main" id="{8CAD1388-9FBF-4F78-A721-0BDDDB888876}"/>
              </a:ext>
            </a:extLst>
          </p:cNvPr>
          <p:cNvSpPr/>
          <p:nvPr/>
        </p:nvSpPr>
        <p:spPr>
          <a:xfrm rot="1616177">
            <a:off x="9755089" y="4479778"/>
            <a:ext cx="347569" cy="171687"/>
          </a:xfrm>
          <a:prstGeom prst="rightArrow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2" name="文本框 147">
            <a:extLst>
              <a:ext uri="{FF2B5EF4-FFF2-40B4-BE49-F238E27FC236}">
                <a16:creationId xmlns:a16="http://schemas.microsoft.com/office/drawing/2014/main" id="{1D009130-148C-4099-91EC-36149C0E8FF1}"/>
              </a:ext>
            </a:extLst>
          </p:cNvPr>
          <p:cNvSpPr txBox="1"/>
          <p:nvPr/>
        </p:nvSpPr>
        <p:spPr>
          <a:xfrm>
            <a:off x="10092785" y="3256457"/>
            <a:ext cx="1555068" cy="861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过去5年，OB公共部门累计收入约10bn€（约2bn€/年，估算）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05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73" name="文本框 147">
            <a:extLst>
              <a:ext uri="{FF2B5EF4-FFF2-40B4-BE49-F238E27FC236}">
                <a16:creationId xmlns:a16="http://schemas.microsoft.com/office/drawing/2014/main" id="{D0068E87-6CA5-4371-B560-00B47B7F77CE}"/>
              </a:ext>
            </a:extLst>
          </p:cNvPr>
          <p:cNvSpPr txBox="1"/>
          <p:nvPr/>
        </p:nvSpPr>
        <p:spPr>
          <a:xfrm>
            <a:off x="9769780" y="5238474"/>
            <a:ext cx="2039550" cy="2752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900" b="0" dirty="0">
                <a:solidFill>
                  <a:srgbClr val="1D1D1A"/>
                </a:solidFill>
                <a:sym typeface="Arial" panose="020B0604020202020204" pitchFamily="34" charset="0"/>
              </a:rPr>
              <a:t>示例：军队部、内政部、UGAP、AP-HP、大区政府等</a:t>
            </a:r>
            <a:r>
              <a:rPr lang="zh-CN" altLang="en-US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90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9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endParaRPr lang="en-US" altLang="zh-CN" sz="9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74" name="右大括号 73">
            <a:extLst>
              <a:ext uri="{FF2B5EF4-FFF2-40B4-BE49-F238E27FC236}">
                <a16:creationId xmlns:a16="http://schemas.microsoft.com/office/drawing/2014/main" id="{B89E5928-6B66-4023-B971-AAFAC56DEC6C}"/>
              </a:ext>
            </a:extLst>
          </p:cNvPr>
          <p:cNvSpPr/>
          <p:nvPr/>
        </p:nvSpPr>
        <p:spPr>
          <a:xfrm>
            <a:off x="6403653" y="5355417"/>
            <a:ext cx="192563" cy="152340"/>
          </a:xfrm>
          <a:prstGeom prst="rightBrac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15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202">
            <a:extLst>
              <a:ext uri="{FF2B5EF4-FFF2-40B4-BE49-F238E27FC236}">
                <a16:creationId xmlns:a16="http://schemas.microsoft.com/office/drawing/2014/main" id="{1C33F99E-5BCF-442F-90BB-7C4B189837E3}"/>
              </a:ext>
            </a:extLst>
          </p:cNvPr>
          <p:cNvSpPr txBox="1"/>
          <p:nvPr/>
        </p:nvSpPr>
        <p:spPr>
          <a:xfrm>
            <a:off x="343645" y="225409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  <a:sym typeface="Arial" panose="020B0604020202020204" pitchFamily="34" charset="0"/>
              </a:rPr>
              <a:t>Orange Business经营分析：ToB收入构成</a:t>
            </a:r>
            <a:r>
              <a:rPr lang="zh-CN" altLang="en-US" sz="2000" dirty="0">
                <a:sym typeface="Arial" panose="020B0604020202020204" pitchFamily="34" charset="0"/>
              </a:rPr>
              <a:t/>
            </a:r>
            <a:r>
              <a:rPr lang="zh-CN" altLang="en-US" sz="2000" dirty="0"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lang="zh-CN" altLang="en-US" sz="2000" dirty="0">
                <a:sym typeface="Arial" panose="020B0604020202020204" pitchFamily="34" charset="0"/>
              </a:rPr>
              <a:t/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16" name="Rounded Rectangle 75">
            <a:extLst>
              <a:ext uri="{FF2B5EF4-FFF2-40B4-BE49-F238E27FC236}">
                <a16:creationId xmlns:a16="http://schemas.microsoft.com/office/drawing/2014/main" id="{FF0E835E-AE41-4222-BCCB-3305B4DCD8B4}"/>
              </a:ext>
            </a:extLst>
          </p:cNvPr>
          <p:cNvSpPr/>
          <p:nvPr/>
        </p:nvSpPr>
        <p:spPr>
          <a:xfrm>
            <a:off x="497822" y="1211375"/>
            <a:ext cx="4812490" cy="500281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C3DC522-D06F-4283-B775-AC229D6F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9" y="1565274"/>
            <a:ext cx="4581327" cy="443205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6DA27F6-792A-476F-A8E7-D6E30BA45831}"/>
              </a:ext>
            </a:extLst>
          </p:cNvPr>
          <p:cNvSpPr/>
          <p:nvPr/>
        </p:nvSpPr>
        <p:spPr>
          <a:xfrm>
            <a:off x="674156" y="1045165"/>
            <a:ext cx="4439729" cy="58477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集团整体：收入+0.9% / EBITDAaL+3.8%双增长，中东非+12.2%强劲；B2B（OB）是唯一下滑板块（-4.8%）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/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/>
            </a:r>
            <a:r>
              <a:rPr lang="zh-CN" altLang="en-US" sz="1600" b="1" kern="0" dirty="0"/>
              <a:t/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/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/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/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7D09F58-9BC0-409A-AC77-AADA3CA07655}"/>
              </a:ext>
            </a:extLst>
          </p:cNvPr>
          <p:cNvSpPr/>
          <p:nvPr/>
        </p:nvSpPr>
        <p:spPr>
          <a:xfrm>
            <a:off x="3838133" y="3314223"/>
            <a:ext cx="564844" cy="28724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E6C5728-E069-461C-AC18-F379529CA0E9}"/>
              </a:ext>
            </a:extLst>
          </p:cNvPr>
          <p:cNvSpPr/>
          <p:nvPr/>
        </p:nvSpPr>
        <p:spPr>
          <a:xfrm>
            <a:off x="3131772" y="3330589"/>
            <a:ext cx="564844" cy="28724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826FB1F-131D-4F68-9B38-9453BC96B8E8}"/>
              </a:ext>
            </a:extLst>
          </p:cNvPr>
          <p:cNvSpPr/>
          <p:nvPr/>
        </p:nvSpPr>
        <p:spPr>
          <a:xfrm>
            <a:off x="3131772" y="2466200"/>
            <a:ext cx="564844" cy="28724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30A4936-921B-414F-8467-FD14847CC698}"/>
              </a:ext>
            </a:extLst>
          </p:cNvPr>
          <p:cNvSpPr/>
          <p:nvPr/>
        </p:nvSpPr>
        <p:spPr>
          <a:xfrm>
            <a:off x="1602584" y="2980184"/>
            <a:ext cx="1177151" cy="517328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toB 占比 18.1%</a:t>
            </a:r>
            <a:r>
              <a:rPr lang="zh-CN" altLang="en-US" sz="1000" dirty="0"/>
              <a:t/>
            </a:r>
            <a:r>
              <a:rPr lang="en-US" altLang="zh-CN" sz="2000" dirty="0"/>
              <a:t/>
            </a:r>
            <a:endParaRPr lang="zh-CN" altLang="en-US" sz="2000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BFF7F84-C12B-427F-9450-BF0B0FC749CA}"/>
              </a:ext>
            </a:extLst>
          </p:cNvPr>
          <p:cNvCxnSpPr/>
          <p:nvPr/>
        </p:nvCxnSpPr>
        <p:spPr>
          <a:xfrm flipV="1">
            <a:off x="2779735" y="2716594"/>
            <a:ext cx="352037" cy="299099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D2ED5CF-2611-437E-B4CA-99D9F3B6E783}"/>
              </a:ext>
            </a:extLst>
          </p:cNvPr>
          <p:cNvCxnSpPr/>
          <p:nvPr/>
        </p:nvCxnSpPr>
        <p:spPr>
          <a:xfrm>
            <a:off x="2841171" y="3429000"/>
            <a:ext cx="223935" cy="68512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3">
            <a:extLst>
              <a:ext uri="{FF2B5EF4-FFF2-40B4-BE49-F238E27FC236}">
                <a16:creationId xmlns:a16="http://schemas.microsoft.com/office/drawing/2014/main" id="{9FE90636-678D-421D-ADE4-F61F107775C4}"/>
              </a:ext>
            </a:extLst>
          </p:cNvPr>
          <p:cNvSpPr txBox="1"/>
          <p:nvPr/>
        </p:nvSpPr>
        <p:spPr>
          <a:xfrm>
            <a:off x="5964646" y="674096"/>
            <a:ext cx="5160553" cy="33855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OB toB现状：收入约73亿欧元，法国企业连接份额约60%+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/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/>
            </a:r>
            <a:r>
              <a:rPr lang="zh-CN" altLang="en-US" sz="1600" b="1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/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/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/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/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98B91C07-7B72-4573-BAC8-9FB7D30BF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555267"/>
              </p:ext>
            </p:extLst>
          </p:nvPr>
        </p:nvGraphicFramePr>
        <p:xfrm>
          <a:off x="5897962" y="1160832"/>
          <a:ext cx="5227237" cy="2725367"/>
        </p:xfrm>
        <a:graphic>
          <a:graphicData uri="http://schemas.openxmlformats.org/drawingml/2006/table">
            <a:tbl>
              <a:tblPr/>
              <a:tblGrid>
                <a:gridCol w="665589">
                  <a:extLst>
                    <a:ext uri="{9D8B030D-6E8A-4147-A177-3AD203B41FA5}">
                      <a16:colId xmlns:a16="http://schemas.microsoft.com/office/drawing/2014/main" val="2202619122"/>
                    </a:ext>
                  </a:extLst>
                </a:gridCol>
                <a:gridCol w="829940">
                  <a:extLst>
                    <a:ext uri="{9D8B030D-6E8A-4147-A177-3AD203B41FA5}">
                      <a16:colId xmlns:a16="http://schemas.microsoft.com/office/drawing/2014/main" val="569712198"/>
                    </a:ext>
                  </a:extLst>
                </a:gridCol>
                <a:gridCol w="1581240">
                  <a:extLst>
                    <a:ext uri="{9D8B030D-6E8A-4147-A177-3AD203B41FA5}">
                      <a16:colId xmlns:a16="http://schemas.microsoft.com/office/drawing/2014/main" val="2826668580"/>
                    </a:ext>
                  </a:extLst>
                </a:gridCol>
                <a:gridCol w="881873">
                  <a:extLst>
                    <a:ext uri="{9D8B030D-6E8A-4147-A177-3AD203B41FA5}">
                      <a16:colId xmlns:a16="http://schemas.microsoft.com/office/drawing/2014/main" val="4082310410"/>
                    </a:ext>
                  </a:extLst>
                </a:gridCol>
                <a:gridCol w="710614">
                  <a:extLst>
                    <a:ext uri="{9D8B030D-6E8A-4147-A177-3AD203B41FA5}">
                      <a16:colId xmlns:a16="http://schemas.microsoft.com/office/drawing/2014/main" val="2037229222"/>
                    </a:ext>
                  </a:extLst>
                </a:gridCol>
                <a:gridCol w="557981">
                  <a:extLst>
                    <a:ext uri="{9D8B030D-6E8A-4147-A177-3AD203B41FA5}">
                      <a16:colId xmlns:a16="http://schemas.microsoft.com/office/drawing/2014/main" val="1710270599"/>
                    </a:ext>
                  </a:extLst>
                </a:gridCol>
              </a:tblGrid>
              <a:tr h="330361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类别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OB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Offering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OB的Offering（来自官网&amp;财报）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管理服务</a:t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（5,377M€）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集成与转售</a:t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（1,950M€）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市场格局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163505"/>
                  </a:ext>
                </a:extLst>
              </a:tr>
              <a:tr h="322127">
                <a:tc rowSpan="7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OB整体</a:t>
                      </a:r>
                      <a:endParaRPr lang="en-US" altLang="zh-CN" sz="10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73亿€</a:t>
                      </a:r>
                      <a:r>
                        <a:rPr lang="zh-CN" altLang="en-US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altLang="zh-CN" sz="1100" b="1" i="0" u="none" strike="noStrike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800" b="0" i="1" u="none" strike="noStrike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(7,325M€)</a:t>
                      </a:r>
                      <a:r>
                        <a:rPr lang="en-US" sz="900" b="0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900" b="0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800" b="0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Connectivity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（Internet &amp; network &amp; Voice）；固定2,715+移动912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3,627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624294"/>
                  </a:ext>
                </a:extLst>
              </a:tr>
              <a:tr h="251680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Security（Cyberdefense）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900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欧洲#1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536846"/>
                  </a:ext>
                </a:extLst>
              </a:tr>
              <a:tr h="251680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For Client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715121"/>
                  </a:ext>
                </a:extLst>
              </a:tr>
              <a:tr h="310382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For Employee（workplace）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026375"/>
                  </a:ext>
                </a:extLst>
              </a:tr>
              <a:tr h="310382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For Process（Application &amp; Service）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/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150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8910"/>
                  </a:ext>
                </a:extLst>
              </a:tr>
              <a:tr h="189608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Cloud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40251"/>
                  </a:ext>
                </a:extLst>
              </a:tr>
              <a:tr h="155191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Consulting &amp; Innovation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430387"/>
                  </a:ext>
                </a:extLst>
              </a:tr>
              <a:tr h="310382">
                <a:tc rowSpan="2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ctr" defTabSz="1187798" rtl="0" eaLnBrk="1" fontAlgn="b" latinLnBrk="0" hangingPunct="1"/>
                      <a:r>
                        <a:rPr lang="en-US" altLang="zh-CN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SME</a:t>
                      </a:r>
                    </a:p>
                    <a:p>
                      <a:pPr marL="0" algn="ctr" defTabSz="1187798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(OFR口径)</a:t>
                      </a:r>
                      <a:r>
                        <a:rPr lang="zh-CN" altLang="en-US" sz="1100" b="1" i="0" u="none" strike="noStrike" kern="12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/>
                      </a:r>
                      <a:endParaRPr lang="en-US" altLang="zh-CN" sz="1100" b="1" i="0" u="none" strike="noStrike" kern="1200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900" b="0" i="1" u="none" strike="noStrike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9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9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900" b="0" i="1" u="none" strike="noStrike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/>
                      </a:r>
                      <a:endParaRPr lang="en-US" sz="10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Connectivity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Pro/PME 融合套餐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-</a:t>
                      </a:r>
                      <a:endParaRPr lang="zh-CN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~50%(估)</a:t>
                      </a:r>
                      <a:endParaRPr lang="zh-CN" alt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410082"/>
                  </a:ext>
                </a:extLst>
              </a:tr>
              <a:tr h="293574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SME数字化服务包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168105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A90D51AA-5645-4AE9-9409-C86E4FB0DD75}"/>
              </a:ext>
            </a:extLst>
          </p:cNvPr>
          <p:cNvSpPr/>
          <p:nvPr/>
        </p:nvSpPr>
        <p:spPr>
          <a:xfrm>
            <a:off x="3838133" y="6307603"/>
            <a:ext cx="152634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数据来源：Orange FY2025财报，拆分为估算</a:t>
            </a:r>
            <a:r>
              <a:rPr lang="en-US" altLang="zh-CN" sz="800" kern="0" dirty="0"/>
              <a:t/>
            </a:r>
            <a:r>
              <a:rPr lang="zh-CN" altLang="en-US" sz="800" kern="0" dirty="0"/>
              <a:t/>
            </a:r>
            <a:endParaRPr kumimoji="0" lang="en-US" altLang="zh-CN" sz="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B355D1-8C11-4804-B4AD-26073A4BC6B7}"/>
              </a:ext>
            </a:extLst>
          </p:cNvPr>
          <p:cNvSpPr/>
          <p:nvPr/>
        </p:nvSpPr>
        <p:spPr>
          <a:xfrm>
            <a:off x="6098380" y="4239218"/>
            <a:ext cx="44518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连接占约50%，法国市场格局绝对优势</a:t>
            </a:r>
            <a:r>
              <a:rPr lang="en-US" altLang="zh-CN" b="1" dirty="0"/>
              <a:t/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IT&amp;集成占约50%，安全+6.8%为增长引擎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传统固话/专线下滑是收入下降主因</a:t>
            </a:r>
            <a:r>
              <a:rPr lang="zh-CN" altLang="en-US" sz="1400" dirty="0"/>
              <a:t/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A15D868-9CC1-45D7-8C74-752B46D2035B}"/>
              </a:ext>
            </a:extLst>
          </p:cNvPr>
          <p:cNvSpPr/>
          <p:nvPr/>
        </p:nvSpPr>
        <p:spPr>
          <a:xfrm>
            <a:off x="6098381" y="5290859"/>
            <a:ext cx="44518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SME由Orange France经营（不在OB口径）</a:t>
            </a:r>
            <a:r>
              <a:rPr lang="zh-CN" altLang="en-US" b="1" dirty="0"/>
              <a:t/>
            </a:r>
            <a:r>
              <a:rPr lang="en-US" altLang="zh-CN" b="1" dirty="0"/>
              <a:t/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OB聚焦大企业、跨国与公共部门</a:t>
            </a:r>
          </a:p>
        </p:txBody>
      </p:sp>
    </p:spTree>
    <p:extLst>
      <p:ext uri="{BB962C8B-B14F-4D97-AF65-F5344CB8AC3E}">
        <p14:creationId xmlns:p14="http://schemas.microsoft.com/office/powerpoint/2010/main" val="413417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FF5A183-780E-4A3F-93E5-3A506AD59952}"/>
              </a:ext>
            </a:extLst>
          </p:cNvPr>
          <p:cNvSpPr/>
          <p:nvPr/>
        </p:nvSpPr>
        <p:spPr>
          <a:xfrm>
            <a:off x="253967" y="199489"/>
            <a:ext cx="30992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OB B2B组织架构（公开层级）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C2894D09-B1CC-40B1-A002-9F04EE1BD74C}"/>
              </a:ext>
            </a:extLst>
          </p:cNvPr>
          <p:cNvGrpSpPr/>
          <p:nvPr/>
        </p:nvGrpSpPr>
        <p:grpSpPr>
          <a:xfrm>
            <a:off x="300906" y="1117928"/>
            <a:ext cx="11266964" cy="5107453"/>
            <a:chOff x="368403" y="1300808"/>
            <a:chExt cx="7378598" cy="5107453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926F9A9F-A2CA-47C4-AA43-C048D4273505}"/>
                </a:ext>
              </a:extLst>
            </p:cNvPr>
            <p:cNvSpPr>
              <a:spLocks/>
            </p:cNvSpPr>
            <p:nvPr/>
          </p:nvSpPr>
          <p:spPr>
            <a:xfrm>
              <a:off x="690585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公共</a:t>
              </a:r>
            </a:p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部门</a:t>
              </a: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56FDF9A0-D492-4432-B91F-60BC91FEE7AC}"/>
                </a:ext>
              </a:extLst>
            </p:cNvPr>
            <p:cNvSpPr>
              <a:spLocks/>
            </p:cNvSpPr>
            <p:nvPr/>
          </p:nvSpPr>
          <p:spPr>
            <a:xfrm>
              <a:off x="1517039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金融</a:t>
              </a:r>
            </a:p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保险</a:t>
              </a: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FAEEB4E6-D6D2-44A3-B44F-AE74F2D6A823}"/>
                </a:ext>
              </a:extLst>
            </p:cNvPr>
            <p:cNvSpPr>
              <a:spLocks/>
            </p:cNvSpPr>
            <p:nvPr/>
          </p:nvSpPr>
          <p:spPr>
            <a:xfrm>
              <a:off x="3169947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服务零售</a:t>
              </a: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5C83EEE2-ABC5-4BE2-9501-487F40A3585D}"/>
                </a:ext>
              </a:extLst>
            </p:cNvPr>
            <p:cNvSpPr>
              <a:spLocks/>
            </p:cNvSpPr>
            <p:nvPr/>
          </p:nvSpPr>
          <p:spPr>
            <a:xfrm>
              <a:off x="3996401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国防安全</a:t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2DBF852-B154-467C-BC70-EF710E087B5A}"/>
                </a:ext>
              </a:extLst>
            </p:cNvPr>
            <p:cNvSpPr>
              <a:spLocks/>
            </p:cNvSpPr>
            <p:nvPr/>
          </p:nvSpPr>
          <p:spPr>
            <a:xfrm>
              <a:off x="4822855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医疗健康</a:t>
              </a:r>
            </a:p>
          </p:txBody>
        </p: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2B54DEA3-2CCC-4385-BEA9-4874897F0009}"/>
                </a:ext>
              </a:extLst>
            </p:cNvPr>
            <p:cNvSpPr>
              <a:spLocks/>
            </p:cNvSpPr>
            <p:nvPr/>
          </p:nvSpPr>
          <p:spPr>
            <a:xfrm>
              <a:off x="5649312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交通能源</a:t>
              </a: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3C13703E-8004-4581-82CE-BB9C6C2EF2E7}"/>
                </a:ext>
              </a:extLst>
            </p:cNvPr>
            <p:cNvSpPr>
              <a:spLocks/>
            </p:cNvSpPr>
            <p:nvPr/>
          </p:nvSpPr>
          <p:spPr>
            <a:xfrm>
              <a:off x="641080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国家与</a:t>
              </a:r>
            </a:p>
            <a:p>
              <a:pPr algn="ctr">
                <a:defRPr/>
              </a:pP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地方政府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415D8D0-14A6-4EEF-81FE-8A32EE040FF1}"/>
                </a:ext>
              </a:extLst>
            </p:cNvPr>
            <p:cNvSpPr>
              <a:spLocks/>
            </p:cNvSpPr>
            <p:nvPr/>
          </p:nvSpPr>
          <p:spPr>
            <a:xfrm>
              <a:off x="1486198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银行/</a:t>
              </a:r>
            </a:p>
            <a:p>
              <a:pPr algn="ctr">
                <a:defRPr/>
              </a:pP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保险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0B957DF3-9A0F-4CBB-A4B3-1B812C5DEA6A}"/>
                </a:ext>
              </a:extLst>
            </p:cNvPr>
            <p:cNvSpPr>
              <a:spLocks/>
            </p:cNvSpPr>
            <p:nvPr/>
          </p:nvSpPr>
          <p:spPr>
            <a:xfrm>
              <a:off x="2309195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汽车/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航空制造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762DA851-CE6A-4E1A-8034-0FACB7D2D140}"/>
                </a:ext>
              </a:extLst>
            </p:cNvPr>
            <p:cNvSpPr>
              <a:spLocks/>
            </p:cNvSpPr>
            <p:nvPr/>
          </p:nvSpPr>
          <p:spPr>
            <a:xfrm>
              <a:off x="3131004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零售/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物流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5D51BB48-D35F-4714-B727-FF2695584724}"/>
                </a:ext>
              </a:extLst>
            </p:cNvPr>
            <p:cNvSpPr>
              <a:spLocks/>
            </p:cNvSpPr>
            <p:nvPr/>
          </p:nvSpPr>
          <p:spPr>
            <a:xfrm>
              <a:off x="3976122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国防安全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新设BU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B7C1D36B-10BE-48E0-B1EF-8DED37A4BF96}"/>
                </a:ext>
              </a:extLst>
            </p:cNvPr>
            <p:cNvSpPr>
              <a:spLocks/>
            </p:cNvSpPr>
            <p:nvPr/>
          </p:nvSpPr>
          <p:spPr>
            <a:xfrm>
              <a:off x="4821240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医院集团GHT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F64DDF41-E478-4B26-BD86-01F3B74BB5A2}"/>
                </a:ext>
              </a:extLst>
            </p:cNvPr>
            <p:cNvSpPr>
              <a:spLocks/>
            </p:cNvSpPr>
            <p:nvPr/>
          </p:nvSpPr>
          <p:spPr>
            <a:xfrm>
              <a:off x="5666358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能源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公用事业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6395333E-B8A5-4ACC-94EF-9076474CC1CB}"/>
                </a:ext>
              </a:extLst>
            </p:cNvPr>
            <p:cNvSpPr txBox="1">
              <a:spLocks/>
            </p:cNvSpPr>
            <p:nvPr/>
          </p:nvSpPr>
          <p:spPr>
            <a:xfrm>
              <a:off x="417299" y="1300808"/>
              <a:ext cx="141092" cy="1237701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主要销售团队</a:t>
              </a:r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F58077B5-E1A3-498B-BE2B-7EBEA3D6CE95}"/>
                </a:ext>
              </a:extLst>
            </p:cNvPr>
            <p:cNvSpPr/>
            <p:nvPr/>
          </p:nvSpPr>
          <p:spPr>
            <a:xfrm>
              <a:off x="641080" y="4274330"/>
              <a:ext cx="1405165" cy="348537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Specialized Presales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专业售前团队</a:t>
              </a:r>
              <a:endParaRPr lang="es-ES" altLang="zh-CN" sz="900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32C75EF5-2999-4D69-99D6-11178F3CC39E}"/>
                </a:ext>
              </a:extLst>
            </p:cNvPr>
            <p:cNvSpPr/>
            <p:nvPr/>
          </p:nvSpPr>
          <p:spPr>
            <a:xfrm>
              <a:off x="2180553" y="4274330"/>
              <a:ext cx="1405165" cy="348537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IoT &amp; Smart Mobility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IoT售前团队</a:t>
              </a:r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D1948681-533C-463E-AB7B-A16F4AF9B539}"/>
                </a:ext>
              </a:extLst>
            </p:cNvPr>
            <p:cNvSpPr/>
            <p:nvPr/>
          </p:nvSpPr>
          <p:spPr>
            <a:xfrm>
              <a:off x="3663422" y="4274330"/>
              <a:ext cx="980602" cy="338094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Digital &amp; AI</a:t>
              </a: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s-ES" altLang="zh-CN" sz="900" b="1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Data/GenAI</a:t>
              </a:r>
              <a:endParaRPr lang="es-ES" altLang="zh-CN" sz="900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DF8E1246-52F7-4BCF-A868-22D5D97BAC77}"/>
                </a:ext>
              </a:extLst>
            </p:cNvPr>
            <p:cNvSpPr/>
            <p:nvPr/>
          </p:nvSpPr>
          <p:spPr>
            <a:xfrm>
              <a:off x="4749349" y="4274330"/>
              <a:ext cx="895925" cy="354188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Défense &amp; Sécurité</a:t>
              </a: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国防安全售前</a:t>
              </a:r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A67717F9-AB0D-4D0D-9846-8F584130BDEA}"/>
                </a:ext>
              </a:extLst>
            </p:cNvPr>
            <p:cNvSpPr/>
            <p:nvPr/>
          </p:nvSpPr>
          <p:spPr>
            <a:xfrm>
              <a:off x="5649312" y="4274330"/>
              <a:ext cx="980601" cy="348537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Cloud  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Cloud售前</a:t>
              </a:r>
              <a:endParaRPr lang="es-ES" altLang="zh-CN" sz="900" kern="0" dirty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8DC677AE-EAF4-403F-BB33-FB8BDCA5D244}"/>
                </a:ext>
              </a:extLst>
            </p:cNvPr>
            <p:cNvSpPr/>
            <p:nvPr/>
          </p:nvSpPr>
          <p:spPr>
            <a:xfrm>
              <a:off x="3058547" y="3981102"/>
              <a:ext cx="2217794" cy="207179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CPMO：Usman Javaid（产品与市场）</a:t>
              </a:r>
              <a:r>
                <a:rPr lang="zh-CN" altLang="en-US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zh-CN" altLang="en-US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EE8D48D2-4D4F-4600-977E-BC2AB3794734}"/>
                </a:ext>
              </a:extLst>
            </p:cNvPr>
            <p:cNvSpPr/>
            <p:nvPr/>
          </p:nvSpPr>
          <p:spPr>
            <a:xfrm>
              <a:off x="608476" y="5098020"/>
              <a:ext cx="3012757" cy="553998"/>
            </a:xfrm>
            <a:prstGeom prst="rect">
              <a:avLst/>
            </a:prstGeom>
            <a:noFill/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Marketing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新产品、新方案规划和导入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伙伴管理，激励</a:t>
              </a: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E8C76AB-C2C0-4FB2-B286-F27B8D005627}"/>
                </a:ext>
              </a:extLst>
            </p:cNvPr>
            <p:cNvSpPr/>
            <p:nvPr/>
          </p:nvSpPr>
          <p:spPr>
            <a:xfrm>
              <a:off x="2156742" y="5762531"/>
              <a:ext cx="833062" cy="553998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OB采购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框架合同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项目发标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DC5D2776-9DAB-4B4D-BEDF-D5E89B547D9B}"/>
                </a:ext>
              </a:extLst>
            </p:cNvPr>
            <p:cNvSpPr/>
            <p:nvPr/>
          </p:nvSpPr>
          <p:spPr>
            <a:xfrm>
              <a:off x="3720215" y="5106194"/>
              <a:ext cx="966740" cy="553998"/>
            </a:xfrm>
            <a:prstGeom prst="rect">
              <a:avLst/>
            </a:prstGeom>
            <a:noFill/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O&amp;M</a:t>
              </a: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交付与运维（部分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外包Tech Mahindra）</a:t>
              </a: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11F5348-A815-4974-BF04-CADB7F2E01CE}"/>
                </a:ext>
              </a:extLst>
            </p:cNvPr>
            <p:cNvSpPr/>
            <p:nvPr/>
          </p:nvSpPr>
          <p:spPr>
            <a:xfrm>
              <a:off x="858358" y="5762531"/>
              <a:ext cx="1045892" cy="400110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DSS</a:t>
              </a: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新产品准入测试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7CD38CC-34DD-4AA3-B1E1-61BC9E586FE5}"/>
                </a:ext>
              </a:extLst>
            </p:cNvPr>
            <p:cNvSpPr/>
            <p:nvPr/>
          </p:nvSpPr>
          <p:spPr>
            <a:xfrm>
              <a:off x="3207539" y="5758669"/>
              <a:ext cx="1320289" cy="400110"/>
            </a:xfrm>
            <a:prstGeom prst="rect">
              <a:avLst/>
            </a:prstGeom>
            <a:noFill/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Logistics</a:t>
              </a: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发货、库存管理，要货计划等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04091C32-ADCB-44F6-AD23-F3FC0B158F21}"/>
                </a:ext>
              </a:extLst>
            </p:cNvPr>
            <p:cNvSpPr/>
            <p:nvPr/>
          </p:nvSpPr>
          <p:spPr>
            <a:xfrm>
              <a:off x="1782067" y="4716673"/>
              <a:ext cx="2328847" cy="231133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 err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OB HQ支撑团队（COO：W. Zitoune-Dumontet）</a:t>
              </a: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zh-CN" altLang="en-US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9651CFBB-524C-4F84-9C09-00117D2A4868}"/>
                </a:ext>
              </a:extLst>
            </p:cNvPr>
            <p:cNvSpPr/>
            <p:nvPr/>
          </p:nvSpPr>
          <p:spPr>
            <a:xfrm>
              <a:off x="2887240" y="1300808"/>
              <a:ext cx="2515120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OB CEO</a:t>
              </a:r>
            </a:p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Aliette Mousnier-Lompré</a:t>
              </a:r>
              <a:r>
                <a:rPr lang="en-US" altLang="zh-CN" sz="1000" b="1" kern="0" dirty="0" err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altLang="zh-CN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CE61F35-A618-46C7-843D-FF9FAE67DA2B}"/>
                </a:ext>
              </a:extLst>
            </p:cNvPr>
            <p:cNvSpPr/>
            <p:nvPr/>
          </p:nvSpPr>
          <p:spPr>
            <a:xfrm>
              <a:off x="5292077" y="4694484"/>
              <a:ext cx="1695069" cy="323766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子公司专业力量</a:t>
              </a:r>
              <a:endParaRPr lang="en-US" altLang="zh-CN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en-US" altLang="zh-CN" sz="1000" b="1" kern="0" dirty="0" err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Orange Cyberdefense</a:t>
              </a:r>
              <a:endParaRPr lang="zh-CN" altLang="en-US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D8E74C82-36D5-41E7-A3FD-F6F5F39FAFB0}"/>
                </a:ext>
              </a:extLst>
            </p:cNvPr>
            <p:cNvSpPr txBox="1">
              <a:spLocks/>
            </p:cNvSpPr>
            <p:nvPr/>
          </p:nvSpPr>
          <p:spPr>
            <a:xfrm>
              <a:off x="389233" y="2823100"/>
              <a:ext cx="141092" cy="1073232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区域销售</a:t>
              </a: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6EAA64-ABB2-444F-ADD1-1578D66F39F3}"/>
                </a:ext>
              </a:extLst>
            </p:cNvPr>
            <p:cNvSpPr txBox="1">
              <a:spLocks/>
            </p:cNvSpPr>
            <p:nvPr/>
          </p:nvSpPr>
          <p:spPr>
            <a:xfrm>
              <a:off x="387576" y="4084691"/>
              <a:ext cx="141092" cy="893266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专家团队</a:t>
              </a:r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8F6861E2-4FF3-4BEC-BC2B-8BC96CE4232F}"/>
                </a:ext>
              </a:extLst>
            </p:cNvPr>
            <p:cNvSpPr>
              <a:spLocks/>
            </p:cNvSpPr>
            <p:nvPr/>
          </p:nvSpPr>
          <p:spPr>
            <a:xfrm>
              <a:off x="2343493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工业</a:t>
              </a:r>
            </a:p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制造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8D8DC9E9-8E81-4D8C-BDF3-23DD3E7CD044}"/>
                </a:ext>
              </a:extLst>
            </p:cNvPr>
            <p:cNvSpPr/>
            <p:nvPr/>
          </p:nvSpPr>
          <p:spPr>
            <a:xfrm>
              <a:off x="687235" y="1725505"/>
              <a:ext cx="2403659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Industry Sales Team（行业销售）</a:t>
              </a: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AC001576-5B1F-492D-94E4-A4A85142BE4F}"/>
                </a:ext>
              </a:extLst>
            </p:cNvPr>
            <p:cNvSpPr/>
            <p:nvPr/>
          </p:nvSpPr>
          <p:spPr>
            <a:xfrm>
              <a:off x="3150547" y="1710298"/>
              <a:ext cx="3225304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Territory Sales Team（France &amp; International）</a:t>
              </a: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DCDE1DAE-86F1-449B-BBE8-7A06C81834D4}"/>
                </a:ext>
              </a:extLst>
            </p:cNvPr>
            <p:cNvSpPr/>
            <p:nvPr/>
          </p:nvSpPr>
          <p:spPr>
            <a:xfrm>
              <a:off x="6498454" y="1704913"/>
              <a:ext cx="1074451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Inside Sales</a:t>
              </a:r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BA4F5E8D-58F4-4E49-ACBD-77DFF677F93D}"/>
                </a:ext>
              </a:extLst>
            </p:cNvPr>
            <p:cNvSpPr>
              <a:spLocks/>
            </p:cNvSpPr>
            <p:nvPr/>
          </p:nvSpPr>
          <p:spPr>
            <a:xfrm>
              <a:off x="6522520" y="2142484"/>
              <a:ext cx="1064212" cy="603474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中型客户远程销售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CF5BB9DA-3EE2-40EF-BA74-119D1C3FA88D}"/>
                </a:ext>
              </a:extLst>
            </p:cNvPr>
            <p:cNvSpPr>
              <a:spLocks/>
            </p:cNvSpPr>
            <p:nvPr/>
          </p:nvSpPr>
          <p:spPr>
            <a:xfrm>
              <a:off x="6606249" y="2842656"/>
              <a:ext cx="988329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Inside Sales团队</a:t>
              </a: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altLang="zh-CN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E361ACFB-E23E-4BEB-BD64-5C0510777B8C}"/>
                </a:ext>
              </a:extLst>
            </p:cNvPr>
            <p:cNvSpPr>
              <a:spLocks/>
            </p:cNvSpPr>
            <p:nvPr/>
          </p:nvSpPr>
          <p:spPr>
            <a:xfrm>
              <a:off x="660481" y="3530410"/>
              <a:ext cx="5784926" cy="354188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大客户AM+售前团队（法国+全球）</a:t>
              </a:r>
              <a:r>
                <a:rPr lang="zh-CN" altLang="en-US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zh-CN" altLang="en-US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D4E642D3-94C2-4E61-B081-4AB70ADEF403}"/>
                </a:ext>
              </a:extLst>
            </p:cNvPr>
            <p:cNvSpPr>
              <a:spLocks/>
            </p:cNvSpPr>
            <p:nvPr/>
          </p:nvSpPr>
          <p:spPr>
            <a:xfrm>
              <a:off x="6635533" y="3561701"/>
              <a:ext cx="1002156" cy="321978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AM团队</a:t>
              </a:r>
              <a:r>
                <a:rPr lang="zh-CN" altLang="en-US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F60487-7860-48AB-BA1A-5DE6A5FEDEC2}"/>
                </a:ext>
              </a:extLst>
            </p:cNvPr>
            <p:cNvSpPr txBox="1">
              <a:spLocks/>
            </p:cNvSpPr>
            <p:nvPr/>
          </p:nvSpPr>
          <p:spPr>
            <a:xfrm>
              <a:off x="368403" y="5075530"/>
              <a:ext cx="141092" cy="893266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专家团队</a:t>
              </a: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3020D8B-9C90-4AA7-9981-8CA2DF660D87}"/>
                </a:ext>
              </a:extLst>
            </p:cNvPr>
            <p:cNvSpPr/>
            <p:nvPr/>
          </p:nvSpPr>
          <p:spPr>
            <a:xfrm>
              <a:off x="6680052" y="4252461"/>
              <a:ext cx="980601" cy="348537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SME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MKT/Dev</a:t>
              </a:r>
              <a:endParaRPr lang="es-ES" altLang="zh-CN" sz="900" kern="0" dirty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6" name="Rectangle 133">
              <a:extLst>
                <a:ext uri="{FF2B5EF4-FFF2-40B4-BE49-F238E27FC236}">
                  <a16:creationId xmlns:a16="http://schemas.microsoft.com/office/drawing/2014/main" id="{8F74003A-67C1-4B02-ADBF-37B2BD050CE9}"/>
                </a:ext>
              </a:extLst>
            </p:cNvPr>
            <p:cNvSpPr/>
            <p:nvPr/>
          </p:nvSpPr>
          <p:spPr>
            <a:xfrm>
              <a:off x="4785937" y="5106195"/>
              <a:ext cx="2961064" cy="1302066"/>
            </a:xfrm>
            <a:prstGeom prst="rect">
              <a:avLst/>
            </a:prstGeom>
            <a:solidFill>
              <a:srgbClr val="30B5C5">
                <a:lumMod val="40000"/>
                <a:lumOff val="60000"/>
              </a:srgbClr>
            </a:solidFill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5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多厂商兼容，预集成</a:t>
              </a:r>
            </a:p>
          </p:txBody>
        </p: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0C309891-2ECF-44C1-A618-2FFF9FEA36D0}"/>
                </a:ext>
              </a:extLst>
            </p:cNvPr>
            <p:cNvGrpSpPr/>
            <p:nvPr/>
          </p:nvGrpSpPr>
          <p:grpSpPr>
            <a:xfrm>
              <a:off x="4924522" y="5310793"/>
              <a:ext cx="2644120" cy="1024468"/>
              <a:chOff x="4924522" y="5300651"/>
              <a:chExt cx="3495648" cy="1323341"/>
            </a:xfrm>
          </p:grpSpPr>
          <p:sp>
            <p:nvSpPr>
              <p:cNvPr id="148" name="Rectangle 20">
                <a:extLst>
                  <a:ext uri="{FF2B5EF4-FFF2-40B4-BE49-F238E27FC236}">
                    <a16:creationId xmlns:a16="http://schemas.microsoft.com/office/drawing/2014/main" id="{EB36EF71-122F-4EAE-8D78-85D42BE69B03}"/>
                  </a:ext>
                </a:extLst>
              </p:cNvPr>
              <p:cNvSpPr/>
              <p:nvPr/>
            </p:nvSpPr>
            <p:spPr>
              <a:xfrm>
                <a:off x="6970503" y="5370225"/>
                <a:ext cx="1449667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i="1" kern="0" dirty="0" err="1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Cloud Avenue/FE</a:t>
                </a:r>
                <a:r>
                  <a:rPr lang="en-U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/>
                </a: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/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9" name="Rectangle 141">
                <a:extLst>
                  <a:ext uri="{FF2B5EF4-FFF2-40B4-BE49-F238E27FC236}">
                    <a16:creationId xmlns:a16="http://schemas.microsoft.com/office/drawing/2014/main" id="{A94609C8-056F-47EA-9256-349214E3D380}"/>
                  </a:ext>
                </a:extLst>
              </p:cNvPr>
              <p:cNvSpPr/>
              <p:nvPr/>
            </p:nvSpPr>
            <p:spPr>
              <a:xfrm>
                <a:off x="4924525" y="5300651"/>
                <a:ext cx="1902974" cy="397567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Cyberdefense</a:t>
                </a:r>
                <a:r>
                  <a:rPr lang="en-U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/>
                </a: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/>
                </a:r>
              </a:p>
              <a:p>
                <a:pPr algn="ctr">
                  <a:defRPr/>
                </a:pP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&amp; Evolution Platform</a:t>
                </a:r>
                <a:r>
                  <a:rPr lang="en-US" altLang="zh-CN" sz="700" b="1" i="1" kern="0" dirty="0" err="1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/>
                </a:r>
                <a:endParaRPr lang="zh-CN" altLang="en-US" sz="700" i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0" name="Rectangle 159">
                <a:extLst>
                  <a:ext uri="{FF2B5EF4-FFF2-40B4-BE49-F238E27FC236}">
                    <a16:creationId xmlns:a16="http://schemas.microsoft.com/office/drawing/2014/main" id="{3C955E94-A217-43A8-8EE4-824DC4ED11EC}"/>
                  </a:ext>
                </a:extLst>
              </p:cNvPr>
              <p:cNvSpPr/>
              <p:nvPr/>
            </p:nvSpPr>
            <p:spPr>
              <a:xfrm>
                <a:off x="4934232" y="6365574"/>
                <a:ext cx="1902974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s-E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Digital Services</a:t>
                </a: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/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1" name="Rectangle 159">
                <a:extLst>
                  <a:ext uri="{FF2B5EF4-FFF2-40B4-BE49-F238E27FC236}">
                    <a16:creationId xmlns:a16="http://schemas.microsoft.com/office/drawing/2014/main" id="{38AFEFCD-942E-4160-A344-F7B266CF8122}"/>
                  </a:ext>
                </a:extLst>
              </p:cNvPr>
              <p:cNvSpPr/>
              <p:nvPr/>
            </p:nvSpPr>
            <p:spPr>
              <a:xfrm>
                <a:off x="4924522" y="6093341"/>
                <a:ext cx="1902974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Future workplace</a:t>
                </a:r>
                <a:endParaRPr lang="zh-CN" altLang="en-US" sz="700" b="1" kern="0" dirty="0">
                  <a:solidFill>
                    <a:srgbClr val="191A1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2" name="Rectangle 159">
                <a:extLst>
                  <a:ext uri="{FF2B5EF4-FFF2-40B4-BE49-F238E27FC236}">
                    <a16:creationId xmlns:a16="http://schemas.microsoft.com/office/drawing/2014/main" id="{1E3936CF-4818-48A5-A6E5-BB46CB29874D}"/>
                  </a:ext>
                </a:extLst>
              </p:cNvPr>
              <p:cNvSpPr/>
              <p:nvPr/>
            </p:nvSpPr>
            <p:spPr>
              <a:xfrm>
                <a:off x="6970503" y="6093341"/>
                <a:ext cx="1449667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Business APP</a:t>
                </a:r>
                <a:endParaRPr lang="zh-CN" altLang="en-US" sz="700" b="1" kern="0" dirty="0">
                  <a:solidFill>
                    <a:srgbClr val="191A1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3" name="Rectangle 159">
                <a:extLst>
                  <a:ext uri="{FF2B5EF4-FFF2-40B4-BE49-F238E27FC236}">
                    <a16:creationId xmlns:a16="http://schemas.microsoft.com/office/drawing/2014/main" id="{E44052B3-FE93-48E0-8590-7520F61F9AA3}"/>
                  </a:ext>
                </a:extLst>
              </p:cNvPr>
              <p:cNvSpPr/>
              <p:nvPr/>
            </p:nvSpPr>
            <p:spPr>
              <a:xfrm>
                <a:off x="4924525" y="5652999"/>
                <a:ext cx="1902974" cy="397566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s-ES" altLang="zh-CN" sz="700" b="1" kern="0" dirty="0" err="1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IoT</a:t>
                </a:r>
                <a:r>
                  <a:rPr lang="es-E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/</a:t>
                </a:r>
                <a:endParaRPr lang="es-ES" altLang="zh-CN" sz="700" kern="0" dirty="0">
                  <a:solidFill>
                    <a:srgbClr val="191A1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>
                  <a:defRPr/>
                </a:pPr>
                <a:r>
                  <a:rPr lang="en-U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Connectivity</a:t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4" name="Rectangle 159">
                <a:extLst>
                  <a:ext uri="{FF2B5EF4-FFF2-40B4-BE49-F238E27FC236}">
                    <a16:creationId xmlns:a16="http://schemas.microsoft.com/office/drawing/2014/main" id="{FEA67970-8FAC-4328-8F0C-0CF080967DF5}"/>
                  </a:ext>
                </a:extLst>
              </p:cNvPr>
              <p:cNvSpPr/>
              <p:nvPr/>
            </p:nvSpPr>
            <p:spPr>
              <a:xfrm>
                <a:off x="6970503" y="5722573"/>
                <a:ext cx="1449667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AI &amp; Data（Live Intelligence）</a:t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372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 err="1">
                <a:latin typeface="Arial" panose="020B0604020202020204" pitchFamily="34" charset="0"/>
              </a:rPr>
              <a:t>OB的产商品分为Service和Supply两个大类</a:t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D9AC12-70C1-4827-A229-6D6ABC779E56}"/>
              </a:ext>
            </a:extLst>
          </p:cNvPr>
          <p:cNvSpPr txBox="1"/>
          <p:nvPr/>
        </p:nvSpPr>
        <p:spPr>
          <a:xfrm>
            <a:off x="446439" y="4351227"/>
            <a:ext cx="1383744" cy="52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供应品</a:t>
            </a:r>
            <a:endParaRPr lang="en-US" altLang="zh-CN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112"/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Supply</a:t>
            </a:r>
            <a:endParaRPr lang="zh-CN" altLang="en-US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69B481-F7EA-4A8D-875F-0A10C0B60453}"/>
              </a:ext>
            </a:extLst>
          </p:cNvPr>
          <p:cNvSpPr txBox="1"/>
          <p:nvPr/>
        </p:nvSpPr>
        <p:spPr>
          <a:xfrm>
            <a:off x="348014" y="2264146"/>
            <a:ext cx="1580594" cy="73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</a:t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en-US" altLang="zh-CN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112"/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Service</a:t>
            </a:r>
          </a:p>
          <a:p>
            <a:pPr algn="ctr" defTabSz="914112"/>
            <a:endParaRPr lang="en-US" altLang="zh-CN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091D14D-AA2E-430E-BB2A-D8792CDE9141}"/>
              </a:ext>
            </a:extLst>
          </p:cNvPr>
          <p:cNvCxnSpPr>
            <a:cxnSpLocks/>
          </p:cNvCxnSpPr>
          <p:nvPr/>
        </p:nvCxnSpPr>
        <p:spPr>
          <a:xfrm>
            <a:off x="634471" y="3681209"/>
            <a:ext cx="10908790" cy="0"/>
          </a:xfrm>
          <a:prstGeom prst="line">
            <a:avLst/>
          </a:prstGeom>
          <a:noFill/>
          <a:ln w="28575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7AFBFE5-7E38-4B9B-9C80-D371EF02BD0A}"/>
              </a:ext>
            </a:extLst>
          </p:cNvPr>
          <p:cNvSpPr txBox="1"/>
          <p:nvPr/>
        </p:nvSpPr>
        <p:spPr>
          <a:xfrm>
            <a:off x="2235970" y="1433280"/>
            <a:ext cx="8735474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Service: OB在B2B市场利润的主要来源，Margin要求 &gt; 40%（估算），从WAN联接服务向DICT服务扩展</a:t>
            </a:r>
            <a:r>
              <a:rPr lang="en-US" altLang="zh-CN" sz="1399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81A4D6-1304-46DC-871E-C20C6C8EE2E3}"/>
              </a:ext>
            </a:extLst>
          </p:cNvPr>
          <p:cNvSpPr txBox="1"/>
          <p:nvPr/>
        </p:nvSpPr>
        <p:spPr>
          <a:xfrm>
            <a:off x="2448013" y="2571250"/>
            <a:ext cx="512761" cy="6637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lnSpc>
                <a:spcPct val="150000"/>
              </a:lnSpc>
            </a:pP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固网专线</a:t>
            </a:r>
            <a:endParaRPr kumimoji="1" lang="en-US" altLang="zh-CN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>
              <a:lnSpc>
                <a:spcPct val="150000"/>
              </a:lnSpc>
            </a:pP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无线专线</a:t>
            </a:r>
            <a:endParaRPr kumimoji="1" lang="en-US" altLang="zh-CN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Internet</a:t>
            </a:r>
            <a:endParaRPr kumimoji="1" lang="zh-CN" altLang="en-US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82061D-61CF-491B-937D-CB69105B7B32}"/>
              </a:ext>
            </a:extLst>
          </p:cNvPr>
          <p:cNvSpPr txBox="1"/>
          <p:nvPr/>
        </p:nvSpPr>
        <p:spPr>
          <a:xfrm>
            <a:off x="3146836" y="2626692"/>
            <a:ext cx="743944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4112"/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含</a:t>
            </a: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CPE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</a:t>
            </a:r>
            <a:endParaRPr kumimoji="1"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DCBFBA-E83B-4D13-A656-731E33830DC0}"/>
              </a:ext>
            </a:extLst>
          </p:cNvPr>
          <p:cNvSpPr txBox="1"/>
          <p:nvPr/>
        </p:nvSpPr>
        <p:spPr>
          <a:xfrm>
            <a:off x="2692279" y="2112603"/>
            <a:ext cx="1442443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WAN Connectivity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07FAC98-5BE0-4449-A43A-D5B2A00FE3C1}"/>
              </a:ext>
            </a:extLst>
          </p:cNvPr>
          <p:cNvSpPr txBox="1"/>
          <p:nvPr/>
        </p:nvSpPr>
        <p:spPr>
          <a:xfrm>
            <a:off x="2923082" y="2805849"/>
            <a:ext cx="1163253" cy="434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SIM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卡</a:t>
            </a:r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endParaRPr kumimoji="1" lang="en-US" altLang="zh-CN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>
              <a:lnSpc>
                <a:spcPct val="150000"/>
              </a:lnSpc>
            </a:pP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电话终端等</a:t>
            </a:r>
          </a:p>
        </p:txBody>
      </p:sp>
      <p:sp>
        <p:nvSpPr>
          <p:cNvPr id="32" name="流程图: 过程 31">
            <a:extLst>
              <a:ext uri="{FF2B5EF4-FFF2-40B4-BE49-F238E27FC236}">
                <a16:creationId xmlns:a16="http://schemas.microsoft.com/office/drawing/2014/main" id="{FBBD1C6F-CA4A-4F14-9EE7-FD43F2AA7F02}"/>
              </a:ext>
            </a:extLst>
          </p:cNvPr>
          <p:cNvSpPr/>
          <p:nvPr/>
        </p:nvSpPr>
        <p:spPr>
          <a:xfrm>
            <a:off x="2206621" y="1957532"/>
            <a:ext cx="1994947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02A016-F562-4993-8901-F49F80659176}"/>
              </a:ext>
            </a:extLst>
          </p:cNvPr>
          <p:cNvSpPr txBox="1"/>
          <p:nvPr/>
        </p:nvSpPr>
        <p:spPr>
          <a:xfrm>
            <a:off x="4621642" y="2626692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LAN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托管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1F9B8B-B16E-4D51-BD19-F1EF8FCE872D}"/>
              </a:ext>
            </a:extLst>
          </p:cNvPr>
          <p:cNvSpPr txBox="1"/>
          <p:nvPr/>
        </p:nvSpPr>
        <p:spPr>
          <a:xfrm>
            <a:off x="5299507" y="2692344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现场装维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22AED47-6DE4-4951-B470-A92D15C3D708}"/>
              </a:ext>
            </a:extLst>
          </p:cNvPr>
          <p:cNvSpPr txBox="1"/>
          <p:nvPr/>
        </p:nvSpPr>
        <p:spPr>
          <a:xfrm>
            <a:off x="4616165" y="2882782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安全托管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E492BA-557C-4410-BC56-6449AE85A7DF}"/>
              </a:ext>
            </a:extLst>
          </p:cNvPr>
          <p:cNvSpPr txBox="1"/>
          <p:nvPr/>
        </p:nvSpPr>
        <p:spPr>
          <a:xfrm>
            <a:off x="4575014" y="3142349"/>
            <a:ext cx="8261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办公终端托管</a:t>
            </a:r>
          </a:p>
        </p:txBody>
      </p:sp>
      <p:sp>
        <p:nvSpPr>
          <p:cNvPr id="37" name="流程图: 过程 36">
            <a:extLst>
              <a:ext uri="{FF2B5EF4-FFF2-40B4-BE49-F238E27FC236}">
                <a16:creationId xmlns:a16="http://schemas.microsoft.com/office/drawing/2014/main" id="{6C14C24D-4EAB-4B35-9EB6-90491CD89712}"/>
              </a:ext>
            </a:extLst>
          </p:cNvPr>
          <p:cNvSpPr/>
          <p:nvPr/>
        </p:nvSpPr>
        <p:spPr>
          <a:xfrm>
            <a:off x="4534679" y="1957532"/>
            <a:ext cx="1482302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互联网 Internet">
            <a:extLst>
              <a:ext uri="{FF2B5EF4-FFF2-40B4-BE49-F238E27FC236}">
                <a16:creationId xmlns:a16="http://schemas.microsoft.com/office/drawing/2014/main" id="{38254B10-E711-4046-BCF7-6B43B981FFA8}"/>
              </a:ext>
            </a:extLst>
          </p:cNvPr>
          <p:cNvSpPr/>
          <p:nvPr/>
        </p:nvSpPr>
        <p:spPr>
          <a:xfrm>
            <a:off x="2398936" y="2070019"/>
            <a:ext cx="311886" cy="269763"/>
          </a:xfrm>
          <a:custGeom>
            <a:avLst/>
            <a:gdLst>
              <a:gd name="connsiteX0" fmla="*/ 592454 w 1137186"/>
              <a:gd name="connsiteY0" fmla="*/ 900779 h 1137190"/>
              <a:gd name="connsiteX1" fmla="*/ 592454 w 1137186"/>
              <a:gd name="connsiteY1" fmla="*/ 1085108 h 1137190"/>
              <a:gd name="connsiteX2" fmla="*/ 623465 w 1137186"/>
              <a:gd name="connsiteY2" fmla="*/ 1079305 h 1137190"/>
              <a:gd name="connsiteX3" fmla="*/ 765350 w 1137186"/>
              <a:gd name="connsiteY3" fmla="*/ 937444 h 1137190"/>
              <a:gd name="connsiteX4" fmla="*/ 782614 w 1137186"/>
              <a:gd name="connsiteY4" fmla="*/ 900779 h 1137190"/>
              <a:gd name="connsiteX5" fmla="*/ 354600 w 1137186"/>
              <a:gd name="connsiteY5" fmla="*/ 900779 h 1137190"/>
              <a:gd name="connsiteX6" fmla="*/ 371849 w 1137186"/>
              <a:gd name="connsiteY6" fmla="*/ 937396 h 1137190"/>
              <a:gd name="connsiteX7" fmla="*/ 513811 w 1137186"/>
              <a:gd name="connsiteY7" fmla="*/ 1079301 h 1137190"/>
              <a:gd name="connsiteX8" fmla="*/ 544829 w 1137186"/>
              <a:gd name="connsiteY8" fmla="*/ 1085107 h 1137190"/>
              <a:gd name="connsiteX9" fmla="*/ 544829 w 1137186"/>
              <a:gd name="connsiteY9" fmla="*/ 900779 h 1137190"/>
              <a:gd name="connsiteX10" fmla="*/ 170271 w 1137186"/>
              <a:gd name="connsiteY10" fmla="*/ 900779 h 1137190"/>
              <a:gd name="connsiteX11" fmla="*/ 193501 w 1137186"/>
              <a:gd name="connsiteY11" fmla="*/ 930176 h 1137190"/>
              <a:gd name="connsiteX12" fmla="*/ 274099 w 1137186"/>
              <a:gd name="connsiteY12" fmla="*/ 998276 h 1137190"/>
              <a:gd name="connsiteX13" fmla="*/ 343237 w 1137186"/>
              <a:gd name="connsiteY13" fmla="*/ 1038284 h 1137190"/>
              <a:gd name="connsiteX14" fmla="*/ 409916 w 1137186"/>
              <a:gd name="connsiteY14" fmla="*/ 1064318 h 1137190"/>
              <a:gd name="connsiteX15" fmla="*/ 388071 w 1137186"/>
              <a:gd name="connsiteY15" fmla="*/ 1044365 h 1137190"/>
              <a:gd name="connsiteX16" fmla="*/ 304486 w 1137186"/>
              <a:gd name="connsiteY16" fmla="*/ 907263 h 1137190"/>
              <a:gd name="connsiteX17" fmla="*/ 302213 w 1137186"/>
              <a:gd name="connsiteY17" fmla="*/ 900779 h 1137190"/>
              <a:gd name="connsiteX18" fmla="*/ 893886 w 1137186"/>
              <a:gd name="connsiteY18" fmla="*/ 609600 h 1137190"/>
              <a:gd name="connsiteX19" fmla="*/ 883819 w 1137186"/>
              <a:gd name="connsiteY19" fmla="*/ 725499 h 1137190"/>
              <a:gd name="connsiteX20" fmla="*/ 862822 w 1137186"/>
              <a:gd name="connsiteY20" fmla="*/ 821121 h 1137190"/>
              <a:gd name="connsiteX21" fmla="*/ 851632 w 1137186"/>
              <a:gd name="connsiteY21" fmla="*/ 853154 h 1137190"/>
              <a:gd name="connsiteX22" fmla="*/ 981369 w 1137186"/>
              <a:gd name="connsiteY22" fmla="*/ 853154 h 1137190"/>
              <a:gd name="connsiteX23" fmla="*/ 982815 w 1137186"/>
              <a:gd name="connsiteY23" fmla="*/ 850019 h 1137190"/>
              <a:gd name="connsiteX24" fmla="*/ 1011313 w 1137186"/>
              <a:gd name="connsiteY24" fmla="*/ 839490 h 1137190"/>
              <a:gd name="connsiteX25" fmla="*/ 1048958 w 1137186"/>
              <a:gd name="connsiteY25" fmla="*/ 770681 h 1137190"/>
              <a:gd name="connsiteX26" fmla="*/ 1079223 w 1137186"/>
              <a:gd name="connsiteY26" fmla="*/ 672872 h 1137190"/>
              <a:gd name="connsiteX27" fmla="*/ 1085813 w 1137186"/>
              <a:gd name="connsiteY27" fmla="*/ 609600 h 1137190"/>
              <a:gd name="connsiteX28" fmla="*/ 592454 w 1137186"/>
              <a:gd name="connsiteY28" fmla="*/ 609600 h 1137190"/>
              <a:gd name="connsiteX29" fmla="*/ 592454 w 1137186"/>
              <a:gd name="connsiteY29" fmla="*/ 853154 h 1137190"/>
              <a:gd name="connsiteX30" fmla="*/ 801697 w 1137186"/>
              <a:gd name="connsiteY30" fmla="*/ 853154 h 1137190"/>
              <a:gd name="connsiteX31" fmla="*/ 814186 w 1137186"/>
              <a:gd name="connsiteY31" fmla="*/ 817459 h 1137190"/>
              <a:gd name="connsiteX32" fmla="*/ 842881 w 1137186"/>
              <a:gd name="connsiteY32" fmla="*/ 674545 h 1137190"/>
              <a:gd name="connsiteX33" fmla="*/ 847104 w 1137186"/>
              <a:gd name="connsiteY33" fmla="*/ 609600 h 1137190"/>
              <a:gd name="connsiteX34" fmla="*/ 290085 w 1137186"/>
              <a:gd name="connsiteY34" fmla="*/ 609600 h 1137190"/>
              <a:gd name="connsiteX35" fmla="*/ 294286 w 1137186"/>
              <a:gd name="connsiteY35" fmla="*/ 674454 h 1137190"/>
              <a:gd name="connsiteX36" fmla="*/ 322982 w 1137186"/>
              <a:gd name="connsiteY36" fmla="*/ 817386 h 1137190"/>
              <a:gd name="connsiteX37" fmla="*/ 335502 w 1137186"/>
              <a:gd name="connsiteY37" fmla="*/ 853154 h 1137190"/>
              <a:gd name="connsiteX38" fmla="*/ 544829 w 1137186"/>
              <a:gd name="connsiteY38" fmla="*/ 853154 h 1137190"/>
              <a:gd name="connsiteX39" fmla="*/ 544829 w 1137186"/>
              <a:gd name="connsiteY39" fmla="*/ 609600 h 1137190"/>
              <a:gd name="connsiteX40" fmla="*/ 51742 w 1137186"/>
              <a:gd name="connsiteY40" fmla="*/ 609600 h 1137190"/>
              <a:gd name="connsiteX41" fmla="*/ 56596 w 1137186"/>
              <a:gd name="connsiteY41" fmla="*/ 664133 h 1137190"/>
              <a:gd name="connsiteX42" fmla="*/ 130022 w 1137186"/>
              <a:gd name="connsiteY42" fmla="*/ 849844 h 1137190"/>
              <a:gd name="connsiteX43" fmla="*/ 132638 w 1137186"/>
              <a:gd name="connsiteY43" fmla="*/ 853154 h 1137190"/>
              <a:gd name="connsiteX44" fmla="*/ 285515 w 1137186"/>
              <a:gd name="connsiteY44" fmla="*/ 853154 h 1137190"/>
              <a:gd name="connsiteX45" fmla="*/ 274285 w 1137186"/>
              <a:gd name="connsiteY45" fmla="*/ 821121 h 1137190"/>
              <a:gd name="connsiteX46" fmla="*/ 253165 w 1137186"/>
              <a:gd name="connsiteY46" fmla="*/ 725499 h 1137190"/>
              <a:gd name="connsiteX47" fmla="*/ 242952 w 1137186"/>
              <a:gd name="connsiteY47" fmla="*/ 609600 h 1137190"/>
              <a:gd name="connsiteX48" fmla="*/ 720852 w 1137186"/>
              <a:gd name="connsiteY48" fmla="*/ 331565 h 1137190"/>
              <a:gd name="connsiteX49" fmla="*/ 772096 w 1137186"/>
              <a:gd name="connsiteY49" fmla="*/ 331565 h 1137190"/>
              <a:gd name="connsiteX50" fmla="*/ 801719 w 1137186"/>
              <a:gd name="connsiteY50" fmla="*/ 441864 h 1137190"/>
              <a:gd name="connsiteX51" fmla="*/ 833914 w 1137186"/>
              <a:gd name="connsiteY51" fmla="*/ 331565 h 1137190"/>
              <a:gd name="connsiteX52" fmla="*/ 876110 w 1137186"/>
              <a:gd name="connsiteY52" fmla="*/ 331565 h 1137190"/>
              <a:gd name="connsiteX53" fmla="*/ 907161 w 1137186"/>
              <a:gd name="connsiteY53" fmla="*/ 441674 h 1137190"/>
              <a:gd name="connsiteX54" fmla="*/ 936308 w 1137186"/>
              <a:gd name="connsiteY54" fmla="*/ 331565 h 1137190"/>
              <a:gd name="connsiteX55" fmla="*/ 985266 w 1137186"/>
              <a:gd name="connsiteY55" fmla="*/ 331565 h 1137190"/>
              <a:gd name="connsiteX56" fmla="*/ 929259 w 1137186"/>
              <a:gd name="connsiteY56" fmla="*/ 518827 h 1137190"/>
              <a:gd name="connsiteX57" fmla="*/ 883825 w 1137186"/>
              <a:gd name="connsiteY57" fmla="*/ 518827 h 1137190"/>
              <a:gd name="connsiteX58" fmla="*/ 853916 w 1137186"/>
              <a:gd name="connsiteY58" fmla="*/ 413099 h 1137190"/>
              <a:gd name="connsiteX59" fmla="*/ 821817 w 1137186"/>
              <a:gd name="connsiteY59" fmla="*/ 518827 h 1137190"/>
              <a:gd name="connsiteX60" fmla="*/ 777240 w 1137186"/>
              <a:gd name="connsiteY60" fmla="*/ 518827 h 1137190"/>
              <a:gd name="connsiteX61" fmla="*/ 445484 w 1137186"/>
              <a:gd name="connsiteY61" fmla="*/ 331565 h 1137190"/>
              <a:gd name="connsiteX62" fmla="*/ 496729 w 1137186"/>
              <a:gd name="connsiteY62" fmla="*/ 331565 h 1137190"/>
              <a:gd name="connsiteX63" fmla="*/ 526447 w 1137186"/>
              <a:gd name="connsiteY63" fmla="*/ 441864 h 1137190"/>
              <a:gd name="connsiteX64" fmla="*/ 558546 w 1137186"/>
              <a:gd name="connsiteY64" fmla="*/ 331565 h 1137190"/>
              <a:gd name="connsiteX65" fmla="*/ 600837 w 1137186"/>
              <a:gd name="connsiteY65" fmla="*/ 331565 h 1137190"/>
              <a:gd name="connsiteX66" fmla="*/ 631888 w 1137186"/>
              <a:gd name="connsiteY66" fmla="*/ 441674 h 1137190"/>
              <a:gd name="connsiteX67" fmla="*/ 660939 w 1137186"/>
              <a:gd name="connsiteY67" fmla="*/ 331565 h 1137190"/>
              <a:gd name="connsiteX68" fmla="*/ 709898 w 1137186"/>
              <a:gd name="connsiteY68" fmla="*/ 331565 h 1137190"/>
              <a:gd name="connsiteX69" fmla="*/ 653891 w 1137186"/>
              <a:gd name="connsiteY69" fmla="*/ 518827 h 1137190"/>
              <a:gd name="connsiteX70" fmla="*/ 608552 w 1137186"/>
              <a:gd name="connsiteY70" fmla="*/ 518827 h 1137190"/>
              <a:gd name="connsiteX71" fmla="*/ 578644 w 1137186"/>
              <a:gd name="connsiteY71" fmla="*/ 413099 h 1137190"/>
              <a:gd name="connsiteX72" fmla="*/ 546449 w 1137186"/>
              <a:gd name="connsiteY72" fmla="*/ 518827 h 1137190"/>
              <a:gd name="connsiteX73" fmla="*/ 501872 w 1137186"/>
              <a:gd name="connsiteY73" fmla="*/ 518827 h 1137190"/>
              <a:gd name="connsiteX74" fmla="*/ 170211 w 1137186"/>
              <a:gd name="connsiteY74" fmla="*/ 331565 h 1137190"/>
              <a:gd name="connsiteX75" fmla="*/ 221360 w 1137186"/>
              <a:gd name="connsiteY75" fmla="*/ 331565 h 1137190"/>
              <a:gd name="connsiteX76" fmla="*/ 251078 w 1137186"/>
              <a:gd name="connsiteY76" fmla="*/ 441864 h 1137190"/>
              <a:gd name="connsiteX77" fmla="*/ 283177 w 1137186"/>
              <a:gd name="connsiteY77" fmla="*/ 331565 h 1137190"/>
              <a:gd name="connsiteX78" fmla="*/ 325468 w 1137186"/>
              <a:gd name="connsiteY78" fmla="*/ 331565 h 1137190"/>
              <a:gd name="connsiteX79" fmla="*/ 356520 w 1137186"/>
              <a:gd name="connsiteY79" fmla="*/ 441674 h 1137190"/>
              <a:gd name="connsiteX80" fmla="*/ 385571 w 1137186"/>
              <a:gd name="connsiteY80" fmla="*/ 331565 h 1137190"/>
              <a:gd name="connsiteX81" fmla="*/ 434625 w 1137186"/>
              <a:gd name="connsiteY81" fmla="*/ 331565 h 1137190"/>
              <a:gd name="connsiteX82" fmla="*/ 378523 w 1137186"/>
              <a:gd name="connsiteY82" fmla="*/ 518827 h 1137190"/>
              <a:gd name="connsiteX83" fmla="*/ 333184 w 1137186"/>
              <a:gd name="connsiteY83" fmla="*/ 518827 h 1137190"/>
              <a:gd name="connsiteX84" fmla="*/ 303275 w 1137186"/>
              <a:gd name="connsiteY84" fmla="*/ 413099 h 1137190"/>
              <a:gd name="connsiteX85" fmla="*/ 271176 w 1137186"/>
              <a:gd name="connsiteY85" fmla="*/ 518827 h 1137190"/>
              <a:gd name="connsiteX86" fmla="*/ 226599 w 1137186"/>
              <a:gd name="connsiteY86" fmla="*/ 518827 h 1137190"/>
              <a:gd name="connsiteX87" fmla="*/ 133147 w 1137186"/>
              <a:gd name="connsiteY87" fmla="*/ 284892 h 1137190"/>
              <a:gd name="connsiteX88" fmla="*/ 88430 w 1137186"/>
              <a:gd name="connsiteY88" fmla="*/ 366629 h 1137190"/>
              <a:gd name="connsiteX89" fmla="*/ 58165 w 1137186"/>
              <a:gd name="connsiteY89" fmla="*/ 464438 h 1137190"/>
              <a:gd name="connsiteX90" fmla="*/ 48006 w 1137186"/>
              <a:gd name="connsiteY90" fmla="*/ 561975 h 1137190"/>
              <a:gd name="connsiteX91" fmla="*/ 264161 w 1137186"/>
              <a:gd name="connsiteY91" fmla="*/ 561975 h 1137190"/>
              <a:gd name="connsiteX92" fmla="*/ 264271 w 1137186"/>
              <a:gd name="connsiteY92" fmla="*/ 561927 h 1137190"/>
              <a:gd name="connsiteX93" fmla="*/ 264393 w 1137186"/>
              <a:gd name="connsiteY93" fmla="*/ 561975 h 1137190"/>
              <a:gd name="connsiteX94" fmla="*/ 568642 w 1137186"/>
              <a:gd name="connsiteY94" fmla="*/ 561975 h 1137190"/>
              <a:gd name="connsiteX95" fmla="*/ 872490 w 1137186"/>
              <a:gd name="connsiteY95" fmla="*/ 561975 h 1137190"/>
              <a:gd name="connsiteX96" fmla="*/ 1088696 w 1137186"/>
              <a:gd name="connsiteY96" fmla="*/ 561975 h 1137190"/>
              <a:gd name="connsiteX97" fmla="*/ 1080792 w 1137186"/>
              <a:gd name="connsiteY97" fmla="*/ 473178 h 1137190"/>
              <a:gd name="connsiteX98" fmla="*/ 1007366 w 1137186"/>
              <a:gd name="connsiteY98" fmla="*/ 287466 h 1137190"/>
              <a:gd name="connsiteX99" fmla="*/ 1005332 w 1137186"/>
              <a:gd name="connsiteY99" fmla="*/ 284892 h 1137190"/>
              <a:gd name="connsiteX100" fmla="*/ 819632 w 1137186"/>
              <a:gd name="connsiteY100" fmla="*/ 284892 h 1137190"/>
              <a:gd name="connsiteX101" fmla="*/ 819626 w 1137186"/>
              <a:gd name="connsiteY101" fmla="*/ 284893 h 1137190"/>
              <a:gd name="connsiteX102" fmla="*/ 819623 w 1137186"/>
              <a:gd name="connsiteY102" fmla="*/ 284892 h 1137190"/>
              <a:gd name="connsiteX103" fmla="*/ 568644 w 1137186"/>
              <a:gd name="connsiteY103" fmla="*/ 284892 h 1137190"/>
              <a:gd name="connsiteX104" fmla="*/ 568642 w 1137186"/>
              <a:gd name="connsiteY104" fmla="*/ 284893 h 1137190"/>
              <a:gd name="connsiteX105" fmla="*/ 568640 w 1137186"/>
              <a:gd name="connsiteY105" fmla="*/ 284892 h 1137190"/>
              <a:gd name="connsiteX106" fmla="*/ 731534 w 1137186"/>
              <a:gd name="connsiteY106" fmla="*/ 76267 h 1137190"/>
              <a:gd name="connsiteX107" fmla="*/ 789049 w 1137186"/>
              <a:gd name="connsiteY107" fmla="*/ 146389 h 1137190"/>
              <a:gd name="connsiteX108" fmla="*/ 834200 w 1137186"/>
              <a:gd name="connsiteY108" fmla="*/ 237267 h 1137190"/>
              <a:gd name="connsiteX109" fmla="*/ 967698 w 1137186"/>
              <a:gd name="connsiteY109" fmla="*/ 237267 h 1137190"/>
              <a:gd name="connsiteX110" fmla="*/ 943887 w 1137186"/>
              <a:gd name="connsiteY110" fmla="*/ 207134 h 1137190"/>
              <a:gd name="connsiteX111" fmla="*/ 863289 w 1137186"/>
              <a:gd name="connsiteY111" fmla="*/ 139035 h 1137190"/>
              <a:gd name="connsiteX112" fmla="*/ 770720 w 1137186"/>
              <a:gd name="connsiteY112" fmla="*/ 88392 h 1137190"/>
              <a:gd name="connsiteX113" fmla="*/ 406566 w 1137186"/>
              <a:gd name="connsiteY113" fmla="*/ 75714 h 1137190"/>
              <a:gd name="connsiteX114" fmla="*/ 377157 w 1137186"/>
              <a:gd name="connsiteY114" fmla="*/ 84167 h 1137190"/>
              <a:gd name="connsiteX115" fmla="*/ 188887 w 1137186"/>
              <a:gd name="connsiteY115" fmla="*/ 212028 h 1137190"/>
              <a:gd name="connsiteX116" fmla="*/ 168619 w 1137186"/>
              <a:gd name="connsiteY116" fmla="*/ 237267 h 1137190"/>
              <a:gd name="connsiteX117" fmla="*/ 302671 w 1137186"/>
              <a:gd name="connsiteY117" fmla="*/ 237267 h 1137190"/>
              <a:gd name="connsiteX118" fmla="*/ 350874 w 1137186"/>
              <a:gd name="connsiteY118" fmla="*/ 142290 h 1137190"/>
              <a:gd name="connsiteX119" fmla="*/ 592454 w 1137186"/>
              <a:gd name="connsiteY119" fmla="*/ 50350 h 1137190"/>
              <a:gd name="connsiteX120" fmla="*/ 592454 w 1137186"/>
              <a:gd name="connsiteY120" fmla="*/ 237267 h 1137190"/>
              <a:gd name="connsiteX121" fmla="*/ 782054 w 1137186"/>
              <a:gd name="connsiteY121" fmla="*/ 237267 h 1137190"/>
              <a:gd name="connsiteX122" fmla="*/ 758112 w 1137186"/>
              <a:gd name="connsiteY122" fmla="*/ 186681 h 1137190"/>
              <a:gd name="connsiteX123" fmla="*/ 602159 w 1137186"/>
              <a:gd name="connsiteY123" fmla="*/ 51461 h 1137190"/>
              <a:gd name="connsiteX124" fmla="*/ 544829 w 1137186"/>
              <a:gd name="connsiteY124" fmla="*/ 50318 h 1137190"/>
              <a:gd name="connsiteX125" fmla="*/ 535728 w 1137186"/>
              <a:gd name="connsiteY125" fmla="*/ 51347 h 1137190"/>
              <a:gd name="connsiteX126" fmla="*/ 381803 w 1137186"/>
              <a:gd name="connsiteY126" fmla="*/ 182555 h 1137190"/>
              <a:gd name="connsiteX127" fmla="*/ 355339 w 1137186"/>
              <a:gd name="connsiteY127" fmla="*/ 237267 h 1137190"/>
              <a:gd name="connsiteX128" fmla="*/ 544829 w 1137186"/>
              <a:gd name="connsiteY128" fmla="*/ 237267 h 1137190"/>
              <a:gd name="connsiteX129" fmla="*/ 568642 w 1137186"/>
              <a:gd name="connsiteY129" fmla="*/ 0 h 1137190"/>
              <a:gd name="connsiteX130" fmla="*/ 609638 w 1137186"/>
              <a:gd name="connsiteY130" fmla="*/ 4365 h 1137190"/>
              <a:gd name="connsiteX131" fmla="*/ 609822 w 1137186"/>
              <a:gd name="connsiteY131" fmla="*/ 4424 h 1137190"/>
              <a:gd name="connsiteX132" fmla="*/ 683387 w 1137186"/>
              <a:gd name="connsiteY132" fmla="*/ 11853 h 1137190"/>
              <a:gd name="connsiteX133" fmla="*/ 1007438 w 1137186"/>
              <a:gd name="connsiteY133" fmla="*/ 207220 h 1137190"/>
              <a:gd name="connsiteX134" fmla="*/ 1032251 w 1137186"/>
              <a:gd name="connsiteY134" fmla="*/ 243038 h 1137190"/>
              <a:gd name="connsiteX135" fmla="*/ 1035155 w 1137186"/>
              <a:gd name="connsiteY135" fmla="*/ 244242 h 1137190"/>
              <a:gd name="connsiteX136" fmla="*/ 1038236 w 1137186"/>
              <a:gd name="connsiteY136" fmla="*/ 251678 h 1137190"/>
              <a:gd name="connsiteX137" fmla="*/ 1061919 w 1137186"/>
              <a:gd name="connsiteY137" fmla="*/ 285866 h 1137190"/>
              <a:gd name="connsiteX138" fmla="*/ 1137186 w 1137186"/>
              <a:gd name="connsiteY138" fmla="*/ 568829 h 1137190"/>
              <a:gd name="connsiteX139" fmla="*/ 1135926 w 1137186"/>
              <a:gd name="connsiteY139" fmla="*/ 585495 h 1137190"/>
              <a:gd name="connsiteX140" fmla="*/ 1136047 w 1137186"/>
              <a:gd name="connsiteY140" fmla="*/ 585788 h 1137190"/>
              <a:gd name="connsiteX141" fmla="*/ 1135871 w 1137186"/>
              <a:gd name="connsiteY141" fmla="*/ 586212 h 1137190"/>
              <a:gd name="connsiteX142" fmla="*/ 1130735 w 1137186"/>
              <a:gd name="connsiteY142" fmla="*/ 654138 h 1137190"/>
              <a:gd name="connsiteX143" fmla="*/ 1097587 w 1137186"/>
              <a:gd name="connsiteY143" fmla="*/ 777190 h 1137190"/>
              <a:gd name="connsiteX144" fmla="*/ 1054675 w 1137186"/>
              <a:gd name="connsiteY144" fmla="*/ 857980 h 1137190"/>
              <a:gd name="connsiteX145" fmla="*/ 1065922 w 1137186"/>
              <a:gd name="connsiteY145" fmla="*/ 888206 h 1137190"/>
              <a:gd name="connsiteX146" fmla="*/ 1050148 w 1137186"/>
              <a:gd name="connsiteY146" fmla="*/ 922677 h 1137190"/>
              <a:gd name="connsiteX147" fmla="*/ 1050035 w 1137186"/>
              <a:gd name="connsiteY147" fmla="*/ 922782 h 1137190"/>
              <a:gd name="connsiteX148" fmla="*/ 980044 w 1137186"/>
              <a:gd name="connsiteY148" fmla="*/ 920010 h 1137190"/>
              <a:gd name="connsiteX149" fmla="*/ 972956 w 1137186"/>
              <a:gd name="connsiteY149" fmla="*/ 900779 h 1137190"/>
              <a:gd name="connsiteX150" fmla="*/ 834994 w 1137186"/>
              <a:gd name="connsiteY150" fmla="*/ 900779 h 1137190"/>
              <a:gd name="connsiteX151" fmla="*/ 832729 w 1137186"/>
              <a:gd name="connsiteY151" fmla="*/ 907263 h 1137190"/>
              <a:gd name="connsiteX152" fmla="*/ 749289 w 1137186"/>
              <a:gd name="connsiteY152" fmla="*/ 1044365 h 1137190"/>
              <a:gd name="connsiteX153" fmla="*/ 727294 w 1137186"/>
              <a:gd name="connsiteY153" fmla="*/ 1064464 h 1137190"/>
              <a:gd name="connsiteX154" fmla="*/ 795150 w 1137186"/>
              <a:gd name="connsiteY154" fmla="*/ 1037803 h 1137190"/>
              <a:gd name="connsiteX155" fmla="*/ 859690 w 1137186"/>
              <a:gd name="connsiteY155" fmla="*/ 1000272 h 1137190"/>
              <a:gd name="connsiteX156" fmla="*/ 855163 w 1137186"/>
              <a:gd name="connsiteY156" fmla="*/ 988063 h 1137190"/>
              <a:gd name="connsiteX157" fmla="*/ 871009 w 1137186"/>
              <a:gd name="connsiteY157" fmla="*/ 953545 h 1137190"/>
              <a:gd name="connsiteX158" fmla="*/ 941140 w 1137186"/>
              <a:gd name="connsiteY158" fmla="*/ 956187 h 1137190"/>
              <a:gd name="connsiteX159" fmla="*/ 941165 w 1137186"/>
              <a:gd name="connsiteY159" fmla="*/ 956214 h 1137190"/>
              <a:gd name="connsiteX160" fmla="*/ 938498 w 1137186"/>
              <a:gd name="connsiteY160" fmla="*/ 1026318 h 1137190"/>
              <a:gd name="connsiteX161" fmla="*/ 902885 w 1137186"/>
              <a:gd name="connsiteY161" fmla="*/ 1039522 h 1137190"/>
              <a:gd name="connsiteX162" fmla="*/ 893217 w 1137186"/>
              <a:gd name="connsiteY162" fmla="*/ 1035084 h 1137190"/>
              <a:gd name="connsiteX163" fmla="*/ 892865 w 1137186"/>
              <a:gd name="connsiteY163" fmla="*/ 1035682 h 1137190"/>
              <a:gd name="connsiteX164" fmla="*/ 891254 w 1137186"/>
              <a:gd name="connsiteY164" fmla="*/ 1036795 h 1137190"/>
              <a:gd name="connsiteX165" fmla="*/ 654349 w 1137186"/>
              <a:gd name="connsiteY165" fmla="*/ 1130827 h 1137190"/>
              <a:gd name="connsiteX166" fmla="*/ 568645 w 1137186"/>
              <a:gd name="connsiteY166" fmla="*/ 1137189 h 1137190"/>
              <a:gd name="connsiteX167" fmla="*/ 568642 w 1137186"/>
              <a:gd name="connsiteY167" fmla="*/ 1137190 h 1137190"/>
              <a:gd name="connsiteX168" fmla="*/ 568639 w 1137186"/>
              <a:gd name="connsiteY168" fmla="*/ 1137189 h 1137190"/>
              <a:gd name="connsiteX169" fmla="*/ 468018 w 1137186"/>
              <a:gd name="connsiteY169" fmla="*/ 1128294 h 1137190"/>
              <a:gd name="connsiteX170" fmla="*/ 116245 w 1137186"/>
              <a:gd name="connsiteY170" fmla="*/ 912867 h 1137190"/>
              <a:gd name="connsiteX171" fmla="*/ 104492 w 1137186"/>
              <a:gd name="connsiteY171" fmla="*/ 894823 h 1137190"/>
              <a:gd name="connsiteX172" fmla="*/ 102034 w 1137186"/>
              <a:gd name="connsiteY172" fmla="*/ 893805 h 1137190"/>
              <a:gd name="connsiteX173" fmla="*/ 98898 w 1137186"/>
              <a:gd name="connsiteY173" fmla="*/ 886234 h 1137190"/>
              <a:gd name="connsiteX174" fmla="*/ 70496 w 1137186"/>
              <a:gd name="connsiteY174" fmla="*/ 842629 h 1137190"/>
              <a:gd name="connsiteX175" fmla="*/ 11812 w 1137186"/>
              <a:gd name="connsiteY175" fmla="*/ 683210 h 1137190"/>
              <a:gd name="connsiteX176" fmla="*/ 2652 w 1137186"/>
              <a:gd name="connsiteY176" fmla="*/ 592189 h 1137190"/>
              <a:gd name="connsiteX177" fmla="*/ 0 w 1137186"/>
              <a:gd name="connsiteY177" fmla="*/ 585788 h 1137190"/>
              <a:gd name="connsiteX178" fmla="*/ 1615 w 1137186"/>
              <a:gd name="connsiteY178" fmla="*/ 581889 h 1137190"/>
              <a:gd name="connsiteX179" fmla="*/ 282 w 1137186"/>
              <a:gd name="connsiteY179" fmla="*/ 568645 h 1137190"/>
              <a:gd name="connsiteX180" fmla="*/ 75641 w 1137186"/>
              <a:gd name="connsiteY180" fmla="*/ 285706 h 1137190"/>
              <a:gd name="connsiteX181" fmla="*/ 98542 w 1137186"/>
              <a:gd name="connsiteY181" fmla="*/ 252670 h 1137190"/>
              <a:gd name="connsiteX182" fmla="*/ 102034 w 1137186"/>
              <a:gd name="connsiteY182" fmla="*/ 244242 h 1137190"/>
              <a:gd name="connsiteX183" fmla="*/ 105332 w 1137186"/>
              <a:gd name="connsiteY183" fmla="*/ 242875 h 1137190"/>
              <a:gd name="connsiteX184" fmla="*/ 130148 w 1137186"/>
              <a:gd name="connsiteY184" fmla="*/ 207078 h 1137190"/>
              <a:gd name="connsiteX185" fmla="*/ 454261 w 1137186"/>
              <a:gd name="connsiteY185" fmla="*/ 11815 h 1137190"/>
              <a:gd name="connsiteX186" fmla="*/ 527765 w 1137186"/>
              <a:gd name="connsiteY186" fmla="*/ 4418 h 1137190"/>
              <a:gd name="connsiteX187" fmla="*/ 528305 w 1137186"/>
              <a:gd name="connsiteY187" fmla="*/ 4246 h 1137190"/>
              <a:gd name="connsiteX188" fmla="*/ 568642 w 1137186"/>
              <a:gd name="connsiteY188" fmla="*/ 0 h 113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137186" h="1137190">
                <a:moveTo>
                  <a:pt x="592454" y="900779"/>
                </a:moveTo>
                <a:lnTo>
                  <a:pt x="592454" y="1085108"/>
                </a:lnTo>
                <a:lnTo>
                  <a:pt x="623465" y="1079305"/>
                </a:lnTo>
                <a:cubicBezTo>
                  <a:pt x="677884" y="1058706"/>
                  <a:pt x="726980" y="1008161"/>
                  <a:pt x="765350" y="937444"/>
                </a:cubicBezTo>
                <a:lnTo>
                  <a:pt x="782614" y="900779"/>
                </a:lnTo>
                <a:close/>
                <a:moveTo>
                  <a:pt x="354600" y="900779"/>
                </a:moveTo>
                <a:lnTo>
                  <a:pt x="371849" y="937396"/>
                </a:lnTo>
                <a:cubicBezTo>
                  <a:pt x="410246" y="1008132"/>
                  <a:pt x="459377" y="1058695"/>
                  <a:pt x="513811" y="1079301"/>
                </a:cubicBezTo>
                <a:lnTo>
                  <a:pt x="544829" y="1085107"/>
                </a:lnTo>
                <a:lnTo>
                  <a:pt x="544829" y="900779"/>
                </a:lnTo>
                <a:close/>
                <a:moveTo>
                  <a:pt x="170271" y="900779"/>
                </a:moveTo>
                <a:lnTo>
                  <a:pt x="193501" y="930176"/>
                </a:lnTo>
                <a:cubicBezTo>
                  <a:pt x="217544" y="955076"/>
                  <a:pt x="244440" y="977938"/>
                  <a:pt x="274099" y="998276"/>
                </a:cubicBezTo>
                <a:cubicBezTo>
                  <a:pt x="296332" y="1013521"/>
                  <a:pt x="319452" y="1026857"/>
                  <a:pt x="343237" y="1038284"/>
                </a:cubicBezTo>
                <a:lnTo>
                  <a:pt x="409916" y="1064318"/>
                </a:lnTo>
                <a:lnTo>
                  <a:pt x="388071" y="1044365"/>
                </a:lnTo>
                <a:cubicBezTo>
                  <a:pt x="355735" y="1007605"/>
                  <a:pt x="327422" y="961156"/>
                  <a:pt x="304486" y="907263"/>
                </a:cubicBezTo>
                <a:lnTo>
                  <a:pt x="302213" y="900779"/>
                </a:lnTo>
                <a:close/>
                <a:moveTo>
                  <a:pt x="893886" y="609600"/>
                </a:moveTo>
                <a:lnTo>
                  <a:pt x="883819" y="725499"/>
                </a:lnTo>
                <a:cubicBezTo>
                  <a:pt x="878448" y="758766"/>
                  <a:pt x="871393" y="790734"/>
                  <a:pt x="862822" y="821121"/>
                </a:cubicBezTo>
                <a:lnTo>
                  <a:pt x="851632" y="853154"/>
                </a:lnTo>
                <a:lnTo>
                  <a:pt x="981369" y="853154"/>
                </a:lnTo>
                <a:lnTo>
                  <a:pt x="982815" y="850019"/>
                </a:lnTo>
                <a:lnTo>
                  <a:pt x="1011313" y="839490"/>
                </a:lnTo>
                <a:lnTo>
                  <a:pt x="1048958" y="770681"/>
                </a:lnTo>
                <a:cubicBezTo>
                  <a:pt x="1062412" y="738790"/>
                  <a:pt x="1072471" y="706025"/>
                  <a:pt x="1079223" y="672872"/>
                </a:cubicBezTo>
                <a:lnTo>
                  <a:pt x="1085813" y="609600"/>
                </a:lnTo>
                <a:close/>
                <a:moveTo>
                  <a:pt x="592454" y="609600"/>
                </a:moveTo>
                <a:lnTo>
                  <a:pt x="592454" y="853154"/>
                </a:lnTo>
                <a:lnTo>
                  <a:pt x="801697" y="853154"/>
                </a:lnTo>
                <a:lnTo>
                  <a:pt x="814186" y="817459"/>
                </a:lnTo>
                <a:cubicBezTo>
                  <a:pt x="827333" y="773236"/>
                  <a:pt x="837123" y="725190"/>
                  <a:pt x="842881" y="674545"/>
                </a:cubicBezTo>
                <a:lnTo>
                  <a:pt x="847104" y="609600"/>
                </a:lnTo>
                <a:close/>
                <a:moveTo>
                  <a:pt x="290085" y="609600"/>
                </a:moveTo>
                <a:lnTo>
                  <a:pt x="294286" y="674454"/>
                </a:lnTo>
                <a:cubicBezTo>
                  <a:pt x="300037" y="725103"/>
                  <a:pt x="309829" y="773154"/>
                  <a:pt x="322982" y="817386"/>
                </a:cubicBezTo>
                <a:lnTo>
                  <a:pt x="335502" y="853154"/>
                </a:lnTo>
                <a:lnTo>
                  <a:pt x="544829" y="853154"/>
                </a:lnTo>
                <a:lnTo>
                  <a:pt x="544829" y="609600"/>
                </a:lnTo>
                <a:close/>
                <a:moveTo>
                  <a:pt x="51742" y="609600"/>
                </a:moveTo>
                <a:lnTo>
                  <a:pt x="56596" y="664133"/>
                </a:lnTo>
                <a:cubicBezTo>
                  <a:pt x="68814" y="729662"/>
                  <a:pt x="93530" y="792859"/>
                  <a:pt x="130022" y="849844"/>
                </a:cubicBezTo>
                <a:lnTo>
                  <a:pt x="132638" y="853154"/>
                </a:lnTo>
                <a:lnTo>
                  <a:pt x="285515" y="853154"/>
                </a:lnTo>
                <a:lnTo>
                  <a:pt x="274285" y="821121"/>
                </a:lnTo>
                <a:cubicBezTo>
                  <a:pt x="265675" y="790734"/>
                  <a:pt x="258579" y="758766"/>
                  <a:pt x="253165" y="725499"/>
                </a:cubicBezTo>
                <a:lnTo>
                  <a:pt x="242952" y="609600"/>
                </a:lnTo>
                <a:close/>
                <a:moveTo>
                  <a:pt x="720852" y="331565"/>
                </a:moveTo>
                <a:lnTo>
                  <a:pt x="772096" y="331565"/>
                </a:lnTo>
                <a:lnTo>
                  <a:pt x="801719" y="441864"/>
                </a:lnTo>
                <a:lnTo>
                  <a:pt x="833914" y="331565"/>
                </a:lnTo>
                <a:lnTo>
                  <a:pt x="876110" y="331565"/>
                </a:lnTo>
                <a:lnTo>
                  <a:pt x="907161" y="441674"/>
                </a:lnTo>
                <a:lnTo>
                  <a:pt x="936308" y="331565"/>
                </a:lnTo>
                <a:lnTo>
                  <a:pt x="985266" y="331565"/>
                </a:lnTo>
                <a:lnTo>
                  <a:pt x="929259" y="518827"/>
                </a:lnTo>
                <a:lnTo>
                  <a:pt x="883825" y="518827"/>
                </a:lnTo>
                <a:lnTo>
                  <a:pt x="853916" y="413099"/>
                </a:lnTo>
                <a:lnTo>
                  <a:pt x="821817" y="518827"/>
                </a:lnTo>
                <a:lnTo>
                  <a:pt x="777240" y="518827"/>
                </a:lnTo>
                <a:close/>
                <a:moveTo>
                  <a:pt x="445484" y="331565"/>
                </a:moveTo>
                <a:lnTo>
                  <a:pt x="496729" y="331565"/>
                </a:lnTo>
                <a:lnTo>
                  <a:pt x="526447" y="441864"/>
                </a:lnTo>
                <a:lnTo>
                  <a:pt x="558546" y="331565"/>
                </a:lnTo>
                <a:lnTo>
                  <a:pt x="600837" y="331565"/>
                </a:lnTo>
                <a:lnTo>
                  <a:pt x="631888" y="441674"/>
                </a:lnTo>
                <a:lnTo>
                  <a:pt x="660939" y="331565"/>
                </a:lnTo>
                <a:lnTo>
                  <a:pt x="709898" y="331565"/>
                </a:lnTo>
                <a:lnTo>
                  <a:pt x="653891" y="518827"/>
                </a:lnTo>
                <a:lnTo>
                  <a:pt x="608552" y="518827"/>
                </a:lnTo>
                <a:lnTo>
                  <a:pt x="578644" y="413099"/>
                </a:lnTo>
                <a:lnTo>
                  <a:pt x="546449" y="518827"/>
                </a:lnTo>
                <a:lnTo>
                  <a:pt x="501872" y="518827"/>
                </a:lnTo>
                <a:close/>
                <a:moveTo>
                  <a:pt x="170211" y="331565"/>
                </a:moveTo>
                <a:lnTo>
                  <a:pt x="221360" y="331565"/>
                </a:lnTo>
                <a:lnTo>
                  <a:pt x="251078" y="441864"/>
                </a:lnTo>
                <a:lnTo>
                  <a:pt x="283177" y="331565"/>
                </a:lnTo>
                <a:lnTo>
                  <a:pt x="325468" y="331565"/>
                </a:lnTo>
                <a:lnTo>
                  <a:pt x="356520" y="441674"/>
                </a:lnTo>
                <a:lnTo>
                  <a:pt x="385571" y="331565"/>
                </a:lnTo>
                <a:lnTo>
                  <a:pt x="434625" y="331565"/>
                </a:lnTo>
                <a:lnTo>
                  <a:pt x="378523" y="518827"/>
                </a:lnTo>
                <a:lnTo>
                  <a:pt x="333184" y="518827"/>
                </a:lnTo>
                <a:lnTo>
                  <a:pt x="303275" y="413099"/>
                </a:lnTo>
                <a:lnTo>
                  <a:pt x="271176" y="518827"/>
                </a:lnTo>
                <a:lnTo>
                  <a:pt x="226599" y="518827"/>
                </a:lnTo>
                <a:close/>
                <a:moveTo>
                  <a:pt x="133147" y="284892"/>
                </a:moveTo>
                <a:lnTo>
                  <a:pt x="88430" y="366629"/>
                </a:lnTo>
                <a:cubicBezTo>
                  <a:pt x="74976" y="398520"/>
                  <a:pt x="64918" y="431285"/>
                  <a:pt x="58165" y="464438"/>
                </a:cubicBezTo>
                <a:lnTo>
                  <a:pt x="48006" y="561975"/>
                </a:lnTo>
                <a:lnTo>
                  <a:pt x="264161" y="561975"/>
                </a:lnTo>
                <a:lnTo>
                  <a:pt x="264271" y="561927"/>
                </a:lnTo>
                <a:lnTo>
                  <a:pt x="264393" y="561975"/>
                </a:lnTo>
                <a:lnTo>
                  <a:pt x="568642" y="561975"/>
                </a:lnTo>
                <a:lnTo>
                  <a:pt x="872490" y="561975"/>
                </a:lnTo>
                <a:lnTo>
                  <a:pt x="1088696" y="561975"/>
                </a:lnTo>
                <a:lnTo>
                  <a:pt x="1080792" y="473178"/>
                </a:lnTo>
                <a:cubicBezTo>
                  <a:pt x="1068574" y="407650"/>
                  <a:pt x="1043858" y="344451"/>
                  <a:pt x="1007366" y="287466"/>
                </a:cubicBezTo>
                <a:lnTo>
                  <a:pt x="1005332" y="284892"/>
                </a:lnTo>
                <a:lnTo>
                  <a:pt x="819632" y="284892"/>
                </a:lnTo>
                <a:lnTo>
                  <a:pt x="819626" y="284893"/>
                </a:lnTo>
                <a:lnTo>
                  <a:pt x="819623" y="284892"/>
                </a:lnTo>
                <a:lnTo>
                  <a:pt x="568644" y="284892"/>
                </a:lnTo>
                <a:lnTo>
                  <a:pt x="568642" y="284893"/>
                </a:lnTo>
                <a:lnTo>
                  <a:pt x="568640" y="284892"/>
                </a:lnTo>
                <a:close/>
                <a:moveTo>
                  <a:pt x="731534" y="76267"/>
                </a:moveTo>
                <a:lnTo>
                  <a:pt x="789049" y="146389"/>
                </a:lnTo>
                <a:lnTo>
                  <a:pt x="834200" y="237267"/>
                </a:lnTo>
                <a:lnTo>
                  <a:pt x="967698" y="237267"/>
                </a:lnTo>
                <a:lnTo>
                  <a:pt x="943887" y="207134"/>
                </a:lnTo>
                <a:cubicBezTo>
                  <a:pt x="919844" y="182234"/>
                  <a:pt x="892948" y="159373"/>
                  <a:pt x="863289" y="139035"/>
                </a:cubicBezTo>
                <a:cubicBezTo>
                  <a:pt x="833630" y="118697"/>
                  <a:pt x="802612" y="101847"/>
                  <a:pt x="770720" y="88392"/>
                </a:cubicBezTo>
                <a:close/>
                <a:moveTo>
                  <a:pt x="406566" y="75714"/>
                </a:moveTo>
                <a:lnTo>
                  <a:pt x="377157" y="84167"/>
                </a:lnTo>
                <a:cubicBezTo>
                  <a:pt x="307151" y="111770"/>
                  <a:pt x="242551" y="154734"/>
                  <a:pt x="188887" y="212028"/>
                </a:cubicBezTo>
                <a:lnTo>
                  <a:pt x="168619" y="237267"/>
                </a:lnTo>
                <a:lnTo>
                  <a:pt x="302671" y="237267"/>
                </a:lnTo>
                <a:lnTo>
                  <a:pt x="350874" y="142290"/>
                </a:lnTo>
                <a:close/>
                <a:moveTo>
                  <a:pt x="592454" y="50350"/>
                </a:moveTo>
                <a:lnTo>
                  <a:pt x="592454" y="237267"/>
                </a:lnTo>
                <a:lnTo>
                  <a:pt x="782054" y="237267"/>
                </a:lnTo>
                <a:lnTo>
                  <a:pt x="758112" y="186681"/>
                </a:lnTo>
                <a:cubicBezTo>
                  <a:pt x="714829" y="112409"/>
                  <a:pt x="660242" y="64796"/>
                  <a:pt x="602159" y="51461"/>
                </a:cubicBezTo>
                <a:close/>
                <a:moveTo>
                  <a:pt x="544829" y="50318"/>
                </a:moveTo>
                <a:lnTo>
                  <a:pt x="535728" y="51347"/>
                </a:lnTo>
                <a:cubicBezTo>
                  <a:pt x="478634" y="64284"/>
                  <a:pt x="424687" y="110478"/>
                  <a:pt x="381803" y="182555"/>
                </a:cubicBezTo>
                <a:lnTo>
                  <a:pt x="355339" y="237267"/>
                </a:lnTo>
                <a:lnTo>
                  <a:pt x="544829" y="237267"/>
                </a:lnTo>
                <a:close/>
                <a:moveTo>
                  <a:pt x="568642" y="0"/>
                </a:moveTo>
                <a:cubicBezTo>
                  <a:pt x="582465" y="0"/>
                  <a:pt x="596151" y="1475"/>
                  <a:pt x="609638" y="4365"/>
                </a:cubicBezTo>
                <a:lnTo>
                  <a:pt x="609822" y="4424"/>
                </a:lnTo>
                <a:lnTo>
                  <a:pt x="683387" y="11853"/>
                </a:lnTo>
                <a:cubicBezTo>
                  <a:pt x="812900" y="38377"/>
                  <a:pt x="926361" y="108945"/>
                  <a:pt x="1007438" y="207220"/>
                </a:cubicBezTo>
                <a:lnTo>
                  <a:pt x="1032251" y="243038"/>
                </a:lnTo>
                <a:lnTo>
                  <a:pt x="1035155" y="244242"/>
                </a:lnTo>
                <a:lnTo>
                  <a:pt x="1038236" y="251678"/>
                </a:lnTo>
                <a:lnTo>
                  <a:pt x="1061919" y="285866"/>
                </a:lnTo>
                <a:cubicBezTo>
                  <a:pt x="1109817" y="369197"/>
                  <a:pt x="1137203" y="465815"/>
                  <a:pt x="1137186" y="568829"/>
                </a:cubicBezTo>
                <a:lnTo>
                  <a:pt x="1135926" y="585495"/>
                </a:lnTo>
                <a:lnTo>
                  <a:pt x="1136047" y="585788"/>
                </a:lnTo>
                <a:lnTo>
                  <a:pt x="1135871" y="586212"/>
                </a:lnTo>
                <a:lnTo>
                  <a:pt x="1130735" y="654138"/>
                </a:lnTo>
                <a:cubicBezTo>
                  <a:pt x="1124326" y="696310"/>
                  <a:pt x="1113196" y="737587"/>
                  <a:pt x="1097587" y="777190"/>
                </a:cubicBezTo>
                <a:lnTo>
                  <a:pt x="1054675" y="857980"/>
                </a:lnTo>
                <a:lnTo>
                  <a:pt x="1065922" y="888206"/>
                </a:lnTo>
                <a:cubicBezTo>
                  <a:pt x="1065460" y="900874"/>
                  <a:pt x="1060165" y="913365"/>
                  <a:pt x="1050148" y="922677"/>
                </a:cubicBezTo>
                <a:cubicBezTo>
                  <a:pt x="1050110" y="922712"/>
                  <a:pt x="1050073" y="922747"/>
                  <a:pt x="1050035" y="922782"/>
                </a:cubicBezTo>
                <a:cubicBezTo>
                  <a:pt x="1029942" y="941344"/>
                  <a:pt x="998606" y="940103"/>
                  <a:pt x="980044" y="920010"/>
                </a:cubicBezTo>
                <a:lnTo>
                  <a:pt x="972956" y="900779"/>
                </a:lnTo>
                <a:lnTo>
                  <a:pt x="834994" y="900779"/>
                </a:lnTo>
                <a:lnTo>
                  <a:pt x="832729" y="907263"/>
                </a:lnTo>
                <a:cubicBezTo>
                  <a:pt x="809859" y="961156"/>
                  <a:pt x="781598" y="1007605"/>
                  <a:pt x="749289" y="1044365"/>
                </a:cubicBezTo>
                <a:lnTo>
                  <a:pt x="727294" y="1064464"/>
                </a:lnTo>
                <a:lnTo>
                  <a:pt x="795150" y="1037803"/>
                </a:lnTo>
                <a:lnTo>
                  <a:pt x="859690" y="1000272"/>
                </a:lnTo>
                <a:lnTo>
                  <a:pt x="855163" y="988063"/>
                </a:lnTo>
                <a:cubicBezTo>
                  <a:pt x="855641" y="975372"/>
                  <a:pt x="860961" y="962864"/>
                  <a:pt x="871009" y="953545"/>
                </a:cubicBezTo>
                <a:cubicBezTo>
                  <a:pt x="891105" y="934908"/>
                  <a:pt x="922503" y="936091"/>
                  <a:pt x="941140" y="956187"/>
                </a:cubicBezTo>
                <a:cubicBezTo>
                  <a:pt x="941148" y="956196"/>
                  <a:pt x="941157" y="956205"/>
                  <a:pt x="941165" y="956214"/>
                </a:cubicBezTo>
                <a:cubicBezTo>
                  <a:pt x="959777" y="976313"/>
                  <a:pt x="958583" y="1007691"/>
                  <a:pt x="938498" y="1026318"/>
                </a:cubicBezTo>
                <a:cubicBezTo>
                  <a:pt x="928450" y="1035636"/>
                  <a:pt x="915577" y="1040000"/>
                  <a:pt x="902885" y="1039522"/>
                </a:cubicBezTo>
                <a:lnTo>
                  <a:pt x="893217" y="1035084"/>
                </a:lnTo>
                <a:lnTo>
                  <a:pt x="892865" y="1035682"/>
                </a:lnTo>
                <a:cubicBezTo>
                  <a:pt x="892344" y="1036075"/>
                  <a:pt x="891806" y="1036446"/>
                  <a:pt x="891254" y="1036795"/>
                </a:cubicBezTo>
                <a:cubicBezTo>
                  <a:pt x="820173" y="1085993"/>
                  <a:pt x="739079" y="1117999"/>
                  <a:pt x="654349" y="1130827"/>
                </a:cubicBezTo>
                <a:lnTo>
                  <a:pt x="568645" y="1137189"/>
                </a:lnTo>
                <a:lnTo>
                  <a:pt x="568642" y="1137190"/>
                </a:lnTo>
                <a:lnTo>
                  <a:pt x="568639" y="1137189"/>
                </a:lnTo>
                <a:lnTo>
                  <a:pt x="468018" y="1128294"/>
                </a:lnTo>
                <a:cubicBezTo>
                  <a:pt x="325132" y="1102747"/>
                  <a:pt x="200751" y="1023813"/>
                  <a:pt x="116245" y="912867"/>
                </a:cubicBezTo>
                <a:lnTo>
                  <a:pt x="104492" y="894823"/>
                </a:lnTo>
                <a:lnTo>
                  <a:pt x="102034" y="893805"/>
                </a:lnTo>
                <a:lnTo>
                  <a:pt x="98898" y="886234"/>
                </a:lnTo>
                <a:lnTo>
                  <a:pt x="70496" y="842629"/>
                </a:lnTo>
                <a:cubicBezTo>
                  <a:pt x="43415" y="793471"/>
                  <a:pt x="23398" y="739876"/>
                  <a:pt x="11812" y="683210"/>
                </a:cubicBezTo>
                <a:lnTo>
                  <a:pt x="2652" y="592189"/>
                </a:lnTo>
                <a:lnTo>
                  <a:pt x="0" y="585788"/>
                </a:lnTo>
                <a:lnTo>
                  <a:pt x="1615" y="581889"/>
                </a:lnTo>
                <a:lnTo>
                  <a:pt x="282" y="568645"/>
                </a:lnTo>
                <a:cubicBezTo>
                  <a:pt x="299" y="465631"/>
                  <a:pt x="27716" y="369021"/>
                  <a:pt x="75641" y="285706"/>
                </a:cubicBezTo>
                <a:lnTo>
                  <a:pt x="98542" y="252670"/>
                </a:lnTo>
                <a:lnTo>
                  <a:pt x="102034" y="244242"/>
                </a:lnTo>
                <a:lnTo>
                  <a:pt x="105332" y="242875"/>
                </a:lnTo>
                <a:lnTo>
                  <a:pt x="130148" y="207078"/>
                </a:lnTo>
                <a:cubicBezTo>
                  <a:pt x="211257" y="108829"/>
                  <a:pt x="324740" y="38297"/>
                  <a:pt x="454261" y="11815"/>
                </a:cubicBezTo>
                <a:lnTo>
                  <a:pt x="527765" y="4418"/>
                </a:lnTo>
                <a:lnTo>
                  <a:pt x="528305" y="4246"/>
                </a:lnTo>
                <a:cubicBezTo>
                  <a:pt x="541590" y="1435"/>
                  <a:pt x="555057" y="0"/>
                  <a:pt x="568642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26B0905-A8C2-4A51-86E9-9F5A6461B408}"/>
              </a:ext>
            </a:extLst>
          </p:cNvPr>
          <p:cNvSpPr txBox="1"/>
          <p:nvPr/>
        </p:nvSpPr>
        <p:spPr>
          <a:xfrm>
            <a:off x="4164476" y="2480512"/>
            <a:ext cx="370203" cy="4307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sz="2799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+</a:t>
            </a:r>
            <a:endParaRPr lang="zh-CN" altLang="en-US" sz="2799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B6442EE-AB89-442D-B4EC-6BAB2F6A0ED0}"/>
              </a:ext>
            </a:extLst>
          </p:cNvPr>
          <p:cNvSpPr txBox="1"/>
          <p:nvPr/>
        </p:nvSpPr>
        <p:spPr>
          <a:xfrm>
            <a:off x="4884895" y="2112603"/>
            <a:ext cx="1098474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LAN Service</a:t>
            </a:r>
          </a:p>
        </p:txBody>
      </p:sp>
      <p:sp>
        <p:nvSpPr>
          <p:cNvPr id="41" name="431b89d7-5de7-4abf-9dd1-dd25bb0beb57">
            <a:extLst>
              <a:ext uri="{FF2B5EF4-FFF2-40B4-BE49-F238E27FC236}">
                <a16:creationId xmlns:a16="http://schemas.microsoft.com/office/drawing/2014/main" id="{4608B844-75D1-4A38-AA1E-638D9C2F6501}"/>
              </a:ext>
            </a:extLst>
          </p:cNvPr>
          <p:cNvSpPr/>
          <p:nvPr/>
        </p:nvSpPr>
        <p:spPr>
          <a:xfrm>
            <a:off x="4590714" y="2027831"/>
            <a:ext cx="346621" cy="354141"/>
          </a:xfrm>
          <a:custGeom>
            <a:avLst/>
            <a:gdLst>
              <a:gd name="connsiteX0" fmla="*/ 18923 w 603250"/>
              <a:gd name="connsiteY0" fmla="*/ 474512 h 565150"/>
              <a:gd name="connsiteX1" fmla="*/ 246469 w 603250"/>
              <a:gd name="connsiteY1" fmla="*/ 474512 h 565150"/>
              <a:gd name="connsiteX2" fmla="*/ 274853 w 603250"/>
              <a:gd name="connsiteY2" fmla="*/ 492109 h 565150"/>
              <a:gd name="connsiteX3" fmla="*/ 274853 w 603250"/>
              <a:gd name="connsiteY3" fmla="*/ 508279 h 565150"/>
              <a:gd name="connsiteX4" fmla="*/ 184630 w 603250"/>
              <a:gd name="connsiteY4" fmla="*/ 508279 h 565150"/>
              <a:gd name="connsiteX5" fmla="*/ 184630 w 603250"/>
              <a:gd name="connsiteY5" fmla="*/ 520235 h 565150"/>
              <a:gd name="connsiteX6" fmla="*/ 362454 w 603250"/>
              <a:gd name="connsiteY6" fmla="*/ 520235 h 565150"/>
              <a:gd name="connsiteX7" fmla="*/ 366573 w 603250"/>
              <a:gd name="connsiteY7" fmla="*/ 510559 h 565150"/>
              <a:gd name="connsiteX8" fmla="*/ 389733 w 603250"/>
              <a:gd name="connsiteY8" fmla="*/ 501171 h 565150"/>
              <a:gd name="connsiteX9" fmla="*/ 422989 w 603250"/>
              <a:gd name="connsiteY9" fmla="*/ 533161 h 565150"/>
              <a:gd name="connsiteX10" fmla="*/ 389733 w 603250"/>
              <a:gd name="connsiteY10" fmla="*/ 565150 h 565150"/>
              <a:gd name="connsiteX11" fmla="*/ 366573 w 603250"/>
              <a:gd name="connsiteY11" fmla="*/ 555762 h 565150"/>
              <a:gd name="connsiteX12" fmla="*/ 365273 w 603250"/>
              <a:gd name="connsiteY12" fmla="*/ 552709 h 565150"/>
              <a:gd name="connsiteX13" fmla="*/ 169059 w 603250"/>
              <a:gd name="connsiteY13" fmla="*/ 552709 h 565150"/>
              <a:gd name="connsiteX14" fmla="*/ 153489 w 603250"/>
              <a:gd name="connsiteY14" fmla="*/ 536714 h 565150"/>
              <a:gd name="connsiteX15" fmla="*/ 153489 w 603250"/>
              <a:gd name="connsiteY15" fmla="*/ 508279 h 565150"/>
              <a:gd name="connsiteX16" fmla="*/ 0 w 603250"/>
              <a:gd name="connsiteY16" fmla="*/ 508279 h 565150"/>
              <a:gd name="connsiteX17" fmla="*/ 0 w 603250"/>
              <a:gd name="connsiteY17" fmla="*/ 492109 h 565150"/>
              <a:gd name="connsiteX18" fmla="*/ 41042 w 603250"/>
              <a:gd name="connsiteY18" fmla="*/ 316477 h 565150"/>
              <a:gd name="connsiteX19" fmla="*/ 41042 w 603250"/>
              <a:gd name="connsiteY19" fmla="*/ 440612 h 565150"/>
              <a:gd name="connsiteX20" fmla="*/ 233339 w 603250"/>
              <a:gd name="connsiteY20" fmla="*/ 440612 h 565150"/>
              <a:gd name="connsiteX21" fmla="*/ 233339 w 603250"/>
              <a:gd name="connsiteY21" fmla="*/ 316477 h 565150"/>
              <a:gd name="connsiteX22" fmla="*/ 194238 w 603250"/>
              <a:gd name="connsiteY22" fmla="*/ 316477 h 565150"/>
              <a:gd name="connsiteX23" fmla="*/ 193660 w 603250"/>
              <a:gd name="connsiteY23" fmla="*/ 316852 h 565150"/>
              <a:gd name="connsiteX24" fmla="*/ 193419 w 603250"/>
              <a:gd name="connsiteY24" fmla="*/ 316477 h 565150"/>
              <a:gd name="connsiteX25" fmla="*/ 255994 w 603250"/>
              <a:gd name="connsiteY25" fmla="*/ 243412 h 565150"/>
              <a:gd name="connsiteX26" fmla="*/ 265774 w 603250"/>
              <a:gd name="connsiteY26" fmla="*/ 248316 h 565150"/>
              <a:gd name="connsiteX27" fmla="*/ 313850 w 603250"/>
              <a:gd name="connsiteY27" fmla="*/ 301254 h 565150"/>
              <a:gd name="connsiteX28" fmla="*/ 338360 w 603250"/>
              <a:gd name="connsiteY28" fmla="*/ 282348 h 565150"/>
              <a:gd name="connsiteX29" fmla="*/ 347787 w 603250"/>
              <a:gd name="connsiteY29" fmla="*/ 279039 h 565150"/>
              <a:gd name="connsiteX30" fmla="*/ 400105 w 603250"/>
              <a:gd name="connsiteY30" fmla="*/ 279039 h 565150"/>
              <a:gd name="connsiteX31" fmla="*/ 409060 w 603250"/>
              <a:gd name="connsiteY31" fmla="*/ 282348 h 565150"/>
              <a:gd name="connsiteX32" fmla="*/ 434984 w 603250"/>
              <a:gd name="connsiteY32" fmla="*/ 300782 h 565150"/>
              <a:gd name="connsiteX33" fmla="*/ 484003 w 603250"/>
              <a:gd name="connsiteY33" fmla="*/ 248316 h 565150"/>
              <a:gd name="connsiteX34" fmla="*/ 502856 w 603250"/>
              <a:gd name="connsiteY34" fmla="*/ 245008 h 565150"/>
              <a:gd name="connsiteX35" fmla="*/ 597123 w 603250"/>
              <a:gd name="connsiteY35" fmla="*/ 300309 h 565150"/>
              <a:gd name="connsiteX36" fmla="*/ 603250 w 603250"/>
              <a:gd name="connsiteY36" fmla="*/ 312598 h 565150"/>
              <a:gd name="connsiteX37" fmla="*/ 603250 w 603250"/>
              <a:gd name="connsiteY37" fmla="*/ 537112 h 565150"/>
              <a:gd name="connsiteX38" fmla="*/ 587696 w 603250"/>
              <a:gd name="connsiteY38" fmla="*/ 552710 h 565150"/>
              <a:gd name="connsiteX39" fmla="*/ 514569 w 603250"/>
              <a:gd name="connsiteY39" fmla="*/ 552710 h 565150"/>
              <a:gd name="connsiteX40" fmla="*/ 513507 w 603250"/>
              <a:gd name="connsiteY40" fmla="*/ 555334 h 565150"/>
              <a:gd name="connsiteX41" fmla="*/ 490810 w 603250"/>
              <a:gd name="connsiteY41" fmla="*/ 565150 h 565150"/>
              <a:gd name="connsiteX42" fmla="*/ 458684 w 603250"/>
              <a:gd name="connsiteY42" fmla="*/ 532035 h 565150"/>
              <a:gd name="connsiteX43" fmla="*/ 490810 w 603250"/>
              <a:gd name="connsiteY43" fmla="*/ 499393 h 565150"/>
              <a:gd name="connsiteX44" fmla="*/ 513507 w 603250"/>
              <a:gd name="connsiteY44" fmla="*/ 508973 h 565150"/>
              <a:gd name="connsiteX45" fmla="*/ 518441 w 603250"/>
              <a:gd name="connsiteY45" fmla="*/ 521042 h 565150"/>
              <a:gd name="connsiteX46" fmla="*/ 572142 w 603250"/>
              <a:gd name="connsiteY46" fmla="*/ 521042 h 565150"/>
              <a:gd name="connsiteX47" fmla="*/ 572142 w 603250"/>
              <a:gd name="connsiteY47" fmla="*/ 321106 h 565150"/>
              <a:gd name="connsiteX48" fmla="*/ 498614 w 603250"/>
              <a:gd name="connsiteY48" fmla="*/ 278566 h 565150"/>
              <a:gd name="connsiteX49" fmla="*/ 448652 w 603250"/>
              <a:gd name="connsiteY49" fmla="*/ 332450 h 565150"/>
              <a:gd name="connsiteX50" fmla="*/ 427442 w 603250"/>
              <a:gd name="connsiteY50" fmla="*/ 334813 h 565150"/>
              <a:gd name="connsiteX51" fmla="*/ 398685 w 603250"/>
              <a:gd name="connsiteY51" fmla="*/ 313498 h 565150"/>
              <a:gd name="connsiteX52" fmla="*/ 394387 w 603250"/>
              <a:gd name="connsiteY52" fmla="*/ 332705 h 565150"/>
              <a:gd name="connsiteX53" fmla="*/ 414064 w 603250"/>
              <a:gd name="connsiteY53" fmla="*/ 433054 h 565150"/>
              <a:gd name="connsiteX54" fmla="*/ 377521 w 603250"/>
              <a:gd name="connsiteY54" fmla="*/ 474513 h 565150"/>
              <a:gd name="connsiteX55" fmla="*/ 339104 w 603250"/>
              <a:gd name="connsiteY55" fmla="*/ 433054 h 565150"/>
              <a:gd name="connsiteX56" fmla="*/ 354565 w 603250"/>
              <a:gd name="connsiteY56" fmla="*/ 331763 h 565150"/>
              <a:gd name="connsiteX57" fmla="*/ 349516 w 603250"/>
              <a:gd name="connsiteY57" fmla="*/ 313764 h 565150"/>
              <a:gd name="connsiteX58" fmla="*/ 321863 w 603250"/>
              <a:gd name="connsiteY58" fmla="*/ 335286 h 565150"/>
              <a:gd name="connsiteX59" fmla="*/ 300653 w 603250"/>
              <a:gd name="connsiteY59" fmla="*/ 333395 h 565150"/>
              <a:gd name="connsiteX60" fmla="*/ 251163 w 603250"/>
              <a:gd name="connsiteY60" fmla="*/ 279512 h 565150"/>
              <a:gd name="connsiteX61" fmla="*/ 232761 w 603250"/>
              <a:gd name="connsiteY61" fmla="*/ 291461 h 565150"/>
              <a:gd name="connsiteX62" fmla="*/ 246064 w 603250"/>
              <a:gd name="connsiteY62" fmla="*/ 291461 h 565150"/>
              <a:gd name="connsiteX63" fmla="*/ 258790 w 603250"/>
              <a:gd name="connsiteY63" fmla="*/ 303733 h 565150"/>
              <a:gd name="connsiteX64" fmla="*/ 258790 w 603250"/>
              <a:gd name="connsiteY64" fmla="*/ 453355 h 565150"/>
              <a:gd name="connsiteX65" fmla="*/ 246064 w 603250"/>
              <a:gd name="connsiteY65" fmla="*/ 465627 h 565150"/>
              <a:gd name="connsiteX66" fmla="*/ 28788 w 603250"/>
              <a:gd name="connsiteY66" fmla="*/ 465627 h 565150"/>
              <a:gd name="connsiteX67" fmla="*/ 16063 w 603250"/>
              <a:gd name="connsiteY67" fmla="*/ 453355 h 565150"/>
              <a:gd name="connsiteX68" fmla="*/ 16063 w 603250"/>
              <a:gd name="connsiteY68" fmla="*/ 303733 h 565150"/>
              <a:gd name="connsiteX69" fmla="*/ 28788 w 603250"/>
              <a:gd name="connsiteY69" fmla="*/ 291461 h 565150"/>
              <a:gd name="connsiteX70" fmla="*/ 177383 w 603250"/>
              <a:gd name="connsiteY70" fmla="*/ 291461 h 565150"/>
              <a:gd name="connsiteX71" fmla="*/ 176692 w 603250"/>
              <a:gd name="connsiteY71" fmla="*/ 290383 h 565150"/>
              <a:gd name="connsiteX72" fmla="*/ 245507 w 603250"/>
              <a:gd name="connsiteY72" fmla="*/ 245953 h 565150"/>
              <a:gd name="connsiteX73" fmla="*/ 255994 w 603250"/>
              <a:gd name="connsiteY73" fmla="*/ 243412 h 565150"/>
              <a:gd name="connsiteX74" fmla="*/ 375929 w 603250"/>
              <a:gd name="connsiteY74" fmla="*/ 30878 h 565150"/>
              <a:gd name="connsiteX75" fmla="*/ 277995 w 603250"/>
              <a:gd name="connsiteY75" fmla="*/ 127724 h 565150"/>
              <a:gd name="connsiteX76" fmla="*/ 375929 w 603250"/>
              <a:gd name="connsiteY76" fmla="*/ 224571 h 565150"/>
              <a:gd name="connsiteX77" fmla="*/ 473863 w 603250"/>
              <a:gd name="connsiteY77" fmla="*/ 127724 h 565150"/>
              <a:gd name="connsiteX78" fmla="*/ 375929 w 603250"/>
              <a:gd name="connsiteY78" fmla="*/ 30878 h 565150"/>
              <a:gd name="connsiteX79" fmla="*/ 375929 w 603250"/>
              <a:gd name="connsiteY79" fmla="*/ 0 h 565150"/>
              <a:gd name="connsiteX80" fmla="*/ 505088 w 603250"/>
              <a:gd name="connsiteY80" fmla="*/ 127724 h 565150"/>
              <a:gd name="connsiteX81" fmla="*/ 375929 w 603250"/>
              <a:gd name="connsiteY81" fmla="*/ 255917 h 565150"/>
              <a:gd name="connsiteX82" fmla="*/ 246297 w 603250"/>
              <a:gd name="connsiteY82" fmla="*/ 127724 h 565150"/>
              <a:gd name="connsiteX83" fmla="*/ 375929 w 603250"/>
              <a:gd name="connsiteY83" fmla="*/ 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3250" h="565150">
                <a:moveTo>
                  <a:pt x="18923" y="474512"/>
                </a:moveTo>
                <a:lnTo>
                  <a:pt x="246469" y="474512"/>
                </a:lnTo>
                <a:lnTo>
                  <a:pt x="274853" y="492109"/>
                </a:lnTo>
                <a:lnTo>
                  <a:pt x="274853" y="508279"/>
                </a:lnTo>
                <a:lnTo>
                  <a:pt x="184630" y="508279"/>
                </a:lnTo>
                <a:lnTo>
                  <a:pt x="184630" y="520235"/>
                </a:lnTo>
                <a:lnTo>
                  <a:pt x="362454" y="520235"/>
                </a:lnTo>
                <a:lnTo>
                  <a:pt x="366573" y="510559"/>
                </a:lnTo>
                <a:cubicBezTo>
                  <a:pt x="372511" y="504764"/>
                  <a:pt x="380707" y="501171"/>
                  <a:pt x="389733" y="501171"/>
                </a:cubicBezTo>
                <a:cubicBezTo>
                  <a:pt x="408262" y="501171"/>
                  <a:pt x="422989" y="515543"/>
                  <a:pt x="422989" y="533161"/>
                </a:cubicBezTo>
                <a:cubicBezTo>
                  <a:pt x="422989" y="550778"/>
                  <a:pt x="408262" y="565150"/>
                  <a:pt x="389733" y="565150"/>
                </a:cubicBezTo>
                <a:cubicBezTo>
                  <a:pt x="380707" y="565150"/>
                  <a:pt x="372511" y="561557"/>
                  <a:pt x="366573" y="555762"/>
                </a:cubicBezTo>
                <a:lnTo>
                  <a:pt x="365273" y="552709"/>
                </a:lnTo>
                <a:lnTo>
                  <a:pt x="169059" y="552709"/>
                </a:lnTo>
                <a:cubicBezTo>
                  <a:pt x="160566" y="552709"/>
                  <a:pt x="153489" y="545439"/>
                  <a:pt x="153489" y="536714"/>
                </a:cubicBezTo>
                <a:lnTo>
                  <a:pt x="153489" y="508279"/>
                </a:lnTo>
                <a:lnTo>
                  <a:pt x="0" y="508279"/>
                </a:lnTo>
                <a:lnTo>
                  <a:pt x="0" y="492109"/>
                </a:lnTo>
                <a:close/>
                <a:moveTo>
                  <a:pt x="41042" y="316477"/>
                </a:moveTo>
                <a:lnTo>
                  <a:pt x="41042" y="440612"/>
                </a:lnTo>
                <a:lnTo>
                  <a:pt x="233339" y="440612"/>
                </a:lnTo>
                <a:lnTo>
                  <a:pt x="233339" y="316477"/>
                </a:lnTo>
                <a:lnTo>
                  <a:pt x="194238" y="316477"/>
                </a:lnTo>
                <a:lnTo>
                  <a:pt x="193660" y="316852"/>
                </a:lnTo>
                <a:lnTo>
                  <a:pt x="193419" y="316477"/>
                </a:lnTo>
                <a:close/>
                <a:moveTo>
                  <a:pt x="255994" y="243412"/>
                </a:moveTo>
                <a:cubicBezTo>
                  <a:pt x="259647" y="243826"/>
                  <a:pt x="263182" y="245480"/>
                  <a:pt x="265774" y="248316"/>
                </a:cubicBezTo>
                <a:lnTo>
                  <a:pt x="313850" y="301254"/>
                </a:lnTo>
                <a:lnTo>
                  <a:pt x="338360" y="282348"/>
                </a:lnTo>
                <a:cubicBezTo>
                  <a:pt x="340717" y="280457"/>
                  <a:pt x="344487" y="279039"/>
                  <a:pt x="347787" y="279039"/>
                </a:cubicBezTo>
                <a:lnTo>
                  <a:pt x="400105" y="279039"/>
                </a:lnTo>
                <a:cubicBezTo>
                  <a:pt x="403404" y="279039"/>
                  <a:pt x="406704" y="279984"/>
                  <a:pt x="409060" y="282348"/>
                </a:cubicBezTo>
                <a:lnTo>
                  <a:pt x="434984" y="300782"/>
                </a:lnTo>
                <a:lnTo>
                  <a:pt x="484003" y="248316"/>
                </a:lnTo>
                <a:cubicBezTo>
                  <a:pt x="488716" y="243117"/>
                  <a:pt x="496257" y="241699"/>
                  <a:pt x="502856" y="245008"/>
                </a:cubicBezTo>
                <a:cubicBezTo>
                  <a:pt x="505684" y="246898"/>
                  <a:pt x="575913" y="284711"/>
                  <a:pt x="597123" y="300309"/>
                </a:cubicBezTo>
                <a:cubicBezTo>
                  <a:pt x="600894" y="303145"/>
                  <a:pt x="603250" y="307872"/>
                  <a:pt x="603250" y="312598"/>
                </a:cubicBezTo>
                <a:lnTo>
                  <a:pt x="603250" y="537112"/>
                </a:lnTo>
                <a:cubicBezTo>
                  <a:pt x="603250" y="545620"/>
                  <a:pt x="596180" y="552710"/>
                  <a:pt x="587696" y="552710"/>
                </a:cubicBezTo>
                <a:lnTo>
                  <a:pt x="514569" y="552710"/>
                </a:lnTo>
                <a:lnTo>
                  <a:pt x="513507" y="555334"/>
                </a:lnTo>
                <a:cubicBezTo>
                  <a:pt x="507687" y="561366"/>
                  <a:pt x="499656" y="565150"/>
                  <a:pt x="490810" y="565150"/>
                </a:cubicBezTo>
                <a:cubicBezTo>
                  <a:pt x="472652" y="565150"/>
                  <a:pt x="458684" y="550012"/>
                  <a:pt x="458684" y="532035"/>
                </a:cubicBezTo>
                <a:cubicBezTo>
                  <a:pt x="458684" y="514058"/>
                  <a:pt x="472652" y="499393"/>
                  <a:pt x="490810" y="499393"/>
                </a:cubicBezTo>
                <a:cubicBezTo>
                  <a:pt x="499656" y="499393"/>
                  <a:pt x="507687" y="503060"/>
                  <a:pt x="513507" y="508973"/>
                </a:cubicBezTo>
                <a:lnTo>
                  <a:pt x="518441" y="521042"/>
                </a:lnTo>
                <a:lnTo>
                  <a:pt x="572142" y="521042"/>
                </a:lnTo>
                <a:lnTo>
                  <a:pt x="572142" y="321106"/>
                </a:lnTo>
                <a:cubicBezTo>
                  <a:pt x="554703" y="309762"/>
                  <a:pt x="519824" y="290383"/>
                  <a:pt x="498614" y="278566"/>
                </a:cubicBezTo>
                <a:lnTo>
                  <a:pt x="448652" y="332450"/>
                </a:lnTo>
                <a:cubicBezTo>
                  <a:pt x="442996" y="338595"/>
                  <a:pt x="434041" y="339540"/>
                  <a:pt x="427442" y="334813"/>
                </a:cubicBezTo>
                <a:lnTo>
                  <a:pt x="398685" y="313498"/>
                </a:lnTo>
                <a:lnTo>
                  <a:pt x="394387" y="332705"/>
                </a:lnTo>
                <a:lnTo>
                  <a:pt x="414064" y="433054"/>
                </a:lnTo>
                <a:lnTo>
                  <a:pt x="377521" y="474513"/>
                </a:lnTo>
                <a:lnTo>
                  <a:pt x="339104" y="433054"/>
                </a:lnTo>
                <a:lnTo>
                  <a:pt x="354565" y="331763"/>
                </a:lnTo>
                <a:lnTo>
                  <a:pt x="349516" y="313764"/>
                </a:lnTo>
                <a:lnTo>
                  <a:pt x="321863" y="335286"/>
                </a:lnTo>
                <a:cubicBezTo>
                  <a:pt x="315264" y="340485"/>
                  <a:pt x="305837" y="339540"/>
                  <a:pt x="300653" y="333395"/>
                </a:cubicBezTo>
                <a:lnTo>
                  <a:pt x="251163" y="279512"/>
                </a:lnTo>
                <a:lnTo>
                  <a:pt x="232761" y="291461"/>
                </a:lnTo>
                <a:lnTo>
                  <a:pt x="246064" y="291461"/>
                </a:lnTo>
                <a:cubicBezTo>
                  <a:pt x="253134" y="291461"/>
                  <a:pt x="258790" y="297125"/>
                  <a:pt x="258790" y="303733"/>
                </a:cubicBezTo>
                <a:lnTo>
                  <a:pt x="258790" y="453355"/>
                </a:lnTo>
                <a:cubicBezTo>
                  <a:pt x="258790" y="459963"/>
                  <a:pt x="253134" y="465627"/>
                  <a:pt x="246064" y="465627"/>
                </a:cubicBezTo>
                <a:lnTo>
                  <a:pt x="28788" y="465627"/>
                </a:lnTo>
                <a:cubicBezTo>
                  <a:pt x="21719" y="465627"/>
                  <a:pt x="16063" y="459963"/>
                  <a:pt x="16063" y="453355"/>
                </a:cubicBezTo>
                <a:lnTo>
                  <a:pt x="16063" y="303733"/>
                </a:lnTo>
                <a:cubicBezTo>
                  <a:pt x="16063" y="297125"/>
                  <a:pt x="21719" y="291461"/>
                  <a:pt x="28788" y="291461"/>
                </a:cubicBezTo>
                <a:lnTo>
                  <a:pt x="177383" y="291461"/>
                </a:lnTo>
                <a:lnTo>
                  <a:pt x="176692" y="290383"/>
                </a:lnTo>
                <a:lnTo>
                  <a:pt x="245507" y="245953"/>
                </a:lnTo>
                <a:cubicBezTo>
                  <a:pt x="248570" y="243826"/>
                  <a:pt x="252341" y="242999"/>
                  <a:pt x="255994" y="243412"/>
                </a:cubicBezTo>
                <a:close/>
                <a:moveTo>
                  <a:pt x="375929" y="30878"/>
                </a:moveTo>
                <a:cubicBezTo>
                  <a:pt x="321994" y="30878"/>
                  <a:pt x="277995" y="74389"/>
                  <a:pt x="277995" y="127724"/>
                </a:cubicBezTo>
                <a:cubicBezTo>
                  <a:pt x="277995" y="181060"/>
                  <a:pt x="321994" y="224571"/>
                  <a:pt x="375929" y="224571"/>
                </a:cubicBezTo>
                <a:cubicBezTo>
                  <a:pt x="429864" y="224571"/>
                  <a:pt x="473863" y="181060"/>
                  <a:pt x="473863" y="127724"/>
                </a:cubicBezTo>
                <a:cubicBezTo>
                  <a:pt x="473863" y="74389"/>
                  <a:pt x="429864" y="30878"/>
                  <a:pt x="375929" y="30878"/>
                </a:cubicBezTo>
                <a:close/>
                <a:moveTo>
                  <a:pt x="375929" y="0"/>
                </a:moveTo>
                <a:cubicBezTo>
                  <a:pt x="447369" y="0"/>
                  <a:pt x="505088" y="57078"/>
                  <a:pt x="505088" y="127724"/>
                </a:cubicBezTo>
                <a:cubicBezTo>
                  <a:pt x="505088" y="198371"/>
                  <a:pt x="447369" y="255917"/>
                  <a:pt x="375929" y="255917"/>
                </a:cubicBezTo>
                <a:cubicBezTo>
                  <a:pt x="304489" y="255917"/>
                  <a:pt x="246297" y="198371"/>
                  <a:pt x="246297" y="127724"/>
                </a:cubicBezTo>
                <a:cubicBezTo>
                  <a:pt x="246297" y="57078"/>
                  <a:pt x="304489" y="0"/>
                  <a:pt x="375929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F39D60E-2CB2-4999-A941-876479302384}"/>
              </a:ext>
            </a:extLst>
          </p:cNvPr>
          <p:cNvSpPr txBox="1"/>
          <p:nvPr/>
        </p:nvSpPr>
        <p:spPr>
          <a:xfrm>
            <a:off x="5298441" y="2972942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远程监控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3852CE16-9449-49C8-AAC3-2952D908229D}"/>
              </a:ext>
            </a:extLst>
          </p:cNvPr>
          <p:cNvSpPr/>
          <p:nvPr/>
        </p:nvSpPr>
        <p:spPr>
          <a:xfrm>
            <a:off x="6142718" y="2532138"/>
            <a:ext cx="256029" cy="497134"/>
          </a:xfrm>
          <a:prstGeom prst="rightArrow">
            <a:avLst/>
          </a:prstGeom>
          <a:solidFill>
            <a:srgbClr val="30B5C5">
              <a:lumMod val="75000"/>
            </a:srgbClr>
          </a:solidFill>
          <a:ln w="1905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4" name="流程图: 过程 43">
            <a:extLst>
              <a:ext uri="{FF2B5EF4-FFF2-40B4-BE49-F238E27FC236}">
                <a16:creationId xmlns:a16="http://schemas.microsoft.com/office/drawing/2014/main" id="{7CA7AD24-0254-453D-A0E0-88FDBB967D2A}"/>
              </a:ext>
            </a:extLst>
          </p:cNvPr>
          <p:cNvSpPr/>
          <p:nvPr/>
        </p:nvSpPr>
        <p:spPr>
          <a:xfrm>
            <a:off x="6505970" y="1940512"/>
            <a:ext cx="1819639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4B036D1-E7DD-4AEF-A401-E7AC21D462CC}"/>
              </a:ext>
            </a:extLst>
          </p:cNvPr>
          <p:cNvSpPr txBox="1"/>
          <p:nvPr/>
        </p:nvSpPr>
        <p:spPr>
          <a:xfrm>
            <a:off x="6682307" y="2112603"/>
            <a:ext cx="1686557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050" b="1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网络管理服务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3F62A6E-7D6A-4E95-9926-8D12D8127089}"/>
              </a:ext>
            </a:extLst>
          </p:cNvPr>
          <p:cNvGrpSpPr/>
          <p:nvPr/>
        </p:nvGrpSpPr>
        <p:grpSpPr>
          <a:xfrm>
            <a:off x="6414704" y="2500439"/>
            <a:ext cx="1817507" cy="153828"/>
            <a:chOff x="7066513" y="2784211"/>
            <a:chExt cx="1818217" cy="153888"/>
          </a:xfrm>
          <a:noFill/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A840C20-0165-4E76-971B-B82430A181DD}"/>
                </a:ext>
              </a:extLst>
            </p:cNvPr>
            <p:cNvSpPr txBox="1"/>
            <p:nvPr/>
          </p:nvSpPr>
          <p:spPr>
            <a:xfrm>
              <a:off x="8104409" y="2784211"/>
              <a:ext cx="780321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4112"/>
              <a:r>
                <a:rPr kumimoji="1" lang="en-US" altLang="zh-CN" sz="10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CPE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设备订阅</a:t>
              </a:r>
              <a:endPara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C6D486D-63F8-4681-B677-48738628BC32}"/>
                </a:ext>
              </a:extLst>
            </p:cNvPr>
            <p:cNvSpPr txBox="1"/>
            <p:nvPr/>
          </p:nvSpPr>
          <p:spPr>
            <a:xfrm>
              <a:off x="7066513" y="2784211"/>
              <a:ext cx="864000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algn="r"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SD-WAN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+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555A21D-2121-4CF3-944F-30A4D5DB681F}"/>
              </a:ext>
            </a:extLst>
          </p:cNvPr>
          <p:cNvGrpSpPr/>
          <p:nvPr/>
        </p:nvGrpSpPr>
        <p:grpSpPr>
          <a:xfrm>
            <a:off x="6418038" y="2772231"/>
            <a:ext cx="1805871" cy="154396"/>
            <a:chOff x="7069849" y="3060902"/>
            <a:chExt cx="1806576" cy="154456"/>
          </a:xfrm>
          <a:noFill/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6730A9E-3A52-4C0C-A95C-0781341CBDA7}"/>
                </a:ext>
              </a:extLst>
            </p:cNvPr>
            <p:cNvSpPr txBox="1"/>
            <p:nvPr/>
          </p:nvSpPr>
          <p:spPr>
            <a:xfrm>
              <a:off x="8104409" y="3060902"/>
              <a:ext cx="772016" cy="154456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LAN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设备订阅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EA6CBD7-AE87-45CA-AF10-D604DB65CB83}"/>
                </a:ext>
              </a:extLst>
            </p:cNvPr>
            <p:cNvSpPr txBox="1"/>
            <p:nvPr/>
          </p:nvSpPr>
          <p:spPr>
            <a:xfrm>
              <a:off x="7069849" y="3061186"/>
              <a:ext cx="864000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algn="r"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SD-LAN  +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8A9E583-1312-4905-B3E8-1D1E41490A29}"/>
              </a:ext>
            </a:extLst>
          </p:cNvPr>
          <p:cNvGrpSpPr/>
          <p:nvPr/>
        </p:nvGrpSpPr>
        <p:grpSpPr>
          <a:xfrm>
            <a:off x="6421718" y="3036508"/>
            <a:ext cx="1786630" cy="154396"/>
            <a:chOff x="7073531" y="3389200"/>
            <a:chExt cx="1787328" cy="154456"/>
          </a:xfrm>
          <a:noFill/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99F515C-7A22-4053-8548-71BA174CE576}"/>
                </a:ext>
              </a:extLst>
            </p:cNvPr>
            <p:cNvSpPr txBox="1"/>
            <p:nvPr/>
          </p:nvSpPr>
          <p:spPr>
            <a:xfrm>
              <a:off x="8088843" y="3389200"/>
              <a:ext cx="772016" cy="154456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defTabSz="914112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安全设备订阅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620F828-3736-485B-A74E-0668E9D21DF4}"/>
                </a:ext>
              </a:extLst>
            </p:cNvPr>
            <p:cNvSpPr txBox="1"/>
            <p:nvPr/>
          </p:nvSpPr>
          <p:spPr>
            <a:xfrm>
              <a:off x="7073531" y="3389484"/>
              <a:ext cx="864000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algn="r"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SASE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+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5" name="1fb7cfd8-66b0-470e-8db0-4e3f3c9c509d">
            <a:extLst>
              <a:ext uri="{FF2B5EF4-FFF2-40B4-BE49-F238E27FC236}">
                <a16:creationId xmlns:a16="http://schemas.microsoft.com/office/drawing/2014/main" id="{5B66935B-E9BD-42DC-83AE-0F478D5FA19A}"/>
              </a:ext>
            </a:extLst>
          </p:cNvPr>
          <p:cNvSpPr/>
          <p:nvPr/>
        </p:nvSpPr>
        <p:spPr>
          <a:xfrm>
            <a:off x="6518593" y="2080659"/>
            <a:ext cx="401237" cy="248483"/>
          </a:xfrm>
          <a:custGeom>
            <a:avLst/>
            <a:gdLst>
              <a:gd name="connsiteX0" fmla="*/ 447411 w 827088"/>
              <a:gd name="connsiteY0" fmla="*/ 295112 h 519113"/>
              <a:gd name="connsiteX1" fmla="*/ 459889 w 827088"/>
              <a:gd name="connsiteY1" fmla="*/ 295112 h 519113"/>
              <a:gd name="connsiteX2" fmla="*/ 459889 w 827088"/>
              <a:gd name="connsiteY2" fmla="*/ 337779 h 519113"/>
              <a:gd name="connsiteX3" fmla="*/ 447411 w 827088"/>
              <a:gd name="connsiteY3" fmla="*/ 337779 h 519113"/>
              <a:gd name="connsiteX4" fmla="*/ 422456 w 827088"/>
              <a:gd name="connsiteY4" fmla="*/ 295112 h 519113"/>
              <a:gd name="connsiteX5" fmla="*/ 440281 w 827088"/>
              <a:gd name="connsiteY5" fmla="*/ 295112 h 519113"/>
              <a:gd name="connsiteX6" fmla="*/ 440281 w 827088"/>
              <a:gd name="connsiteY6" fmla="*/ 337779 h 519113"/>
              <a:gd name="connsiteX7" fmla="*/ 422456 w 827088"/>
              <a:gd name="connsiteY7" fmla="*/ 337779 h 519113"/>
              <a:gd name="connsiteX8" fmla="*/ 402849 w 827088"/>
              <a:gd name="connsiteY8" fmla="*/ 295112 h 519113"/>
              <a:gd name="connsiteX9" fmla="*/ 415327 w 827088"/>
              <a:gd name="connsiteY9" fmla="*/ 295112 h 519113"/>
              <a:gd name="connsiteX10" fmla="*/ 415327 w 827088"/>
              <a:gd name="connsiteY10" fmla="*/ 337779 h 519113"/>
              <a:gd name="connsiteX11" fmla="*/ 402849 w 827088"/>
              <a:gd name="connsiteY11" fmla="*/ 337779 h 519113"/>
              <a:gd name="connsiteX12" fmla="*/ 543140 w 827088"/>
              <a:gd name="connsiteY12" fmla="*/ 265405 h 519113"/>
              <a:gd name="connsiteX13" fmla="*/ 550111 w 827088"/>
              <a:gd name="connsiteY13" fmla="*/ 265934 h 519113"/>
              <a:gd name="connsiteX14" fmla="*/ 623985 w 827088"/>
              <a:gd name="connsiteY14" fmla="*/ 309207 h 519113"/>
              <a:gd name="connsiteX15" fmla="*/ 623985 w 827088"/>
              <a:gd name="connsiteY15" fmla="*/ 320496 h 519113"/>
              <a:gd name="connsiteX16" fmla="*/ 549634 w 827088"/>
              <a:gd name="connsiteY16" fmla="*/ 364710 h 519113"/>
              <a:gd name="connsiteX17" fmla="*/ 540102 w 827088"/>
              <a:gd name="connsiteY17" fmla="*/ 359536 h 519113"/>
              <a:gd name="connsiteX18" fmla="*/ 540102 w 827088"/>
              <a:gd name="connsiteY18" fmla="*/ 337779 h 519113"/>
              <a:gd name="connsiteX19" fmla="*/ 475932 w 827088"/>
              <a:gd name="connsiteY19" fmla="*/ 337779 h 519113"/>
              <a:gd name="connsiteX20" fmla="*/ 475932 w 827088"/>
              <a:gd name="connsiteY20" fmla="*/ 293334 h 519113"/>
              <a:gd name="connsiteX21" fmla="*/ 540102 w 827088"/>
              <a:gd name="connsiteY21" fmla="*/ 293334 h 519113"/>
              <a:gd name="connsiteX22" fmla="*/ 540102 w 827088"/>
              <a:gd name="connsiteY22" fmla="*/ 271579 h 519113"/>
              <a:gd name="connsiteX23" fmla="*/ 543140 w 827088"/>
              <a:gd name="connsiteY23" fmla="*/ 265405 h 519113"/>
              <a:gd name="connsiteX24" fmla="*/ 316327 w 827088"/>
              <a:gd name="connsiteY24" fmla="*/ 265405 h 519113"/>
              <a:gd name="connsiteX25" fmla="*/ 319071 w 827088"/>
              <a:gd name="connsiteY25" fmla="*/ 271579 h 519113"/>
              <a:gd name="connsiteX26" fmla="*/ 319071 w 827088"/>
              <a:gd name="connsiteY26" fmla="*/ 295112 h 519113"/>
              <a:gd name="connsiteX27" fmla="*/ 386806 w 827088"/>
              <a:gd name="connsiteY27" fmla="*/ 295112 h 519113"/>
              <a:gd name="connsiteX28" fmla="*/ 386806 w 827088"/>
              <a:gd name="connsiteY28" fmla="*/ 339557 h 519113"/>
              <a:gd name="connsiteX29" fmla="*/ 319071 w 827088"/>
              <a:gd name="connsiteY29" fmla="*/ 339557 h 519113"/>
              <a:gd name="connsiteX30" fmla="*/ 319071 w 827088"/>
              <a:gd name="connsiteY30" fmla="*/ 359536 h 519113"/>
              <a:gd name="connsiteX31" fmla="*/ 309730 w 827088"/>
              <a:gd name="connsiteY31" fmla="*/ 365180 h 519113"/>
              <a:gd name="connsiteX32" fmla="*/ 236865 w 827088"/>
              <a:gd name="connsiteY32" fmla="*/ 321907 h 519113"/>
              <a:gd name="connsiteX33" fmla="*/ 236865 w 827088"/>
              <a:gd name="connsiteY33" fmla="*/ 310618 h 519113"/>
              <a:gd name="connsiteX34" fmla="*/ 309730 w 827088"/>
              <a:gd name="connsiteY34" fmla="*/ 265934 h 519113"/>
              <a:gd name="connsiteX35" fmla="*/ 316327 w 827088"/>
              <a:gd name="connsiteY35" fmla="*/ 265405 h 519113"/>
              <a:gd name="connsiteX36" fmla="*/ 395400 w 827088"/>
              <a:gd name="connsiteY36" fmla="*/ 0 h 519113"/>
              <a:gd name="connsiteX37" fmla="*/ 644705 w 827088"/>
              <a:gd name="connsiteY37" fmla="*/ 142061 h 519113"/>
              <a:gd name="connsiteX38" fmla="*/ 827088 w 827088"/>
              <a:gd name="connsiteY38" fmla="*/ 335567 h 519113"/>
              <a:gd name="connsiteX39" fmla="*/ 752627 w 827088"/>
              <a:gd name="connsiteY39" fmla="*/ 488011 h 519113"/>
              <a:gd name="connsiteX40" fmla="*/ 704085 w 827088"/>
              <a:gd name="connsiteY40" fmla="*/ 503114 h 519113"/>
              <a:gd name="connsiteX41" fmla="*/ 688262 w 827088"/>
              <a:gd name="connsiteY41" fmla="*/ 503114 h 519113"/>
              <a:gd name="connsiteX42" fmla="*/ 685766 w 827088"/>
              <a:gd name="connsiteY42" fmla="*/ 509294 h 519113"/>
              <a:gd name="connsiteX43" fmla="*/ 663097 w 827088"/>
              <a:gd name="connsiteY43" fmla="*/ 519113 h 519113"/>
              <a:gd name="connsiteX44" fmla="*/ 631011 w 827088"/>
              <a:gd name="connsiteY44" fmla="*/ 485987 h 519113"/>
              <a:gd name="connsiteX45" fmla="*/ 663097 w 827088"/>
              <a:gd name="connsiteY45" fmla="*/ 453334 h 519113"/>
              <a:gd name="connsiteX46" fmla="*/ 685766 w 827088"/>
              <a:gd name="connsiteY46" fmla="*/ 462917 h 519113"/>
              <a:gd name="connsiteX47" fmla="*/ 689266 w 827088"/>
              <a:gd name="connsiteY47" fmla="*/ 471492 h 519113"/>
              <a:gd name="connsiteX48" fmla="*/ 704085 w 827088"/>
              <a:gd name="connsiteY48" fmla="*/ 471492 h 519113"/>
              <a:gd name="connsiteX49" fmla="*/ 732833 w 827088"/>
              <a:gd name="connsiteY49" fmla="*/ 463469 h 519113"/>
              <a:gd name="connsiteX50" fmla="*/ 795513 w 827088"/>
              <a:gd name="connsiteY50" fmla="*/ 335567 h 519113"/>
              <a:gd name="connsiteX51" fmla="*/ 635279 w 827088"/>
              <a:gd name="connsiteY51" fmla="*/ 173211 h 519113"/>
              <a:gd name="connsiteX52" fmla="*/ 621612 w 827088"/>
              <a:gd name="connsiteY52" fmla="*/ 165187 h 519113"/>
              <a:gd name="connsiteX53" fmla="*/ 395400 w 827088"/>
              <a:gd name="connsiteY53" fmla="*/ 31622 h 519113"/>
              <a:gd name="connsiteX54" fmla="*/ 144681 w 827088"/>
              <a:gd name="connsiteY54" fmla="*/ 225599 h 519113"/>
              <a:gd name="connsiteX55" fmla="*/ 131957 w 827088"/>
              <a:gd name="connsiteY55" fmla="*/ 237398 h 519113"/>
              <a:gd name="connsiteX56" fmla="*/ 31575 w 827088"/>
              <a:gd name="connsiteY56" fmla="*/ 353973 h 519113"/>
              <a:gd name="connsiteX57" fmla="*/ 149394 w 827088"/>
              <a:gd name="connsiteY57" fmla="*/ 471492 h 519113"/>
              <a:gd name="connsiteX58" fmla="*/ 536046 w 827088"/>
              <a:gd name="connsiteY58" fmla="*/ 471492 h 519113"/>
              <a:gd name="connsiteX59" fmla="*/ 539016 w 827088"/>
              <a:gd name="connsiteY59" fmla="*/ 464504 h 519113"/>
              <a:gd name="connsiteX60" fmla="*/ 562147 w 827088"/>
              <a:gd name="connsiteY60" fmla="*/ 455113 h 519113"/>
              <a:gd name="connsiteX61" fmla="*/ 595361 w 827088"/>
              <a:gd name="connsiteY61" fmla="*/ 487113 h 519113"/>
              <a:gd name="connsiteX62" fmla="*/ 562147 w 827088"/>
              <a:gd name="connsiteY62" fmla="*/ 519113 h 519113"/>
              <a:gd name="connsiteX63" fmla="*/ 539016 w 827088"/>
              <a:gd name="connsiteY63" fmla="*/ 509722 h 519113"/>
              <a:gd name="connsiteX64" fmla="*/ 536207 w 827088"/>
              <a:gd name="connsiteY64" fmla="*/ 503114 h 519113"/>
              <a:gd name="connsiteX65" fmla="*/ 149394 w 827088"/>
              <a:gd name="connsiteY65" fmla="*/ 503114 h 519113"/>
              <a:gd name="connsiteX66" fmla="*/ 0 w 827088"/>
              <a:gd name="connsiteY66" fmla="*/ 353973 h 519113"/>
              <a:gd name="connsiteX67" fmla="*/ 117347 w 827088"/>
              <a:gd name="connsiteY67" fmla="*/ 208136 h 519113"/>
              <a:gd name="connsiteX68" fmla="*/ 395400 w 827088"/>
              <a:gd name="connsiteY68" fmla="*/ 0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827088" h="519113">
                <a:moveTo>
                  <a:pt x="447411" y="295112"/>
                </a:moveTo>
                <a:lnTo>
                  <a:pt x="459889" y="295112"/>
                </a:lnTo>
                <a:lnTo>
                  <a:pt x="459889" y="337779"/>
                </a:lnTo>
                <a:lnTo>
                  <a:pt x="447411" y="337779"/>
                </a:lnTo>
                <a:close/>
                <a:moveTo>
                  <a:pt x="422456" y="295112"/>
                </a:moveTo>
                <a:lnTo>
                  <a:pt x="440281" y="295112"/>
                </a:lnTo>
                <a:lnTo>
                  <a:pt x="440281" y="337779"/>
                </a:lnTo>
                <a:lnTo>
                  <a:pt x="422456" y="337779"/>
                </a:lnTo>
                <a:close/>
                <a:moveTo>
                  <a:pt x="402849" y="295112"/>
                </a:moveTo>
                <a:lnTo>
                  <a:pt x="415327" y="295112"/>
                </a:lnTo>
                <a:lnTo>
                  <a:pt x="415327" y="337779"/>
                </a:lnTo>
                <a:lnTo>
                  <a:pt x="402849" y="337779"/>
                </a:lnTo>
                <a:close/>
                <a:moveTo>
                  <a:pt x="543140" y="265405"/>
                </a:moveTo>
                <a:cubicBezTo>
                  <a:pt x="544987" y="264406"/>
                  <a:pt x="547490" y="264523"/>
                  <a:pt x="550111" y="265934"/>
                </a:cubicBezTo>
                <a:lnTo>
                  <a:pt x="623985" y="309207"/>
                </a:lnTo>
                <a:cubicBezTo>
                  <a:pt x="629228" y="312029"/>
                  <a:pt x="629228" y="317203"/>
                  <a:pt x="623985" y="320496"/>
                </a:cubicBezTo>
                <a:lnTo>
                  <a:pt x="549634" y="364710"/>
                </a:lnTo>
                <a:cubicBezTo>
                  <a:pt x="544392" y="368002"/>
                  <a:pt x="540102" y="365650"/>
                  <a:pt x="540102" y="359536"/>
                </a:cubicBezTo>
                <a:lnTo>
                  <a:pt x="540102" y="337779"/>
                </a:lnTo>
                <a:lnTo>
                  <a:pt x="475932" y="337779"/>
                </a:lnTo>
                <a:lnTo>
                  <a:pt x="475932" y="293334"/>
                </a:lnTo>
                <a:lnTo>
                  <a:pt x="540102" y="293334"/>
                </a:lnTo>
                <a:lnTo>
                  <a:pt x="540102" y="271579"/>
                </a:lnTo>
                <a:cubicBezTo>
                  <a:pt x="540102" y="268521"/>
                  <a:pt x="541294" y="266405"/>
                  <a:pt x="543140" y="265405"/>
                </a:cubicBezTo>
                <a:close/>
                <a:moveTo>
                  <a:pt x="316327" y="265405"/>
                </a:moveTo>
                <a:cubicBezTo>
                  <a:pt x="318020" y="266405"/>
                  <a:pt x="319071" y="268521"/>
                  <a:pt x="319071" y="271579"/>
                </a:cubicBezTo>
                <a:lnTo>
                  <a:pt x="319071" y="295112"/>
                </a:lnTo>
                <a:lnTo>
                  <a:pt x="386806" y="295112"/>
                </a:lnTo>
                <a:lnTo>
                  <a:pt x="386806" y="339557"/>
                </a:lnTo>
                <a:lnTo>
                  <a:pt x="319071" y="339557"/>
                </a:lnTo>
                <a:lnTo>
                  <a:pt x="319071" y="359536"/>
                </a:lnTo>
                <a:cubicBezTo>
                  <a:pt x="319071" y="365650"/>
                  <a:pt x="314867" y="368002"/>
                  <a:pt x="309730" y="365180"/>
                </a:cubicBezTo>
                <a:lnTo>
                  <a:pt x="236865" y="321907"/>
                </a:lnTo>
                <a:cubicBezTo>
                  <a:pt x="231727" y="319085"/>
                  <a:pt x="231727" y="313911"/>
                  <a:pt x="236865" y="310618"/>
                </a:cubicBezTo>
                <a:lnTo>
                  <a:pt x="309730" y="265934"/>
                </a:lnTo>
                <a:cubicBezTo>
                  <a:pt x="312299" y="264523"/>
                  <a:pt x="314634" y="264406"/>
                  <a:pt x="316327" y="265405"/>
                </a:cubicBezTo>
                <a:close/>
                <a:moveTo>
                  <a:pt x="395400" y="0"/>
                </a:moveTo>
                <a:cubicBezTo>
                  <a:pt x="497667" y="0"/>
                  <a:pt x="592393" y="54276"/>
                  <a:pt x="644705" y="142061"/>
                </a:cubicBezTo>
                <a:cubicBezTo>
                  <a:pt x="746029" y="147725"/>
                  <a:pt x="827088" y="232678"/>
                  <a:pt x="827088" y="335567"/>
                </a:cubicBezTo>
                <a:cubicBezTo>
                  <a:pt x="827088" y="393618"/>
                  <a:pt x="799754" y="449310"/>
                  <a:pt x="752627" y="488011"/>
                </a:cubicBezTo>
                <a:cubicBezTo>
                  <a:pt x="740374" y="497922"/>
                  <a:pt x="723408" y="503114"/>
                  <a:pt x="704085" y="503114"/>
                </a:cubicBezTo>
                <a:lnTo>
                  <a:pt x="688262" y="503114"/>
                </a:lnTo>
                <a:lnTo>
                  <a:pt x="685766" y="509294"/>
                </a:lnTo>
                <a:cubicBezTo>
                  <a:pt x="679953" y="515327"/>
                  <a:pt x="671932" y="519113"/>
                  <a:pt x="663097" y="519113"/>
                </a:cubicBezTo>
                <a:cubicBezTo>
                  <a:pt x="644961" y="519113"/>
                  <a:pt x="631011" y="503970"/>
                  <a:pt x="631011" y="485987"/>
                </a:cubicBezTo>
                <a:cubicBezTo>
                  <a:pt x="631011" y="468004"/>
                  <a:pt x="644961" y="453334"/>
                  <a:pt x="663097" y="453334"/>
                </a:cubicBezTo>
                <a:cubicBezTo>
                  <a:pt x="671932" y="453334"/>
                  <a:pt x="679953" y="457002"/>
                  <a:pt x="685766" y="462917"/>
                </a:cubicBezTo>
                <a:lnTo>
                  <a:pt x="689266" y="471492"/>
                </a:lnTo>
                <a:lnTo>
                  <a:pt x="704085" y="471492"/>
                </a:lnTo>
                <a:cubicBezTo>
                  <a:pt x="715867" y="471492"/>
                  <a:pt x="726235" y="468661"/>
                  <a:pt x="732833" y="463469"/>
                </a:cubicBezTo>
                <a:cubicBezTo>
                  <a:pt x="772420" y="430904"/>
                  <a:pt x="795513" y="384179"/>
                  <a:pt x="795513" y="335567"/>
                </a:cubicBezTo>
                <a:cubicBezTo>
                  <a:pt x="795513" y="246837"/>
                  <a:pt x="723408" y="174155"/>
                  <a:pt x="635279" y="173211"/>
                </a:cubicBezTo>
                <a:cubicBezTo>
                  <a:pt x="629624" y="173211"/>
                  <a:pt x="624440" y="169907"/>
                  <a:pt x="621612" y="165187"/>
                </a:cubicBezTo>
                <a:cubicBezTo>
                  <a:pt x="575898" y="82594"/>
                  <a:pt x="489184" y="31622"/>
                  <a:pt x="395400" y="31622"/>
                </a:cubicBezTo>
                <a:cubicBezTo>
                  <a:pt x="277581" y="31622"/>
                  <a:pt x="174372" y="111384"/>
                  <a:pt x="144681" y="225599"/>
                </a:cubicBezTo>
                <a:cubicBezTo>
                  <a:pt x="143268" y="231734"/>
                  <a:pt x="138084" y="236454"/>
                  <a:pt x="131957" y="237398"/>
                </a:cubicBezTo>
                <a:cubicBezTo>
                  <a:pt x="74933" y="245893"/>
                  <a:pt x="31575" y="295922"/>
                  <a:pt x="31575" y="353973"/>
                </a:cubicBezTo>
                <a:cubicBezTo>
                  <a:pt x="31575" y="418632"/>
                  <a:pt x="84358" y="471492"/>
                  <a:pt x="149394" y="471492"/>
                </a:cubicBezTo>
                <a:lnTo>
                  <a:pt x="536046" y="471492"/>
                </a:lnTo>
                <a:lnTo>
                  <a:pt x="539016" y="464504"/>
                </a:lnTo>
                <a:cubicBezTo>
                  <a:pt x="544947" y="458707"/>
                  <a:pt x="553132" y="455113"/>
                  <a:pt x="562147" y="455113"/>
                </a:cubicBezTo>
                <a:cubicBezTo>
                  <a:pt x="580177" y="455113"/>
                  <a:pt x="595361" y="469490"/>
                  <a:pt x="595361" y="487113"/>
                </a:cubicBezTo>
                <a:cubicBezTo>
                  <a:pt x="595361" y="504736"/>
                  <a:pt x="580177" y="519113"/>
                  <a:pt x="562147" y="519113"/>
                </a:cubicBezTo>
                <a:cubicBezTo>
                  <a:pt x="553132" y="519113"/>
                  <a:pt x="544947" y="515519"/>
                  <a:pt x="539016" y="509722"/>
                </a:cubicBezTo>
                <a:lnTo>
                  <a:pt x="536207" y="503114"/>
                </a:lnTo>
                <a:lnTo>
                  <a:pt x="149394" y="503114"/>
                </a:lnTo>
                <a:cubicBezTo>
                  <a:pt x="66921" y="503114"/>
                  <a:pt x="0" y="436095"/>
                  <a:pt x="0" y="353973"/>
                </a:cubicBezTo>
                <a:cubicBezTo>
                  <a:pt x="0" y="284123"/>
                  <a:pt x="49955" y="223239"/>
                  <a:pt x="117347" y="208136"/>
                </a:cubicBezTo>
                <a:cubicBezTo>
                  <a:pt x="153636" y="84954"/>
                  <a:pt x="266271" y="0"/>
                  <a:pt x="395400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6" name="流程图: 过程 55">
            <a:extLst>
              <a:ext uri="{FF2B5EF4-FFF2-40B4-BE49-F238E27FC236}">
                <a16:creationId xmlns:a16="http://schemas.microsoft.com/office/drawing/2014/main" id="{DEBABC7C-F5B4-4D07-A8EF-5BA6F260ECA0}"/>
              </a:ext>
            </a:extLst>
          </p:cNvPr>
          <p:cNvSpPr/>
          <p:nvPr/>
        </p:nvSpPr>
        <p:spPr>
          <a:xfrm>
            <a:off x="8384407" y="1939427"/>
            <a:ext cx="1530691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2826EC9-9663-4A40-8654-4CD372F57787}"/>
              </a:ext>
            </a:extLst>
          </p:cNvPr>
          <p:cNvSpPr txBox="1"/>
          <p:nvPr/>
        </p:nvSpPr>
        <p:spPr>
          <a:xfrm>
            <a:off x="8338232" y="2112603"/>
            <a:ext cx="1561186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050" b="1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云管理服务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53080C4-66A6-48E3-998F-823E52619771}"/>
              </a:ext>
            </a:extLst>
          </p:cNvPr>
          <p:cNvSpPr txBox="1"/>
          <p:nvPr/>
        </p:nvSpPr>
        <p:spPr>
          <a:xfrm>
            <a:off x="8543829" y="2500439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云迁移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云管理服务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C952A4D-CCDB-44D7-88AF-70D734FB8B8B}"/>
              </a:ext>
            </a:extLst>
          </p:cNvPr>
          <p:cNvSpPr txBox="1"/>
          <p:nvPr/>
        </p:nvSpPr>
        <p:spPr>
          <a:xfrm>
            <a:off x="8543829" y="2772232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混合云容器服务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A03BEA5-EC28-4867-B25D-F8E388777B55}"/>
              </a:ext>
            </a:extLst>
          </p:cNvPr>
          <p:cNvSpPr txBox="1"/>
          <p:nvPr/>
        </p:nvSpPr>
        <p:spPr>
          <a:xfrm>
            <a:off x="8714729" y="3036508"/>
            <a:ext cx="87004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伙伴云转售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9485193-232B-45EF-A647-C61F291A50E2}"/>
              </a:ext>
            </a:extLst>
          </p:cNvPr>
          <p:cNvSpPr txBox="1"/>
          <p:nvPr/>
        </p:nvSpPr>
        <p:spPr>
          <a:xfrm>
            <a:off x="8644317" y="3234543"/>
            <a:ext cx="1010872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主权云Bleu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zh-CN" altLang="en-US" sz="10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流程图: 过程 61">
            <a:extLst>
              <a:ext uri="{FF2B5EF4-FFF2-40B4-BE49-F238E27FC236}">
                <a16:creationId xmlns:a16="http://schemas.microsoft.com/office/drawing/2014/main" id="{1C050AD3-28F4-46E2-BA45-FED6034AE6D5}"/>
              </a:ext>
            </a:extLst>
          </p:cNvPr>
          <p:cNvSpPr/>
          <p:nvPr/>
        </p:nvSpPr>
        <p:spPr>
          <a:xfrm>
            <a:off x="9990915" y="1933131"/>
            <a:ext cx="1430379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EB697F1-7E28-4873-AD4F-5D977B89E643}"/>
              </a:ext>
            </a:extLst>
          </p:cNvPr>
          <p:cNvSpPr txBox="1"/>
          <p:nvPr/>
        </p:nvSpPr>
        <p:spPr>
          <a:xfrm>
            <a:off x="10003611" y="2112603"/>
            <a:ext cx="1343136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050" b="1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终端管理服务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D2BC58A-BA8D-4DF7-ACBA-C3A4A70509BC}"/>
              </a:ext>
            </a:extLst>
          </p:cNvPr>
          <p:cNvSpPr txBox="1"/>
          <p:nvPr/>
        </p:nvSpPr>
        <p:spPr>
          <a:xfrm>
            <a:off x="10100182" y="2500439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电脑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, PAD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37AF95D-DC5B-402A-A6CA-EFC3C3192EFC}"/>
              </a:ext>
            </a:extLst>
          </p:cNvPr>
          <p:cNvSpPr txBox="1"/>
          <p:nvPr/>
        </p:nvSpPr>
        <p:spPr>
          <a:xfrm>
            <a:off x="10100182" y="2772232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终端远程管理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3E3C42A-746D-4C55-9262-5AF40A6C38F9}"/>
              </a:ext>
            </a:extLst>
          </p:cNvPr>
          <p:cNvSpPr txBox="1"/>
          <p:nvPr/>
        </p:nvSpPr>
        <p:spPr>
          <a:xfrm>
            <a:off x="10316098" y="3036508"/>
            <a:ext cx="78001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4112"/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办公终端订阅</a:t>
            </a:r>
            <a:endParaRPr kumimoji="1"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5269084-A51C-4618-B8E4-E49EB70D9022}"/>
              </a:ext>
            </a:extLst>
          </p:cNvPr>
          <p:cNvSpPr txBox="1"/>
          <p:nvPr/>
        </p:nvSpPr>
        <p:spPr>
          <a:xfrm>
            <a:off x="2295749" y="4003901"/>
            <a:ext cx="8735474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Supply: OB提供IT集成和软硬件转售，Margin一般10-20%（估算），核心竞争力是集成能力和客户关系</a:t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C089A53-97AE-4D16-B266-98F5BE0D0C06}"/>
              </a:ext>
            </a:extLst>
          </p:cNvPr>
          <p:cNvSpPr txBox="1"/>
          <p:nvPr/>
        </p:nvSpPr>
        <p:spPr>
          <a:xfrm>
            <a:off x="2758643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企业园区网络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8753FA6-6C3E-465E-8723-4E5829F27483}"/>
              </a:ext>
            </a:extLst>
          </p:cNvPr>
          <p:cNvSpPr txBox="1"/>
          <p:nvPr/>
        </p:nvSpPr>
        <p:spPr>
          <a:xfrm>
            <a:off x="2635151" y="5063293"/>
            <a:ext cx="1169953" cy="4153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数通交换机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WLAN</a:t>
            </a: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企业无线专网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微波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LTE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5G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70" name="流程图: 过程 69">
            <a:extLst>
              <a:ext uri="{FF2B5EF4-FFF2-40B4-BE49-F238E27FC236}">
                <a16:creationId xmlns:a16="http://schemas.microsoft.com/office/drawing/2014/main" id="{60B0E712-3084-41AA-AC9A-072483371C4D}"/>
              </a:ext>
            </a:extLst>
          </p:cNvPr>
          <p:cNvSpPr/>
          <p:nvPr/>
        </p:nvSpPr>
        <p:spPr>
          <a:xfrm>
            <a:off x="2429862" y="4530877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0C5139-8EE4-4A1F-B6B5-33386526950B}"/>
              </a:ext>
            </a:extLst>
          </p:cNvPr>
          <p:cNvSpPr txBox="1"/>
          <p:nvPr/>
        </p:nvSpPr>
        <p:spPr>
          <a:xfrm>
            <a:off x="4435742" y="4611704"/>
            <a:ext cx="922969" cy="369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数据中心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基础设施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AEB8B61-1183-4651-BB6A-A447A9A1684C}"/>
              </a:ext>
            </a:extLst>
          </p:cNvPr>
          <p:cNvSpPr txBox="1"/>
          <p:nvPr/>
        </p:nvSpPr>
        <p:spPr>
          <a:xfrm>
            <a:off x="4324996" y="5063293"/>
            <a:ext cx="1242311" cy="4153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计算服务器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存储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DCN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网络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VM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软件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容器管理软件</a:t>
            </a:r>
          </a:p>
        </p:txBody>
      </p:sp>
      <p:sp>
        <p:nvSpPr>
          <p:cNvPr id="73" name="流程图: 过程 72">
            <a:extLst>
              <a:ext uri="{FF2B5EF4-FFF2-40B4-BE49-F238E27FC236}">
                <a16:creationId xmlns:a16="http://schemas.microsoft.com/office/drawing/2014/main" id="{41CE2126-6DC5-4C15-B42D-E7CD7BC69DC6}"/>
              </a:ext>
            </a:extLst>
          </p:cNvPr>
          <p:cNvSpPr/>
          <p:nvPr/>
        </p:nvSpPr>
        <p:spPr>
          <a:xfrm>
            <a:off x="4119707" y="4536677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F5E0BC9-A7B3-4ABA-81A9-187D34105E2F}"/>
              </a:ext>
            </a:extLst>
          </p:cNvPr>
          <p:cNvSpPr txBox="1"/>
          <p:nvPr/>
        </p:nvSpPr>
        <p:spPr>
          <a:xfrm>
            <a:off x="6214975" y="4611705"/>
            <a:ext cx="65" cy="138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92BB553-AD8C-46F5-9BDB-E6A6BADF7358}"/>
              </a:ext>
            </a:extLst>
          </p:cNvPr>
          <p:cNvSpPr txBox="1"/>
          <p:nvPr/>
        </p:nvSpPr>
        <p:spPr>
          <a:xfrm>
            <a:off x="6163698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企业软件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87B296C-29E7-47A9-BC4F-7FF6FE7AE2A1}"/>
              </a:ext>
            </a:extLst>
          </p:cNvPr>
          <p:cNvSpPr txBox="1"/>
          <p:nvPr/>
        </p:nvSpPr>
        <p:spPr>
          <a:xfrm>
            <a:off x="6004027" y="5063292"/>
            <a:ext cx="1242311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ERP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软件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CRM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软件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操作系统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OS</a:t>
            </a: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数据分析软件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公共部门软件</a:t>
            </a:r>
          </a:p>
        </p:txBody>
      </p:sp>
      <p:sp>
        <p:nvSpPr>
          <p:cNvPr id="77" name="流程图: 过程 76">
            <a:extLst>
              <a:ext uri="{FF2B5EF4-FFF2-40B4-BE49-F238E27FC236}">
                <a16:creationId xmlns:a16="http://schemas.microsoft.com/office/drawing/2014/main" id="{BD9FA34C-C4C5-43D6-A5E4-EC2CA5A477E6}"/>
              </a:ext>
            </a:extLst>
          </p:cNvPr>
          <p:cNvSpPr/>
          <p:nvPr/>
        </p:nvSpPr>
        <p:spPr>
          <a:xfrm>
            <a:off x="5834917" y="4536677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6379042-36E9-4C60-96F8-D279014C36C3}"/>
              </a:ext>
            </a:extLst>
          </p:cNvPr>
          <p:cNvSpPr txBox="1"/>
          <p:nvPr/>
        </p:nvSpPr>
        <p:spPr>
          <a:xfrm>
            <a:off x="8013672" y="4611704"/>
            <a:ext cx="65" cy="1845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E4E5B5A-1FE0-4791-9E64-6228BA6445D4}"/>
              </a:ext>
            </a:extLst>
          </p:cNvPr>
          <p:cNvSpPr txBox="1"/>
          <p:nvPr/>
        </p:nvSpPr>
        <p:spPr>
          <a:xfrm>
            <a:off x="8412546" y="5063293"/>
            <a:ext cx="65" cy="138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1EC7F6-EA91-4804-89DE-A5AD7880E3A7}"/>
              </a:ext>
            </a:extLst>
          </p:cNvPr>
          <p:cNvSpPr txBox="1"/>
          <p:nvPr/>
        </p:nvSpPr>
        <p:spPr>
          <a:xfrm>
            <a:off x="7955176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办公终端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9AC97AC-D45F-4857-9DDE-200174E1A9E4}"/>
              </a:ext>
            </a:extLst>
          </p:cNvPr>
          <p:cNvSpPr txBox="1"/>
          <p:nvPr/>
        </p:nvSpPr>
        <p:spPr>
          <a:xfrm>
            <a:off x="7795505" y="5063292"/>
            <a:ext cx="1242311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Desktop</a:t>
            </a: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Laptop</a:t>
            </a: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PAD</a:t>
            </a: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Chrome PC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等</a:t>
            </a:r>
          </a:p>
        </p:txBody>
      </p:sp>
      <p:sp>
        <p:nvSpPr>
          <p:cNvPr id="82" name="流程图: 过程 81">
            <a:extLst>
              <a:ext uri="{FF2B5EF4-FFF2-40B4-BE49-F238E27FC236}">
                <a16:creationId xmlns:a16="http://schemas.microsoft.com/office/drawing/2014/main" id="{06BF202B-8902-465A-91CE-181C1DCA2207}"/>
              </a:ext>
            </a:extLst>
          </p:cNvPr>
          <p:cNvSpPr/>
          <p:nvPr/>
        </p:nvSpPr>
        <p:spPr>
          <a:xfrm>
            <a:off x="7626395" y="4542131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2EE995A-248E-4BEE-8F71-CD5A676208F1}"/>
              </a:ext>
            </a:extLst>
          </p:cNvPr>
          <p:cNvSpPr txBox="1"/>
          <p:nvPr/>
        </p:nvSpPr>
        <p:spPr>
          <a:xfrm>
            <a:off x="9753873" y="4611704"/>
            <a:ext cx="65" cy="1845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2187C38-933B-4153-89DC-40AFB32B0720}"/>
              </a:ext>
            </a:extLst>
          </p:cNvPr>
          <p:cNvSpPr txBox="1"/>
          <p:nvPr/>
        </p:nvSpPr>
        <p:spPr>
          <a:xfrm>
            <a:off x="10152747" y="5063293"/>
            <a:ext cx="65" cy="138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A1D61A1-3035-4ADA-A94F-8033152DEE15}"/>
              </a:ext>
            </a:extLst>
          </p:cNvPr>
          <p:cNvSpPr txBox="1"/>
          <p:nvPr/>
        </p:nvSpPr>
        <p:spPr>
          <a:xfrm>
            <a:off x="9695377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垂直行业集成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C327E53-37C3-41B2-AC23-1D3D7CAC96EB}"/>
              </a:ext>
            </a:extLst>
          </p:cNvPr>
          <p:cNvSpPr txBox="1"/>
          <p:nvPr/>
        </p:nvSpPr>
        <p:spPr>
          <a:xfrm>
            <a:off x="9535706" y="5063293"/>
            <a:ext cx="1242311" cy="4153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安防系统集成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IOT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系统集成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专用设备</a:t>
            </a:r>
          </a:p>
        </p:txBody>
      </p:sp>
      <p:sp>
        <p:nvSpPr>
          <p:cNvPr id="87" name="流程图: 过程 86">
            <a:extLst>
              <a:ext uri="{FF2B5EF4-FFF2-40B4-BE49-F238E27FC236}">
                <a16:creationId xmlns:a16="http://schemas.microsoft.com/office/drawing/2014/main" id="{0DEB27D3-FA1F-44C7-AACE-1AC189900537}"/>
              </a:ext>
            </a:extLst>
          </p:cNvPr>
          <p:cNvSpPr/>
          <p:nvPr/>
        </p:nvSpPr>
        <p:spPr>
          <a:xfrm>
            <a:off x="9366596" y="4531532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1B60D3C-582C-46C1-BDEB-807A00156658}"/>
              </a:ext>
            </a:extLst>
          </p:cNvPr>
          <p:cNvSpPr txBox="1"/>
          <p:nvPr/>
        </p:nvSpPr>
        <p:spPr>
          <a:xfrm>
            <a:off x="504987" y="2795844"/>
            <a:ext cx="1322223" cy="646079"/>
          </a:xfrm>
          <a:prstGeom prst="rect">
            <a:avLst/>
          </a:prstGeom>
          <a:noFill/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99" kern="0" dirty="0">
                <a:solidFill>
                  <a:srgbClr val="1D1D1A"/>
                </a:solidFill>
                <a:sym typeface="Arial" panose="020B0604020202020204" pitchFamily="34" charset="0"/>
              </a:rPr>
              <a:t>5,380M€/Y（估）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C8AB33B-6D86-4B7C-8919-D146943E11D3}"/>
              </a:ext>
            </a:extLst>
          </p:cNvPr>
          <p:cNvSpPr txBox="1"/>
          <p:nvPr/>
        </p:nvSpPr>
        <p:spPr>
          <a:xfrm>
            <a:off x="520118" y="4898171"/>
            <a:ext cx="1310065" cy="646079"/>
          </a:xfrm>
          <a:prstGeom prst="rect">
            <a:avLst/>
          </a:prstGeom>
          <a:noFill/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99" kern="0" dirty="0">
                <a:solidFill>
                  <a:srgbClr val="1D1D1A"/>
                </a:solidFill>
                <a:sym typeface="Arial" panose="020B0604020202020204" pitchFamily="34" charset="0"/>
              </a:rPr>
              <a:t>1,950M€/Y（估）</a:t>
            </a:r>
          </a:p>
        </p:txBody>
      </p:sp>
    </p:spTree>
    <p:extLst>
      <p:ext uri="{BB962C8B-B14F-4D97-AF65-F5344CB8AC3E}">
        <p14:creationId xmlns:p14="http://schemas.microsoft.com/office/powerpoint/2010/main" val="390817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WAN联接：主营产品，收入占37%，Vendor为美欧厂商，华为在法国基本缺席</a:t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354BFD5-A4EB-41FE-9493-D1F9430A4393}"/>
              </a:ext>
            </a:extLst>
          </p:cNvPr>
          <p:cNvSpPr txBox="1"/>
          <p:nvPr/>
        </p:nvSpPr>
        <p:spPr>
          <a:xfrm>
            <a:off x="939901" y="2310909"/>
            <a:ext cx="1601223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OB 2,715M€/Y</a:t>
            </a:r>
            <a:r>
              <a:rPr kumimoji="0" lang="en-US" altLang="zh-CN" sz="13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/>
            </a:r>
            <a:r>
              <a: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/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9D52FD7-DD2F-4087-9C99-3421E71BE35F}"/>
              </a:ext>
            </a:extLst>
          </p:cNvPr>
          <p:cNvSpPr txBox="1"/>
          <p:nvPr/>
        </p:nvSpPr>
        <p:spPr>
          <a:xfrm>
            <a:off x="1740512" y="1731711"/>
            <a:ext cx="1241035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WAN Connectivity</a:t>
            </a:r>
            <a:r>
              <a:rPr kumimoji="1" lang="zh-CN" alt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Service</a:t>
            </a:r>
          </a:p>
        </p:txBody>
      </p:sp>
      <p:sp>
        <p:nvSpPr>
          <p:cNvPr id="90" name="互联网 Internet">
            <a:extLst>
              <a:ext uri="{FF2B5EF4-FFF2-40B4-BE49-F238E27FC236}">
                <a16:creationId xmlns:a16="http://schemas.microsoft.com/office/drawing/2014/main" id="{EC85AF12-82F6-4F9E-8D69-6A6939CB5E15}"/>
              </a:ext>
            </a:extLst>
          </p:cNvPr>
          <p:cNvSpPr/>
          <p:nvPr/>
        </p:nvSpPr>
        <p:spPr>
          <a:xfrm>
            <a:off x="1302889" y="1694488"/>
            <a:ext cx="393588" cy="396780"/>
          </a:xfrm>
          <a:custGeom>
            <a:avLst/>
            <a:gdLst>
              <a:gd name="connsiteX0" fmla="*/ 592454 w 1137186"/>
              <a:gd name="connsiteY0" fmla="*/ 900779 h 1137190"/>
              <a:gd name="connsiteX1" fmla="*/ 592454 w 1137186"/>
              <a:gd name="connsiteY1" fmla="*/ 1085108 h 1137190"/>
              <a:gd name="connsiteX2" fmla="*/ 623465 w 1137186"/>
              <a:gd name="connsiteY2" fmla="*/ 1079305 h 1137190"/>
              <a:gd name="connsiteX3" fmla="*/ 765350 w 1137186"/>
              <a:gd name="connsiteY3" fmla="*/ 937444 h 1137190"/>
              <a:gd name="connsiteX4" fmla="*/ 782614 w 1137186"/>
              <a:gd name="connsiteY4" fmla="*/ 900779 h 1137190"/>
              <a:gd name="connsiteX5" fmla="*/ 354600 w 1137186"/>
              <a:gd name="connsiteY5" fmla="*/ 900779 h 1137190"/>
              <a:gd name="connsiteX6" fmla="*/ 371849 w 1137186"/>
              <a:gd name="connsiteY6" fmla="*/ 937396 h 1137190"/>
              <a:gd name="connsiteX7" fmla="*/ 513811 w 1137186"/>
              <a:gd name="connsiteY7" fmla="*/ 1079301 h 1137190"/>
              <a:gd name="connsiteX8" fmla="*/ 544829 w 1137186"/>
              <a:gd name="connsiteY8" fmla="*/ 1085107 h 1137190"/>
              <a:gd name="connsiteX9" fmla="*/ 544829 w 1137186"/>
              <a:gd name="connsiteY9" fmla="*/ 900779 h 1137190"/>
              <a:gd name="connsiteX10" fmla="*/ 170271 w 1137186"/>
              <a:gd name="connsiteY10" fmla="*/ 900779 h 1137190"/>
              <a:gd name="connsiteX11" fmla="*/ 193501 w 1137186"/>
              <a:gd name="connsiteY11" fmla="*/ 930176 h 1137190"/>
              <a:gd name="connsiteX12" fmla="*/ 274099 w 1137186"/>
              <a:gd name="connsiteY12" fmla="*/ 998276 h 1137190"/>
              <a:gd name="connsiteX13" fmla="*/ 343237 w 1137186"/>
              <a:gd name="connsiteY13" fmla="*/ 1038284 h 1137190"/>
              <a:gd name="connsiteX14" fmla="*/ 409916 w 1137186"/>
              <a:gd name="connsiteY14" fmla="*/ 1064318 h 1137190"/>
              <a:gd name="connsiteX15" fmla="*/ 388071 w 1137186"/>
              <a:gd name="connsiteY15" fmla="*/ 1044365 h 1137190"/>
              <a:gd name="connsiteX16" fmla="*/ 304486 w 1137186"/>
              <a:gd name="connsiteY16" fmla="*/ 907263 h 1137190"/>
              <a:gd name="connsiteX17" fmla="*/ 302213 w 1137186"/>
              <a:gd name="connsiteY17" fmla="*/ 900779 h 1137190"/>
              <a:gd name="connsiteX18" fmla="*/ 893886 w 1137186"/>
              <a:gd name="connsiteY18" fmla="*/ 609600 h 1137190"/>
              <a:gd name="connsiteX19" fmla="*/ 883819 w 1137186"/>
              <a:gd name="connsiteY19" fmla="*/ 725499 h 1137190"/>
              <a:gd name="connsiteX20" fmla="*/ 862822 w 1137186"/>
              <a:gd name="connsiteY20" fmla="*/ 821121 h 1137190"/>
              <a:gd name="connsiteX21" fmla="*/ 851632 w 1137186"/>
              <a:gd name="connsiteY21" fmla="*/ 853154 h 1137190"/>
              <a:gd name="connsiteX22" fmla="*/ 981369 w 1137186"/>
              <a:gd name="connsiteY22" fmla="*/ 853154 h 1137190"/>
              <a:gd name="connsiteX23" fmla="*/ 982815 w 1137186"/>
              <a:gd name="connsiteY23" fmla="*/ 850019 h 1137190"/>
              <a:gd name="connsiteX24" fmla="*/ 1011313 w 1137186"/>
              <a:gd name="connsiteY24" fmla="*/ 839490 h 1137190"/>
              <a:gd name="connsiteX25" fmla="*/ 1048958 w 1137186"/>
              <a:gd name="connsiteY25" fmla="*/ 770681 h 1137190"/>
              <a:gd name="connsiteX26" fmla="*/ 1079223 w 1137186"/>
              <a:gd name="connsiteY26" fmla="*/ 672872 h 1137190"/>
              <a:gd name="connsiteX27" fmla="*/ 1085813 w 1137186"/>
              <a:gd name="connsiteY27" fmla="*/ 609600 h 1137190"/>
              <a:gd name="connsiteX28" fmla="*/ 592454 w 1137186"/>
              <a:gd name="connsiteY28" fmla="*/ 609600 h 1137190"/>
              <a:gd name="connsiteX29" fmla="*/ 592454 w 1137186"/>
              <a:gd name="connsiteY29" fmla="*/ 853154 h 1137190"/>
              <a:gd name="connsiteX30" fmla="*/ 801697 w 1137186"/>
              <a:gd name="connsiteY30" fmla="*/ 853154 h 1137190"/>
              <a:gd name="connsiteX31" fmla="*/ 814186 w 1137186"/>
              <a:gd name="connsiteY31" fmla="*/ 817459 h 1137190"/>
              <a:gd name="connsiteX32" fmla="*/ 842881 w 1137186"/>
              <a:gd name="connsiteY32" fmla="*/ 674545 h 1137190"/>
              <a:gd name="connsiteX33" fmla="*/ 847104 w 1137186"/>
              <a:gd name="connsiteY33" fmla="*/ 609600 h 1137190"/>
              <a:gd name="connsiteX34" fmla="*/ 290085 w 1137186"/>
              <a:gd name="connsiteY34" fmla="*/ 609600 h 1137190"/>
              <a:gd name="connsiteX35" fmla="*/ 294286 w 1137186"/>
              <a:gd name="connsiteY35" fmla="*/ 674454 h 1137190"/>
              <a:gd name="connsiteX36" fmla="*/ 322982 w 1137186"/>
              <a:gd name="connsiteY36" fmla="*/ 817386 h 1137190"/>
              <a:gd name="connsiteX37" fmla="*/ 335502 w 1137186"/>
              <a:gd name="connsiteY37" fmla="*/ 853154 h 1137190"/>
              <a:gd name="connsiteX38" fmla="*/ 544829 w 1137186"/>
              <a:gd name="connsiteY38" fmla="*/ 853154 h 1137190"/>
              <a:gd name="connsiteX39" fmla="*/ 544829 w 1137186"/>
              <a:gd name="connsiteY39" fmla="*/ 609600 h 1137190"/>
              <a:gd name="connsiteX40" fmla="*/ 51742 w 1137186"/>
              <a:gd name="connsiteY40" fmla="*/ 609600 h 1137190"/>
              <a:gd name="connsiteX41" fmla="*/ 56596 w 1137186"/>
              <a:gd name="connsiteY41" fmla="*/ 664133 h 1137190"/>
              <a:gd name="connsiteX42" fmla="*/ 130022 w 1137186"/>
              <a:gd name="connsiteY42" fmla="*/ 849844 h 1137190"/>
              <a:gd name="connsiteX43" fmla="*/ 132638 w 1137186"/>
              <a:gd name="connsiteY43" fmla="*/ 853154 h 1137190"/>
              <a:gd name="connsiteX44" fmla="*/ 285515 w 1137186"/>
              <a:gd name="connsiteY44" fmla="*/ 853154 h 1137190"/>
              <a:gd name="connsiteX45" fmla="*/ 274285 w 1137186"/>
              <a:gd name="connsiteY45" fmla="*/ 821121 h 1137190"/>
              <a:gd name="connsiteX46" fmla="*/ 253165 w 1137186"/>
              <a:gd name="connsiteY46" fmla="*/ 725499 h 1137190"/>
              <a:gd name="connsiteX47" fmla="*/ 242952 w 1137186"/>
              <a:gd name="connsiteY47" fmla="*/ 609600 h 1137190"/>
              <a:gd name="connsiteX48" fmla="*/ 720852 w 1137186"/>
              <a:gd name="connsiteY48" fmla="*/ 331565 h 1137190"/>
              <a:gd name="connsiteX49" fmla="*/ 772096 w 1137186"/>
              <a:gd name="connsiteY49" fmla="*/ 331565 h 1137190"/>
              <a:gd name="connsiteX50" fmla="*/ 801719 w 1137186"/>
              <a:gd name="connsiteY50" fmla="*/ 441864 h 1137190"/>
              <a:gd name="connsiteX51" fmla="*/ 833914 w 1137186"/>
              <a:gd name="connsiteY51" fmla="*/ 331565 h 1137190"/>
              <a:gd name="connsiteX52" fmla="*/ 876110 w 1137186"/>
              <a:gd name="connsiteY52" fmla="*/ 331565 h 1137190"/>
              <a:gd name="connsiteX53" fmla="*/ 907161 w 1137186"/>
              <a:gd name="connsiteY53" fmla="*/ 441674 h 1137190"/>
              <a:gd name="connsiteX54" fmla="*/ 936308 w 1137186"/>
              <a:gd name="connsiteY54" fmla="*/ 331565 h 1137190"/>
              <a:gd name="connsiteX55" fmla="*/ 985266 w 1137186"/>
              <a:gd name="connsiteY55" fmla="*/ 331565 h 1137190"/>
              <a:gd name="connsiteX56" fmla="*/ 929259 w 1137186"/>
              <a:gd name="connsiteY56" fmla="*/ 518827 h 1137190"/>
              <a:gd name="connsiteX57" fmla="*/ 883825 w 1137186"/>
              <a:gd name="connsiteY57" fmla="*/ 518827 h 1137190"/>
              <a:gd name="connsiteX58" fmla="*/ 853916 w 1137186"/>
              <a:gd name="connsiteY58" fmla="*/ 413099 h 1137190"/>
              <a:gd name="connsiteX59" fmla="*/ 821817 w 1137186"/>
              <a:gd name="connsiteY59" fmla="*/ 518827 h 1137190"/>
              <a:gd name="connsiteX60" fmla="*/ 777240 w 1137186"/>
              <a:gd name="connsiteY60" fmla="*/ 518827 h 1137190"/>
              <a:gd name="connsiteX61" fmla="*/ 445484 w 1137186"/>
              <a:gd name="connsiteY61" fmla="*/ 331565 h 1137190"/>
              <a:gd name="connsiteX62" fmla="*/ 496729 w 1137186"/>
              <a:gd name="connsiteY62" fmla="*/ 331565 h 1137190"/>
              <a:gd name="connsiteX63" fmla="*/ 526447 w 1137186"/>
              <a:gd name="connsiteY63" fmla="*/ 441864 h 1137190"/>
              <a:gd name="connsiteX64" fmla="*/ 558546 w 1137186"/>
              <a:gd name="connsiteY64" fmla="*/ 331565 h 1137190"/>
              <a:gd name="connsiteX65" fmla="*/ 600837 w 1137186"/>
              <a:gd name="connsiteY65" fmla="*/ 331565 h 1137190"/>
              <a:gd name="connsiteX66" fmla="*/ 631888 w 1137186"/>
              <a:gd name="connsiteY66" fmla="*/ 441674 h 1137190"/>
              <a:gd name="connsiteX67" fmla="*/ 660939 w 1137186"/>
              <a:gd name="connsiteY67" fmla="*/ 331565 h 1137190"/>
              <a:gd name="connsiteX68" fmla="*/ 709898 w 1137186"/>
              <a:gd name="connsiteY68" fmla="*/ 331565 h 1137190"/>
              <a:gd name="connsiteX69" fmla="*/ 653891 w 1137186"/>
              <a:gd name="connsiteY69" fmla="*/ 518827 h 1137190"/>
              <a:gd name="connsiteX70" fmla="*/ 608552 w 1137186"/>
              <a:gd name="connsiteY70" fmla="*/ 518827 h 1137190"/>
              <a:gd name="connsiteX71" fmla="*/ 578644 w 1137186"/>
              <a:gd name="connsiteY71" fmla="*/ 413099 h 1137190"/>
              <a:gd name="connsiteX72" fmla="*/ 546449 w 1137186"/>
              <a:gd name="connsiteY72" fmla="*/ 518827 h 1137190"/>
              <a:gd name="connsiteX73" fmla="*/ 501872 w 1137186"/>
              <a:gd name="connsiteY73" fmla="*/ 518827 h 1137190"/>
              <a:gd name="connsiteX74" fmla="*/ 170211 w 1137186"/>
              <a:gd name="connsiteY74" fmla="*/ 331565 h 1137190"/>
              <a:gd name="connsiteX75" fmla="*/ 221360 w 1137186"/>
              <a:gd name="connsiteY75" fmla="*/ 331565 h 1137190"/>
              <a:gd name="connsiteX76" fmla="*/ 251078 w 1137186"/>
              <a:gd name="connsiteY76" fmla="*/ 441864 h 1137190"/>
              <a:gd name="connsiteX77" fmla="*/ 283177 w 1137186"/>
              <a:gd name="connsiteY77" fmla="*/ 331565 h 1137190"/>
              <a:gd name="connsiteX78" fmla="*/ 325468 w 1137186"/>
              <a:gd name="connsiteY78" fmla="*/ 331565 h 1137190"/>
              <a:gd name="connsiteX79" fmla="*/ 356520 w 1137186"/>
              <a:gd name="connsiteY79" fmla="*/ 441674 h 1137190"/>
              <a:gd name="connsiteX80" fmla="*/ 385571 w 1137186"/>
              <a:gd name="connsiteY80" fmla="*/ 331565 h 1137190"/>
              <a:gd name="connsiteX81" fmla="*/ 434625 w 1137186"/>
              <a:gd name="connsiteY81" fmla="*/ 331565 h 1137190"/>
              <a:gd name="connsiteX82" fmla="*/ 378523 w 1137186"/>
              <a:gd name="connsiteY82" fmla="*/ 518827 h 1137190"/>
              <a:gd name="connsiteX83" fmla="*/ 333184 w 1137186"/>
              <a:gd name="connsiteY83" fmla="*/ 518827 h 1137190"/>
              <a:gd name="connsiteX84" fmla="*/ 303275 w 1137186"/>
              <a:gd name="connsiteY84" fmla="*/ 413099 h 1137190"/>
              <a:gd name="connsiteX85" fmla="*/ 271176 w 1137186"/>
              <a:gd name="connsiteY85" fmla="*/ 518827 h 1137190"/>
              <a:gd name="connsiteX86" fmla="*/ 226599 w 1137186"/>
              <a:gd name="connsiteY86" fmla="*/ 518827 h 1137190"/>
              <a:gd name="connsiteX87" fmla="*/ 133147 w 1137186"/>
              <a:gd name="connsiteY87" fmla="*/ 284892 h 1137190"/>
              <a:gd name="connsiteX88" fmla="*/ 88430 w 1137186"/>
              <a:gd name="connsiteY88" fmla="*/ 366629 h 1137190"/>
              <a:gd name="connsiteX89" fmla="*/ 58165 w 1137186"/>
              <a:gd name="connsiteY89" fmla="*/ 464438 h 1137190"/>
              <a:gd name="connsiteX90" fmla="*/ 48006 w 1137186"/>
              <a:gd name="connsiteY90" fmla="*/ 561975 h 1137190"/>
              <a:gd name="connsiteX91" fmla="*/ 264161 w 1137186"/>
              <a:gd name="connsiteY91" fmla="*/ 561975 h 1137190"/>
              <a:gd name="connsiteX92" fmla="*/ 264271 w 1137186"/>
              <a:gd name="connsiteY92" fmla="*/ 561927 h 1137190"/>
              <a:gd name="connsiteX93" fmla="*/ 264393 w 1137186"/>
              <a:gd name="connsiteY93" fmla="*/ 561975 h 1137190"/>
              <a:gd name="connsiteX94" fmla="*/ 568642 w 1137186"/>
              <a:gd name="connsiteY94" fmla="*/ 561975 h 1137190"/>
              <a:gd name="connsiteX95" fmla="*/ 872490 w 1137186"/>
              <a:gd name="connsiteY95" fmla="*/ 561975 h 1137190"/>
              <a:gd name="connsiteX96" fmla="*/ 1088696 w 1137186"/>
              <a:gd name="connsiteY96" fmla="*/ 561975 h 1137190"/>
              <a:gd name="connsiteX97" fmla="*/ 1080792 w 1137186"/>
              <a:gd name="connsiteY97" fmla="*/ 473178 h 1137190"/>
              <a:gd name="connsiteX98" fmla="*/ 1007366 w 1137186"/>
              <a:gd name="connsiteY98" fmla="*/ 287466 h 1137190"/>
              <a:gd name="connsiteX99" fmla="*/ 1005332 w 1137186"/>
              <a:gd name="connsiteY99" fmla="*/ 284892 h 1137190"/>
              <a:gd name="connsiteX100" fmla="*/ 819632 w 1137186"/>
              <a:gd name="connsiteY100" fmla="*/ 284892 h 1137190"/>
              <a:gd name="connsiteX101" fmla="*/ 819626 w 1137186"/>
              <a:gd name="connsiteY101" fmla="*/ 284893 h 1137190"/>
              <a:gd name="connsiteX102" fmla="*/ 819623 w 1137186"/>
              <a:gd name="connsiteY102" fmla="*/ 284892 h 1137190"/>
              <a:gd name="connsiteX103" fmla="*/ 568644 w 1137186"/>
              <a:gd name="connsiteY103" fmla="*/ 284892 h 1137190"/>
              <a:gd name="connsiteX104" fmla="*/ 568642 w 1137186"/>
              <a:gd name="connsiteY104" fmla="*/ 284893 h 1137190"/>
              <a:gd name="connsiteX105" fmla="*/ 568640 w 1137186"/>
              <a:gd name="connsiteY105" fmla="*/ 284892 h 1137190"/>
              <a:gd name="connsiteX106" fmla="*/ 731534 w 1137186"/>
              <a:gd name="connsiteY106" fmla="*/ 76267 h 1137190"/>
              <a:gd name="connsiteX107" fmla="*/ 789049 w 1137186"/>
              <a:gd name="connsiteY107" fmla="*/ 146389 h 1137190"/>
              <a:gd name="connsiteX108" fmla="*/ 834200 w 1137186"/>
              <a:gd name="connsiteY108" fmla="*/ 237267 h 1137190"/>
              <a:gd name="connsiteX109" fmla="*/ 967698 w 1137186"/>
              <a:gd name="connsiteY109" fmla="*/ 237267 h 1137190"/>
              <a:gd name="connsiteX110" fmla="*/ 943887 w 1137186"/>
              <a:gd name="connsiteY110" fmla="*/ 207134 h 1137190"/>
              <a:gd name="connsiteX111" fmla="*/ 863289 w 1137186"/>
              <a:gd name="connsiteY111" fmla="*/ 139035 h 1137190"/>
              <a:gd name="connsiteX112" fmla="*/ 770720 w 1137186"/>
              <a:gd name="connsiteY112" fmla="*/ 88392 h 1137190"/>
              <a:gd name="connsiteX113" fmla="*/ 406566 w 1137186"/>
              <a:gd name="connsiteY113" fmla="*/ 75714 h 1137190"/>
              <a:gd name="connsiteX114" fmla="*/ 377157 w 1137186"/>
              <a:gd name="connsiteY114" fmla="*/ 84167 h 1137190"/>
              <a:gd name="connsiteX115" fmla="*/ 188887 w 1137186"/>
              <a:gd name="connsiteY115" fmla="*/ 212028 h 1137190"/>
              <a:gd name="connsiteX116" fmla="*/ 168619 w 1137186"/>
              <a:gd name="connsiteY116" fmla="*/ 237267 h 1137190"/>
              <a:gd name="connsiteX117" fmla="*/ 302671 w 1137186"/>
              <a:gd name="connsiteY117" fmla="*/ 237267 h 1137190"/>
              <a:gd name="connsiteX118" fmla="*/ 350874 w 1137186"/>
              <a:gd name="connsiteY118" fmla="*/ 142290 h 1137190"/>
              <a:gd name="connsiteX119" fmla="*/ 592454 w 1137186"/>
              <a:gd name="connsiteY119" fmla="*/ 50350 h 1137190"/>
              <a:gd name="connsiteX120" fmla="*/ 592454 w 1137186"/>
              <a:gd name="connsiteY120" fmla="*/ 237267 h 1137190"/>
              <a:gd name="connsiteX121" fmla="*/ 782054 w 1137186"/>
              <a:gd name="connsiteY121" fmla="*/ 237267 h 1137190"/>
              <a:gd name="connsiteX122" fmla="*/ 758112 w 1137186"/>
              <a:gd name="connsiteY122" fmla="*/ 186681 h 1137190"/>
              <a:gd name="connsiteX123" fmla="*/ 602159 w 1137186"/>
              <a:gd name="connsiteY123" fmla="*/ 51461 h 1137190"/>
              <a:gd name="connsiteX124" fmla="*/ 544829 w 1137186"/>
              <a:gd name="connsiteY124" fmla="*/ 50318 h 1137190"/>
              <a:gd name="connsiteX125" fmla="*/ 535728 w 1137186"/>
              <a:gd name="connsiteY125" fmla="*/ 51347 h 1137190"/>
              <a:gd name="connsiteX126" fmla="*/ 381803 w 1137186"/>
              <a:gd name="connsiteY126" fmla="*/ 182555 h 1137190"/>
              <a:gd name="connsiteX127" fmla="*/ 355339 w 1137186"/>
              <a:gd name="connsiteY127" fmla="*/ 237267 h 1137190"/>
              <a:gd name="connsiteX128" fmla="*/ 544829 w 1137186"/>
              <a:gd name="connsiteY128" fmla="*/ 237267 h 1137190"/>
              <a:gd name="connsiteX129" fmla="*/ 568642 w 1137186"/>
              <a:gd name="connsiteY129" fmla="*/ 0 h 1137190"/>
              <a:gd name="connsiteX130" fmla="*/ 609638 w 1137186"/>
              <a:gd name="connsiteY130" fmla="*/ 4365 h 1137190"/>
              <a:gd name="connsiteX131" fmla="*/ 609822 w 1137186"/>
              <a:gd name="connsiteY131" fmla="*/ 4424 h 1137190"/>
              <a:gd name="connsiteX132" fmla="*/ 683387 w 1137186"/>
              <a:gd name="connsiteY132" fmla="*/ 11853 h 1137190"/>
              <a:gd name="connsiteX133" fmla="*/ 1007438 w 1137186"/>
              <a:gd name="connsiteY133" fmla="*/ 207220 h 1137190"/>
              <a:gd name="connsiteX134" fmla="*/ 1032251 w 1137186"/>
              <a:gd name="connsiteY134" fmla="*/ 243038 h 1137190"/>
              <a:gd name="connsiteX135" fmla="*/ 1035155 w 1137186"/>
              <a:gd name="connsiteY135" fmla="*/ 244242 h 1137190"/>
              <a:gd name="connsiteX136" fmla="*/ 1038236 w 1137186"/>
              <a:gd name="connsiteY136" fmla="*/ 251678 h 1137190"/>
              <a:gd name="connsiteX137" fmla="*/ 1061919 w 1137186"/>
              <a:gd name="connsiteY137" fmla="*/ 285866 h 1137190"/>
              <a:gd name="connsiteX138" fmla="*/ 1137186 w 1137186"/>
              <a:gd name="connsiteY138" fmla="*/ 568829 h 1137190"/>
              <a:gd name="connsiteX139" fmla="*/ 1135926 w 1137186"/>
              <a:gd name="connsiteY139" fmla="*/ 585495 h 1137190"/>
              <a:gd name="connsiteX140" fmla="*/ 1136047 w 1137186"/>
              <a:gd name="connsiteY140" fmla="*/ 585788 h 1137190"/>
              <a:gd name="connsiteX141" fmla="*/ 1135871 w 1137186"/>
              <a:gd name="connsiteY141" fmla="*/ 586212 h 1137190"/>
              <a:gd name="connsiteX142" fmla="*/ 1130735 w 1137186"/>
              <a:gd name="connsiteY142" fmla="*/ 654138 h 1137190"/>
              <a:gd name="connsiteX143" fmla="*/ 1097587 w 1137186"/>
              <a:gd name="connsiteY143" fmla="*/ 777190 h 1137190"/>
              <a:gd name="connsiteX144" fmla="*/ 1054675 w 1137186"/>
              <a:gd name="connsiteY144" fmla="*/ 857980 h 1137190"/>
              <a:gd name="connsiteX145" fmla="*/ 1065922 w 1137186"/>
              <a:gd name="connsiteY145" fmla="*/ 888206 h 1137190"/>
              <a:gd name="connsiteX146" fmla="*/ 1050148 w 1137186"/>
              <a:gd name="connsiteY146" fmla="*/ 922677 h 1137190"/>
              <a:gd name="connsiteX147" fmla="*/ 1050035 w 1137186"/>
              <a:gd name="connsiteY147" fmla="*/ 922782 h 1137190"/>
              <a:gd name="connsiteX148" fmla="*/ 980044 w 1137186"/>
              <a:gd name="connsiteY148" fmla="*/ 920010 h 1137190"/>
              <a:gd name="connsiteX149" fmla="*/ 972956 w 1137186"/>
              <a:gd name="connsiteY149" fmla="*/ 900779 h 1137190"/>
              <a:gd name="connsiteX150" fmla="*/ 834994 w 1137186"/>
              <a:gd name="connsiteY150" fmla="*/ 900779 h 1137190"/>
              <a:gd name="connsiteX151" fmla="*/ 832729 w 1137186"/>
              <a:gd name="connsiteY151" fmla="*/ 907263 h 1137190"/>
              <a:gd name="connsiteX152" fmla="*/ 749289 w 1137186"/>
              <a:gd name="connsiteY152" fmla="*/ 1044365 h 1137190"/>
              <a:gd name="connsiteX153" fmla="*/ 727294 w 1137186"/>
              <a:gd name="connsiteY153" fmla="*/ 1064464 h 1137190"/>
              <a:gd name="connsiteX154" fmla="*/ 795150 w 1137186"/>
              <a:gd name="connsiteY154" fmla="*/ 1037803 h 1137190"/>
              <a:gd name="connsiteX155" fmla="*/ 859690 w 1137186"/>
              <a:gd name="connsiteY155" fmla="*/ 1000272 h 1137190"/>
              <a:gd name="connsiteX156" fmla="*/ 855163 w 1137186"/>
              <a:gd name="connsiteY156" fmla="*/ 988063 h 1137190"/>
              <a:gd name="connsiteX157" fmla="*/ 871009 w 1137186"/>
              <a:gd name="connsiteY157" fmla="*/ 953545 h 1137190"/>
              <a:gd name="connsiteX158" fmla="*/ 941140 w 1137186"/>
              <a:gd name="connsiteY158" fmla="*/ 956187 h 1137190"/>
              <a:gd name="connsiteX159" fmla="*/ 941165 w 1137186"/>
              <a:gd name="connsiteY159" fmla="*/ 956214 h 1137190"/>
              <a:gd name="connsiteX160" fmla="*/ 938498 w 1137186"/>
              <a:gd name="connsiteY160" fmla="*/ 1026318 h 1137190"/>
              <a:gd name="connsiteX161" fmla="*/ 902885 w 1137186"/>
              <a:gd name="connsiteY161" fmla="*/ 1039522 h 1137190"/>
              <a:gd name="connsiteX162" fmla="*/ 893217 w 1137186"/>
              <a:gd name="connsiteY162" fmla="*/ 1035084 h 1137190"/>
              <a:gd name="connsiteX163" fmla="*/ 892865 w 1137186"/>
              <a:gd name="connsiteY163" fmla="*/ 1035682 h 1137190"/>
              <a:gd name="connsiteX164" fmla="*/ 891254 w 1137186"/>
              <a:gd name="connsiteY164" fmla="*/ 1036795 h 1137190"/>
              <a:gd name="connsiteX165" fmla="*/ 654349 w 1137186"/>
              <a:gd name="connsiteY165" fmla="*/ 1130827 h 1137190"/>
              <a:gd name="connsiteX166" fmla="*/ 568645 w 1137186"/>
              <a:gd name="connsiteY166" fmla="*/ 1137189 h 1137190"/>
              <a:gd name="connsiteX167" fmla="*/ 568642 w 1137186"/>
              <a:gd name="connsiteY167" fmla="*/ 1137190 h 1137190"/>
              <a:gd name="connsiteX168" fmla="*/ 568639 w 1137186"/>
              <a:gd name="connsiteY168" fmla="*/ 1137189 h 1137190"/>
              <a:gd name="connsiteX169" fmla="*/ 468018 w 1137186"/>
              <a:gd name="connsiteY169" fmla="*/ 1128294 h 1137190"/>
              <a:gd name="connsiteX170" fmla="*/ 116245 w 1137186"/>
              <a:gd name="connsiteY170" fmla="*/ 912867 h 1137190"/>
              <a:gd name="connsiteX171" fmla="*/ 104492 w 1137186"/>
              <a:gd name="connsiteY171" fmla="*/ 894823 h 1137190"/>
              <a:gd name="connsiteX172" fmla="*/ 102034 w 1137186"/>
              <a:gd name="connsiteY172" fmla="*/ 893805 h 1137190"/>
              <a:gd name="connsiteX173" fmla="*/ 98898 w 1137186"/>
              <a:gd name="connsiteY173" fmla="*/ 886234 h 1137190"/>
              <a:gd name="connsiteX174" fmla="*/ 70496 w 1137186"/>
              <a:gd name="connsiteY174" fmla="*/ 842629 h 1137190"/>
              <a:gd name="connsiteX175" fmla="*/ 11812 w 1137186"/>
              <a:gd name="connsiteY175" fmla="*/ 683210 h 1137190"/>
              <a:gd name="connsiteX176" fmla="*/ 2652 w 1137186"/>
              <a:gd name="connsiteY176" fmla="*/ 592189 h 1137190"/>
              <a:gd name="connsiteX177" fmla="*/ 0 w 1137186"/>
              <a:gd name="connsiteY177" fmla="*/ 585788 h 1137190"/>
              <a:gd name="connsiteX178" fmla="*/ 1615 w 1137186"/>
              <a:gd name="connsiteY178" fmla="*/ 581889 h 1137190"/>
              <a:gd name="connsiteX179" fmla="*/ 282 w 1137186"/>
              <a:gd name="connsiteY179" fmla="*/ 568645 h 1137190"/>
              <a:gd name="connsiteX180" fmla="*/ 75641 w 1137186"/>
              <a:gd name="connsiteY180" fmla="*/ 285706 h 1137190"/>
              <a:gd name="connsiteX181" fmla="*/ 98542 w 1137186"/>
              <a:gd name="connsiteY181" fmla="*/ 252670 h 1137190"/>
              <a:gd name="connsiteX182" fmla="*/ 102034 w 1137186"/>
              <a:gd name="connsiteY182" fmla="*/ 244242 h 1137190"/>
              <a:gd name="connsiteX183" fmla="*/ 105332 w 1137186"/>
              <a:gd name="connsiteY183" fmla="*/ 242875 h 1137190"/>
              <a:gd name="connsiteX184" fmla="*/ 130148 w 1137186"/>
              <a:gd name="connsiteY184" fmla="*/ 207078 h 1137190"/>
              <a:gd name="connsiteX185" fmla="*/ 454261 w 1137186"/>
              <a:gd name="connsiteY185" fmla="*/ 11815 h 1137190"/>
              <a:gd name="connsiteX186" fmla="*/ 527765 w 1137186"/>
              <a:gd name="connsiteY186" fmla="*/ 4418 h 1137190"/>
              <a:gd name="connsiteX187" fmla="*/ 528305 w 1137186"/>
              <a:gd name="connsiteY187" fmla="*/ 4246 h 1137190"/>
              <a:gd name="connsiteX188" fmla="*/ 568642 w 1137186"/>
              <a:gd name="connsiteY188" fmla="*/ 0 h 113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137186" h="1137190">
                <a:moveTo>
                  <a:pt x="592454" y="900779"/>
                </a:moveTo>
                <a:lnTo>
                  <a:pt x="592454" y="1085108"/>
                </a:lnTo>
                <a:lnTo>
                  <a:pt x="623465" y="1079305"/>
                </a:lnTo>
                <a:cubicBezTo>
                  <a:pt x="677884" y="1058706"/>
                  <a:pt x="726980" y="1008161"/>
                  <a:pt x="765350" y="937444"/>
                </a:cubicBezTo>
                <a:lnTo>
                  <a:pt x="782614" y="900779"/>
                </a:lnTo>
                <a:close/>
                <a:moveTo>
                  <a:pt x="354600" y="900779"/>
                </a:moveTo>
                <a:lnTo>
                  <a:pt x="371849" y="937396"/>
                </a:lnTo>
                <a:cubicBezTo>
                  <a:pt x="410246" y="1008132"/>
                  <a:pt x="459377" y="1058695"/>
                  <a:pt x="513811" y="1079301"/>
                </a:cubicBezTo>
                <a:lnTo>
                  <a:pt x="544829" y="1085107"/>
                </a:lnTo>
                <a:lnTo>
                  <a:pt x="544829" y="900779"/>
                </a:lnTo>
                <a:close/>
                <a:moveTo>
                  <a:pt x="170271" y="900779"/>
                </a:moveTo>
                <a:lnTo>
                  <a:pt x="193501" y="930176"/>
                </a:lnTo>
                <a:cubicBezTo>
                  <a:pt x="217544" y="955076"/>
                  <a:pt x="244440" y="977938"/>
                  <a:pt x="274099" y="998276"/>
                </a:cubicBezTo>
                <a:cubicBezTo>
                  <a:pt x="296332" y="1013521"/>
                  <a:pt x="319452" y="1026857"/>
                  <a:pt x="343237" y="1038284"/>
                </a:cubicBezTo>
                <a:lnTo>
                  <a:pt x="409916" y="1064318"/>
                </a:lnTo>
                <a:lnTo>
                  <a:pt x="388071" y="1044365"/>
                </a:lnTo>
                <a:cubicBezTo>
                  <a:pt x="355735" y="1007605"/>
                  <a:pt x="327422" y="961156"/>
                  <a:pt x="304486" y="907263"/>
                </a:cubicBezTo>
                <a:lnTo>
                  <a:pt x="302213" y="900779"/>
                </a:lnTo>
                <a:close/>
                <a:moveTo>
                  <a:pt x="893886" y="609600"/>
                </a:moveTo>
                <a:lnTo>
                  <a:pt x="883819" y="725499"/>
                </a:lnTo>
                <a:cubicBezTo>
                  <a:pt x="878448" y="758766"/>
                  <a:pt x="871393" y="790734"/>
                  <a:pt x="862822" y="821121"/>
                </a:cubicBezTo>
                <a:lnTo>
                  <a:pt x="851632" y="853154"/>
                </a:lnTo>
                <a:lnTo>
                  <a:pt x="981369" y="853154"/>
                </a:lnTo>
                <a:lnTo>
                  <a:pt x="982815" y="850019"/>
                </a:lnTo>
                <a:lnTo>
                  <a:pt x="1011313" y="839490"/>
                </a:lnTo>
                <a:lnTo>
                  <a:pt x="1048958" y="770681"/>
                </a:lnTo>
                <a:cubicBezTo>
                  <a:pt x="1062412" y="738790"/>
                  <a:pt x="1072471" y="706025"/>
                  <a:pt x="1079223" y="672872"/>
                </a:cubicBezTo>
                <a:lnTo>
                  <a:pt x="1085813" y="609600"/>
                </a:lnTo>
                <a:close/>
                <a:moveTo>
                  <a:pt x="592454" y="609600"/>
                </a:moveTo>
                <a:lnTo>
                  <a:pt x="592454" y="853154"/>
                </a:lnTo>
                <a:lnTo>
                  <a:pt x="801697" y="853154"/>
                </a:lnTo>
                <a:lnTo>
                  <a:pt x="814186" y="817459"/>
                </a:lnTo>
                <a:cubicBezTo>
                  <a:pt x="827333" y="773236"/>
                  <a:pt x="837123" y="725190"/>
                  <a:pt x="842881" y="674545"/>
                </a:cubicBezTo>
                <a:lnTo>
                  <a:pt x="847104" y="609600"/>
                </a:lnTo>
                <a:close/>
                <a:moveTo>
                  <a:pt x="290085" y="609600"/>
                </a:moveTo>
                <a:lnTo>
                  <a:pt x="294286" y="674454"/>
                </a:lnTo>
                <a:cubicBezTo>
                  <a:pt x="300037" y="725103"/>
                  <a:pt x="309829" y="773154"/>
                  <a:pt x="322982" y="817386"/>
                </a:cubicBezTo>
                <a:lnTo>
                  <a:pt x="335502" y="853154"/>
                </a:lnTo>
                <a:lnTo>
                  <a:pt x="544829" y="853154"/>
                </a:lnTo>
                <a:lnTo>
                  <a:pt x="544829" y="609600"/>
                </a:lnTo>
                <a:close/>
                <a:moveTo>
                  <a:pt x="51742" y="609600"/>
                </a:moveTo>
                <a:lnTo>
                  <a:pt x="56596" y="664133"/>
                </a:lnTo>
                <a:cubicBezTo>
                  <a:pt x="68814" y="729662"/>
                  <a:pt x="93530" y="792859"/>
                  <a:pt x="130022" y="849844"/>
                </a:cubicBezTo>
                <a:lnTo>
                  <a:pt x="132638" y="853154"/>
                </a:lnTo>
                <a:lnTo>
                  <a:pt x="285515" y="853154"/>
                </a:lnTo>
                <a:lnTo>
                  <a:pt x="274285" y="821121"/>
                </a:lnTo>
                <a:cubicBezTo>
                  <a:pt x="265675" y="790734"/>
                  <a:pt x="258579" y="758766"/>
                  <a:pt x="253165" y="725499"/>
                </a:cubicBezTo>
                <a:lnTo>
                  <a:pt x="242952" y="609600"/>
                </a:lnTo>
                <a:close/>
                <a:moveTo>
                  <a:pt x="720852" y="331565"/>
                </a:moveTo>
                <a:lnTo>
                  <a:pt x="772096" y="331565"/>
                </a:lnTo>
                <a:lnTo>
                  <a:pt x="801719" y="441864"/>
                </a:lnTo>
                <a:lnTo>
                  <a:pt x="833914" y="331565"/>
                </a:lnTo>
                <a:lnTo>
                  <a:pt x="876110" y="331565"/>
                </a:lnTo>
                <a:lnTo>
                  <a:pt x="907161" y="441674"/>
                </a:lnTo>
                <a:lnTo>
                  <a:pt x="936308" y="331565"/>
                </a:lnTo>
                <a:lnTo>
                  <a:pt x="985266" y="331565"/>
                </a:lnTo>
                <a:lnTo>
                  <a:pt x="929259" y="518827"/>
                </a:lnTo>
                <a:lnTo>
                  <a:pt x="883825" y="518827"/>
                </a:lnTo>
                <a:lnTo>
                  <a:pt x="853916" y="413099"/>
                </a:lnTo>
                <a:lnTo>
                  <a:pt x="821817" y="518827"/>
                </a:lnTo>
                <a:lnTo>
                  <a:pt x="777240" y="518827"/>
                </a:lnTo>
                <a:close/>
                <a:moveTo>
                  <a:pt x="445484" y="331565"/>
                </a:moveTo>
                <a:lnTo>
                  <a:pt x="496729" y="331565"/>
                </a:lnTo>
                <a:lnTo>
                  <a:pt x="526447" y="441864"/>
                </a:lnTo>
                <a:lnTo>
                  <a:pt x="558546" y="331565"/>
                </a:lnTo>
                <a:lnTo>
                  <a:pt x="600837" y="331565"/>
                </a:lnTo>
                <a:lnTo>
                  <a:pt x="631888" y="441674"/>
                </a:lnTo>
                <a:lnTo>
                  <a:pt x="660939" y="331565"/>
                </a:lnTo>
                <a:lnTo>
                  <a:pt x="709898" y="331565"/>
                </a:lnTo>
                <a:lnTo>
                  <a:pt x="653891" y="518827"/>
                </a:lnTo>
                <a:lnTo>
                  <a:pt x="608552" y="518827"/>
                </a:lnTo>
                <a:lnTo>
                  <a:pt x="578644" y="413099"/>
                </a:lnTo>
                <a:lnTo>
                  <a:pt x="546449" y="518827"/>
                </a:lnTo>
                <a:lnTo>
                  <a:pt x="501872" y="518827"/>
                </a:lnTo>
                <a:close/>
                <a:moveTo>
                  <a:pt x="170211" y="331565"/>
                </a:moveTo>
                <a:lnTo>
                  <a:pt x="221360" y="331565"/>
                </a:lnTo>
                <a:lnTo>
                  <a:pt x="251078" y="441864"/>
                </a:lnTo>
                <a:lnTo>
                  <a:pt x="283177" y="331565"/>
                </a:lnTo>
                <a:lnTo>
                  <a:pt x="325468" y="331565"/>
                </a:lnTo>
                <a:lnTo>
                  <a:pt x="356520" y="441674"/>
                </a:lnTo>
                <a:lnTo>
                  <a:pt x="385571" y="331565"/>
                </a:lnTo>
                <a:lnTo>
                  <a:pt x="434625" y="331565"/>
                </a:lnTo>
                <a:lnTo>
                  <a:pt x="378523" y="518827"/>
                </a:lnTo>
                <a:lnTo>
                  <a:pt x="333184" y="518827"/>
                </a:lnTo>
                <a:lnTo>
                  <a:pt x="303275" y="413099"/>
                </a:lnTo>
                <a:lnTo>
                  <a:pt x="271176" y="518827"/>
                </a:lnTo>
                <a:lnTo>
                  <a:pt x="226599" y="518827"/>
                </a:lnTo>
                <a:close/>
                <a:moveTo>
                  <a:pt x="133147" y="284892"/>
                </a:moveTo>
                <a:lnTo>
                  <a:pt x="88430" y="366629"/>
                </a:lnTo>
                <a:cubicBezTo>
                  <a:pt x="74976" y="398520"/>
                  <a:pt x="64918" y="431285"/>
                  <a:pt x="58165" y="464438"/>
                </a:cubicBezTo>
                <a:lnTo>
                  <a:pt x="48006" y="561975"/>
                </a:lnTo>
                <a:lnTo>
                  <a:pt x="264161" y="561975"/>
                </a:lnTo>
                <a:lnTo>
                  <a:pt x="264271" y="561927"/>
                </a:lnTo>
                <a:lnTo>
                  <a:pt x="264393" y="561975"/>
                </a:lnTo>
                <a:lnTo>
                  <a:pt x="568642" y="561975"/>
                </a:lnTo>
                <a:lnTo>
                  <a:pt x="872490" y="561975"/>
                </a:lnTo>
                <a:lnTo>
                  <a:pt x="1088696" y="561975"/>
                </a:lnTo>
                <a:lnTo>
                  <a:pt x="1080792" y="473178"/>
                </a:lnTo>
                <a:cubicBezTo>
                  <a:pt x="1068574" y="407650"/>
                  <a:pt x="1043858" y="344451"/>
                  <a:pt x="1007366" y="287466"/>
                </a:cubicBezTo>
                <a:lnTo>
                  <a:pt x="1005332" y="284892"/>
                </a:lnTo>
                <a:lnTo>
                  <a:pt x="819632" y="284892"/>
                </a:lnTo>
                <a:lnTo>
                  <a:pt x="819626" y="284893"/>
                </a:lnTo>
                <a:lnTo>
                  <a:pt x="819623" y="284892"/>
                </a:lnTo>
                <a:lnTo>
                  <a:pt x="568644" y="284892"/>
                </a:lnTo>
                <a:lnTo>
                  <a:pt x="568642" y="284893"/>
                </a:lnTo>
                <a:lnTo>
                  <a:pt x="568640" y="284892"/>
                </a:lnTo>
                <a:close/>
                <a:moveTo>
                  <a:pt x="731534" y="76267"/>
                </a:moveTo>
                <a:lnTo>
                  <a:pt x="789049" y="146389"/>
                </a:lnTo>
                <a:lnTo>
                  <a:pt x="834200" y="237267"/>
                </a:lnTo>
                <a:lnTo>
                  <a:pt x="967698" y="237267"/>
                </a:lnTo>
                <a:lnTo>
                  <a:pt x="943887" y="207134"/>
                </a:lnTo>
                <a:cubicBezTo>
                  <a:pt x="919844" y="182234"/>
                  <a:pt x="892948" y="159373"/>
                  <a:pt x="863289" y="139035"/>
                </a:cubicBezTo>
                <a:cubicBezTo>
                  <a:pt x="833630" y="118697"/>
                  <a:pt x="802612" y="101847"/>
                  <a:pt x="770720" y="88392"/>
                </a:cubicBezTo>
                <a:close/>
                <a:moveTo>
                  <a:pt x="406566" y="75714"/>
                </a:moveTo>
                <a:lnTo>
                  <a:pt x="377157" y="84167"/>
                </a:lnTo>
                <a:cubicBezTo>
                  <a:pt x="307151" y="111770"/>
                  <a:pt x="242551" y="154734"/>
                  <a:pt x="188887" y="212028"/>
                </a:cubicBezTo>
                <a:lnTo>
                  <a:pt x="168619" y="237267"/>
                </a:lnTo>
                <a:lnTo>
                  <a:pt x="302671" y="237267"/>
                </a:lnTo>
                <a:lnTo>
                  <a:pt x="350874" y="142290"/>
                </a:lnTo>
                <a:close/>
                <a:moveTo>
                  <a:pt x="592454" y="50350"/>
                </a:moveTo>
                <a:lnTo>
                  <a:pt x="592454" y="237267"/>
                </a:lnTo>
                <a:lnTo>
                  <a:pt x="782054" y="237267"/>
                </a:lnTo>
                <a:lnTo>
                  <a:pt x="758112" y="186681"/>
                </a:lnTo>
                <a:cubicBezTo>
                  <a:pt x="714829" y="112409"/>
                  <a:pt x="660242" y="64796"/>
                  <a:pt x="602159" y="51461"/>
                </a:cubicBezTo>
                <a:close/>
                <a:moveTo>
                  <a:pt x="544829" y="50318"/>
                </a:moveTo>
                <a:lnTo>
                  <a:pt x="535728" y="51347"/>
                </a:lnTo>
                <a:cubicBezTo>
                  <a:pt x="478634" y="64284"/>
                  <a:pt x="424687" y="110478"/>
                  <a:pt x="381803" y="182555"/>
                </a:cubicBezTo>
                <a:lnTo>
                  <a:pt x="355339" y="237267"/>
                </a:lnTo>
                <a:lnTo>
                  <a:pt x="544829" y="237267"/>
                </a:lnTo>
                <a:close/>
                <a:moveTo>
                  <a:pt x="568642" y="0"/>
                </a:moveTo>
                <a:cubicBezTo>
                  <a:pt x="582465" y="0"/>
                  <a:pt x="596151" y="1475"/>
                  <a:pt x="609638" y="4365"/>
                </a:cubicBezTo>
                <a:lnTo>
                  <a:pt x="609822" y="4424"/>
                </a:lnTo>
                <a:lnTo>
                  <a:pt x="683387" y="11853"/>
                </a:lnTo>
                <a:cubicBezTo>
                  <a:pt x="812900" y="38377"/>
                  <a:pt x="926361" y="108945"/>
                  <a:pt x="1007438" y="207220"/>
                </a:cubicBezTo>
                <a:lnTo>
                  <a:pt x="1032251" y="243038"/>
                </a:lnTo>
                <a:lnTo>
                  <a:pt x="1035155" y="244242"/>
                </a:lnTo>
                <a:lnTo>
                  <a:pt x="1038236" y="251678"/>
                </a:lnTo>
                <a:lnTo>
                  <a:pt x="1061919" y="285866"/>
                </a:lnTo>
                <a:cubicBezTo>
                  <a:pt x="1109817" y="369197"/>
                  <a:pt x="1137203" y="465815"/>
                  <a:pt x="1137186" y="568829"/>
                </a:cubicBezTo>
                <a:lnTo>
                  <a:pt x="1135926" y="585495"/>
                </a:lnTo>
                <a:lnTo>
                  <a:pt x="1136047" y="585788"/>
                </a:lnTo>
                <a:lnTo>
                  <a:pt x="1135871" y="586212"/>
                </a:lnTo>
                <a:lnTo>
                  <a:pt x="1130735" y="654138"/>
                </a:lnTo>
                <a:cubicBezTo>
                  <a:pt x="1124326" y="696310"/>
                  <a:pt x="1113196" y="737587"/>
                  <a:pt x="1097587" y="777190"/>
                </a:cubicBezTo>
                <a:lnTo>
                  <a:pt x="1054675" y="857980"/>
                </a:lnTo>
                <a:lnTo>
                  <a:pt x="1065922" y="888206"/>
                </a:lnTo>
                <a:cubicBezTo>
                  <a:pt x="1065460" y="900874"/>
                  <a:pt x="1060165" y="913365"/>
                  <a:pt x="1050148" y="922677"/>
                </a:cubicBezTo>
                <a:cubicBezTo>
                  <a:pt x="1050110" y="922712"/>
                  <a:pt x="1050073" y="922747"/>
                  <a:pt x="1050035" y="922782"/>
                </a:cubicBezTo>
                <a:cubicBezTo>
                  <a:pt x="1029942" y="941344"/>
                  <a:pt x="998606" y="940103"/>
                  <a:pt x="980044" y="920010"/>
                </a:cubicBezTo>
                <a:lnTo>
                  <a:pt x="972956" y="900779"/>
                </a:lnTo>
                <a:lnTo>
                  <a:pt x="834994" y="900779"/>
                </a:lnTo>
                <a:lnTo>
                  <a:pt x="832729" y="907263"/>
                </a:lnTo>
                <a:cubicBezTo>
                  <a:pt x="809859" y="961156"/>
                  <a:pt x="781598" y="1007605"/>
                  <a:pt x="749289" y="1044365"/>
                </a:cubicBezTo>
                <a:lnTo>
                  <a:pt x="727294" y="1064464"/>
                </a:lnTo>
                <a:lnTo>
                  <a:pt x="795150" y="1037803"/>
                </a:lnTo>
                <a:lnTo>
                  <a:pt x="859690" y="1000272"/>
                </a:lnTo>
                <a:lnTo>
                  <a:pt x="855163" y="988063"/>
                </a:lnTo>
                <a:cubicBezTo>
                  <a:pt x="855641" y="975372"/>
                  <a:pt x="860961" y="962864"/>
                  <a:pt x="871009" y="953545"/>
                </a:cubicBezTo>
                <a:cubicBezTo>
                  <a:pt x="891105" y="934908"/>
                  <a:pt x="922503" y="936091"/>
                  <a:pt x="941140" y="956187"/>
                </a:cubicBezTo>
                <a:cubicBezTo>
                  <a:pt x="941148" y="956196"/>
                  <a:pt x="941157" y="956205"/>
                  <a:pt x="941165" y="956214"/>
                </a:cubicBezTo>
                <a:cubicBezTo>
                  <a:pt x="959777" y="976313"/>
                  <a:pt x="958583" y="1007691"/>
                  <a:pt x="938498" y="1026318"/>
                </a:cubicBezTo>
                <a:cubicBezTo>
                  <a:pt x="928450" y="1035636"/>
                  <a:pt x="915577" y="1040000"/>
                  <a:pt x="902885" y="1039522"/>
                </a:cubicBezTo>
                <a:lnTo>
                  <a:pt x="893217" y="1035084"/>
                </a:lnTo>
                <a:lnTo>
                  <a:pt x="892865" y="1035682"/>
                </a:lnTo>
                <a:cubicBezTo>
                  <a:pt x="892344" y="1036075"/>
                  <a:pt x="891806" y="1036446"/>
                  <a:pt x="891254" y="1036795"/>
                </a:cubicBezTo>
                <a:cubicBezTo>
                  <a:pt x="820173" y="1085993"/>
                  <a:pt x="739079" y="1117999"/>
                  <a:pt x="654349" y="1130827"/>
                </a:cubicBezTo>
                <a:lnTo>
                  <a:pt x="568645" y="1137189"/>
                </a:lnTo>
                <a:lnTo>
                  <a:pt x="568642" y="1137190"/>
                </a:lnTo>
                <a:lnTo>
                  <a:pt x="568639" y="1137189"/>
                </a:lnTo>
                <a:lnTo>
                  <a:pt x="468018" y="1128294"/>
                </a:lnTo>
                <a:cubicBezTo>
                  <a:pt x="325132" y="1102747"/>
                  <a:pt x="200751" y="1023813"/>
                  <a:pt x="116245" y="912867"/>
                </a:cubicBezTo>
                <a:lnTo>
                  <a:pt x="104492" y="894823"/>
                </a:lnTo>
                <a:lnTo>
                  <a:pt x="102034" y="893805"/>
                </a:lnTo>
                <a:lnTo>
                  <a:pt x="98898" y="886234"/>
                </a:lnTo>
                <a:lnTo>
                  <a:pt x="70496" y="842629"/>
                </a:lnTo>
                <a:cubicBezTo>
                  <a:pt x="43415" y="793471"/>
                  <a:pt x="23398" y="739876"/>
                  <a:pt x="11812" y="683210"/>
                </a:cubicBezTo>
                <a:lnTo>
                  <a:pt x="2652" y="592189"/>
                </a:lnTo>
                <a:lnTo>
                  <a:pt x="0" y="585788"/>
                </a:lnTo>
                <a:lnTo>
                  <a:pt x="1615" y="581889"/>
                </a:lnTo>
                <a:lnTo>
                  <a:pt x="282" y="568645"/>
                </a:lnTo>
                <a:cubicBezTo>
                  <a:pt x="299" y="465631"/>
                  <a:pt x="27716" y="369021"/>
                  <a:pt x="75641" y="285706"/>
                </a:cubicBezTo>
                <a:lnTo>
                  <a:pt x="98542" y="252670"/>
                </a:lnTo>
                <a:lnTo>
                  <a:pt x="102034" y="244242"/>
                </a:lnTo>
                <a:lnTo>
                  <a:pt x="105332" y="242875"/>
                </a:lnTo>
                <a:lnTo>
                  <a:pt x="130148" y="207078"/>
                </a:lnTo>
                <a:cubicBezTo>
                  <a:pt x="211257" y="108829"/>
                  <a:pt x="324740" y="38297"/>
                  <a:pt x="454261" y="11815"/>
                </a:cubicBezTo>
                <a:lnTo>
                  <a:pt x="527765" y="4418"/>
                </a:lnTo>
                <a:lnTo>
                  <a:pt x="528305" y="4246"/>
                </a:lnTo>
                <a:cubicBezTo>
                  <a:pt x="541590" y="1435"/>
                  <a:pt x="555057" y="0"/>
                  <a:pt x="568642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1" name="不完整圆 90">
            <a:extLst>
              <a:ext uri="{FF2B5EF4-FFF2-40B4-BE49-F238E27FC236}">
                <a16:creationId xmlns:a16="http://schemas.microsoft.com/office/drawing/2014/main" id="{19590BD7-3005-412A-A534-C7E8AC86885B}"/>
              </a:ext>
            </a:extLst>
          </p:cNvPr>
          <p:cNvSpPr/>
          <p:nvPr/>
        </p:nvSpPr>
        <p:spPr>
          <a:xfrm>
            <a:off x="2692940" y="2349553"/>
            <a:ext cx="665284" cy="718672"/>
          </a:xfrm>
          <a:prstGeom prst="pie">
            <a:avLst>
              <a:gd name="adj1" fmla="val 8676315"/>
              <a:gd name="adj2" fmla="val 1620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3E2E4B2-9EFA-4B60-9A2C-4405FD531EC8}"/>
              </a:ext>
            </a:extLst>
          </p:cNvPr>
          <p:cNvSpPr txBox="1"/>
          <p:nvPr/>
        </p:nvSpPr>
        <p:spPr>
          <a:xfrm>
            <a:off x="3066079" y="2289586"/>
            <a:ext cx="665284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37%</a:t>
            </a:r>
          </a:p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OB收入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/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93" name="Rounded Rectangle 75">
            <a:extLst>
              <a:ext uri="{FF2B5EF4-FFF2-40B4-BE49-F238E27FC236}">
                <a16:creationId xmlns:a16="http://schemas.microsoft.com/office/drawing/2014/main" id="{076AD272-FDB8-46AF-B906-E024D289F0C2}"/>
              </a:ext>
            </a:extLst>
          </p:cNvPr>
          <p:cNvSpPr/>
          <p:nvPr/>
        </p:nvSpPr>
        <p:spPr>
          <a:xfrm>
            <a:off x="697569" y="1467617"/>
            <a:ext cx="3224718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Rounded Rectangle 75">
            <a:extLst>
              <a:ext uri="{FF2B5EF4-FFF2-40B4-BE49-F238E27FC236}">
                <a16:creationId xmlns:a16="http://schemas.microsoft.com/office/drawing/2014/main" id="{BB38B4B3-9F07-4289-B245-3A4CE366D914}"/>
              </a:ext>
            </a:extLst>
          </p:cNvPr>
          <p:cNvSpPr/>
          <p:nvPr/>
        </p:nvSpPr>
        <p:spPr>
          <a:xfrm>
            <a:off x="4114374" y="1467616"/>
            <a:ext cx="7056619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041DEB9-8C21-44A0-91C2-4B68D8E31247}"/>
              </a:ext>
            </a:extLst>
          </p:cNvPr>
          <p:cNvSpPr txBox="1"/>
          <p:nvPr/>
        </p:nvSpPr>
        <p:spPr>
          <a:xfrm>
            <a:off x="4114375" y="1731711"/>
            <a:ext cx="6992983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由3类Catalog组成，Vendor提供的设备空间约180M$/年（估算），主要Vendor Cisco/Fortinet/VMware/OneAccess（Ekinops）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sp>
        <p:nvSpPr>
          <p:cNvPr id="96" name="云形 95">
            <a:extLst>
              <a:ext uri="{FF2B5EF4-FFF2-40B4-BE49-F238E27FC236}">
                <a16:creationId xmlns:a16="http://schemas.microsoft.com/office/drawing/2014/main" id="{15B59C8F-AAC4-4211-B6C1-CBC4D15F3148}"/>
              </a:ext>
            </a:extLst>
          </p:cNvPr>
          <p:cNvSpPr/>
          <p:nvPr/>
        </p:nvSpPr>
        <p:spPr>
          <a:xfrm>
            <a:off x="784083" y="3489842"/>
            <a:ext cx="881166" cy="590792"/>
          </a:xfrm>
          <a:prstGeom prst="cloud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7" name="文本框 15389">
            <a:extLst>
              <a:ext uri="{FF2B5EF4-FFF2-40B4-BE49-F238E27FC236}">
                <a16:creationId xmlns:a16="http://schemas.microsoft.com/office/drawing/2014/main" id="{FD423AB9-4C2B-4EEA-A6CA-EA7CD6795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02" y="3642886"/>
            <a:ext cx="780919" cy="256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67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大网</a:t>
            </a:r>
            <a:endParaRPr lang="en-US" altLang="en-US" sz="1067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1C5B3A17-A3DC-43BA-B266-6608064A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4182" y="4560380"/>
            <a:ext cx="898976" cy="128426"/>
          </a:xfrm>
          <a:prstGeom prst="rect">
            <a:avLst/>
          </a:prstGeom>
        </p:spPr>
      </p:pic>
      <p:sp>
        <p:nvSpPr>
          <p:cNvPr id="99" name="文本框 15389">
            <a:extLst>
              <a:ext uri="{FF2B5EF4-FFF2-40B4-BE49-F238E27FC236}">
                <a16:creationId xmlns:a16="http://schemas.microsoft.com/office/drawing/2014/main" id="{BBA93545-EDCC-4F8B-9554-519EC425A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170" y="4195440"/>
            <a:ext cx="338697" cy="42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67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专线</a:t>
            </a:r>
            <a:endParaRPr lang="en-US" altLang="en-US" sz="1067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流程图: 过程 99">
            <a:extLst>
              <a:ext uri="{FF2B5EF4-FFF2-40B4-BE49-F238E27FC236}">
                <a16:creationId xmlns:a16="http://schemas.microsoft.com/office/drawing/2014/main" id="{A988D992-5A64-478E-BBD9-AB6191552A27}"/>
              </a:ext>
            </a:extLst>
          </p:cNvPr>
          <p:cNvSpPr/>
          <p:nvPr/>
        </p:nvSpPr>
        <p:spPr>
          <a:xfrm>
            <a:off x="982528" y="5205875"/>
            <a:ext cx="732229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1" name="文本框 15389">
            <a:extLst>
              <a:ext uri="{FF2B5EF4-FFF2-40B4-BE49-F238E27FC236}">
                <a16:creationId xmlns:a16="http://schemas.microsoft.com/office/drawing/2014/main" id="{B5451926-7538-4FE5-8DC0-E7FDE355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60" y="5210841"/>
            <a:ext cx="685596" cy="256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67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CPE</a:t>
            </a:r>
            <a:endParaRPr lang="en-US" altLang="en-US" sz="1067" kern="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文本框 15389">
            <a:extLst>
              <a:ext uri="{FF2B5EF4-FFF2-40B4-BE49-F238E27FC236}">
                <a16:creationId xmlns:a16="http://schemas.microsoft.com/office/drawing/2014/main" id="{564AD4AC-021F-4E3F-A5E8-6CF1B5E0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313" y="5530353"/>
            <a:ext cx="1226398" cy="230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收入中占比</a:t>
            </a:r>
            <a:r>
              <a:rPr lang="en-US" altLang="zh-CN" sz="9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5%-10%</a:t>
            </a:r>
            <a:endParaRPr lang="en-US" altLang="en-US" sz="900" kern="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04B2967-9036-4750-816C-95B3AC6191A8}"/>
              </a:ext>
            </a:extLst>
          </p:cNvPr>
          <p:cNvSpPr/>
          <p:nvPr/>
        </p:nvSpPr>
        <p:spPr>
          <a:xfrm>
            <a:off x="1733971" y="3654320"/>
            <a:ext cx="806472" cy="245011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NOC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中心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5B888B7-4114-406C-A6A5-1F213B3A95BC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V="1">
            <a:off x="1371958" y="3899331"/>
            <a:ext cx="765249" cy="1311511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Dot"/>
            <a:miter lim="800000"/>
          </a:ln>
          <a:effectLst/>
        </p:spPr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C8696FF-845E-41CB-A4EE-AEF3C73DB838}"/>
              </a:ext>
            </a:extLst>
          </p:cNvPr>
          <p:cNvSpPr txBox="1"/>
          <p:nvPr/>
        </p:nvSpPr>
        <p:spPr>
          <a:xfrm>
            <a:off x="2078779" y="4101322"/>
            <a:ext cx="1601223" cy="12377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381" indent="-171381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1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OB提供大网及专线连接及远程管理；</a:t>
            </a:r>
            <a:r>
              <a:rPr kumimoji="1"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indent="-171381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1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Evolution Platform提供SD-WAN管理服务及平台；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indent="-171381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CPE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</a:t>
            </a:r>
            <a:endParaRPr kumimoji="1"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880FE272-9D52-4CAA-860A-A46B025F20E7}"/>
              </a:ext>
            </a:extLst>
          </p:cNvPr>
          <p:cNvCxnSpPr>
            <a:cxnSpLocks/>
          </p:cNvCxnSpPr>
          <p:nvPr/>
        </p:nvCxnSpPr>
        <p:spPr>
          <a:xfrm flipV="1">
            <a:off x="4726413" y="3420309"/>
            <a:ext cx="5731618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F86532FF-928E-4F84-A125-DE1663AE57C1}"/>
              </a:ext>
            </a:extLst>
          </p:cNvPr>
          <p:cNvCxnSpPr>
            <a:cxnSpLocks/>
          </p:cNvCxnSpPr>
          <p:nvPr/>
        </p:nvCxnSpPr>
        <p:spPr>
          <a:xfrm flipV="1">
            <a:off x="4726413" y="4704438"/>
            <a:ext cx="5731618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F27D6D77-D0D1-4E45-8DCE-5E6E1FF2DBB4}"/>
              </a:ext>
            </a:extLst>
          </p:cNvPr>
          <p:cNvCxnSpPr>
            <a:cxnSpLocks/>
          </p:cNvCxnSpPr>
          <p:nvPr/>
        </p:nvCxnSpPr>
        <p:spPr>
          <a:xfrm flipV="1">
            <a:off x="5806726" y="2365533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ABC4F8A2-8FD6-4597-8583-C48DEBC91C7F}"/>
              </a:ext>
            </a:extLst>
          </p:cNvPr>
          <p:cNvCxnSpPr>
            <a:cxnSpLocks/>
          </p:cNvCxnSpPr>
          <p:nvPr/>
        </p:nvCxnSpPr>
        <p:spPr>
          <a:xfrm flipV="1">
            <a:off x="8249957" y="2365533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895DDD7-7106-4398-8805-16FBED6F05EA}"/>
              </a:ext>
            </a:extLst>
          </p:cNvPr>
          <p:cNvSpPr txBox="1"/>
          <p:nvPr/>
        </p:nvSpPr>
        <p:spPr>
          <a:xfrm>
            <a:off x="4114374" y="2192371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通过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Catalog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方式提供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C8C8FDD-7D4C-4F3E-A97E-219C007173F2}"/>
              </a:ext>
            </a:extLst>
          </p:cNvPr>
          <p:cNvSpPr txBox="1"/>
          <p:nvPr/>
        </p:nvSpPr>
        <p:spPr>
          <a:xfrm>
            <a:off x="5834500" y="2192371"/>
            <a:ext cx="2394523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提供的产品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F407B99-0294-48F1-984F-A0DC239DD71E}"/>
              </a:ext>
            </a:extLst>
          </p:cNvPr>
          <p:cNvSpPr txBox="1"/>
          <p:nvPr/>
        </p:nvSpPr>
        <p:spPr>
          <a:xfrm>
            <a:off x="8256796" y="2192371"/>
            <a:ext cx="2526592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的份额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DCD9FBC-AB14-4926-A537-DE5C09B17460}"/>
              </a:ext>
            </a:extLst>
          </p:cNvPr>
          <p:cNvSpPr txBox="1"/>
          <p:nvPr/>
        </p:nvSpPr>
        <p:spPr>
          <a:xfrm>
            <a:off x="4337338" y="2626937"/>
            <a:ext cx="1320443" cy="47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Business VPN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设备空间：70M$（估）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35EA4D7-B5B9-46EF-91EB-073B768204AF}"/>
              </a:ext>
            </a:extLst>
          </p:cNvPr>
          <p:cNvSpPr txBox="1"/>
          <p:nvPr/>
        </p:nvSpPr>
        <p:spPr>
          <a:xfrm>
            <a:off x="4337337" y="3811770"/>
            <a:ext cx="1320443" cy="690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Flexible SD-WAN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设备空间：80M$（估）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Evolution Platform管理平台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899D09A-3122-4813-A596-A517E1ABE6E8}"/>
              </a:ext>
            </a:extLst>
          </p:cNvPr>
          <p:cNvSpPr txBox="1"/>
          <p:nvPr/>
        </p:nvSpPr>
        <p:spPr>
          <a:xfrm>
            <a:off x="4390585" y="4915692"/>
            <a:ext cx="1320443" cy="983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Connect Express（SME）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设备空间：30M$（估）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针对SME与分支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C35958D-DC99-4D0F-8854-31F9AABDB7F7}"/>
              </a:ext>
            </a:extLst>
          </p:cNvPr>
          <p:cNvSpPr txBox="1"/>
          <p:nvPr/>
        </p:nvSpPr>
        <p:spPr>
          <a:xfrm>
            <a:off x="6006379" y="2554974"/>
            <a:ext cx="2043925" cy="6768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高端企业级路由器：Cisco ASR/C8000；Juniper MX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中低端路由器：OneAccess（Ekinops，法国本土）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5A6AAAA-1DC3-48FE-BDDE-AE5AE7885AD7}"/>
              </a:ext>
            </a:extLst>
          </p:cNvPr>
          <p:cNvSpPr/>
          <p:nvPr/>
        </p:nvSpPr>
        <p:spPr>
          <a:xfrm>
            <a:off x="8778946" y="2554975"/>
            <a:ext cx="167764" cy="57040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0EE0EA5-3A36-4E94-B8C7-429EBBFFE9E3}"/>
              </a:ext>
            </a:extLst>
          </p:cNvPr>
          <p:cNvSpPr txBox="1"/>
          <p:nvPr/>
        </p:nvSpPr>
        <p:spPr>
          <a:xfrm>
            <a:off x="8515247" y="3125376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2B3DA9F-4C9D-4222-A1B3-C2C35F058BBD}"/>
              </a:ext>
            </a:extLst>
          </p:cNvPr>
          <p:cNvSpPr txBox="1"/>
          <p:nvPr/>
        </p:nvSpPr>
        <p:spPr>
          <a:xfrm>
            <a:off x="10115147" y="311814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Juniper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38B208C-1D80-4456-8210-062FA28B31FC}"/>
              </a:ext>
            </a:extLst>
          </p:cNvPr>
          <p:cNvSpPr/>
          <p:nvPr/>
        </p:nvSpPr>
        <p:spPr>
          <a:xfrm>
            <a:off x="10439454" y="2935664"/>
            <a:ext cx="167764" cy="185215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36AD328-DADA-4E09-9F75-BAA580E641C7}"/>
              </a:ext>
            </a:extLst>
          </p:cNvPr>
          <p:cNvSpPr txBox="1"/>
          <p:nvPr/>
        </p:nvSpPr>
        <p:spPr>
          <a:xfrm>
            <a:off x="9289556" y="3122644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OneAccess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114CCC4-31C8-4807-949B-5F7C8840099F}"/>
              </a:ext>
            </a:extLst>
          </p:cNvPr>
          <p:cNvSpPr/>
          <p:nvPr/>
        </p:nvSpPr>
        <p:spPr>
          <a:xfrm>
            <a:off x="9616073" y="2673218"/>
            <a:ext cx="163342" cy="452157"/>
          </a:xfrm>
          <a:prstGeom prst="rect">
            <a:avLst/>
          </a:prstGeom>
          <a:solidFill>
            <a:srgbClr val="30B5C5">
              <a:lumMod val="7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EB19870-E9C3-463D-A089-8D05353D03A7}"/>
              </a:ext>
            </a:extLst>
          </p:cNvPr>
          <p:cNvSpPr txBox="1"/>
          <p:nvPr/>
        </p:nvSpPr>
        <p:spPr>
          <a:xfrm>
            <a:off x="10115146" y="26732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98EFC6F-8011-4B10-ABFB-D1567879A4C7}"/>
              </a:ext>
            </a:extLst>
          </p:cNvPr>
          <p:cNvSpPr txBox="1"/>
          <p:nvPr/>
        </p:nvSpPr>
        <p:spPr>
          <a:xfrm>
            <a:off x="9289556" y="244228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D303813E-9949-45B6-A286-0F5F8B851C9D}"/>
              </a:ext>
            </a:extLst>
          </p:cNvPr>
          <p:cNvSpPr txBox="1"/>
          <p:nvPr/>
        </p:nvSpPr>
        <p:spPr>
          <a:xfrm>
            <a:off x="8637128" y="2329601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35M$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3A97346-21EB-4183-9E83-81D03FA61127}"/>
              </a:ext>
            </a:extLst>
          </p:cNvPr>
          <p:cNvSpPr txBox="1"/>
          <p:nvPr/>
        </p:nvSpPr>
        <p:spPr>
          <a:xfrm>
            <a:off x="6006379" y="3704835"/>
            <a:ext cx="2043925" cy="8460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SD-WAN CPE：FortiGate；Cisco Catalyst SD-WAN；VMware VeloCloud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SASE CPE：Netskope / Palo Alto / Fortinet</a:t>
            </a: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5G CPE：Ericsson Cradlepoint（估）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C3369B47-36EB-4814-AFFC-01185B5866A3}"/>
              </a:ext>
            </a:extLst>
          </p:cNvPr>
          <p:cNvCxnSpPr>
            <a:cxnSpLocks/>
          </p:cNvCxnSpPr>
          <p:nvPr/>
        </p:nvCxnSpPr>
        <p:spPr>
          <a:xfrm>
            <a:off x="8449611" y="3115235"/>
            <a:ext cx="2356786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28" name="矩形 127">
            <a:extLst>
              <a:ext uri="{FF2B5EF4-FFF2-40B4-BE49-F238E27FC236}">
                <a16:creationId xmlns:a16="http://schemas.microsoft.com/office/drawing/2014/main" id="{03C03BBE-420C-4C5E-8838-4919D223F431}"/>
              </a:ext>
            </a:extLst>
          </p:cNvPr>
          <p:cNvSpPr/>
          <p:nvPr/>
        </p:nvSpPr>
        <p:spPr>
          <a:xfrm>
            <a:off x="8799967" y="3850739"/>
            <a:ext cx="167764" cy="570401"/>
          </a:xfrm>
          <a:prstGeom prst="rect">
            <a:avLst/>
          </a:prstGeom>
          <a:solidFill>
            <a:srgbClr val="ED6D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CB4A5C2-CBA0-4842-A9BF-40D48BAFDF18}"/>
              </a:ext>
            </a:extLst>
          </p:cNvPr>
          <p:cNvSpPr txBox="1"/>
          <p:nvPr/>
        </p:nvSpPr>
        <p:spPr>
          <a:xfrm>
            <a:off x="8536268" y="4421141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Fortinet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0A162C6-6744-41BE-8045-020C9D33127E}"/>
              </a:ext>
            </a:extLst>
          </p:cNvPr>
          <p:cNvSpPr txBox="1"/>
          <p:nvPr/>
        </p:nvSpPr>
        <p:spPr>
          <a:xfrm>
            <a:off x="9546093" y="441391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4A301E95-C294-407E-B1B2-2F2430A2C3C3}"/>
              </a:ext>
            </a:extLst>
          </p:cNvPr>
          <p:cNvSpPr/>
          <p:nvPr/>
        </p:nvSpPr>
        <p:spPr>
          <a:xfrm>
            <a:off x="9870400" y="4231429"/>
            <a:ext cx="167764" cy="185215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F1237CC-FC53-476D-A120-87CA08E96504}"/>
              </a:ext>
            </a:extLst>
          </p:cNvPr>
          <p:cNvSpPr txBox="1"/>
          <p:nvPr/>
        </p:nvSpPr>
        <p:spPr>
          <a:xfrm>
            <a:off x="9015539" y="441840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VMware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3CFDA4D-8627-4CC1-ABE8-976F8369A08C}"/>
              </a:ext>
            </a:extLst>
          </p:cNvPr>
          <p:cNvSpPr/>
          <p:nvPr/>
        </p:nvSpPr>
        <p:spPr>
          <a:xfrm>
            <a:off x="9342056" y="3968983"/>
            <a:ext cx="163342" cy="452157"/>
          </a:xfrm>
          <a:prstGeom prst="rect">
            <a:avLst/>
          </a:prstGeom>
          <a:solidFill>
            <a:srgbClr val="30B5C5">
              <a:lumMod val="7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968055A-BD57-4F29-B450-149680E564DC}"/>
              </a:ext>
            </a:extLst>
          </p:cNvPr>
          <p:cNvSpPr txBox="1"/>
          <p:nvPr/>
        </p:nvSpPr>
        <p:spPr>
          <a:xfrm>
            <a:off x="9546092" y="3968984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58BF5B0-D5EA-4314-961D-1EDA91ACF91E}"/>
              </a:ext>
            </a:extLst>
          </p:cNvPr>
          <p:cNvSpPr txBox="1"/>
          <p:nvPr/>
        </p:nvSpPr>
        <p:spPr>
          <a:xfrm>
            <a:off x="9015539" y="373805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1882D1A0-202D-4C1D-99B3-361BE7E371C4}"/>
              </a:ext>
            </a:extLst>
          </p:cNvPr>
          <p:cNvCxnSpPr>
            <a:cxnSpLocks/>
          </p:cNvCxnSpPr>
          <p:nvPr/>
        </p:nvCxnSpPr>
        <p:spPr>
          <a:xfrm>
            <a:off x="8470632" y="4410999"/>
            <a:ext cx="2356786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7E0792E-6FA0-4643-A8BA-B9BD0AE6E27F}"/>
              </a:ext>
            </a:extLst>
          </p:cNvPr>
          <p:cNvSpPr txBox="1"/>
          <p:nvPr/>
        </p:nvSpPr>
        <p:spPr>
          <a:xfrm>
            <a:off x="8679712" y="3574605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30M$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D8E5C25-8F3B-4192-A069-BDC5A999EFFA}"/>
              </a:ext>
            </a:extLst>
          </p:cNvPr>
          <p:cNvSpPr txBox="1"/>
          <p:nvPr/>
        </p:nvSpPr>
        <p:spPr>
          <a:xfrm>
            <a:off x="9958765" y="4421632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Netskope</a:t>
            </a:r>
            <a:endParaRPr kumimoji="1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C729B91-AA0C-4E87-8028-1A1D9572F620}"/>
              </a:ext>
            </a:extLst>
          </p:cNvPr>
          <p:cNvSpPr/>
          <p:nvPr/>
        </p:nvSpPr>
        <p:spPr>
          <a:xfrm>
            <a:off x="10283072" y="4239148"/>
            <a:ext cx="167764" cy="185215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0C45A2A-812E-4FFC-8DD9-783066C91ABC}"/>
              </a:ext>
            </a:extLst>
          </p:cNvPr>
          <p:cNvSpPr txBox="1"/>
          <p:nvPr/>
        </p:nvSpPr>
        <p:spPr>
          <a:xfrm>
            <a:off x="9958764" y="397670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3M$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7300ADE-0CCD-4CC4-B2D9-F08D9D26F9A9}"/>
              </a:ext>
            </a:extLst>
          </p:cNvPr>
          <p:cNvSpPr txBox="1"/>
          <p:nvPr/>
        </p:nvSpPr>
        <p:spPr>
          <a:xfrm>
            <a:off x="10365644" y="442934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其他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2C65736-C4C7-49CB-BE7A-1A6D0364F6DB}"/>
              </a:ext>
            </a:extLst>
          </p:cNvPr>
          <p:cNvSpPr/>
          <p:nvPr/>
        </p:nvSpPr>
        <p:spPr>
          <a:xfrm>
            <a:off x="10689951" y="4246864"/>
            <a:ext cx="167764" cy="185215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EAE6853-222A-44BD-9DB9-65BB52636910}"/>
              </a:ext>
            </a:extLst>
          </p:cNvPr>
          <p:cNvSpPr txBox="1"/>
          <p:nvPr/>
        </p:nvSpPr>
        <p:spPr>
          <a:xfrm>
            <a:off x="10365643" y="39844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B053A482-AA31-427F-A9E0-294DF2A444BE}"/>
              </a:ext>
            </a:extLst>
          </p:cNvPr>
          <p:cNvSpPr txBox="1"/>
          <p:nvPr/>
        </p:nvSpPr>
        <p:spPr>
          <a:xfrm>
            <a:off x="5980310" y="5112544"/>
            <a:ext cx="2043925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ONT：Livebox Pro（Orange自有品牌）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00DF1BA7-F8A8-4F7C-928E-B6196CAB1E2E}"/>
              </a:ext>
            </a:extLst>
          </p:cNvPr>
          <p:cNvSpPr/>
          <p:nvPr/>
        </p:nvSpPr>
        <p:spPr>
          <a:xfrm>
            <a:off x="8831447" y="5067222"/>
            <a:ext cx="167764" cy="57040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B770E65-8A7B-45EE-BD93-AD10AC3880B0}"/>
              </a:ext>
            </a:extLst>
          </p:cNvPr>
          <p:cNvSpPr txBox="1"/>
          <p:nvPr/>
        </p:nvSpPr>
        <p:spPr>
          <a:xfrm>
            <a:off x="8567748" y="5637624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Livebox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D0DDF169-DA78-4B3B-A068-F7551A2B74BB}"/>
              </a:ext>
            </a:extLst>
          </p:cNvPr>
          <p:cNvSpPr txBox="1"/>
          <p:nvPr/>
        </p:nvSpPr>
        <p:spPr>
          <a:xfrm>
            <a:off x="8689628" y="4841849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30M$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7811E795-47B9-461A-98E2-705D9E33DF05}"/>
              </a:ext>
            </a:extLst>
          </p:cNvPr>
          <p:cNvCxnSpPr>
            <a:cxnSpLocks/>
          </p:cNvCxnSpPr>
          <p:nvPr/>
        </p:nvCxnSpPr>
        <p:spPr>
          <a:xfrm>
            <a:off x="8502111" y="5627482"/>
            <a:ext cx="863663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15C23D7-DFDA-4044-9D8F-653AE48E99F1}"/>
              </a:ext>
            </a:extLst>
          </p:cNvPr>
          <p:cNvSpPr txBox="1"/>
          <p:nvPr/>
        </p:nvSpPr>
        <p:spPr>
          <a:xfrm>
            <a:off x="9462195" y="5661726"/>
            <a:ext cx="1729731" cy="3905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自研品牌系列，Livebox S（Wi-Fi 7）已于2024年商用</a:t>
            </a: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0" name="图片 149">
            <a:extLst>
              <a:ext uri="{FF2B5EF4-FFF2-40B4-BE49-F238E27FC236}">
                <a16:creationId xmlns:a16="http://schemas.microsoft.com/office/drawing/2014/main" id="{77411A28-956B-4C54-82D4-861555040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950" y="4990020"/>
            <a:ext cx="673309" cy="66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7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4" y="121055"/>
            <a:ext cx="11741675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LAN管理服务：OB以Managed LAN升级传统托管，当前Cisco/HPE/Fortinet入围为主</a:t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 err="1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7BAB785-24EF-4063-BE58-044623745072}"/>
              </a:ext>
            </a:extLst>
          </p:cNvPr>
          <p:cNvSpPr txBox="1"/>
          <p:nvPr/>
        </p:nvSpPr>
        <p:spPr>
          <a:xfrm>
            <a:off x="652816" y="1920608"/>
            <a:ext cx="4698384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>年收入约300M€（估算）</a:t>
            </a:r>
            <a:r>
              <a: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/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30851E7-A29C-4A27-86F2-C3E46AD060E0}"/>
              </a:ext>
            </a:extLst>
          </p:cNvPr>
          <p:cNvSpPr txBox="1"/>
          <p:nvPr/>
        </p:nvSpPr>
        <p:spPr>
          <a:xfrm>
            <a:off x="685983" y="1587636"/>
            <a:ext cx="4665216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LAN 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Managed Service</a:t>
            </a:r>
          </a:p>
        </p:txBody>
      </p:sp>
      <p:sp>
        <p:nvSpPr>
          <p:cNvPr id="194" name="Rounded Rectangle 75">
            <a:extLst>
              <a:ext uri="{FF2B5EF4-FFF2-40B4-BE49-F238E27FC236}">
                <a16:creationId xmlns:a16="http://schemas.microsoft.com/office/drawing/2014/main" id="{26CB6307-1BDF-4370-8CBB-5AB9AE8B219D}"/>
              </a:ext>
            </a:extLst>
          </p:cNvPr>
          <p:cNvSpPr/>
          <p:nvPr/>
        </p:nvSpPr>
        <p:spPr>
          <a:xfrm>
            <a:off x="666255" y="1449268"/>
            <a:ext cx="4684945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E751FAA4-FE1F-4065-B49E-C43FB51FAD40}"/>
              </a:ext>
            </a:extLst>
          </p:cNvPr>
          <p:cNvSpPr/>
          <p:nvPr/>
        </p:nvSpPr>
        <p:spPr>
          <a:xfrm>
            <a:off x="1237893" y="3324368"/>
            <a:ext cx="866190" cy="240302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NOC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中心</a:t>
            </a:r>
          </a:p>
        </p:txBody>
      </p: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D48C394C-C29D-4786-953F-79B0C4804399}"/>
              </a:ext>
            </a:extLst>
          </p:cNvPr>
          <p:cNvCxnSpPr>
            <a:cxnSpLocks/>
            <a:stCxn id="195" idx="2"/>
            <a:endCxn id="198" idx="0"/>
          </p:cNvCxnSpPr>
          <p:nvPr/>
        </p:nvCxnSpPr>
        <p:spPr>
          <a:xfrm flipH="1">
            <a:off x="1237893" y="3564670"/>
            <a:ext cx="433095" cy="1170292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"/>
            <a:miter lim="800000"/>
          </a:ln>
          <a:effectLst/>
        </p:spPr>
      </p:cxnSp>
      <p:sp>
        <p:nvSpPr>
          <p:cNvPr id="197" name="矩形 196">
            <a:extLst>
              <a:ext uri="{FF2B5EF4-FFF2-40B4-BE49-F238E27FC236}">
                <a16:creationId xmlns:a16="http://schemas.microsoft.com/office/drawing/2014/main" id="{D5ED07F8-2D0F-4A1C-90FA-8B50B10023FD}"/>
              </a:ext>
            </a:extLst>
          </p:cNvPr>
          <p:cNvSpPr/>
          <p:nvPr/>
        </p:nvSpPr>
        <p:spPr>
          <a:xfrm>
            <a:off x="652816" y="3633142"/>
            <a:ext cx="843851" cy="502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远程</a:t>
            </a:r>
            <a:endParaRPr kumimoji="0" lang="en-US" altLang="zh-CN" sz="105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集中管理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B9003B4E-9C30-4CDD-B90B-8BBCBC91B190}"/>
              </a:ext>
            </a:extLst>
          </p:cNvPr>
          <p:cNvSpPr/>
          <p:nvPr/>
        </p:nvSpPr>
        <p:spPr>
          <a:xfrm>
            <a:off x="685983" y="4734962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交换机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1D57C31F-5740-4B8F-89B1-CF4580793B36}"/>
              </a:ext>
            </a:extLst>
          </p:cNvPr>
          <p:cNvSpPr/>
          <p:nvPr/>
        </p:nvSpPr>
        <p:spPr>
          <a:xfrm>
            <a:off x="1599890" y="4734962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WLAN AP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0" name="流程图: 过程 199">
            <a:extLst>
              <a:ext uri="{FF2B5EF4-FFF2-40B4-BE49-F238E27FC236}">
                <a16:creationId xmlns:a16="http://schemas.microsoft.com/office/drawing/2014/main" id="{AE3F3F5D-420E-44EA-B59C-12970BBD30A2}"/>
              </a:ext>
            </a:extLst>
          </p:cNvPr>
          <p:cNvSpPr/>
          <p:nvPr/>
        </p:nvSpPr>
        <p:spPr>
          <a:xfrm>
            <a:off x="816624" y="4706359"/>
            <a:ext cx="732229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1" name="流程图: 过程 200">
            <a:extLst>
              <a:ext uri="{FF2B5EF4-FFF2-40B4-BE49-F238E27FC236}">
                <a16:creationId xmlns:a16="http://schemas.microsoft.com/office/drawing/2014/main" id="{44220383-1BDE-4354-AC4D-83F5BEA83918}"/>
              </a:ext>
            </a:extLst>
          </p:cNvPr>
          <p:cNvSpPr/>
          <p:nvPr/>
        </p:nvSpPr>
        <p:spPr>
          <a:xfrm>
            <a:off x="1686682" y="4706359"/>
            <a:ext cx="866190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B15C65CE-E320-4080-B244-B478CF456BCE}"/>
              </a:ext>
            </a:extLst>
          </p:cNvPr>
          <p:cNvCxnSpPr>
            <a:cxnSpLocks/>
            <a:stCxn id="195" idx="2"/>
            <a:endCxn id="199" idx="0"/>
          </p:cNvCxnSpPr>
          <p:nvPr/>
        </p:nvCxnSpPr>
        <p:spPr>
          <a:xfrm>
            <a:off x="1670988" y="3564670"/>
            <a:ext cx="480812" cy="1170292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"/>
            <a:miter lim="800000"/>
          </a:ln>
          <a:effectLst/>
        </p:spPr>
      </p:cxn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7DA920AE-0C73-4185-A40E-FF27E65D4C9A}"/>
              </a:ext>
            </a:extLst>
          </p:cNvPr>
          <p:cNvGrpSpPr/>
          <p:nvPr/>
        </p:nvGrpSpPr>
        <p:grpSpPr>
          <a:xfrm>
            <a:off x="2799235" y="4168332"/>
            <a:ext cx="2127259" cy="1633966"/>
            <a:chOff x="2779903" y="2431347"/>
            <a:chExt cx="2128090" cy="1634604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C97C63E2-DF17-48C0-B9BD-6CC3C2E6A3DE}"/>
                </a:ext>
              </a:extLst>
            </p:cNvPr>
            <p:cNvSpPr/>
            <p:nvPr/>
          </p:nvSpPr>
          <p:spPr>
            <a:xfrm>
              <a:off x="2779903" y="2431347"/>
              <a:ext cx="2128090" cy="10979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模式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2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LAN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托管服务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381" marR="0" lvl="0" indent="-171381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OB通过多厂商网管平台，提供异厂商设备的统一SNMP集中管理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E95F322E-9FED-4C72-ACBE-343F40C10F0C}"/>
                </a:ext>
              </a:extLst>
            </p:cNvPr>
            <p:cNvGrpSpPr/>
            <p:nvPr/>
          </p:nvGrpSpPr>
          <p:grpSpPr>
            <a:xfrm>
              <a:off x="2779903" y="3484779"/>
              <a:ext cx="2128090" cy="581172"/>
              <a:chOff x="2718012" y="3496025"/>
              <a:chExt cx="2128090" cy="713119"/>
            </a:xfrm>
          </p:grpSpPr>
          <p:sp>
            <p:nvSpPr>
              <p:cNvPr id="206" name="客户经理1 Account Manager 1">
                <a:extLst>
                  <a:ext uri="{FF2B5EF4-FFF2-40B4-BE49-F238E27FC236}">
                    <a16:creationId xmlns:a16="http://schemas.microsoft.com/office/drawing/2014/main" id="{14A8E724-ABE2-45F3-983C-2832E06260CC}"/>
                  </a:ext>
                </a:extLst>
              </p:cNvPr>
              <p:cNvSpPr/>
              <p:nvPr/>
            </p:nvSpPr>
            <p:spPr>
              <a:xfrm>
                <a:off x="3222122" y="3592745"/>
                <a:ext cx="202936" cy="244486"/>
              </a:xfrm>
              <a:custGeom>
                <a:avLst/>
                <a:gdLst>
                  <a:gd name="connsiteX0" fmla="*/ 363665 w 759905"/>
                  <a:gd name="connsiteY0" fmla="*/ 499863 h 1080330"/>
                  <a:gd name="connsiteX1" fmla="*/ 338432 w 759905"/>
                  <a:gd name="connsiteY1" fmla="*/ 842658 h 1080330"/>
                  <a:gd name="connsiteX2" fmla="*/ 338043 w 759905"/>
                  <a:gd name="connsiteY2" fmla="*/ 842287 h 1080330"/>
                  <a:gd name="connsiteX3" fmla="*/ 338424 w 759905"/>
                  <a:gd name="connsiteY3" fmla="*/ 842763 h 1080330"/>
                  <a:gd name="connsiteX4" fmla="*/ 338432 w 759905"/>
                  <a:gd name="connsiteY4" fmla="*/ 842658 h 1080330"/>
                  <a:gd name="connsiteX5" fmla="*/ 381001 w 759905"/>
                  <a:gd name="connsiteY5" fmla="*/ 883244 h 1080330"/>
                  <a:gd name="connsiteX6" fmla="*/ 423959 w 759905"/>
                  <a:gd name="connsiteY6" fmla="*/ 842287 h 1080330"/>
                  <a:gd name="connsiteX7" fmla="*/ 396527 w 759905"/>
                  <a:gd name="connsiteY7" fmla="*/ 499863 h 1080330"/>
                  <a:gd name="connsiteX8" fmla="*/ 381000 w 759905"/>
                  <a:gd name="connsiteY8" fmla="*/ 413852 h 1080330"/>
                  <a:gd name="connsiteX9" fmla="*/ 354804 w 759905"/>
                  <a:gd name="connsiteY9" fmla="*/ 416394 h 1080330"/>
                  <a:gd name="connsiteX10" fmla="*/ 346712 w 759905"/>
                  <a:gd name="connsiteY10" fmla="*/ 433284 h 1080330"/>
                  <a:gd name="connsiteX11" fmla="*/ 377479 w 759905"/>
                  <a:gd name="connsiteY11" fmla="*/ 467573 h 1080330"/>
                  <a:gd name="connsiteX12" fmla="*/ 381001 w 759905"/>
                  <a:gd name="connsiteY12" fmla="*/ 467573 h 1080330"/>
                  <a:gd name="connsiteX13" fmla="*/ 415289 w 759905"/>
                  <a:gd name="connsiteY13" fmla="*/ 436806 h 1080330"/>
                  <a:gd name="connsiteX14" fmla="*/ 408143 w 759905"/>
                  <a:gd name="connsiteY14" fmla="*/ 416515 h 1080330"/>
                  <a:gd name="connsiteX15" fmla="*/ 381000 w 759905"/>
                  <a:gd name="connsiteY15" fmla="*/ 368132 h 1080330"/>
                  <a:gd name="connsiteX16" fmla="*/ 759905 w 759905"/>
                  <a:gd name="connsiteY16" fmla="*/ 716176 h 1080330"/>
                  <a:gd name="connsiteX17" fmla="*/ 759905 w 759905"/>
                  <a:gd name="connsiteY17" fmla="*/ 1028596 h 1080330"/>
                  <a:gd name="connsiteX18" fmla="*/ 737236 w 759905"/>
                  <a:gd name="connsiteY18" fmla="*/ 1051456 h 1080330"/>
                  <a:gd name="connsiteX19" fmla="*/ 737045 w 759905"/>
                  <a:gd name="connsiteY19" fmla="*/ 1051456 h 1080330"/>
                  <a:gd name="connsiteX20" fmla="*/ 645890 w 759905"/>
                  <a:gd name="connsiteY20" fmla="*/ 1051456 h 1080330"/>
                  <a:gd name="connsiteX21" fmla="*/ 622935 w 759905"/>
                  <a:gd name="connsiteY21" fmla="*/ 1028691 h 1080330"/>
                  <a:gd name="connsiteX22" fmla="*/ 622935 w 759905"/>
                  <a:gd name="connsiteY22" fmla="*/ 1028596 h 1080330"/>
                  <a:gd name="connsiteX23" fmla="*/ 622935 w 759905"/>
                  <a:gd name="connsiteY23" fmla="*/ 731416 h 1080330"/>
                  <a:gd name="connsiteX24" fmla="*/ 607695 w 759905"/>
                  <a:gd name="connsiteY24" fmla="*/ 731416 h 1080330"/>
                  <a:gd name="connsiteX25" fmla="*/ 607695 w 759905"/>
                  <a:gd name="connsiteY25" fmla="*/ 1028596 h 1080330"/>
                  <a:gd name="connsiteX26" fmla="*/ 585026 w 759905"/>
                  <a:gd name="connsiteY26" fmla="*/ 1051456 h 1080330"/>
                  <a:gd name="connsiteX27" fmla="*/ 584835 w 759905"/>
                  <a:gd name="connsiteY27" fmla="*/ 1051456 h 1080330"/>
                  <a:gd name="connsiteX28" fmla="*/ 529849 w 759905"/>
                  <a:gd name="connsiteY28" fmla="*/ 1051456 h 1080330"/>
                  <a:gd name="connsiteX29" fmla="*/ 522907 w 759905"/>
                  <a:gd name="connsiteY29" fmla="*/ 1062915 h 1080330"/>
                  <a:gd name="connsiteX30" fmla="*/ 486189 w 759905"/>
                  <a:gd name="connsiteY30" fmla="*/ 1080254 h 1080330"/>
                  <a:gd name="connsiteX31" fmla="*/ 483584 w 759905"/>
                  <a:gd name="connsiteY31" fmla="*/ 1080317 h 1080330"/>
                  <a:gd name="connsiteX32" fmla="*/ 430625 w 759905"/>
                  <a:gd name="connsiteY32" fmla="*/ 1029834 h 1080330"/>
                  <a:gd name="connsiteX33" fmla="*/ 430626 w 759905"/>
                  <a:gd name="connsiteY33" fmla="*/ 1029834 h 1080330"/>
                  <a:gd name="connsiteX34" fmla="*/ 481046 w 759905"/>
                  <a:gd name="connsiteY34" fmla="*/ 974271 h 1080330"/>
                  <a:gd name="connsiteX35" fmla="*/ 531444 w 759905"/>
                  <a:gd name="connsiteY35" fmla="*/ 1004266 h 1080330"/>
                  <a:gd name="connsiteX36" fmla="*/ 531815 w 759905"/>
                  <a:gd name="connsiteY36" fmla="*/ 1005736 h 1080330"/>
                  <a:gd name="connsiteX37" fmla="*/ 561975 w 759905"/>
                  <a:gd name="connsiteY37" fmla="*/ 1005736 h 1080330"/>
                  <a:gd name="connsiteX38" fmla="*/ 561975 w 759905"/>
                  <a:gd name="connsiteY38" fmla="*/ 708555 h 1080330"/>
                  <a:gd name="connsiteX39" fmla="*/ 584644 w 759905"/>
                  <a:gd name="connsiteY39" fmla="*/ 685695 h 1080330"/>
                  <a:gd name="connsiteX40" fmla="*/ 584835 w 759905"/>
                  <a:gd name="connsiteY40" fmla="*/ 685695 h 1080330"/>
                  <a:gd name="connsiteX41" fmla="*/ 645890 w 759905"/>
                  <a:gd name="connsiteY41" fmla="*/ 685696 h 1080330"/>
                  <a:gd name="connsiteX42" fmla="*/ 668750 w 759905"/>
                  <a:gd name="connsiteY42" fmla="*/ 708365 h 1080330"/>
                  <a:gd name="connsiteX43" fmla="*/ 668750 w 759905"/>
                  <a:gd name="connsiteY43" fmla="*/ 708556 h 1080330"/>
                  <a:gd name="connsiteX44" fmla="*/ 668750 w 759905"/>
                  <a:gd name="connsiteY44" fmla="*/ 1005736 h 1080330"/>
                  <a:gd name="connsiteX45" fmla="*/ 714375 w 759905"/>
                  <a:gd name="connsiteY45" fmla="*/ 1005736 h 1080330"/>
                  <a:gd name="connsiteX46" fmla="*/ 714375 w 759905"/>
                  <a:gd name="connsiteY46" fmla="*/ 716176 h 1080330"/>
                  <a:gd name="connsiteX47" fmla="*/ 446519 w 759905"/>
                  <a:gd name="connsiteY47" fmla="*/ 420279 h 1080330"/>
                  <a:gd name="connsiteX48" fmla="*/ 445326 w 759905"/>
                  <a:gd name="connsiteY48" fmla="*/ 420162 h 1080330"/>
                  <a:gd name="connsiteX49" fmla="*/ 448268 w 759905"/>
                  <a:gd name="connsiteY49" fmla="*/ 430499 h 1080330"/>
                  <a:gd name="connsiteX50" fmla="*/ 433445 w 759905"/>
                  <a:gd name="connsiteY50" fmla="*/ 476044 h 1080330"/>
                  <a:gd name="connsiteX51" fmla="*/ 425445 w 759905"/>
                  <a:gd name="connsiteY51" fmla="*/ 480115 h 1080330"/>
                  <a:gd name="connsiteX52" fmla="*/ 426919 w 759905"/>
                  <a:gd name="connsiteY52" fmla="*/ 483361 h 1080330"/>
                  <a:gd name="connsiteX53" fmla="*/ 426911 w 759905"/>
                  <a:gd name="connsiteY53" fmla="*/ 484528 h 1080330"/>
                  <a:gd name="connsiteX54" fmla="*/ 454725 w 759905"/>
                  <a:gd name="connsiteY54" fmla="*/ 844858 h 1080330"/>
                  <a:gd name="connsiteX55" fmla="*/ 449676 w 759905"/>
                  <a:gd name="connsiteY55" fmla="*/ 857622 h 1080330"/>
                  <a:gd name="connsiteX56" fmla="*/ 391478 w 759905"/>
                  <a:gd name="connsiteY56" fmla="*/ 916867 h 1080330"/>
                  <a:gd name="connsiteX57" fmla="*/ 381382 w 759905"/>
                  <a:gd name="connsiteY57" fmla="*/ 922011 h 1080330"/>
                  <a:gd name="connsiteX58" fmla="*/ 381001 w 759905"/>
                  <a:gd name="connsiteY58" fmla="*/ 921535 h 1080330"/>
                  <a:gd name="connsiteX59" fmla="*/ 368428 w 759905"/>
                  <a:gd name="connsiteY59" fmla="*/ 916391 h 1080330"/>
                  <a:gd name="connsiteX60" fmla="*/ 310230 w 759905"/>
                  <a:gd name="connsiteY60" fmla="*/ 860194 h 1080330"/>
                  <a:gd name="connsiteX61" fmla="*/ 305182 w 759905"/>
                  <a:gd name="connsiteY61" fmla="*/ 847430 h 1080330"/>
                  <a:gd name="connsiteX62" fmla="*/ 333376 w 759905"/>
                  <a:gd name="connsiteY62" fmla="*/ 484528 h 1080330"/>
                  <a:gd name="connsiteX63" fmla="*/ 335226 w 759905"/>
                  <a:gd name="connsiteY63" fmla="*/ 482655 h 1080330"/>
                  <a:gd name="connsiteX64" fmla="*/ 320535 w 759905"/>
                  <a:gd name="connsiteY64" fmla="*/ 464159 h 1080330"/>
                  <a:gd name="connsiteX65" fmla="*/ 313733 w 759905"/>
                  <a:gd name="connsiteY65" fmla="*/ 440258 h 1080330"/>
                  <a:gd name="connsiteX66" fmla="*/ 316182 w 759905"/>
                  <a:gd name="connsiteY66" fmla="*/ 420141 h 1080330"/>
                  <a:gd name="connsiteX67" fmla="*/ 314758 w 759905"/>
                  <a:gd name="connsiteY67" fmla="*/ 420279 h 1080330"/>
                  <a:gd name="connsiteX68" fmla="*/ 45434 w 759905"/>
                  <a:gd name="connsiteY68" fmla="*/ 716176 h 1080330"/>
                  <a:gd name="connsiteX69" fmla="*/ 45434 w 759905"/>
                  <a:gd name="connsiteY69" fmla="*/ 1005736 h 1080330"/>
                  <a:gd name="connsiteX70" fmla="*/ 91154 w 759905"/>
                  <a:gd name="connsiteY70" fmla="*/ 1005736 h 1080330"/>
                  <a:gd name="connsiteX71" fmla="*/ 91154 w 759905"/>
                  <a:gd name="connsiteY71" fmla="*/ 708555 h 1080330"/>
                  <a:gd name="connsiteX72" fmla="*/ 113824 w 759905"/>
                  <a:gd name="connsiteY72" fmla="*/ 685695 h 1080330"/>
                  <a:gd name="connsiteX73" fmla="*/ 114014 w 759905"/>
                  <a:gd name="connsiteY73" fmla="*/ 685695 h 1080330"/>
                  <a:gd name="connsiteX74" fmla="*/ 175070 w 759905"/>
                  <a:gd name="connsiteY74" fmla="*/ 685696 h 1080330"/>
                  <a:gd name="connsiteX75" fmla="*/ 197930 w 759905"/>
                  <a:gd name="connsiteY75" fmla="*/ 708365 h 1080330"/>
                  <a:gd name="connsiteX76" fmla="*/ 197930 w 759905"/>
                  <a:gd name="connsiteY76" fmla="*/ 708556 h 1080330"/>
                  <a:gd name="connsiteX77" fmla="*/ 197930 w 759905"/>
                  <a:gd name="connsiteY77" fmla="*/ 1005736 h 1080330"/>
                  <a:gd name="connsiteX78" fmla="*/ 282763 w 759905"/>
                  <a:gd name="connsiteY78" fmla="*/ 1005736 h 1080330"/>
                  <a:gd name="connsiteX79" fmla="*/ 290971 w 759905"/>
                  <a:gd name="connsiteY79" fmla="*/ 992910 h 1080330"/>
                  <a:gd name="connsiteX80" fmla="*/ 327170 w 759905"/>
                  <a:gd name="connsiteY80" fmla="*/ 976890 h 1080330"/>
                  <a:gd name="connsiteX81" fmla="*/ 380114 w 759905"/>
                  <a:gd name="connsiteY81" fmla="*/ 1027358 h 1080330"/>
                  <a:gd name="connsiteX82" fmla="*/ 329646 w 759905"/>
                  <a:gd name="connsiteY82" fmla="*/ 1080302 h 1080330"/>
                  <a:gd name="connsiteX83" fmla="*/ 328423 w 759905"/>
                  <a:gd name="connsiteY83" fmla="*/ 1080317 h 1080330"/>
                  <a:gd name="connsiteX84" fmla="*/ 292120 w 759905"/>
                  <a:gd name="connsiteY84" fmla="*/ 1065774 h 1080330"/>
                  <a:gd name="connsiteX85" fmla="*/ 282208 w 759905"/>
                  <a:gd name="connsiteY85" fmla="*/ 1051456 h 1080330"/>
                  <a:gd name="connsiteX86" fmla="*/ 175451 w 759905"/>
                  <a:gd name="connsiteY86" fmla="*/ 1051456 h 1080330"/>
                  <a:gd name="connsiteX87" fmla="*/ 152591 w 759905"/>
                  <a:gd name="connsiteY87" fmla="*/ 1028786 h 1080330"/>
                  <a:gd name="connsiteX88" fmla="*/ 152591 w 759905"/>
                  <a:gd name="connsiteY88" fmla="*/ 1028595 h 1080330"/>
                  <a:gd name="connsiteX89" fmla="*/ 152591 w 759905"/>
                  <a:gd name="connsiteY89" fmla="*/ 731416 h 1080330"/>
                  <a:gd name="connsiteX90" fmla="*/ 137351 w 759905"/>
                  <a:gd name="connsiteY90" fmla="*/ 731416 h 1080330"/>
                  <a:gd name="connsiteX91" fmla="*/ 137351 w 759905"/>
                  <a:gd name="connsiteY91" fmla="*/ 1028596 h 1080330"/>
                  <a:gd name="connsiteX92" fmla="*/ 114491 w 759905"/>
                  <a:gd name="connsiteY92" fmla="*/ 1051456 h 1080330"/>
                  <a:gd name="connsiteX93" fmla="*/ 114395 w 759905"/>
                  <a:gd name="connsiteY93" fmla="*/ 1051456 h 1080330"/>
                  <a:gd name="connsiteX94" fmla="*/ 22860 w 759905"/>
                  <a:gd name="connsiteY94" fmla="*/ 1051456 h 1080330"/>
                  <a:gd name="connsiteX95" fmla="*/ 0 w 759905"/>
                  <a:gd name="connsiteY95" fmla="*/ 1028786 h 1080330"/>
                  <a:gd name="connsiteX96" fmla="*/ 0 w 759905"/>
                  <a:gd name="connsiteY96" fmla="*/ 1028595 h 1080330"/>
                  <a:gd name="connsiteX97" fmla="*/ 0 w 759905"/>
                  <a:gd name="connsiteY97" fmla="*/ 716176 h 1080330"/>
                  <a:gd name="connsiteX98" fmla="*/ 381000 w 759905"/>
                  <a:gd name="connsiteY98" fmla="*/ 368132 h 1080330"/>
                  <a:gd name="connsiteX99" fmla="*/ 382619 w 759905"/>
                  <a:gd name="connsiteY99" fmla="*/ 48284 h 1080330"/>
                  <a:gd name="connsiteX100" fmla="*/ 247655 w 759905"/>
                  <a:gd name="connsiteY100" fmla="*/ 180000 h 1080330"/>
                  <a:gd name="connsiteX101" fmla="*/ 247650 w 759905"/>
                  <a:gd name="connsiteY101" fmla="*/ 180491 h 1080330"/>
                  <a:gd name="connsiteX102" fmla="*/ 381000 w 759905"/>
                  <a:gd name="connsiteY102" fmla="*/ 313841 h 1080330"/>
                  <a:gd name="connsiteX103" fmla="*/ 514350 w 759905"/>
                  <a:gd name="connsiteY103" fmla="*/ 180491 h 1080330"/>
                  <a:gd name="connsiteX104" fmla="*/ 382619 w 759905"/>
                  <a:gd name="connsiteY104" fmla="*/ 48284 h 1080330"/>
                  <a:gd name="connsiteX105" fmla="*/ 379671 w 759905"/>
                  <a:gd name="connsiteY105" fmla="*/ 4 h 1080330"/>
                  <a:gd name="connsiteX106" fmla="*/ 560157 w 759905"/>
                  <a:gd name="connsiteY106" fmla="*/ 178031 h 1080330"/>
                  <a:gd name="connsiteX107" fmla="*/ 382619 w 759905"/>
                  <a:gd name="connsiteY107" fmla="*/ 358513 h 1080330"/>
                  <a:gd name="connsiteX108" fmla="*/ 201653 w 759905"/>
                  <a:gd name="connsiteY108" fmla="*/ 181552 h 1080330"/>
                  <a:gd name="connsiteX109" fmla="*/ 201644 w 759905"/>
                  <a:gd name="connsiteY109" fmla="*/ 180491 h 1080330"/>
                  <a:gd name="connsiteX110" fmla="*/ 379671 w 759905"/>
                  <a:gd name="connsiteY110" fmla="*/ 4 h 108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759905" h="1080330">
                    <a:moveTo>
                      <a:pt x="363665" y="499863"/>
                    </a:moveTo>
                    <a:lnTo>
                      <a:pt x="338432" y="842658"/>
                    </a:lnTo>
                    <a:lnTo>
                      <a:pt x="338043" y="842287"/>
                    </a:lnTo>
                    <a:lnTo>
                      <a:pt x="338424" y="842763"/>
                    </a:lnTo>
                    <a:lnTo>
                      <a:pt x="338432" y="842658"/>
                    </a:lnTo>
                    <a:lnTo>
                      <a:pt x="381001" y="883244"/>
                    </a:lnTo>
                    <a:lnTo>
                      <a:pt x="423959" y="842287"/>
                    </a:lnTo>
                    <a:lnTo>
                      <a:pt x="396527" y="499863"/>
                    </a:lnTo>
                    <a:close/>
                    <a:moveTo>
                      <a:pt x="381000" y="413852"/>
                    </a:moveTo>
                    <a:lnTo>
                      <a:pt x="354804" y="416394"/>
                    </a:lnTo>
                    <a:lnTo>
                      <a:pt x="346712" y="433284"/>
                    </a:lnTo>
                    <a:cubicBezTo>
                      <a:pt x="345739" y="451249"/>
                      <a:pt x="359514" y="466600"/>
                      <a:pt x="377479" y="467573"/>
                    </a:cubicBezTo>
                    <a:cubicBezTo>
                      <a:pt x="378652" y="467636"/>
                      <a:pt x="379828" y="467636"/>
                      <a:pt x="381001" y="467573"/>
                    </a:cubicBezTo>
                    <a:cubicBezTo>
                      <a:pt x="398965" y="468545"/>
                      <a:pt x="414317" y="454771"/>
                      <a:pt x="415289" y="436806"/>
                    </a:cubicBezTo>
                    <a:lnTo>
                      <a:pt x="408143" y="416515"/>
                    </a:lnTo>
                    <a:close/>
                    <a:moveTo>
                      <a:pt x="381000" y="368132"/>
                    </a:moveTo>
                    <a:cubicBezTo>
                      <a:pt x="581882" y="368132"/>
                      <a:pt x="759905" y="530724"/>
                      <a:pt x="759905" y="716176"/>
                    </a:cubicBezTo>
                    <a:lnTo>
                      <a:pt x="759905" y="1028596"/>
                    </a:lnTo>
                    <a:cubicBezTo>
                      <a:pt x="759957" y="1041168"/>
                      <a:pt x="749808" y="1051403"/>
                      <a:pt x="737236" y="1051456"/>
                    </a:cubicBezTo>
                    <a:cubicBezTo>
                      <a:pt x="737172" y="1051456"/>
                      <a:pt x="737108" y="1051456"/>
                      <a:pt x="737045" y="1051456"/>
                    </a:cubicBezTo>
                    <a:lnTo>
                      <a:pt x="645890" y="1051456"/>
                    </a:lnTo>
                    <a:cubicBezTo>
                      <a:pt x="633265" y="1051508"/>
                      <a:pt x="622988" y="1041316"/>
                      <a:pt x="622935" y="1028691"/>
                    </a:cubicBezTo>
                    <a:cubicBezTo>
                      <a:pt x="622935" y="1028659"/>
                      <a:pt x="622935" y="1028627"/>
                      <a:pt x="622935" y="1028596"/>
                    </a:cubicBezTo>
                    <a:lnTo>
                      <a:pt x="622935" y="731416"/>
                    </a:lnTo>
                    <a:lnTo>
                      <a:pt x="607695" y="731416"/>
                    </a:lnTo>
                    <a:lnTo>
                      <a:pt x="607695" y="1028596"/>
                    </a:lnTo>
                    <a:cubicBezTo>
                      <a:pt x="607748" y="1041168"/>
                      <a:pt x="597599" y="1051403"/>
                      <a:pt x="585026" y="1051456"/>
                    </a:cubicBezTo>
                    <a:cubicBezTo>
                      <a:pt x="584962" y="1051456"/>
                      <a:pt x="584899" y="1051456"/>
                      <a:pt x="584835" y="1051456"/>
                    </a:cubicBezTo>
                    <a:lnTo>
                      <a:pt x="529849" y="1051456"/>
                    </a:lnTo>
                    <a:lnTo>
                      <a:pt x="522907" y="1062915"/>
                    </a:lnTo>
                    <a:cubicBezTo>
                      <a:pt x="513783" y="1072970"/>
                      <a:pt x="500823" y="1079544"/>
                      <a:pt x="486189" y="1080254"/>
                    </a:cubicBezTo>
                    <a:cubicBezTo>
                      <a:pt x="485322" y="1080296"/>
                      <a:pt x="484453" y="1080317"/>
                      <a:pt x="483584" y="1080317"/>
                    </a:cubicBezTo>
                    <a:cubicBezTo>
                      <a:pt x="455037" y="1080956"/>
                      <a:pt x="431353" y="1058379"/>
                      <a:pt x="430625" y="1029834"/>
                    </a:cubicBezTo>
                    <a:lnTo>
                      <a:pt x="430626" y="1029834"/>
                    </a:lnTo>
                    <a:cubicBezTo>
                      <a:pt x="429205" y="1000568"/>
                      <a:pt x="451779" y="975691"/>
                      <a:pt x="481046" y="974271"/>
                    </a:cubicBezTo>
                    <a:cubicBezTo>
                      <a:pt x="502996" y="973205"/>
                      <a:pt x="522476" y="985637"/>
                      <a:pt x="531444" y="1004266"/>
                    </a:cubicBezTo>
                    <a:lnTo>
                      <a:pt x="531815" y="1005736"/>
                    </a:lnTo>
                    <a:lnTo>
                      <a:pt x="561975" y="1005736"/>
                    </a:lnTo>
                    <a:lnTo>
                      <a:pt x="561975" y="708555"/>
                    </a:lnTo>
                    <a:cubicBezTo>
                      <a:pt x="561923" y="695983"/>
                      <a:pt x="572072" y="685748"/>
                      <a:pt x="584644" y="685695"/>
                    </a:cubicBezTo>
                    <a:cubicBezTo>
                      <a:pt x="584708" y="685695"/>
                      <a:pt x="584772" y="685695"/>
                      <a:pt x="584835" y="685695"/>
                    </a:cubicBezTo>
                    <a:lnTo>
                      <a:pt x="645890" y="685696"/>
                    </a:lnTo>
                    <a:cubicBezTo>
                      <a:pt x="658463" y="685643"/>
                      <a:pt x="668698" y="695792"/>
                      <a:pt x="668750" y="708365"/>
                    </a:cubicBezTo>
                    <a:cubicBezTo>
                      <a:pt x="668751" y="708428"/>
                      <a:pt x="668751" y="708492"/>
                      <a:pt x="668750" y="708556"/>
                    </a:cubicBezTo>
                    <a:lnTo>
                      <a:pt x="668750" y="1005736"/>
                    </a:lnTo>
                    <a:lnTo>
                      <a:pt x="714375" y="1005736"/>
                    </a:lnTo>
                    <a:lnTo>
                      <a:pt x="714375" y="716176"/>
                    </a:lnTo>
                    <a:cubicBezTo>
                      <a:pt x="714375" y="576159"/>
                      <a:pt x="595652" y="449705"/>
                      <a:pt x="446519" y="420279"/>
                    </a:cubicBezTo>
                    <a:lnTo>
                      <a:pt x="445326" y="420162"/>
                    </a:lnTo>
                    <a:lnTo>
                      <a:pt x="448268" y="430499"/>
                    </a:lnTo>
                    <a:cubicBezTo>
                      <a:pt x="449616" y="447728"/>
                      <a:pt x="443852" y="463871"/>
                      <a:pt x="433445" y="476044"/>
                    </a:cubicBezTo>
                    <a:lnTo>
                      <a:pt x="425445" y="480115"/>
                    </a:lnTo>
                    <a:lnTo>
                      <a:pt x="426919" y="483361"/>
                    </a:lnTo>
                    <a:cubicBezTo>
                      <a:pt x="426932" y="483750"/>
                      <a:pt x="426929" y="484139"/>
                      <a:pt x="426911" y="484528"/>
                    </a:cubicBezTo>
                    <a:lnTo>
                      <a:pt x="454725" y="844858"/>
                    </a:lnTo>
                    <a:cubicBezTo>
                      <a:pt x="454616" y="849579"/>
                      <a:pt x="452826" y="854105"/>
                      <a:pt x="449676" y="857622"/>
                    </a:cubicBezTo>
                    <a:lnTo>
                      <a:pt x="391478" y="916867"/>
                    </a:lnTo>
                    <a:cubicBezTo>
                      <a:pt x="388713" y="919566"/>
                      <a:pt x="385191" y="921360"/>
                      <a:pt x="381382" y="922011"/>
                    </a:cubicBezTo>
                    <a:lnTo>
                      <a:pt x="381001" y="921535"/>
                    </a:lnTo>
                    <a:cubicBezTo>
                      <a:pt x="375953" y="921535"/>
                      <a:pt x="373476" y="918963"/>
                      <a:pt x="368428" y="916391"/>
                    </a:cubicBezTo>
                    <a:lnTo>
                      <a:pt x="310230" y="860194"/>
                    </a:lnTo>
                    <a:cubicBezTo>
                      <a:pt x="307658" y="855050"/>
                      <a:pt x="305182" y="852574"/>
                      <a:pt x="305182" y="847430"/>
                    </a:cubicBezTo>
                    <a:lnTo>
                      <a:pt x="333376" y="484528"/>
                    </a:lnTo>
                    <a:lnTo>
                      <a:pt x="335226" y="482655"/>
                    </a:lnTo>
                    <a:lnTo>
                      <a:pt x="320535" y="464159"/>
                    </a:lnTo>
                    <a:cubicBezTo>
                      <a:pt x="316794" y="456942"/>
                      <a:pt x="314407" y="448872"/>
                      <a:pt x="313733" y="440258"/>
                    </a:cubicBezTo>
                    <a:lnTo>
                      <a:pt x="316182" y="420141"/>
                    </a:lnTo>
                    <a:lnTo>
                      <a:pt x="314758" y="420279"/>
                    </a:lnTo>
                    <a:cubicBezTo>
                      <a:pt x="164157" y="449705"/>
                      <a:pt x="45434" y="576159"/>
                      <a:pt x="45434" y="716176"/>
                    </a:cubicBezTo>
                    <a:lnTo>
                      <a:pt x="45434" y="1005736"/>
                    </a:lnTo>
                    <a:lnTo>
                      <a:pt x="91154" y="1005736"/>
                    </a:lnTo>
                    <a:lnTo>
                      <a:pt x="91154" y="708555"/>
                    </a:lnTo>
                    <a:cubicBezTo>
                      <a:pt x="91102" y="695983"/>
                      <a:pt x="101251" y="685748"/>
                      <a:pt x="113824" y="685695"/>
                    </a:cubicBezTo>
                    <a:cubicBezTo>
                      <a:pt x="113887" y="685695"/>
                      <a:pt x="113951" y="685695"/>
                      <a:pt x="114014" y="685695"/>
                    </a:cubicBezTo>
                    <a:lnTo>
                      <a:pt x="175070" y="685696"/>
                    </a:lnTo>
                    <a:cubicBezTo>
                      <a:pt x="187642" y="685643"/>
                      <a:pt x="197877" y="695792"/>
                      <a:pt x="197930" y="708365"/>
                    </a:cubicBezTo>
                    <a:cubicBezTo>
                      <a:pt x="197930" y="708428"/>
                      <a:pt x="197930" y="708492"/>
                      <a:pt x="197930" y="708556"/>
                    </a:cubicBezTo>
                    <a:lnTo>
                      <a:pt x="197930" y="1005736"/>
                    </a:lnTo>
                    <a:lnTo>
                      <a:pt x="282763" y="1005736"/>
                    </a:lnTo>
                    <a:lnTo>
                      <a:pt x="290971" y="992910"/>
                    </a:lnTo>
                    <a:cubicBezTo>
                      <a:pt x="300104" y="983329"/>
                      <a:pt x="312892" y="977232"/>
                      <a:pt x="327170" y="976890"/>
                    </a:cubicBezTo>
                    <a:cubicBezTo>
                      <a:pt x="355726" y="976206"/>
                      <a:pt x="379430" y="998801"/>
                      <a:pt x="380114" y="1027358"/>
                    </a:cubicBezTo>
                    <a:cubicBezTo>
                      <a:pt x="380798" y="1055914"/>
                      <a:pt x="358203" y="1079618"/>
                      <a:pt x="329646" y="1080302"/>
                    </a:cubicBezTo>
                    <a:cubicBezTo>
                      <a:pt x="329239" y="1080312"/>
                      <a:pt x="328831" y="1080317"/>
                      <a:pt x="328423" y="1080317"/>
                    </a:cubicBezTo>
                    <a:cubicBezTo>
                      <a:pt x="314317" y="1080476"/>
                      <a:pt x="301478" y="1074908"/>
                      <a:pt x="292120" y="1065774"/>
                    </a:cubicBezTo>
                    <a:lnTo>
                      <a:pt x="282208" y="1051456"/>
                    </a:lnTo>
                    <a:lnTo>
                      <a:pt x="175451" y="1051456"/>
                    </a:lnTo>
                    <a:cubicBezTo>
                      <a:pt x="162878" y="1051508"/>
                      <a:pt x="152643" y="1041359"/>
                      <a:pt x="152591" y="1028786"/>
                    </a:cubicBezTo>
                    <a:cubicBezTo>
                      <a:pt x="152590" y="1028723"/>
                      <a:pt x="152590" y="1028659"/>
                      <a:pt x="152591" y="1028595"/>
                    </a:cubicBezTo>
                    <a:lnTo>
                      <a:pt x="152591" y="731416"/>
                    </a:lnTo>
                    <a:lnTo>
                      <a:pt x="137351" y="731416"/>
                    </a:lnTo>
                    <a:lnTo>
                      <a:pt x="137351" y="1028596"/>
                    </a:lnTo>
                    <a:cubicBezTo>
                      <a:pt x="137351" y="1041221"/>
                      <a:pt x="127116" y="1051456"/>
                      <a:pt x="114491" y="1051456"/>
                    </a:cubicBezTo>
                    <a:cubicBezTo>
                      <a:pt x="114459" y="1051456"/>
                      <a:pt x="114427" y="1051456"/>
                      <a:pt x="114395" y="1051456"/>
                    </a:cubicBezTo>
                    <a:lnTo>
                      <a:pt x="22860" y="1051456"/>
                    </a:lnTo>
                    <a:cubicBezTo>
                      <a:pt x="10288" y="1051508"/>
                      <a:pt x="53" y="1041359"/>
                      <a:pt x="0" y="1028786"/>
                    </a:cubicBezTo>
                    <a:cubicBezTo>
                      <a:pt x="0" y="1028723"/>
                      <a:pt x="0" y="1028659"/>
                      <a:pt x="0" y="1028595"/>
                    </a:cubicBezTo>
                    <a:lnTo>
                      <a:pt x="0" y="716176"/>
                    </a:lnTo>
                    <a:cubicBezTo>
                      <a:pt x="0" y="530724"/>
                      <a:pt x="178022" y="368132"/>
                      <a:pt x="381000" y="368132"/>
                    </a:cubicBezTo>
                    <a:close/>
                    <a:moveTo>
                      <a:pt x="382619" y="48284"/>
                    </a:moveTo>
                    <a:cubicBezTo>
                      <a:pt x="308978" y="47387"/>
                      <a:pt x="248552" y="106358"/>
                      <a:pt x="247655" y="180000"/>
                    </a:cubicBezTo>
                    <a:cubicBezTo>
                      <a:pt x="247653" y="180163"/>
                      <a:pt x="247651" y="180327"/>
                      <a:pt x="247650" y="180491"/>
                    </a:cubicBezTo>
                    <a:cubicBezTo>
                      <a:pt x="247650" y="254138"/>
                      <a:pt x="307353" y="313841"/>
                      <a:pt x="381000" y="313841"/>
                    </a:cubicBezTo>
                    <a:cubicBezTo>
                      <a:pt x="454647" y="313841"/>
                      <a:pt x="514350" y="254138"/>
                      <a:pt x="514350" y="180491"/>
                    </a:cubicBezTo>
                    <a:cubicBezTo>
                      <a:pt x="513733" y="107917"/>
                      <a:pt x="455190" y="49162"/>
                      <a:pt x="382619" y="48284"/>
                    </a:cubicBezTo>
                    <a:close/>
                    <a:moveTo>
                      <a:pt x="379671" y="4"/>
                    </a:moveTo>
                    <a:cubicBezTo>
                      <a:pt x="478671" y="-675"/>
                      <a:pt x="559478" y="79030"/>
                      <a:pt x="560157" y="178031"/>
                    </a:cubicBezTo>
                    <a:cubicBezTo>
                      <a:pt x="560835" y="276840"/>
                      <a:pt x="481427" y="357565"/>
                      <a:pt x="382619" y="358513"/>
                    </a:cubicBezTo>
                    <a:cubicBezTo>
                      <a:pt x="283780" y="359619"/>
                      <a:pt x="202759" y="280391"/>
                      <a:pt x="201653" y="181552"/>
                    </a:cubicBezTo>
                    <a:cubicBezTo>
                      <a:pt x="201649" y="181198"/>
                      <a:pt x="201646" y="180844"/>
                      <a:pt x="201644" y="180491"/>
                    </a:cubicBezTo>
                    <a:cubicBezTo>
                      <a:pt x="200965" y="81490"/>
                      <a:pt x="280670" y="684"/>
                      <a:pt x="379671" y="4"/>
                    </a:cubicBezTo>
                    <a:close/>
                  </a:path>
                </a:pathLst>
              </a:custGeom>
              <a:solidFill>
                <a:srgbClr val="1D1D1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C94A42D8-76CF-4223-B571-7CDE61B7094E}"/>
                  </a:ext>
                </a:extLst>
              </p:cNvPr>
              <p:cNvSpPr/>
              <p:nvPr/>
            </p:nvSpPr>
            <p:spPr>
              <a:xfrm>
                <a:off x="2962524" y="3706410"/>
                <a:ext cx="695519" cy="50273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Noc</a:t>
                </a:r>
                <a:r>
                  <a:rPr kumimoji="0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工程师</a:t>
                </a:r>
              </a:p>
            </p:txBody>
          </p:sp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0FD9684F-8A20-4AB8-9751-DA164B11FDF1}"/>
                  </a:ext>
                </a:extLst>
              </p:cNvPr>
              <p:cNvSpPr/>
              <p:nvPr/>
            </p:nvSpPr>
            <p:spPr>
              <a:xfrm>
                <a:off x="3728965" y="3744658"/>
                <a:ext cx="866528" cy="240396"/>
              </a:xfrm>
              <a:prstGeom prst="rect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多厂商网管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/>
                </a:r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A5FB7C64-0AB1-4B49-95A9-DB82938EA194}"/>
                  </a:ext>
                </a:extLst>
              </p:cNvPr>
              <p:cNvSpPr/>
              <p:nvPr/>
            </p:nvSpPr>
            <p:spPr>
              <a:xfrm>
                <a:off x="2718012" y="3496025"/>
                <a:ext cx="2128090" cy="64067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6B871AD8-E953-4FF7-820F-C4AECB020C6B}"/>
              </a:ext>
            </a:extLst>
          </p:cNvPr>
          <p:cNvGrpSpPr/>
          <p:nvPr/>
        </p:nvGrpSpPr>
        <p:grpSpPr>
          <a:xfrm>
            <a:off x="2838907" y="2229000"/>
            <a:ext cx="2127259" cy="1794483"/>
            <a:chOff x="2779903" y="4191020"/>
            <a:chExt cx="2128090" cy="1795184"/>
          </a:xfrm>
        </p:grpSpPr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E5A9A17-B5C8-446B-8833-B8EF501428C7}"/>
                </a:ext>
              </a:extLst>
            </p:cNvPr>
            <p:cNvSpPr/>
            <p:nvPr/>
          </p:nvSpPr>
          <p:spPr>
            <a:xfrm>
              <a:off x="2779903" y="4191020"/>
              <a:ext cx="2128090" cy="10979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模式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1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SD-LAN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管理服务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381" marR="0" lvl="0" indent="-171381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包含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LAN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设备的管理服务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381" marR="0" lvl="0" indent="-171381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Evolution Platform提供SD-LAN平台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9F3CAB2E-B44C-4E18-8516-F950AB693B27}"/>
                </a:ext>
              </a:extLst>
            </p:cNvPr>
            <p:cNvGrpSpPr/>
            <p:nvPr/>
          </p:nvGrpSpPr>
          <p:grpSpPr>
            <a:xfrm>
              <a:off x="2779903" y="5308881"/>
              <a:ext cx="2128090" cy="677323"/>
              <a:chOff x="2704765" y="5308881"/>
              <a:chExt cx="2128090" cy="677323"/>
            </a:xfrm>
          </p:grpSpPr>
          <p:sp>
            <p:nvSpPr>
              <p:cNvPr id="213" name="客户经理1 Account Manager 1">
                <a:extLst>
                  <a:ext uri="{FF2B5EF4-FFF2-40B4-BE49-F238E27FC236}">
                    <a16:creationId xmlns:a16="http://schemas.microsoft.com/office/drawing/2014/main" id="{F662B46F-EE5C-43CC-B8E5-BEAD4398ED02}"/>
                  </a:ext>
                </a:extLst>
              </p:cNvPr>
              <p:cNvSpPr/>
              <p:nvPr/>
            </p:nvSpPr>
            <p:spPr>
              <a:xfrm>
                <a:off x="3115272" y="5374030"/>
                <a:ext cx="202936" cy="244485"/>
              </a:xfrm>
              <a:custGeom>
                <a:avLst/>
                <a:gdLst>
                  <a:gd name="connsiteX0" fmla="*/ 363665 w 759905"/>
                  <a:gd name="connsiteY0" fmla="*/ 499863 h 1080330"/>
                  <a:gd name="connsiteX1" fmla="*/ 338432 w 759905"/>
                  <a:gd name="connsiteY1" fmla="*/ 842658 h 1080330"/>
                  <a:gd name="connsiteX2" fmla="*/ 338043 w 759905"/>
                  <a:gd name="connsiteY2" fmla="*/ 842287 h 1080330"/>
                  <a:gd name="connsiteX3" fmla="*/ 338424 w 759905"/>
                  <a:gd name="connsiteY3" fmla="*/ 842763 h 1080330"/>
                  <a:gd name="connsiteX4" fmla="*/ 338432 w 759905"/>
                  <a:gd name="connsiteY4" fmla="*/ 842658 h 1080330"/>
                  <a:gd name="connsiteX5" fmla="*/ 381001 w 759905"/>
                  <a:gd name="connsiteY5" fmla="*/ 883244 h 1080330"/>
                  <a:gd name="connsiteX6" fmla="*/ 423959 w 759905"/>
                  <a:gd name="connsiteY6" fmla="*/ 842287 h 1080330"/>
                  <a:gd name="connsiteX7" fmla="*/ 396527 w 759905"/>
                  <a:gd name="connsiteY7" fmla="*/ 499863 h 1080330"/>
                  <a:gd name="connsiteX8" fmla="*/ 381000 w 759905"/>
                  <a:gd name="connsiteY8" fmla="*/ 413852 h 1080330"/>
                  <a:gd name="connsiteX9" fmla="*/ 354804 w 759905"/>
                  <a:gd name="connsiteY9" fmla="*/ 416394 h 1080330"/>
                  <a:gd name="connsiteX10" fmla="*/ 346712 w 759905"/>
                  <a:gd name="connsiteY10" fmla="*/ 433284 h 1080330"/>
                  <a:gd name="connsiteX11" fmla="*/ 377479 w 759905"/>
                  <a:gd name="connsiteY11" fmla="*/ 467573 h 1080330"/>
                  <a:gd name="connsiteX12" fmla="*/ 381001 w 759905"/>
                  <a:gd name="connsiteY12" fmla="*/ 467573 h 1080330"/>
                  <a:gd name="connsiteX13" fmla="*/ 415289 w 759905"/>
                  <a:gd name="connsiteY13" fmla="*/ 436806 h 1080330"/>
                  <a:gd name="connsiteX14" fmla="*/ 408143 w 759905"/>
                  <a:gd name="connsiteY14" fmla="*/ 416515 h 1080330"/>
                  <a:gd name="connsiteX15" fmla="*/ 381000 w 759905"/>
                  <a:gd name="connsiteY15" fmla="*/ 368132 h 1080330"/>
                  <a:gd name="connsiteX16" fmla="*/ 759905 w 759905"/>
                  <a:gd name="connsiteY16" fmla="*/ 716176 h 1080330"/>
                  <a:gd name="connsiteX17" fmla="*/ 759905 w 759905"/>
                  <a:gd name="connsiteY17" fmla="*/ 1028596 h 1080330"/>
                  <a:gd name="connsiteX18" fmla="*/ 737236 w 759905"/>
                  <a:gd name="connsiteY18" fmla="*/ 1051456 h 1080330"/>
                  <a:gd name="connsiteX19" fmla="*/ 737045 w 759905"/>
                  <a:gd name="connsiteY19" fmla="*/ 1051456 h 1080330"/>
                  <a:gd name="connsiteX20" fmla="*/ 645890 w 759905"/>
                  <a:gd name="connsiteY20" fmla="*/ 1051456 h 1080330"/>
                  <a:gd name="connsiteX21" fmla="*/ 622935 w 759905"/>
                  <a:gd name="connsiteY21" fmla="*/ 1028691 h 1080330"/>
                  <a:gd name="connsiteX22" fmla="*/ 622935 w 759905"/>
                  <a:gd name="connsiteY22" fmla="*/ 1028596 h 1080330"/>
                  <a:gd name="connsiteX23" fmla="*/ 622935 w 759905"/>
                  <a:gd name="connsiteY23" fmla="*/ 731416 h 1080330"/>
                  <a:gd name="connsiteX24" fmla="*/ 607695 w 759905"/>
                  <a:gd name="connsiteY24" fmla="*/ 731416 h 1080330"/>
                  <a:gd name="connsiteX25" fmla="*/ 607695 w 759905"/>
                  <a:gd name="connsiteY25" fmla="*/ 1028596 h 1080330"/>
                  <a:gd name="connsiteX26" fmla="*/ 585026 w 759905"/>
                  <a:gd name="connsiteY26" fmla="*/ 1051456 h 1080330"/>
                  <a:gd name="connsiteX27" fmla="*/ 584835 w 759905"/>
                  <a:gd name="connsiteY27" fmla="*/ 1051456 h 1080330"/>
                  <a:gd name="connsiteX28" fmla="*/ 529849 w 759905"/>
                  <a:gd name="connsiteY28" fmla="*/ 1051456 h 1080330"/>
                  <a:gd name="connsiteX29" fmla="*/ 522907 w 759905"/>
                  <a:gd name="connsiteY29" fmla="*/ 1062915 h 1080330"/>
                  <a:gd name="connsiteX30" fmla="*/ 486189 w 759905"/>
                  <a:gd name="connsiteY30" fmla="*/ 1080254 h 1080330"/>
                  <a:gd name="connsiteX31" fmla="*/ 483584 w 759905"/>
                  <a:gd name="connsiteY31" fmla="*/ 1080317 h 1080330"/>
                  <a:gd name="connsiteX32" fmla="*/ 430625 w 759905"/>
                  <a:gd name="connsiteY32" fmla="*/ 1029834 h 1080330"/>
                  <a:gd name="connsiteX33" fmla="*/ 430626 w 759905"/>
                  <a:gd name="connsiteY33" fmla="*/ 1029834 h 1080330"/>
                  <a:gd name="connsiteX34" fmla="*/ 481046 w 759905"/>
                  <a:gd name="connsiteY34" fmla="*/ 974271 h 1080330"/>
                  <a:gd name="connsiteX35" fmla="*/ 531444 w 759905"/>
                  <a:gd name="connsiteY35" fmla="*/ 1004266 h 1080330"/>
                  <a:gd name="connsiteX36" fmla="*/ 531815 w 759905"/>
                  <a:gd name="connsiteY36" fmla="*/ 1005736 h 1080330"/>
                  <a:gd name="connsiteX37" fmla="*/ 561975 w 759905"/>
                  <a:gd name="connsiteY37" fmla="*/ 1005736 h 1080330"/>
                  <a:gd name="connsiteX38" fmla="*/ 561975 w 759905"/>
                  <a:gd name="connsiteY38" fmla="*/ 708555 h 1080330"/>
                  <a:gd name="connsiteX39" fmla="*/ 584644 w 759905"/>
                  <a:gd name="connsiteY39" fmla="*/ 685695 h 1080330"/>
                  <a:gd name="connsiteX40" fmla="*/ 584835 w 759905"/>
                  <a:gd name="connsiteY40" fmla="*/ 685695 h 1080330"/>
                  <a:gd name="connsiteX41" fmla="*/ 645890 w 759905"/>
                  <a:gd name="connsiteY41" fmla="*/ 685696 h 1080330"/>
                  <a:gd name="connsiteX42" fmla="*/ 668750 w 759905"/>
                  <a:gd name="connsiteY42" fmla="*/ 708365 h 1080330"/>
                  <a:gd name="connsiteX43" fmla="*/ 668750 w 759905"/>
                  <a:gd name="connsiteY43" fmla="*/ 708556 h 1080330"/>
                  <a:gd name="connsiteX44" fmla="*/ 668750 w 759905"/>
                  <a:gd name="connsiteY44" fmla="*/ 1005736 h 1080330"/>
                  <a:gd name="connsiteX45" fmla="*/ 714375 w 759905"/>
                  <a:gd name="connsiteY45" fmla="*/ 1005736 h 1080330"/>
                  <a:gd name="connsiteX46" fmla="*/ 714375 w 759905"/>
                  <a:gd name="connsiteY46" fmla="*/ 716176 h 1080330"/>
                  <a:gd name="connsiteX47" fmla="*/ 446519 w 759905"/>
                  <a:gd name="connsiteY47" fmla="*/ 420279 h 1080330"/>
                  <a:gd name="connsiteX48" fmla="*/ 445326 w 759905"/>
                  <a:gd name="connsiteY48" fmla="*/ 420162 h 1080330"/>
                  <a:gd name="connsiteX49" fmla="*/ 448268 w 759905"/>
                  <a:gd name="connsiteY49" fmla="*/ 430499 h 1080330"/>
                  <a:gd name="connsiteX50" fmla="*/ 433445 w 759905"/>
                  <a:gd name="connsiteY50" fmla="*/ 476044 h 1080330"/>
                  <a:gd name="connsiteX51" fmla="*/ 425445 w 759905"/>
                  <a:gd name="connsiteY51" fmla="*/ 480115 h 1080330"/>
                  <a:gd name="connsiteX52" fmla="*/ 426919 w 759905"/>
                  <a:gd name="connsiteY52" fmla="*/ 483361 h 1080330"/>
                  <a:gd name="connsiteX53" fmla="*/ 426911 w 759905"/>
                  <a:gd name="connsiteY53" fmla="*/ 484528 h 1080330"/>
                  <a:gd name="connsiteX54" fmla="*/ 454725 w 759905"/>
                  <a:gd name="connsiteY54" fmla="*/ 844858 h 1080330"/>
                  <a:gd name="connsiteX55" fmla="*/ 449676 w 759905"/>
                  <a:gd name="connsiteY55" fmla="*/ 857622 h 1080330"/>
                  <a:gd name="connsiteX56" fmla="*/ 391478 w 759905"/>
                  <a:gd name="connsiteY56" fmla="*/ 916867 h 1080330"/>
                  <a:gd name="connsiteX57" fmla="*/ 381382 w 759905"/>
                  <a:gd name="connsiteY57" fmla="*/ 922011 h 1080330"/>
                  <a:gd name="connsiteX58" fmla="*/ 381001 w 759905"/>
                  <a:gd name="connsiteY58" fmla="*/ 921535 h 1080330"/>
                  <a:gd name="connsiteX59" fmla="*/ 368428 w 759905"/>
                  <a:gd name="connsiteY59" fmla="*/ 916391 h 1080330"/>
                  <a:gd name="connsiteX60" fmla="*/ 310230 w 759905"/>
                  <a:gd name="connsiteY60" fmla="*/ 860194 h 1080330"/>
                  <a:gd name="connsiteX61" fmla="*/ 305182 w 759905"/>
                  <a:gd name="connsiteY61" fmla="*/ 847430 h 1080330"/>
                  <a:gd name="connsiteX62" fmla="*/ 333376 w 759905"/>
                  <a:gd name="connsiteY62" fmla="*/ 484528 h 1080330"/>
                  <a:gd name="connsiteX63" fmla="*/ 335226 w 759905"/>
                  <a:gd name="connsiteY63" fmla="*/ 482655 h 1080330"/>
                  <a:gd name="connsiteX64" fmla="*/ 320535 w 759905"/>
                  <a:gd name="connsiteY64" fmla="*/ 464159 h 1080330"/>
                  <a:gd name="connsiteX65" fmla="*/ 313733 w 759905"/>
                  <a:gd name="connsiteY65" fmla="*/ 440258 h 1080330"/>
                  <a:gd name="connsiteX66" fmla="*/ 316182 w 759905"/>
                  <a:gd name="connsiteY66" fmla="*/ 420141 h 1080330"/>
                  <a:gd name="connsiteX67" fmla="*/ 314758 w 759905"/>
                  <a:gd name="connsiteY67" fmla="*/ 420279 h 1080330"/>
                  <a:gd name="connsiteX68" fmla="*/ 45434 w 759905"/>
                  <a:gd name="connsiteY68" fmla="*/ 716176 h 1080330"/>
                  <a:gd name="connsiteX69" fmla="*/ 45434 w 759905"/>
                  <a:gd name="connsiteY69" fmla="*/ 1005736 h 1080330"/>
                  <a:gd name="connsiteX70" fmla="*/ 91154 w 759905"/>
                  <a:gd name="connsiteY70" fmla="*/ 1005736 h 1080330"/>
                  <a:gd name="connsiteX71" fmla="*/ 91154 w 759905"/>
                  <a:gd name="connsiteY71" fmla="*/ 708555 h 1080330"/>
                  <a:gd name="connsiteX72" fmla="*/ 113824 w 759905"/>
                  <a:gd name="connsiteY72" fmla="*/ 685695 h 1080330"/>
                  <a:gd name="connsiteX73" fmla="*/ 114014 w 759905"/>
                  <a:gd name="connsiteY73" fmla="*/ 685695 h 1080330"/>
                  <a:gd name="connsiteX74" fmla="*/ 175070 w 759905"/>
                  <a:gd name="connsiteY74" fmla="*/ 685696 h 1080330"/>
                  <a:gd name="connsiteX75" fmla="*/ 197930 w 759905"/>
                  <a:gd name="connsiteY75" fmla="*/ 708365 h 1080330"/>
                  <a:gd name="connsiteX76" fmla="*/ 197930 w 759905"/>
                  <a:gd name="connsiteY76" fmla="*/ 708556 h 1080330"/>
                  <a:gd name="connsiteX77" fmla="*/ 197930 w 759905"/>
                  <a:gd name="connsiteY77" fmla="*/ 1005736 h 1080330"/>
                  <a:gd name="connsiteX78" fmla="*/ 282763 w 759905"/>
                  <a:gd name="connsiteY78" fmla="*/ 1005736 h 1080330"/>
                  <a:gd name="connsiteX79" fmla="*/ 290971 w 759905"/>
                  <a:gd name="connsiteY79" fmla="*/ 992910 h 1080330"/>
                  <a:gd name="connsiteX80" fmla="*/ 327170 w 759905"/>
                  <a:gd name="connsiteY80" fmla="*/ 976890 h 1080330"/>
                  <a:gd name="connsiteX81" fmla="*/ 380114 w 759905"/>
                  <a:gd name="connsiteY81" fmla="*/ 1027358 h 1080330"/>
                  <a:gd name="connsiteX82" fmla="*/ 329646 w 759905"/>
                  <a:gd name="connsiteY82" fmla="*/ 1080302 h 1080330"/>
                  <a:gd name="connsiteX83" fmla="*/ 328423 w 759905"/>
                  <a:gd name="connsiteY83" fmla="*/ 1080317 h 1080330"/>
                  <a:gd name="connsiteX84" fmla="*/ 292120 w 759905"/>
                  <a:gd name="connsiteY84" fmla="*/ 1065774 h 1080330"/>
                  <a:gd name="connsiteX85" fmla="*/ 282208 w 759905"/>
                  <a:gd name="connsiteY85" fmla="*/ 1051456 h 1080330"/>
                  <a:gd name="connsiteX86" fmla="*/ 175451 w 759905"/>
                  <a:gd name="connsiteY86" fmla="*/ 1051456 h 1080330"/>
                  <a:gd name="connsiteX87" fmla="*/ 152591 w 759905"/>
                  <a:gd name="connsiteY87" fmla="*/ 1028786 h 1080330"/>
                  <a:gd name="connsiteX88" fmla="*/ 152591 w 759905"/>
                  <a:gd name="connsiteY88" fmla="*/ 1028595 h 1080330"/>
                  <a:gd name="connsiteX89" fmla="*/ 152591 w 759905"/>
                  <a:gd name="connsiteY89" fmla="*/ 731416 h 1080330"/>
                  <a:gd name="connsiteX90" fmla="*/ 137351 w 759905"/>
                  <a:gd name="connsiteY90" fmla="*/ 731416 h 1080330"/>
                  <a:gd name="connsiteX91" fmla="*/ 137351 w 759905"/>
                  <a:gd name="connsiteY91" fmla="*/ 1028596 h 1080330"/>
                  <a:gd name="connsiteX92" fmla="*/ 114491 w 759905"/>
                  <a:gd name="connsiteY92" fmla="*/ 1051456 h 1080330"/>
                  <a:gd name="connsiteX93" fmla="*/ 114395 w 759905"/>
                  <a:gd name="connsiteY93" fmla="*/ 1051456 h 1080330"/>
                  <a:gd name="connsiteX94" fmla="*/ 22860 w 759905"/>
                  <a:gd name="connsiteY94" fmla="*/ 1051456 h 1080330"/>
                  <a:gd name="connsiteX95" fmla="*/ 0 w 759905"/>
                  <a:gd name="connsiteY95" fmla="*/ 1028786 h 1080330"/>
                  <a:gd name="connsiteX96" fmla="*/ 0 w 759905"/>
                  <a:gd name="connsiteY96" fmla="*/ 1028595 h 1080330"/>
                  <a:gd name="connsiteX97" fmla="*/ 0 w 759905"/>
                  <a:gd name="connsiteY97" fmla="*/ 716176 h 1080330"/>
                  <a:gd name="connsiteX98" fmla="*/ 381000 w 759905"/>
                  <a:gd name="connsiteY98" fmla="*/ 368132 h 1080330"/>
                  <a:gd name="connsiteX99" fmla="*/ 382619 w 759905"/>
                  <a:gd name="connsiteY99" fmla="*/ 48284 h 1080330"/>
                  <a:gd name="connsiteX100" fmla="*/ 247655 w 759905"/>
                  <a:gd name="connsiteY100" fmla="*/ 180000 h 1080330"/>
                  <a:gd name="connsiteX101" fmla="*/ 247650 w 759905"/>
                  <a:gd name="connsiteY101" fmla="*/ 180491 h 1080330"/>
                  <a:gd name="connsiteX102" fmla="*/ 381000 w 759905"/>
                  <a:gd name="connsiteY102" fmla="*/ 313841 h 1080330"/>
                  <a:gd name="connsiteX103" fmla="*/ 514350 w 759905"/>
                  <a:gd name="connsiteY103" fmla="*/ 180491 h 1080330"/>
                  <a:gd name="connsiteX104" fmla="*/ 382619 w 759905"/>
                  <a:gd name="connsiteY104" fmla="*/ 48284 h 1080330"/>
                  <a:gd name="connsiteX105" fmla="*/ 379671 w 759905"/>
                  <a:gd name="connsiteY105" fmla="*/ 4 h 1080330"/>
                  <a:gd name="connsiteX106" fmla="*/ 560157 w 759905"/>
                  <a:gd name="connsiteY106" fmla="*/ 178031 h 1080330"/>
                  <a:gd name="connsiteX107" fmla="*/ 382619 w 759905"/>
                  <a:gd name="connsiteY107" fmla="*/ 358513 h 1080330"/>
                  <a:gd name="connsiteX108" fmla="*/ 201653 w 759905"/>
                  <a:gd name="connsiteY108" fmla="*/ 181552 h 1080330"/>
                  <a:gd name="connsiteX109" fmla="*/ 201644 w 759905"/>
                  <a:gd name="connsiteY109" fmla="*/ 180491 h 1080330"/>
                  <a:gd name="connsiteX110" fmla="*/ 379671 w 759905"/>
                  <a:gd name="connsiteY110" fmla="*/ 4 h 108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759905" h="1080330">
                    <a:moveTo>
                      <a:pt x="363665" y="499863"/>
                    </a:moveTo>
                    <a:lnTo>
                      <a:pt x="338432" y="842658"/>
                    </a:lnTo>
                    <a:lnTo>
                      <a:pt x="338043" y="842287"/>
                    </a:lnTo>
                    <a:lnTo>
                      <a:pt x="338424" y="842763"/>
                    </a:lnTo>
                    <a:lnTo>
                      <a:pt x="338432" y="842658"/>
                    </a:lnTo>
                    <a:lnTo>
                      <a:pt x="381001" y="883244"/>
                    </a:lnTo>
                    <a:lnTo>
                      <a:pt x="423959" y="842287"/>
                    </a:lnTo>
                    <a:lnTo>
                      <a:pt x="396527" y="499863"/>
                    </a:lnTo>
                    <a:close/>
                    <a:moveTo>
                      <a:pt x="381000" y="413852"/>
                    </a:moveTo>
                    <a:lnTo>
                      <a:pt x="354804" y="416394"/>
                    </a:lnTo>
                    <a:lnTo>
                      <a:pt x="346712" y="433284"/>
                    </a:lnTo>
                    <a:cubicBezTo>
                      <a:pt x="345739" y="451249"/>
                      <a:pt x="359514" y="466600"/>
                      <a:pt x="377479" y="467573"/>
                    </a:cubicBezTo>
                    <a:cubicBezTo>
                      <a:pt x="378652" y="467636"/>
                      <a:pt x="379828" y="467636"/>
                      <a:pt x="381001" y="467573"/>
                    </a:cubicBezTo>
                    <a:cubicBezTo>
                      <a:pt x="398965" y="468545"/>
                      <a:pt x="414317" y="454771"/>
                      <a:pt x="415289" y="436806"/>
                    </a:cubicBezTo>
                    <a:lnTo>
                      <a:pt x="408143" y="416515"/>
                    </a:lnTo>
                    <a:close/>
                    <a:moveTo>
                      <a:pt x="381000" y="368132"/>
                    </a:moveTo>
                    <a:cubicBezTo>
                      <a:pt x="581882" y="368132"/>
                      <a:pt x="759905" y="530724"/>
                      <a:pt x="759905" y="716176"/>
                    </a:cubicBezTo>
                    <a:lnTo>
                      <a:pt x="759905" y="1028596"/>
                    </a:lnTo>
                    <a:cubicBezTo>
                      <a:pt x="759957" y="1041168"/>
                      <a:pt x="749808" y="1051403"/>
                      <a:pt x="737236" y="1051456"/>
                    </a:cubicBezTo>
                    <a:cubicBezTo>
                      <a:pt x="737172" y="1051456"/>
                      <a:pt x="737108" y="1051456"/>
                      <a:pt x="737045" y="1051456"/>
                    </a:cubicBezTo>
                    <a:lnTo>
                      <a:pt x="645890" y="1051456"/>
                    </a:lnTo>
                    <a:cubicBezTo>
                      <a:pt x="633265" y="1051508"/>
                      <a:pt x="622988" y="1041316"/>
                      <a:pt x="622935" y="1028691"/>
                    </a:cubicBezTo>
                    <a:cubicBezTo>
                      <a:pt x="622935" y="1028659"/>
                      <a:pt x="622935" y="1028627"/>
                      <a:pt x="622935" y="1028596"/>
                    </a:cubicBezTo>
                    <a:lnTo>
                      <a:pt x="622935" y="731416"/>
                    </a:lnTo>
                    <a:lnTo>
                      <a:pt x="607695" y="731416"/>
                    </a:lnTo>
                    <a:lnTo>
                      <a:pt x="607695" y="1028596"/>
                    </a:lnTo>
                    <a:cubicBezTo>
                      <a:pt x="607748" y="1041168"/>
                      <a:pt x="597599" y="1051403"/>
                      <a:pt x="585026" y="1051456"/>
                    </a:cubicBezTo>
                    <a:cubicBezTo>
                      <a:pt x="584962" y="1051456"/>
                      <a:pt x="584899" y="1051456"/>
                      <a:pt x="584835" y="1051456"/>
                    </a:cubicBezTo>
                    <a:lnTo>
                      <a:pt x="529849" y="1051456"/>
                    </a:lnTo>
                    <a:lnTo>
                      <a:pt x="522907" y="1062915"/>
                    </a:lnTo>
                    <a:cubicBezTo>
                      <a:pt x="513783" y="1072970"/>
                      <a:pt x="500823" y="1079544"/>
                      <a:pt x="486189" y="1080254"/>
                    </a:cubicBezTo>
                    <a:cubicBezTo>
                      <a:pt x="485322" y="1080296"/>
                      <a:pt x="484453" y="1080317"/>
                      <a:pt x="483584" y="1080317"/>
                    </a:cubicBezTo>
                    <a:cubicBezTo>
                      <a:pt x="455037" y="1080956"/>
                      <a:pt x="431353" y="1058379"/>
                      <a:pt x="430625" y="1029834"/>
                    </a:cubicBezTo>
                    <a:lnTo>
                      <a:pt x="430626" y="1029834"/>
                    </a:lnTo>
                    <a:cubicBezTo>
                      <a:pt x="429205" y="1000568"/>
                      <a:pt x="451779" y="975691"/>
                      <a:pt x="481046" y="974271"/>
                    </a:cubicBezTo>
                    <a:cubicBezTo>
                      <a:pt x="502996" y="973205"/>
                      <a:pt x="522476" y="985637"/>
                      <a:pt x="531444" y="1004266"/>
                    </a:cubicBezTo>
                    <a:lnTo>
                      <a:pt x="531815" y="1005736"/>
                    </a:lnTo>
                    <a:lnTo>
                      <a:pt x="561975" y="1005736"/>
                    </a:lnTo>
                    <a:lnTo>
                      <a:pt x="561975" y="708555"/>
                    </a:lnTo>
                    <a:cubicBezTo>
                      <a:pt x="561923" y="695983"/>
                      <a:pt x="572072" y="685748"/>
                      <a:pt x="584644" y="685695"/>
                    </a:cubicBezTo>
                    <a:cubicBezTo>
                      <a:pt x="584708" y="685695"/>
                      <a:pt x="584772" y="685695"/>
                      <a:pt x="584835" y="685695"/>
                    </a:cubicBezTo>
                    <a:lnTo>
                      <a:pt x="645890" y="685696"/>
                    </a:lnTo>
                    <a:cubicBezTo>
                      <a:pt x="658463" y="685643"/>
                      <a:pt x="668698" y="695792"/>
                      <a:pt x="668750" y="708365"/>
                    </a:cubicBezTo>
                    <a:cubicBezTo>
                      <a:pt x="668751" y="708428"/>
                      <a:pt x="668751" y="708492"/>
                      <a:pt x="668750" y="708556"/>
                    </a:cubicBezTo>
                    <a:lnTo>
                      <a:pt x="668750" y="1005736"/>
                    </a:lnTo>
                    <a:lnTo>
                      <a:pt x="714375" y="1005736"/>
                    </a:lnTo>
                    <a:lnTo>
                      <a:pt x="714375" y="716176"/>
                    </a:lnTo>
                    <a:cubicBezTo>
                      <a:pt x="714375" y="576159"/>
                      <a:pt x="595652" y="449705"/>
                      <a:pt x="446519" y="420279"/>
                    </a:cubicBezTo>
                    <a:lnTo>
                      <a:pt x="445326" y="420162"/>
                    </a:lnTo>
                    <a:lnTo>
                      <a:pt x="448268" y="430499"/>
                    </a:lnTo>
                    <a:cubicBezTo>
                      <a:pt x="449616" y="447728"/>
                      <a:pt x="443852" y="463871"/>
                      <a:pt x="433445" y="476044"/>
                    </a:cubicBezTo>
                    <a:lnTo>
                      <a:pt x="425445" y="480115"/>
                    </a:lnTo>
                    <a:lnTo>
                      <a:pt x="426919" y="483361"/>
                    </a:lnTo>
                    <a:cubicBezTo>
                      <a:pt x="426932" y="483750"/>
                      <a:pt x="426929" y="484139"/>
                      <a:pt x="426911" y="484528"/>
                    </a:cubicBezTo>
                    <a:lnTo>
                      <a:pt x="454725" y="844858"/>
                    </a:lnTo>
                    <a:cubicBezTo>
                      <a:pt x="454616" y="849579"/>
                      <a:pt x="452826" y="854105"/>
                      <a:pt x="449676" y="857622"/>
                    </a:cubicBezTo>
                    <a:lnTo>
                      <a:pt x="391478" y="916867"/>
                    </a:lnTo>
                    <a:cubicBezTo>
                      <a:pt x="388713" y="919566"/>
                      <a:pt x="385191" y="921360"/>
                      <a:pt x="381382" y="922011"/>
                    </a:cubicBezTo>
                    <a:lnTo>
                      <a:pt x="381001" y="921535"/>
                    </a:lnTo>
                    <a:cubicBezTo>
                      <a:pt x="375953" y="921535"/>
                      <a:pt x="373476" y="918963"/>
                      <a:pt x="368428" y="916391"/>
                    </a:cubicBezTo>
                    <a:lnTo>
                      <a:pt x="310230" y="860194"/>
                    </a:lnTo>
                    <a:cubicBezTo>
                      <a:pt x="307658" y="855050"/>
                      <a:pt x="305182" y="852574"/>
                      <a:pt x="305182" y="847430"/>
                    </a:cubicBezTo>
                    <a:lnTo>
                      <a:pt x="333376" y="484528"/>
                    </a:lnTo>
                    <a:lnTo>
                      <a:pt x="335226" y="482655"/>
                    </a:lnTo>
                    <a:lnTo>
                      <a:pt x="320535" y="464159"/>
                    </a:lnTo>
                    <a:cubicBezTo>
                      <a:pt x="316794" y="456942"/>
                      <a:pt x="314407" y="448872"/>
                      <a:pt x="313733" y="440258"/>
                    </a:cubicBezTo>
                    <a:lnTo>
                      <a:pt x="316182" y="420141"/>
                    </a:lnTo>
                    <a:lnTo>
                      <a:pt x="314758" y="420279"/>
                    </a:lnTo>
                    <a:cubicBezTo>
                      <a:pt x="164157" y="449705"/>
                      <a:pt x="45434" y="576159"/>
                      <a:pt x="45434" y="716176"/>
                    </a:cubicBezTo>
                    <a:lnTo>
                      <a:pt x="45434" y="1005736"/>
                    </a:lnTo>
                    <a:lnTo>
                      <a:pt x="91154" y="1005736"/>
                    </a:lnTo>
                    <a:lnTo>
                      <a:pt x="91154" y="708555"/>
                    </a:lnTo>
                    <a:cubicBezTo>
                      <a:pt x="91102" y="695983"/>
                      <a:pt x="101251" y="685748"/>
                      <a:pt x="113824" y="685695"/>
                    </a:cubicBezTo>
                    <a:cubicBezTo>
                      <a:pt x="113887" y="685695"/>
                      <a:pt x="113951" y="685695"/>
                      <a:pt x="114014" y="685695"/>
                    </a:cubicBezTo>
                    <a:lnTo>
                      <a:pt x="175070" y="685696"/>
                    </a:lnTo>
                    <a:cubicBezTo>
                      <a:pt x="187642" y="685643"/>
                      <a:pt x="197877" y="695792"/>
                      <a:pt x="197930" y="708365"/>
                    </a:cubicBezTo>
                    <a:cubicBezTo>
                      <a:pt x="197930" y="708428"/>
                      <a:pt x="197930" y="708492"/>
                      <a:pt x="197930" y="708556"/>
                    </a:cubicBezTo>
                    <a:lnTo>
                      <a:pt x="197930" y="1005736"/>
                    </a:lnTo>
                    <a:lnTo>
                      <a:pt x="282763" y="1005736"/>
                    </a:lnTo>
                    <a:lnTo>
                      <a:pt x="290971" y="992910"/>
                    </a:lnTo>
                    <a:cubicBezTo>
                      <a:pt x="300104" y="983329"/>
                      <a:pt x="312892" y="977232"/>
                      <a:pt x="327170" y="976890"/>
                    </a:cubicBezTo>
                    <a:cubicBezTo>
                      <a:pt x="355726" y="976206"/>
                      <a:pt x="379430" y="998801"/>
                      <a:pt x="380114" y="1027358"/>
                    </a:cubicBezTo>
                    <a:cubicBezTo>
                      <a:pt x="380798" y="1055914"/>
                      <a:pt x="358203" y="1079618"/>
                      <a:pt x="329646" y="1080302"/>
                    </a:cubicBezTo>
                    <a:cubicBezTo>
                      <a:pt x="329239" y="1080312"/>
                      <a:pt x="328831" y="1080317"/>
                      <a:pt x="328423" y="1080317"/>
                    </a:cubicBezTo>
                    <a:cubicBezTo>
                      <a:pt x="314317" y="1080476"/>
                      <a:pt x="301478" y="1074908"/>
                      <a:pt x="292120" y="1065774"/>
                    </a:cubicBezTo>
                    <a:lnTo>
                      <a:pt x="282208" y="1051456"/>
                    </a:lnTo>
                    <a:lnTo>
                      <a:pt x="175451" y="1051456"/>
                    </a:lnTo>
                    <a:cubicBezTo>
                      <a:pt x="162878" y="1051508"/>
                      <a:pt x="152643" y="1041359"/>
                      <a:pt x="152591" y="1028786"/>
                    </a:cubicBezTo>
                    <a:cubicBezTo>
                      <a:pt x="152590" y="1028723"/>
                      <a:pt x="152590" y="1028659"/>
                      <a:pt x="152591" y="1028595"/>
                    </a:cubicBezTo>
                    <a:lnTo>
                      <a:pt x="152591" y="731416"/>
                    </a:lnTo>
                    <a:lnTo>
                      <a:pt x="137351" y="731416"/>
                    </a:lnTo>
                    <a:lnTo>
                      <a:pt x="137351" y="1028596"/>
                    </a:lnTo>
                    <a:cubicBezTo>
                      <a:pt x="137351" y="1041221"/>
                      <a:pt x="127116" y="1051456"/>
                      <a:pt x="114491" y="1051456"/>
                    </a:cubicBezTo>
                    <a:cubicBezTo>
                      <a:pt x="114459" y="1051456"/>
                      <a:pt x="114427" y="1051456"/>
                      <a:pt x="114395" y="1051456"/>
                    </a:cubicBezTo>
                    <a:lnTo>
                      <a:pt x="22860" y="1051456"/>
                    </a:lnTo>
                    <a:cubicBezTo>
                      <a:pt x="10288" y="1051508"/>
                      <a:pt x="53" y="1041359"/>
                      <a:pt x="0" y="1028786"/>
                    </a:cubicBezTo>
                    <a:cubicBezTo>
                      <a:pt x="0" y="1028723"/>
                      <a:pt x="0" y="1028659"/>
                      <a:pt x="0" y="1028595"/>
                    </a:cubicBezTo>
                    <a:lnTo>
                      <a:pt x="0" y="716176"/>
                    </a:lnTo>
                    <a:cubicBezTo>
                      <a:pt x="0" y="530724"/>
                      <a:pt x="178022" y="368132"/>
                      <a:pt x="381000" y="368132"/>
                    </a:cubicBezTo>
                    <a:close/>
                    <a:moveTo>
                      <a:pt x="382619" y="48284"/>
                    </a:moveTo>
                    <a:cubicBezTo>
                      <a:pt x="308978" y="47387"/>
                      <a:pt x="248552" y="106358"/>
                      <a:pt x="247655" y="180000"/>
                    </a:cubicBezTo>
                    <a:cubicBezTo>
                      <a:pt x="247653" y="180163"/>
                      <a:pt x="247651" y="180327"/>
                      <a:pt x="247650" y="180491"/>
                    </a:cubicBezTo>
                    <a:cubicBezTo>
                      <a:pt x="247650" y="254138"/>
                      <a:pt x="307353" y="313841"/>
                      <a:pt x="381000" y="313841"/>
                    </a:cubicBezTo>
                    <a:cubicBezTo>
                      <a:pt x="454647" y="313841"/>
                      <a:pt x="514350" y="254138"/>
                      <a:pt x="514350" y="180491"/>
                    </a:cubicBezTo>
                    <a:cubicBezTo>
                      <a:pt x="513733" y="107917"/>
                      <a:pt x="455190" y="49162"/>
                      <a:pt x="382619" y="48284"/>
                    </a:cubicBezTo>
                    <a:close/>
                    <a:moveTo>
                      <a:pt x="379671" y="4"/>
                    </a:moveTo>
                    <a:cubicBezTo>
                      <a:pt x="478671" y="-675"/>
                      <a:pt x="559478" y="79030"/>
                      <a:pt x="560157" y="178031"/>
                    </a:cubicBezTo>
                    <a:cubicBezTo>
                      <a:pt x="560835" y="276840"/>
                      <a:pt x="481427" y="357565"/>
                      <a:pt x="382619" y="358513"/>
                    </a:cubicBezTo>
                    <a:cubicBezTo>
                      <a:pt x="283780" y="359619"/>
                      <a:pt x="202759" y="280391"/>
                      <a:pt x="201653" y="181552"/>
                    </a:cubicBezTo>
                    <a:cubicBezTo>
                      <a:pt x="201649" y="181198"/>
                      <a:pt x="201646" y="180844"/>
                      <a:pt x="201644" y="180491"/>
                    </a:cubicBezTo>
                    <a:cubicBezTo>
                      <a:pt x="200965" y="81490"/>
                      <a:pt x="280670" y="684"/>
                      <a:pt x="379671" y="4"/>
                    </a:cubicBezTo>
                    <a:close/>
                  </a:path>
                </a:pathLst>
              </a:custGeom>
              <a:solidFill>
                <a:srgbClr val="1D1D1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9E56EF88-8997-41AC-8EED-1C807362EC83}"/>
                  </a:ext>
                </a:extLst>
              </p:cNvPr>
              <p:cNvSpPr/>
              <p:nvPr/>
            </p:nvSpPr>
            <p:spPr>
              <a:xfrm>
                <a:off x="2868980" y="5483470"/>
                <a:ext cx="695519" cy="50273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Noc</a:t>
                </a:r>
                <a:r>
                  <a:rPr kumimoji="0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工程师</a:t>
                </a:r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FD1FD81E-4F4C-45A3-815E-FBF35F87AE67}"/>
                  </a:ext>
                </a:extLst>
              </p:cNvPr>
              <p:cNvSpPr/>
              <p:nvPr/>
            </p:nvSpPr>
            <p:spPr>
              <a:xfrm>
                <a:off x="3615308" y="5400056"/>
                <a:ext cx="951036" cy="213367"/>
              </a:xfrm>
              <a:prstGeom prst="rect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SD-LAN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平台</a:t>
                </a:r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377ABD7B-86F9-4FC0-9C20-545FFAA36BF7}"/>
                  </a:ext>
                </a:extLst>
              </p:cNvPr>
              <p:cNvSpPr/>
              <p:nvPr/>
            </p:nvSpPr>
            <p:spPr>
              <a:xfrm>
                <a:off x="2704765" y="5308881"/>
                <a:ext cx="2128090" cy="667599"/>
              </a:xfrm>
              <a:prstGeom prst="ellipse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5939F0E-EBD2-4247-91A1-0677FB026041}"/>
                  </a:ext>
                </a:extLst>
              </p:cNvPr>
              <p:cNvSpPr/>
              <p:nvPr/>
            </p:nvSpPr>
            <p:spPr>
              <a:xfrm>
                <a:off x="3715544" y="5678072"/>
                <a:ext cx="750565" cy="213367"/>
              </a:xfrm>
              <a:prstGeom prst="rect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LAN 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设备</a:t>
                </a:r>
              </a:p>
            </p:txBody>
          </p:sp>
        </p:grpSp>
      </p:grpSp>
      <p:sp>
        <p:nvSpPr>
          <p:cNvPr id="218" name="Rounded Rectangle 75">
            <a:extLst>
              <a:ext uri="{FF2B5EF4-FFF2-40B4-BE49-F238E27FC236}">
                <a16:creationId xmlns:a16="http://schemas.microsoft.com/office/drawing/2014/main" id="{10971FF9-53B9-4519-9E9C-EBDC4249B08D}"/>
              </a:ext>
            </a:extLst>
          </p:cNvPr>
          <p:cNvSpPr/>
          <p:nvPr/>
        </p:nvSpPr>
        <p:spPr>
          <a:xfrm>
            <a:off x="5473334" y="1467616"/>
            <a:ext cx="5697658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375C3085-5D73-4A04-AE23-0794F18B1B1C}"/>
              </a:ext>
            </a:extLst>
          </p:cNvPr>
          <p:cNvCxnSpPr>
            <a:cxnSpLocks/>
          </p:cNvCxnSpPr>
          <p:nvPr/>
        </p:nvCxnSpPr>
        <p:spPr>
          <a:xfrm>
            <a:off x="5995749" y="5122220"/>
            <a:ext cx="4774169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A76518D7-1C53-45A0-9F1F-E8BEC25E9A94}"/>
              </a:ext>
            </a:extLst>
          </p:cNvPr>
          <p:cNvCxnSpPr>
            <a:cxnSpLocks/>
          </p:cNvCxnSpPr>
          <p:nvPr/>
        </p:nvCxnSpPr>
        <p:spPr>
          <a:xfrm flipV="1">
            <a:off x="7224071" y="2537923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84FE40D9-4779-41E0-8BAB-8553FCCB0EA4}"/>
              </a:ext>
            </a:extLst>
          </p:cNvPr>
          <p:cNvCxnSpPr>
            <a:cxnSpLocks/>
          </p:cNvCxnSpPr>
          <p:nvPr/>
        </p:nvCxnSpPr>
        <p:spPr>
          <a:xfrm flipV="1">
            <a:off x="8898314" y="2543250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222" name="文本框 221">
            <a:extLst>
              <a:ext uri="{FF2B5EF4-FFF2-40B4-BE49-F238E27FC236}">
                <a16:creationId xmlns:a16="http://schemas.microsoft.com/office/drawing/2014/main" id="{63D12541-1EEA-47AF-B66C-EFC66E6DE1E4}"/>
              </a:ext>
            </a:extLst>
          </p:cNvPr>
          <p:cNvSpPr txBox="1"/>
          <p:nvPr/>
        </p:nvSpPr>
        <p:spPr>
          <a:xfrm>
            <a:off x="5507094" y="2404114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通过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Catalog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方式提供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F89186E9-46E4-4181-B3E1-FF79DFD39FBE}"/>
              </a:ext>
            </a:extLst>
          </p:cNvPr>
          <p:cNvSpPr txBox="1"/>
          <p:nvPr/>
        </p:nvSpPr>
        <p:spPr>
          <a:xfrm>
            <a:off x="7238022" y="2404114"/>
            <a:ext cx="1660291" cy="1730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提供的产品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28830E0-9E8F-4D04-B617-0AF4AA6A16ED}"/>
              </a:ext>
            </a:extLst>
          </p:cNvPr>
          <p:cNvSpPr txBox="1"/>
          <p:nvPr/>
        </p:nvSpPr>
        <p:spPr>
          <a:xfrm>
            <a:off x="9012594" y="2404114"/>
            <a:ext cx="2054268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的份额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486A36C6-9EC7-4515-915A-9E19EE68EB77}"/>
              </a:ext>
            </a:extLst>
          </p:cNvPr>
          <p:cNvSpPr txBox="1"/>
          <p:nvPr/>
        </p:nvSpPr>
        <p:spPr>
          <a:xfrm>
            <a:off x="5507094" y="1699702"/>
            <a:ext cx="5663899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Managed LAN是OB核心托管服务之一，厂商以Cisco与HPE为主，Fortinet近年加入；Evolution Platform提供云管平台+NOC管理服务（估算）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1A8E0385-6F59-4F95-B49F-59462E0ED92A}"/>
              </a:ext>
            </a:extLst>
          </p:cNvPr>
          <p:cNvSpPr txBox="1"/>
          <p:nvPr/>
        </p:nvSpPr>
        <p:spPr>
          <a:xfrm>
            <a:off x="5693111" y="5392747"/>
            <a:ext cx="1320443" cy="47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LAN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托管服务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711ADA92-8D3F-4090-9862-4B8CE6E79665}"/>
              </a:ext>
            </a:extLst>
          </p:cNvPr>
          <p:cNvSpPr txBox="1"/>
          <p:nvPr/>
        </p:nvSpPr>
        <p:spPr>
          <a:xfrm>
            <a:off x="7414338" y="5393323"/>
            <a:ext cx="1320443" cy="476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服务中不含设备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设备由客户单独采购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84B88CBF-7FA0-4E44-BD28-8CBF97E87429}"/>
              </a:ext>
            </a:extLst>
          </p:cNvPr>
          <p:cNvSpPr txBox="1"/>
          <p:nvPr/>
        </p:nvSpPr>
        <p:spPr>
          <a:xfrm>
            <a:off x="9431203" y="5519653"/>
            <a:ext cx="1320443" cy="223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最终用户现网设备</a:t>
            </a: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39141A45-63C0-481F-89F3-E19F56276A4A}"/>
              </a:ext>
            </a:extLst>
          </p:cNvPr>
          <p:cNvSpPr txBox="1"/>
          <p:nvPr/>
        </p:nvSpPr>
        <p:spPr>
          <a:xfrm>
            <a:off x="5723125" y="3298041"/>
            <a:ext cx="1320443" cy="730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Managed LAN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LAN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部分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设备空间：60M$（估）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76395432-7E2E-404B-A67B-95501C68B931}"/>
              </a:ext>
            </a:extLst>
          </p:cNvPr>
          <p:cNvSpPr txBox="1"/>
          <p:nvPr/>
        </p:nvSpPr>
        <p:spPr>
          <a:xfrm>
            <a:off x="7388821" y="3055893"/>
            <a:ext cx="1387754" cy="1692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SD-LAN 设备：Meraki MS；Aruba CX；FortiSwitch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  <a:p>
            <a:pPr marL="0" marR="0" lvl="0" indent="0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Cloud Wi-Fi设备：Meraki MR；Aruba AP；FortiAP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  <a:p>
            <a:pPr marL="0" marR="0" lvl="0" indent="0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AF161316-D3B9-49BB-AB63-FD7BEA994D85}"/>
              </a:ext>
            </a:extLst>
          </p:cNvPr>
          <p:cNvSpPr/>
          <p:nvPr/>
        </p:nvSpPr>
        <p:spPr>
          <a:xfrm>
            <a:off x="9254452" y="3071962"/>
            <a:ext cx="163193" cy="452157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0B5FD919-1A15-4A83-93AF-73705A86460E}"/>
              </a:ext>
            </a:extLst>
          </p:cNvPr>
          <p:cNvSpPr txBox="1"/>
          <p:nvPr/>
        </p:nvSpPr>
        <p:spPr>
          <a:xfrm>
            <a:off x="9020670" y="3524119"/>
            <a:ext cx="616297" cy="1819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8FA5CBBB-C0A5-4B28-AE5C-9F8C6C6F89A3}"/>
              </a:ext>
            </a:extLst>
          </p:cNvPr>
          <p:cNvSpPr txBox="1"/>
          <p:nvPr/>
        </p:nvSpPr>
        <p:spPr>
          <a:xfrm>
            <a:off x="10439063" y="3516891"/>
            <a:ext cx="723761" cy="1819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Fortinet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1225BB40-2994-4BE3-8711-A3E82E6721CD}"/>
              </a:ext>
            </a:extLst>
          </p:cNvPr>
          <p:cNvSpPr/>
          <p:nvPr/>
        </p:nvSpPr>
        <p:spPr>
          <a:xfrm>
            <a:off x="10726577" y="3264433"/>
            <a:ext cx="144811" cy="255189"/>
          </a:xfrm>
          <a:prstGeom prst="rect">
            <a:avLst/>
          </a:prstGeom>
          <a:solidFill>
            <a:srgbClr val="66BA37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FAE009E-32A3-4679-BD5F-3E8719544295}"/>
              </a:ext>
            </a:extLst>
          </p:cNvPr>
          <p:cNvSpPr txBox="1"/>
          <p:nvPr/>
        </p:nvSpPr>
        <p:spPr>
          <a:xfrm>
            <a:off x="9707134" y="3521387"/>
            <a:ext cx="723761" cy="1819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HPE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F66BA605-B237-47BB-BFC1-BB0B553E5E64}"/>
              </a:ext>
            </a:extLst>
          </p:cNvPr>
          <p:cNvSpPr/>
          <p:nvPr/>
        </p:nvSpPr>
        <p:spPr>
          <a:xfrm>
            <a:off x="9996609" y="3071962"/>
            <a:ext cx="144811" cy="452157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7B464083-87F3-49AC-B475-D23777FEF40A}"/>
              </a:ext>
            </a:extLst>
          </p:cNvPr>
          <p:cNvSpPr txBox="1"/>
          <p:nvPr/>
        </p:nvSpPr>
        <p:spPr>
          <a:xfrm>
            <a:off x="10430895" y="3033652"/>
            <a:ext cx="723761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F50B26A4-4AE0-43E0-8FD1-ADABDA50CBC6}"/>
              </a:ext>
            </a:extLst>
          </p:cNvPr>
          <p:cNvSpPr txBox="1"/>
          <p:nvPr/>
        </p:nvSpPr>
        <p:spPr>
          <a:xfrm>
            <a:off x="9707134" y="2821880"/>
            <a:ext cx="723761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A2D036C5-A92D-49B3-A617-585F392913E2}"/>
              </a:ext>
            </a:extLst>
          </p:cNvPr>
          <p:cNvSpPr txBox="1"/>
          <p:nvPr/>
        </p:nvSpPr>
        <p:spPr>
          <a:xfrm>
            <a:off x="9128723" y="2821880"/>
            <a:ext cx="361956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3ECA94F9-EC1A-4CB3-B3C9-D5C5D22803B2}"/>
              </a:ext>
            </a:extLst>
          </p:cNvPr>
          <p:cNvCxnSpPr>
            <a:cxnSpLocks/>
          </p:cNvCxnSpPr>
          <p:nvPr/>
        </p:nvCxnSpPr>
        <p:spPr>
          <a:xfrm>
            <a:off x="8962480" y="3513978"/>
            <a:ext cx="2089413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2929BD4E-403C-4447-AE82-2629773244DA}"/>
              </a:ext>
            </a:extLst>
          </p:cNvPr>
          <p:cNvSpPr txBox="1"/>
          <p:nvPr/>
        </p:nvSpPr>
        <p:spPr>
          <a:xfrm>
            <a:off x="9681276" y="2631097"/>
            <a:ext cx="75937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Cloud Wi-Fi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DB6A84EE-6ADF-4AF1-A8B6-AB5983502EBE}"/>
              </a:ext>
            </a:extLst>
          </p:cNvPr>
          <p:cNvSpPr/>
          <p:nvPr/>
        </p:nvSpPr>
        <p:spPr>
          <a:xfrm>
            <a:off x="9638743" y="4336821"/>
            <a:ext cx="163193" cy="40752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9BFCD052-77B1-4655-83FB-7FE61BCF66F2}"/>
              </a:ext>
            </a:extLst>
          </p:cNvPr>
          <p:cNvSpPr txBox="1"/>
          <p:nvPr/>
        </p:nvSpPr>
        <p:spPr>
          <a:xfrm>
            <a:off x="9404961" y="4744343"/>
            <a:ext cx="616297" cy="161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CE677D7F-B153-48D2-AC5B-AF345F33C5EC}"/>
              </a:ext>
            </a:extLst>
          </p:cNvPr>
          <p:cNvSpPr txBox="1"/>
          <p:nvPr/>
        </p:nvSpPr>
        <p:spPr>
          <a:xfrm>
            <a:off x="10091424" y="4741881"/>
            <a:ext cx="723761" cy="161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HPE</a:t>
            </a:r>
            <a:endParaRPr kumimoji="1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02CD3A97-4333-47BE-8C68-10151878AD6E}"/>
              </a:ext>
            </a:extLst>
          </p:cNvPr>
          <p:cNvSpPr/>
          <p:nvPr/>
        </p:nvSpPr>
        <p:spPr>
          <a:xfrm>
            <a:off x="10380899" y="4336821"/>
            <a:ext cx="144811" cy="407521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FBC09E68-1A65-45F8-9189-136C605AA8C5}"/>
              </a:ext>
            </a:extLst>
          </p:cNvPr>
          <p:cNvSpPr txBox="1"/>
          <p:nvPr/>
        </p:nvSpPr>
        <p:spPr>
          <a:xfrm>
            <a:off x="10091424" y="4111427"/>
            <a:ext cx="723761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7B6C4A02-9875-4410-94DC-D8FF427446B4}"/>
              </a:ext>
            </a:extLst>
          </p:cNvPr>
          <p:cNvSpPr txBox="1"/>
          <p:nvPr/>
        </p:nvSpPr>
        <p:spPr>
          <a:xfrm>
            <a:off x="9513014" y="4111427"/>
            <a:ext cx="361956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8AC088D9-C995-4CDD-8E09-D4D0C6F623CD}"/>
              </a:ext>
            </a:extLst>
          </p:cNvPr>
          <p:cNvCxnSpPr>
            <a:cxnSpLocks/>
          </p:cNvCxnSpPr>
          <p:nvPr/>
        </p:nvCxnSpPr>
        <p:spPr>
          <a:xfrm flipV="1">
            <a:off x="9346770" y="4740992"/>
            <a:ext cx="1423148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D5F4E5D-3EFB-4331-9A91-BBBCBE6AE4CF}"/>
              </a:ext>
            </a:extLst>
          </p:cNvPr>
          <p:cNvSpPr txBox="1"/>
          <p:nvPr/>
        </p:nvSpPr>
        <p:spPr>
          <a:xfrm>
            <a:off x="9638743" y="3899745"/>
            <a:ext cx="951559" cy="2033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SD-LAN(</a:t>
            </a: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交换机</a:t>
            </a: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1B7A311F-3453-4674-A40C-938DF6B28E62}"/>
              </a:ext>
            </a:extLst>
          </p:cNvPr>
          <p:cNvSpPr/>
          <p:nvPr/>
        </p:nvSpPr>
        <p:spPr>
          <a:xfrm>
            <a:off x="3835391" y="5830704"/>
            <a:ext cx="750272" cy="21328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现网存量</a:t>
            </a:r>
          </a:p>
        </p:txBody>
      </p:sp>
    </p:spTree>
    <p:extLst>
      <p:ext uri="{BB962C8B-B14F-4D97-AF65-F5344CB8AC3E}">
        <p14:creationId xmlns:p14="http://schemas.microsoft.com/office/powerpoint/2010/main" val="348091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zh-CN" altLang="en-US" sz="2000" dirty="0"/>
              <a:t>云服务：自有主权云+合资Bleu+伙伴云转售，为政企提供可信云服务</a:t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967720A2-6332-4251-B1F4-25B895ED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79" y="5327308"/>
            <a:ext cx="903263" cy="676576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A36E7AF8-926F-4E8F-98DD-DB2FDC1A2870}"/>
              </a:ext>
            </a:extLst>
          </p:cNvPr>
          <p:cNvSpPr txBox="1"/>
          <p:nvPr/>
        </p:nvSpPr>
        <p:spPr>
          <a:xfrm>
            <a:off x="685983" y="1587636"/>
            <a:ext cx="4665216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Cloud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Managed Cloud Service</a:t>
            </a:r>
          </a:p>
        </p:txBody>
      </p:sp>
      <p:sp>
        <p:nvSpPr>
          <p:cNvPr id="68" name="Rounded Rectangle 75">
            <a:extLst>
              <a:ext uri="{FF2B5EF4-FFF2-40B4-BE49-F238E27FC236}">
                <a16:creationId xmlns:a16="http://schemas.microsoft.com/office/drawing/2014/main" id="{F69650FA-C08A-4831-9EC1-C6CD6F118A39}"/>
              </a:ext>
            </a:extLst>
          </p:cNvPr>
          <p:cNvSpPr/>
          <p:nvPr/>
        </p:nvSpPr>
        <p:spPr>
          <a:xfrm>
            <a:off x="666255" y="1449268"/>
            <a:ext cx="4684945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5BF753-A9F3-4644-8212-F0EE4E6A1BBA}"/>
              </a:ext>
            </a:extLst>
          </p:cNvPr>
          <p:cNvSpPr txBox="1"/>
          <p:nvPr/>
        </p:nvSpPr>
        <p:spPr>
          <a:xfrm>
            <a:off x="1478798" y="1996493"/>
            <a:ext cx="1601223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>年收入约650M€（估算）</a:t>
            </a:r>
            <a:r>
              <a: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/>
            </a:r>
          </a:p>
        </p:txBody>
      </p:sp>
      <p:sp>
        <p:nvSpPr>
          <p:cNvPr id="70" name="不完整圆 69">
            <a:extLst>
              <a:ext uri="{FF2B5EF4-FFF2-40B4-BE49-F238E27FC236}">
                <a16:creationId xmlns:a16="http://schemas.microsoft.com/office/drawing/2014/main" id="{67B56C35-BAB7-4CC3-813C-0D3DE8F8E921}"/>
              </a:ext>
            </a:extLst>
          </p:cNvPr>
          <p:cNvSpPr/>
          <p:nvPr/>
        </p:nvSpPr>
        <p:spPr>
          <a:xfrm>
            <a:off x="3289607" y="2118453"/>
            <a:ext cx="665284" cy="718672"/>
          </a:xfrm>
          <a:prstGeom prst="pie">
            <a:avLst>
              <a:gd name="adj1" fmla="val 13062462"/>
              <a:gd name="adj2" fmla="val 1620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9C209B4-4748-42C7-AD43-17C4A6D082F8}"/>
              </a:ext>
            </a:extLst>
          </p:cNvPr>
          <p:cNvSpPr txBox="1"/>
          <p:nvPr/>
        </p:nvSpPr>
        <p:spPr>
          <a:xfrm>
            <a:off x="3662746" y="2058486"/>
            <a:ext cx="665284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9%</a:t>
            </a:r>
          </a:p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OB收入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/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5E6D28DD-E159-48D7-B716-F7909595763C}"/>
              </a:ext>
            </a:extLst>
          </p:cNvPr>
          <p:cNvGrpSpPr/>
          <p:nvPr/>
        </p:nvGrpSpPr>
        <p:grpSpPr>
          <a:xfrm>
            <a:off x="884117" y="3141979"/>
            <a:ext cx="4319085" cy="2763416"/>
            <a:chOff x="812924" y="1705911"/>
            <a:chExt cx="4879146" cy="2779295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22108AF-A56B-430D-B080-4AC4C99DCABC}"/>
                </a:ext>
              </a:extLst>
            </p:cNvPr>
            <p:cNvSpPr/>
            <p:nvPr/>
          </p:nvSpPr>
          <p:spPr>
            <a:xfrm>
              <a:off x="2358671" y="2452885"/>
              <a:ext cx="3176987" cy="2032321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9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0BEB0A33-4B62-4484-9BD3-25C97A19F22D}"/>
                </a:ext>
              </a:extLst>
            </p:cNvPr>
            <p:cNvSpPr/>
            <p:nvPr/>
          </p:nvSpPr>
          <p:spPr>
            <a:xfrm>
              <a:off x="831312" y="1705911"/>
              <a:ext cx="4860758" cy="2779295"/>
            </a:xfrm>
            <a:custGeom>
              <a:avLst/>
              <a:gdLst>
                <a:gd name="connsiteX0" fmla="*/ 132348 w 4860758"/>
                <a:gd name="connsiteY0" fmla="*/ 36095 h 2779295"/>
                <a:gd name="connsiteX1" fmla="*/ 902403 w 4860758"/>
                <a:gd name="connsiteY1" fmla="*/ 39034 h 2779295"/>
                <a:gd name="connsiteX2" fmla="*/ 1436038 w 4860758"/>
                <a:gd name="connsiteY2" fmla="*/ 41071 h 2779295"/>
                <a:gd name="connsiteX3" fmla="*/ 2016957 w 4860758"/>
                <a:gd name="connsiteY3" fmla="*/ 43288 h 2779295"/>
                <a:gd name="connsiteX4" fmla="*/ 2550592 w 4860758"/>
                <a:gd name="connsiteY4" fmla="*/ 45325 h 2779295"/>
                <a:gd name="connsiteX5" fmla="*/ 3226079 w 4860758"/>
                <a:gd name="connsiteY5" fmla="*/ 47903 h 2779295"/>
                <a:gd name="connsiteX6" fmla="*/ 3996134 w 4860758"/>
                <a:gd name="connsiteY6" fmla="*/ 50842 h 2779295"/>
                <a:gd name="connsiteX7" fmla="*/ 4860758 w 4860758"/>
                <a:gd name="connsiteY7" fmla="*/ 54142 h 2779295"/>
                <a:gd name="connsiteX8" fmla="*/ 4818648 w 4860758"/>
                <a:gd name="connsiteY8" fmla="*/ 595563 h 2779295"/>
                <a:gd name="connsiteX9" fmla="*/ 4092241 w 4860758"/>
                <a:gd name="connsiteY9" fmla="*/ 599353 h 2779295"/>
                <a:gd name="connsiteX10" fmla="*/ 3400426 w 4860758"/>
                <a:gd name="connsiteY10" fmla="*/ 602963 h 2779295"/>
                <a:gd name="connsiteX11" fmla="*/ 2812382 w 4860758"/>
                <a:gd name="connsiteY11" fmla="*/ 606031 h 2779295"/>
                <a:gd name="connsiteX12" fmla="*/ 2051385 w 4860758"/>
                <a:gd name="connsiteY12" fmla="*/ 610001 h 2779295"/>
                <a:gd name="connsiteX13" fmla="*/ 1359569 w 4860758"/>
                <a:gd name="connsiteY13" fmla="*/ 613611 h 2779295"/>
                <a:gd name="connsiteX14" fmla="*/ 1347537 w 4860758"/>
                <a:gd name="connsiteY14" fmla="*/ 2779295 h 2779295"/>
                <a:gd name="connsiteX15" fmla="*/ 649946 w 4860758"/>
                <a:gd name="connsiteY15" fmla="*/ 2760526 h 2779295"/>
                <a:gd name="connsiteX16" fmla="*/ 6016 w 4860758"/>
                <a:gd name="connsiteY16" fmla="*/ 2743200 h 2779295"/>
                <a:gd name="connsiteX17" fmla="*/ 0 w 4860758"/>
                <a:gd name="connsiteY17" fmla="*/ 2664995 h 2779295"/>
                <a:gd name="connsiteX18" fmla="*/ 20334 w 4860758"/>
                <a:gd name="connsiteY18" fmla="*/ 1975225 h 2779295"/>
                <a:gd name="connsiteX19" fmla="*/ 38321 w 4860758"/>
                <a:gd name="connsiteY19" fmla="*/ 1365043 h 2779295"/>
                <a:gd name="connsiteX20" fmla="*/ 58655 w 4860758"/>
                <a:gd name="connsiteY20" fmla="*/ 675273 h 2779295"/>
                <a:gd name="connsiteX21" fmla="*/ 78206 w 4860758"/>
                <a:gd name="connsiteY21" fmla="*/ 12032 h 2779295"/>
                <a:gd name="connsiteX22" fmla="*/ 270711 w 4860758"/>
                <a:gd name="connsiteY22" fmla="*/ 12032 h 2779295"/>
                <a:gd name="connsiteX23" fmla="*/ 312821 w 4860758"/>
                <a:gd name="connsiteY23" fmla="*/ 0 h 2779295"/>
                <a:gd name="connsiteX24" fmla="*/ 336885 w 4860758"/>
                <a:gd name="connsiteY24" fmla="*/ 48127 h 277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60758" h="2779295" fill="none" extrusionOk="0">
                  <a:moveTo>
                    <a:pt x="132348" y="36095"/>
                  </a:moveTo>
                  <a:cubicBezTo>
                    <a:pt x="471917" y="46429"/>
                    <a:pt x="625289" y="38115"/>
                    <a:pt x="902403" y="39034"/>
                  </a:cubicBezTo>
                  <a:cubicBezTo>
                    <a:pt x="1179517" y="39953"/>
                    <a:pt x="1259551" y="22640"/>
                    <a:pt x="1436038" y="41071"/>
                  </a:cubicBezTo>
                  <a:cubicBezTo>
                    <a:pt x="1612525" y="59502"/>
                    <a:pt x="1877392" y="44674"/>
                    <a:pt x="2016957" y="43288"/>
                  </a:cubicBezTo>
                  <a:cubicBezTo>
                    <a:pt x="2156522" y="41902"/>
                    <a:pt x="2308210" y="60852"/>
                    <a:pt x="2550592" y="45325"/>
                  </a:cubicBezTo>
                  <a:cubicBezTo>
                    <a:pt x="2792974" y="29798"/>
                    <a:pt x="2981107" y="60924"/>
                    <a:pt x="3226079" y="47903"/>
                  </a:cubicBezTo>
                  <a:cubicBezTo>
                    <a:pt x="3471051" y="34882"/>
                    <a:pt x="3681566" y="28854"/>
                    <a:pt x="3996134" y="50842"/>
                  </a:cubicBezTo>
                  <a:cubicBezTo>
                    <a:pt x="4310702" y="72830"/>
                    <a:pt x="4647529" y="17001"/>
                    <a:pt x="4860758" y="54142"/>
                  </a:cubicBezTo>
                  <a:cubicBezTo>
                    <a:pt x="4846857" y="269534"/>
                    <a:pt x="4854769" y="424123"/>
                    <a:pt x="4818648" y="595563"/>
                  </a:cubicBezTo>
                  <a:cubicBezTo>
                    <a:pt x="4520487" y="591810"/>
                    <a:pt x="4364507" y="613821"/>
                    <a:pt x="4092241" y="599353"/>
                  </a:cubicBezTo>
                  <a:cubicBezTo>
                    <a:pt x="3819975" y="584885"/>
                    <a:pt x="3676352" y="610386"/>
                    <a:pt x="3400426" y="602963"/>
                  </a:cubicBezTo>
                  <a:cubicBezTo>
                    <a:pt x="3124500" y="595540"/>
                    <a:pt x="3057957" y="611244"/>
                    <a:pt x="2812382" y="606031"/>
                  </a:cubicBezTo>
                  <a:cubicBezTo>
                    <a:pt x="2566807" y="600817"/>
                    <a:pt x="2244600" y="636957"/>
                    <a:pt x="2051385" y="610001"/>
                  </a:cubicBezTo>
                  <a:cubicBezTo>
                    <a:pt x="1858169" y="583045"/>
                    <a:pt x="1674124" y="592036"/>
                    <a:pt x="1359569" y="613611"/>
                  </a:cubicBezTo>
                  <a:cubicBezTo>
                    <a:pt x="1299225" y="1398549"/>
                    <a:pt x="1377142" y="1952727"/>
                    <a:pt x="1347537" y="2779295"/>
                  </a:cubicBezTo>
                  <a:cubicBezTo>
                    <a:pt x="1079468" y="2749461"/>
                    <a:pt x="948185" y="2800826"/>
                    <a:pt x="649946" y="2760526"/>
                  </a:cubicBezTo>
                  <a:cubicBezTo>
                    <a:pt x="351707" y="2720226"/>
                    <a:pt x="250954" y="2721292"/>
                    <a:pt x="6016" y="2743200"/>
                  </a:cubicBezTo>
                  <a:cubicBezTo>
                    <a:pt x="1775" y="2727289"/>
                    <a:pt x="4969" y="2701664"/>
                    <a:pt x="0" y="2664995"/>
                  </a:cubicBezTo>
                  <a:cubicBezTo>
                    <a:pt x="-18030" y="2398603"/>
                    <a:pt x="8500" y="2282588"/>
                    <a:pt x="20334" y="1975225"/>
                  </a:cubicBezTo>
                  <a:cubicBezTo>
                    <a:pt x="32167" y="1667862"/>
                    <a:pt x="11054" y="1558709"/>
                    <a:pt x="38321" y="1365043"/>
                  </a:cubicBezTo>
                  <a:cubicBezTo>
                    <a:pt x="65588" y="1171377"/>
                    <a:pt x="26470" y="954055"/>
                    <a:pt x="58655" y="675273"/>
                  </a:cubicBezTo>
                  <a:cubicBezTo>
                    <a:pt x="90840" y="396491"/>
                    <a:pt x="64300" y="291466"/>
                    <a:pt x="78206" y="12032"/>
                  </a:cubicBezTo>
                  <a:cubicBezTo>
                    <a:pt x="130112" y="14861"/>
                    <a:pt x="208136" y="10476"/>
                    <a:pt x="270711" y="12032"/>
                  </a:cubicBezTo>
                  <a:cubicBezTo>
                    <a:pt x="291201" y="5091"/>
                    <a:pt x="295176" y="3164"/>
                    <a:pt x="312821" y="0"/>
                  </a:cubicBezTo>
                  <a:cubicBezTo>
                    <a:pt x="321637" y="21486"/>
                    <a:pt x="327203" y="33606"/>
                    <a:pt x="336885" y="48127"/>
                  </a:cubicBezTo>
                </a:path>
                <a:path w="4860758" h="2779295" stroke="0" extrusionOk="0">
                  <a:moveTo>
                    <a:pt x="132348" y="36095"/>
                  </a:moveTo>
                  <a:cubicBezTo>
                    <a:pt x="466268" y="39910"/>
                    <a:pt x="609520" y="44467"/>
                    <a:pt x="807835" y="38673"/>
                  </a:cubicBezTo>
                  <a:cubicBezTo>
                    <a:pt x="1006150" y="32880"/>
                    <a:pt x="1407573" y="39398"/>
                    <a:pt x="1577890" y="41612"/>
                  </a:cubicBezTo>
                  <a:cubicBezTo>
                    <a:pt x="1748207" y="43826"/>
                    <a:pt x="2058477" y="69423"/>
                    <a:pt x="2347946" y="44551"/>
                  </a:cubicBezTo>
                  <a:cubicBezTo>
                    <a:pt x="2637415" y="19679"/>
                    <a:pt x="2693190" y="58975"/>
                    <a:pt x="3023433" y="47129"/>
                  </a:cubicBezTo>
                  <a:cubicBezTo>
                    <a:pt x="3353676" y="35283"/>
                    <a:pt x="3358258" y="73474"/>
                    <a:pt x="3604352" y="49347"/>
                  </a:cubicBezTo>
                  <a:cubicBezTo>
                    <a:pt x="3850446" y="25219"/>
                    <a:pt x="3957741" y="40564"/>
                    <a:pt x="4137987" y="51383"/>
                  </a:cubicBezTo>
                  <a:cubicBezTo>
                    <a:pt x="4318233" y="62202"/>
                    <a:pt x="4572978" y="65004"/>
                    <a:pt x="4860758" y="54142"/>
                  </a:cubicBezTo>
                  <a:cubicBezTo>
                    <a:pt x="4837905" y="229243"/>
                    <a:pt x="4848453" y="454984"/>
                    <a:pt x="4818648" y="595563"/>
                  </a:cubicBezTo>
                  <a:cubicBezTo>
                    <a:pt x="4624543" y="632390"/>
                    <a:pt x="4369814" y="573077"/>
                    <a:pt x="4057651" y="599534"/>
                  </a:cubicBezTo>
                  <a:cubicBezTo>
                    <a:pt x="3745488" y="625991"/>
                    <a:pt x="3750111" y="593759"/>
                    <a:pt x="3469607" y="602602"/>
                  </a:cubicBezTo>
                  <a:cubicBezTo>
                    <a:pt x="3189103" y="611445"/>
                    <a:pt x="3057491" y="620269"/>
                    <a:pt x="2708610" y="606572"/>
                  </a:cubicBezTo>
                  <a:cubicBezTo>
                    <a:pt x="2359729" y="592876"/>
                    <a:pt x="2138290" y="631706"/>
                    <a:pt x="1947612" y="610543"/>
                  </a:cubicBezTo>
                  <a:cubicBezTo>
                    <a:pt x="1756934" y="589380"/>
                    <a:pt x="1586411" y="612024"/>
                    <a:pt x="1359569" y="613611"/>
                  </a:cubicBezTo>
                  <a:cubicBezTo>
                    <a:pt x="1231187" y="1317381"/>
                    <a:pt x="1332285" y="2010048"/>
                    <a:pt x="1347537" y="2779295"/>
                  </a:cubicBezTo>
                  <a:cubicBezTo>
                    <a:pt x="1072161" y="2795186"/>
                    <a:pt x="917014" y="2770136"/>
                    <a:pt x="717022" y="2762330"/>
                  </a:cubicBezTo>
                  <a:cubicBezTo>
                    <a:pt x="517030" y="2754525"/>
                    <a:pt x="275246" y="2732644"/>
                    <a:pt x="6016" y="2743200"/>
                  </a:cubicBezTo>
                  <a:cubicBezTo>
                    <a:pt x="6115" y="2719304"/>
                    <a:pt x="5377" y="2702933"/>
                    <a:pt x="0" y="2664995"/>
                  </a:cubicBezTo>
                  <a:cubicBezTo>
                    <a:pt x="724" y="2364676"/>
                    <a:pt x="2935" y="2216234"/>
                    <a:pt x="17987" y="2054814"/>
                  </a:cubicBezTo>
                  <a:cubicBezTo>
                    <a:pt x="33039" y="1893394"/>
                    <a:pt x="62136" y="1529961"/>
                    <a:pt x="39103" y="1338514"/>
                  </a:cubicBezTo>
                  <a:cubicBezTo>
                    <a:pt x="16070" y="1147067"/>
                    <a:pt x="62392" y="980959"/>
                    <a:pt x="59437" y="648743"/>
                  </a:cubicBezTo>
                  <a:cubicBezTo>
                    <a:pt x="56482" y="316527"/>
                    <a:pt x="82909" y="152525"/>
                    <a:pt x="78206" y="12032"/>
                  </a:cubicBezTo>
                  <a:cubicBezTo>
                    <a:pt x="159813" y="12881"/>
                    <a:pt x="179558" y="3010"/>
                    <a:pt x="270711" y="12032"/>
                  </a:cubicBezTo>
                  <a:cubicBezTo>
                    <a:pt x="281285" y="8821"/>
                    <a:pt x="293047" y="7523"/>
                    <a:pt x="312821" y="0"/>
                  </a:cubicBezTo>
                  <a:cubicBezTo>
                    <a:pt x="322247" y="13898"/>
                    <a:pt x="332357" y="36495"/>
                    <a:pt x="336885" y="48127"/>
                  </a:cubicBezTo>
                </a:path>
              </a:pathLst>
            </a:cu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132348 w 4860758"/>
                        <a:gd name="connsiteY0" fmla="*/ 36095 h 2779295"/>
                        <a:gd name="connsiteX1" fmla="*/ 4860758 w 4860758"/>
                        <a:gd name="connsiteY1" fmla="*/ 54142 h 2779295"/>
                        <a:gd name="connsiteX2" fmla="*/ 4818648 w 4860758"/>
                        <a:gd name="connsiteY2" fmla="*/ 595563 h 2779295"/>
                        <a:gd name="connsiteX3" fmla="*/ 1359569 w 4860758"/>
                        <a:gd name="connsiteY3" fmla="*/ 613611 h 2779295"/>
                        <a:gd name="connsiteX4" fmla="*/ 1347537 w 4860758"/>
                        <a:gd name="connsiteY4" fmla="*/ 2779295 h 2779295"/>
                        <a:gd name="connsiteX5" fmla="*/ 6016 w 4860758"/>
                        <a:gd name="connsiteY5" fmla="*/ 2743200 h 2779295"/>
                        <a:gd name="connsiteX6" fmla="*/ 0 w 4860758"/>
                        <a:gd name="connsiteY6" fmla="*/ 2664995 h 2779295"/>
                        <a:gd name="connsiteX7" fmla="*/ 78206 w 4860758"/>
                        <a:gd name="connsiteY7" fmla="*/ 12032 h 2779295"/>
                        <a:gd name="connsiteX8" fmla="*/ 270711 w 4860758"/>
                        <a:gd name="connsiteY8" fmla="*/ 12032 h 2779295"/>
                        <a:gd name="connsiteX9" fmla="*/ 312821 w 4860758"/>
                        <a:gd name="connsiteY9" fmla="*/ 0 h 2779295"/>
                        <a:gd name="connsiteX10" fmla="*/ 336885 w 4860758"/>
                        <a:gd name="connsiteY10" fmla="*/ 48127 h 2779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860758" h="2779295">
                          <a:moveTo>
                            <a:pt x="132348" y="36095"/>
                          </a:moveTo>
                          <a:lnTo>
                            <a:pt x="4860758" y="54142"/>
                          </a:lnTo>
                          <a:lnTo>
                            <a:pt x="4818648" y="595563"/>
                          </a:lnTo>
                          <a:lnTo>
                            <a:pt x="1359569" y="613611"/>
                          </a:lnTo>
                          <a:cubicBezTo>
                            <a:pt x="1355558" y="1335506"/>
                            <a:pt x="1351548" y="2057400"/>
                            <a:pt x="1347537" y="2779295"/>
                          </a:cubicBezTo>
                          <a:lnTo>
                            <a:pt x="6016" y="2743200"/>
                          </a:lnTo>
                          <a:lnTo>
                            <a:pt x="0" y="2664995"/>
                          </a:lnTo>
                          <a:lnTo>
                            <a:pt x="78206" y="12032"/>
                          </a:lnTo>
                          <a:lnTo>
                            <a:pt x="270711" y="12032"/>
                          </a:lnTo>
                          <a:lnTo>
                            <a:pt x="312821" y="0"/>
                          </a:lnTo>
                          <a:lnTo>
                            <a:pt x="336885" y="48127"/>
                          </a:ln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9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95D238C-F327-40AC-BB7A-B7E07BBAAB7F}"/>
                </a:ext>
              </a:extLst>
            </p:cNvPr>
            <p:cNvSpPr/>
            <p:nvPr/>
          </p:nvSpPr>
          <p:spPr>
            <a:xfrm>
              <a:off x="4142169" y="3802339"/>
              <a:ext cx="1118935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伙伴云转售</a:t>
              </a: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AAG、Oracle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A807D95C-45A8-4974-B3E2-F0F83F969084}"/>
                </a:ext>
              </a:extLst>
            </p:cNvPr>
            <p:cNvSpPr/>
            <p:nvPr/>
          </p:nvSpPr>
          <p:spPr>
            <a:xfrm>
              <a:off x="2888457" y="3802339"/>
              <a:ext cx="1118935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自有云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(Cloud Avenue/FE)</a:t>
              </a:r>
              <a:r>
                <a:rPr kumimoji="0" lang="en-US" altLang="zh-CN" sz="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A34D4F5-52B0-4FFC-A0FA-083FC86EF5A7}"/>
                </a:ext>
              </a:extLst>
            </p:cNvPr>
            <p:cNvSpPr/>
            <p:nvPr/>
          </p:nvSpPr>
          <p:spPr>
            <a:xfrm>
              <a:off x="1044562" y="3811852"/>
              <a:ext cx="833691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主权云Bleu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C37E769-CFFE-4136-8742-B67256BCF39B}"/>
                </a:ext>
              </a:extLst>
            </p:cNvPr>
            <p:cNvSpPr/>
            <p:nvPr/>
          </p:nvSpPr>
          <p:spPr>
            <a:xfrm>
              <a:off x="2840586" y="3152971"/>
              <a:ext cx="2420518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统一的企业级容器管理平台（Kubernetes）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B3A24DC2-7BB3-4EC5-B5BF-1CD447B49FC8}"/>
                </a:ext>
              </a:extLst>
            </p:cNvPr>
            <p:cNvSpPr/>
            <p:nvPr/>
          </p:nvSpPr>
          <p:spPr>
            <a:xfrm>
              <a:off x="1941825" y="3799687"/>
              <a:ext cx="833691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客户</a:t>
              </a: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私有云</a:t>
              </a: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367989C-559E-4E0F-98DE-2B21BBADAE28}"/>
                </a:ext>
              </a:extLst>
            </p:cNvPr>
            <p:cNvCxnSpPr>
              <a:cxnSpLocks/>
              <a:stCxn id="78" idx="2"/>
              <a:endCxn id="79" idx="0"/>
            </p:cNvCxnSpPr>
            <p:nvPr/>
          </p:nvCxnSpPr>
          <p:spPr>
            <a:xfrm flipH="1">
              <a:off x="2358671" y="3471282"/>
              <a:ext cx="1692174" cy="328405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5565BC5-AC39-4E96-8D94-A9F4C80E1C69}"/>
                </a:ext>
              </a:extLst>
            </p:cNvPr>
            <p:cNvCxnSpPr>
              <a:cxnSpLocks/>
              <a:stCxn id="78" idx="2"/>
              <a:endCxn id="76" idx="0"/>
            </p:cNvCxnSpPr>
            <p:nvPr/>
          </p:nvCxnSpPr>
          <p:spPr>
            <a:xfrm flipH="1">
              <a:off x="3447925" y="3471282"/>
              <a:ext cx="602920" cy="331057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42146413-21D6-4F8A-A2E9-8EEF90376065}"/>
                </a:ext>
              </a:extLst>
            </p:cNvPr>
            <p:cNvCxnSpPr>
              <a:cxnSpLocks/>
              <a:stCxn id="78" idx="2"/>
              <a:endCxn id="75" idx="0"/>
            </p:cNvCxnSpPr>
            <p:nvPr/>
          </p:nvCxnSpPr>
          <p:spPr>
            <a:xfrm>
              <a:off x="4050845" y="3471282"/>
              <a:ext cx="650792" cy="331057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9C51AF2-E5C0-4DF7-9717-8754BC44B416}"/>
                </a:ext>
              </a:extLst>
            </p:cNvPr>
            <p:cNvSpPr/>
            <p:nvPr/>
          </p:nvSpPr>
          <p:spPr>
            <a:xfrm>
              <a:off x="4675130" y="2461388"/>
              <a:ext cx="938734" cy="17008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OB提供</a:t>
              </a: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A787E67-EC22-44BE-B8E1-446CB2FF7606}"/>
                </a:ext>
              </a:extLst>
            </p:cNvPr>
            <p:cNvSpPr/>
            <p:nvPr/>
          </p:nvSpPr>
          <p:spPr>
            <a:xfrm>
              <a:off x="2840585" y="2708083"/>
              <a:ext cx="2420518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混合云管理服务中心（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DOC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）</a:t>
              </a: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2DB62087-5F36-4067-BDE7-065FFCD5F2FF}"/>
                </a:ext>
              </a:extLst>
            </p:cNvPr>
            <p:cNvCxnSpPr>
              <a:cxnSpLocks/>
              <a:stCxn id="84" idx="2"/>
              <a:endCxn id="78" idx="0"/>
            </p:cNvCxnSpPr>
            <p:nvPr/>
          </p:nvCxnSpPr>
          <p:spPr>
            <a:xfrm>
              <a:off x="4050845" y="3026394"/>
              <a:ext cx="0" cy="126577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4295F55C-27DB-4E7D-9A33-30BED7A70FC7}"/>
                </a:ext>
              </a:extLst>
            </p:cNvPr>
            <p:cNvSpPr/>
            <p:nvPr/>
          </p:nvSpPr>
          <p:spPr>
            <a:xfrm>
              <a:off x="1044562" y="3325914"/>
              <a:ext cx="833691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云接入服务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81103F5-125C-49E6-B313-2F9A7F47B846}"/>
                </a:ext>
              </a:extLst>
            </p:cNvPr>
            <p:cNvSpPr/>
            <p:nvPr/>
          </p:nvSpPr>
          <p:spPr>
            <a:xfrm>
              <a:off x="812924" y="2308309"/>
              <a:ext cx="862832" cy="17243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OB提供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/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B974B038-7A90-4F4E-8A4A-4C389CC21009}"/>
                </a:ext>
              </a:extLst>
            </p:cNvPr>
            <p:cNvSpPr/>
            <p:nvPr/>
          </p:nvSpPr>
          <p:spPr>
            <a:xfrm>
              <a:off x="1153757" y="1867266"/>
              <a:ext cx="4279634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Cloud Portal 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云管理服务</a:t>
              </a:r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1DC28B9-8030-425D-9F91-165279ABDBEA}"/>
                </a:ext>
              </a:extLst>
            </p:cNvPr>
            <p:cNvCxnSpPr>
              <a:cxnSpLocks/>
              <a:stCxn id="151" idx="2"/>
              <a:endCxn id="84" idx="0"/>
            </p:cNvCxnSpPr>
            <p:nvPr/>
          </p:nvCxnSpPr>
          <p:spPr>
            <a:xfrm>
              <a:off x="3293575" y="2185577"/>
              <a:ext cx="757270" cy="522505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D2AB5DA8-AEF9-4227-8AB1-0C3558CF0493}"/>
                </a:ext>
              </a:extLst>
            </p:cNvPr>
            <p:cNvSpPr/>
            <p:nvPr/>
          </p:nvSpPr>
          <p:spPr>
            <a:xfrm>
              <a:off x="4273089" y="1881821"/>
              <a:ext cx="897263" cy="27889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告警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报表</a:t>
              </a: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8B5D881F-5D51-4897-A9ED-9A1CA2167FBB}"/>
                </a:ext>
              </a:extLst>
            </p:cNvPr>
            <p:cNvSpPr/>
            <p:nvPr/>
          </p:nvSpPr>
          <p:spPr>
            <a:xfrm>
              <a:off x="1355496" y="1888886"/>
              <a:ext cx="897263" cy="27889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托管服务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专业服务</a:t>
              </a:r>
            </a:p>
          </p:txBody>
        </p:sp>
      </p:grpSp>
      <p:sp>
        <p:nvSpPr>
          <p:cNvPr id="155" name="文本框 154">
            <a:extLst>
              <a:ext uri="{FF2B5EF4-FFF2-40B4-BE49-F238E27FC236}">
                <a16:creationId xmlns:a16="http://schemas.microsoft.com/office/drawing/2014/main" id="{1A6FC932-2900-4AE2-A3EA-CDF0423AB31C}"/>
              </a:ext>
            </a:extLst>
          </p:cNvPr>
          <p:cNvSpPr txBox="1"/>
          <p:nvPr/>
        </p:nvSpPr>
        <p:spPr>
          <a:xfrm>
            <a:off x="685984" y="2651878"/>
            <a:ext cx="4665216" cy="4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由三部分组成：1、云服务转售（自有云+伙伴云）2、云迁移/管理服务；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defTabSz="914112"/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3、主权云（Cloud Avenue SecNum + Bleu合资）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</a:p>
        </p:txBody>
      </p:sp>
      <p:sp>
        <p:nvSpPr>
          <p:cNvPr id="156" name="Rounded Rectangle 75">
            <a:extLst>
              <a:ext uri="{FF2B5EF4-FFF2-40B4-BE49-F238E27FC236}">
                <a16:creationId xmlns:a16="http://schemas.microsoft.com/office/drawing/2014/main" id="{1F5ADE24-5CC2-4266-BA57-EE4330527BFD}"/>
              </a:ext>
            </a:extLst>
          </p:cNvPr>
          <p:cNvSpPr/>
          <p:nvPr/>
        </p:nvSpPr>
        <p:spPr>
          <a:xfrm>
            <a:off x="5473334" y="1467616"/>
            <a:ext cx="5697658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002E7CE-5376-4CA4-A6C5-A391BC8B2CBE}"/>
              </a:ext>
            </a:extLst>
          </p:cNvPr>
          <p:cNvSpPr txBox="1"/>
          <p:nvPr/>
        </p:nvSpPr>
        <p:spPr>
          <a:xfrm>
            <a:off x="5473334" y="1566404"/>
            <a:ext cx="5697659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自有云=Cloud Avenue（SecNumCloud）+ Flexible Engine（华为云栈）；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与Capgemini/微软合资Bleu提供M365主权云，OB自身70% IT迁入Bleu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BA8DF212-FE62-4E47-A340-96B06DFFED89}"/>
              </a:ext>
            </a:extLst>
          </p:cNvPr>
          <p:cNvCxnSpPr>
            <a:cxnSpLocks/>
          </p:cNvCxnSpPr>
          <p:nvPr/>
        </p:nvCxnSpPr>
        <p:spPr>
          <a:xfrm>
            <a:off x="5773753" y="3147366"/>
            <a:ext cx="5080507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4FD95F02-F4F3-4519-95E4-4ACC221BAA04}"/>
              </a:ext>
            </a:extLst>
          </p:cNvPr>
          <p:cNvCxnSpPr>
            <a:cxnSpLocks/>
          </p:cNvCxnSpPr>
          <p:nvPr/>
        </p:nvCxnSpPr>
        <p:spPr>
          <a:xfrm flipV="1">
            <a:off x="7274852" y="2224906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5CB266D8-861C-4714-9BC2-A23133E10FB0}"/>
              </a:ext>
            </a:extLst>
          </p:cNvPr>
          <p:cNvCxnSpPr>
            <a:cxnSpLocks/>
          </p:cNvCxnSpPr>
          <p:nvPr/>
        </p:nvCxnSpPr>
        <p:spPr>
          <a:xfrm>
            <a:off x="5812401" y="4777889"/>
            <a:ext cx="5080507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pic>
        <p:nvPicPr>
          <p:cNvPr id="161" name="图片 160">
            <a:extLst>
              <a:ext uri="{FF2B5EF4-FFF2-40B4-BE49-F238E27FC236}">
                <a16:creationId xmlns:a16="http://schemas.microsoft.com/office/drawing/2014/main" id="{D70C587F-2425-4407-A60D-51AE14316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53" y="5408568"/>
            <a:ext cx="5093885" cy="9521"/>
          </a:xfrm>
          <a:prstGeom prst="rect">
            <a:avLst/>
          </a:prstGeom>
        </p:spPr>
      </p:pic>
      <p:sp>
        <p:nvSpPr>
          <p:cNvPr id="162" name="文本框 161">
            <a:extLst>
              <a:ext uri="{FF2B5EF4-FFF2-40B4-BE49-F238E27FC236}">
                <a16:creationId xmlns:a16="http://schemas.microsoft.com/office/drawing/2014/main" id="{87F58E0D-C815-4A05-8972-3D4CC1EFA163}"/>
              </a:ext>
            </a:extLst>
          </p:cNvPr>
          <p:cNvSpPr txBox="1"/>
          <p:nvPr/>
        </p:nvSpPr>
        <p:spPr>
          <a:xfrm>
            <a:off x="5455990" y="2099434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云服务提供商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AEE91D2-13C7-4EBF-8118-FC17F9A494E1}"/>
              </a:ext>
            </a:extLst>
          </p:cNvPr>
          <p:cNvSpPr txBox="1"/>
          <p:nvPr/>
        </p:nvSpPr>
        <p:spPr>
          <a:xfrm>
            <a:off x="7238021" y="2099433"/>
            <a:ext cx="3838402" cy="169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与OB的合作方式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pic>
        <p:nvPicPr>
          <p:cNvPr id="164" name="图片 163">
            <a:extLst>
              <a:ext uri="{FF2B5EF4-FFF2-40B4-BE49-F238E27FC236}">
                <a16:creationId xmlns:a16="http://schemas.microsoft.com/office/drawing/2014/main" id="{6365A0DB-A88E-4A04-8EDE-E75AD7365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803" y="2420483"/>
            <a:ext cx="1068423" cy="669645"/>
          </a:xfrm>
          <a:prstGeom prst="rect">
            <a:avLst/>
          </a:prstGeom>
        </p:spPr>
      </p:pic>
      <p:sp>
        <p:nvSpPr>
          <p:cNvPr id="165" name="文本框 164">
            <a:extLst>
              <a:ext uri="{FF2B5EF4-FFF2-40B4-BE49-F238E27FC236}">
                <a16:creationId xmlns:a16="http://schemas.microsoft.com/office/drawing/2014/main" id="{0D1D66AE-1C1C-4AD6-B99D-EA8316EC661F}"/>
              </a:ext>
            </a:extLst>
          </p:cNvPr>
          <p:cNvSpPr txBox="1"/>
          <p:nvPr/>
        </p:nvSpPr>
        <p:spPr>
          <a:xfrm>
            <a:off x="7363717" y="2336384"/>
            <a:ext cx="3706186" cy="6768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法国云份额领先，M365是OB主要转售的SaaS服务。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2021年与Capgemini合资成立Bleu（Azure/M365主权云），2025年起商用并推进SecNumCloud资质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A6E200F7-FA49-4BDD-A075-ECB818B8C951}"/>
              </a:ext>
            </a:extLst>
          </p:cNvPr>
          <p:cNvSpPr txBox="1"/>
          <p:nvPr/>
        </p:nvSpPr>
        <p:spPr>
          <a:xfrm>
            <a:off x="6464734" y="2637980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180M$（估）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67" name="Picture 2" descr="Google Cloud gratis: qué es, límites y ventajas - Blog Ausum Cloud">
            <a:extLst>
              <a:ext uri="{FF2B5EF4-FFF2-40B4-BE49-F238E27FC236}">
                <a16:creationId xmlns:a16="http://schemas.microsoft.com/office/drawing/2014/main" id="{444255F1-2111-4200-A735-9BD805848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635" y="3156613"/>
            <a:ext cx="1389442" cy="77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" name="文本框 167">
            <a:extLst>
              <a:ext uri="{FF2B5EF4-FFF2-40B4-BE49-F238E27FC236}">
                <a16:creationId xmlns:a16="http://schemas.microsoft.com/office/drawing/2014/main" id="{2C099B47-D712-465F-BC2B-A4EA9A9FD746}"/>
              </a:ext>
            </a:extLst>
          </p:cNvPr>
          <p:cNvSpPr txBox="1"/>
          <p:nvPr/>
        </p:nvSpPr>
        <p:spPr>
          <a:xfrm>
            <a:off x="6464734" y="3451308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60M$（估）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FABE87C3-B400-4CAF-81C6-DF2A05E4EFDF}"/>
              </a:ext>
            </a:extLst>
          </p:cNvPr>
          <p:cNvSpPr txBox="1"/>
          <p:nvPr/>
        </p:nvSpPr>
        <p:spPr>
          <a:xfrm>
            <a:off x="7363717" y="3361494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GCP转售伙伴；法国主权云由Thales（S3NS）承载，与Orange无DC合作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2024年宣布法国区域扩容投资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746EF3B5-5E16-4BBD-A119-B67695FA4C2E}"/>
              </a:ext>
            </a:extLst>
          </p:cNvPr>
          <p:cNvCxnSpPr>
            <a:cxnSpLocks/>
          </p:cNvCxnSpPr>
          <p:nvPr/>
        </p:nvCxnSpPr>
        <p:spPr>
          <a:xfrm>
            <a:off x="5787131" y="3948000"/>
            <a:ext cx="5080507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pic>
        <p:nvPicPr>
          <p:cNvPr id="171" name="Picture 4" descr="Oracle ofrece formación y certificación gratuitas para su infraestructura  en la nube | Data Center Market">
            <a:extLst>
              <a:ext uri="{FF2B5EF4-FFF2-40B4-BE49-F238E27FC236}">
                <a16:creationId xmlns:a16="http://schemas.microsoft.com/office/drawing/2014/main" id="{0DEA44A9-3C6B-4F1A-B055-708AF779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456" y="4087550"/>
            <a:ext cx="1098923" cy="62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9C93C08E-B83C-4796-946C-BBD2F12B787B}"/>
              </a:ext>
            </a:extLst>
          </p:cNvPr>
          <p:cNvSpPr txBox="1"/>
          <p:nvPr/>
        </p:nvSpPr>
        <p:spPr>
          <a:xfrm>
            <a:off x="6464734" y="4270263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40M$（估）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71FB7B4B-D8D7-48BF-AB56-FB8ABA667568}"/>
              </a:ext>
            </a:extLst>
          </p:cNvPr>
          <p:cNvSpPr txBox="1"/>
          <p:nvPr/>
        </p:nvSpPr>
        <p:spPr>
          <a:xfrm>
            <a:off x="7363717" y="4222631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OCI转售与多云互联（与Cloud Avenue互通）；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聚焦数据库与ERP存量客户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</a:p>
        </p:txBody>
      </p:sp>
      <p:pic>
        <p:nvPicPr>
          <p:cNvPr id="174" name="Picture 6" descr="Servidor Cloud - acens">
            <a:extLst>
              <a:ext uri="{FF2B5EF4-FFF2-40B4-BE49-F238E27FC236}">
                <a16:creationId xmlns:a16="http://schemas.microsoft.com/office/drawing/2014/main" id="{DD02F1A7-15C7-460D-B882-53453F52E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586" y="4939453"/>
            <a:ext cx="909127" cy="30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" name="文本框 174">
            <a:extLst>
              <a:ext uri="{FF2B5EF4-FFF2-40B4-BE49-F238E27FC236}">
                <a16:creationId xmlns:a16="http://schemas.microsoft.com/office/drawing/2014/main" id="{90ABD54D-2ECE-4B28-866B-A03351332203}"/>
              </a:ext>
            </a:extLst>
          </p:cNvPr>
          <p:cNvSpPr txBox="1"/>
          <p:nvPr/>
        </p:nvSpPr>
        <p:spPr>
          <a:xfrm>
            <a:off x="6464734" y="4982887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150M$（估）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7D6CC1D8-68A0-419F-BD1C-61983620724B}"/>
              </a:ext>
            </a:extLst>
          </p:cNvPr>
          <p:cNvSpPr txBox="1"/>
          <p:nvPr/>
        </p:nvSpPr>
        <p:spPr>
          <a:xfrm>
            <a:off x="7363717" y="4924912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Cloud Avenue：SecNumCloud 3.2认证（2025.7），法国主权云标杆；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Flexible Engine服务跨国客户（基于华为OpenStack栈）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C909CFB5-260D-4D6B-A6A6-E5C7484CD704}"/>
              </a:ext>
            </a:extLst>
          </p:cNvPr>
          <p:cNvSpPr txBox="1"/>
          <p:nvPr/>
        </p:nvSpPr>
        <p:spPr>
          <a:xfrm>
            <a:off x="6464734" y="5553899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80M$（估）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B5FD8F39-90E9-4CD5-BB2E-ED972CA9AB70}"/>
              </a:ext>
            </a:extLst>
          </p:cNvPr>
          <p:cNvSpPr txBox="1"/>
          <p:nvPr/>
        </p:nvSpPr>
        <p:spPr>
          <a:xfrm>
            <a:off x="7363717" y="5547550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巴黎区域自运营；2024年宣布欧洲主权云投资78亿€（德国）；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主攻企业市场，与OB合作有限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/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5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4" y="121055"/>
            <a:ext cx="11741675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zh-CN" altLang="en-US" sz="2000" dirty="0"/>
              <a:t>安全托管服务和终端管理：Cyberdefense提供产商品，OB负责销售</a:t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 err="1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 err="1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</a:p>
        </p:txBody>
      </p:sp>
      <p:sp>
        <p:nvSpPr>
          <p:cNvPr id="62" name="Rounded Rectangle 75">
            <a:extLst>
              <a:ext uri="{FF2B5EF4-FFF2-40B4-BE49-F238E27FC236}">
                <a16:creationId xmlns:a16="http://schemas.microsoft.com/office/drawing/2014/main" id="{22694689-8A23-493F-B4F5-91EBC7005C58}"/>
              </a:ext>
            </a:extLst>
          </p:cNvPr>
          <p:cNvSpPr/>
          <p:nvPr/>
        </p:nvSpPr>
        <p:spPr>
          <a:xfrm>
            <a:off x="666255" y="1449267"/>
            <a:ext cx="5217897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Rounded Rectangle 75">
            <a:extLst>
              <a:ext uri="{FF2B5EF4-FFF2-40B4-BE49-F238E27FC236}">
                <a16:creationId xmlns:a16="http://schemas.microsoft.com/office/drawing/2014/main" id="{959F0D5C-CDC5-414C-B8EB-E974EF0F3195}"/>
              </a:ext>
            </a:extLst>
          </p:cNvPr>
          <p:cNvSpPr/>
          <p:nvPr/>
        </p:nvSpPr>
        <p:spPr>
          <a:xfrm>
            <a:off x="6096001" y="1449267"/>
            <a:ext cx="5126706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51ACDA2-EE2D-4F68-A8C7-354F62BCF69A}"/>
              </a:ext>
            </a:extLst>
          </p:cNvPr>
          <p:cNvSpPr txBox="1"/>
          <p:nvPr/>
        </p:nvSpPr>
        <p:spPr>
          <a:xfrm>
            <a:off x="1104920" y="1583517"/>
            <a:ext cx="2627423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安全管理服务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Managed Security Service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2694715-2F16-4EE2-95FD-04570E592AEC}"/>
              </a:ext>
            </a:extLst>
          </p:cNvPr>
          <p:cNvSpPr txBox="1"/>
          <p:nvPr/>
        </p:nvSpPr>
        <p:spPr>
          <a:xfrm>
            <a:off x="3626022" y="1606591"/>
            <a:ext cx="1896321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en-US" altLang="zh-CN" sz="1399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OCD收入1,300M€/年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69E43B4-165D-46EA-9C28-EE46A5EC596C}"/>
              </a:ext>
            </a:extLst>
          </p:cNvPr>
          <p:cNvSpPr txBox="1"/>
          <p:nvPr/>
        </p:nvSpPr>
        <p:spPr>
          <a:xfrm>
            <a:off x="2985508" y="2819898"/>
            <a:ext cx="2627423" cy="4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100" b="1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OCD于2016年起步，2019年收购SecureLink/SecureData，成为欧洲第一MSSP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F61C7AA3-C1D1-49B7-BDE7-D32C5FCA8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40974"/>
              </p:ext>
            </p:extLst>
          </p:nvPr>
        </p:nvGraphicFramePr>
        <p:xfrm>
          <a:off x="1126554" y="4065778"/>
          <a:ext cx="4462739" cy="1768944"/>
        </p:xfrm>
        <a:graphic>
          <a:graphicData uri="http://schemas.openxmlformats.org/drawingml/2006/table">
            <a:tbl>
              <a:tblPr/>
              <a:tblGrid>
                <a:gridCol w="1617632">
                  <a:extLst>
                    <a:ext uri="{9D8B030D-6E8A-4147-A177-3AD203B41FA5}">
                      <a16:colId xmlns:a16="http://schemas.microsoft.com/office/drawing/2014/main" val="1165736519"/>
                    </a:ext>
                  </a:extLst>
                </a:gridCol>
                <a:gridCol w="2845107">
                  <a:extLst>
                    <a:ext uri="{9D8B030D-6E8A-4147-A177-3AD203B41FA5}">
                      <a16:colId xmlns:a16="http://schemas.microsoft.com/office/drawing/2014/main" val="2863845242"/>
                    </a:ext>
                  </a:extLst>
                </a:gridCol>
              </a:tblGrid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安全服务分类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Vendor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合作厂商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306542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Detection &amp; Response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CrowdStrike, Palo Alto, SentinelOne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042893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CyberThreat Intelligence</a:t>
                      </a:r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自有World Watch, Recorded Future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596321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Vulnerability Risk Mgmt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Rapid7, Qualys, Tenable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231899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Network Security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Palo Alto, Fortinet, Netskope, Zscaler</a:t>
                      </a:r>
                      <a:r>
                        <a:rPr lang="zh-CN" alt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853865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Data Protection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Thales, Varonis, Microsoft Purview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394033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IoT/OT Security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Nozomi, Claroty, Fortinet OT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772567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Secure Microsoft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Microsoft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41687"/>
                  </a:ext>
                </a:extLst>
              </a:tr>
            </a:tbl>
          </a:graphicData>
        </a:graphic>
      </p:graphicFrame>
      <p:sp>
        <p:nvSpPr>
          <p:cNvPr id="68" name="矩形 67">
            <a:extLst>
              <a:ext uri="{FF2B5EF4-FFF2-40B4-BE49-F238E27FC236}">
                <a16:creationId xmlns:a16="http://schemas.microsoft.com/office/drawing/2014/main" id="{27DD276A-B38A-44CC-A2B3-FCE609FEFA71}"/>
              </a:ext>
            </a:extLst>
          </p:cNvPr>
          <p:cNvSpPr/>
          <p:nvPr/>
        </p:nvSpPr>
        <p:spPr>
          <a:xfrm>
            <a:off x="1972115" y="2323792"/>
            <a:ext cx="806472" cy="245011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SOC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中心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435F4AD-70FC-4618-BCEC-5287DB59D287}"/>
              </a:ext>
            </a:extLst>
          </p:cNvPr>
          <p:cNvSpPr/>
          <p:nvPr/>
        </p:nvSpPr>
        <p:spPr>
          <a:xfrm>
            <a:off x="994930" y="3072056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防火墙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183E78B-DAC9-4BEF-8209-7CBBC27299D5}"/>
              </a:ext>
            </a:extLst>
          </p:cNvPr>
          <p:cNvSpPr/>
          <p:nvPr/>
        </p:nvSpPr>
        <p:spPr>
          <a:xfrm>
            <a:off x="1908837" y="3072056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安全软件</a:t>
            </a:r>
          </a:p>
        </p:txBody>
      </p:sp>
      <p:sp>
        <p:nvSpPr>
          <p:cNvPr id="71" name="流程图: 过程 70">
            <a:extLst>
              <a:ext uri="{FF2B5EF4-FFF2-40B4-BE49-F238E27FC236}">
                <a16:creationId xmlns:a16="http://schemas.microsoft.com/office/drawing/2014/main" id="{0527DA98-FDD1-42DB-A3E3-25C98B126292}"/>
              </a:ext>
            </a:extLst>
          </p:cNvPr>
          <p:cNvSpPr/>
          <p:nvPr/>
        </p:nvSpPr>
        <p:spPr>
          <a:xfrm>
            <a:off x="1125570" y="3037311"/>
            <a:ext cx="732229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2" name="流程图: 过程 71">
            <a:extLst>
              <a:ext uri="{FF2B5EF4-FFF2-40B4-BE49-F238E27FC236}">
                <a16:creationId xmlns:a16="http://schemas.microsoft.com/office/drawing/2014/main" id="{75EDCC39-84A1-4A1B-B10C-02AE5B046EDD}"/>
              </a:ext>
            </a:extLst>
          </p:cNvPr>
          <p:cNvSpPr/>
          <p:nvPr/>
        </p:nvSpPr>
        <p:spPr>
          <a:xfrm>
            <a:off x="1995629" y="3037311"/>
            <a:ext cx="866190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4B21E95-0939-45A0-9E88-43F427CAB955}"/>
              </a:ext>
            </a:extLst>
          </p:cNvPr>
          <p:cNvGrpSpPr/>
          <p:nvPr/>
        </p:nvGrpSpPr>
        <p:grpSpPr>
          <a:xfrm>
            <a:off x="988337" y="2404562"/>
            <a:ext cx="881166" cy="590792"/>
            <a:chOff x="896712" y="2553916"/>
            <a:chExt cx="881510" cy="591023"/>
          </a:xfrm>
        </p:grpSpPr>
        <p:sp>
          <p:nvSpPr>
            <p:cNvPr id="74" name="云形 73">
              <a:extLst>
                <a:ext uri="{FF2B5EF4-FFF2-40B4-BE49-F238E27FC236}">
                  <a16:creationId xmlns:a16="http://schemas.microsoft.com/office/drawing/2014/main" id="{FDF6BAB3-8CF7-458D-99CD-8EEAA260CB5B}"/>
                </a:ext>
              </a:extLst>
            </p:cNvPr>
            <p:cNvSpPr/>
            <p:nvPr/>
          </p:nvSpPr>
          <p:spPr>
            <a:xfrm>
              <a:off x="896712" y="2553916"/>
              <a:ext cx="881510" cy="591023"/>
            </a:xfrm>
            <a:prstGeom prst="cloud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5" name="文本框 15389">
              <a:extLst>
                <a:ext uri="{FF2B5EF4-FFF2-40B4-BE49-F238E27FC236}">
                  <a16:creationId xmlns:a16="http://schemas.microsoft.com/office/drawing/2014/main" id="{6551F175-2DA3-445A-80BE-77DCF770E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386" y="2647142"/>
              <a:ext cx="781224" cy="420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ctr" defTabSz="121868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67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大网流量分析</a:t>
              </a:r>
              <a:endParaRPr kumimoji="0" lang="en-US" altLang="en-US" sz="10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1FB50B0-330A-44E5-AAAB-9E9E0B88DBB5}"/>
              </a:ext>
            </a:extLst>
          </p:cNvPr>
          <p:cNvCxnSpPr>
            <a:cxnSpLocks/>
            <a:stCxn id="71" idx="0"/>
            <a:endCxn id="68" idx="2"/>
          </p:cNvCxnSpPr>
          <p:nvPr/>
        </p:nvCxnSpPr>
        <p:spPr>
          <a:xfrm flipV="1">
            <a:off x="1491684" y="2568804"/>
            <a:ext cx="883667" cy="468508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Dot"/>
            <a:miter lim="800000"/>
          </a:ln>
          <a:effectLst/>
        </p:spPr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25BD1F8-3BC4-48C0-9065-E85F010F0D43}"/>
              </a:ext>
            </a:extLst>
          </p:cNvPr>
          <p:cNvCxnSpPr>
            <a:cxnSpLocks/>
            <a:stCxn id="72" idx="0"/>
            <a:endCxn id="68" idx="2"/>
          </p:cNvCxnSpPr>
          <p:nvPr/>
        </p:nvCxnSpPr>
        <p:spPr>
          <a:xfrm flipH="1" flipV="1">
            <a:off x="2375352" y="2568804"/>
            <a:ext cx="53372" cy="468508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Dot"/>
            <a:miter lim="800000"/>
          </a:ln>
          <a:effectLst/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38FC3D63-6710-4850-8420-80DAFAB61E19}"/>
              </a:ext>
            </a:extLst>
          </p:cNvPr>
          <p:cNvSpPr txBox="1"/>
          <p:nvPr/>
        </p:nvSpPr>
        <p:spPr>
          <a:xfrm>
            <a:off x="685532" y="3577724"/>
            <a:ext cx="5198620" cy="4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100" b="1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OCD提供40+安全Vendor方案集成，3,300+专家、23国、36个检测中心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1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112"/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2030年目标20亿€；每细类选择全球TOP伙伴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8D475BB9-72EE-4309-978A-4B859D326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887" y="2274314"/>
            <a:ext cx="1177980" cy="397760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00C0A6F0-5312-4B00-B183-253CEA6C8420}"/>
              </a:ext>
            </a:extLst>
          </p:cNvPr>
          <p:cNvSpPr txBox="1"/>
          <p:nvPr/>
        </p:nvSpPr>
        <p:spPr>
          <a:xfrm>
            <a:off x="6436838" y="1583517"/>
            <a:ext cx="2627423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办公终端管理服务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Device as a service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24926A6-C417-4AAE-9121-3762DFF6CF7B}"/>
              </a:ext>
            </a:extLst>
          </p:cNvPr>
          <p:cNvSpPr txBox="1"/>
          <p:nvPr/>
        </p:nvSpPr>
        <p:spPr>
          <a:xfrm>
            <a:off x="8942266" y="1591833"/>
            <a:ext cx="1902668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en-US" altLang="zh-CN" sz="1399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OB销售约200M€/年（估）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4E64A75-23C4-4B86-BA80-9C944D6010EC}"/>
              </a:ext>
            </a:extLst>
          </p:cNvPr>
          <p:cNvSpPr txBox="1"/>
          <p:nvPr/>
        </p:nvSpPr>
        <p:spPr>
          <a:xfrm>
            <a:off x="7685692" y="3289501"/>
            <a:ext cx="3501659" cy="26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由OB Digital Workspace提供设备供应、安全和远程服务（UEM）</a:t>
            </a:r>
            <a:r>
              <a:rPr lang="en-US" altLang="zh-CN" sz="1100" b="1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144B06-38B4-4C50-8151-68796C89135E}"/>
              </a:ext>
            </a:extLst>
          </p:cNvPr>
          <p:cNvSpPr txBox="1"/>
          <p:nvPr/>
        </p:nvSpPr>
        <p:spPr>
          <a:xfrm>
            <a:off x="6140082" y="2092058"/>
            <a:ext cx="1895529" cy="1107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终端管理服务产品包括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设备供应</a:t>
            </a:r>
            <a:endParaRPr lang="en-US" altLang="zh-CN" sz="11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一站服务坐席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远程设备维护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移动办公安全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虚拟桌面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VDI</a:t>
            </a:r>
            <a:endParaRPr lang="zh-CN" altLang="en-US" sz="11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BC1BD6F9-546F-4430-BD79-7C8AA2B0B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591" y="2064179"/>
            <a:ext cx="3159180" cy="1167247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920384E1-803A-49A7-96B3-7CE23D109910}"/>
              </a:ext>
            </a:extLst>
          </p:cNvPr>
          <p:cNvCxnSpPr>
            <a:cxnSpLocks/>
          </p:cNvCxnSpPr>
          <p:nvPr/>
        </p:nvCxnSpPr>
        <p:spPr>
          <a:xfrm>
            <a:off x="6298113" y="4644951"/>
            <a:ext cx="4774169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9C485D32-F4DD-4613-9CFD-CBA20E2253AF}"/>
              </a:ext>
            </a:extLst>
          </p:cNvPr>
          <p:cNvSpPr txBox="1"/>
          <p:nvPr/>
        </p:nvSpPr>
        <p:spPr>
          <a:xfrm>
            <a:off x="6309611" y="4185529"/>
            <a:ext cx="1099259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设备订阅</a:t>
            </a: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5F8CCFA8-173B-467B-A388-6286CFE3B310}"/>
              </a:ext>
            </a:extLst>
          </p:cNvPr>
          <p:cNvCxnSpPr>
            <a:cxnSpLocks/>
          </p:cNvCxnSpPr>
          <p:nvPr/>
        </p:nvCxnSpPr>
        <p:spPr>
          <a:xfrm flipV="1">
            <a:off x="7469432" y="3783515"/>
            <a:ext cx="0" cy="205119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B28D242F-5A04-480E-9122-C7BDE4E37AAC}"/>
              </a:ext>
            </a:extLst>
          </p:cNvPr>
          <p:cNvSpPr txBox="1"/>
          <p:nvPr/>
        </p:nvSpPr>
        <p:spPr>
          <a:xfrm>
            <a:off x="7700322" y="3978935"/>
            <a:ext cx="1099259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 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Elitebook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97D21EF-FA33-4DC8-9DA8-7F7D8BAEA4B5}"/>
              </a:ext>
            </a:extLst>
          </p:cNvPr>
          <p:cNvSpPr txBox="1"/>
          <p:nvPr/>
        </p:nvSpPr>
        <p:spPr>
          <a:xfrm>
            <a:off x="7643659" y="4283486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Lenovo ThinkPad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4F7E7E9-8DA1-4C92-9A80-A70D77D3D26B}"/>
              </a:ext>
            </a:extLst>
          </p:cNvPr>
          <p:cNvSpPr txBox="1"/>
          <p:nvPr/>
        </p:nvSpPr>
        <p:spPr>
          <a:xfrm>
            <a:off x="8942266" y="3978935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Apple 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Macbook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A42FD69-D4AF-4B04-9DE7-C54EE84889B0}"/>
              </a:ext>
            </a:extLst>
          </p:cNvPr>
          <p:cNvSpPr txBox="1"/>
          <p:nvPr/>
        </p:nvSpPr>
        <p:spPr>
          <a:xfrm>
            <a:off x="9014033" y="4283486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MS Surface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6C122B3-2AF9-49CF-8425-5686ABA044B7}"/>
              </a:ext>
            </a:extLst>
          </p:cNvPr>
          <p:cNvSpPr txBox="1"/>
          <p:nvPr/>
        </p:nvSpPr>
        <p:spPr>
          <a:xfrm>
            <a:off x="9974766" y="3978935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Dell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082D5A2-5CAF-42BD-ADDD-09F11E7DFDA8}"/>
              </a:ext>
            </a:extLst>
          </p:cNvPr>
          <p:cNvSpPr txBox="1"/>
          <p:nvPr/>
        </p:nvSpPr>
        <p:spPr>
          <a:xfrm>
            <a:off x="6367455" y="5149207"/>
            <a:ext cx="1099259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终端配套软件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订阅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1B7F534-F808-4F40-9B6A-B12884ADCAA0}"/>
              </a:ext>
            </a:extLst>
          </p:cNvPr>
          <p:cNvSpPr/>
          <p:nvPr/>
        </p:nvSpPr>
        <p:spPr>
          <a:xfrm>
            <a:off x="7999871" y="5321745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SSL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安全访问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68.33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6C01E79-E244-4254-BDE4-0DBC47C1B6F2}"/>
              </a:ext>
            </a:extLst>
          </p:cNvPr>
          <p:cNvSpPr/>
          <p:nvPr/>
        </p:nvSpPr>
        <p:spPr>
          <a:xfrm>
            <a:off x="9388644" y="5321745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EDR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设备安全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59.88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080108C-7356-4CF2-87B6-17D0D16F6422}"/>
              </a:ext>
            </a:extLst>
          </p:cNvPr>
          <p:cNvSpPr/>
          <p:nvPr/>
        </p:nvSpPr>
        <p:spPr>
          <a:xfrm>
            <a:off x="7991800" y="4860251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微软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M365</a:t>
            </a: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140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D1D2328-58E9-44CD-8210-C27146C6BD60}"/>
              </a:ext>
            </a:extLst>
          </p:cNvPr>
          <p:cNvSpPr/>
          <p:nvPr/>
        </p:nvSpPr>
        <p:spPr>
          <a:xfrm>
            <a:off x="9377672" y="4860251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Google</a:t>
            </a: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138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24B2783-8E96-415C-B88E-1F55AEE64615}"/>
              </a:ext>
            </a:extLst>
          </p:cNvPr>
          <p:cNvSpPr txBox="1"/>
          <p:nvPr/>
        </p:nvSpPr>
        <p:spPr>
          <a:xfrm>
            <a:off x="9991079" y="4283486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ChromeBook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02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Supply产商品：约90%围绕通用办公标品转售，10%来自垂直行业系统集成（估算）</a:t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/>
              <a:t/>
            </a:r>
          </a:p>
        </p:txBody>
      </p:sp>
      <p:sp>
        <p:nvSpPr>
          <p:cNvPr id="53" name="Rounded Rectangle 75">
            <a:extLst>
              <a:ext uri="{FF2B5EF4-FFF2-40B4-BE49-F238E27FC236}">
                <a16:creationId xmlns:a16="http://schemas.microsoft.com/office/drawing/2014/main" id="{B1191714-385B-47F7-AEDB-68C80F41ABE7}"/>
              </a:ext>
            </a:extLst>
          </p:cNvPr>
          <p:cNvSpPr/>
          <p:nvPr/>
        </p:nvSpPr>
        <p:spPr>
          <a:xfrm>
            <a:off x="757736" y="1404835"/>
            <a:ext cx="7157623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ABFE95E-E764-4F42-84E3-2BAF1367E519}"/>
              </a:ext>
            </a:extLst>
          </p:cNvPr>
          <p:cNvSpPr txBox="1"/>
          <p:nvPr/>
        </p:nvSpPr>
        <p:spPr>
          <a:xfrm>
            <a:off x="774509" y="1420691"/>
            <a:ext cx="7157623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sz="1399" dirty="0">
                <a:sym typeface="Arial" panose="020B0604020202020204" pitchFamily="34" charset="0"/>
              </a:rPr>
              <a:t>Supply类产商品，由最终用户发起硬件和软件的采购，OB提供渠道转售与集成</a:t>
            </a:r>
            <a:r>
              <a:rPr lang="zh-CN" altLang="en-US" sz="1399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dirty="0">
                <a:sym typeface="Arial" panose="020B0604020202020204" pitchFamily="34" charset="0"/>
              </a:rPr>
              <a:t/>
            </a:r>
            <a:r>
              <a:rPr lang="zh-CN" altLang="en-US" sz="1399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399" dirty="0">
                <a:sym typeface="Arial" panose="020B0604020202020204" pitchFamily="34" charset="0"/>
              </a:rPr>
              <a:t/>
            </a:r>
            <a:r>
              <a:rPr lang="en-US" altLang="zh-CN" sz="1399" dirty="0" err="1">
                <a:sym typeface="Arial" panose="020B0604020202020204" pitchFamily="34" charset="0"/>
              </a:rPr>
              <a:t/>
            </a:r>
            <a:r>
              <a:rPr lang="zh-CN" altLang="en-US" sz="1399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399" dirty="0"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E6A00EB-542B-475B-BFA1-BDFB5E277F4E}"/>
              </a:ext>
            </a:extLst>
          </p:cNvPr>
          <p:cNvCxnSpPr>
            <a:cxnSpLocks/>
          </p:cNvCxnSpPr>
          <p:nvPr/>
        </p:nvCxnSpPr>
        <p:spPr>
          <a:xfrm flipV="1">
            <a:off x="1298001" y="3345736"/>
            <a:ext cx="6117610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D03D496-E5FA-44A5-B6C6-FB1D79C25B34}"/>
              </a:ext>
            </a:extLst>
          </p:cNvPr>
          <p:cNvCxnSpPr>
            <a:cxnSpLocks/>
          </p:cNvCxnSpPr>
          <p:nvPr/>
        </p:nvCxnSpPr>
        <p:spPr>
          <a:xfrm flipV="1">
            <a:off x="1220954" y="4274133"/>
            <a:ext cx="6117610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C109443-66F6-48B4-8BA6-C4764519B0CA}"/>
              </a:ext>
            </a:extLst>
          </p:cNvPr>
          <p:cNvCxnSpPr>
            <a:cxnSpLocks/>
          </p:cNvCxnSpPr>
          <p:nvPr/>
        </p:nvCxnSpPr>
        <p:spPr>
          <a:xfrm flipV="1">
            <a:off x="2492572" y="2328795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E268765-DE5A-4FCD-BA15-67374D20164C}"/>
              </a:ext>
            </a:extLst>
          </p:cNvPr>
          <p:cNvSpPr txBox="1"/>
          <p:nvPr/>
        </p:nvSpPr>
        <p:spPr>
          <a:xfrm>
            <a:off x="740962" y="2161346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dirty="0">
                <a:sym typeface="Arial" panose="020B0604020202020204" pitchFamily="34" charset="0"/>
              </a:rPr>
              <a:t>Supply</a:t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产商品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A9F21AA-1EDE-46CC-985C-1C725F93E1A1}"/>
              </a:ext>
            </a:extLst>
          </p:cNvPr>
          <p:cNvSpPr txBox="1"/>
          <p:nvPr/>
        </p:nvSpPr>
        <p:spPr>
          <a:xfrm>
            <a:off x="4828387" y="2161346"/>
            <a:ext cx="2526592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dirty="0">
                <a:sym typeface="Arial" panose="020B0604020202020204" pitchFamily="34" charset="0"/>
              </a:rPr>
              <a:t>Vendor</a:t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的份额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C39D21B-93BE-46ED-AAD7-EB6F3C58BD6C}"/>
              </a:ext>
            </a:extLst>
          </p:cNvPr>
          <p:cNvSpPr txBox="1"/>
          <p:nvPr/>
        </p:nvSpPr>
        <p:spPr>
          <a:xfrm>
            <a:off x="2706238" y="2489815"/>
            <a:ext cx="1320443" cy="9391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园区交换机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AP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无线局域专网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MPN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企业专网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（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微波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）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B8307D2-A331-44FE-B8C8-2A74EA8DC2E6}"/>
              </a:ext>
            </a:extLst>
          </p:cNvPr>
          <p:cNvCxnSpPr>
            <a:cxnSpLocks/>
          </p:cNvCxnSpPr>
          <p:nvPr/>
        </p:nvCxnSpPr>
        <p:spPr>
          <a:xfrm flipV="1">
            <a:off x="4222526" y="2324576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E988A94-D7CB-4226-9BD7-6BFBBDDC41C6}"/>
              </a:ext>
            </a:extLst>
          </p:cNvPr>
          <p:cNvSpPr txBox="1"/>
          <p:nvPr/>
        </p:nvSpPr>
        <p:spPr>
          <a:xfrm>
            <a:off x="2535465" y="2161346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主要转售商品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8B8EAD7-B0B6-4A69-82DC-68ADF53274AB}"/>
              </a:ext>
            </a:extLst>
          </p:cNvPr>
          <p:cNvSpPr txBox="1"/>
          <p:nvPr/>
        </p:nvSpPr>
        <p:spPr>
          <a:xfrm>
            <a:off x="945356" y="2461500"/>
            <a:ext cx="1320443" cy="819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企业园区网络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/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Enterprise Network Equipment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200" dirty="0">
                <a:solidFill>
                  <a:srgbClr val="C00000"/>
                </a:solidFill>
                <a:sym typeface="Arial" panose="020B0604020202020204" pitchFamily="34" charset="0"/>
              </a:rPr>
              <a:t>180M$（估）</a:t>
            </a:r>
            <a:endParaRPr lang="zh-CN" altLang="en-US" sz="12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810DD98-92EA-483A-8235-6902F0BE4FB8}"/>
              </a:ext>
            </a:extLst>
          </p:cNvPr>
          <p:cNvSpPr/>
          <p:nvPr/>
        </p:nvSpPr>
        <p:spPr>
          <a:xfrm>
            <a:off x="4893515" y="2548560"/>
            <a:ext cx="167764" cy="57040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485C52A-37C8-4282-A470-30E616D9B8B3}"/>
              </a:ext>
            </a:extLst>
          </p:cNvPr>
          <p:cNvSpPr txBox="1"/>
          <p:nvPr/>
        </p:nvSpPr>
        <p:spPr>
          <a:xfrm>
            <a:off x="4629816" y="3097647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Cisco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F694594-9DD9-4543-A69E-BFA954D537F2}"/>
              </a:ext>
            </a:extLst>
          </p:cNvPr>
          <p:cNvSpPr txBox="1"/>
          <p:nvPr/>
        </p:nvSpPr>
        <p:spPr>
          <a:xfrm>
            <a:off x="5671134" y="3097647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Fortinet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DEBD339-190B-4544-B7A3-DFC5FEE58017}"/>
              </a:ext>
            </a:extLst>
          </p:cNvPr>
          <p:cNvSpPr/>
          <p:nvPr/>
        </p:nvSpPr>
        <p:spPr>
          <a:xfrm>
            <a:off x="5982745" y="2795088"/>
            <a:ext cx="167764" cy="323873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4030731-32D4-4DC4-8393-682A444441C0}"/>
              </a:ext>
            </a:extLst>
          </p:cNvPr>
          <p:cNvSpPr txBox="1"/>
          <p:nvPr/>
        </p:nvSpPr>
        <p:spPr>
          <a:xfrm>
            <a:off x="5269507" y="3097647"/>
            <a:ext cx="57121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HPE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7215551-E579-495A-A80B-BC330E885BDD}"/>
              </a:ext>
            </a:extLst>
          </p:cNvPr>
          <p:cNvSpPr/>
          <p:nvPr/>
        </p:nvSpPr>
        <p:spPr>
          <a:xfrm>
            <a:off x="5514826" y="2615158"/>
            <a:ext cx="167764" cy="503803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67290DA-D93A-43BA-9634-7985F79304A6}"/>
              </a:ext>
            </a:extLst>
          </p:cNvPr>
          <p:cNvSpPr txBox="1"/>
          <p:nvPr/>
        </p:nvSpPr>
        <p:spPr>
          <a:xfrm>
            <a:off x="5658437" y="2522475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20M$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B564D63-F417-45E3-997A-137CB15E9865}"/>
              </a:ext>
            </a:extLst>
          </p:cNvPr>
          <p:cNvSpPr txBox="1"/>
          <p:nvPr/>
        </p:nvSpPr>
        <p:spPr>
          <a:xfrm>
            <a:off x="5278101" y="2398782"/>
            <a:ext cx="592665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60M$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313F5D4-F13E-4CE5-96BE-DD39EAB2301F}"/>
              </a:ext>
            </a:extLst>
          </p:cNvPr>
          <p:cNvSpPr txBox="1"/>
          <p:nvPr/>
        </p:nvSpPr>
        <p:spPr>
          <a:xfrm>
            <a:off x="4751696" y="2312155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80M$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1735CAE0-DB37-4D03-A3DB-251475FC308E}"/>
              </a:ext>
            </a:extLst>
          </p:cNvPr>
          <p:cNvCxnSpPr>
            <a:cxnSpLocks/>
          </p:cNvCxnSpPr>
          <p:nvPr/>
        </p:nvCxnSpPr>
        <p:spPr>
          <a:xfrm>
            <a:off x="4564179" y="3113657"/>
            <a:ext cx="2950847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016FE87F-6B49-42CD-A380-13F8D3628133}"/>
              </a:ext>
            </a:extLst>
          </p:cNvPr>
          <p:cNvSpPr txBox="1"/>
          <p:nvPr/>
        </p:nvSpPr>
        <p:spPr>
          <a:xfrm>
            <a:off x="6188815" y="3097647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 err="1">
                <a:sym typeface="Arial" panose="020B0604020202020204" pitchFamily="34" charset="0"/>
              </a:rPr>
              <a:t>Ericsson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E7463CA-0A36-424A-8120-BF58696AEE17}"/>
              </a:ext>
            </a:extLst>
          </p:cNvPr>
          <p:cNvSpPr/>
          <p:nvPr/>
        </p:nvSpPr>
        <p:spPr>
          <a:xfrm>
            <a:off x="6519694" y="2913203"/>
            <a:ext cx="167764" cy="205759"/>
          </a:xfrm>
          <a:prstGeom prst="rect">
            <a:avLst/>
          </a:prstGeom>
          <a:solidFill>
            <a:srgbClr val="1D1D1A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99AE010-8E97-4805-B52C-8EB817991D46}"/>
              </a:ext>
            </a:extLst>
          </p:cNvPr>
          <p:cNvSpPr txBox="1"/>
          <p:nvPr/>
        </p:nvSpPr>
        <p:spPr>
          <a:xfrm>
            <a:off x="6188092" y="271838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F609684-23BE-4598-B229-113DF9B63F38}"/>
              </a:ext>
            </a:extLst>
          </p:cNvPr>
          <p:cNvSpPr/>
          <p:nvPr/>
        </p:nvSpPr>
        <p:spPr>
          <a:xfrm>
            <a:off x="7048261" y="2933747"/>
            <a:ext cx="167764" cy="185215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F938671-6DCB-4EDE-816C-7FD5B994919C}"/>
              </a:ext>
            </a:extLst>
          </p:cNvPr>
          <p:cNvSpPr txBox="1"/>
          <p:nvPr/>
        </p:nvSpPr>
        <p:spPr>
          <a:xfrm>
            <a:off x="6745599" y="3097647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Nokia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9A418A4-3674-4E93-A02B-DF0D6F6E25DB}"/>
              </a:ext>
            </a:extLst>
          </p:cNvPr>
          <p:cNvSpPr txBox="1"/>
          <p:nvPr/>
        </p:nvSpPr>
        <p:spPr>
          <a:xfrm>
            <a:off x="6719641" y="272881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BC5503F-8774-4CDB-997C-03E01ED45C50}"/>
              </a:ext>
            </a:extLst>
          </p:cNvPr>
          <p:cNvSpPr txBox="1"/>
          <p:nvPr/>
        </p:nvSpPr>
        <p:spPr>
          <a:xfrm>
            <a:off x="999704" y="3425477"/>
            <a:ext cx="1320443" cy="7388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数据中心基础设施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DC infrastructure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200" dirty="0">
                <a:solidFill>
                  <a:srgbClr val="C00000"/>
                </a:solidFill>
                <a:sym typeface="Arial" panose="020B0604020202020204" pitchFamily="34" charset="0"/>
              </a:rPr>
              <a:t>120M$（估）</a:t>
            </a:r>
            <a:endParaRPr lang="zh-CN" altLang="en-US" sz="12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D604C9C-4396-45C5-8A44-612C03E929C1}"/>
              </a:ext>
            </a:extLst>
          </p:cNvPr>
          <p:cNvSpPr txBox="1"/>
          <p:nvPr/>
        </p:nvSpPr>
        <p:spPr>
          <a:xfrm>
            <a:off x="999704" y="4295245"/>
            <a:ext cx="1320443" cy="718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企业软件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 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成熟企业软件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license</a:t>
            </a:r>
          </a:p>
          <a:p>
            <a:pPr defTabSz="914112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Arial" panose="020B0604020202020204" pitchFamily="34" charset="0"/>
              </a:rPr>
              <a:t>250M$（估）</a:t>
            </a:r>
            <a:endParaRPr lang="zh-CN" altLang="en-US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680FF8E-7CDA-4107-A9EF-EFD249A107BD}"/>
              </a:ext>
            </a:extLst>
          </p:cNvPr>
          <p:cNvSpPr txBox="1"/>
          <p:nvPr/>
        </p:nvSpPr>
        <p:spPr>
          <a:xfrm>
            <a:off x="1020286" y="5182123"/>
            <a:ext cx="1320443" cy="720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办公场所终端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一次性采购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Arial" panose="020B0604020202020204" pitchFamily="34" charset="0"/>
              </a:rPr>
              <a:t>180M$（估）</a:t>
            </a:r>
            <a:endParaRPr lang="zh-CN" altLang="en-US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59F7329-3DFA-4BAF-B5C8-53107F6680DF}"/>
              </a:ext>
            </a:extLst>
          </p:cNvPr>
          <p:cNvCxnSpPr>
            <a:cxnSpLocks/>
          </p:cNvCxnSpPr>
          <p:nvPr/>
        </p:nvCxnSpPr>
        <p:spPr>
          <a:xfrm flipV="1">
            <a:off x="1220954" y="5131048"/>
            <a:ext cx="6117610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000D2B3-79AB-4D6A-B9C4-211E0D14C52F}"/>
              </a:ext>
            </a:extLst>
          </p:cNvPr>
          <p:cNvSpPr txBox="1"/>
          <p:nvPr/>
        </p:nvSpPr>
        <p:spPr>
          <a:xfrm>
            <a:off x="2706238" y="3440946"/>
            <a:ext cx="1320443" cy="6969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x86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存储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DCN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网络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虚拟化管理软件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0F34EED7-10D6-4675-BF46-A0BCB1405406}"/>
              </a:ext>
            </a:extLst>
          </p:cNvPr>
          <p:cNvSpPr txBox="1"/>
          <p:nvPr/>
        </p:nvSpPr>
        <p:spPr>
          <a:xfrm>
            <a:off x="2706238" y="4346093"/>
            <a:ext cx="1320443" cy="6969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数据分析软件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ERP/CRM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电子政务软件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49D8AFA-DB02-409A-9370-CA01C9C3C20B}"/>
              </a:ext>
            </a:extLst>
          </p:cNvPr>
          <p:cNvSpPr txBox="1"/>
          <p:nvPr/>
        </p:nvSpPr>
        <p:spPr>
          <a:xfrm>
            <a:off x="2706238" y="5131049"/>
            <a:ext cx="1320443" cy="6969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Desktop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Laptop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Pad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会议室大屏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A8A03A3-FEB0-4FED-B157-0604E80AC182}"/>
              </a:ext>
            </a:extLst>
          </p:cNvPr>
          <p:cNvSpPr txBox="1"/>
          <p:nvPr/>
        </p:nvSpPr>
        <p:spPr>
          <a:xfrm>
            <a:off x="4571676" y="4006119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HPE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FADC8B1-D0E2-40C0-8170-9E6CFBE48B88}"/>
              </a:ext>
            </a:extLst>
          </p:cNvPr>
          <p:cNvSpPr txBox="1"/>
          <p:nvPr/>
        </p:nvSpPr>
        <p:spPr>
          <a:xfrm>
            <a:off x="5612993" y="40061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VMware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3142E80-6E28-4626-B032-053A0E7B7413}"/>
              </a:ext>
            </a:extLst>
          </p:cNvPr>
          <p:cNvSpPr txBox="1"/>
          <p:nvPr/>
        </p:nvSpPr>
        <p:spPr>
          <a:xfrm>
            <a:off x="5211366" y="4006119"/>
            <a:ext cx="57121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Dell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81639234-EC43-4F72-BD2F-62EF397ADFE2}"/>
              </a:ext>
            </a:extLst>
          </p:cNvPr>
          <p:cNvCxnSpPr>
            <a:cxnSpLocks/>
          </p:cNvCxnSpPr>
          <p:nvPr/>
        </p:nvCxnSpPr>
        <p:spPr>
          <a:xfrm>
            <a:off x="4506038" y="4022129"/>
            <a:ext cx="2950847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3E095282-E349-4906-9AF0-6DBC1EE15885}"/>
              </a:ext>
            </a:extLst>
          </p:cNvPr>
          <p:cNvSpPr txBox="1"/>
          <p:nvPr/>
        </p:nvSpPr>
        <p:spPr>
          <a:xfrm>
            <a:off x="6130675" y="40061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Cisco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EB18DF1-C3F6-4712-AC34-21E93B95D0FE}"/>
              </a:ext>
            </a:extLst>
          </p:cNvPr>
          <p:cNvSpPr txBox="1"/>
          <p:nvPr/>
        </p:nvSpPr>
        <p:spPr>
          <a:xfrm>
            <a:off x="6687459" y="40061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Huawei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522D6F0-9010-4B64-8E09-ACE203A5893A}"/>
              </a:ext>
            </a:extLst>
          </p:cNvPr>
          <p:cNvSpPr/>
          <p:nvPr/>
        </p:nvSpPr>
        <p:spPr>
          <a:xfrm>
            <a:off x="4875988" y="3666647"/>
            <a:ext cx="167764" cy="359800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2DB3556-EA73-449F-A715-3629E4376290}"/>
              </a:ext>
            </a:extLst>
          </p:cNvPr>
          <p:cNvSpPr txBox="1"/>
          <p:nvPr/>
        </p:nvSpPr>
        <p:spPr>
          <a:xfrm>
            <a:off x="4742745" y="3424994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45M$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80A20A3-CA47-4F6E-8239-54CDDE5040CD}"/>
              </a:ext>
            </a:extLst>
          </p:cNvPr>
          <p:cNvSpPr/>
          <p:nvPr/>
        </p:nvSpPr>
        <p:spPr>
          <a:xfrm>
            <a:off x="5415709" y="3721057"/>
            <a:ext cx="167764" cy="301606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684A7B1-D351-486E-A665-2C092C1C93A1}"/>
              </a:ext>
            </a:extLst>
          </p:cNvPr>
          <p:cNvSpPr txBox="1"/>
          <p:nvPr/>
        </p:nvSpPr>
        <p:spPr>
          <a:xfrm>
            <a:off x="5292187" y="3480500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35M$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EFFA1228-FA95-4BA4-AA34-A8FED6117857}"/>
              </a:ext>
            </a:extLst>
          </p:cNvPr>
          <p:cNvSpPr/>
          <p:nvPr/>
        </p:nvSpPr>
        <p:spPr>
          <a:xfrm>
            <a:off x="6450189" y="3849004"/>
            <a:ext cx="167764" cy="174286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B56A9F9-A1B7-41D8-B5A5-9072D3E6C8A6}"/>
              </a:ext>
            </a:extLst>
          </p:cNvPr>
          <p:cNvSpPr txBox="1"/>
          <p:nvPr/>
        </p:nvSpPr>
        <p:spPr>
          <a:xfrm>
            <a:off x="6329934" y="3656484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B534092-5FF5-4BEB-B411-0F99356100BA}"/>
              </a:ext>
            </a:extLst>
          </p:cNvPr>
          <p:cNvSpPr/>
          <p:nvPr/>
        </p:nvSpPr>
        <p:spPr>
          <a:xfrm>
            <a:off x="7000565" y="3937548"/>
            <a:ext cx="167764" cy="8309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4818289-009B-4939-8BDB-8802BBD6CCC1}"/>
              </a:ext>
            </a:extLst>
          </p:cNvPr>
          <p:cNvSpPr txBox="1"/>
          <p:nvPr/>
        </p:nvSpPr>
        <p:spPr>
          <a:xfrm>
            <a:off x="6877285" y="3736813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6A62BA0-E31E-4424-AC7E-4C0A92975772}"/>
              </a:ext>
            </a:extLst>
          </p:cNvPr>
          <p:cNvSpPr/>
          <p:nvPr/>
        </p:nvSpPr>
        <p:spPr>
          <a:xfrm>
            <a:off x="5928236" y="3812214"/>
            <a:ext cx="167764" cy="211990"/>
          </a:xfrm>
          <a:prstGeom prst="rect">
            <a:avLst/>
          </a:prstGeom>
          <a:solidFill>
            <a:srgbClr val="1D1D1A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DA7970C-5380-4265-BACE-B495C926895D}"/>
              </a:ext>
            </a:extLst>
          </p:cNvPr>
          <p:cNvSpPr txBox="1"/>
          <p:nvPr/>
        </p:nvSpPr>
        <p:spPr>
          <a:xfrm>
            <a:off x="5817044" y="3580116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264E757-7985-4B67-B07C-EB6C3171BF6A}"/>
              </a:ext>
            </a:extLst>
          </p:cNvPr>
          <p:cNvSpPr txBox="1"/>
          <p:nvPr/>
        </p:nvSpPr>
        <p:spPr>
          <a:xfrm>
            <a:off x="4325673" y="4504487"/>
            <a:ext cx="101275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ERP – 55M$（估）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8DD95C4C-676E-4082-BFCC-14B7698F77DE}"/>
              </a:ext>
            </a:extLst>
          </p:cNvPr>
          <p:cNvSpPr txBox="1"/>
          <p:nvPr/>
        </p:nvSpPr>
        <p:spPr>
          <a:xfrm>
            <a:off x="5308172" y="4504487"/>
            <a:ext cx="101275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CRM – 30M$（估）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2A45D5F0-4142-4E1E-B80A-9F1CF120312E}"/>
              </a:ext>
            </a:extLst>
          </p:cNvPr>
          <p:cNvSpPr txBox="1"/>
          <p:nvPr/>
        </p:nvSpPr>
        <p:spPr>
          <a:xfrm>
            <a:off x="4101175" y="4793293"/>
            <a:ext cx="1991526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Data &amp; AI – 80M$（估）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E00E8F6-5298-4BD2-B6D9-50F75F0A8240}"/>
              </a:ext>
            </a:extLst>
          </p:cNvPr>
          <p:cNvSpPr txBox="1"/>
          <p:nvPr/>
        </p:nvSpPr>
        <p:spPr>
          <a:xfrm>
            <a:off x="6268763" y="4504487"/>
            <a:ext cx="140508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Private Cloud – 40M$（估）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9E3949F5-8B83-4D0C-BC1B-A227CE53D219}"/>
              </a:ext>
            </a:extLst>
          </p:cNvPr>
          <p:cNvSpPr txBox="1"/>
          <p:nvPr/>
        </p:nvSpPr>
        <p:spPr>
          <a:xfrm>
            <a:off x="5887810" y="4793292"/>
            <a:ext cx="1632011" cy="2033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公共部门软件定制 – 45M$（估）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84C1C87-6863-43D3-8C1F-D23977B75CBA}"/>
              </a:ext>
            </a:extLst>
          </p:cNvPr>
          <p:cNvSpPr txBox="1"/>
          <p:nvPr/>
        </p:nvSpPr>
        <p:spPr>
          <a:xfrm>
            <a:off x="4400050" y="5312772"/>
            <a:ext cx="730231" cy="434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HP 35%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--</a:t>
            </a:r>
            <a:r>
              <a:rPr lang="zh-CN" altLang="en-US" sz="1000" b="0" dirty="0">
                <a:latin typeface="微软雅黑" panose="020B0503020204020204" pitchFamily="34" charset="-122"/>
                <a:sym typeface="Arial" panose="020B0604020202020204" pitchFamily="34" charset="0"/>
              </a:rPr>
              <a:t>政府</a:t>
            </a:r>
            <a:endParaRPr lang="zh-CN" altLang="en-US" sz="1000" dirty="0">
              <a:solidFill>
                <a:srgbClr val="C0000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21217196-70F8-45BA-9D32-D46B86DE537D}"/>
              </a:ext>
            </a:extLst>
          </p:cNvPr>
          <p:cNvSpPr txBox="1"/>
          <p:nvPr/>
        </p:nvSpPr>
        <p:spPr>
          <a:xfrm>
            <a:off x="5107311" y="5312772"/>
            <a:ext cx="730231" cy="434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Dell 25%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—</a:t>
            </a:r>
            <a:r>
              <a:rPr lang="zh-CN" altLang="en-US" sz="1000" b="0" dirty="0">
                <a:latin typeface="微软雅黑" panose="020B0503020204020204" pitchFamily="34" charset="-122"/>
                <a:sym typeface="Arial" panose="020B0604020202020204" pitchFamily="34" charset="0"/>
              </a:rPr>
              <a:t>大企业</a:t>
            </a:r>
            <a:endParaRPr lang="zh-CN" altLang="en-US" sz="1000" dirty="0">
              <a:solidFill>
                <a:srgbClr val="C0000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B4631372-E032-4B52-85A0-7542996101AF}"/>
              </a:ext>
            </a:extLst>
          </p:cNvPr>
          <p:cNvSpPr txBox="1"/>
          <p:nvPr/>
        </p:nvSpPr>
        <p:spPr>
          <a:xfrm>
            <a:off x="5814572" y="5312771"/>
            <a:ext cx="949615" cy="432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Lenovo 20%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 —SME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8C29C612-A73F-4EEB-BF6E-C59F2543FED8}"/>
              </a:ext>
            </a:extLst>
          </p:cNvPr>
          <p:cNvSpPr txBox="1"/>
          <p:nvPr/>
        </p:nvSpPr>
        <p:spPr>
          <a:xfrm>
            <a:off x="6741218" y="5312771"/>
            <a:ext cx="949615" cy="432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Apple 15%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—教育/创意</a:t>
            </a:r>
            <a:r>
              <a:rPr lang="zh-CN" altLang="en-US" sz="1000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ym typeface="Arial" panose="020B0604020202020204" pitchFamily="34" charset="0"/>
              </a:rPr>
              <a:t/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34" name="Rounded Rectangle 75">
            <a:extLst>
              <a:ext uri="{FF2B5EF4-FFF2-40B4-BE49-F238E27FC236}">
                <a16:creationId xmlns:a16="http://schemas.microsoft.com/office/drawing/2014/main" id="{78EC926B-050A-4D8A-94F2-AFD1C67C71F0}"/>
              </a:ext>
            </a:extLst>
          </p:cNvPr>
          <p:cNvSpPr/>
          <p:nvPr/>
        </p:nvSpPr>
        <p:spPr>
          <a:xfrm>
            <a:off x="7988435" y="1404835"/>
            <a:ext cx="3695079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72543BB-1F15-4E37-AB4A-B8ACF2F31851}"/>
              </a:ext>
            </a:extLst>
          </p:cNvPr>
          <p:cNvSpPr txBox="1"/>
          <p:nvPr/>
        </p:nvSpPr>
        <p:spPr>
          <a:xfrm>
            <a:off x="8067568" y="1482562"/>
            <a:ext cx="3621087" cy="507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垂直行业总集，高度依赖对核心NA的持续经营；例如法国军队部客户，OB多年持续中标通信与ICT框架合同（金额为公开报道或估算）</a:t>
            </a:r>
            <a:r>
              <a:rPr lang="zh-CN" altLang="en-US" dirty="0">
                <a:sym typeface="Arial" panose="020B0604020202020204" pitchFamily="34" charset="0"/>
              </a:rPr>
              <a:t/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dirty="0">
                <a:sym typeface="Arial" panose="020B0604020202020204" pitchFamily="34" charset="0"/>
              </a:rPr>
              <a:t/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b="0" dirty="0">
                <a:sym typeface="Arial" panose="020B0604020202020204" pitchFamily="34" charset="0"/>
              </a:rPr>
              <a:t/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b="0" dirty="0" err="1">
                <a:sym typeface="Arial" panose="020B0604020202020204" pitchFamily="34" charset="0"/>
              </a:rPr>
              <a:t/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b="0" dirty="0">
                <a:sym typeface="Arial" panose="020B0604020202020204" pitchFamily="34" charset="0"/>
              </a:rPr>
              <a:t/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b="0" dirty="0">
                <a:sym typeface="Arial" panose="020B0604020202020204" pitchFamily="34" charset="0"/>
              </a:rPr>
              <a:t/>
            </a:r>
            <a:r>
              <a:rPr lang="zh-CN" altLang="en-US" b="0" dirty="0">
                <a:sym typeface="Arial" panose="020B0604020202020204" pitchFamily="34" charset="0"/>
              </a:rPr>
              <a:t/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b="0" dirty="0">
                <a:sym typeface="Arial" panose="020B0604020202020204" pitchFamily="34" charset="0"/>
              </a:rPr>
              <a:t/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b="0" dirty="0">
                <a:sym typeface="Arial" panose="020B0604020202020204" pitchFamily="34" charset="0"/>
              </a:rPr>
              <a:t/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b="0" dirty="0">
                <a:sym typeface="Arial" panose="020B0604020202020204" pitchFamily="34" charset="0"/>
              </a:rPr>
              <a:t/>
            </a:r>
          </a:p>
        </p:txBody>
      </p:sp>
      <p:pic>
        <p:nvPicPr>
          <p:cNvPr id="136" name="Picture 2" descr="AENA (Aeropuertos Españoles y Navegación Aérea) - Spain">
            <a:extLst>
              <a:ext uri="{FF2B5EF4-FFF2-40B4-BE49-F238E27FC236}">
                <a16:creationId xmlns:a16="http://schemas.microsoft.com/office/drawing/2014/main" id="{35B8AA5C-21BB-4699-A32A-7DA081777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197" y="2307320"/>
            <a:ext cx="1105312" cy="64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文本框 136">
            <a:extLst>
              <a:ext uri="{FF2B5EF4-FFF2-40B4-BE49-F238E27FC236}">
                <a16:creationId xmlns:a16="http://schemas.microsoft.com/office/drawing/2014/main" id="{FB197C8C-9590-4E78-B7BE-42DA24B975DB}"/>
              </a:ext>
            </a:extLst>
          </p:cNvPr>
          <p:cNvSpPr txBox="1"/>
          <p:nvPr/>
        </p:nvSpPr>
        <p:spPr>
          <a:xfrm>
            <a:off x="9537460" y="2120545"/>
            <a:ext cx="2077698" cy="895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法国国防部门，欧洲最大公共ICT买家之一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endParaRPr lang="en-US" altLang="zh-CN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过去5年OB承接其卫星通信、专网与数字化框架，累计约450M€（估算）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en-US" altLang="zh-CN" sz="1000" b="0" dirty="0" err="1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000" b="0" dirty="0" err="1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/>
            </a:r>
          </a:p>
        </p:txBody>
      </p:sp>
      <p:graphicFrame>
        <p:nvGraphicFramePr>
          <p:cNvPr id="138" name="表格 137">
            <a:extLst>
              <a:ext uri="{FF2B5EF4-FFF2-40B4-BE49-F238E27FC236}">
                <a16:creationId xmlns:a16="http://schemas.microsoft.com/office/drawing/2014/main" id="{DD68CBA1-1556-4090-9A94-D6C1F8491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88676"/>
              </p:ext>
            </p:extLst>
          </p:nvPr>
        </p:nvGraphicFramePr>
        <p:xfrm>
          <a:off x="8322648" y="3157781"/>
          <a:ext cx="3204451" cy="2587956"/>
        </p:xfrm>
        <a:graphic>
          <a:graphicData uri="http://schemas.openxmlformats.org/drawingml/2006/table">
            <a:tbl>
              <a:tblPr/>
              <a:tblGrid>
                <a:gridCol w="2662404">
                  <a:extLst>
                    <a:ext uri="{9D8B030D-6E8A-4147-A177-3AD203B41FA5}">
                      <a16:colId xmlns:a16="http://schemas.microsoft.com/office/drawing/2014/main" val="2381815390"/>
                    </a:ext>
                  </a:extLst>
                </a:gridCol>
                <a:gridCol w="542047">
                  <a:extLst>
                    <a:ext uri="{9D8B030D-6E8A-4147-A177-3AD203B41FA5}">
                      <a16:colId xmlns:a16="http://schemas.microsoft.com/office/drawing/2014/main" val="4069307841"/>
                    </a:ext>
                  </a:extLst>
                </a:gridCol>
              </a:tblGrid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行业集成（示例，公开报道/估算）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金额</a:t>
                      </a:r>
                      <a:endParaRPr lang="en-US" altLang="zh-CN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830245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军用卫星通信服务框架（与Telespazio联合）</a:t>
                      </a:r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~100M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282437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部际安全网络RIE骨干与接入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~80M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719476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UGAP电信服务框架（固定+移动）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~60M/年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520697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医院集团（GHT）网络与托管框架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~45M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70368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大区政府SD-WAN与安全改造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~30M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378205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智慧城市与视频安防集成（法兰西岛）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~25M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939001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交通枢纽Wi-Fi与专网（机场/车站）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~20M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481046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公共部门IoT计量与车联</a:t>
                      </a:r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~18M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031041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教育部门数字工作场所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23801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数据中心托管与主权云接入</a:t>
                      </a:r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66097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网络安全SOC服务框架（OCD）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50676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存储与服务器供应框架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~12M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402865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生物识别与出入控制集成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/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~10M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082288"/>
                  </a:ext>
                </a:extLst>
              </a:tr>
            </a:tbl>
          </a:graphicData>
        </a:graphic>
      </p:graphicFrame>
      <p:sp>
        <p:nvSpPr>
          <p:cNvPr id="139" name="文本框 138">
            <a:extLst>
              <a:ext uri="{FF2B5EF4-FFF2-40B4-BE49-F238E27FC236}">
                <a16:creationId xmlns:a16="http://schemas.microsoft.com/office/drawing/2014/main" id="{5954330A-A18F-4E70-B348-FFC0BFE49582}"/>
              </a:ext>
            </a:extLst>
          </p:cNvPr>
          <p:cNvSpPr txBox="1"/>
          <p:nvPr/>
        </p:nvSpPr>
        <p:spPr>
          <a:xfrm>
            <a:off x="5583474" y="5932769"/>
            <a:ext cx="2331886" cy="26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*与微软/HP合作推进Copilot+ AI PC企业转售（估）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69866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20A76E2-5211-477B-9C8E-FFA2F371D95A}"/>
              </a:ext>
            </a:extLst>
          </p:cNvPr>
          <p:cNvSpPr txBox="1"/>
          <p:nvPr/>
        </p:nvSpPr>
        <p:spPr>
          <a:xfrm>
            <a:off x="247915" y="190951"/>
            <a:ext cx="11580522" cy="42984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indent="0" defTabSz="1187450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None/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02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20"/>
            </a:lvl2pPr>
            <a:lvl3pPr marL="14839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600"/>
            </a:lvl3pPr>
            <a:lvl4pPr marL="20777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4pPr>
            <a:lvl5pPr marL="26714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5pPr>
            <a:lvl6pPr marL="32651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6pPr>
            <a:lvl7pPr marL="38588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7pPr>
            <a:lvl8pPr marL="44526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8pPr>
            <a:lvl9pPr marL="50463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9pPr>
          </a:lstStyle>
          <a:p>
            <a:pPr lvl="0" defTabSz="1186541">
              <a:spcBef>
                <a:spcPts val="1297"/>
              </a:spcBef>
              <a:defRPr/>
            </a:pPr>
            <a:r>
              <a:rPr lang="zh-CN" altLang="en-US" sz="2000" kern="0" dirty="0">
                <a:latin typeface="Arial" panose="020B0604020202020204" pitchFamily="34" charset="0"/>
              </a:rPr>
              <a:t>华为参与视角的portfolio分类及现网格局（估算）：法国准入受限，锚点在云栈与OMEA，空间约40M</a:t>
            </a:r>
            <a:r>
              <a:rPr lang="es-ES" altLang="zh-CN" sz="2000" kern="0" dirty="0">
                <a:latin typeface="Arial" panose="020B0604020202020204" pitchFamily="34" charset="0"/>
              </a:rPr>
              <a:t/>
            </a:r>
            <a:r>
              <a:rPr lang="zh-CN" altLang="en-US" sz="2000" kern="0" dirty="0"/>
              <a:t/>
            </a:r>
            <a:r>
              <a:rPr lang="en-US" altLang="zh-CN" sz="2000" kern="0" dirty="0"/>
              <a:t/>
            </a:r>
            <a:endParaRPr lang="en-US" altLang="zh-CN" sz="2000" kern="0" dirty="0">
              <a:sym typeface="Times New Roman" panose="02020603050405020304" pitchFamily="18" charset="0"/>
            </a:endParaRP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7D78239E-A984-4182-9FC5-7B0427E6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51489"/>
              </p:ext>
            </p:extLst>
          </p:nvPr>
        </p:nvGraphicFramePr>
        <p:xfrm>
          <a:off x="566240" y="765518"/>
          <a:ext cx="10701867" cy="2607292"/>
        </p:xfrm>
        <a:graphic>
          <a:graphicData uri="http://schemas.openxmlformats.org/drawingml/2006/table">
            <a:tbl>
              <a:tblPr/>
              <a:tblGrid>
                <a:gridCol w="2311401">
                  <a:extLst>
                    <a:ext uri="{9D8B030D-6E8A-4147-A177-3AD203B41FA5}">
                      <a16:colId xmlns:a16="http://schemas.microsoft.com/office/drawing/2014/main" val="3188350640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2155464455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3531477531"/>
                    </a:ext>
                  </a:extLst>
                </a:gridCol>
                <a:gridCol w="3270299">
                  <a:extLst>
                    <a:ext uri="{9D8B030D-6E8A-4147-A177-3AD203B41FA5}">
                      <a16:colId xmlns:a16="http://schemas.microsoft.com/office/drawing/2014/main" val="3712372299"/>
                    </a:ext>
                  </a:extLst>
                </a:gridCol>
                <a:gridCol w="1214537">
                  <a:extLst>
                    <a:ext uri="{9D8B030D-6E8A-4147-A177-3AD203B41FA5}">
                      <a16:colId xmlns:a16="http://schemas.microsoft.com/office/drawing/2014/main" val="2430726183"/>
                    </a:ext>
                  </a:extLst>
                </a:gridCol>
                <a:gridCol w="1772030">
                  <a:extLst>
                    <a:ext uri="{9D8B030D-6E8A-4147-A177-3AD203B41FA5}">
                      <a16:colId xmlns:a16="http://schemas.microsoft.com/office/drawing/2014/main" val="1863467564"/>
                    </a:ext>
                  </a:extLst>
                </a:gridCol>
              </a:tblGrid>
              <a:tr h="28607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Portfolio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性质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业务范围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业务目标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涉及产品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107559"/>
                  </a:ext>
                </a:extLst>
              </a:tr>
              <a:tr h="413035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大企业管理服务；(Business VPN)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基于OB大网，为大企业客户提供WAN/LAN连接管理服务，包括企业互联、Internet接入、有线与Wi-Fi接入。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AR、NE、LSW、AP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法国准入受限（估）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317737"/>
                  </a:ext>
                </a:extLst>
              </a:tr>
              <a:tr h="27710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SDN管理服务；(Flexible SD-WAN)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基于Evolution Platform提供SD-WAN/SASE管理服务，伙伴目录为Fortinet/Cisco/VMware等10+厂商。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AR、LSW、AP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无法突破（不在伙伴目录）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31579"/>
                  </a:ext>
                </a:extLst>
              </a:tr>
              <a:tr h="27710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Managed LAN；(On-Top MSP)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硬件转售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代维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面向大企业客户，转售LAN+Wi-Fi硬件并提供网络代维服务。</a:t>
                      </a:r>
                      <a:r>
                        <a:rPr lang="en-US" altLang="zh-C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潜在孵化空间（估）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724034"/>
                  </a:ext>
                </a:extLst>
              </a:tr>
              <a:tr h="413035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Flexible Engine云平台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云平台底座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跨国企业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基于华为OpenStack发行版的公有云，OB运营并面向跨国客户销售。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云软硬件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存量持续（关键锚点）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486178"/>
                  </a:ext>
                </a:extLst>
              </a:tr>
              <a:tr h="413035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OMEA B2B管理服务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非洲中东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OMEA B2B为集团增长引擎（FY25 +10.4%），网络与ICT设备空间持续扩大。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AR、LSW、AP、传输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正常销售（主战场）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49855"/>
                  </a:ext>
                </a:extLst>
              </a:tr>
              <a:tr h="27710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企业互联网服务；(Connect Pro)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SME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面向中小企业提供中高质量Internet接入（Orange France口径）。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未突破（OneAccess锁定）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08531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FB91CC7-70D3-44A7-9074-3D8571EA0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53911"/>
              </p:ext>
            </p:extLst>
          </p:nvPr>
        </p:nvGraphicFramePr>
        <p:xfrm>
          <a:off x="626492" y="3843469"/>
          <a:ext cx="10701865" cy="1959984"/>
        </p:xfrm>
        <a:graphic>
          <a:graphicData uri="http://schemas.openxmlformats.org/drawingml/2006/table">
            <a:tbl>
              <a:tblPr/>
              <a:tblGrid>
                <a:gridCol w="1430995">
                  <a:extLst>
                    <a:ext uri="{9D8B030D-6E8A-4147-A177-3AD203B41FA5}">
                      <a16:colId xmlns:a16="http://schemas.microsoft.com/office/drawing/2014/main" val="3481395507"/>
                    </a:ext>
                  </a:extLst>
                </a:gridCol>
                <a:gridCol w="1422472">
                  <a:extLst>
                    <a:ext uri="{9D8B030D-6E8A-4147-A177-3AD203B41FA5}">
                      <a16:colId xmlns:a16="http://schemas.microsoft.com/office/drawing/2014/main" val="2948359474"/>
                    </a:ext>
                  </a:extLst>
                </a:gridCol>
                <a:gridCol w="1016004">
                  <a:extLst>
                    <a:ext uri="{9D8B030D-6E8A-4147-A177-3AD203B41FA5}">
                      <a16:colId xmlns:a16="http://schemas.microsoft.com/office/drawing/2014/main" val="3116875207"/>
                    </a:ext>
                  </a:extLst>
                </a:gridCol>
                <a:gridCol w="1185392">
                  <a:extLst>
                    <a:ext uri="{9D8B030D-6E8A-4147-A177-3AD203B41FA5}">
                      <a16:colId xmlns:a16="http://schemas.microsoft.com/office/drawing/2014/main" val="2368186245"/>
                    </a:ext>
                  </a:extLst>
                </a:gridCol>
                <a:gridCol w="801356">
                  <a:extLst>
                    <a:ext uri="{9D8B030D-6E8A-4147-A177-3AD203B41FA5}">
                      <a16:colId xmlns:a16="http://schemas.microsoft.com/office/drawing/2014/main" val="2747539833"/>
                    </a:ext>
                  </a:extLst>
                </a:gridCol>
                <a:gridCol w="1237809">
                  <a:extLst>
                    <a:ext uri="{9D8B030D-6E8A-4147-A177-3AD203B41FA5}">
                      <a16:colId xmlns:a16="http://schemas.microsoft.com/office/drawing/2014/main" val="1736108073"/>
                    </a:ext>
                  </a:extLst>
                </a:gridCol>
                <a:gridCol w="1107738">
                  <a:extLst>
                    <a:ext uri="{9D8B030D-6E8A-4147-A177-3AD203B41FA5}">
                      <a16:colId xmlns:a16="http://schemas.microsoft.com/office/drawing/2014/main" val="4146600273"/>
                    </a:ext>
                  </a:extLst>
                </a:gridCol>
                <a:gridCol w="840551">
                  <a:extLst>
                    <a:ext uri="{9D8B030D-6E8A-4147-A177-3AD203B41FA5}">
                      <a16:colId xmlns:a16="http://schemas.microsoft.com/office/drawing/2014/main" val="882174365"/>
                    </a:ext>
                  </a:extLst>
                </a:gridCol>
                <a:gridCol w="840551">
                  <a:extLst>
                    <a:ext uri="{9D8B030D-6E8A-4147-A177-3AD203B41FA5}">
                      <a16:colId xmlns:a16="http://schemas.microsoft.com/office/drawing/2014/main" val="1747285024"/>
                    </a:ext>
                  </a:extLst>
                </a:gridCol>
                <a:gridCol w="818997">
                  <a:extLst>
                    <a:ext uri="{9D8B030D-6E8A-4147-A177-3AD203B41FA5}">
                      <a16:colId xmlns:a16="http://schemas.microsoft.com/office/drawing/2014/main" val="4090708144"/>
                    </a:ext>
                  </a:extLst>
                </a:gridCol>
              </a:tblGrid>
              <a:tr h="221744"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运营商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Portfolio</a:t>
                      </a: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lang="en-US" altLang="zh-CN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br>
                        <a:rPr lang="en-US" altLang="zh-CN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</a:t>
                      </a:r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Offering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安全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416829"/>
                  </a:ext>
                </a:extLst>
              </a:tr>
              <a:tr h="2217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 </a:t>
                      </a: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路由器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NE </a:t>
                      </a: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路由器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5G-CPE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SD-WAN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Wi-Fi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交换机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SD-LAN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Firewall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17846"/>
                  </a:ext>
                </a:extLst>
              </a:tr>
              <a:tr h="199955">
                <a:tc rowSpan="8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Orange；Sell to 估算；8-&gt;10M</a:t>
                      </a:r>
                      <a:br>
                        <a:rPr lang="en-US" sz="10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spcBef>
                          <a:spcPts val="600"/>
                        </a:spcBef>
                      </a:pP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Business VPN大企业管理服务(IPVPN、SD-WAN)</a:t>
                      </a:r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  <a:p>
                      <a:pPr algn="ctr" rtl="0" fontAlgn="ctr">
                        <a:spcBef>
                          <a:spcPts val="300"/>
                        </a:spcBef>
                      </a:pPr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设备采购：110M/Y（估）</a:t>
                      </a:r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70%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70%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Cradlepoint 80%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Fortinet 45%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Aruba 50%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60%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Meraki；Aruba</a:t>
                      </a:r>
                      <a:b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Fortinet 60%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979786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HPE 30%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565870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&lt;2%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5%（国际）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30%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5%（存量）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755205"/>
                  </a:ext>
                </a:extLst>
              </a:tr>
              <a:tr h="1999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 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 25%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r>
                        <a:t>其他 20%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VMware 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1D1D1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Meraki 45%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Palo Alto 30%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456582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0.2/35M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0.3/8M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0/5M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0/30M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0/15M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0.5/20M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t>0/10M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highlight>
                          <a:srgbClr val="FF0000"/>
                        </a:highlight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0/25M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88643"/>
                  </a:ext>
                </a:extLst>
              </a:tr>
              <a:tr h="1999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spcBef>
                          <a:spcPts val="300"/>
                        </a:spcBef>
                      </a:pPr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Orange France Pro/PME管理服务</a:t>
                      </a:r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8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algn="ctr" rtl="0" fontAlgn="ctr">
                        <a:spcBef>
                          <a:spcPts val="300"/>
                        </a:spcBef>
                      </a:pPr>
                      <a:r>
                        <a:rPr lang="zh-CN" altLang="en-US" sz="800" b="0" i="0" u="none" strike="noStrike" kern="1200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设备采购：10M/Y（估）</a:t>
                      </a:r>
                      <a:r>
                        <a:rPr lang="en-US" altLang="zh-CN" sz="800" b="0" i="0" u="none" strike="noStrike" kern="1200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100%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Sagemcom/自研 100%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b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10%（估）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009177"/>
                  </a:ext>
                </a:extLst>
              </a:tr>
              <a:tr h="1999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Zyxel等 90%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1D1D1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262319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0/1M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0/4M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0.3/3M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428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44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20A76E2-5211-477B-9C8E-FFA2F371D95A}"/>
              </a:ext>
            </a:extLst>
          </p:cNvPr>
          <p:cNvSpPr txBox="1"/>
          <p:nvPr/>
        </p:nvSpPr>
        <p:spPr>
          <a:xfrm>
            <a:off x="247915" y="190951"/>
            <a:ext cx="11580522" cy="42984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indent="0" defTabSz="1187450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None/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02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20"/>
            </a:lvl2pPr>
            <a:lvl3pPr marL="14839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600"/>
            </a:lvl3pPr>
            <a:lvl4pPr marL="20777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4pPr>
            <a:lvl5pPr marL="26714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5pPr>
            <a:lvl6pPr marL="32651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6pPr>
            <a:lvl7pPr marL="38588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7pPr>
            <a:lvl8pPr marL="44526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8pPr>
            <a:lvl9pPr marL="50463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9pPr>
          </a:lstStyle>
          <a:p>
            <a:pPr lvl="0" defTabSz="1186541">
              <a:spcBef>
                <a:spcPts val="1297"/>
              </a:spcBef>
              <a:defRPr/>
            </a:pPr>
            <a:r>
              <a:rPr lang="zh-CN" altLang="en-US" sz="2000" kern="0" dirty="0">
                <a:sym typeface="Times New Roman" panose="02020603050405020304" pitchFamily="18" charset="0"/>
              </a:rPr>
              <a:t>华为已准入可参与空间有限（约20M，估算），对准肥肉市场深耕</a:t>
            </a:r>
            <a:r>
              <a:rPr lang="en-US" altLang="zh-CN" sz="2000" kern="0" dirty="0">
                <a:sym typeface="Times New Roman" panose="02020603050405020304" pitchFamily="18" charset="0"/>
              </a:rPr>
              <a:t/>
            </a:r>
            <a:r>
              <a:rPr lang="zh-CN" altLang="en-US" sz="2000" kern="0" dirty="0">
                <a:sym typeface="Times New Roman" panose="02020603050405020304" pitchFamily="18" charset="0"/>
              </a:rPr>
              <a:t/>
            </a:r>
            <a:endParaRPr lang="en-US" altLang="zh-CN" sz="2000" kern="0" dirty="0">
              <a:sym typeface="Times New Roman" panose="02020603050405020304" pitchFamily="18" charset="0"/>
            </a:endParaRPr>
          </a:p>
        </p:txBody>
      </p:sp>
      <p:graphicFrame>
        <p:nvGraphicFramePr>
          <p:cNvPr id="29" name="表格 2">
            <a:extLst>
              <a:ext uri="{FF2B5EF4-FFF2-40B4-BE49-F238E27FC236}">
                <a16:creationId xmlns:a16="http://schemas.microsoft.com/office/drawing/2014/main" id="{078AC938-E4C1-48DF-A1FA-2C16E237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24307"/>
              </p:ext>
            </p:extLst>
          </p:nvPr>
        </p:nvGraphicFramePr>
        <p:xfrm>
          <a:off x="6324394" y="696935"/>
          <a:ext cx="5153336" cy="4626345"/>
        </p:xfrm>
        <a:graphic>
          <a:graphicData uri="http://schemas.openxmlformats.org/drawingml/2006/table">
            <a:tbl>
              <a:tblPr/>
              <a:tblGrid>
                <a:gridCol w="950166">
                  <a:extLst>
                    <a:ext uri="{9D8B030D-6E8A-4147-A177-3AD203B41FA5}">
                      <a16:colId xmlns:a16="http://schemas.microsoft.com/office/drawing/2014/main" val="224934252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024965808"/>
                    </a:ext>
                  </a:extLst>
                </a:gridCol>
                <a:gridCol w="682798">
                  <a:extLst>
                    <a:ext uri="{9D8B030D-6E8A-4147-A177-3AD203B41FA5}">
                      <a16:colId xmlns:a16="http://schemas.microsoft.com/office/drawing/2014/main" val="4167585725"/>
                    </a:ext>
                  </a:extLst>
                </a:gridCol>
                <a:gridCol w="1281209">
                  <a:extLst>
                    <a:ext uri="{9D8B030D-6E8A-4147-A177-3AD203B41FA5}">
                      <a16:colId xmlns:a16="http://schemas.microsoft.com/office/drawing/2014/main" val="3258614379"/>
                    </a:ext>
                  </a:extLst>
                </a:gridCol>
                <a:gridCol w="704287">
                  <a:extLst>
                    <a:ext uri="{9D8B030D-6E8A-4147-A177-3AD203B41FA5}">
                      <a16:colId xmlns:a16="http://schemas.microsoft.com/office/drawing/2014/main" val="3428633381"/>
                    </a:ext>
                  </a:extLst>
                </a:gridCol>
                <a:gridCol w="477878">
                  <a:extLst>
                    <a:ext uri="{9D8B030D-6E8A-4147-A177-3AD203B41FA5}">
                      <a16:colId xmlns:a16="http://schemas.microsoft.com/office/drawing/2014/main" val="3034805782"/>
                    </a:ext>
                  </a:extLst>
                </a:gridCol>
                <a:gridCol w="477878">
                  <a:extLst>
                    <a:ext uri="{9D8B030D-6E8A-4147-A177-3AD203B41FA5}">
                      <a16:colId xmlns:a16="http://schemas.microsoft.com/office/drawing/2014/main" val="3076324398"/>
                    </a:ext>
                  </a:extLst>
                </a:gridCol>
              </a:tblGrid>
              <a:tr h="72044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客户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Offering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名称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客户招标套餐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带宽要求 </a:t>
                      </a:r>
                      <a:r>
                        <a:rPr lang="es-E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对称</a:t>
                      </a:r>
                      <a:r>
                        <a:rPr lang="es-E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市场空间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华为款型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华为已销售款型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第一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Vendor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第二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Vendor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288547"/>
                  </a:ext>
                </a:extLst>
              </a:tr>
              <a:tr h="64882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 1/10/100G Full Routing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1/10/100G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1M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NE8000-M4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Cisco 85%</a:t>
                      </a:r>
                      <a:r>
                        <a:rPr lang="es-E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  <a:r>
                        <a:rPr lang="es-E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 10%</a:t>
                      </a:r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581157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VPN/Internet 100G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6M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NE8000-M4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85%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 15%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1945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VPN/FTTH/Internet 10G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10M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AR8140-L12G10XG 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60%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30%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78064"/>
                  </a:ext>
                </a:extLst>
              </a:tr>
              <a:tr h="487699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Business VPN/FTTH/Internet 1G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9M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 + Perf License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70%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Cisco 20%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45522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VPN/FTTH/Internet 600M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OneAccess 85%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&lt;2%</a:t>
                      </a:r>
                      <a:r>
                        <a:rPr lang="en-US" altLang="zh-CN" sz="9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257338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VPN/FTTH/Internet 300M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0.5M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95%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&lt;1%</a:t>
                      </a:r>
                      <a:r>
                        <a:rPr lang="es-ES" altLang="zh-CN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038869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VPN/FTTH/Internet 100M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0.3M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AR611W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OneAccess 98%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&lt;1%</a:t>
                      </a:r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/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34349"/>
                  </a:ext>
                </a:extLst>
              </a:tr>
              <a:tr h="487699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VPN/FTTH 1G</a:t>
                      </a:r>
                    </a:p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+ BCK LTE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1G + LTE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2M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 + MIC-LTE 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100%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396955"/>
                  </a:ext>
                </a:extLst>
              </a:tr>
              <a:tr h="64882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Business VPN/FTTH 1G</a:t>
                      </a:r>
                    </a:p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+ BCK 5G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1G + 5G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5M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AR5710-H2T4N2X-NRGL</a:t>
                      </a:r>
                    </a:p>
                    <a:p>
                      <a:pPr algn="ctr" rtl="0" fontAlgn="ctr"/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 + RU-301 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OneAccess 100%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688028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26612FA5-E63E-4B1F-A30A-54ECFDCA2F14}"/>
              </a:ext>
            </a:extLst>
          </p:cNvPr>
          <p:cNvGrpSpPr/>
          <p:nvPr/>
        </p:nvGrpSpPr>
        <p:grpSpPr>
          <a:xfrm>
            <a:off x="344002" y="944880"/>
            <a:ext cx="5939958" cy="4865967"/>
            <a:chOff x="121717" y="2286386"/>
            <a:chExt cx="6349387" cy="4455484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B108A2F-B829-4087-929D-101DC5A8E167}"/>
                </a:ext>
              </a:extLst>
            </p:cNvPr>
            <p:cNvGrpSpPr/>
            <p:nvPr/>
          </p:nvGrpSpPr>
          <p:grpSpPr>
            <a:xfrm>
              <a:off x="121717" y="2286386"/>
              <a:ext cx="6349387" cy="3991116"/>
              <a:chOff x="1365555" y="2424028"/>
              <a:chExt cx="6349387" cy="3991116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CF702EB-993D-444F-80BB-9CD840B9F714}"/>
                  </a:ext>
                </a:extLst>
              </p:cNvPr>
              <p:cNvGrpSpPr/>
              <p:nvPr/>
            </p:nvGrpSpPr>
            <p:grpSpPr>
              <a:xfrm>
                <a:off x="1365555" y="2424028"/>
                <a:ext cx="6349387" cy="3991116"/>
                <a:chOff x="637208" y="2084929"/>
                <a:chExt cx="6128364" cy="4380647"/>
              </a:xfrm>
            </p:grpSpPr>
            <p:sp>
              <p:nvSpPr>
                <p:cNvPr id="18" name="矩形 91">
                  <a:extLst>
                    <a:ext uri="{FF2B5EF4-FFF2-40B4-BE49-F238E27FC236}">
                      <a16:creationId xmlns:a16="http://schemas.microsoft.com/office/drawing/2014/main" id="{524D852B-2927-4A22-BAB6-6C63EBD3356F}"/>
                    </a:ext>
                  </a:extLst>
                </p:cNvPr>
                <p:cNvSpPr/>
                <p:nvPr/>
              </p:nvSpPr>
              <p:spPr>
                <a:xfrm>
                  <a:off x="996400" y="4924760"/>
                  <a:ext cx="1684836" cy="1285000"/>
                </a:xfrm>
                <a:prstGeom prst="rect">
                  <a:avLst/>
                </a:prstGeom>
                <a:solidFill>
                  <a:srgbClr val="666666">
                    <a:lumMod val="40000"/>
                    <a:lumOff val="60000"/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骨头区</a:t>
                  </a:r>
                </a:p>
              </p:txBody>
            </p:sp>
            <p:sp>
              <p:nvSpPr>
                <p:cNvPr id="19" name="矩形 91">
                  <a:extLst>
                    <a:ext uri="{FF2B5EF4-FFF2-40B4-BE49-F238E27FC236}">
                      <a16:creationId xmlns:a16="http://schemas.microsoft.com/office/drawing/2014/main" id="{DC8D75E6-43AC-4312-9719-7F29E2FE3A6C}"/>
                    </a:ext>
                  </a:extLst>
                </p:cNvPr>
                <p:cNvSpPr/>
                <p:nvPr/>
              </p:nvSpPr>
              <p:spPr>
                <a:xfrm>
                  <a:off x="4521512" y="4915639"/>
                  <a:ext cx="1884294" cy="1285000"/>
                </a:xfrm>
                <a:prstGeom prst="rect">
                  <a:avLst/>
                </a:prstGeom>
                <a:solidFill>
                  <a:srgbClr val="BEE7A6"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瘦肉区</a:t>
                  </a:r>
                </a:p>
              </p:txBody>
            </p:sp>
            <p:sp>
              <p:nvSpPr>
                <p:cNvPr id="20" name="矩形 91">
                  <a:extLst>
                    <a:ext uri="{FF2B5EF4-FFF2-40B4-BE49-F238E27FC236}">
                      <a16:creationId xmlns:a16="http://schemas.microsoft.com/office/drawing/2014/main" id="{FB9BD0A6-3D92-4508-99E8-3FC678A7AC95}"/>
                    </a:ext>
                  </a:extLst>
                </p:cNvPr>
                <p:cNvSpPr/>
                <p:nvPr/>
              </p:nvSpPr>
              <p:spPr>
                <a:xfrm>
                  <a:off x="961576" y="2325933"/>
                  <a:ext cx="1705563" cy="2570375"/>
                </a:xfrm>
                <a:prstGeom prst="rect">
                  <a:avLst/>
                </a:prstGeom>
                <a:solidFill>
                  <a:srgbClr val="61B230">
                    <a:lumMod val="40000"/>
                    <a:lumOff val="60000"/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瘦肉区</a:t>
                  </a:r>
                </a:p>
              </p:txBody>
            </p:sp>
            <p:sp>
              <p:nvSpPr>
                <p:cNvPr id="21" name="矩形 91">
                  <a:extLst>
                    <a:ext uri="{FF2B5EF4-FFF2-40B4-BE49-F238E27FC236}">
                      <a16:creationId xmlns:a16="http://schemas.microsoft.com/office/drawing/2014/main" id="{F882B98C-CD49-4A24-975C-3C2EC39BAA1E}"/>
                    </a:ext>
                  </a:extLst>
                </p:cNvPr>
                <p:cNvSpPr/>
                <p:nvPr/>
              </p:nvSpPr>
              <p:spPr>
                <a:xfrm>
                  <a:off x="2707748" y="3618509"/>
                  <a:ext cx="1845985" cy="2582130"/>
                </a:xfrm>
                <a:prstGeom prst="rect">
                  <a:avLst/>
                </a:prstGeom>
                <a:solidFill>
                  <a:srgbClr val="BEE7A6"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瘦肉区</a:t>
                  </a: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" name="矩形 91">
                  <a:extLst>
                    <a:ext uri="{FF2B5EF4-FFF2-40B4-BE49-F238E27FC236}">
                      <a16:creationId xmlns:a16="http://schemas.microsoft.com/office/drawing/2014/main" id="{C7093107-164D-48AF-B5E0-487661B11E8B}"/>
                    </a:ext>
                  </a:extLst>
                </p:cNvPr>
                <p:cNvSpPr/>
                <p:nvPr/>
              </p:nvSpPr>
              <p:spPr>
                <a:xfrm>
                  <a:off x="4585857" y="2325932"/>
                  <a:ext cx="1837763" cy="1285000"/>
                </a:xfrm>
                <a:prstGeom prst="rect">
                  <a:avLst/>
                </a:prstGeom>
                <a:solidFill>
                  <a:srgbClr val="30B5C5">
                    <a:lumMod val="40000"/>
                    <a:lumOff val="60000"/>
                    <a:alpha val="3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矩形 91">
                  <a:extLst>
                    <a:ext uri="{FF2B5EF4-FFF2-40B4-BE49-F238E27FC236}">
                      <a16:creationId xmlns:a16="http://schemas.microsoft.com/office/drawing/2014/main" id="{E7595DFD-5A6B-49C2-9134-CC30BD520ECF}"/>
                    </a:ext>
                  </a:extLst>
                </p:cNvPr>
                <p:cNvSpPr/>
                <p:nvPr/>
              </p:nvSpPr>
              <p:spPr>
                <a:xfrm>
                  <a:off x="4582989" y="3611308"/>
                  <a:ext cx="1851210" cy="1285000"/>
                </a:xfrm>
                <a:prstGeom prst="rect">
                  <a:avLst/>
                </a:prstGeom>
                <a:solidFill>
                  <a:srgbClr val="30B5C5">
                    <a:lumMod val="40000"/>
                    <a:lumOff val="60000"/>
                    <a:alpha val="3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肥肉区</a:t>
                  </a:r>
                </a:p>
              </p:txBody>
            </p:sp>
            <p:sp>
              <p:nvSpPr>
                <p:cNvPr id="24" name="矩形 91">
                  <a:extLst>
                    <a:ext uri="{FF2B5EF4-FFF2-40B4-BE49-F238E27FC236}">
                      <a16:creationId xmlns:a16="http://schemas.microsoft.com/office/drawing/2014/main" id="{2F46EE53-BF97-4D97-9C8E-51070994C145}"/>
                    </a:ext>
                  </a:extLst>
                </p:cNvPr>
                <p:cNvSpPr/>
                <p:nvPr/>
              </p:nvSpPr>
              <p:spPr>
                <a:xfrm>
                  <a:off x="2699051" y="2325932"/>
                  <a:ext cx="1854681" cy="1285000"/>
                </a:xfrm>
                <a:prstGeom prst="rect">
                  <a:avLst/>
                </a:prstGeom>
                <a:solidFill>
                  <a:srgbClr val="30B5C5">
                    <a:lumMod val="40000"/>
                    <a:lumOff val="60000"/>
                    <a:alpha val="3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肥肉区</a:t>
                  </a:r>
                </a:p>
              </p:txBody>
            </p:sp>
            <p:grpSp>
              <p:nvGrpSpPr>
                <p:cNvPr id="25" name="组合 90">
                  <a:extLst>
                    <a:ext uri="{FF2B5EF4-FFF2-40B4-BE49-F238E27FC236}">
                      <a16:creationId xmlns:a16="http://schemas.microsoft.com/office/drawing/2014/main" id="{7065A555-6303-4697-930C-1EEF020EB110}"/>
                    </a:ext>
                  </a:extLst>
                </p:cNvPr>
                <p:cNvGrpSpPr/>
                <p:nvPr/>
              </p:nvGrpSpPr>
              <p:grpSpPr>
                <a:xfrm>
                  <a:off x="637208" y="2084929"/>
                  <a:ext cx="6128364" cy="4380647"/>
                  <a:chOff x="2574860" y="926128"/>
                  <a:chExt cx="5243662" cy="5490524"/>
                </a:xfrm>
              </p:grpSpPr>
              <p:cxnSp>
                <p:nvCxnSpPr>
                  <p:cNvPr id="27" name="直接连接符 119">
                    <a:extLst>
                      <a:ext uri="{FF2B5EF4-FFF2-40B4-BE49-F238E27FC236}">
                        <a16:creationId xmlns:a16="http://schemas.microsoft.com/office/drawing/2014/main" id="{4F7256E4-3F77-4E32-A7EC-C2B3B49454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62936" y="2842778"/>
                    <a:ext cx="4683451" cy="297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28" name="直接箭头连接符 92">
                    <a:extLst>
                      <a:ext uri="{FF2B5EF4-FFF2-40B4-BE49-F238E27FC236}">
                        <a16:creationId xmlns:a16="http://schemas.microsoft.com/office/drawing/2014/main" id="{B0A38DB2-9A38-471F-910E-0BA4E8DFF3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64241" y="1058173"/>
                    <a:ext cx="0" cy="5046201"/>
                  </a:xfrm>
                  <a:prstGeom prst="straightConnector1">
                    <a:avLst/>
                  </a:prstGeom>
                  <a:noFill/>
                  <a:ln w="6350" cap="flat" cmpd="sng" algn="ctr">
                    <a:solidFill>
                      <a:srgbClr val="1D1D1A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  <p:cxnSp>
                <p:nvCxnSpPr>
                  <p:cNvPr id="30" name="直接箭头连接符 93">
                    <a:extLst>
                      <a:ext uri="{FF2B5EF4-FFF2-40B4-BE49-F238E27FC236}">
                        <a16:creationId xmlns:a16="http://schemas.microsoft.com/office/drawing/2014/main" id="{28C6EACF-0D55-41EF-B7C2-06711366EA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64241" y="6104374"/>
                    <a:ext cx="4841987" cy="0"/>
                  </a:xfrm>
                  <a:prstGeom prst="straightConnector1">
                    <a:avLst/>
                  </a:prstGeom>
                  <a:noFill/>
                  <a:ln w="6350" cap="flat" cmpd="sng" algn="ctr">
                    <a:solidFill>
                      <a:srgbClr val="1D1D1A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  <p:cxnSp>
                <p:nvCxnSpPr>
                  <p:cNvPr id="31" name="直接连接符 94">
                    <a:extLst>
                      <a:ext uri="{FF2B5EF4-FFF2-40B4-BE49-F238E27FC236}">
                        <a16:creationId xmlns:a16="http://schemas.microsoft.com/office/drawing/2014/main" id="{594095F4-8A41-4194-A883-E97AFADC8D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37440" y="1064374"/>
                    <a:ext cx="0" cy="504000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32" name="直接连接符 95">
                    <a:extLst>
                      <a:ext uri="{FF2B5EF4-FFF2-40B4-BE49-F238E27FC236}">
                        <a16:creationId xmlns:a16="http://schemas.microsoft.com/office/drawing/2014/main" id="{52859776-CAAF-4F4D-9215-86DA7625C5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37388" y="1077964"/>
                    <a:ext cx="0" cy="504000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sp>
                <p:nvSpPr>
                  <p:cNvPr id="33" name="文本框 96">
                    <a:extLst>
                      <a:ext uri="{FF2B5EF4-FFF2-40B4-BE49-F238E27FC236}">
                        <a16:creationId xmlns:a16="http://schemas.microsoft.com/office/drawing/2014/main" id="{2C4C0A3E-867D-4353-8760-70195801650F}"/>
                      </a:ext>
                    </a:extLst>
                  </p:cNvPr>
                  <p:cNvSpPr txBox="1"/>
                  <p:nvPr/>
                </p:nvSpPr>
                <p:spPr>
                  <a:xfrm>
                    <a:off x="6753790" y="6204950"/>
                    <a:ext cx="1064732" cy="21170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kumimoji="1" sz="100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defRPr>
                    </a:lvl1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销售空间</a:t>
                    </a:r>
                    <a:endParaRPr kumimoji="1" lang="zh-CN" altLang="en-US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文本框 97">
                    <a:extLst>
                      <a:ext uri="{FF2B5EF4-FFF2-40B4-BE49-F238E27FC236}">
                        <a16:creationId xmlns:a16="http://schemas.microsoft.com/office/drawing/2014/main" id="{7304FFAA-DDD8-43F8-BDDD-A15F8D3D42CC}"/>
                      </a:ext>
                    </a:extLst>
                  </p:cNvPr>
                  <p:cNvSpPr txBox="1"/>
                  <p:nvPr/>
                </p:nvSpPr>
                <p:spPr>
                  <a:xfrm>
                    <a:off x="3215831" y="6156063"/>
                    <a:ext cx="770019" cy="23287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低 </a:t>
                    </a: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Low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文本框 98">
                    <a:extLst>
                      <a:ext uri="{FF2B5EF4-FFF2-40B4-BE49-F238E27FC236}">
                        <a16:creationId xmlns:a16="http://schemas.microsoft.com/office/drawing/2014/main" id="{B21C77E5-90D8-47BC-B725-D9106A5C2AFC}"/>
                      </a:ext>
                    </a:extLst>
                  </p:cNvPr>
                  <p:cNvSpPr txBox="1"/>
                  <p:nvPr/>
                </p:nvSpPr>
                <p:spPr>
                  <a:xfrm>
                    <a:off x="4689030" y="6156063"/>
                    <a:ext cx="770019" cy="23287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中 </a:t>
                    </a: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Middle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文本框 99">
                    <a:extLst>
                      <a:ext uri="{FF2B5EF4-FFF2-40B4-BE49-F238E27FC236}">
                        <a16:creationId xmlns:a16="http://schemas.microsoft.com/office/drawing/2014/main" id="{DBBE0336-6180-42C0-9A04-38F9CCD6E200}"/>
                      </a:ext>
                    </a:extLst>
                  </p:cNvPr>
                  <p:cNvSpPr txBox="1"/>
                  <p:nvPr/>
                </p:nvSpPr>
                <p:spPr>
                  <a:xfrm>
                    <a:off x="6162229" y="6156063"/>
                    <a:ext cx="770019" cy="23287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高 </a:t>
                    </a: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High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37" name="直接连接符 118">
                    <a:extLst>
                      <a:ext uri="{FF2B5EF4-FFF2-40B4-BE49-F238E27FC236}">
                        <a16:creationId xmlns:a16="http://schemas.microsoft.com/office/drawing/2014/main" id="{3059A114-F1E4-4F74-BA8E-07C48CF00D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46387" y="1077964"/>
                    <a:ext cx="0" cy="504000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38" name="直接连接符 120">
                    <a:extLst>
                      <a:ext uri="{FF2B5EF4-FFF2-40B4-BE49-F238E27FC236}">
                        <a16:creationId xmlns:a16="http://schemas.microsoft.com/office/drawing/2014/main" id="{0510C6D9-F87C-417C-816A-78A615E27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5343" y="4465675"/>
                    <a:ext cx="4704274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39" name="直接连接符 124">
                    <a:extLst>
                      <a:ext uri="{FF2B5EF4-FFF2-40B4-BE49-F238E27FC236}">
                        <a16:creationId xmlns:a16="http://schemas.microsoft.com/office/drawing/2014/main" id="{0C45F769-9A18-4015-ABB6-79EDF958D5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64240" y="1203094"/>
                    <a:ext cx="4720849" cy="1209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sp>
                <p:nvSpPr>
                  <p:cNvPr id="40" name="文本框 125">
                    <a:extLst>
                      <a:ext uri="{FF2B5EF4-FFF2-40B4-BE49-F238E27FC236}">
                        <a16:creationId xmlns:a16="http://schemas.microsoft.com/office/drawing/2014/main" id="{6C702B6D-0310-494E-849D-1E7BF999CF75}"/>
                      </a:ext>
                    </a:extLst>
                  </p:cNvPr>
                  <p:cNvSpPr txBox="1"/>
                  <p:nvPr/>
                </p:nvSpPr>
                <p:spPr>
                  <a:xfrm>
                    <a:off x="2899936" y="926128"/>
                    <a:ext cx="2287796" cy="21170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kumimoji="1" sz="100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defRPr>
                    </a:lvl1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场景价值</a:t>
                    </a:r>
                    <a:endParaRPr kumimoji="1" lang="en-US" altLang="zh-CN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" name="文本框 126">
                    <a:extLst>
                      <a:ext uri="{FF2B5EF4-FFF2-40B4-BE49-F238E27FC236}">
                        <a16:creationId xmlns:a16="http://schemas.microsoft.com/office/drawing/2014/main" id="{B49833C0-5C9D-4DB9-A3AE-3A196A7365A2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936" y="5284473"/>
                    <a:ext cx="252000" cy="4657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低</a:t>
                    </a:r>
                    <a:endParaRPr kumimoji="1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Low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" name="文本框 127">
                    <a:extLst>
                      <a:ext uri="{FF2B5EF4-FFF2-40B4-BE49-F238E27FC236}">
                        <a16:creationId xmlns:a16="http://schemas.microsoft.com/office/drawing/2014/main" id="{85C43239-FDA3-41F6-86FB-889BACD95406}"/>
                      </a:ext>
                    </a:extLst>
                  </p:cNvPr>
                  <p:cNvSpPr txBox="1"/>
                  <p:nvPr/>
                </p:nvSpPr>
                <p:spPr>
                  <a:xfrm>
                    <a:off x="2574860" y="3584375"/>
                    <a:ext cx="389512" cy="38106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中</a:t>
                    </a:r>
                    <a:endParaRPr kumimoji="1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Middle</a:t>
                    </a:r>
                    <a:endParaRPr kumimoji="1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" name="文本框 128">
                    <a:extLst>
                      <a:ext uri="{FF2B5EF4-FFF2-40B4-BE49-F238E27FC236}">
                        <a16:creationId xmlns:a16="http://schemas.microsoft.com/office/drawing/2014/main" id="{5093F4EB-252C-4DC7-A26A-0983D4A34423}"/>
                      </a:ext>
                    </a:extLst>
                  </p:cNvPr>
                  <p:cNvSpPr txBox="1"/>
                  <p:nvPr/>
                </p:nvSpPr>
                <p:spPr>
                  <a:xfrm>
                    <a:off x="2579211" y="2136402"/>
                    <a:ext cx="315449" cy="38106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高</a:t>
                    </a:r>
                    <a:endParaRPr kumimoji="1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High</a:t>
                    </a:r>
                    <a:endParaRPr kumimoji="1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13" name="矩形: 圆角 102">
                <a:extLst>
                  <a:ext uri="{FF2B5EF4-FFF2-40B4-BE49-F238E27FC236}">
                    <a16:creationId xmlns:a16="http://schemas.microsoft.com/office/drawing/2014/main" id="{10B818C6-E75A-4AE0-A60A-DA80C457C52F}"/>
                  </a:ext>
                </a:extLst>
              </p:cNvPr>
              <p:cNvSpPr/>
              <p:nvPr/>
            </p:nvSpPr>
            <p:spPr>
              <a:xfrm>
                <a:off x="4589821" y="3499492"/>
                <a:ext cx="830808" cy="269905"/>
              </a:xfrm>
              <a:prstGeom prst="roundRect">
                <a:avLst/>
              </a:prstGeom>
              <a:solidFill>
                <a:srgbClr val="00B0F0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OB-SDLAN</a:t>
                </a:r>
              </a:p>
            </p:txBody>
          </p:sp>
          <p:sp>
            <p:nvSpPr>
              <p:cNvPr id="14" name="矩形: 圆角 102">
                <a:extLst>
                  <a:ext uri="{FF2B5EF4-FFF2-40B4-BE49-F238E27FC236}">
                    <a16:creationId xmlns:a16="http://schemas.microsoft.com/office/drawing/2014/main" id="{D61B37AB-47AA-4EBD-9D76-238B9CA29F7D}"/>
                  </a:ext>
                </a:extLst>
              </p:cNvPr>
              <p:cNvSpPr/>
              <p:nvPr/>
            </p:nvSpPr>
            <p:spPr>
              <a:xfrm>
                <a:off x="6366075" y="2778250"/>
                <a:ext cx="893761" cy="269905"/>
              </a:xfrm>
              <a:prstGeom prst="roundRect">
                <a:avLst/>
              </a:prstGeom>
              <a:solidFill>
                <a:srgbClr val="00B0F0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OB-SDWAN</a:t>
                </a:r>
              </a:p>
            </p:txBody>
          </p:sp>
          <p:sp>
            <p:nvSpPr>
              <p:cNvPr id="15" name="矩形: 圆角 102">
                <a:extLst>
                  <a:ext uri="{FF2B5EF4-FFF2-40B4-BE49-F238E27FC236}">
                    <a16:creationId xmlns:a16="http://schemas.microsoft.com/office/drawing/2014/main" id="{072A207B-65DA-44F2-AD16-46E2CA3DD0CE}"/>
                  </a:ext>
                </a:extLst>
              </p:cNvPr>
              <p:cNvSpPr/>
              <p:nvPr/>
            </p:nvSpPr>
            <p:spPr>
              <a:xfrm>
                <a:off x="5788544" y="4500968"/>
                <a:ext cx="893761" cy="269905"/>
              </a:xfrm>
              <a:prstGeom prst="roundRect">
                <a:avLst/>
              </a:prstGeom>
              <a:solidFill>
                <a:srgbClr val="00B0F0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OB-IPVPN</a:t>
                </a:r>
              </a:p>
            </p:txBody>
          </p:sp>
          <p:sp>
            <p:nvSpPr>
              <p:cNvPr id="16" name="矩形: 圆角 112">
                <a:extLst>
                  <a:ext uri="{FF2B5EF4-FFF2-40B4-BE49-F238E27FC236}">
                    <a16:creationId xmlns:a16="http://schemas.microsoft.com/office/drawing/2014/main" id="{3908E202-5A04-46C1-9FEB-3DB074968D77}"/>
                  </a:ext>
                </a:extLst>
              </p:cNvPr>
              <p:cNvSpPr/>
              <p:nvPr/>
            </p:nvSpPr>
            <p:spPr>
              <a:xfrm>
                <a:off x="2069884" y="4642871"/>
                <a:ext cx="1091533" cy="281096"/>
              </a:xfrm>
              <a:prstGeom prst="roundRect">
                <a:avLst/>
              </a:prstGeom>
              <a:solidFill>
                <a:srgbClr val="9AD785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OFR-WiFi(SMB)</a:t>
                </a:r>
                <a:r>
                  <a:rPr kumimoji="0" lang="en-US" altLang="zh-CN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/>
                </a: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/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: 圆角 112">
                <a:extLst>
                  <a:ext uri="{FF2B5EF4-FFF2-40B4-BE49-F238E27FC236}">
                    <a16:creationId xmlns:a16="http://schemas.microsoft.com/office/drawing/2014/main" id="{A25BE57A-EC75-41B7-973D-84B84FB06D50}"/>
                  </a:ext>
                </a:extLst>
              </p:cNvPr>
              <p:cNvSpPr/>
              <p:nvPr/>
            </p:nvSpPr>
            <p:spPr>
              <a:xfrm>
                <a:off x="2291166" y="4288452"/>
                <a:ext cx="1128218" cy="281096"/>
              </a:xfrm>
              <a:prstGeom prst="roundRect">
                <a:avLst/>
              </a:prstGeom>
              <a:solidFill>
                <a:srgbClr val="9AD785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OFR-Switch(SMB)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Group 67">
              <a:extLst>
                <a:ext uri="{FF2B5EF4-FFF2-40B4-BE49-F238E27FC236}">
                  <a16:creationId xmlns:a16="http://schemas.microsoft.com/office/drawing/2014/main" id="{CF53A5AE-069C-42E5-8C06-A6963D498D31}"/>
                </a:ext>
              </a:extLst>
            </p:cNvPr>
            <p:cNvGrpSpPr/>
            <p:nvPr/>
          </p:nvGrpSpPr>
          <p:grpSpPr>
            <a:xfrm>
              <a:off x="3237461" y="6328422"/>
              <a:ext cx="1911673" cy="413448"/>
              <a:chOff x="4853535" y="5957445"/>
              <a:chExt cx="1911673" cy="459335"/>
            </a:xfrm>
          </p:grpSpPr>
          <p:sp>
            <p:nvSpPr>
              <p:cNvPr id="9" name="矩形 81">
                <a:extLst>
                  <a:ext uri="{FF2B5EF4-FFF2-40B4-BE49-F238E27FC236}">
                    <a16:creationId xmlns:a16="http://schemas.microsoft.com/office/drawing/2014/main" id="{F3B1CC54-7624-4959-9C55-A292A5D7D99B}"/>
                  </a:ext>
                </a:extLst>
              </p:cNvPr>
              <p:cNvSpPr/>
              <p:nvPr/>
            </p:nvSpPr>
            <p:spPr>
              <a:xfrm>
                <a:off x="4853535" y="5957445"/>
                <a:ext cx="604428" cy="459335"/>
              </a:xfrm>
              <a:prstGeom prst="rect">
                <a:avLst/>
              </a:pr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肥肉区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矩形 82">
                <a:extLst>
                  <a:ext uri="{FF2B5EF4-FFF2-40B4-BE49-F238E27FC236}">
                    <a16:creationId xmlns:a16="http://schemas.microsoft.com/office/drawing/2014/main" id="{87C911F0-C8CF-4A83-AFB4-39BF16BD3722}"/>
                  </a:ext>
                </a:extLst>
              </p:cNvPr>
              <p:cNvSpPr/>
              <p:nvPr/>
            </p:nvSpPr>
            <p:spPr>
              <a:xfrm>
                <a:off x="5523321" y="5957445"/>
                <a:ext cx="604428" cy="459335"/>
              </a:xfrm>
              <a:prstGeom prst="rect">
                <a:avLst/>
              </a:prstGeom>
              <a:solidFill>
                <a:srgbClr val="9AD78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瘦肉区</a:t>
                </a:r>
                <a:endParaRPr kumimoji="0" lang="en-US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矩形 82">
                <a:extLst>
                  <a:ext uri="{FF2B5EF4-FFF2-40B4-BE49-F238E27FC236}">
                    <a16:creationId xmlns:a16="http://schemas.microsoft.com/office/drawing/2014/main" id="{1E9923E6-824F-4675-9525-24C11E36DDDF}"/>
                  </a:ext>
                </a:extLst>
              </p:cNvPr>
              <p:cNvSpPr/>
              <p:nvPr/>
            </p:nvSpPr>
            <p:spPr>
              <a:xfrm>
                <a:off x="6160780" y="5957446"/>
                <a:ext cx="604428" cy="459333"/>
              </a:xfrm>
              <a:prstGeom prst="rect">
                <a:avLst/>
              </a:prstGeom>
              <a:solidFill>
                <a:srgbClr val="DDDD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骨头区</a:t>
                </a:r>
                <a:endParaRPr kumimoji="0" lang="en-US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1186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202">
            <a:extLst>
              <a:ext uri="{FF2B5EF4-FFF2-40B4-BE49-F238E27FC236}">
                <a16:creationId xmlns:a16="http://schemas.microsoft.com/office/drawing/2014/main" id="{1C33F99E-5BCF-442F-90BB-7C4B189837E3}"/>
              </a:ext>
            </a:extLst>
          </p:cNvPr>
          <p:cNvSpPr txBox="1"/>
          <p:nvPr/>
        </p:nvSpPr>
        <p:spPr>
          <a:xfrm>
            <a:off x="343645" y="225409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Orange Business B2B产商品</a:t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r>
              <a:rPr lang="en-US" altLang="zh-CN" sz="2000" dirty="0">
                <a:latin typeface="Arial" panose="020B0604020202020204" pitchFamily="34" charset="0"/>
              </a:rPr>
              <a:t/>
            </a:r>
            <a:r>
              <a:rPr lang="zh-CN" altLang="en-US" sz="2000" dirty="0">
                <a:latin typeface="Arial" panose="020B0604020202020204" pitchFamily="34" charset="0"/>
              </a:rPr>
              <a:t/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4667FF-3F16-4EED-B7C6-C7A5F85C8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99866"/>
              </p:ext>
            </p:extLst>
          </p:nvPr>
        </p:nvGraphicFramePr>
        <p:xfrm>
          <a:off x="516754" y="2587839"/>
          <a:ext cx="10861928" cy="359939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08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Orange占法国企业连接市场约60-65%份额；SFR B2B约20%（2026年拆分出售予Bouygues），Bouygues收购后跃升第二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WAN设备每年采购额约180M$（估），为OB带来27.2亿€固定连接营收，投资比约7%；华为法国可见空间&lt;10M，OMEA为主要增量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LAN设备每年采购额约60M$（估），为OB带来约3亿€ Managed LAN营收（估），投资比约20%，AP与交换机采购金额比例约3:2（估）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altLang="zh-CN" sz="1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848">
                <a:tc>
                  <a:txBody>
                    <a:bodyPr/>
                    <a:lstStyle/>
                    <a:p>
                      <a:pPr algn="ctr"/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6AD9448-0F5E-4602-8772-ABEE1FDB3ABA}"/>
              </a:ext>
            </a:extLst>
          </p:cNvPr>
          <p:cNvSpPr txBox="1"/>
          <p:nvPr/>
        </p:nvSpPr>
        <p:spPr>
          <a:xfrm>
            <a:off x="589931" y="1315096"/>
            <a:ext cx="9511906" cy="8744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产商品分为两大类，Service和Supply。Service即传统流水业务，从连接向DICT扩展；华为在法国本土受限，重点经营云栈存量（Flexible Engine）与OMEA增量，伺机突破LAN转售。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82547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1lePARk6HyHhPTjaXfq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13_Etisalat KAD">
  <a:themeElements>
    <a:clrScheme name="Etisalat KAD">
      <a:dk1>
        <a:srgbClr val="000000"/>
      </a:dk1>
      <a:lt1>
        <a:srgbClr val="FFFFFF"/>
      </a:lt1>
      <a:dk2>
        <a:srgbClr val="547612"/>
      </a:dk2>
      <a:lt2>
        <a:srgbClr val="C8C8C8"/>
      </a:lt2>
      <a:accent1>
        <a:srgbClr val="B3E455"/>
      </a:accent1>
      <a:accent2>
        <a:srgbClr val="547612"/>
      </a:accent2>
      <a:accent3>
        <a:srgbClr val="384F0C"/>
      </a:accent3>
      <a:accent4>
        <a:srgbClr val="93C3EA"/>
      </a:accent4>
      <a:accent5>
        <a:srgbClr val="2476B9"/>
      </a:accent5>
      <a:accent6>
        <a:srgbClr val="184E7B"/>
      </a:accent6>
      <a:hlink>
        <a:srgbClr val="3F3F3F"/>
      </a:hlink>
      <a:folHlink>
        <a:srgbClr val="990000"/>
      </a:folHlink>
    </a:clrScheme>
    <a:fontScheme name="Etisalat KAD">
      <a:majorFont>
        <a:latin typeface="Neo Tech Alt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400" dirty="0" err="1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5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6.xml><?xml version="1.0" encoding="utf-8"?>
<a:theme xmlns:a="http://schemas.openxmlformats.org/drawingml/2006/main" name="1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8.xml><?xml version="1.0" encoding="utf-8"?>
<a:theme xmlns:a="http://schemas.openxmlformats.org/drawingml/2006/main" name="4_Title Slid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err="1" smtClean="0">
            <a:solidFill>
              <a:srgbClr val="575756"/>
            </a:solidFill>
            <a:latin typeface="+mj-lt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0.xml><?xml version="1.0" encoding="utf-8"?>
<a:theme xmlns:a="http://schemas.openxmlformats.org/drawingml/2006/main" name="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1.xml><?xml version="1.0" encoding="utf-8"?>
<a:theme xmlns:a="http://schemas.openxmlformats.org/drawingml/2006/main" name="2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2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4.xml><?xml version="1.0" encoding="utf-8"?>
<a:theme xmlns:a="http://schemas.openxmlformats.org/drawingml/2006/main" name="4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vfqqh0gq">
      <a:majorFont>
        <a:latin typeface="微软雅黑" panose="020B0A04020102020204"/>
        <a:ea typeface="微软雅黑"/>
        <a:cs typeface=""/>
      </a:majorFont>
      <a:minorFont>
        <a:latin typeface="微软雅黑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5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6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18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9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iw5431i2">
      <a:majorFont>
        <a:latin typeface="Arial Narrow" panose="020B0A04020102020204"/>
        <a:ea typeface="微软雅黑"/>
        <a:cs typeface=""/>
      </a:majorFont>
      <a:minorFont>
        <a:latin typeface="Arial Narrow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20.xml><?xml version="1.0" encoding="utf-8"?>
<a:theme xmlns:a="http://schemas.openxmlformats.org/drawingml/2006/main" name="7_Chart pa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F83B7A90-6849-4B28-9F74-183CBF209F70}" vid="{E18221A4-4FE9-4F4B-8ABE-10D146DB8548}"/>
    </a:ext>
  </a:extLst>
</a:theme>
</file>

<file path=ppt/theme/theme21.xml><?xml version="1.0" encoding="utf-8"?>
<a:theme xmlns:a="http://schemas.openxmlformats.org/drawingml/2006/main" name="11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6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2.xml><?xml version="1.0" encoding="utf-8"?>
<a:theme xmlns:a="http://schemas.openxmlformats.org/drawingml/2006/main" name="STC Huawei 20th Anniversary Light">
  <a:themeElements>
    <a:clrScheme name="STC Huawei 20th Anniversary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C7A2E3"/>
      </a:accent2>
      <a:accent3>
        <a:srgbClr val="B7D8A2"/>
      </a:accent3>
      <a:accent4>
        <a:srgbClr val="6F3B55"/>
      </a:accent4>
      <a:accent5>
        <a:srgbClr val="4472C4"/>
      </a:accent5>
      <a:accent6>
        <a:srgbClr val="C00000"/>
      </a:accent6>
      <a:hlink>
        <a:srgbClr val="0563C1"/>
      </a:hlink>
      <a:folHlink>
        <a:srgbClr val="FFC000"/>
      </a:folHlink>
    </a:clrScheme>
    <a:fontScheme name="STC Huawei 20th Anniversary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kczoett0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56860</TotalTime>
  <Words>4816</Words>
  <Application>Microsoft Office PowerPoint</Application>
  <PresentationFormat>Custom</PresentationFormat>
  <Paragraphs>804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47" baseType="lpstr">
      <vt:lpstr> Arial</vt:lpstr>
      <vt:lpstr>等线</vt:lpstr>
      <vt:lpstr>FrutigerNext LT Light</vt:lpstr>
      <vt:lpstr>微软雅黑</vt:lpstr>
      <vt:lpstr>微软雅黑</vt:lpstr>
      <vt:lpstr>Arial</vt:lpstr>
      <vt:lpstr>Arial Narrow</vt:lpstr>
      <vt:lpstr>Calibri</vt:lpstr>
      <vt:lpstr>Wingdings</vt:lpstr>
      <vt:lpstr>Cover page_Image version</vt:lpstr>
      <vt:lpstr>Contents page</vt:lpstr>
      <vt:lpstr>13_Etisalat KAD</vt:lpstr>
      <vt:lpstr>1_封面页_图片版 </vt:lpstr>
      <vt:lpstr>结束页</vt:lpstr>
      <vt:lpstr>1_内容Copytext </vt:lpstr>
      <vt:lpstr>2_章节页</vt:lpstr>
      <vt:lpstr>4_Title Slide</vt:lpstr>
      <vt:lpstr>封面页_图片版 </vt:lpstr>
      <vt:lpstr>5_章节页</vt:lpstr>
      <vt:lpstr>2_封面页_图片版 </vt:lpstr>
      <vt:lpstr>7_Custom Design</vt:lpstr>
      <vt:lpstr>3_封面页_图片版 </vt:lpstr>
      <vt:lpstr>4_Chapter page</vt:lpstr>
      <vt:lpstr>1_Chapter page</vt:lpstr>
      <vt:lpstr>4_Chart page</vt:lpstr>
      <vt:lpstr>1_Contents page</vt:lpstr>
      <vt:lpstr>1_章节页</vt:lpstr>
      <vt:lpstr>16_章节页</vt:lpstr>
      <vt:lpstr>7_Chart page</vt:lpstr>
      <vt:lpstr>11_内容Copytext </vt:lpstr>
      <vt:lpstr>STC Huawei 20th Anniversary Light</vt:lpstr>
      <vt:lpstr>2_目录页</vt:lpstr>
      <vt:lpstr>think-cell 幻灯片</vt:lpstr>
      <vt:lpstr>think-cell Slide</vt:lpstr>
      <vt:lpstr>PowerPoint Presentation</vt:lpstr>
      <vt:lpstr>TDE B2B业务历史经营：平均在4B€ +（24年4.2B） ，占集团的40%，政府公共大项目占收入主体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Xubin(QianKun)</dc:creator>
  <cp:lastModifiedBy>Dingchao (Jerry)</cp:lastModifiedBy>
  <cp:revision>2803</cp:revision>
  <dcterms:created xsi:type="dcterms:W3CDTF">2020-08-28T08:44:19Z</dcterms:created>
  <dcterms:modified xsi:type="dcterms:W3CDTF">2026-07-03T13:52:11Z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(3)4UZWS5F6wm3tNM1o9lxs18KWSculQ6Y6l4d644LUoVJIqkUv1qGGZ+PpW8hu0UYSCFJwV6G+
0fXYbnTikgafHqiBGmsas8QxIFur+6mtxE0VSu32eXv8IagfmfrzXwcb1cd7osdVR7XttJZq
1Nj2Z6quBJXEJheWN0Tr5Tb/DQhI2ZA3ODs5me/LJjxietGTKlQIQPf/0LDEBtHO+E9XeKz7
pqh4vMZ7eVsvbvvK3N</vt:lpwstr>
  </property>
  <property fmtid="{D5CDD505-2E9C-101B-9397-08002B2CF9AE}" pid="3" name="_2015_ms_pID_7253431">
    <vt:lpwstr>KWujFuTWBBb+S2h9wbeqOGSxOGdk9Xns2IsKgX70swCNhPptTv0UT7
Vh6Ej89rr5s93enFU6KDExAtjypY4fQF9G3W5iwLWSs6ICSZjaAF27iEIV5yuJQftJanGNxS
Zk4bLrG+QQzdriVSzxxXVyZF3KgVaTlVMhy+NZyrl+Omm9AO73vWsjKyjnejQqxu82x3VWlF
w1OqNXrL5mxB9e+2K9OlzYg7CtIQK0ZqupZf</vt:lpwstr>
  </property>
  <property fmtid="{D5CDD505-2E9C-101B-9397-08002B2CF9AE}" pid="4" name="_2015_ms_pID_7253432">
    <vt:lpwstr>yBilE+0U5w3rj7VXU88dyp0=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1744624003</vt:lpwstr>
  </property>
</Properties>
</file>